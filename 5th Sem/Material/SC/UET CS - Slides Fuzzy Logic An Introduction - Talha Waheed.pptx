
<file path=[Content_Types].xml><?xml version="1.0" encoding="utf-8"?>
<Types xmlns="http://schemas.openxmlformats.org/package/2006/content-types">
  <Default Extension="xml" ContentType="application/xml"/>
  <Default Extension="gif" ContentType="image/gif"/>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31.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notesSlides/notesSlide3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notesSlides/notesSlide32.xml" ContentType="application/vnd.openxmlformats-officedocument.presentationml.notesSlid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s/slide32.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notesSlides/notesSlide31.xml" ContentType="application/vnd.openxmlformats-officedocument.presentationml.notesSlide+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29.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6858000" type="screen4x3"/>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5" d="100"/>
          <a:sy n="85" d="100"/>
        </p:scale>
        <p:origin x="1382" y="43"/>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presProps" Target="presProps.xml" /><Relationship Id="rId38" Type="http://schemas.openxmlformats.org/officeDocument/2006/relationships/tableStyles" Target="tableStyles.xml" /><Relationship Id="rId3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30892BC-61E2-D73A-C6BE-4F71EC09544B}"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B73960A-2087-B3EE-2606-9DF54B9499EF}"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5B6F89-2F45-51B0-9E72-7DCCF327EE94}"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F4482D-177E-5946-0898-AF9CFC788377}"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B57EA1-5555-8ECE-518B-C5973033AFF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613FB4-A1F8-87FF-CC91-B6E99FA01CA9}"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4F8B36-1A6C-9C49-8C3B-362D69D44D5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DD17243-8BAE-AED3-9DDC-A663F6838E6E}"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FE3E8D-C07A-F2DC-95A9-E5AFFD740A2B}"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3DA013-DC09-522E-45C3-020CBE65EC5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23E8CF-9297-FABB-D03F-81D1E22FFC24}"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A87A0B2-F9C1-9FA9-5228-8B3731AB9ADD}"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38E4707-5EEE-0D32-24E1-76BBD606EBD7}"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1F9DC6-629C-1A7A-666D-530E2CD729AB}"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8BD1EE7-859E-FB25-0B78-62DF63C547B3}"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BA83DD-3F3C-0474-B782-D85D78CA2A02}"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C96372-89C8-EC2A-8376-2C6EC7363FEC}"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4E98DC-5AC8-14A8-1B27-EE6F4668BF82}"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9813C33-79A1-B6B2-18AC-7BBB1DB0FAA3}"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78B5206-7BB3-8CF5-6AF1-A8ABE1D81574}"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7F6162-A130-10D6-D6C6-F6C35D1B8E96}"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081BD33-A7C5-F55C-A2FF-D0E6C42B649F}"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CF30F48-D10F-83C8-2A6B-79A9E9D43E71}"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044B297-3568-AEB6-194C-771FA2B43830}"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13B8C19-644B-23EA-D888-3E6E42D55BA5}"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D8684D2-0599-597A-4357-F14C81DB776A}"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D2C4CE-4142-7D4E-F996-1BEDAC92E28D}"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44351DE-FA1A-5183-FB54-FFDC6A831755}"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B584A23-6DF6-9E91-C501-A40C88A4015F}"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40A131B-91E5-697F-E361-6CEEC7423A93}"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47E46AA-280E-B6FA-2271-308F3C0B77D5}"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9094F2-3E86-EBF8-7766-29912C5BDDA6}"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bg>
      <p:bgRef idx="1002">
        <a:schemeClr val="bg2"/>
      </p:bgRef>
    </p:bg>
    <p:spTree>
      <p:nvGrpSpPr>
        <p:cNvPr id="1" name=""/>
        <p:cNvGrpSpPr/>
        <p:nvPr/>
      </p:nvGrpSpPr>
      <p:grpSpPr bwMode="auto">
        <a:xfrm>
          <a:off x="0" y="0"/>
          <a:ext cx="0" cy="0"/>
          <a:chOff x="0" y="0"/>
          <a:chExt cx="0" cy="0"/>
        </a:xfrm>
      </p:grpSpPr>
      <p:sp>
        <p:nvSpPr>
          <p:cNvPr id="741721722" name="Title 8"/>
          <p:cNvSpPr>
            <a:spLocks noGrp="1"/>
          </p:cNvSpPr>
          <p:nvPr>
            <p:ph type="ctrTitle"/>
          </p:nvPr>
        </p:nvSpPr>
        <p:spPr bwMode="auto">
          <a:xfrm>
            <a:off x="533400" y="1371600"/>
            <a:ext cx="7851648" cy="1828800"/>
          </a:xfrm>
          <a:prstGeom prst="rect">
            <a:avLst/>
          </a:prstGeom>
          <a:ln>
            <a:noFill/>
          </a:ln>
        </p:spPr>
        <p:txBody>
          <a:bodyPr vert="horz" tIns="0" rIns="18288" bIns="0" anchor="b">
            <a:normAutofit/>
          </a:bodyPr>
          <a:lstStyle>
            <a:lvl1pPr algn="r" rtl="0">
              <a:spcBef>
                <a:spcPts val="0"/>
              </a:spcBef>
              <a:buNone/>
              <a:defRPr sz="5600" b="1">
                <a:ln>
                  <a:noFill/>
                </a:ln>
                <a:solidFill>
                  <a:schemeClr val="accent3">
                    <a:tint val="90000"/>
                    <a:satMod val="120000"/>
                  </a:schemeClr>
                </a:solidFill>
                <a:latin typeface="+mj-lt"/>
                <a:ea typeface="+mj-ea"/>
                <a:cs typeface="+mj-cs"/>
              </a:defRPr>
            </a:lvl1pPr>
          </a:lstStyle>
          <a:p>
            <a:pPr>
              <a:defRPr/>
            </a:pPr>
            <a:r>
              <a:rPr lang="en-US"/>
              <a:t>Click to edit Master title style</a:t>
            </a:r>
            <a:endParaRPr/>
          </a:p>
        </p:txBody>
      </p:sp>
      <p:sp>
        <p:nvSpPr>
          <p:cNvPr id="236586804" name="Subtitle 16"/>
          <p:cNvSpPr>
            <a:spLocks noGrp="1"/>
          </p:cNvSpPr>
          <p:nvPr>
            <p:ph type="subTitle" idx="1"/>
          </p:nvPr>
        </p:nvSpPr>
        <p:spPr bwMode="auto">
          <a:xfrm>
            <a:off x="533400" y="3228536"/>
            <a:ext cx="7854696" cy="1752599"/>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a:defRPr/>
            </a:pPr>
            <a:r>
              <a:rPr lang="en-US"/>
              <a:t>Click to edit Master subtitle style</a:t>
            </a:r>
            <a:endParaRPr/>
          </a:p>
        </p:txBody>
      </p:sp>
      <p:sp>
        <p:nvSpPr>
          <p:cNvPr id="678836987" name="Date Placeholder 29"/>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1090568670" name="Footer Placeholder 18"/>
          <p:cNvSpPr>
            <a:spLocks noGrp="1"/>
          </p:cNvSpPr>
          <p:nvPr>
            <p:ph type="ftr" sz="quarter" idx="11"/>
          </p:nvPr>
        </p:nvSpPr>
        <p:spPr bwMode="auto"/>
        <p:txBody>
          <a:bodyPr/>
          <a:lstStyle/>
          <a:p>
            <a:pPr>
              <a:defRPr/>
            </a:pPr>
            <a:endParaRPr lang="en-US"/>
          </a:p>
        </p:txBody>
      </p:sp>
      <p:sp>
        <p:nvSpPr>
          <p:cNvPr id="681089815" name="Slide Number Placeholder 26"/>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165158580" name="Title 1"/>
          <p:cNvSpPr>
            <a:spLocks noGrp="1"/>
          </p:cNvSpPr>
          <p:nvPr>
            <p:ph type="title"/>
          </p:nvPr>
        </p:nvSpPr>
        <p:spPr bwMode="auto"/>
        <p:txBody>
          <a:bodyPr/>
          <a:lstStyle/>
          <a:p>
            <a:pPr>
              <a:defRPr/>
            </a:pPr>
            <a:r>
              <a:rPr lang="en-US"/>
              <a:t>Click to edit Master title style</a:t>
            </a:r>
            <a:endParaRPr/>
          </a:p>
        </p:txBody>
      </p:sp>
      <p:sp>
        <p:nvSpPr>
          <p:cNvPr id="90376726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4258841" name="Date Placeholder 3"/>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2125136293" name="Footer Placeholder 4"/>
          <p:cNvSpPr>
            <a:spLocks noGrp="1"/>
          </p:cNvSpPr>
          <p:nvPr>
            <p:ph type="ftr" sz="quarter" idx="11"/>
          </p:nvPr>
        </p:nvSpPr>
        <p:spPr bwMode="auto"/>
        <p:txBody>
          <a:bodyPr/>
          <a:lstStyle/>
          <a:p>
            <a:pPr>
              <a:defRPr/>
            </a:pPr>
            <a:endParaRPr lang="en-US"/>
          </a:p>
        </p:txBody>
      </p:sp>
      <p:sp>
        <p:nvSpPr>
          <p:cNvPr id="239682478" name="Slide Number Placeholder 5"/>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bg>
      <p:bgRef idx="1002">
        <a:schemeClr val="bg2"/>
      </p:bgRef>
    </p:bg>
    <p:spTree>
      <p:nvGrpSpPr>
        <p:cNvPr id="1" name=""/>
        <p:cNvGrpSpPr/>
        <p:nvPr/>
      </p:nvGrpSpPr>
      <p:grpSpPr bwMode="auto">
        <a:xfrm>
          <a:off x="0" y="0"/>
          <a:ext cx="0" cy="0"/>
          <a:chOff x="0" y="0"/>
          <a:chExt cx="0" cy="0"/>
        </a:xfrm>
      </p:grpSpPr>
      <p:sp>
        <p:nvSpPr>
          <p:cNvPr id="1076914251" name="Title 1"/>
          <p:cNvSpPr>
            <a:spLocks noGrp="1"/>
          </p:cNvSpPr>
          <p:nvPr>
            <p:ph type="title"/>
          </p:nvPr>
        </p:nvSpPr>
        <p:spPr bwMode="auto">
          <a:xfrm>
            <a:off x="530352" y="1316736"/>
            <a:ext cx="7772400" cy="1362455"/>
          </a:xfrm>
          <a:prstGeom prst="rect">
            <a:avLst/>
          </a:prstGeom>
          <a:ln>
            <a:noFill/>
          </a:ln>
        </p:spPr>
        <p:txBody>
          <a:bodyPr vert="horz" tIns="0" bIns="0" anchor="b">
            <a:noAutofit/>
          </a:bodyPr>
          <a:lstStyle>
            <a:lvl1pPr algn="l" rtl="0">
              <a:spcBef>
                <a:spcPts val="0"/>
              </a:spcBef>
              <a:buNone/>
              <a:defRPr lang="en-US" sz="5600" b="1" cap="none">
                <a:ln w="635">
                  <a:noFill/>
                </a:ln>
                <a:solidFill>
                  <a:schemeClr val="accent4">
                    <a:tint val="90000"/>
                    <a:satMod val="125000"/>
                  </a:schemeClr>
                </a:solidFill>
                <a:latin typeface="+mj-lt"/>
                <a:ea typeface="+mj-ea"/>
                <a:cs typeface="+mj-cs"/>
              </a:defRPr>
            </a:lvl1pPr>
          </a:lstStyle>
          <a:p>
            <a:pPr>
              <a:defRPr/>
            </a:pPr>
            <a:r>
              <a:rPr lang="en-US"/>
              <a:t>Click to edit Master title style</a:t>
            </a:r>
            <a:endParaRPr/>
          </a:p>
        </p:txBody>
      </p:sp>
      <p:sp>
        <p:nvSpPr>
          <p:cNvPr id="1204462206" name="Text Placeholder 2"/>
          <p:cNvSpPr>
            <a:spLocks noGrp="1"/>
          </p:cNvSpPr>
          <p:nvPr>
            <p:ph type="body" idx="1"/>
          </p:nvPr>
        </p:nvSpPr>
        <p:spPr bwMode="auto">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defRPr/>
            </a:pPr>
            <a:r>
              <a:rPr lang="en-US"/>
              <a:t>Click to edit Master text styles</a:t>
            </a:r>
            <a:endParaRPr/>
          </a:p>
        </p:txBody>
      </p:sp>
      <p:sp>
        <p:nvSpPr>
          <p:cNvPr id="1735140512" name="Date Placeholder 3"/>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122195686" name="Footer Placeholder 4"/>
          <p:cNvSpPr>
            <a:spLocks noGrp="1"/>
          </p:cNvSpPr>
          <p:nvPr>
            <p:ph type="ftr" sz="quarter" idx="11"/>
          </p:nvPr>
        </p:nvSpPr>
        <p:spPr bwMode="auto"/>
        <p:txBody>
          <a:bodyPr/>
          <a:lstStyle/>
          <a:p>
            <a:pPr>
              <a:defRPr/>
            </a:pPr>
            <a:endParaRPr lang="en-US"/>
          </a:p>
        </p:txBody>
      </p:sp>
      <p:sp>
        <p:nvSpPr>
          <p:cNvPr id="320163316" name="Slide Number Placeholder 5"/>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28890530" name="Title 1"/>
          <p:cNvSpPr>
            <a:spLocks noGrp="1"/>
          </p:cNvSpPr>
          <p:nvPr>
            <p:ph type="title"/>
          </p:nvPr>
        </p:nvSpPr>
        <p:spPr bwMode="auto">
          <a:xfrm>
            <a:off x="457200" y="704088"/>
            <a:ext cx="8229600" cy="1143000"/>
          </a:xfrm>
        </p:spPr>
        <p:txBody>
          <a:bodyPr/>
          <a:lstStyle/>
          <a:p>
            <a:pPr>
              <a:defRPr/>
            </a:pPr>
            <a:r>
              <a:rPr lang="en-US"/>
              <a:t>Click to edit Master title style</a:t>
            </a:r>
            <a:endParaRPr/>
          </a:p>
        </p:txBody>
      </p:sp>
      <p:sp>
        <p:nvSpPr>
          <p:cNvPr id="1765776948" name="Content Placeholder 2"/>
          <p:cNvSpPr>
            <a:spLocks noGrp="1"/>
          </p:cNvSpPr>
          <p:nvPr>
            <p:ph sz="half" idx="1"/>
          </p:nvPr>
        </p:nvSpPr>
        <p:spPr bwMode="auto">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39051770" name="Content Placeholder 3"/>
          <p:cNvSpPr>
            <a:spLocks noGrp="1"/>
          </p:cNvSpPr>
          <p:nvPr>
            <p:ph sz="half" idx="2"/>
          </p:nvPr>
        </p:nvSpPr>
        <p:spPr bwMode="auto">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29240569" name="Date Placeholder 4"/>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93574017" name="Footer Placeholder 5"/>
          <p:cNvSpPr>
            <a:spLocks noGrp="1"/>
          </p:cNvSpPr>
          <p:nvPr>
            <p:ph type="ftr" sz="quarter" idx="11"/>
          </p:nvPr>
        </p:nvSpPr>
        <p:spPr bwMode="auto"/>
        <p:txBody>
          <a:bodyPr/>
          <a:lstStyle/>
          <a:p>
            <a:pPr>
              <a:defRPr/>
            </a:pPr>
            <a:endParaRPr lang="en-US"/>
          </a:p>
        </p:txBody>
      </p:sp>
      <p:sp>
        <p:nvSpPr>
          <p:cNvPr id="441295359" name="Slide Number Placeholder 6"/>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578730613" name="Title 1"/>
          <p:cNvSpPr>
            <a:spLocks noGrp="1"/>
          </p:cNvSpPr>
          <p:nvPr>
            <p:ph type="title"/>
          </p:nvPr>
        </p:nvSpPr>
        <p:spPr bwMode="auto">
          <a:xfrm>
            <a:off x="457200" y="704088"/>
            <a:ext cx="8229600" cy="1143000"/>
          </a:xfrm>
        </p:spPr>
        <p:txBody>
          <a:bodyPr tIns="45720" anchor="b"/>
          <a:lstStyle>
            <a:lvl1pPr>
              <a:defRPr/>
            </a:lvl1pPr>
          </a:lstStyle>
          <a:p>
            <a:pPr>
              <a:defRPr/>
            </a:pPr>
            <a:r>
              <a:rPr lang="en-US"/>
              <a:t>Click to edit Master title style</a:t>
            </a:r>
            <a:endParaRPr/>
          </a:p>
        </p:txBody>
      </p:sp>
      <p:sp>
        <p:nvSpPr>
          <p:cNvPr id="6809630" name="Text Placeholder 2"/>
          <p:cNvSpPr>
            <a:spLocks noGrp="1"/>
          </p:cNvSpPr>
          <p:nvPr>
            <p:ph type="body" idx="1"/>
          </p:nvPr>
        </p:nvSpPr>
        <p:spPr bwMode="auto">
          <a:xfrm>
            <a:off x="457200" y="1855248"/>
            <a:ext cx="4040188" cy="659352"/>
          </a:xfrm>
        </p:spPr>
        <p:txBody>
          <a:bodyPr lIns="45720" tIns="0" rIns="45720" bIns="0" anchor="ctr">
            <a:noAutofit/>
          </a:bodyPr>
          <a:lstStyle>
            <a:lvl1pPr marL="0" indent="0">
              <a:buNone/>
              <a:defRPr sz="2400" b="1" cap="none">
                <a:solidFill>
                  <a:schemeClr val="tx2"/>
                </a:solidFill>
              </a:defRPr>
            </a:lvl1pPr>
            <a:lvl2pPr>
              <a:buNone/>
              <a:defRPr sz="2000" b="1"/>
            </a:lvl2pPr>
            <a:lvl3pPr>
              <a:buNone/>
              <a:defRPr sz="1800" b="1"/>
            </a:lvl3pPr>
            <a:lvl4pPr>
              <a:buNone/>
              <a:defRPr sz="1600" b="1"/>
            </a:lvl4pPr>
            <a:lvl5pPr>
              <a:buNone/>
              <a:defRPr sz="1600" b="1"/>
            </a:lvl5pPr>
          </a:lstStyle>
          <a:p>
            <a:pPr lvl="0">
              <a:defRPr/>
            </a:pPr>
            <a:r>
              <a:rPr lang="en-US"/>
              <a:t>Click to edit Master text styles</a:t>
            </a:r>
            <a:endParaRPr/>
          </a:p>
        </p:txBody>
      </p:sp>
      <p:sp>
        <p:nvSpPr>
          <p:cNvPr id="1055366762" name="Text Placeholder 3"/>
          <p:cNvSpPr>
            <a:spLocks noGrp="1"/>
          </p:cNvSpPr>
          <p:nvPr>
            <p:ph type="body" sz="half" idx="3"/>
          </p:nvPr>
        </p:nvSpPr>
        <p:spPr bwMode="auto">
          <a:xfrm>
            <a:off x="4645025" y="1859757"/>
            <a:ext cx="4041775" cy="654843"/>
          </a:xfrm>
        </p:spPr>
        <p:txBody>
          <a:bodyPr lIns="45720" tIns="0" rIns="45720" bIns="0" anchor="ctr"/>
          <a:lstStyle>
            <a:lvl1pPr marL="0" indent="0">
              <a:buNone/>
              <a:defRPr sz="2400" b="1" cap="none">
                <a:solidFill>
                  <a:schemeClr val="tx2"/>
                </a:solidFill>
              </a:defRPr>
            </a:lvl1pPr>
            <a:lvl2pPr>
              <a:buNone/>
              <a:defRPr sz="2000" b="1"/>
            </a:lvl2pPr>
            <a:lvl3pPr>
              <a:buNone/>
              <a:defRPr sz="1800" b="1"/>
            </a:lvl3pPr>
            <a:lvl4pPr>
              <a:buNone/>
              <a:defRPr sz="1600" b="1"/>
            </a:lvl4pPr>
            <a:lvl5pPr>
              <a:buNone/>
              <a:defRPr sz="1600" b="1"/>
            </a:lvl5pPr>
          </a:lstStyle>
          <a:p>
            <a:pPr lvl="0">
              <a:defRPr/>
            </a:pPr>
            <a:r>
              <a:rPr lang="en-US"/>
              <a:t>Click to edit Master text styles</a:t>
            </a:r>
            <a:endParaRPr/>
          </a:p>
        </p:txBody>
      </p:sp>
      <p:sp>
        <p:nvSpPr>
          <p:cNvPr id="867367227" name="Content Placeholder 4"/>
          <p:cNvSpPr>
            <a:spLocks noGrp="1"/>
          </p:cNvSpPr>
          <p:nvPr>
            <p:ph sz="quarter" idx="2"/>
          </p:nvPr>
        </p:nvSpPr>
        <p:spPr bwMode="auto">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14388359" name="Content Placeholder 5"/>
          <p:cNvSpPr>
            <a:spLocks noGrp="1"/>
          </p:cNvSpPr>
          <p:nvPr>
            <p:ph sz="quarter" idx="4"/>
          </p:nvPr>
        </p:nvSpPr>
        <p:spPr bwMode="auto">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10589040" name="Date Placeholder 6"/>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87482371" name="Footer Placeholder 7"/>
          <p:cNvSpPr>
            <a:spLocks noGrp="1"/>
          </p:cNvSpPr>
          <p:nvPr>
            <p:ph type="ftr" sz="quarter" idx="11"/>
          </p:nvPr>
        </p:nvSpPr>
        <p:spPr bwMode="auto"/>
        <p:txBody>
          <a:bodyPr/>
          <a:lstStyle/>
          <a:p>
            <a:pPr>
              <a:defRPr/>
            </a:pPr>
            <a:endParaRPr lang="en-US"/>
          </a:p>
        </p:txBody>
      </p:sp>
      <p:sp>
        <p:nvSpPr>
          <p:cNvPr id="1602132082" name="Slide Number Placeholder 8"/>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878105638" name="Title 1"/>
          <p:cNvSpPr>
            <a:spLocks noGrp="1"/>
          </p:cNvSpPr>
          <p:nvPr>
            <p:ph type="title"/>
          </p:nvPr>
        </p:nvSpPr>
        <p:spPr bwMode="auto">
          <a:xfrm>
            <a:off x="457200" y="704088"/>
            <a:ext cx="8305800" cy="1143000"/>
          </a:xfrm>
        </p:spPr>
        <p:txBody>
          <a:bodyPr vert="horz" tIns="45720" bIns="0" anchor="b">
            <a:normAutofit/>
          </a:bodyPr>
          <a:lstStyle>
            <a:lvl1pPr algn="l" rtl="0">
              <a:spcBef>
                <a:spcPts val="0"/>
              </a:spcBef>
              <a:buNone/>
              <a:defRPr sz="5000" b="0">
                <a:ln>
                  <a:noFill/>
                </a:ln>
                <a:solidFill>
                  <a:schemeClr val="tx2"/>
                </a:solidFill>
                <a:latin typeface="+mj-lt"/>
                <a:ea typeface="+mj-ea"/>
                <a:cs typeface="+mj-cs"/>
              </a:defRPr>
            </a:lvl1pPr>
          </a:lstStyle>
          <a:p>
            <a:pPr>
              <a:defRPr/>
            </a:pPr>
            <a:r>
              <a:rPr lang="en-US"/>
              <a:t>Click to edit Master title style</a:t>
            </a:r>
            <a:endParaRPr/>
          </a:p>
        </p:txBody>
      </p:sp>
      <p:sp>
        <p:nvSpPr>
          <p:cNvPr id="507689317" name="Date Placeholder 2"/>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1863338654" name="Footer Placeholder 3"/>
          <p:cNvSpPr>
            <a:spLocks noGrp="1"/>
          </p:cNvSpPr>
          <p:nvPr>
            <p:ph type="ftr" sz="quarter" idx="11"/>
          </p:nvPr>
        </p:nvSpPr>
        <p:spPr bwMode="auto"/>
        <p:txBody>
          <a:bodyPr/>
          <a:lstStyle/>
          <a:p>
            <a:pPr>
              <a:defRPr/>
            </a:pPr>
            <a:endParaRPr lang="en-US"/>
          </a:p>
        </p:txBody>
      </p:sp>
      <p:sp>
        <p:nvSpPr>
          <p:cNvPr id="910907929" name="Slide Number Placeholder 4"/>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128889565" name="Date Placeholder 1"/>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1201101622" name="Footer Placeholder 2"/>
          <p:cNvSpPr>
            <a:spLocks noGrp="1"/>
          </p:cNvSpPr>
          <p:nvPr>
            <p:ph type="ftr" sz="quarter" idx="11"/>
          </p:nvPr>
        </p:nvSpPr>
        <p:spPr bwMode="auto"/>
        <p:txBody>
          <a:bodyPr/>
          <a:lstStyle/>
          <a:p>
            <a:pPr>
              <a:defRPr/>
            </a:pPr>
            <a:endParaRPr lang="en-US"/>
          </a:p>
        </p:txBody>
      </p:sp>
      <p:sp>
        <p:nvSpPr>
          <p:cNvPr id="1542062532" name="Slide Number Placeholder 3"/>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995053022" name="Title 1"/>
          <p:cNvSpPr>
            <a:spLocks noGrp="1"/>
          </p:cNvSpPr>
          <p:nvPr>
            <p:ph type="title"/>
          </p:nvPr>
        </p:nvSpPr>
        <p:spPr bwMode="auto">
          <a:xfrm>
            <a:off x="685800" y="514351"/>
            <a:ext cx="2743200" cy="1162050"/>
          </a:xfrm>
        </p:spPr>
        <p:txBody>
          <a:bodyPr lIns="0" anchor="b">
            <a:noAutofit/>
          </a:bodyPr>
          <a:lstStyle>
            <a:lvl1pPr algn="l" rtl="0">
              <a:spcBef>
                <a:spcPts val="0"/>
              </a:spcBef>
              <a:buNone/>
              <a:defRPr sz="2600" b="0">
                <a:ln>
                  <a:noFill/>
                </a:ln>
                <a:solidFill>
                  <a:schemeClr val="tx2"/>
                </a:solidFill>
                <a:latin typeface="+mj-lt"/>
                <a:ea typeface="+mj-ea"/>
                <a:cs typeface="+mj-cs"/>
              </a:defRPr>
            </a:lvl1pPr>
          </a:lstStyle>
          <a:p>
            <a:pPr>
              <a:defRPr/>
            </a:pPr>
            <a:r>
              <a:rPr lang="en-US"/>
              <a:t>Click to edit Master title style</a:t>
            </a:r>
            <a:endParaRPr/>
          </a:p>
        </p:txBody>
      </p:sp>
      <p:sp>
        <p:nvSpPr>
          <p:cNvPr id="1047214470" name="Text Placeholder 2"/>
          <p:cNvSpPr>
            <a:spLocks noGrp="1"/>
          </p:cNvSpPr>
          <p:nvPr>
            <p:ph type="body" idx="2"/>
          </p:nvPr>
        </p:nvSpPr>
        <p:spPr bwMode="auto">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defRPr/>
            </a:pPr>
            <a:r>
              <a:rPr lang="en-US"/>
              <a:t>Click to edit Master text styles</a:t>
            </a:r>
            <a:endParaRPr/>
          </a:p>
        </p:txBody>
      </p:sp>
      <p:sp>
        <p:nvSpPr>
          <p:cNvPr id="1983701443" name="Content Placeholder 3"/>
          <p:cNvSpPr>
            <a:spLocks noGrp="1"/>
          </p:cNvSpPr>
          <p:nvPr>
            <p:ph sz="half" idx="1"/>
          </p:nvPr>
        </p:nvSpPr>
        <p:spPr bwMode="auto">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39345796" name="Date Placeholder 4"/>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50225029" name="Footer Placeholder 5"/>
          <p:cNvSpPr>
            <a:spLocks noGrp="1"/>
          </p:cNvSpPr>
          <p:nvPr>
            <p:ph type="ftr" sz="quarter" idx="11"/>
          </p:nvPr>
        </p:nvSpPr>
        <p:spPr bwMode="auto"/>
        <p:txBody>
          <a:bodyPr/>
          <a:lstStyle/>
          <a:p>
            <a:pPr>
              <a:defRPr/>
            </a:pPr>
            <a:endParaRPr lang="en-US"/>
          </a:p>
        </p:txBody>
      </p:sp>
      <p:sp>
        <p:nvSpPr>
          <p:cNvPr id="1255500182" name="Slide Number Placeholder 6"/>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picTx" userDrawn="1">
  <p:cSld name="Picture with Caption">
    <p:spTree>
      <p:nvGrpSpPr>
        <p:cNvPr id="1" name=""/>
        <p:cNvGrpSpPr/>
        <p:nvPr/>
      </p:nvGrpSpPr>
      <p:grpSpPr bwMode="auto">
        <a:xfrm>
          <a:off x="0" y="0"/>
          <a:ext cx="0" cy="0"/>
          <a:chOff x="0" y="0"/>
          <a:chExt cx="0" cy="0"/>
        </a:xfrm>
      </p:grpSpPr>
      <p:sp>
        <p:nvSpPr>
          <p:cNvPr id="178871761" name="Snip and Round Single Corner Rectangle 8"/>
          <p:cNvSpPr/>
          <p:nvPr/>
        </p:nvSpPr>
        <p:spPr bwMode="auto">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92291985" name="Right Triangle 11"/>
          <p:cNvSpPr/>
          <p:nvPr/>
        </p:nvSpPr>
        <p:spPr bwMode="auto">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26504504" name="Title 1"/>
          <p:cNvSpPr>
            <a:spLocks noGrp="1"/>
          </p:cNvSpPr>
          <p:nvPr>
            <p:ph type="title"/>
          </p:nvPr>
        </p:nvSpPr>
        <p:spPr bwMode="auto">
          <a:xfrm>
            <a:off x="609600" y="1176996"/>
            <a:ext cx="2212848" cy="1582621"/>
          </a:xfrm>
        </p:spPr>
        <p:txBody>
          <a:bodyPr vert="horz" lIns="45720" tIns="45720" rIns="45720" bIns="45720" anchor="b"/>
          <a:lstStyle>
            <a:lvl1pPr algn="l">
              <a:buNone/>
              <a:defRPr sz="2000" b="1">
                <a:solidFill>
                  <a:schemeClr val="tx2"/>
                </a:solidFill>
              </a:defRPr>
            </a:lvl1pPr>
          </a:lstStyle>
          <a:p>
            <a:pPr>
              <a:defRPr/>
            </a:pPr>
            <a:r>
              <a:rPr lang="en-US"/>
              <a:t>Click to edit Master title style</a:t>
            </a:r>
            <a:endParaRPr/>
          </a:p>
        </p:txBody>
      </p:sp>
      <p:sp>
        <p:nvSpPr>
          <p:cNvPr id="612231558" name="Text Placeholder 3"/>
          <p:cNvSpPr>
            <a:spLocks noGrp="1"/>
          </p:cNvSpPr>
          <p:nvPr>
            <p:ph type="body" sz="half" idx="2"/>
          </p:nvPr>
        </p:nvSpPr>
        <p:spPr bwMode="auto">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a:defRPr/>
            </a:pPr>
            <a:r>
              <a:rPr lang="en-US"/>
              <a:t>Click to edit Master text styles</a:t>
            </a:r>
            <a:endParaRPr/>
          </a:p>
        </p:txBody>
      </p:sp>
      <p:sp>
        <p:nvSpPr>
          <p:cNvPr id="2073235680" name="Date Placeholder 4"/>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1559060774" name="Footer Placeholder 5"/>
          <p:cNvSpPr>
            <a:spLocks noGrp="1"/>
          </p:cNvSpPr>
          <p:nvPr>
            <p:ph type="ftr" sz="quarter" idx="11"/>
          </p:nvPr>
        </p:nvSpPr>
        <p:spPr bwMode="auto"/>
        <p:txBody>
          <a:bodyPr/>
          <a:lstStyle/>
          <a:p>
            <a:pPr>
              <a:defRPr/>
            </a:pPr>
            <a:endParaRPr lang="en-US"/>
          </a:p>
        </p:txBody>
      </p:sp>
      <p:sp>
        <p:nvSpPr>
          <p:cNvPr id="137486455" name="Slide Number Placeholder 6"/>
          <p:cNvSpPr>
            <a:spLocks noGrp="1"/>
          </p:cNvSpPr>
          <p:nvPr>
            <p:ph type="sldNum" sz="quarter" idx="12"/>
          </p:nvPr>
        </p:nvSpPr>
        <p:spPr bwMode="auto">
          <a:xfrm>
            <a:off x="8077200" y="6356350"/>
            <a:ext cx="609600" cy="365125"/>
          </a:xfrm>
        </p:spPr>
        <p:txBody>
          <a:bodyPr/>
          <a:lstStyle/>
          <a:p>
            <a:pPr>
              <a:defRPr/>
            </a:pPr>
            <a:fld id="{A96F7C8C-C83D-425B-BDF9-13940951E7CD}" type="slidenum">
              <a:rPr lang="en-US"/>
              <a:t>‹#›</a:t>
            </a:fld>
            <a:endParaRPr lang="en-US"/>
          </a:p>
        </p:txBody>
      </p:sp>
      <p:sp>
        <p:nvSpPr>
          <p:cNvPr id="1979446318" name="Picture Placeholder 2"/>
          <p:cNvSpPr>
            <a:spLocks noGrp="1"/>
          </p:cNvSpPr>
          <p:nvPr>
            <p:ph type="pic" idx="1"/>
          </p:nvPr>
        </p:nvSpPr>
        <p:spPr bwMode="auto">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pPr>
              <a:defRPr/>
            </a:pPr>
            <a:r>
              <a:rPr lang="en-US"/>
              <a:t>Click icon to add picture</a:t>
            </a:r>
            <a:endParaRPr lang="en-US"/>
          </a:p>
        </p:txBody>
      </p:sp>
      <p:sp>
        <p:nvSpPr>
          <p:cNvPr id="2098609649"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fill="norm" stroke="1"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a:defRPr/>
            </a:pPr>
            <a:endParaRPr lang="en-US">
              <a:solidFill>
                <a:schemeClr val="tx1"/>
              </a:solidFill>
              <a:latin typeface="+mn-lt"/>
              <a:ea typeface="+mn-ea"/>
              <a:cs typeface="+mn-cs"/>
            </a:endParaRPr>
          </a:p>
        </p:txBody>
      </p:sp>
      <p:sp>
        <p:nvSpPr>
          <p:cNvPr id="874022927"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fill="norm" stroke="1"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a:defRPr/>
            </a:pPr>
            <a:endParaRPr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691748211" name="Title 1"/>
          <p:cNvSpPr>
            <a:spLocks noGrp="1"/>
          </p:cNvSpPr>
          <p:nvPr>
            <p:ph type="title"/>
          </p:nvPr>
        </p:nvSpPr>
        <p:spPr bwMode="auto"/>
        <p:txBody>
          <a:bodyPr/>
          <a:lstStyle/>
          <a:p>
            <a:pPr>
              <a:defRPr/>
            </a:pPr>
            <a:r>
              <a:rPr lang="en-US"/>
              <a:t>Click to edit Master title style</a:t>
            </a:r>
            <a:endParaRPr/>
          </a:p>
        </p:txBody>
      </p:sp>
      <p:sp>
        <p:nvSpPr>
          <p:cNvPr id="44099766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9251925" name="Date Placeholder 3"/>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1921214317" name="Footer Placeholder 4"/>
          <p:cNvSpPr>
            <a:spLocks noGrp="1"/>
          </p:cNvSpPr>
          <p:nvPr>
            <p:ph type="ftr" sz="quarter" idx="11"/>
          </p:nvPr>
        </p:nvSpPr>
        <p:spPr bwMode="auto"/>
        <p:txBody>
          <a:bodyPr/>
          <a:lstStyle/>
          <a:p>
            <a:pPr>
              <a:defRPr/>
            </a:pPr>
            <a:endParaRPr lang="en-US"/>
          </a:p>
        </p:txBody>
      </p:sp>
      <p:sp>
        <p:nvSpPr>
          <p:cNvPr id="618652833" name="Slide Number Placeholder 5"/>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110052879" name="Vertical Title 1"/>
          <p:cNvSpPr>
            <a:spLocks noGrp="1"/>
          </p:cNvSpPr>
          <p:nvPr>
            <p:ph type="title" orient="vert"/>
          </p:nvPr>
        </p:nvSpPr>
        <p:spPr bwMode="auto">
          <a:xfrm>
            <a:off x="6629400" y="914400"/>
            <a:ext cx="2057400" cy="5211763"/>
          </a:xfrm>
        </p:spPr>
        <p:txBody>
          <a:bodyPr vert="eaVert"/>
          <a:lstStyle/>
          <a:p>
            <a:pPr>
              <a:defRPr/>
            </a:pPr>
            <a:r>
              <a:rPr lang="en-US"/>
              <a:t>Click to edit Master title style</a:t>
            </a:r>
            <a:endParaRPr/>
          </a:p>
        </p:txBody>
      </p:sp>
      <p:sp>
        <p:nvSpPr>
          <p:cNvPr id="276737951" name="Vertical Text Placeholder 2"/>
          <p:cNvSpPr>
            <a:spLocks noGrp="1"/>
          </p:cNvSpPr>
          <p:nvPr>
            <p:ph type="body" orient="vert" idx="1"/>
          </p:nvPr>
        </p:nvSpPr>
        <p:spPr bwMode="auto">
          <a:xfrm>
            <a:off x="457200" y="914400"/>
            <a:ext cx="6019800" cy="5211763"/>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32473489" name="Date Placeholder 3"/>
          <p:cNvSpPr>
            <a:spLocks noGrp="1"/>
          </p:cNvSpPr>
          <p:nvPr>
            <p:ph type="dt" sz="half" idx="10"/>
          </p:nvPr>
        </p:nvSpPr>
        <p:spPr bwMode="auto"/>
        <p:txBody>
          <a:bodyPr/>
          <a:lstStyle/>
          <a:p>
            <a:pPr>
              <a:defRPr/>
            </a:pPr>
            <a:fld id="{982BF560-1BD1-4B4C-B299-F0C07C63264C}" type="datetimeFigureOut">
              <a:rPr lang="en-US"/>
              <a:t>10/13/2026</a:t>
            </a:fld>
            <a:endParaRPr lang="en-US"/>
          </a:p>
        </p:txBody>
      </p:sp>
      <p:sp>
        <p:nvSpPr>
          <p:cNvPr id="2127656890" name="Footer Placeholder 4"/>
          <p:cNvSpPr>
            <a:spLocks noGrp="1"/>
          </p:cNvSpPr>
          <p:nvPr>
            <p:ph type="ftr" sz="quarter" idx="11"/>
          </p:nvPr>
        </p:nvSpPr>
        <p:spPr bwMode="auto"/>
        <p:txBody>
          <a:bodyPr/>
          <a:lstStyle/>
          <a:p>
            <a:pPr>
              <a:defRPr/>
            </a:pPr>
            <a:endParaRPr lang="en-US"/>
          </a:p>
        </p:txBody>
      </p:sp>
      <p:sp>
        <p:nvSpPr>
          <p:cNvPr id="151286278" name="Slide Number Placeholder 5"/>
          <p:cNvSpPr>
            <a:spLocks noGrp="1"/>
          </p:cNvSpPr>
          <p:nvPr>
            <p:ph type="sldNum" sz="quarter" idx="12"/>
          </p:nvPr>
        </p:nvSpPr>
        <p:spPr bwMode="auto"/>
        <p:txBody>
          <a:bodyPr/>
          <a:lstStyle/>
          <a:p>
            <a:pPr>
              <a:defRPr/>
            </a:pPr>
            <a:fld id="{A96F7C8C-C83D-425B-BDF9-13940951E7CD}"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3">
        <a:schemeClr val="bg1"/>
      </p:bgRef>
    </p:bg>
    <p:spTree>
      <p:nvGrpSpPr>
        <p:cNvPr id="1" name=""/>
        <p:cNvGrpSpPr/>
        <p:nvPr/>
      </p:nvGrpSpPr>
      <p:grpSpPr bwMode="auto">
        <a:xfrm>
          <a:off x="0" y="0"/>
          <a:ext cx="0" cy="0"/>
          <a:chOff x="0" y="0"/>
          <a:chExt cx="0" cy="0"/>
        </a:xfrm>
      </p:grpSpPr>
      <p:sp>
        <p:nvSpPr>
          <p:cNvPr id="183433859"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fill="norm" stroke="1"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a:defRPr/>
            </a:pPr>
            <a:endParaRPr lang="en-US">
              <a:solidFill>
                <a:schemeClr val="tx1"/>
              </a:solidFill>
              <a:latin typeface="+mn-lt"/>
              <a:ea typeface="+mn-ea"/>
              <a:cs typeface="+mn-cs"/>
            </a:endParaRPr>
          </a:p>
        </p:txBody>
      </p:sp>
      <p:sp>
        <p:nvSpPr>
          <p:cNvPr id="47639497"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fill="norm" stroke="1"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a:defRPr/>
            </a:pPr>
            <a:endParaRPr lang="en-US">
              <a:solidFill>
                <a:schemeClr val="tx1"/>
              </a:solidFill>
              <a:latin typeface="+mn-lt"/>
              <a:ea typeface="+mn-ea"/>
              <a:cs typeface="+mn-cs"/>
            </a:endParaRPr>
          </a:p>
        </p:txBody>
      </p:sp>
      <p:sp>
        <p:nvSpPr>
          <p:cNvPr id="1075357704" name="Title Placeholder 8"/>
          <p:cNvSpPr>
            <a:spLocks noGrp="1"/>
          </p:cNvSpPr>
          <p:nvPr>
            <p:ph type="title"/>
          </p:nvPr>
        </p:nvSpPr>
        <p:spPr bwMode="auto">
          <a:xfrm>
            <a:off x="457200" y="704088"/>
            <a:ext cx="8229600" cy="1143000"/>
          </a:xfrm>
          <a:prstGeom prst="rect">
            <a:avLst/>
          </a:prstGeom>
        </p:spPr>
        <p:txBody>
          <a:bodyPr vert="horz" lIns="0" rIns="0" bIns="0" anchor="b">
            <a:normAutofit/>
          </a:bodyPr>
          <a:lstStyle/>
          <a:p>
            <a:pPr>
              <a:defRPr/>
            </a:pPr>
            <a:r>
              <a:rPr lang="en-US"/>
              <a:t>Click to edit Master title style</a:t>
            </a:r>
            <a:endParaRPr/>
          </a:p>
        </p:txBody>
      </p:sp>
      <p:sp>
        <p:nvSpPr>
          <p:cNvPr id="473001093" name="Text Placeholder 29"/>
          <p:cNvSpPr>
            <a:spLocks noGrp="1"/>
          </p:cNvSpPr>
          <p:nvPr>
            <p:ph type="body" idx="1"/>
          </p:nvPr>
        </p:nvSpPr>
        <p:spPr bwMode="auto">
          <a:xfrm>
            <a:off x="457200" y="1935480"/>
            <a:ext cx="8229600" cy="4389120"/>
          </a:xfrm>
          <a:prstGeom prst="rect">
            <a:avLst/>
          </a:prstGeom>
        </p:spPr>
        <p:txBody>
          <a:bodyPr vert="horz">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52857799" name="Date Placeholder 9"/>
          <p:cNvSpPr>
            <a:spLocks noGrp="1"/>
          </p:cNvSpPr>
          <p:nvPr>
            <p:ph type="dt" sz="half" idx="2"/>
          </p:nvPr>
        </p:nvSpPr>
        <p:spPr bwMode="auto">
          <a:xfrm>
            <a:off x="457200" y="6356350"/>
            <a:ext cx="2133600" cy="365125"/>
          </a:xfrm>
          <a:prstGeom prst="rect">
            <a:avLst/>
          </a:prstGeom>
        </p:spPr>
        <p:txBody>
          <a:bodyPr vert="horz" lIns="0" tIns="0" rIns="0" bIns="0" anchor="b"/>
          <a:lstStyle>
            <a:lvl1pPr algn="l">
              <a:defRPr sz="1200">
                <a:solidFill>
                  <a:schemeClr val="tx2">
                    <a:shade val="90000"/>
                  </a:schemeClr>
                </a:solidFill>
              </a:defRPr>
            </a:lvl1pPr>
          </a:lstStyle>
          <a:p>
            <a:pPr>
              <a:defRPr/>
            </a:pPr>
            <a:fld id="{982BF560-1BD1-4B4C-B299-F0C07C63264C}" type="datetimeFigureOut">
              <a:rPr lang="en-US"/>
              <a:t>10/13/2026</a:t>
            </a:fld>
            <a:endParaRPr lang="en-US"/>
          </a:p>
        </p:txBody>
      </p:sp>
      <p:sp>
        <p:nvSpPr>
          <p:cNvPr id="2138514493" name="Footer Placeholder 21"/>
          <p:cNvSpPr>
            <a:spLocks noGrp="1"/>
          </p:cNvSpPr>
          <p:nvPr>
            <p:ph type="ftr" sz="quarter" idx="3"/>
          </p:nvPr>
        </p:nvSpPr>
        <p:spPr bwMode="auto">
          <a:xfrm>
            <a:off x="2667000" y="6356350"/>
            <a:ext cx="3352800" cy="365125"/>
          </a:xfrm>
          <a:prstGeom prst="rect">
            <a:avLst/>
          </a:prstGeom>
        </p:spPr>
        <p:txBody>
          <a:bodyPr vert="horz" lIns="0" tIns="0" rIns="0" bIns="0" anchor="b"/>
          <a:lstStyle>
            <a:lvl1pPr algn="l">
              <a:defRPr sz="1200">
                <a:solidFill>
                  <a:schemeClr val="tx2">
                    <a:shade val="90000"/>
                  </a:schemeClr>
                </a:solidFill>
              </a:defRPr>
            </a:lvl1pPr>
          </a:lstStyle>
          <a:p>
            <a:pPr>
              <a:defRPr/>
            </a:pPr>
            <a:endParaRPr lang="en-US"/>
          </a:p>
        </p:txBody>
      </p:sp>
      <p:sp>
        <p:nvSpPr>
          <p:cNvPr id="467700398" name="Slide Number Placeholder 17"/>
          <p:cNvSpPr>
            <a:spLocks noGrp="1"/>
          </p:cNvSpPr>
          <p:nvPr>
            <p:ph type="sldNum" sz="quarter" idx="4"/>
          </p:nvPr>
        </p:nvSpPr>
        <p:spPr bwMode="auto">
          <a:xfrm>
            <a:off x="7924800" y="6356350"/>
            <a:ext cx="762000" cy="365125"/>
          </a:xfrm>
          <a:prstGeom prst="rect">
            <a:avLst/>
          </a:prstGeom>
        </p:spPr>
        <p:txBody>
          <a:bodyPr vert="horz" lIns="0" tIns="0" rIns="0" bIns="0" anchor="b"/>
          <a:lstStyle>
            <a:lvl1pPr algn="r">
              <a:defRPr sz="1200">
                <a:solidFill>
                  <a:schemeClr val="tx2">
                    <a:shade val="90000"/>
                  </a:schemeClr>
                </a:solidFill>
              </a:defRPr>
            </a:lvl1pPr>
          </a:lstStyle>
          <a:p>
            <a:pPr>
              <a:defRPr/>
            </a:pPr>
            <a:fld id="{A96F7C8C-C83D-425B-BDF9-13940951E7CD}" type="slidenum">
              <a:rPr lang="en-US"/>
              <a:t>‹#›</a:t>
            </a:fld>
            <a:endParaRPr lang="en-US"/>
          </a:p>
        </p:txBody>
      </p:sp>
      <p:grpSp>
        <p:nvGrpSpPr>
          <p:cNvPr id="480977941" name="Group 1"/>
          <p:cNvGrpSpPr/>
          <p:nvPr/>
        </p:nvGrpSpPr>
        <p:grpSpPr bwMode="auto">
          <a:xfrm>
            <a:off x="-19017" y="202408"/>
            <a:ext cx="9180548" cy="649224"/>
            <a:chOff x="-19045" y="216550"/>
            <a:chExt cx="9180548" cy="649224"/>
          </a:xfrm>
        </p:grpSpPr>
        <p:sp>
          <p:nvSpPr>
            <p:cNvPr id="12" name="Freeform 11"/>
            <p:cNvSpPr/>
            <p:nvPr/>
          </p:nvSpPr>
          <p:spPr bwMode="auto">
            <a:xfrm rot="21435691">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fill="norm" stroke="1"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16000">
                    <a:schemeClr val="accent2">
                      <a:shade val="75000"/>
                      <a:alpha val="56000"/>
                    </a:schemeClr>
                  </a:gs>
                  <a:gs pos="74000">
                    <a:schemeClr val="accent3">
                      <a:shade val="75000"/>
                    </a:schemeClr>
                  </a:gs>
                  <a:gs pos="86000">
                    <a:schemeClr val="tx1">
                      <a:alpha val="29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a:defRPr/>
              </a:pPr>
              <a:endParaRPr lang="en-US"/>
            </a:p>
          </p:txBody>
        </p:sp>
        <p:sp>
          <p:nvSpPr>
            <p:cNvPr id="13" name="Freeform 12"/>
            <p:cNvSpPr/>
            <p:nvPr/>
          </p:nvSpPr>
          <p:spPr bwMode="auto">
            <a:xfrm rot="21435691">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fill="norm" stroke="1"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33000">
                    <a:schemeClr val="accent2">
                      <a:alpha val="56000"/>
                    </a:schemeClr>
                  </a:gs>
                  <a:gs pos="44000">
                    <a:schemeClr val="accent1"/>
                  </a:gs>
                  <a:gs pos="74000">
                    <a:schemeClr val="accent4"/>
                  </a:gs>
                </a:gsLst>
                <a:lin ang="5400000" scaled="1"/>
              </a:gradFill>
              <a:prstDash val="solid"/>
              <a:round/>
              <a:headEnd type="none" w="med" len="med"/>
              <a:tailEnd type="none" w="med" len="med"/>
            </a:ln>
            <a:effectLst/>
          </p:spPr>
          <p:txBody>
            <a:bodyPr vert="horz" wrap="square" lIns="91440" tIns="45720" rIns="91440" bIns="45720" anchor="t" compatLnSpc="1"/>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a:spcBef>
          <a:spcPts val="0"/>
        </a:spcBef>
        <a:buNone/>
        <a:defRPr sz="5000" b="0">
          <a:ln>
            <a:noFill/>
          </a:ln>
          <a:solidFill>
            <a:schemeClr val="tx2"/>
          </a:solidFill>
          <a:latin typeface="+mj-lt"/>
          <a:ea typeface="+mj-ea"/>
          <a:cs typeface="+mj-cs"/>
        </a:defRPr>
      </a:lvl1pPr>
    </p:titleStyle>
    <p:bodyStyle>
      <a:lvl1pPr marL="274320" indent="-274320" algn="l" rtl="0">
        <a:spcBef>
          <a:spcPts val="0"/>
        </a:spcBef>
        <a:buClr>
          <a:schemeClr val="accent3"/>
        </a:buClr>
        <a:buSzPct val="95000"/>
        <a:buFont typeface="Wingdings 2"/>
        <a:buChar char=""/>
        <a:defRPr sz="2600">
          <a:solidFill>
            <a:schemeClr val="tx1"/>
          </a:solidFill>
          <a:latin typeface="+mn-lt"/>
          <a:ea typeface="+mn-ea"/>
          <a:cs typeface="+mn-cs"/>
        </a:defRPr>
      </a:lvl1pPr>
      <a:lvl2pPr marL="640080" indent="-246888" algn="l" rtl="0">
        <a:spcBef>
          <a:spcPts val="0"/>
        </a:spcBef>
        <a:buClr>
          <a:schemeClr val="accent1"/>
        </a:buClr>
        <a:buSzPct val="85000"/>
        <a:buFont typeface="Wingdings 2"/>
        <a:buChar char=""/>
        <a:defRPr sz="2400">
          <a:solidFill>
            <a:schemeClr val="tx1"/>
          </a:solidFill>
          <a:latin typeface="+mn-lt"/>
          <a:ea typeface="+mn-ea"/>
          <a:cs typeface="+mn-cs"/>
        </a:defRPr>
      </a:lvl2pPr>
      <a:lvl3pPr marL="914400" indent="-246888" algn="l" rtl="0">
        <a:spcBef>
          <a:spcPts val="0"/>
        </a:spcBef>
        <a:buClr>
          <a:schemeClr val="accent2"/>
        </a:buClr>
        <a:buSzPct val="70000"/>
        <a:buFont typeface="Wingdings 2"/>
        <a:buChar char=""/>
        <a:defRPr sz="2100">
          <a:solidFill>
            <a:schemeClr val="tx1"/>
          </a:solidFill>
          <a:latin typeface="+mn-lt"/>
          <a:ea typeface="+mn-ea"/>
          <a:cs typeface="+mn-cs"/>
        </a:defRPr>
      </a:lvl3pPr>
      <a:lvl4pPr marL="1188720" indent="-210312" algn="l" rtl="0">
        <a:spcBef>
          <a:spcPts val="0"/>
        </a:spcBef>
        <a:buClr>
          <a:schemeClr val="accent3"/>
        </a:buClr>
        <a:buSzPct val="65000"/>
        <a:buFont typeface="Wingdings 2"/>
        <a:buChar char=""/>
        <a:defRPr sz="2000">
          <a:solidFill>
            <a:schemeClr val="tx1"/>
          </a:solidFill>
          <a:latin typeface="+mn-lt"/>
          <a:ea typeface="+mn-ea"/>
          <a:cs typeface="+mn-cs"/>
        </a:defRPr>
      </a:lvl4pPr>
      <a:lvl5pPr marL="1463040" indent="-210312" algn="l" rtl="0">
        <a:spcBef>
          <a:spcPts val="0"/>
        </a:spcBef>
        <a:buClr>
          <a:schemeClr val="accent4"/>
        </a:buClr>
        <a:buSzPct val="65000"/>
        <a:buFont typeface="Wingdings 2"/>
        <a:buChar char=""/>
        <a:defRPr sz="2000">
          <a:solidFill>
            <a:schemeClr val="tx1"/>
          </a:solidFill>
          <a:latin typeface="+mn-lt"/>
          <a:ea typeface="+mn-ea"/>
          <a:cs typeface="+mn-cs"/>
        </a:defRPr>
      </a:lvl5pPr>
      <a:lvl6pPr marL="1737360" indent="-210312" algn="l" rtl="0">
        <a:spcBef>
          <a:spcPts val="0"/>
        </a:spcBef>
        <a:buClr>
          <a:schemeClr val="accent5"/>
        </a:buClr>
        <a:buSzPct val="80000"/>
        <a:buFont typeface="Wingdings 2"/>
        <a:buChar char=""/>
        <a:defRPr sz="1800">
          <a:solidFill>
            <a:schemeClr val="tx1"/>
          </a:solidFill>
          <a:latin typeface="+mn-lt"/>
          <a:ea typeface="+mn-ea"/>
          <a:cs typeface="+mn-cs"/>
        </a:defRPr>
      </a:lvl6pPr>
      <a:lvl7pPr marL="1920240" indent="-182880" algn="l" rtl="0">
        <a:spcBef>
          <a:spcPts val="0"/>
        </a:spcBef>
        <a:buClr>
          <a:schemeClr val="accent6"/>
        </a:buClr>
        <a:buSzPct val="80000"/>
        <a:buFont typeface="Wingdings 2"/>
        <a:buChar char=""/>
        <a:defRPr sz="1600">
          <a:solidFill>
            <a:schemeClr val="tx1"/>
          </a:solidFill>
          <a:latin typeface="+mn-lt"/>
          <a:ea typeface="+mn-ea"/>
          <a:cs typeface="+mn-cs"/>
        </a:defRPr>
      </a:lvl7pPr>
      <a:lvl8pPr marL="2194560" indent="-182880" algn="l" rtl="0">
        <a:spcBef>
          <a:spcPts val="0"/>
        </a:spcBef>
        <a:buClr>
          <a:schemeClr val="tx2"/>
        </a:buClr>
        <a:buChar char="•"/>
        <a:defRPr sz="1600">
          <a:solidFill>
            <a:schemeClr val="tx1"/>
          </a:solidFill>
          <a:latin typeface="+mn-lt"/>
          <a:ea typeface="+mn-ea"/>
          <a:cs typeface="+mn-cs"/>
        </a:defRPr>
      </a:lvl8pPr>
      <a:lvl9pPr marL="2468880" indent="-182880" algn="l" rtl="0">
        <a:spcBef>
          <a:spcPts val="0"/>
        </a:spcBef>
        <a:buClr>
          <a:schemeClr val="tx2"/>
        </a:buClr>
        <a:buFontTx/>
        <a:buChar char="•"/>
        <a:defRPr sz="1400">
          <a:solidFill>
            <a:schemeClr val="tx1"/>
          </a:solidFill>
          <a:latin typeface="+mn-lt"/>
          <a:ea typeface="+mn-ea"/>
          <a:cs typeface="+mn-cs"/>
        </a:defRPr>
      </a:lvl9pPr>
    </p:bodyStyle>
    <p:otherStyle>
      <a:lvl1pPr marL="0" algn="l" rtl="0">
        <a:defRPr>
          <a:solidFill>
            <a:schemeClr val="tx1"/>
          </a:solidFill>
          <a:latin typeface="+mn-lt"/>
          <a:ea typeface="+mn-ea"/>
          <a:cs typeface="+mn-cs"/>
        </a:defRPr>
      </a:lvl1pPr>
      <a:lvl2pPr marL="457200" algn="l" rtl="0">
        <a:defRPr>
          <a:solidFill>
            <a:schemeClr val="tx1"/>
          </a:solidFill>
          <a:latin typeface="+mn-lt"/>
          <a:ea typeface="+mn-ea"/>
          <a:cs typeface="+mn-cs"/>
        </a:defRPr>
      </a:lvl2pPr>
      <a:lvl3pPr marL="914400" algn="l" rtl="0">
        <a:defRPr>
          <a:solidFill>
            <a:schemeClr val="tx1"/>
          </a:solidFill>
          <a:latin typeface="+mn-lt"/>
          <a:ea typeface="+mn-ea"/>
          <a:cs typeface="+mn-cs"/>
        </a:defRPr>
      </a:lvl3pPr>
      <a:lvl4pPr marL="1371600" algn="l" rtl="0">
        <a:defRPr>
          <a:solidFill>
            <a:schemeClr val="tx1"/>
          </a:solidFill>
          <a:latin typeface="+mn-lt"/>
          <a:ea typeface="+mn-ea"/>
          <a:cs typeface="+mn-cs"/>
        </a:defRPr>
      </a:lvl4pPr>
      <a:lvl5pPr marL="1828800" algn="l" rtl="0">
        <a:defRPr>
          <a:solidFill>
            <a:schemeClr val="tx1"/>
          </a:solidFill>
          <a:latin typeface="+mn-lt"/>
          <a:ea typeface="+mn-ea"/>
          <a:cs typeface="+mn-cs"/>
        </a:defRPr>
      </a:lvl5pPr>
      <a:lvl6pPr marL="2286000" algn="l" rtl="0">
        <a:defRPr>
          <a:solidFill>
            <a:schemeClr val="tx1"/>
          </a:solidFill>
          <a:latin typeface="+mn-lt"/>
          <a:ea typeface="+mn-ea"/>
          <a:cs typeface="+mn-cs"/>
        </a:defRPr>
      </a:lvl6pPr>
      <a:lvl7pPr marL="2743200" algn="l" rtl="0">
        <a:defRPr>
          <a:solidFill>
            <a:schemeClr val="tx1"/>
          </a:solidFill>
          <a:latin typeface="+mn-lt"/>
          <a:ea typeface="+mn-ea"/>
          <a:cs typeface="+mn-cs"/>
        </a:defRPr>
      </a:lvl7pPr>
      <a:lvl8pPr marL="3200400" algn="l" rtl="0">
        <a:defRPr>
          <a:solidFill>
            <a:schemeClr val="tx1"/>
          </a:solidFill>
          <a:latin typeface="+mn-lt"/>
          <a:ea typeface="+mn-ea"/>
          <a:cs typeface="+mn-cs"/>
        </a:defRPr>
      </a:lvl8pPr>
      <a:lvl9pPr marL="3657600" algn="l" rtl="0">
        <a:defRPr>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gif"/></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2.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gif"/></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16.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 Id="rId4" Type="http://schemas.openxmlformats.org/officeDocument/2006/relationships/image" Target="../media/image22.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gif"/></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gif"/></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gif"/></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gif"/></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4117970" name="Title 1"/>
          <p:cNvSpPr>
            <a:spLocks noGrp="1"/>
          </p:cNvSpPr>
          <p:nvPr>
            <p:ph type="ctrTitle"/>
          </p:nvPr>
        </p:nvSpPr>
        <p:spPr bwMode="auto"/>
        <p:txBody>
          <a:bodyPr/>
          <a:lstStyle/>
          <a:p>
            <a:pPr>
              <a:defRPr/>
            </a:pPr>
            <a:r>
              <a:rPr lang="en-US"/>
              <a:t>Fuzzy Systems</a:t>
            </a:r>
            <a:br>
              <a:rPr lang="en-US"/>
            </a:br>
            <a:r>
              <a:rPr lang="en-US"/>
              <a:t>An Introduction</a:t>
            </a:r>
            <a:endParaRPr/>
          </a:p>
        </p:txBody>
      </p:sp>
      <p:sp>
        <p:nvSpPr>
          <p:cNvPr id="2034776191" name="Subtitle 2"/>
          <p:cNvSpPr>
            <a:spLocks noGrp="1"/>
          </p:cNvSpPr>
          <p:nvPr>
            <p:ph type="subTitle" idx="1"/>
          </p:nvPr>
        </p:nvSpPr>
        <p:spPr bwMode="auto">
          <a:xfrm>
            <a:off x="533400" y="3657600"/>
            <a:ext cx="7854696" cy="1752599"/>
          </a:xfrm>
        </p:spPr>
        <p:txBody>
          <a:bodyPr/>
          <a:lstStyle/>
          <a:p>
            <a:pPr>
              <a:defRPr/>
            </a:pPr>
            <a:r>
              <a:rPr lang="en-US"/>
              <a:t>Dr. Talha Waheed</a:t>
            </a:r>
            <a:endParaRPr/>
          </a:p>
          <a:p>
            <a:pPr>
              <a:defRPr/>
            </a:pPr>
            <a:r>
              <a:rPr lang="en-US"/>
              <a:t>Dept. of CS, UET, Lahore.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2609417" name="Title 1"/>
          <p:cNvSpPr>
            <a:spLocks noGrp="1"/>
          </p:cNvSpPr>
          <p:nvPr>
            <p:ph type="title"/>
          </p:nvPr>
        </p:nvSpPr>
        <p:spPr bwMode="auto">
          <a:xfrm>
            <a:off x="457200" y="914400"/>
            <a:ext cx="8229600" cy="1143000"/>
          </a:xfrm>
        </p:spPr>
        <p:txBody>
          <a:bodyPr>
            <a:noAutofit/>
          </a:bodyPr>
          <a:lstStyle/>
          <a:p>
            <a:pPr>
              <a:defRPr/>
            </a:pPr>
            <a:r>
              <a:rPr lang="en-US" sz="4000"/>
              <a:t>Knowledge Representation</a:t>
            </a:r>
            <a:br>
              <a:rPr lang="en-US" sz="4000"/>
            </a:br>
            <a:r>
              <a:rPr lang="en-US" sz="4000"/>
              <a:t>in Machine Learning</a:t>
            </a:r>
            <a:endParaRPr/>
          </a:p>
        </p:txBody>
      </p:sp>
      <p:sp>
        <p:nvSpPr>
          <p:cNvPr id="671604043" name="Content Placeholder 2"/>
          <p:cNvSpPr>
            <a:spLocks noGrp="1"/>
          </p:cNvSpPr>
          <p:nvPr>
            <p:ph idx="1"/>
          </p:nvPr>
        </p:nvSpPr>
        <p:spPr bwMode="auto">
          <a:xfrm>
            <a:off x="457200" y="2438400"/>
            <a:ext cx="8229600" cy="4038600"/>
          </a:xfrm>
        </p:spPr>
        <p:txBody>
          <a:bodyPr>
            <a:noAutofit/>
          </a:bodyPr>
          <a:lstStyle/>
          <a:p>
            <a:pPr>
              <a:defRPr/>
            </a:pPr>
            <a:r>
              <a:rPr lang="en-US" sz="2800"/>
              <a:t>Performance of machine learning techniques is directly related to the quality of </a:t>
            </a:r>
            <a:r>
              <a:rPr lang="en-US" sz="2800">
                <a:solidFill>
                  <a:srgbClr val="FF0000"/>
                </a:solidFill>
              </a:rPr>
              <a:t>knowledge the system has and can learn</a:t>
            </a:r>
            <a:r>
              <a:rPr lang="en-US" sz="2800"/>
              <a:t> from a given problem.</a:t>
            </a:r>
            <a:endParaRPr/>
          </a:p>
          <a:p>
            <a:pPr>
              <a:defRPr/>
            </a:pPr>
            <a:endParaRPr lang="en-US" sz="2800"/>
          </a:p>
          <a:p>
            <a:pPr>
              <a:defRPr/>
            </a:pPr>
            <a:r>
              <a:rPr lang="en-US" sz="2800"/>
              <a:t>Knowledge is an abstract term that attempts to capture an individual’s </a:t>
            </a:r>
            <a:r>
              <a:rPr lang="en-US" sz="2800">
                <a:solidFill>
                  <a:srgbClr val="FF0000"/>
                </a:solidFill>
              </a:rPr>
              <a:t>understanding</a:t>
            </a:r>
            <a:r>
              <a:rPr lang="en-US" sz="2800"/>
              <a:t> of a given subject.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1604043">
                                            <p:txEl>
                                              <p:pRg st="0" end="0"/>
                                            </p:txEl>
                                          </p:spTgt>
                                        </p:tgtEl>
                                        <p:attrNameLst>
                                          <p:attrName>style.visibility</p:attrName>
                                        </p:attrNameLst>
                                      </p:cBhvr>
                                      <p:to>
                                        <p:strVal val="visible"/>
                                      </p:to>
                                    </p:set>
                                    <p:anim calcmode="lin" valueType="num">
                                      <p:cBhvr additive="base">
                                        <p:cTn id="7" dur="500" fill="hold"/>
                                        <p:tgtEl>
                                          <p:spTgt spid="671604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16040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1604043">
                                            <p:txEl>
                                              <p:pRg st="2" end="2"/>
                                            </p:txEl>
                                          </p:spTgt>
                                        </p:tgtEl>
                                        <p:attrNameLst>
                                          <p:attrName>style.visibility</p:attrName>
                                        </p:attrNameLst>
                                      </p:cBhvr>
                                      <p:to>
                                        <p:strVal val="visible"/>
                                      </p:to>
                                    </p:set>
                                    <p:anim calcmode="lin" valueType="num">
                                      <p:cBhvr additive="base">
                                        <p:cTn id="13" dur="500" fill="hold"/>
                                        <p:tgtEl>
                                          <p:spTgt spid="67160404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160404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604043" grpId="0" build="p"/>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6816235" name="Title 1"/>
          <p:cNvSpPr>
            <a:spLocks noGrp="1"/>
          </p:cNvSpPr>
          <p:nvPr>
            <p:ph type="title"/>
          </p:nvPr>
        </p:nvSpPr>
        <p:spPr bwMode="auto">
          <a:xfrm>
            <a:off x="495300" y="76200"/>
            <a:ext cx="8229600" cy="1143000"/>
          </a:xfrm>
        </p:spPr>
        <p:txBody>
          <a:bodyPr>
            <a:normAutofit/>
          </a:bodyPr>
          <a:lstStyle/>
          <a:p>
            <a:pPr algn="ctr">
              <a:defRPr/>
            </a:pPr>
            <a:r>
              <a:rPr lang="en-US" sz="4000"/>
              <a:t>Limitations of Symbolic AI</a:t>
            </a:r>
            <a:endParaRPr sz="4000"/>
          </a:p>
        </p:txBody>
      </p:sp>
      <p:sp>
        <p:nvSpPr>
          <p:cNvPr id="1836173929" name="Content Placeholder 5"/>
          <p:cNvSpPr>
            <a:spLocks noGrp="1"/>
          </p:cNvSpPr>
          <p:nvPr>
            <p:ph idx="1"/>
          </p:nvPr>
        </p:nvSpPr>
        <p:spPr bwMode="auto">
          <a:xfrm>
            <a:off x="76200" y="1295400"/>
            <a:ext cx="9067800" cy="5562600"/>
          </a:xfrm>
        </p:spPr>
        <p:txBody>
          <a:bodyPr>
            <a:normAutofit fontScale="77500" lnSpcReduction="20000"/>
          </a:bodyPr>
          <a:lstStyle/>
          <a:p>
            <a:pPr>
              <a:spcAft>
                <a:spcPts val="1200"/>
              </a:spcAft>
              <a:defRPr sz="1800">
                <a:solidFill>
                  <a:srgbClr val="F8FAFC"/>
                </a:solidFill>
                <a:latin typeface="Arial"/>
              </a:defRPr>
            </a:pPr>
            <a:r>
              <a:rPr lang="en-GB" sz="2300">
                <a:highlight>
                  <a:srgbClr val="000080"/>
                </a:highlight>
              </a:rPr>
              <a:t>Review of Classical AI Foundations</a:t>
            </a:r>
            <a:r>
              <a:rPr lang="en-GB" sz="1800"/>
              <a:t>:</a:t>
            </a:r>
            <a:endParaRPr/>
          </a:p>
          <a:p>
            <a:pPr lvl="1">
              <a:spcAft>
                <a:spcPts val="1200"/>
              </a:spcAft>
              <a:defRPr sz="1600">
                <a:solidFill>
                  <a:srgbClr val="94A3B8"/>
                </a:solidFill>
                <a:latin typeface="Arial"/>
              </a:defRPr>
            </a:pPr>
            <a:r>
              <a:rPr lang="en-GB" sz="2800"/>
              <a:t>Propositional &amp; First-Order Predicate Logic function uses binary values.</a:t>
            </a:r>
            <a:endParaRPr/>
          </a:p>
          <a:p>
            <a:pPr lvl="1">
              <a:spcAft>
                <a:spcPts val="1200"/>
              </a:spcAft>
              <a:defRPr sz="1600">
                <a:solidFill>
                  <a:srgbClr val="94A3B8"/>
                </a:solidFill>
                <a:latin typeface="Arial"/>
              </a:defRPr>
            </a:pPr>
            <a:r>
              <a:rPr lang="en-GB" sz="2800"/>
              <a:t>Principle of Bivalence: Every statement is strictly True (1) or False (0).</a:t>
            </a:r>
            <a:endParaRPr/>
          </a:p>
          <a:p>
            <a:pPr lvl="1">
              <a:spcAft>
                <a:spcPts val="1200"/>
              </a:spcAft>
              <a:defRPr sz="1600">
                <a:solidFill>
                  <a:srgbClr val="94A3B8"/>
                </a:solidFill>
                <a:latin typeface="Arial"/>
              </a:defRPr>
            </a:pPr>
            <a:r>
              <a:rPr lang="en-GB" sz="2800"/>
              <a:t>Law of Excluded Middle: A statement is either a member of a set or its complement. (P OR ¬P) There is no middle ground.</a:t>
            </a:r>
            <a:endParaRPr/>
          </a:p>
          <a:p>
            <a:pPr lvl="1">
              <a:spcAft>
                <a:spcPts val="1200"/>
              </a:spcAft>
              <a:defRPr sz="1600">
                <a:solidFill>
                  <a:srgbClr val="94A3B8"/>
                </a:solidFill>
                <a:latin typeface="Arial"/>
              </a:defRPr>
            </a:pPr>
            <a:r>
              <a:rPr lang="en-GB" sz="2800"/>
              <a:t>Law of Contradictions: </a:t>
            </a:r>
            <a:r>
              <a:rPr lang="en-US" sz="2800"/>
              <a:t>A</a:t>
            </a:r>
            <a:r>
              <a:rPr sz="2800"/>
              <a:t> proposition (p) and its negation cannot both be true simultaneously. </a:t>
            </a:r>
            <a:r>
              <a:rPr lang="en-GB" sz="2800"/>
              <a:t>¬(P AND ¬P)</a:t>
            </a:r>
            <a:endParaRPr/>
          </a:p>
          <a:p>
            <a:pPr>
              <a:spcAft>
                <a:spcPts val="1200"/>
              </a:spcAft>
              <a:defRPr sz="1800">
                <a:solidFill>
                  <a:srgbClr val="F8FAFC"/>
                </a:solidFill>
                <a:latin typeface="Arial"/>
              </a:defRPr>
            </a:pPr>
            <a:r>
              <a:rPr lang="en-GB" sz="2300">
                <a:highlight>
                  <a:srgbClr val="000080"/>
                </a:highlight>
              </a:rPr>
              <a:t>Where Classical AI Fails in the Real World:</a:t>
            </a:r>
            <a:endParaRPr/>
          </a:p>
          <a:p>
            <a:pPr lvl="1">
              <a:spcAft>
                <a:spcPts val="1200"/>
              </a:spcAft>
              <a:defRPr sz="1600">
                <a:solidFill>
                  <a:srgbClr val="94A3B8"/>
                </a:solidFill>
                <a:latin typeface="Arial"/>
              </a:defRPr>
            </a:pPr>
            <a:r>
              <a:rPr lang="en-GB" sz="2800">
                <a:solidFill>
                  <a:srgbClr val="94A3B8"/>
                </a:solidFill>
                <a:latin typeface="Arial"/>
              </a:rPr>
              <a:t>Hard boundaries lead to 'edge-case explosion' or catastrophic system failures.</a:t>
            </a:r>
            <a:endParaRPr/>
          </a:p>
          <a:p>
            <a:pPr lvl="1">
              <a:spcAft>
                <a:spcPts val="1200"/>
              </a:spcAft>
              <a:defRPr sz="1600">
                <a:solidFill>
                  <a:srgbClr val="94A3B8"/>
                </a:solidFill>
                <a:latin typeface="Arial"/>
              </a:defRPr>
            </a:pPr>
            <a:r>
              <a:rPr lang="en-GB" sz="2800">
                <a:solidFill>
                  <a:srgbClr val="94A3B8"/>
                </a:solidFill>
                <a:latin typeface="Arial"/>
              </a:rPr>
              <a:t>Inability to model semantic uncertainty, sensory noise, and human-like approximations natively.</a:t>
            </a:r>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5796315" name="Picture 6"/>
          <p:cNvPicPr>
            <a:picLocks noChangeAspect="1"/>
          </p:cNvPicPr>
          <p:nvPr/>
        </p:nvPicPr>
        <p:blipFill rotWithShape="1">
          <a:blip r:embed="rId3"/>
          <a:stretch/>
        </p:blipFill>
        <p:spPr bwMode="auto">
          <a:xfrm>
            <a:off x="0" y="-22412"/>
            <a:ext cx="5562600" cy="6880412"/>
          </a:xfrm>
          <a:prstGeom prst="rect">
            <a:avLst/>
          </a:prstGeom>
        </p:spPr>
      </p:pic>
      <p:pic>
        <p:nvPicPr>
          <p:cNvPr id="1228478281" name="Picture 7" descr="The Wikipedia article about philosophical paradox of The Ship Of Theseus  has been edited 39,845 times, thus making the article itself an example of  the paradox. If the original article has been"/>
          <p:cNvPicPr>
            <a:picLocks noChangeAspect="1"/>
          </p:cNvPicPr>
          <p:nvPr/>
        </p:nvPicPr>
        <p:blipFill rotWithShape="1">
          <a:blip r:embed="rId4"/>
          <a:stretch/>
        </p:blipFill>
        <p:spPr bwMode="auto">
          <a:xfrm>
            <a:off x="5618296" y="0"/>
            <a:ext cx="3539151" cy="5160310"/>
          </a:xfrm>
          <a:prstGeom prst="rect">
            <a:avLst/>
          </a:prstGeom>
        </p:spPr>
      </p:pic>
      <p:sp>
        <p:nvSpPr>
          <p:cNvPr id="474730627" name="TextBox 9"/>
          <p:cNvSpPr txBox="1"/>
          <p:nvPr/>
        </p:nvSpPr>
        <p:spPr bwMode="auto">
          <a:xfrm>
            <a:off x="5618296" y="5105400"/>
            <a:ext cx="3733800" cy="1569660"/>
          </a:xfrm>
          <a:prstGeom prst="rect">
            <a:avLst/>
          </a:prstGeom>
          <a:noFill/>
        </p:spPr>
        <p:txBody>
          <a:bodyPr wrap="square">
            <a:spAutoFit/>
          </a:bodyPr>
          <a:lstStyle/>
          <a:p>
            <a:pPr>
              <a:defRPr/>
            </a:pPr>
            <a:r>
              <a:rPr lang="en-US" sz="1600" b="0" u="none" strike="noStrike">
                <a:latin typeface="+mj-lt"/>
              </a:rPr>
              <a:t>Thomas </a:t>
            </a:r>
            <a:r>
              <a:rPr lang="en-US" sz="1600" b="0" u="none" strike="noStrike">
                <a:latin typeface="+mj-lt"/>
              </a:rPr>
              <a:t>Hebbs</a:t>
            </a:r>
            <a:r>
              <a:rPr lang="en-US" sz="1600" b="0" u="none" strike="noStrike">
                <a:latin typeface="+mj-lt"/>
              </a:rPr>
              <a:t> View: Material Identity, </a:t>
            </a:r>
            <a:endParaRPr/>
          </a:p>
          <a:p>
            <a:pPr>
              <a:defRPr/>
            </a:pPr>
            <a:r>
              <a:rPr lang="en-US" sz="1600" b="0" u="none" strike="noStrike">
                <a:latin typeface="+mj-lt"/>
              </a:rPr>
              <a:t>Functional Identity or 4 Dimensionality</a:t>
            </a:r>
            <a:endParaRPr/>
          </a:p>
          <a:p>
            <a:pPr>
              <a:defRPr/>
            </a:pPr>
            <a:endParaRPr lang="en-US" sz="1600">
              <a:latin typeface="+mj-lt"/>
            </a:endParaRPr>
          </a:p>
          <a:p>
            <a:pPr>
              <a:defRPr/>
            </a:pPr>
            <a:r>
              <a:rPr lang="en-US" sz="1600">
                <a:latin typeface="+mj-lt"/>
              </a:rPr>
              <a:t>Our Biological Identity, </a:t>
            </a:r>
            <a:endParaRPr/>
          </a:p>
          <a:p>
            <a:pPr>
              <a:defRPr/>
            </a:pPr>
            <a:r>
              <a:rPr lang="en-US" sz="1600">
                <a:latin typeface="+mj-lt"/>
              </a:rPr>
              <a:t>Consciousness, </a:t>
            </a:r>
            <a:endParaRPr/>
          </a:p>
          <a:p>
            <a:pPr>
              <a:defRPr/>
            </a:pPr>
            <a:r>
              <a:rPr lang="en-US" sz="1600">
                <a:latin typeface="+mj-lt"/>
              </a:rPr>
              <a:t>Organ Replacement</a:t>
            </a:r>
            <a:endParaRPr sz="1600">
              <a:latin typeface="+mj-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5796315"/>
                                        </p:tgtEl>
                                        <p:attrNameLst>
                                          <p:attrName>style.visibility</p:attrName>
                                        </p:attrNameLst>
                                      </p:cBhvr>
                                      <p:to>
                                        <p:strVal val="visible"/>
                                      </p:to>
                                    </p:set>
                                    <p:anim calcmode="lin" valueType="num">
                                      <p:cBhvr additive="base">
                                        <p:cTn id="7" dur="500" fill="hold"/>
                                        <p:tgtEl>
                                          <p:spTgt spid="755796315"/>
                                        </p:tgtEl>
                                        <p:attrNameLst>
                                          <p:attrName>ppt_x</p:attrName>
                                        </p:attrNameLst>
                                      </p:cBhvr>
                                      <p:tavLst>
                                        <p:tav tm="0">
                                          <p:val>
                                            <p:strVal val="#ppt_x"/>
                                          </p:val>
                                        </p:tav>
                                        <p:tav tm="100000">
                                          <p:val>
                                            <p:strVal val="#ppt_x"/>
                                          </p:val>
                                        </p:tav>
                                      </p:tavLst>
                                    </p:anim>
                                    <p:anim calcmode="lin" valueType="num">
                                      <p:cBhvr additive="base">
                                        <p:cTn id="8" dur="500" fill="hold"/>
                                        <p:tgtEl>
                                          <p:spTgt spid="7557963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8478281"/>
                                        </p:tgtEl>
                                        <p:attrNameLst>
                                          <p:attrName>style.visibility</p:attrName>
                                        </p:attrNameLst>
                                      </p:cBhvr>
                                      <p:to>
                                        <p:strVal val="visible"/>
                                      </p:to>
                                    </p:set>
                                    <p:anim calcmode="lin" valueType="num">
                                      <p:cBhvr additive="base">
                                        <p:cTn id="13" dur="500" fill="hold"/>
                                        <p:tgtEl>
                                          <p:spTgt spid="1228478281"/>
                                        </p:tgtEl>
                                        <p:attrNameLst>
                                          <p:attrName>ppt_x</p:attrName>
                                        </p:attrNameLst>
                                      </p:cBhvr>
                                      <p:tavLst>
                                        <p:tav tm="0">
                                          <p:val>
                                            <p:strVal val="#ppt_x"/>
                                          </p:val>
                                        </p:tav>
                                        <p:tav tm="100000">
                                          <p:val>
                                            <p:strVal val="#ppt_x"/>
                                          </p:val>
                                        </p:tav>
                                      </p:tavLst>
                                    </p:anim>
                                    <p:anim calcmode="lin" valueType="num">
                                      <p:cBhvr additive="base">
                                        <p:cTn id="14" dur="500" fill="hold"/>
                                        <p:tgtEl>
                                          <p:spTgt spid="122847828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4730627"/>
                                        </p:tgtEl>
                                        <p:attrNameLst>
                                          <p:attrName>style.visibility</p:attrName>
                                        </p:attrNameLst>
                                      </p:cBhvr>
                                      <p:to>
                                        <p:strVal val="visible"/>
                                      </p:to>
                                    </p:set>
                                    <p:anim calcmode="lin" valueType="num">
                                      <p:cBhvr additive="base">
                                        <p:cTn id="19" dur="500" fill="hold"/>
                                        <p:tgtEl>
                                          <p:spTgt spid="474730627"/>
                                        </p:tgtEl>
                                        <p:attrNameLst>
                                          <p:attrName>ppt_x</p:attrName>
                                        </p:attrNameLst>
                                      </p:cBhvr>
                                      <p:tavLst>
                                        <p:tav tm="0">
                                          <p:val>
                                            <p:strVal val="#ppt_x"/>
                                          </p:val>
                                        </p:tav>
                                        <p:tav tm="100000">
                                          <p:val>
                                            <p:strVal val="#ppt_x"/>
                                          </p:val>
                                        </p:tav>
                                      </p:tavLst>
                                    </p:anim>
                                    <p:anim calcmode="lin" valueType="num">
                                      <p:cBhvr additive="base">
                                        <p:cTn id="20" dur="500" fill="hold"/>
                                        <p:tgtEl>
                                          <p:spTgt spid="4747306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730627"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4216875" name="Title 1"/>
          <p:cNvSpPr>
            <a:spLocks noGrp="1"/>
          </p:cNvSpPr>
          <p:nvPr>
            <p:ph type="title"/>
          </p:nvPr>
        </p:nvSpPr>
        <p:spPr bwMode="auto">
          <a:xfrm>
            <a:off x="990600" y="152400"/>
            <a:ext cx="8229600" cy="1143000"/>
          </a:xfrm>
        </p:spPr>
        <p:txBody>
          <a:bodyPr/>
          <a:lstStyle/>
          <a:p>
            <a:pPr>
              <a:defRPr/>
            </a:pPr>
            <a:r>
              <a:rPr lang="en-US"/>
              <a:t>Propositions</a:t>
            </a:r>
            <a:endParaRPr/>
          </a:p>
        </p:txBody>
      </p:sp>
      <p:sp>
        <p:nvSpPr>
          <p:cNvPr id="517393239" name="Content Placeholder 2"/>
          <p:cNvSpPr>
            <a:spLocks noGrp="1"/>
          </p:cNvSpPr>
          <p:nvPr>
            <p:ph idx="1"/>
          </p:nvPr>
        </p:nvSpPr>
        <p:spPr bwMode="auto">
          <a:xfrm>
            <a:off x="152400" y="1295400"/>
            <a:ext cx="8915400" cy="5181600"/>
          </a:xfrm>
        </p:spPr>
        <p:txBody>
          <a:bodyPr>
            <a:normAutofit/>
          </a:bodyPr>
          <a:lstStyle/>
          <a:p>
            <a:pPr>
              <a:defRPr/>
            </a:pPr>
            <a:r>
              <a:rPr lang="en-US"/>
              <a:t>Human understanding is mostly based on </a:t>
            </a:r>
            <a:r>
              <a:rPr lang="en-US">
                <a:solidFill>
                  <a:srgbClr val="FF0000"/>
                </a:solidFill>
              </a:rPr>
              <a:t>facts</a:t>
            </a:r>
            <a:r>
              <a:rPr lang="en-US"/>
              <a:t> about some </a:t>
            </a:r>
            <a:r>
              <a:rPr lang="en-US">
                <a:solidFill>
                  <a:srgbClr val="FF0000"/>
                </a:solidFill>
              </a:rPr>
              <a:t>event</a:t>
            </a:r>
            <a:r>
              <a:rPr lang="en-US"/>
              <a:t> or problem, that are usually represented by Propositions (</a:t>
            </a:r>
            <a:r>
              <a:rPr lang="en-US">
                <a:solidFill>
                  <a:srgbClr val="FF0000"/>
                </a:solidFill>
              </a:rPr>
              <a:t>True/False </a:t>
            </a:r>
            <a:r>
              <a:rPr lang="en-US"/>
              <a:t>Statements). E.g. </a:t>
            </a:r>
            <a:endParaRPr/>
          </a:p>
          <a:p>
            <a:pPr lvl="1">
              <a:defRPr/>
            </a:pPr>
            <a:r>
              <a:rPr lang="en-US"/>
              <a:t>It is raining. (Yes/No)</a:t>
            </a:r>
            <a:endParaRPr/>
          </a:p>
          <a:p>
            <a:pPr lvl="1">
              <a:defRPr/>
            </a:pPr>
            <a:r>
              <a:rPr lang="en-US"/>
              <a:t>Color of the chair is brown (True/False)</a:t>
            </a:r>
            <a:endParaRPr/>
          </a:p>
          <a:p>
            <a:pPr lvl="1">
              <a:defRPr/>
            </a:pPr>
            <a:endParaRPr lang="en-US"/>
          </a:p>
          <a:p>
            <a:pPr>
              <a:defRPr/>
            </a:pPr>
            <a:r>
              <a:rPr lang="en-US"/>
              <a:t>But our world is </a:t>
            </a:r>
            <a:r>
              <a:rPr lang="en-US">
                <a:solidFill>
                  <a:srgbClr val="FF0000"/>
                </a:solidFill>
              </a:rPr>
              <a:t>vague</a:t>
            </a:r>
            <a:r>
              <a:rPr lang="en-US"/>
              <a:t> and </a:t>
            </a:r>
            <a:r>
              <a:rPr lang="en-US">
                <a:solidFill>
                  <a:srgbClr val="FF0000"/>
                </a:solidFill>
              </a:rPr>
              <a:t>uncertain</a:t>
            </a:r>
            <a:r>
              <a:rPr lang="en-US"/>
              <a:t>. </a:t>
            </a:r>
            <a:br>
              <a:rPr lang="en-US"/>
            </a:br>
            <a:r>
              <a:rPr lang="en-US"/>
              <a:t>(Not black and white.) </a:t>
            </a:r>
            <a:endParaRPr/>
          </a:p>
          <a:p>
            <a:pPr>
              <a:defRPr/>
            </a:pPr>
            <a:endParaRPr lang="en-US"/>
          </a:p>
          <a:p>
            <a:pPr>
              <a:defRPr/>
            </a:pPr>
            <a:r>
              <a:rPr lang="en-US"/>
              <a:t>We don’t always know if some event is </a:t>
            </a:r>
            <a:br>
              <a:rPr lang="en-US"/>
            </a:br>
            <a:r>
              <a:rPr lang="en-US"/>
              <a:t>true or false with complete certainty. </a:t>
            </a:r>
            <a:endParaRPr/>
          </a:p>
        </p:txBody>
      </p:sp>
      <p:pic>
        <p:nvPicPr>
          <p:cNvPr id="642238888" name="Picture 3" descr="fuzzy.gif"/>
          <p:cNvPicPr>
            <a:picLocks noChangeAspect="1"/>
          </p:cNvPicPr>
          <p:nvPr/>
        </p:nvPicPr>
        <p:blipFill rotWithShape="1">
          <a:blip r:embed="rId3"/>
          <a:stretch/>
        </p:blipFill>
        <p:spPr bwMode="auto">
          <a:xfrm>
            <a:off x="6019800" y="3886200"/>
            <a:ext cx="2971800" cy="2895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7393239">
                                            <p:txEl>
                                              <p:pRg st="0" end="0"/>
                                            </p:txEl>
                                          </p:spTgt>
                                        </p:tgtEl>
                                        <p:attrNameLst>
                                          <p:attrName>style.visibility</p:attrName>
                                        </p:attrNameLst>
                                      </p:cBhvr>
                                      <p:to>
                                        <p:strVal val="visible"/>
                                      </p:to>
                                    </p:set>
                                    <p:anim calcmode="lin" valueType="num">
                                      <p:cBhvr additive="base">
                                        <p:cTn id="7" dur="500" fill="hold"/>
                                        <p:tgtEl>
                                          <p:spTgt spid="5173932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739323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7393239">
                                            <p:txEl>
                                              <p:pRg st="1" end="1"/>
                                            </p:txEl>
                                          </p:spTgt>
                                        </p:tgtEl>
                                        <p:attrNameLst>
                                          <p:attrName>style.visibility</p:attrName>
                                        </p:attrNameLst>
                                      </p:cBhvr>
                                      <p:to>
                                        <p:strVal val="visible"/>
                                      </p:to>
                                    </p:set>
                                    <p:anim calcmode="lin" valueType="num">
                                      <p:cBhvr additive="base">
                                        <p:cTn id="11" dur="500" fill="hold"/>
                                        <p:tgtEl>
                                          <p:spTgt spid="51739323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739323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7393239">
                                            <p:txEl>
                                              <p:pRg st="2" end="2"/>
                                            </p:txEl>
                                          </p:spTgt>
                                        </p:tgtEl>
                                        <p:attrNameLst>
                                          <p:attrName>style.visibility</p:attrName>
                                        </p:attrNameLst>
                                      </p:cBhvr>
                                      <p:to>
                                        <p:strVal val="visible"/>
                                      </p:to>
                                    </p:set>
                                    <p:anim calcmode="lin" valueType="num">
                                      <p:cBhvr additive="base">
                                        <p:cTn id="15" dur="500" fill="hold"/>
                                        <p:tgtEl>
                                          <p:spTgt spid="51739323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73932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17393239">
                                            <p:txEl>
                                              <p:pRg st="4" end="4"/>
                                            </p:txEl>
                                          </p:spTgt>
                                        </p:tgtEl>
                                        <p:attrNameLst>
                                          <p:attrName>style.visibility</p:attrName>
                                        </p:attrNameLst>
                                      </p:cBhvr>
                                      <p:to>
                                        <p:strVal val="visible"/>
                                      </p:to>
                                    </p:set>
                                    <p:anim calcmode="lin" valueType="num">
                                      <p:cBhvr additive="base">
                                        <p:cTn id="21" dur="500" fill="hold"/>
                                        <p:tgtEl>
                                          <p:spTgt spid="51739323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73932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17393239">
                                            <p:txEl>
                                              <p:pRg st="6" end="6"/>
                                            </p:txEl>
                                          </p:spTgt>
                                        </p:tgtEl>
                                        <p:attrNameLst>
                                          <p:attrName>style.visibility</p:attrName>
                                        </p:attrNameLst>
                                      </p:cBhvr>
                                      <p:to>
                                        <p:strVal val="visible"/>
                                      </p:to>
                                    </p:set>
                                    <p:anim calcmode="lin" valueType="num">
                                      <p:cBhvr additive="base">
                                        <p:cTn id="27" dur="500" fill="hold"/>
                                        <p:tgtEl>
                                          <p:spTgt spid="51739323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73932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42238888"/>
                                        </p:tgtEl>
                                        <p:attrNameLst>
                                          <p:attrName>style.visibility</p:attrName>
                                        </p:attrNameLst>
                                      </p:cBhvr>
                                      <p:to>
                                        <p:strVal val="visible"/>
                                      </p:to>
                                    </p:set>
                                    <p:anim calcmode="lin" valueType="num">
                                      <p:cBhvr additive="base">
                                        <p:cTn id="33" dur="500" fill="hold"/>
                                        <p:tgtEl>
                                          <p:spTgt spid="642238888"/>
                                        </p:tgtEl>
                                        <p:attrNameLst>
                                          <p:attrName>ppt_x</p:attrName>
                                        </p:attrNameLst>
                                      </p:cBhvr>
                                      <p:tavLst>
                                        <p:tav tm="0">
                                          <p:val>
                                            <p:strVal val="#ppt_x"/>
                                          </p:val>
                                        </p:tav>
                                        <p:tav tm="100000">
                                          <p:val>
                                            <p:strVal val="#ppt_x"/>
                                          </p:val>
                                        </p:tav>
                                      </p:tavLst>
                                    </p:anim>
                                    <p:anim calcmode="lin" valueType="num">
                                      <p:cBhvr additive="base">
                                        <p:cTn id="34" dur="500" fill="hold"/>
                                        <p:tgtEl>
                                          <p:spTgt spid="6422388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393239" grpId="0" build="p"/>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3553447" name="Title 1"/>
          <p:cNvSpPr>
            <a:spLocks noGrp="1"/>
          </p:cNvSpPr>
          <p:nvPr>
            <p:ph type="title"/>
          </p:nvPr>
        </p:nvSpPr>
        <p:spPr bwMode="auto">
          <a:xfrm>
            <a:off x="457200" y="228600"/>
            <a:ext cx="8229600" cy="896112"/>
          </a:xfrm>
        </p:spPr>
        <p:txBody>
          <a:bodyPr>
            <a:normAutofit/>
          </a:bodyPr>
          <a:lstStyle/>
          <a:p>
            <a:pPr algn="ctr">
              <a:defRPr/>
            </a:pPr>
            <a:r>
              <a:rPr lang="en-US" sz="4400"/>
              <a:t>Multi-Valued Logic</a:t>
            </a:r>
            <a:endParaRPr/>
          </a:p>
        </p:txBody>
      </p:sp>
      <p:sp>
        <p:nvSpPr>
          <p:cNvPr id="518049715" name="Content Placeholder 2"/>
          <p:cNvSpPr>
            <a:spLocks noGrp="1"/>
          </p:cNvSpPr>
          <p:nvPr>
            <p:ph idx="1"/>
          </p:nvPr>
        </p:nvSpPr>
        <p:spPr bwMode="auto">
          <a:xfrm>
            <a:off x="0" y="1295400"/>
            <a:ext cx="9144000" cy="5181600"/>
          </a:xfrm>
        </p:spPr>
        <p:txBody>
          <a:bodyPr>
            <a:normAutofit lnSpcReduction="10000"/>
          </a:bodyPr>
          <a:lstStyle/>
          <a:p>
            <a:pPr>
              <a:defRPr/>
            </a:pPr>
            <a:r>
              <a:rPr lang="en-US" sz="2400"/>
              <a:t>Humans have little difficulty in interpreting vague terms. </a:t>
            </a:r>
            <a:endParaRPr/>
          </a:p>
          <a:p>
            <a:pPr>
              <a:defRPr/>
            </a:pPr>
            <a:r>
              <a:rPr lang="en-US" sz="2400"/>
              <a:t>To represent &amp; reason with </a:t>
            </a:r>
            <a:r>
              <a:rPr lang="en-US" sz="2400">
                <a:solidFill>
                  <a:srgbClr val="FF0000"/>
                </a:solidFill>
              </a:rPr>
              <a:t>vagueness in machines </a:t>
            </a:r>
            <a:r>
              <a:rPr lang="en-US" sz="2400"/>
              <a:t>is a challenge.</a:t>
            </a:r>
            <a:endParaRPr/>
          </a:p>
          <a:p>
            <a:pPr marL="0" indent="0" algn="ctr">
              <a:buNone/>
              <a:defRPr/>
            </a:pPr>
            <a:endParaRPr lang="en-US" sz="2400"/>
          </a:p>
          <a:p>
            <a:pPr marL="0" indent="0" algn="ctr">
              <a:buNone/>
              <a:defRPr/>
            </a:pPr>
            <a:r>
              <a:rPr lang="en-US" sz="2400"/>
              <a:t>In </a:t>
            </a:r>
            <a:r>
              <a:rPr lang="en-US" sz="2400">
                <a:solidFill>
                  <a:srgbClr val="FF0000"/>
                </a:solidFill>
              </a:rPr>
              <a:t>Aristotle’s Binary Logic</a:t>
            </a:r>
            <a:r>
              <a:rPr lang="en-US" sz="2400"/>
              <a:t> </a:t>
            </a:r>
            <a:r>
              <a:rPr sz="2400" b="1"/>
              <a:t>"The train will arrive on time.“</a:t>
            </a:r>
            <a:r>
              <a:rPr lang="en-US" sz="2400" b="1"/>
              <a:t>  is (T/F)</a:t>
            </a:r>
            <a:endParaRPr lang="en-US" sz="2400"/>
          </a:p>
          <a:p>
            <a:pPr>
              <a:defRPr/>
            </a:pPr>
            <a:endParaRPr lang="en-US" sz="2400">
              <a:solidFill>
                <a:srgbClr val="FF0000"/>
              </a:solidFill>
            </a:endParaRPr>
          </a:p>
          <a:p>
            <a:pPr>
              <a:defRPr/>
            </a:pPr>
            <a:r>
              <a:rPr lang="en-US" sz="2400"/>
              <a:t>Whereas In Multi-Valued Logic:</a:t>
            </a:r>
            <a:endParaRPr/>
          </a:p>
          <a:p>
            <a:pPr>
              <a:defRPr/>
            </a:pPr>
            <a:r>
              <a:rPr lang="en-US" sz="2400">
                <a:solidFill>
                  <a:srgbClr val="FF0000"/>
                </a:solidFill>
              </a:rPr>
              <a:t>Lukasiewicz </a:t>
            </a:r>
            <a:r>
              <a:rPr lang="en-US" sz="2400"/>
              <a:t>Logic: (T:1, Intermediate/Possible:0.5, F:0)</a:t>
            </a:r>
            <a:endParaRPr/>
          </a:p>
          <a:p>
            <a:pPr>
              <a:defRPr/>
            </a:pPr>
            <a:r>
              <a:rPr lang="en-US" sz="2400">
                <a:solidFill>
                  <a:srgbClr val="FF0000"/>
                </a:solidFill>
              </a:rPr>
              <a:t>Kleene</a:t>
            </a:r>
            <a:r>
              <a:rPr lang="en-US" sz="2400"/>
              <a:t> Logic: (T:1, Undefined/Unknown:0.5, F:0)</a:t>
            </a:r>
            <a:endParaRPr/>
          </a:p>
          <a:p>
            <a:pPr>
              <a:defRPr/>
            </a:pPr>
            <a:r>
              <a:rPr lang="en-US" sz="2400">
                <a:solidFill>
                  <a:srgbClr val="FF0000"/>
                </a:solidFill>
              </a:rPr>
              <a:t>Belnap’s </a:t>
            </a:r>
            <a:r>
              <a:rPr lang="en-US" sz="2400"/>
              <a:t>4 valued Logic: (T:1, F:0, Neither T or F, Both T and F)</a:t>
            </a:r>
            <a:endParaRPr/>
          </a:p>
          <a:p>
            <a:pPr>
              <a:defRPr/>
            </a:pPr>
            <a:r>
              <a:rPr lang="en-US" sz="2400">
                <a:solidFill>
                  <a:srgbClr val="FF0000"/>
                </a:solidFill>
              </a:rPr>
              <a:t>Godel’s </a:t>
            </a:r>
            <a:r>
              <a:rPr lang="en-US" sz="2400"/>
              <a:t>Logic: Intermediate Truth{0,….,1},[False:0,True:1]</a:t>
            </a:r>
            <a:endParaRPr/>
          </a:p>
          <a:p>
            <a:pPr>
              <a:defRPr/>
            </a:pPr>
            <a:r>
              <a:rPr lang="en-US" sz="2400">
                <a:solidFill>
                  <a:srgbClr val="FF0000"/>
                </a:solidFill>
              </a:rPr>
              <a:t>Fuzzy </a:t>
            </a:r>
            <a:r>
              <a:rPr lang="en-US" sz="2400"/>
              <a:t>Logic:[0-1], </a:t>
            </a:r>
            <a:r>
              <a:rPr sz="2400"/>
              <a:t>0.7 means train is "mostly on time," perhaps only 2 minutes late</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8049715">
                                            <p:txEl>
                                              <p:pRg st="0" end="0"/>
                                            </p:txEl>
                                          </p:spTgt>
                                        </p:tgtEl>
                                        <p:attrNameLst>
                                          <p:attrName>style.visibility</p:attrName>
                                        </p:attrNameLst>
                                      </p:cBhvr>
                                      <p:to>
                                        <p:strVal val="visible"/>
                                      </p:to>
                                    </p:set>
                                    <p:anim calcmode="lin" valueType="num">
                                      <p:cBhvr additive="base">
                                        <p:cTn id="7" dur="500" fill="hold"/>
                                        <p:tgtEl>
                                          <p:spTgt spid="518049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8049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8049715">
                                            <p:txEl>
                                              <p:pRg st="1" end="1"/>
                                            </p:txEl>
                                          </p:spTgt>
                                        </p:tgtEl>
                                        <p:attrNameLst>
                                          <p:attrName>style.visibility</p:attrName>
                                        </p:attrNameLst>
                                      </p:cBhvr>
                                      <p:to>
                                        <p:strVal val="visible"/>
                                      </p:to>
                                    </p:set>
                                    <p:anim calcmode="lin" valueType="num">
                                      <p:cBhvr additive="base">
                                        <p:cTn id="13" dur="500" fill="hold"/>
                                        <p:tgtEl>
                                          <p:spTgt spid="5180497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8049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8049715">
                                            <p:txEl>
                                              <p:pRg st="3" end="3"/>
                                            </p:txEl>
                                          </p:spTgt>
                                        </p:tgtEl>
                                        <p:attrNameLst>
                                          <p:attrName>style.visibility</p:attrName>
                                        </p:attrNameLst>
                                      </p:cBhvr>
                                      <p:to>
                                        <p:strVal val="visible"/>
                                      </p:to>
                                    </p:set>
                                    <p:anim calcmode="lin" valueType="num">
                                      <p:cBhvr additive="base">
                                        <p:cTn id="19" dur="500" fill="hold"/>
                                        <p:tgtEl>
                                          <p:spTgt spid="5180497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8049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8049715">
                                            <p:txEl>
                                              <p:pRg st="5" end="5"/>
                                            </p:txEl>
                                          </p:spTgt>
                                        </p:tgtEl>
                                        <p:attrNameLst>
                                          <p:attrName>style.visibility</p:attrName>
                                        </p:attrNameLst>
                                      </p:cBhvr>
                                      <p:to>
                                        <p:strVal val="visible"/>
                                      </p:to>
                                    </p:set>
                                    <p:anim calcmode="lin" valueType="num">
                                      <p:cBhvr additive="base">
                                        <p:cTn id="25" dur="500" fill="hold"/>
                                        <p:tgtEl>
                                          <p:spTgt spid="51804971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80497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18049715">
                                            <p:txEl>
                                              <p:pRg st="6" end="6"/>
                                            </p:txEl>
                                          </p:spTgt>
                                        </p:tgtEl>
                                        <p:attrNameLst>
                                          <p:attrName>style.visibility</p:attrName>
                                        </p:attrNameLst>
                                      </p:cBhvr>
                                      <p:to>
                                        <p:strVal val="visible"/>
                                      </p:to>
                                    </p:set>
                                    <p:anim calcmode="lin" valueType="num">
                                      <p:cBhvr additive="base">
                                        <p:cTn id="31" dur="500" fill="hold"/>
                                        <p:tgtEl>
                                          <p:spTgt spid="51804971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80497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18049715">
                                            <p:txEl>
                                              <p:pRg st="7" end="7"/>
                                            </p:txEl>
                                          </p:spTgt>
                                        </p:tgtEl>
                                        <p:attrNameLst>
                                          <p:attrName>style.visibility</p:attrName>
                                        </p:attrNameLst>
                                      </p:cBhvr>
                                      <p:to>
                                        <p:strVal val="visible"/>
                                      </p:to>
                                    </p:set>
                                    <p:anim calcmode="lin" valueType="num">
                                      <p:cBhvr additive="base">
                                        <p:cTn id="37" dur="500" fill="hold"/>
                                        <p:tgtEl>
                                          <p:spTgt spid="51804971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80497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18049715">
                                            <p:txEl>
                                              <p:pRg st="8" end="8"/>
                                            </p:txEl>
                                          </p:spTgt>
                                        </p:tgtEl>
                                        <p:attrNameLst>
                                          <p:attrName>style.visibility</p:attrName>
                                        </p:attrNameLst>
                                      </p:cBhvr>
                                      <p:to>
                                        <p:strVal val="visible"/>
                                      </p:to>
                                    </p:set>
                                    <p:anim calcmode="lin" valueType="num">
                                      <p:cBhvr additive="base">
                                        <p:cTn id="43" dur="500" fill="hold"/>
                                        <p:tgtEl>
                                          <p:spTgt spid="51804971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80497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18049715">
                                            <p:txEl>
                                              <p:pRg st="9" end="9"/>
                                            </p:txEl>
                                          </p:spTgt>
                                        </p:tgtEl>
                                        <p:attrNameLst>
                                          <p:attrName>style.visibility</p:attrName>
                                        </p:attrNameLst>
                                      </p:cBhvr>
                                      <p:to>
                                        <p:strVal val="visible"/>
                                      </p:to>
                                    </p:set>
                                    <p:anim calcmode="lin" valueType="num">
                                      <p:cBhvr additive="base">
                                        <p:cTn id="49" dur="500" fill="hold"/>
                                        <p:tgtEl>
                                          <p:spTgt spid="518049715">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1804971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18049715">
                                            <p:txEl>
                                              <p:pRg st="10" end="10"/>
                                            </p:txEl>
                                          </p:spTgt>
                                        </p:tgtEl>
                                        <p:attrNameLst>
                                          <p:attrName>style.visibility</p:attrName>
                                        </p:attrNameLst>
                                      </p:cBhvr>
                                      <p:to>
                                        <p:strVal val="visible"/>
                                      </p:to>
                                    </p:set>
                                    <p:anim calcmode="lin" valueType="num">
                                      <p:cBhvr additive="base">
                                        <p:cTn id="55" dur="500" fill="hold"/>
                                        <p:tgtEl>
                                          <p:spTgt spid="518049715">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180497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049715" grpId="0" build="p"/>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1630706" name="Title 1"/>
          <p:cNvSpPr>
            <a:spLocks noGrp="1"/>
          </p:cNvSpPr>
          <p:nvPr>
            <p:ph type="title"/>
          </p:nvPr>
        </p:nvSpPr>
        <p:spPr bwMode="auto">
          <a:xfrm>
            <a:off x="685800" y="609600"/>
            <a:ext cx="8229600" cy="715962"/>
          </a:xfrm>
        </p:spPr>
        <p:txBody>
          <a:bodyPr>
            <a:normAutofit fontScale="90000"/>
          </a:bodyPr>
          <a:lstStyle/>
          <a:p>
            <a:pPr>
              <a:defRPr/>
            </a:pPr>
            <a:r>
              <a:rPr lang="en-US"/>
              <a:t>Fuzzy Logic – Formal Definition</a:t>
            </a:r>
            <a:endParaRPr/>
          </a:p>
        </p:txBody>
      </p:sp>
      <p:sp>
        <p:nvSpPr>
          <p:cNvPr id="264148509" name="Content Placeholder 2"/>
          <p:cNvSpPr>
            <a:spLocks noGrp="1"/>
          </p:cNvSpPr>
          <p:nvPr>
            <p:ph idx="1"/>
          </p:nvPr>
        </p:nvSpPr>
        <p:spPr bwMode="auto">
          <a:xfrm>
            <a:off x="0" y="1523999"/>
            <a:ext cx="9144000" cy="2209801"/>
          </a:xfrm>
        </p:spPr>
        <p:txBody>
          <a:bodyPr>
            <a:normAutofit/>
          </a:bodyPr>
          <a:lstStyle/>
          <a:p>
            <a:pPr>
              <a:defRPr/>
            </a:pPr>
            <a:r>
              <a:rPr lang="en-US" sz="2400"/>
              <a:t>A branch of logic that uses </a:t>
            </a:r>
            <a:r>
              <a:rPr lang="en-US" sz="2400">
                <a:solidFill>
                  <a:srgbClr val="FF0000"/>
                </a:solidFill>
              </a:rPr>
              <a:t>degree of membership in the whole range of [0-1]</a:t>
            </a:r>
            <a:r>
              <a:rPr lang="en-US" sz="2400"/>
              <a:t> in sets rather than a strict true/false membership{0,1}.</a:t>
            </a:r>
            <a:endParaRPr/>
          </a:p>
          <a:p>
            <a:pPr>
              <a:defRPr/>
            </a:pPr>
            <a:endParaRPr lang="en-US" sz="2400"/>
          </a:p>
          <a:p>
            <a:pPr>
              <a:defRPr/>
            </a:pPr>
            <a:r>
              <a:rPr lang="en-US" sz="2400"/>
              <a:t>It is used </a:t>
            </a:r>
            <a:r>
              <a:rPr lang="en-US" sz="2400">
                <a:solidFill>
                  <a:srgbClr val="FF0000"/>
                </a:solidFill>
              </a:rPr>
              <a:t>to quantify </a:t>
            </a:r>
            <a:r>
              <a:rPr lang="en-US" sz="2400"/>
              <a:t>and </a:t>
            </a:r>
            <a:r>
              <a:rPr lang="en-US" sz="2400">
                <a:solidFill>
                  <a:srgbClr val="FF0000"/>
                </a:solidFill>
              </a:rPr>
              <a:t>reason </a:t>
            </a:r>
            <a:r>
              <a:rPr lang="en-US" sz="2400"/>
              <a:t>about vague or fuzzy terms that appear in </a:t>
            </a:r>
            <a:r>
              <a:rPr lang="en-US" sz="2400">
                <a:solidFill>
                  <a:srgbClr val="FF0000"/>
                </a:solidFill>
              </a:rPr>
              <a:t>natural language</a:t>
            </a:r>
            <a:r>
              <a:rPr lang="en-US" sz="2400"/>
              <a:t>. (referred as </a:t>
            </a:r>
            <a:r>
              <a:rPr lang="en-US" sz="2400">
                <a:solidFill>
                  <a:srgbClr val="FF0000"/>
                </a:solidFill>
              </a:rPr>
              <a:t>Fuzzy or Linguistic Variables</a:t>
            </a:r>
            <a:r>
              <a:rPr lang="en-US" sz="2400"/>
              <a:t>.)</a:t>
            </a:r>
            <a:endParaRPr/>
          </a:p>
        </p:txBody>
      </p:sp>
      <p:graphicFrame>
        <p:nvGraphicFramePr>
          <p:cNvPr id="592722159" name="Table 3"/>
          <p:cNvGraphicFramePr>
            <a:graphicFrameLocks xmlns:a="http://schemas.openxmlformats.org/drawingml/2006/main" noGrp="1"/>
          </p:cNvGraphicFramePr>
          <p:nvPr/>
        </p:nvGraphicFramePr>
        <p:xfrm rot="0">
          <a:off x="762000" y="3886200"/>
          <a:ext cx="7772400" cy="2743200"/>
        </p:xfrm>
        <a:graphic>
          <a:graphicData uri="http://schemas.openxmlformats.org/drawingml/2006/table">
            <a:tbl>
              <a:tblPr firstRow="1" firstCol="0" lastRow="0" lastCol="0" bandRow="1" bandCol="0">
                <a:tableStyleId>{5C22544A-7EE6-4342-B048-85BDC9FD1C3A}</a:tableStyleId>
              </a:tblPr>
              <a:tblGrid>
                <a:gridCol w="3429000"/>
                <a:gridCol w="4343400"/>
              </a:tblGrid>
              <a:tr h="548640">
                <a:tc>
                  <a:txBody>
                    <a:bodyPr/>
                    <a:p>
                      <a:pPr algn="ctr">
                        <a:defRPr/>
                      </a:pPr>
                      <a:r>
                        <a:rPr lang="en-US" sz="2400">
                          <a:solidFill>
                            <a:schemeClr val="tx1"/>
                          </a:solidFill>
                        </a:rPr>
                        <a:t>Fuzzy</a:t>
                      </a:r>
                      <a:r>
                        <a:rPr lang="en-US" sz="2400">
                          <a:solidFill>
                            <a:schemeClr val="tx1"/>
                          </a:solidFill>
                        </a:rPr>
                        <a:t> Variable</a:t>
                      </a:r>
                      <a:endParaRPr lang="en-US" sz="2400">
                        <a:solidFill>
                          <a:schemeClr val="tx1"/>
                        </a:solidFill>
                      </a:endParaRPr>
                    </a:p>
                  </a:txBody>
                  <a:tcPr/>
                </a:tc>
                <a:tc>
                  <a:txBody>
                    <a:bodyPr/>
                    <a:p>
                      <a:pPr algn="ctr">
                        <a:defRPr/>
                      </a:pPr>
                      <a:r>
                        <a:rPr lang="en-US" sz="2400">
                          <a:solidFill>
                            <a:schemeClr val="tx1"/>
                          </a:solidFill>
                        </a:rPr>
                        <a:t>Fuzzy Value</a:t>
                      </a:r>
                      <a:endParaRPr/>
                    </a:p>
                  </a:txBody>
                  <a:tcPr/>
                </a:tc>
              </a:tr>
              <a:tr h="548640">
                <a:tc>
                  <a:txBody>
                    <a:bodyPr/>
                    <a:p>
                      <a:pPr>
                        <a:defRPr/>
                      </a:pPr>
                      <a:r>
                        <a:rPr lang="en-US" sz="2400"/>
                        <a:t>Temperature</a:t>
                      </a:r>
                      <a:endParaRPr/>
                    </a:p>
                  </a:txBody>
                  <a:tcPr/>
                </a:tc>
                <a:tc>
                  <a:txBody>
                    <a:bodyPr/>
                    <a:p>
                      <a:pPr>
                        <a:defRPr/>
                      </a:pPr>
                      <a:r>
                        <a:rPr lang="en-US" sz="2400"/>
                        <a:t>Hot,</a:t>
                      </a:r>
                      <a:r>
                        <a:rPr lang="en-US" sz="2400"/>
                        <a:t> Cold</a:t>
                      </a:r>
                      <a:endParaRPr lang="en-US" sz="2400"/>
                    </a:p>
                  </a:txBody>
                  <a:tcPr/>
                </a:tc>
              </a:tr>
              <a:tr h="548640">
                <a:tc>
                  <a:txBody>
                    <a:bodyPr/>
                    <a:p>
                      <a:pPr>
                        <a:defRPr/>
                      </a:pPr>
                      <a:r>
                        <a:rPr lang="en-US" sz="2400"/>
                        <a:t>Height</a:t>
                      </a:r>
                      <a:endParaRPr/>
                    </a:p>
                  </a:txBody>
                  <a:tcPr/>
                </a:tc>
                <a:tc>
                  <a:txBody>
                    <a:bodyPr/>
                    <a:p>
                      <a:pPr>
                        <a:defRPr/>
                      </a:pPr>
                      <a:r>
                        <a:rPr lang="en-US" sz="2400"/>
                        <a:t>Short, Medium, Tall</a:t>
                      </a:r>
                      <a:endParaRPr/>
                    </a:p>
                  </a:txBody>
                  <a:tcPr/>
                </a:tc>
              </a:tr>
              <a:tr h="548640">
                <a:tc>
                  <a:txBody>
                    <a:bodyPr/>
                    <a:p>
                      <a:pPr>
                        <a:defRPr/>
                      </a:pPr>
                      <a:r>
                        <a:rPr lang="en-US" sz="2400"/>
                        <a:t>Speed</a:t>
                      </a:r>
                      <a:endParaRPr/>
                    </a:p>
                  </a:txBody>
                  <a:tcPr/>
                </a:tc>
                <a:tc>
                  <a:txBody>
                    <a:bodyPr/>
                    <a:p>
                      <a:pPr>
                        <a:defRPr/>
                      </a:pPr>
                      <a:r>
                        <a:rPr lang="en-US" sz="2400"/>
                        <a:t>Slow, Creeping, Fast</a:t>
                      </a:r>
                      <a:endParaRPr/>
                    </a:p>
                  </a:txBody>
                  <a:tcPr/>
                </a:tc>
              </a:tr>
              <a:tr h="548640">
                <a:tc>
                  <a:txBody>
                    <a:bodyPr/>
                    <a:p>
                      <a:pPr>
                        <a:defRPr/>
                      </a:pPr>
                      <a:r>
                        <a:rPr lang="en-US" sz="2400"/>
                        <a:t>Age</a:t>
                      </a:r>
                      <a:endParaRPr/>
                    </a:p>
                  </a:txBody>
                  <a:tcPr/>
                </a:tc>
                <a:tc>
                  <a:txBody>
                    <a:bodyPr/>
                    <a:p>
                      <a:pPr>
                        <a:defRPr/>
                      </a:pPr>
                      <a:r>
                        <a:rPr lang="en-US" sz="2400"/>
                        <a:t>Child,</a:t>
                      </a:r>
                      <a:r>
                        <a:rPr lang="en-US" sz="2400"/>
                        <a:t> Young, Mid-Age, Old </a:t>
                      </a:r>
                      <a:endParaRPr lang="en-US" sz="24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4148509">
                                            <p:txEl>
                                              <p:pRg st="0" end="0"/>
                                            </p:txEl>
                                          </p:spTgt>
                                        </p:tgtEl>
                                        <p:attrNameLst>
                                          <p:attrName>style.visibility</p:attrName>
                                        </p:attrNameLst>
                                      </p:cBhvr>
                                      <p:to>
                                        <p:strVal val="visible"/>
                                      </p:to>
                                    </p:set>
                                    <p:anim calcmode="lin" valueType="num">
                                      <p:cBhvr additive="base">
                                        <p:cTn id="7" dur="500" fill="hold"/>
                                        <p:tgtEl>
                                          <p:spTgt spid="2641485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41485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4148509">
                                            <p:txEl>
                                              <p:pRg st="2" end="2"/>
                                            </p:txEl>
                                          </p:spTgt>
                                        </p:tgtEl>
                                        <p:attrNameLst>
                                          <p:attrName>style.visibility</p:attrName>
                                        </p:attrNameLst>
                                      </p:cBhvr>
                                      <p:to>
                                        <p:strVal val="visible"/>
                                      </p:to>
                                    </p:set>
                                    <p:anim calcmode="lin" valueType="num">
                                      <p:cBhvr additive="base">
                                        <p:cTn id="13" dur="500" fill="hold"/>
                                        <p:tgtEl>
                                          <p:spTgt spid="26414850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41485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92722159"/>
                                        </p:tgtEl>
                                        <p:attrNameLst>
                                          <p:attrName>style.visibility</p:attrName>
                                        </p:attrNameLst>
                                      </p:cBhvr>
                                      <p:to>
                                        <p:strVal val="visible"/>
                                      </p:to>
                                    </p:set>
                                    <p:anim calcmode="lin" valueType="num">
                                      <p:cBhvr additive="base">
                                        <p:cTn id="19" dur="500" fill="hold"/>
                                        <p:tgtEl>
                                          <p:spTgt spid="592722159"/>
                                        </p:tgtEl>
                                        <p:attrNameLst>
                                          <p:attrName>ppt_x</p:attrName>
                                        </p:attrNameLst>
                                      </p:cBhvr>
                                      <p:tavLst>
                                        <p:tav tm="0">
                                          <p:val>
                                            <p:strVal val="#ppt_x"/>
                                          </p:val>
                                        </p:tav>
                                        <p:tav tm="100000">
                                          <p:val>
                                            <p:strVal val="#ppt_x"/>
                                          </p:val>
                                        </p:tav>
                                      </p:tavLst>
                                    </p:anim>
                                    <p:anim calcmode="lin" valueType="num">
                                      <p:cBhvr additive="base">
                                        <p:cTn id="20" dur="500" fill="hold"/>
                                        <p:tgtEl>
                                          <p:spTgt spid="5927221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48509" grpId="0" build="p"/>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8988288" name="Title 1"/>
          <p:cNvSpPr>
            <a:spLocks noGrp="1"/>
          </p:cNvSpPr>
          <p:nvPr>
            <p:ph type="title"/>
          </p:nvPr>
        </p:nvSpPr>
        <p:spPr bwMode="auto"/>
        <p:txBody>
          <a:bodyPr vertOverflow="overflow" horzOverflow="overflow" vert="horz" wrap="square" lIns="0" tIns="45720" rIns="0" bIns="0" numCol="1" spcCol="0" rtlCol="0" fromWordArt="0" anchor="b" anchorCtr="0" forceAA="0" upright="0" compatLnSpc="0">
            <a:normAutofit/>
          </a:bodyPr>
          <a:lstStyle/>
          <a:p>
            <a:pPr>
              <a:defRPr/>
            </a:pPr>
            <a:r>
              <a:rPr/>
              <a:t>Example</a:t>
            </a:r>
            <a:endParaRPr/>
          </a:p>
        </p:txBody>
      </p:sp>
      <p:sp>
        <p:nvSpPr>
          <p:cNvPr id="1311524253" name="Content Placeholder 2"/>
          <p:cNvSpPr>
            <a:spLocks noGrp="1"/>
          </p:cNvSpPr>
          <p:nvPr>
            <p:ph idx="1"/>
          </p:nvPr>
        </p:nvSpPr>
        <p:spPr bwMode="auto"/>
        <p:txBody>
          <a:bodyPr/>
          <a:lstStyle/>
          <a:p>
            <a:pPr>
              <a:defRPr/>
            </a:pPr>
            <a:endParaRPr/>
          </a:p>
        </p:txBody>
      </p:sp>
      <p:pic>
        <p:nvPicPr>
          <p:cNvPr id="715183765" name="Picture 3" descr="What is Fuzzy Logic? Advantages and Disadvantages"/>
          <p:cNvPicPr>
            <a:picLocks noChangeAspect="1"/>
          </p:cNvPicPr>
          <p:nvPr/>
        </p:nvPicPr>
        <p:blipFill rotWithShape="1">
          <a:blip r:embed="rId3"/>
          <a:stretch/>
        </p:blipFill>
        <p:spPr bwMode="auto">
          <a:xfrm flipH="0" flipV="0">
            <a:off x="3929062" y="3429000"/>
            <a:ext cx="4757737" cy="2676227"/>
          </a:xfrm>
          <a:prstGeom prst="rect">
            <a:avLst/>
          </a:prstGeom>
        </p:spPr>
      </p:pic>
      <p:pic>
        <p:nvPicPr>
          <p:cNvPr id="725187998" name="Picture 4"/>
          <p:cNvPicPr>
            <a:picLocks noChangeAspect="1"/>
          </p:cNvPicPr>
          <p:nvPr/>
        </p:nvPicPr>
        <p:blipFill rotWithShape="1">
          <a:blip r:embed="rId4"/>
          <a:stretch/>
        </p:blipFill>
        <p:spPr bwMode="auto">
          <a:xfrm flipH="0" flipV="0">
            <a:off x="3881437" y="387770"/>
            <a:ext cx="4735710" cy="27624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9164922" name="Title 1"/>
          <p:cNvSpPr>
            <a:spLocks noGrp="1"/>
          </p:cNvSpPr>
          <p:nvPr>
            <p:ph type="title"/>
          </p:nvPr>
        </p:nvSpPr>
        <p:spPr bwMode="auto">
          <a:xfrm>
            <a:off x="457200" y="457200"/>
            <a:ext cx="8229600" cy="762000"/>
          </a:xfrm>
        </p:spPr>
        <p:txBody>
          <a:bodyPr>
            <a:normAutofit/>
          </a:bodyPr>
          <a:lstStyle/>
          <a:p>
            <a:pPr algn="ctr">
              <a:defRPr/>
            </a:pPr>
            <a:r>
              <a:rPr lang="en-US" sz="4400"/>
              <a:t>Fuzzy Rules Are Everywhere</a:t>
            </a:r>
            <a:endParaRPr/>
          </a:p>
        </p:txBody>
      </p:sp>
      <p:sp>
        <p:nvSpPr>
          <p:cNvPr id="1021083150" name="Content Placeholder 2"/>
          <p:cNvSpPr>
            <a:spLocks noGrp="1"/>
          </p:cNvSpPr>
          <p:nvPr>
            <p:ph idx="1"/>
          </p:nvPr>
        </p:nvSpPr>
        <p:spPr bwMode="auto">
          <a:xfrm>
            <a:off x="152400" y="1447800"/>
            <a:ext cx="8534400" cy="4876800"/>
          </a:xfrm>
        </p:spPr>
        <p:txBody>
          <a:bodyPr>
            <a:normAutofit fontScale="85000" lnSpcReduction="10000"/>
          </a:bodyPr>
          <a:lstStyle/>
          <a:p>
            <a:pPr>
              <a:defRPr/>
            </a:pPr>
            <a:r>
              <a:rPr lang="en-US" sz="3200"/>
              <a:t>If (</a:t>
            </a:r>
            <a:r>
              <a:rPr lang="en-US" sz="3200">
                <a:solidFill>
                  <a:srgbClr val="FF0000"/>
                </a:solidFill>
              </a:rPr>
              <a:t>Speed </a:t>
            </a:r>
            <a:r>
              <a:rPr lang="en-US" sz="3200"/>
              <a:t>is </a:t>
            </a:r>
            <a:r>
              <a:rPr lang="en-US" sz="3200">
                <a:solidFill>
                  <a:srgbClr val="7030A0"/>
                </a:solidFill>
              </a:rPr>
              <a:t>Slow)</a:t>
            </a:r>
            <a:r>
              <a:rPr lang="en-US" sz="3200"/>
              <a:t> Then </a:t>
            </a:r>
            <a:br>
              <a:rPr lang="en-US" sz="3200"/>
            </a:br>
            <a:r>
              <a:rPr lang="en-US" sz="3200"/>
              <a:t>	Make the </a:t>
            </a:r>
            <a:r>
              <a:rPr lang="en-US" sz="3200">
                <a:solidFill>
                  <a:srgbClr val="FF0000"/>
                </a:solidFill>
              </a:rPr>
              <a:t>Acceleration</a:t>
            </a:r>
            <a:r>
              <a:rPr lang="en-US" sz="3200"/>
              <a:t> </a:t>
            </a:r>
            <a:r>
              <a:rPr lang="en-US" sz="3200">
                <a:solidFill>
                  <a:srgbClr val="7030A0"/>
                </a:solidFill>
              </a:rPr>
              <a:t>High</a:t>
            </a:r>
            <a:endParaRPr/>
          </a:p>
          <a:p>
            <a:pPr>
              <a:defRPr/>
            </a:pPr>
            <a:endParaRPr lang="en-US" sz="3200"/>
          </a:p>
          <a:p>
            <a:pPr>
              <a:defRPr/>
            </a:pPr>
            <a:r>
              <a:rPr lang="en-US" sz="3200"/>
              <a:t>If (</a:t>
            </a:r>
            <a:r>
              <a:rPr lang="en-US" sz="3200">
                <a:solidFill>
                  <a:srgbClr val="FF0000"/>
                </a:solidFill>
              </a:rPr>
              <a:t>Temperature</a:t>
            </a:r>
            <a:r>
              <a:rPr lang="en-US" sz="3200"/>
              <a:t> is </a:t>
            </a:r>
            <a:r>
              <a:rPr lang="en-US" sz="3200">
                <a:solidFill>
                  <a:srgbClr val="7030A0"/>
                </a:solidFill>
              </a:rPr>
              <a:t>Low</a:t>
            </a:r>
            <a:r>
              <a:rPr lang="en-US" sz="3200"/>
              <a:t> AND </a:t>
            </a:r>
            <a:r>
              <a:rPr lang="en-US" sz="3200">
                <a:solidFill>
                  <a:srgbClr val="FF0000"/>
                </a:solidFill>
              </a:rPr>
              <a:t>Pressure</a:t>
            </a:r>
            <a:r>
              <a:rPr lang="en-US" sz="3200"/>
              <a:t> is </a:t>
            </a:r>
            <a:r>
              <a:rPr lang="en-US" sz="3200">
                <a:solidFill>
                  <a:srgbClr val="7030A0"/>
                </a:solidFill>
              </a:rPr>
              <a:t>Medium)</a:t>
            </a:r>
            <a:r>
              <a:rPr lang="en-US" sz="3200"/>
              <a:t> Then </a:t>
            </a:r>
            <a:br>
              <a:rPr lang="en-US" sz="3200"/>
            </a:br>
            <a:r>
              <a:rPr lang="en-US" sz="3200"/>
              <a:t>	Make </a:t>
            </a:r>
            <a:r>
              <a:rPr lang="en-US" sz="3200">
                <a:solidFill>
                  <a:srgbClr val="FF0000"/>
                </a:solidFill>
              </a:rPr>
              <a:t>Speed</a:t>
            </a:r>
            <a:r>
              <a:rPr lang="en-US" sz="3200"/>
              <a:t> </a:t>
            </a:r>
            <a:r>
              <a:rPr lang="en-US" sz="3200">
                <a:solidFill>
                  <a:srgbClr val="7030A0"/>
                </a:solidFill>
              </a:rPr>
              <a:t>Very Slow</a:t>
            </a:r>
            <a:endParaRPr/>
          </a:p>
          <a:p>
            <a:pPr>
              <a:defRPr/>
            </a:pPr>
            <a:endParaRPr lang="en-US" sz="3200">
              <a:solidFill>
                <a:srgbClr val="7030A0"/>
              </a:solidFill>
            </a:endParaRPr>
          </a:p>
          <a:p>
            <a:pPr marL="0" indent="0" algn="ctr">
              <a:buNone/>
              <a:defRPr/>
            </a:pPr>
            <a:r>
              <a:rPr lang="en-US" sz="3200"/>
              <a:t>A Fuzzy Rule is a conditional statement in the form </a:t>
            </a:r>
            <a:br>
              <a:rPr lang="en-US" sz="3200"/>
            </a:br>
            <a:r>
              <a:rPr lang="en-US" sz="3200"/>
              <a:t>IF </a:t>
            </a:r>
            <a:r>
              <a:rPr lang="en-US" sz="3200">
                <a:solidFill>
                  <a:srgbClr val="FF0000"/>
                </a:solidFill>
              </a:rPr>
              <a:t>x</a:t>
            </a:r>
            <a:r>
              <a:rPr lang="en-US" sz="3200"/>
              <a:t> is </a:t>
            </a:r>
            <a:r>
              <a:rPr lang="en-US" sz="3200">
                <a:solidFill>
                  <a:srgbClr val="7030A0"/>
                </a:solidFill>
              </a:rPr>
              <a:t>A</a:t>
            </a:r>
            <a:r>
              <a:rPr lang="en-US" sz="3200"/>
              <a:t> THEN </a:t>
            </a:r>
            <a:br>
              <a:rPr lang="en-US" sz="3200"/>
            </a:br>
            <a:r>
              <a:rPr lang="en-US" sz="3200">
                <a:solidFill>
                  <a:srgbClr val="FF0000"/>
                </a:solidFill>
              </a:rPr>
              <a:t>y</a:t>
            </a:r>
            <a:r>
              <a:rPr lang="en-US" sz="3200"/>
              <a:t> is </a:t>
            </a:r>
            <a:r>
              <a:rPr lang="en-US" sz="3200">
                <a:solidFill>
                  <a:srgbClr val="7030A0"/>
                </a:solidFill>
              </a:rPr>
              <a:t>B</a:t>
            </a:r>
            <a:br>
              <a:rPr lang="en-US" sz="3200">
                <a:solidFill>
                  <a:srgbClr val="7030A0"/>
                </a:solidFill>
              </a:rPr>
            </a:br>
            <a:r>
              <a:rPr lang="en-US" sz="3200"/>
              <a:t>(where </a:t>
            </a:r>
            <a:r>
              <a:rPr lang="en-US" sz="3200">
                <a:solidFill>
                  <a:srgbClr val="FF0000"/>
                </a:solidFill>
              </a:rPr>
              <a:t>x, y </a:t>
            </a:r>
            <a:r>
              <a:rPr lang="en-US" sz="3200"/>
              <a:t>are </a:t>
            </a:r>
            <a:r>
              <a:rPr lang="en-US" sz="3200">
                <a:solidFill>
                  <a:srgbClr val="FF0000"/>
                </a:solidFill>
              </a:rPr>
              <a:t>linguistic variables </a:t>
            </a:r>
            <a:r>
              <a:rPr lang="en-US" sz="3200"/>
              <a:t>and </a:t>
            </a:r>
            <a:br>
              <a:rPr lang="en-US" sz="3200"/>
            </a:br>
            <a:r>
              <a:rPr lang="en-US" sz="3200">
                <a:solidFill>
                  <a:srgbClr val="7030A0"/>
                </a:solidFill>
              </a:rPr>
              <a:t>A,B are linguistic values</a:t>
            </a:r>
            <a:r>
              <a:rPr lang="en-US" sz="3200"/>
              <a:t> determined by fuzzy sets </a:t>
            </a:r>
            <a:br>
              <a:rPr lang="en-US" sz="3200"/>
            </a:br>
            <a:r>
              <a:rPr lang="en-US" sz="3200"/>
              <a:t>on the </a:t>
            </a:r>
            <a:r>
              <a:rPr lang="en-US" sz="3200">
                <a:solidFill>
                  <a:srgbClr val="FF0000"/>
                </a:solidFill>
              </a:rPr>
              <a:t>universe of discourses X and Y </a:t>
            </a:r>
            <a:r>
              <a:rPr lang="en-US" sz="3200"/>
              <a:t>respectively</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1083150">
                                            <p:txEl>
                                              <p:pRg st="0" end="0"/>
                                            </p:txEl>
                                          </p:spTgt>
                                        </p:tgtEl>
                                        <p:attrNameLst>
                                          <p:attrName>style.visibility</p:attrName>
                                        </p:attrNameLst>
                                      </p:cBhvr>
                                      <p:to>
                                        <p:strVal val="visible"/>
                                      </p:to>
                                    </p:set>
                                    <p:anim calcmode="lin" valueType="num">
                                      <p:cBhvr additive="base">
                                        <p:cTn id="7" dur="500" fill="hold"/>
                                        <p:tgtEl>
                                          <p:spTgt spid="10210831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10831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1083150">
                                            <p:txEl>
                                              <p:pRg st="2" end="2"/>
                                            </p:txEl>
                                          </p:spTgt>
                                        </p:tgtEl>
                                        <p:attrNameLst>
                                          <p:attrName>style.visibility</p:attrName>
                                        </p:attrNameLst>
                                      </p:cBhvr>
                                      <p:to>
                                        <p:strVal val="visible"/>
                                      </p:to>
                                    </p:set>
                                    <p:anim calcmode="lin" valueType="num">
                                      <p:cBhvr additive="base">
                                        <p:cTn id="13" dur="500" fill="hold"/>
                                        <p:tgtEl>
                                          <p:spTgt spid="102108315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10831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1083150">
                                            <p:txEl>
                                              <p:pRg st="4" end="4"/>
                                            </p:txEl>
                                          </p:spTgt>
                                        </p:tgtEl>
                                        <p:attrNameLst>
                                          <p:attrName>style.visibility</p:attrName>
                                        </p:attrNameLst>
                                      </p:cBhvr>
                                      <p:to>
                                        <p:strVal val="visible"/>
                                      </p:to>
                                    </p:set>
                                    <p:anim calcmode="lin" valueType="num">
                                      <p:cBhvr additive="base">
                                        <p:cTn id="19" dur="500" fill="hold"/>
                                        <p:tgtEl>
                                          <p:spTgt spid="102108315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108315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083150" grpId="0" build="p"/>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2044100" name="Title 1"/>
          <p:cNvSpPr>
            <a:spLocks noGrp="1"/>
          </p:cNvSpPr>
          <p:nvPr>
            <p:ph type="title"/>
          </p:nvPr>
        </p:nvSpPr>
        <p:spPr bwMode="auto">
          <a:xfrm>
            <a:off x="658160" y="228600"/>
            <a:ext cx="8229600" cy="762000"/>
          </a:xfrm>
        </p:spPr>
        <p:txBody>
          <a:bodyPr>
            <a:normAutofit/>
          </a:bodyPr>
          <a:lstStyle/>
          <a:p>
            <a:pPr algn="ctr">
              <a:defRPr/>
            </a:pPr>
            <a:r>
              <a:rPr lang="en-US" sz="4000"/>
              <a:t>Universe of Discourse</a:t>
            </a:r>
            <a:endParaRPr/>
          </a:p>
        </p:txBody>
      </p:sp>
      <p:sp>
        <p:nvSpPr>
          <p:cNvPr id="521094851" name="Content Placeholder 2"/>
          <p:cNvSpPr>
            <a:spLocks noGrp="1"/>
          </p:cNvSpPr>
          <p:nvPr>
            <p:ph idx="1"/>
          </p:nvPr>
        </p:nvSpPr>
        <p:spPr bwMode="auto">
          <a:xfrm>
            <a:off x="0" y="1143000"/>
            <a:ext cx="9144000" cy="4191000"/>
          </a:xfrm>
        </p:spPr>
        <p:txBody>
          <a:bodyPr>
            <a:normAutofit/>
          </a:bodyPr>
          <a:lstStyle/>
          <a:p>
            <a:pPr>
              <a:defRPr/>
            </a:pPr>
            <a:r>
              <a:rPr lang="en-US" sz="2400"/>
              <a:t>Range of possible values of a linguistic variable is known as Universe of Discourse (</a:t>
            </a:r>
            <a:r>
              <a:rPr lang="en-US" sz="2400"/>
              <a:t>a.k.a</a:t>
            </a:r>
            <a:r>
              <a:rPr lang="en-US" sz="2400"/>
              <a:t> </a:t>
            </a:r>
            <a:r>
              <a:rPr lang="en-US" sz="2400">
                <a:solidFill>
                  <a:srgbClr val="FF0000"/>
                </a:solidFill>
              </a:rPr>
              <a:t>Domain</a:t>
            </a:r>
            <a:r>
              <a:rPr lang="en-US" sz="2400"/>
              <a:t>)</a:t>
            </a:r>
            <a:endParaRPr/>
          </a:p>
          <a:p>
            <a:pPr>
              <a:defRPr/>
            </a:pPr>
            <a:r>
              <a:rPr lang="en-US" sz="2400"/>
              <a:t>E.g. Domain Values for a Linguistic Variable </a:t>
            </a:r>
            <a:r>
              <a:rPr lang="en-US" sz="2400">
                <a:solidFill>
                  <a:srgbClr val="FF0000"/>
                </a:solidFill>
              </a:rPr>
              <a:t>Speed </a:t>
            </a:r>
            <a:r>
              <a:rPr lang="en-US" sz="2400"/>
              <a:t>of a Car (0-180 mph)</a:t>
            </a:r>
            <a:endParaRPr lang="en-US" sz="2400">
              <a:solidFill>
                <a:srgbClr val="FF0000"/>
              </a:solidFill>
            </a:endParaRPr>
          </a:p>
          <a:p>
            <a:pPr>
              <a:defRPr/>
            </a:pPr>
            <a:r>
              <a:rPr lang="en-US" sz="2400">
                <a:solidFill>
                  <a:srgbClr val="FF0000"/>
                </a:solidFill>
              </a:rPr>
              <a:t>Speed </a:t>
            </a:r>
            <a:r>
              <a:rPr lang="en-US" sz="2400"/>
              <a:t>is </a:t>
            </a:r>
            <a:r>
              <a:rPr lang="en-US" sz="2400">
                <a:solidFill>
                  <a:srgbClr val="7030A0"/>
                </a:solidFill>
              </a:rPr>
              <a:t>slow</a:t>
            </a:r>
            <a:r>
              <a:rPr lang="en-US" sz="2400"/>
              <a:t> occupies a section of Domain, the linguistic term “slow” is known as a fuzzy set. </a:t>
            </a:r>
            <a:endParaRPr/>
          </a:p>
        </p:txBody>
      </p:sp>
      <p:pic>
        <p:nvPicPr>
          <p:cNvPr id="574752129" name="Picture 2" descr="http://t3.gstatic.com/images?q=tbn:ANd9GcRCjPJ2Ag6qDuRjzPiNFUqg6ije2cm7kYRjMx3lQP4n9-e053Kl"/>
          <p:cNvPicPr>
            <a:picLocks noChangeAspect="1" noChangeArrowheads="1"/>
          </p:cNvPicPr>
          <p:nvPr/>
        </p:nvPicPr>
        <p:blipFill rotWithShape="1">
          <a:blip r:embed="rId3"/>
          <a:stretch/>
        </p:blipFill>
        <p:spPr bwMode="auto">
          <a:xfrm>
            <a:off x="7239000" y="4267200"/>
            <a:ext cx="1676400" cy="1676400"/>
          </a:xfrm>
          <a:prstGeom prst="rect">
            <a:avLst/>
          </a:prstGeom>
          <a:noFill/>
        </p:spPr>
      </p:pic>
      <p:pic>
        <p:nvPicPr>
          <p:cNvPr id="253438502" name="Picture 3"/>
          <p:cNvPicPr>
            <a:picLocks noChangeAspect="1" noChangeArrowheads="1"/>
          </p:cNvPicPr>
          <p:nvPr/>
        </p:nvPicPr>
        <p:blipFill rotWithShape="1">
          <a:blip r:embed="rId4"/>
          <a:stretch/>
        </p:blipFill>
        <p:spPr bwMode="auto">
          <a:xfrm>
            <a:off x="1066799" y="4198068"/>
            <a:ext cx="3819525" cy="2659932"/>
          </a:xfrm>
          <a:prstGeom prst="rect">
            <a:avLst/>
          </a:prstGeom>
          <a:noFill/>
          <a:ln w="9525">
            <a:noFill/>
            <a:miter lim="800000"/>
            <a:headEnd/>
            <a:tailEnd/>
          </a:ln>
          <a:effectLst/>
        </p:spPr>
      </p:pic>
      <p:pic>
        <p:nvPicPr>
          <p:cNvPr id="561783424" name="Picture 3" descr="Fuzzy Logic Control | Springer Nature Link"/>
          <p:cNvPicPr>
            <a:picLocks noChangeAspect="1"/>
          </p:cNvPicPr>
          <p:nvPr/>
        </p:nvPicPr>
        <p:blipFill rotWithShape="1">
          <a:blip r:embed="rId5"/>
          <a:stretch/>
        </p:blipFill>
        <p:spPr bwMode="auto">
          <a:xfrm>
            <a:off x="1071281" y="3585443"/>
            <a:ext cx="5486400" cy="327703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1094851">
                                            <p:txEl>
                                              <p:pRg st="0" end="0"/>
                                            </p:txEl>
                                          </p:spTgt>
                                        </p:tgtEl>
                                        <p:attrNameLst>
                                          <p:attrName>style.visibility</p:attrName>
                                        </p:attrNameLst>
                                      </p:cBhvr>
                                      <p:to>
                                        <p:strVal val="visible"/>
                                      </p:to>
                                    </p:set>
                                    <p:anim calcmode="lin" valueType="num">
                                      <p:cBhvr additive="base">
                                        <p:cTn id="7" dur="500" fill="hold"/>
                                        <p:tgtEl>
                                          <p:spTgt spid="5210948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10948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1094851">
                                            <p:txEl>
                                              <p:pRg st="1" end="1"/>
                                            </p:txEl>
                                          </p:spTgt>
                                        </p:tgtEl>
                                        <p:attrNameLst>
                                          <p:attrName>style.visibility</p:attrName>
                                        </p:attrNameLst>
                                      </p:cBhvr>
                                      <p:to>
                                        <p:strVal val="visible"/>
                                      </p:to>
                                    </p:set>
                                    <p:anim calcmode="lin" valueType="num">
                                      <p:cBhvr additive="base">
                                        <p:cTn id="13" dur="500" fill="hold"/>
                                        <p:tgtEl>
                                          <p:spTgt spid="5210948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10948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74752129"/>
                                        </p:tgtEl>
                                        <p:attrNameLst>
                                          <p:attrName>style.visibility</p:attrName>
                                        </p:attrNameLst>
                                      </p:cBhvr>
                                      <p:to>
                                        <p:strVal val="visible"/>
                                      </p:to>
                                    </p:set>
                                    <p:anim calcmode="lin" valueType="num">
                                      <p:cBhvr additive="base">
                                        <p:cTn id="19" dur="500" fill="hold"/>
                                        <p:tgtEl>
                                          <p:spTgt spid="574752129"/>
                                        </p:tgtEl>
                                        <p:attrNameLst>
                                          <p:attrName>ppt_x</p:attrName>
                                        </p:attrNameLst>
                                      </p:cBhvr>
                                      <p:tavLst>
                                        <p:tav tm="0">
                                          <p:val>
                                            <p:strVal val="#ppt_x"/>
                                          </p:val>
                                        </p:tav>
                                        <p:tav tm="100000">
                                          <p:val>
                                            <p:strVal val="#ppt_x"/>
                                          </p:val>
                                        </p:tav>
                                      </p:tavLst>
                                    </p:anim>
                                    <p:anim calcmode="lin" valueType="num">
                                      <p:cBhvr additive="base">
                                        <p:cTn id="20" dur="500" fill="hold"/>
                                        <p:tgtEl>
                                          <p:spTgt spid="5747521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1094851">
                                            <p:txEl>
                                              <p:pRg st="2" end="2"/>
                                            </p:txEl>
                                          </p:spTgt>
                                        </p:tgtEl>
                                        <p:attrNameLst>
                                          <p:attrName>style.visibility</p:attrName>
                                        </p:attrNameLst>
                                      </p:cBhvr>
                                      <p:to>
                                        <p:strVal val="visible"/>
                                      </p:to>
                                    </p:set>
                                    <p:anim calcmode="lin" valueType="num">
                                      <p:cBhvr additive="base">
                                        <p:cTn id="25" dur="500" fill="hold"/>
                                        <p:tgtEl>
                                          <p:spTgt spid="52109485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10948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3438502"/>
                                        </p:tgtEl>
                                        <p:attrNameLst>
                                          <p:attrName>style.visibility</p:attrName>
                                        </p:attrNameLst>
                                      </p:cBhvr>
                                      <p:to>
                                        <p:strVal val="visible"/>
                                      </p:to>
                                    </p:set>
                                    <p:anim calcmode="lin" valueType="num">
                                      <p:cBhvr additive="base">
                                        <p:cTn id="31" dur="500" fill="hold"/>
                                        <p:tgtEl>
                                          <p:spTgt spid="253438502"/>
                                        </p:tgtEl>
                                        <p:attrNameLst>
                                          <p:attrName>ppt_x</p:attrName>
                                        </p:attrNameLst>
                                      </p:cBhvr>
                                      <p:tavLst>
                                        <p:tav tm="0">
                                          <p:val>
                                            <p:strVal val="#ppt_x"/>
                                          </p:val>
                                        </p:tav>
                                        <p:tav tm="100000">
                                          <p:val>
                                            <p:strVal val="#ppt_x"/>
                                          </p:val>
                                        </p:tav>
                                      </p:tavLst>
                                    </p:anim>
                                    <p:anim calcmode="lin" valueType="num">
                                      <p:cBhvr additive="base">
                                        <p:cTn id="32" dur="500" fill="hold"/>
                                        <p:tgtEl>
                                          <p:spTgt spid="2534385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094851"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4018889" name="Title 1"/>
          <p:cNvSpPr>
            <a:spLocks noGrp="1"/>
          </p:cNvSpPr>
          <p:nvPr>
            <p:ph type="title"/>
          </p:nvPr>
        </p:nvSpPr>
        <p:spPr bwMode="auto">
          <a:xfrm>
            <a:off x="685800" y="685800"/>
            <a:ext cx="8229600" cy="639762"/>
          </a:xfrm>
        </p:spPr>
        <p:txBody>
          <a:bodyPr>
            <a:normAutofit fontScale="90000"/>
          </a:bodyPr>
          <a:lstStyle/>
          <a:p>
            <a:pPr>
              <a:defRPr/>
            </a:pPr>
            <a:r>
              <a:rPr lang="en-US"/>
              <a:t>Crisp Logic</a:t>
            </a:r>
            <a:endParaRPr/>
          </a:p>
        </p:txBody>
      </p:sp>
      <p:sp>
        <p:nvSpPr>
          <p:cNvPr id="335098458" name="Content Placeholder 2"/>
          <p:cNvSpPr>
            <a:spLocks noGrp="1"/>
          </p:cNvSpPr>
          <p:nvPr>
            <p:ph idx="1"/>
          </p:nvPr>
        </p:nvSpPr>
        <p:spPr bwMode="auto">
          <a:xfrm>
            <a:off x="0" y="1447800"/>
            <a:ext cx="9067800" cy="4724399"/>
          </a:xfrm>
        </p:spPr>
        <p:txBody>
          <a:bodyPr>
            <a:normAutofit/>
          </a:bodyPr>
          <a:lstStyle/>
          <a:p>
            <a:pPr>
              <a:defRPr/>
            </a:pPr>
            <a:r>
              <a:rPr lang="en-US"/>
              <a:t>Traditional Set Theory views the world as black and white (B/W), (True/False), (Yes/No), (0/1). </a:t>
            </a:r>
            <a:endParaRPr/>
          </a:p>
          <a:p>
            <a:pPr>
              <a:defRPr/>
            </a:pPr>
            <a:r>
              <a:rPr lang="en-US"/>
              <a:t>E.g. </a:t>
            </a:r>
            <a:r>
              <a:rPr lang="en-US" b="1"/>
              <a:t>Any one is </a:t>
            </a:r>
            <a:r>
              <a:rPr lang="en-US" b="1">
                <a:solidFill>
                  <a:srgbClr val="7030A0"/>
                </a:solidFill>
              </a:rPr>
              <a:t>child</a:t>
            </a:r>
            <a:r>
              <a:rPr lang="en-US" b="1"/>
              <a:t> if </a:t>
            </a:r>
            <a:r>
              <a:rPr lang="en-US" b="1">
                <a:solidFill>
                  <a:srgbClr val="FF0000"/>
                </a:solidFill>
              </a:rPr>
              <a:t>age</a:t>
            </a:r>
            <a:r>
              <a:rPr lang="en-US" b="1"/>
              <a:t> is less than 10.</a:t>
            </a:r>
            <a:r>
              <a:rPr lang="en-US"/>
              <a:t> </a:t>
            </a:r>
            <a:br>
              <a:rPr lang="en-US"/>
            </a:br>
            <a:r>
              <a:rPr lang="en-US"/>
              <a:t>On 11</a:t>
            </a:r>
            <a:r>
              <a:rPr lang="en-US" baseline="30000"/>
              <a:t>th</a:t>
            </a:r>
            <a:r>
              <a:rPr lang="en-US"/>
              <a:t> birthday his childhood suddenly vanish?</a:t>
            </a:r>
            <a:endParaRPr/>
          </a:p>
        </p:txBody>
      </p:sp>
      <p:pic>
        <p:nvPicPr>
          <p:cNvPr id="1826020645" name="Picture 3" descr="fig 0 - child.JPG"/>
          <p:cNvPicPr>
            <a:picLocks noChangeAspect="1"/>
          </p:cNvPicPr>
          <p:nvPr/>
        </p:nvPicPr>
        <p:blipFill rotWithShape="1">
          <a:blip r:embed="rId3"/>
          <a:stretch/>
        </p:blipFill>
        <p:spPr bwMode="auto">
          <a:xfrm>
            <a:off x="1981200" y="3179241"/>
            <a:ext cx="5105399" cy="367875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5098458">
                                            <p:txEl>
                                              <p:pRg st="0" end="0"/>
                                            </p:txEl>
                                          </p:spTgt>
                                        </p:tgtEl>
                                        <p:attrNameLst>
                                          <p:attrName>style.visibility</p:attrName>
                                        </p:attrNameLst>
                                      </p:cBhvr>
                                      <p:to>
                                        <p:strVal val="visible"/>
                                      </p:to>
                                    </p:set>
                                    <p:anim calcmode="lin" valueType="num">
                                      <p:cBhvr additive="base">
                                        <p:cTn id="7" dur="500" fill="hold"/>
                                        <p:tgtEl>
                                          <p:spTgt spid="33509845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50984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5098458">
                                            <p:txEl>
                                              <p:pRg st="1" end="1"/>
                                            </p:txEl>
                                          </p:spTgt>
                                        </p:tgtEl>
                                        <p:attrNameLst>
                                          <p:attrName>style.visibility</p:attrName>
                                        </p:attrNameLst>
                                      </p:cBhvr>
                                      <p:to>
                                        <p:strVal val="visible"/>
                                      </p:to>
                                    </p:set>
                                    <p:anim calcmode="lin" valueType="num">
                                      <p:cBhvr additive="base">
                                        <p:cTn id="13" dur="500" fill="hold"/>
                                        <p:tgtEl>
                                          <p:spTgt spid="33509845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509845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26020645"/>
                                        </p:tgtEl>
                                        <p:attrNameLst>
                                          <p:attrName>style.visibility</p:attrName>
                                        </p:attrNameLst>
                                      </p:cBhvr>
                                      <p:to>
                                        <p:strVal val="visible"/>
                                      </p:to>
                                    </p:set>
                                    <p:anim calcmode="lin" valueType="num">
                                      <p:cBhvr additive="base">
                                        <p:cTn id="19" dur="500" fill="hold"/>
                                        <p:tgtEl>
                                          <p:spTgt spid="1826020645"/>
                                        </p:tgtEl>
                                        <p:attrNameLst>
                                          <p:attrName>ppt_x</p:attrName>
                                        </p:attrNameLst>
                                      </p:cBhvr>
                                      <p:tavLst>
                                        <p:tav tm="0">
                                          <p:val>
                                            <p:strVal val="#ppt_x"/>
                                          </p:val>
                                        </p:tav>
                                        <p:tav tm="100000">
                                          <p:val>
                                            <p:strVal val="#ppt_x"/>
                                          </p:val>
                                        </p:tav>
                                      </p:tavLst>
                                    </p:anim>
                                    <p:anim calcmode="lin" valueType="num">
                                      <p:cBhvr additive="base">
                                        <p:cTn id="20" dur="500" fill="hold"/>
                                        <p:tgtEl>
                                          <p:spTgt spid="18260206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098458" grpId="0" build="p"/>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9236520" name="Title 1"/>
          <p:cNvSpPr>
            <a:spLocks noGrp="1"/>
          </p:cNvSpPr>
          <p:nvPr>
            <p:ph type="title"/>
          </p:nvPr>
        </p:nvSpPr>
        <p:spPr bwMode="auto">
          <a:xfrm>
            <a:off x="609600" y="655638"/>
            <a:ext cx="8229600" cy="715962"/>
          </a:xfrm>
        </p:spPr>
        <p:txBody>
          <a:bodyPr>
            <a:normAutofit fontScale="90000"/>
          </a:bodyPr>
          <a:lstStyle/>
          <a:p>
            <a:pPr>
              <a:defRPr/>
            </a:pPr>
            <a:r>
              <a:rPr lang="en-US"/>
              <a:t>Fuzzy Logic</a:t>
            </a:r>
            <a:endParaRPr/>
          </a:p>
        </p:txBody>
      </p:sp>
      <p:sp>
        <p:nvSpPr>
          <p:cNvPr id="694716230" name="Content Placeholder 2"/>
          <p:cNvSpPr>
            <a:spLocks noGrp="1"/>
          </p:cNvSpPr>
          <p:nvPr>
            <p:ph idx="1"/>
          </p:nvPr>
        </p:nvSpPr>
        <p:spPr bwMode="auto">
          <a:xfrm>
            <a:off x="0" y="1295400"/>
            <a:ext cx="8839200" cy="4144963"/>
          </a:xfrm>
        </p:spPr>
        <p:txBody>
          <a:bodyPr/>
          <a:lstStyle/>
          <a:p>
            <a:pPr>
              <a:defRPr/>
            </a:pPr>
            <a:r>
              <a:rPr lang="en-US" sz="2400"/>
              <a:t>Fuzzy Logic provides more reasonable interpretation of child. And assigns membership values between [0-1] (</a:t>
            </a:r>
            <a:r>
              <a:rPr lang="en-US" sz="2400">
                <a:solidFill>
                  <a:srgbClr val="FF0000"/>
                </a:solidFill>
              </a:rPr>
              <a:t>graceful transition</a:t>
            </a:r>
            <a:r>
              <a:rPr lang="en-US" sz="2400"/>
              <a:t>).</a:t>
            </a:r>
            <a:endParaRPr/>
          </a:p>
          <a:p>
            <a:pPr>
              <a:defRPr/>
            </a:pPr>
            <a:r>
              <a:rPr lang="en-US" sz="2400"/>
              <a:t>Here </a:t>
            </a:r>
            <a:r>
              <a:rPr lang="en-US" sz="2400">
                <a:solidFill>
                  <a:srgbClr val="FF0000"/>
                </a:solidFill>
              </a:rPr>
              <a:t>Age</a:t>
            </a:r>
            <a:r>
              <a:rPr lang="en-US" sz="2400"/>
              <a:t> is a Linguistic Variable and </a:t>
            </a:r>
            <a:r>
              <a:rPr lang="en-US" sz="2400">
                <a:solidFill>
                  <a:srgbClr val="7030A0"/>
                </a:solidFill>
              </a:rPr>
              <a:t>child</a:t>
            </a:r>
            <a:r>
              <a:rPr lang="en-US" sz="2400"/>
              <a:t> is one of the Fuzzy Sets.</a:t>
            </a:r>
            <a:endParaRPr/>
          </a:p>
          <a:p>
            <a:pPr>
              <a:defRPr/>
            </a:pPr>
            <a:r>
              <a:rPr lang="en-US" sz="2400"/>
              <a:t>Other sets may be Teenager, </a:t>
            </a:r>
            <a:r>
              <a:rPr lang="en-US" sz="2400">
                <a:solidFill>
                  <a:srgbClr val="7030A0"/>
                </a:solidFill>
              </a:rPr>
              <a:t>Young Adule, Mid-Age, Senior </a:t>
            </a:r>
            <a:r>
              <a:rPr lang="en-US" sz="2400"/>
              <a:t>etc. Each of these sets defined as an </a:t>
            </a:r>
            <a:r>
              <a:rPr lang="en-US" sz="2400">
                <a:solidFill>
                  <a:srgbClr val="FF0000"/>
                </a:solidFill>
              </a:rPr>
              <a:t>Adjective </a:t>
            </a:r>
            <a:r>
              <a:rPr lang="en-US" sz="2400"/>
              <a:t>on the linguistic variable.</a:t>
            </a:r>
            <a:endParaRPr/>
          </a:p>
          <a:p>
            <a:pPr>
              <a:defRPr/>
            </a:pPr>
            <a:endParaRPr lang="en-US"/>
          </a:p>
        </p:txBody>
      </p:sp>
      <p:pic>
        <p:nvPicPr>
          <p:cNvPr id="1257435043" name="Picture 3" descr="fig 1 - child.JPG"/>
          <p:cNvPicPr>
            <a:picLocks noChangeAspect="1"/>
          </p:cNvPicPr>
          <p:nvPr/>
        </p:nvPicPr>
        <p:blipFill rotWithShape="1">
          <a:blip r:embed="rId3"/>
          <a:stretch/>
        </p:blipFill>
        <p:spPr bwMode="auto">
          <a:xfrm>
            <a:off x="76200" y="3453773"/>
            <a:ext cx="4724399" cy="3404225"/>
          </a:xfrm>
          <a:prstGeom prst="rect">
            <a:avLst/>
          </a:prstGeom>
        </p:spPr>
      </p:pic>
      <p:pic>
        <p:nvPicPr>
          <p:cNvPr id="155543865" name="Picture 5"/>
          <p:cNvPicPr>
            <a:picLocks noChangeAspect="1"/>
          </p:cNvPicPr>
          <p:nvPr/>
        </p:nvPicPr>
        <p:blipFill rotWithShape="1">
          <a:blip r:embed="rId4"/>
          <a:stretch/>
        </p:blipFill>
        <p:spPr bwMode="auto">
          <a:xfrm>
            <a:off x="4830296" y="3493772"/>
            <a:ext cx="4295775" cy="33242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4716230">
                                            <p:txEl>
                                              <p:pRg st="0" end="0"/>
                                            </p:txEl>
                                          </p:spTgt>
                                        </p:tgtEl>
                                        <p:attrNameLst>
                                          <p:attrName>style.visibility</p:attrName>
                                        </p:attrNameLst>
                                      </p:cBhvr>
                                      <p:to>
                                        <p:strVal val="visible"/>
                                      </p:to>
                                    </p:set>
                                    <p:anim calcmode="lin" valueType="num">
                                      <p:cBhvr additive="base">
                                        <p:cTn id="7" dur="500" fill="hold"/>
                                        <p:tgtEl>
                                          <p:spTgt spid="6947162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47162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57435043"/>
                                        </p:tgtEl>
                                        <p:attrNameLst>
                                          <p:attrName>style.visibility</p:attrName>
                                        </p:attrNameLst>
                                      </p:cBhvr>
                                      <p:to>
                                        <p:strVal val="visible"/>
                                      </p:to>
                                    </p:set>
                                    <p:anim calcmode="lin" valueType="num">
                                      <p:cBhvr additive="base">
                                        <p:cTn id="13" dur="500" fill="hold"/>
                                        <p:tgtEl>
                                          <p:spTgt spid="1257435043"/>
                                        </p:tgtEl>
                                        <p:attrNameLst>
                                          <p:attrName>ppt_x</p:attrName>
                                        </p:attrNameLst>
                                      </p:cBhvr>
                                      <p:tavLst>
                                        <p:tav tm="0">
                                          <p:val>
                                            <p:strVal val="#ppt_x"/>
                                          </p:val>
                                        </p:tav>
                                        <p:tav tm="100000">
                                          <p:val>
                                            <p:strVal val="#ppt_x"/>
                                          </p:val>
                                        </p:tav>
                                      </p:tavLst>
                                    </p:anim>
                                    <p:anim calcmode="lin" valueType="num">
                                      <p:cBhvr additive="base">
                                        <p:cTn id="14" dur="500" fill="hold"/>
                                        <p:tgtEl>
                                          <p:spTgt spid="125743504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4716230">
                                            <p:txEl>
                                              <p:pRg st="1" end="1"/>
                                            </p:txEl>
                                          </p:spTgt>
                                        </p:tgtEl>
                                        <p:attrNameLst>
                                          <p:attrName>style.visibility</p:attrName>
                                        </p:attrNameLst>
                                      </p:cBhvr>
                                      <p:to>
                                        <p:strVal val="visible"/>
                                      </p:to>
                                    </p:set>
                                    <p:anim calcmode="lin" valueType="num">
                                      <p:cBhvr additive="base">
                                        <p:cTn id="19" dur="500" fill="hold"/>
                                        <p:tgtEl>
                                          <p:spTgt spid="69471623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47162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4716230">
                                            <p:txEl>
                                              <p:pRg st="2" end="2"/>
                                            </p:txEl>
                                          </p:spTgt>
                                        </p:tgtEl>
                                        <p:attrNameLst>
                                          <p:attrName>style.visibility</p:attrName>
                                        </p:attrNameLst>
                                      </p:cBhvr>
                                      <p:to>
                                        <p:strVal val="visible"/>
                                      </p:to>
                                    </p:set>
                                    <p:anim calcmode="lin" valueType="num">
                                      <p:cBhvr additive="base">
                                        <p:cTn id="25" dur="500" fill="hold"/>
                                        <p:tgtEl>
                                          <p:spTgt spid="69471623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471623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716230"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7306066" name="Title 1"/>
          <p:cNvSpPr>
            <a:spLocks noGrp="1"/>
          </p:cNvSpPr>
          <p:nvPr>
            <p:ph type="title"/>
          </p:nvPr>
        </p:nvSpPr>
        <p:spPr bwMode="auto">
          <a:xfrm>
            <a:off x="457200" y="457200"/>
            <a:ext cx="8229600" cy="685800"/>
          </a:xfrm>
        </p:spPr>
        <p:txBody>
          <a:bodyPr>
            <a:normAutofit/>
          </a:bodyPr>
          <a:lstStyle/>
          <a:p>
            <a:pPr algn="ctr">
              <a:defRPr/>
            </a:pPr>
            <a:r>
              <a:rPr lang="en-US" sz="4000"/>
              <a:t>Fuzzy Set – Formal Definition</a:t>
            </a:r>
            <a:endParaRPr/>
          </a:p>
        </p:txBody>
      </p:sp>
      <p:sp>
        <p:nvSpPr>
          <p:cNvPr id="1909600106" name="Content Placeholder 2"/>
          <p:cNvSpPr>
            <a:spLocks noGrp="1"/>
          </p:cNvSpPr>
          <p:nvPr>
            <p:ph idx="1"/>
          </p:nvPr>
        </p:nvSpPr>
        <p:spPr bwMode="auto">
          <a:xfrm>
            <a:off x="152400" y="1219200"/>
            <a:ext cx="8610600" cy="4922520"/>
          </a:xfrm>
        </p:spPr>
        <p:txBody>
          <a:bodyPr>
            <a:normAutofit/>
          </a:bodyPr>
          <a:lstStyle/>
          <a:p>
            <a:pPr>
              <a:defRPr/>
            </a:pPr>
            <a:r>
              <a:rPr lang="en-US" sz="2400"/>
              <a:t>Let </a:t>
            </a:r>
            <a:r>
              <a:rPr lang="en-US" sz="2400">
                <a:solidFill>
                  <a:srgbClr val="FF0000"/>
                </a:solidFill>
              </a:rPr>
              <a:t>X</a:t>
            </a:r>
            <a:r>
              <a:rPr lang="en-US" sz="2400"/>
              <a:t> be the Universe of Discourse with the elements of X denoted as </a:t>
            </a:r>
            <a:r>
              <a:rPr lang="en-US" sz="2400">
                <a:solidFill>
                  <a:srgbClr val="FF0000"/>
                </a:solidFill>
              </a:rPr>
              <a:t>x</a:t>
            </a:r>
            <a:r>
              <a:rPr lang="en-US" sz="2400"/>
              <a:t>, </a:t>
            </a:r>
            <a:br>
              <a:rPr lang="en-US" sz="2400"/>
            </a:br>
            <a:r>
              <a:rPr lang="en-US" sz="2400"/>
              <a:t>A fuzzy set </a:t>
            </a:r>
            <a:r>
              <a:rPr lang="en-US" sz="2400">
                <a:solidFill>
                  <a:srgbClr val="FF0000"/>
                </a:solidFill>
              </a:rPr>
              <a:t>A</a:t>
            </a:r>
            <a:r>
              <a:rPr lang="en-US" sz="2400"/>
              <a:t> of </a:t>
            </a:r>
            <a:r>
              <a:rPr lang="en-US" sz="2400">
                <a:solidFill>
                  <a:srgbClr val="FF0000"/>
                </a:solidFill>
              </a:rPr>
              <a:t>X </a:t>
            </a:r>
            <a:r>
              <a:rPr lang="en-US" sz="2400"/>
              <a:t>is characterized by a membership function </a:t>
            </a:r>
            <a:r>
              <a:rPr lang="el-GR" sz="2400">
                <a:solidFill>
                  <a:srgbClr val="FF0000"/>
                </a:solidFill>
              </a:rPr>
              <a:t>μ</a:t>
            </a:r>
            <a:r>
              <a:rPr lang="en-US" sz="2400" baseline="-25000">
                <a:solidFill>
                  <a:srgbClr val="FF0000"/>
                </a:solidFill>
              </a:rPr>
              <a:t>A</a:t>
            </a:r>
            <a:r>
              <a:rPr lang="en-US" sz="2400">
                <a:solidFill>
                  <a:srgbClr val="FF0000"/>
                </a:solidFill>
              </a:rPr>
              <a:t>(x)</a:t>
            </a:r>
            <a:r>
              <a:rPr lang="en-US" sz="2400"/>
              <a:t> that </a:t>
            </a:r>
            <a:br>
              <a:rPr lang="en-US" sz="2400"/>
            </a:br>
            <a:r>
              <a:rPr lang="en-US" sz="2400"/>
              <a:t>associates each element </a:t>
            </a:r>
            <a:r>
              <a:rPr lang="en-US" sz="2400">
                <a:solidFill>
                  <a:srgbClr val="FF0000"/>
                </a:solidFill>
              </a:rPr>
              <a:t>x</a:t>
            </a:r>
            <a:r>
              <a:rPr lang="en-US" sz="2400"/>
              <a:t> with a degree of membership (or </a:t>
            </a:r>
            <a:r>
              <a:rPr lang="en-US" sz="2400">
                <a:solidFill>
                  <a:srgbClr val="FF0000"/>
                </a:solidFill>
              </a:rPr>
              <a:t>belief</a:t>
            </a:r>
            <a:r>
              <a:rPr lang="en-US" sz="2400"/>
              <a:t>) in A, a </a:t>
            </a:r>
            <a:r>
              <a:rPr lang="en-US" sz="2400">
                <a:solidFill>
                  <a:srgbClr val="FF0000"/>
                </a:solidFill>
              </a:rPr>
              <a:t>real value (in the range of 0-1)</a:t>
            </a:r>
            <a:r>
              <a:rPr lang="en-US" sz="2400"/>
              <a:t>.</a:t>
            </a:r>
            <a:endParaRPr/>
          </a:p>
          <a:p>
            <a:pPr algn="ctr">
              <a:buNone/>
              <a:defRPr/>
            </a:pPr>
            <a:r>
              <a:rPr lang="el-GR" sz="2400"/>
              <a:t>μ</a:t>
            </a:r>
            <a:r>
              <a:rPr lang="en-US" sz="2400" baseline="-25000"/>
              <a:t>A</a:t>
            </a:r>
            <a:r>
              <a:rPr lang="en-US" sz="2400"/>
              <a:t>(x)  = Degree(X </a:t>
            </a:r>
            <a:r>
              <a:rPr lang="en-US" sz="2400"/>
              <a:t> </a:t>
            </a:r>
            <a:r>
              <a:rPr lang="en-US" sz="2400"/>
              <a:t>A)</a:t>
            </a:r>
            <a:endParaRPr lang="en-US" sz="2400"/>
          </a:p>
          <a:p>
            <a:pPr>
              <a:defRPr/>
            </a:pPr>
            <a:r>
              <a:rPr lang="en-US" sz="2400"/>
              <a:t>Whereas Crisp set is a special case of fuzzy set in which only </a:t>
            </a:r>
            <a:r>
              <a:rPr lang="en-US" sz="2400">
                <a:solidFill>
                  <a:srgbClr val="FF0000"/>
                </a:solidFill>
              </a:rPr>
              <a:t>whole (or boundary) values of 0, 1</a:t>
            </a:r>
            <a:r>
              <a:rPr lang="en-US" sz="2400"/>
              <a:t> can be assigned.</a:t>
            </a:r>
            <a:endParaRPr/>
          </a:p>
          <a:p>
            <a:pPr>
              <a:defRPr/>
            </a:pPr>
            <a:endParaRPr lang="en-US" sz="2400"/>
          </a:p>
        </p:txBody>
      </p:sp>
      <p:pic>
        <p:nvPicPr>
          <p:cNvPr id="1524003576" name="Picture 4" descr="Fuzzy Expression - an overview | ScienceDirect Topics"/>
          <p:cNvPicPr>
            <a:picLocks noChangeAspect="1"/>
          </p:cNvPicPr>
          <p:nvPr/>
        </p:nvPicPr>
        <p:blipFill rotWithShape="1">
          <a:blip r:embed="rId3"/>
          <a:stretch/>
        </p:blipFill>
        <p:spPr bwMode="auto">
          <a:xfrm>
            <a:off x="3352800" y="4953000"/>
            <a:ext cx="2702740" cy="16507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09600106">
                                            <p:txEl>
                                              <p:pRg st="0" end="0"/>
                                            </p:txEl>
                                          </p:spTgt>
                                        </p:tgtEl>
                                        <p:attrNameLst>
                                          <p:attrName>style.visibility</p:attrName>
                                        </p:attrNameLst>
                                      </p:cBhvr>
                                      <p:to>
                                        <p:strVal val="visible"/>
                                      </p:to>
                                    </p:set>
                                    <p:anim calcmode="lin" valueType="num">
                                      <p:cBhvr additive="base">
                                        <p:cTn id="7" dur="500" fill="hold"/>
                                        <p:tgtEl>
                                          <p:spTgt spid="19096001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96001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09600106">
                                            <p:txEl>
                                              <p:pRg st="1" end="1"/>
                                            </p:txEl>
                                          </p:spTgt>
                                        </p:tgtEl>
                                        <p:attrNameLst>
                                          <p:attrName>style.visibility</p:attrName>
                                        </p:attrNameLst>
                                      </p:cBhvr>
                                      <p:to>
                                        <p:strVal val="visible"/>
                                      </p:to>
                                    </p:set>
                                    <p:anim calcmode="lin" valueType="num">
                                      <p:cBhvr additive="base">
                                        <p:cTn id="13" dur="500" fill="hold"/>
                                        <p:tgtEl>
                                          <p:spTgt spid="190960010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096001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09600106">
                                            <p:txEl>
                                              <p:pRg st="2" end="2"/>
                                            </p:txEl>
                                          </p:spTgt>
                                        </p:tgtEl>
                                        <p:attrNameLst>
                                          <p:attrName>style.visibility</p:attrName>
                                        </p:attrNameLst>
                                      </p:cBhvr>
                                      <p:to>
                                        <p:strVal val="visible"/>
                                      </p:to>
                                    </p:set>
                                    <p:anim calcmode="lin" valueType="num">
                                      <p:cBhvr additive="base">
                                        <p:cTn id="19" dur="500" fill="hold"/>
                                        <p:tgtEl>
                                          <p:spTgt spid="190960010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0960010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9600106" grpId="0" build="p"/>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0869438" name="Title 1"/>
          <p:cNvSpPr>
            <a:spLocks noGrp="1"/>
          </p:cNvSpPr>
          <p:nvPr>
            <p:ph type="title"/>
          </p:nvPr>
        </p:nvSpPr>
        <p:spPr bwMode="auto">
          <a:xfrm>
            <a:off x="1447800" y="76200"/>
            <a:ext cx="7162800" cy="1143000"/>
          </a:xfrm>
        </p:spPr>
        <p:txBody>
          <a:bodyPr>
            <a:normAutofit/>
          </a:bodyPr>
          <a:lstStyle/>
          <a:p>
            <a:pPr>
              <a:defRPr/>
            </a:pPr>
            <a:r>
              <a:rPr lang="en-US"/>
              <a:t>Crisp vs Fuzzy Set of Tall</a:t>
            </a:r>
            <a:endParaRPr/>
          </a:p>
        </p:txBody>
      </p:sp>
      <p:pic>
        <p:nvPicPr>
          <p:cNvPr id="790876279" name="Picture 4" descr="fuzzy_tall.gif"/>
          <p:cNvPicPr>
            <a:picLocks noChangeAspect="1"/>
          </p:cNvPicPr>
          <p:nvPr/>
        </p:nvPicPr>
        <p:blipFill rotWithShape="1">
          <a:blip r:embed="rId3"/>
          <a:stretch/>
        </p:blipFill>
        <p:spPr bwMode="auto">
          <a:xfrm>
            <a:off x="1735931" y="1371600"/>
            <a:ext cx="6586538" cy="530476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5356035" name="Title 1"/>
          <p:cNvSpPr>
            <a:spLocks noGrp="1"/>
          </p:cNvSpPr>
          <p:nvPr>
            <p:ph type="title"/>
          </p:nvPr>
        </p:nvSpPr>
        <p:spPr bwMode="auto">
          <a:xfrm>
            <a:off x="609600" y="152400"/>
            <a:ext cx="8229600" cy="563562"/>
          </a:xfrm>
        </p:spPr>
        <p:txBody>
          <a:bodyPr>
            <a:normAutofit fontScale="90000"/>
          </a:bodyPr>
          <a:lstStyle/>
          <a:p>
            <a:pPr>
              <a:defRPr/>
            </a:pPr>
            <a:r>
              <a:rPr lang="en-US"/>
              <a:t>Fuzzy Set Representation</a:t>
            </a:r>
            <a:endParaRPr/>
          </a:p>
        </p:txBody>
      </p:sp>
      <p:sp>
        <p:nvSpPr>
          <p:cNvPr id="771961833" name="Content Placeholder 2"/>
          <p:cNvSpPr>
            <a:spLocks noGrp="1"/>
          </p:cNvSpPr>
          <p:nvPr>
            <p:ph idx="1"/>
          </p:nvPr>
        </p:nvSpPr>
        <p:spPr bwMode="auto">
          <a:xfrm>
            <a:off x="152400" y="685800"/>
            <a:ext cx="8763000" cy="2544762"/>
          </a:xfrm>
        </p:spPr>
        <p:txBody>
          <a:bodyPr>
            <a:noAutofit/>
          </a:bodyPr>
          <a:lstStyle/>
          <a:p>
            <a:pPr>
              <a:defRPr/>
            </a:pPr>
            <a:r>
              <a:rPr lang="en-US" sz="2400"/>
              <a:t>A = (</a:t>
            </a:r>
            <a:r>
              <a:rPr lang="el-GR" sz="2400"/>
              <a:t>μ</a:t>
            </a:r>
            <a:r>
              <a:rPr lang="en-US" sz="2400" baseline="-25000"/>
              <a:t>1</a:t>
            </a:r>
            <a:r>
              <a:rPr lang="en-US" sz="2400"/>
              <a:t>/x</a:t>
            </a:r>
            <a:r>
              <a:rPr lang="en-US" sz="2400" baseline="-25000"/>
              <a:t>1,</a:t>
            </a:r>
            <a:r>
              <a:rPr lang="el-GR" sz="2400"/>
              <a:t> </a:t>
            </a:r>
            <a:r>
              <a:rPr lang="en-US" sz="2400"/>
              <a:t> </a:t>
            </a:r>
            <a:r>
              <a:rPr lang="el-GR" sz="2400"/>
              <a:t>μ</a:t>
            </a:r>
            <a:r>
              <a:rPr lang="en-US" sz="2400" baseline="-25000"/>
              <a:t>2</a:t>
            </a:r>
            <a:r>
              <a:rPr lang="en-US" sz="2400"/>
              <a:t>/x</a:t>
            </a:r>
            <a:r>
              <a:rPr lang="en-US" sz="2400" baseline="-25000"/>
              <a:t>2,</a:t>
            </a:r>
            <a:r>
              <a:rPr lang="el-GR" sz="2400"/>
              <a:t> </a:t>
            </a:r>
            <a:r>
              <a:rPr lang="en-US" sz="2400"/>
              <a:t> </a:t>
            </a:r>
            <a:r>
              <a:rPr lang="el-GR" sz="2400"/>
              <a:t>μ</a:t>
            </a:r>
            <a:r>
              <a:rPr lang="en-US" sz="2400" baseline="-25000"/>
              <a:t>3</a:t>
            </a:r>
            <a:r>
              <a:rPr lang="en-US" sz="2400"/>
              <a:t>/x</a:t>
            </a:r>
            <a:r>
              <a:rPr lang="en-US" sz="2400" baseline="-25000"/>
              <a:t>3,</a:t>
            </a:r>
            <a:r>
              <a:rPr lang="el-GR" sz="2400"/>
              <a:t> </a:t>
            </a:r>
            <a:r>
              <a:rPr lang="en-US" sz="2400"/>
              <a:t> </a:t>
            </a:r>
            <a:r>
              <a:rPr lang="el-GR" sz="2400"/>
              <a:t>μ</a:t>
            </a:r>
            <a:r>
              <a:rPr lang="en-US" sz="2400" baseline="-25000"/>
              <a:t>4</a:t>
            </a:r>
            <a:r>
              <a:rPr lang="en-US" sz="2400"/>
              <a:t>/x</a:t>
            </a:r>
            <a:r>
              <a:rPr lang="en-US" sz="2400" baseline="-25000"/>
              <a:t>4,</a:t>
            </a:r>
            <a:r>
              <a:rPr lang="el-GR" sz="2400"/>
              <a:t> </a:t>
            </a:r>
            <a:r>
              <a:rPr lang="en-US" sz="2400"/>
              <a:t> </a:t>
            </a:r>
            <a:r>
              <a:rPr lang="el-GR" sz="2400"/>
              <a:t>μ</a:t>
            </a:r>
            <a:r>
              <a:rPr lang="en-US" sz="2400" baseline="-25000"/>
              <a:t>5</a:t>
            </a:r>
            <a:r>
              <a:rPr lang="en-US" sz="2400"/>
              <a:t>/x</a:t>
            </a:r>
            <a:r>
              <a:rPr lang="en-US" sz="2400" baseline="-25000"/>
              <a:t>5</a:t>
            </a:r>
            <a:r>
              <a:rPr lang="en-US" sz="2400"/>
              <a:t>) is called a </a:t>
            </a:r>
            <a:r>
              <a:rPr lang="en-US" sz="2400">
                <a:solidFill>
                  <a:srgbClr val="FF0000"/>
                </a:solidFill>
              </a:rPr>
              <a:t>Fit-Vector</a:t>
            </a:r>
            <a:endParaRPr/>
          </a:p>
          <a:p>
            <a:pPr lvl="1">
              <a:defRPr/>
            </a:pPr>
            <a:r>
              <a:rPr lang="en-US" sz="2200"/>
              <a:t>Short = (1/4, 1/4.5, 0.7/5, 0.3/5.5, 0/6)</a:t>
            </a:r>
            <a:endParaRPr/>
          </a:p>
          <a:p>
            <a:pPr lvl="1">
              <a:defRPr/>
            </a:pPr>
            <a:r>
              <a:rPr lang="en-US" sz="2200"/>
              <a:t>Medium/Average = (0/4.5, 0.5/5, 1/5.5, 0.5/6, 0/6.5)</a:t>
            </a:r>
            <a:endParaRPr/>
          </a:p>
          <a:p>
            <a:pPr lvl="1">
              <a:defRPr/>
            </a:pPr>
            <a:r>
              <a:rPr lang="en-US" sz="2200"/>
              <a:t>Tall = (0/5, 0.3/5.5, 0.7/6, 1/6.5, 1/7)</a:t>
            </a:r>
            <a:endParaRPr/>
          </a:p>
          <a:p>
            <a:pPr lvl="1">
              <a:defRPr/>
            </a:pPr>
            <a:endParaRPr lang="en-US" sz="2200"/>
          </a:p>
          <a:p>
            <a:pPr algn="ctr">
              <a:defRPr/>
            </a:pPr>
            <a:r>
              <a:rPr lang="en-US" sz="2400"/>
              <a:t>Membership Value (or </a:t>
            </a:r>
            <a:r>
              <a:rPr lang="en-US" sz="2400">
                <a:solidFill>
                  <a:srgbClr val="FF0000"/>
                </a:solidFill>
              </a:rPr>
              <a:t>Belief</a:t>
            </a:r>
            <a:r>
              <a:rPr lang="en-US" sz="2400"/>
              <a:t>) of 5.5 feet </a:t>
            </a:r>
            <a:r>
              <a:rPr lang="en-US" sz="2400">
                <a:solidFill>
                  <a:srgbClr val="FF0000"/>
                </a:solidFill>
              </a:rPr>
              <a:t>Height </a:t>
            </a:r>
            <a:r>
              <a:rPr lang="en-US" sz="2400"/>
              <a:t>(A Fuzzy Variable) in each Fuzzy Set. </a:t>
            </a:r>
            <a:br>
              <a:rPr lang="en-US" sz="2400"/>
            </a:br>
            <a:r>
              <a:rPr lang="el-GR" sz="2400"/>
              <a:t>μ</a:t>
            </a:r>
            <a:r>
              <a:rPr lang="en-US" sz="2400" baseline="-25000"/>
              <a:t>Short</a:t>
            </a:r>
            <a:r>
              <a:rPr lang="en-US" sz="2400"/>
              <a:t>(5.5)=0.3,</a:t>
            </a:r>
            <a:r>
              <a:rPr lang="el-GR" sz="2400"/>
              <a:t> μ</a:t>
            </a:r>
            <a:r>
              <a:rPr lang="en-US" sz="2400" baseline="-25000"/>
              <a:t>Medium</a:t>
            </a:r>
            <a:r>
              <a:rPr lang="en-US" sz="2400"/>
              <a:t>(5.5)=1,</a:t>
            </a:r>
            <a:r>
              <a:rPr lang="el-GR" sz="2400"/>
              <a:t> μ</a:t>
            </a:r>
            <a:r>
              <a:rPr lang="en-US" sz="2400" baseline="-25000"/>
              <a:t>Tall</a:t>
            </a:r>
            <a:r>
              <a:rPr lang="en-US" sz="2400"/>
              <a:t>(5.5)=0.3</a:t>
            </a:r>
            <a:endParaRPr/>
          </a:p>
        </p:txBody>
      </p:sp>
      <p:pic>
        <p:nvPicPr>
          <p:cNvPr id="704109879" name="Picture 5" descr="ex1.jpg"/>
          <p:cNvPicPr>
            <a:picLocks noChangeAspect="1"/>
          </p:cNvPicPr>
          <p:nvPr/>
        </p:nvPicPr>
        <p:blipFill rotWithShape="1">
          <a:blip r:embed="rId3"/>
          <a:stretch/>
        </p:blipFill>
        <p:spPr bwMode="auto">
          <a:xfrm>
            <a:off x="76200" y="4267200"/>
            <a:ext cx="3657600" cy="2286000"/>
          </a:xfrm>
          <a:prstGeom prst="rect">
            <a:avLst/>
          </a:prstGeom>
          <a:ln w="6350">
            <a:solidFill>
              <a:schemeClr val="tx1"/>
            </a:solidFill>
          </a:ln>
        </p:spPr>
      </p:pic>
      <p:pic>
        <p:nvPicPr>
          <p:cNvPr id="2112806311" name="Picture 6" descr="fig 2 - height fuzzy set.JPG"/>
          <p:cNvPicPr>
            <a:picLocks noChangeAspect="1"/>
          </p:cNvPicPr>
          <p:nvPr/>
        </p:nvPicPr>
        <p:blipFill rotWithShape="1">
          <a:blip r:embed="rId4"/>
          <a:stretch/>
        </p:blipFill>
        <p:spPr bwMode="auto">
          <a:xfrm>
            <a:off x="3880037" y="4239246"/>
            <a:ext cx="5210175" cy="23419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1961833">
                                            <p:txEl>
                                              <p:pRg st="0" end="0"/>
                                            </p:txEl>
                                          </p:spTgt>
                                        </p:tgtEl>
                                        <p:attrNameLst>
                                          <p:attrName>style.visibility</p:attrName>
                                        </p:attrNameLst>
                                      </p:cBhvr>
                                      <p:to>
                                        <p:strVal val="visible"/>
                                      </p:to>
                                    </p:set>
                                    <p:anim calcmode="lin" valueType="num">
                                      <p:cBhvr additive="base">
                                        <p:cTn id="7" dur="500" fill="hold"/>
                                        <p:tgtEl>
                                          <p:spTgt spid="7719618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196183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71961833">
                                            <p:txEl>
                                              <p:pRg st="1" end="1"/>
                                            </p:txEl>
                                          </p:spTgt>
                                        </p:tgtEl>
                                        <p:attrNameLst>
                                          <p:attrName>style.visibility</p:attrName>
                                        </p:attrNameLst>
                                      </p:cBhvr>
                                      <p:to>
                                        <p:strVal val="visible"/>
                                      </p:to>
                                    </p:set>
                                    <p:anim calcmode="lin" valueType="num">
                                      <p:cBhvr additive="base">
                                        <p:cTn id="11" dur="500" fill="hold"/>
                                        <p:tgtEl>
                                          <p:spTgt spid="77196183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7196183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71961833">
                                            <p:txEl>
                                              <p:pRg st="2" end="2"/>
                                            </p:txEl>
                                          </p:spTgt>
                                        </p:tgtEl>
                                        <p:attrNameLst>
                                          <p:attrName>style.visibility</p:attrName>
                                        </p:attrNameLst>
                                      </p:cBhvr>
                                      <p:to>
                                        <p:strVal val="visible"/>
                                      </p:to>
                                    </p:set>
                                    <p:anim calcmode="lin" valueType="num">
                                      <p:cBhvr additive="base">
                                        <p:cTn id="15" dur="500" fill="hold"/>
                                        <p:tgtEl>
                                          <p:spTgt spid="77196183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7196183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71961833">
                                            <p:txEl>
                                              <p:pRg st="3" end="3"/>
                                            </p:txEl>
                                          </p:spTgt>
                                        </p:tgtEl>
                                        <p:attrNameLst>
                                          <p:attrName>style.visibility</p:attrName>
                                        </p:attrNameLst>
                                      </p:cBhvr>
                                      <p:to>
                                        <p:strVal val="visible"/>
                                      </p:to>
                                    </p:set>
                                    <p:anim calcmode="lin" valueType="num">
                                      <p:cBhvr additive="base">
                                        <p:cTn id="19" dur="500" fill="hold"/>
                                        <p:tgtEl>
                                          <p:spTgt spid="77196183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719618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71961833">
                                            <p:txEl>
                                              <p:pRg st="5" end="5"/>
                                            </p:txEl>
                                          </p:spTgt>
                                        </p:tgtEl>
                                        <p:attrNameLst>
                                          <p:attrName>style.visibility</p:attrName>
                                        </p:attrNameLst>
                                      </p:cBhvr>
                                      <p:to>
                                        <p:strVal val="visible"/>
                                      </p:to>
                                    </p:set>
                                    <p:anim calcmode="lin" valueType="num">
                                      <p:cBhvr additive="base">
                                        <p:cTn id="25" dur="500" fill="hold"/>
                                        <p:tgtEl>
                                          <p:spTgt spid="77196183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7196183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04109879"/>
                                        </p:tgtEl>
                                        <p:attrNameLst>
                                          <p:attrName>style.visibility</p:attrName>
                                        </p:attrNameLst>
                                      </p:cBhvr>
                                      <p:to>
                                        <p:strVal val="visible"/>
                                      </p:to>
                                    </p:set>
                                    <p:anim calcmode="lin" valueType="num">
                                      <p:cBhvr additive="base">
                                        <p:cTn id="31" dur="500" fill="hold"/>
                                        <p:tgtEl>
                                          <p:spTgt spid="704109879"/>
                                        </p:tgtEl>
                                        <p:attrNameLst>
                                          <p:attrName>ppt_x</p:attrName>
                                        </p:attrNameLst>
                                      </p:cBhvr>
                                      <p:tavLst>
                                        <p:tav tm="0">
                                          <p:val>
                                            <p:strVal val="#ppt_x"/>
                                          </p:val>
                                        </p:tav>
                                        <p:tav tm="100000">
                                          <p:val>
                                            <p:strVal val="#ppt_x"/>
                                          </p:val>
                                        </p:tav>
                                      </p:tavLst>
                                    </p:anim>
                                    <p:anim calcmode="lin" valueType="num">
                                      <p:cBhvr additive="base">
                                        <p:cTn id="32" dur="500" fill="hold"/>
                                        <p:tgtEl>
                                          <p:spTgt spid="7041098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96183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6789651" name="Title 1"/>
          <p:cNvSpPr>
            <a:spLocks noGrp="1"/>
          </p:cNvSpPr>
          <p:nvPr>
            <p:ph type="title"/>
          </p:nvPr>
        </p:nvSpPr>
        <p:spPr bwMode="auto">
          <a:xfrm>
            <a:off x="685800" y="304800"/>
            <a:ext cx="8229600" cy="1143000"/>
          </a:xfrm>
        </p:spPr>
        <p:txBody>
          <a:bodyPr/>
          <a:lstStyle/>
          <a:p>
            <a:pPr>
              <a:defRPr/>
            </a:pPr>
            <a:r>
              <a:rPr lang="en-US"/>
              <a:t>Hedges (Adverbs)</a:t>
            </a:r>
            <a:endParaRPr/>
          </a:p>
        </p:txBody>
      </p:sp>
      <p:sp>
        <p:nvSpPr>
          <p:cNvPr id="1261541133" name="Content Placeholder 2"/>
          <p:cNvSpPr>
            <a:spLocks noGrp="1"/>
          </p:cNvSpPr>
          <p:nvPr>
            <p:ph idx="1"/>
          </p:nvPr>
        </p:nvSpPr>
        <p:spPr bwMode="auto">
          <a:xfrm>
            <a:off x="0" y="1676400"/>
            <a:ext cx="8686800" cy="4648200"/>
          </a:xfrm>
        </p:spPr>
        <p:txBody>
          <a:bodyPr>
            <a:noAutofit/>
          </a:bodyPr>
          <a:lstStyle/>
          <a:p>
            <a:pPr>
              <a:defRPr/>
            </a:pPr>
            <a:r>
              <a:rPr lang="en-US" sz="2400"/>
              <a:t>Used For Additional Vagueness</a:t>
            </a:r>
            <a:endParaRPr/>
          </a:p>
          <a:p>
            <a:pPr lvl="1">
              <a:defRPr/>
            </a:pPr>
            <a:r>
              <a:rPr lang="en-US">
                <a:solidFill>
                  <a:srgbClr val="00B050"/>
                </a:solidFill>
              </a:rPr>
              <a:t>Very</a:t>
            </a:r>
            <a:r>
              <a:rPr lang="en-US"/>
              <a:t>, </a:t>
            </a:r>
            <a:r>
              <a:rPr lang="en-US">
                <a:solidFill>
                  <a:srgbClr val="00B050"/>
                </a:solidFill>
              </a:rPr>
              <a:t>Slightly</a:t>
            </a:r>
            <a:r>
              <a:rPr lang="en-US"/>
              <a:t>, </a:t>
            </a:r>
            <a:r>
              <a:rPr lang="en-US">
                <a:solidFill>
                  <a:srgbClr val="00B050"/>
                </a:solidFill>
              </a:rPr>
              <a:t>Somewhat </a:t>
            </a:r>
            <a:endParaRPr/>
          </a:p>
          <a:p>
            <a:pPr lvl="1">
              <a:defRPr/>
            </a:pPr>
            <a:br>
              <a:rPr lang="en-US"/>
            </a:br>
            <a:br>
              <a:rPr lang="en-US"/>
            </a:br>
            <a:endParaRPr lang="en-US"/>
          </a:p>
          <a:p>
            <a:pPr>
              <a:defRPr/>
            </a:pPr>
            <a:r>
              <a:rPr lang="en-US" sz="2400"/>
              <a:t>An Adverb is a word that modifies Verb, an Adjective, Another Adverb or a whole sentence. E.g.</a:t>
            </a:r>
            <a:endParaRPr/>
          </a:p>
          <a:p>
            <a:pPr lvl="1">
              <a:defRPr/>
            </a:pPr>
            <a:r>
              <a:rPr lang="en-US"/>
              <a:t>The person is </a:t>
            </a:r>
            <a:r>
              <a:rPr lang="en-US">
                <a:solidFill>
                  <a:srgbClr val="00B050"/>
                </a:solidFill>
              </a:rPr>
              <a:t>very</a:t>
            </a:r>
            <a:r>
              <a:rPr lang="en-US"/>
              <a:t> </a:t>
            </a:r>
            <a:r>
              <a:rPr lang="en-US">
                <a:solidFill>
                  <a:srgbClr val="7030A0"/>
                </a:solidFill>
              </a:rPr>
              <a:t>tall, </a:t>
            </a:r>
            <a:r>
              <a:rPr lang="en-US"/>
              <a:t>the person is </a:t>
            </a:r>
            <a:r>
              <a:rPr lang="en-US">
                <a:solidFill>
                  <a:srgbClr val="00B050"/>
                </a:solidFill>
              </a:rPr>
              <a:t>well</a:t>
            </a:r>
            <a:r>
              <a:rPr lang="en-US"/>
              <a:t> </a:t>
            </a:r>
            <a:r>
              <a:rPr lang="en-US">
                <a:solidFill>
                  <a:srgbClr val="7030A0"/>
                </a:solidFill>
              </a:rPr>
              <a:t>built</a:t>
            </a:r>
            <a:endParaRPr/>
          </a:p>
          <a:p>
            <a:pPr lvl="1">
              <a:defRPr/>
            </a:pPr>
            <a:r>
              <a:rPr lang="en-US"/>
              <a:t>Luggage is </a:t>
            </a:r>
            <a:r>
              <a:rPr lang="en-US">
                <a:solidFill>
                  <a:srgbClr val="00B050"/>
                </a:solidFill>
              </a:rPr>
              <a:t>much</a:t>
            </a:r>
            <a:r>
              <a:rPr lang="en-US"/>
              <a:t> </a:t>
            </a:r>
            <a:r>
              <a:rPr lang="en-US">
                <a:solidFill>
                  <a:srgbClr val="7030A0"/>
                </a:solidFill>
              </a:rPr>
              <a:t>heavy</a:t>
            </a:r>
            <a:endParaRPr/>
          </a:p>
          <a:p>
            <a:pPr>
              <a:defRPr/>
            </a:pPr>
            <a:r>
              <a:rPr lang="en-US" sz="2400"/>
              <a:t>A hedge modifies mathematically an existing fuzzy set to account for some added adverb.</a:t>
            </a:r>
            <a:endParaRPr/>
          </a:p>
        </p:txBody>
      </p:sp>
      <p:pic>
        <p:nvPicPr>
          <p:cNvPr id="788323694" name="Content Placeholder 5"/>
          <p:cNvPicPr>
            <a:picLocks noChangeAspect="1"/>
          </p:cNvPicPr>
          <p:nvPr/>
        </p:nvPicPr>
        <p:blipFill rotWithShape="1">
          <a:blip r:embed="rId3"/>
          <a:stretch/>
        </p:blipFill>
        <p:spPr bwMode="auto">
          <a:xfrm>
            <a:off x="5791200" y="1447800"/>
            <a:ext cx="3275347" cy="22098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61541133">
                                            <p:txEl>
                                              <p:pRg st="0" end="0"/>
                                            </p:txEl>
                                          </p:spTgt>
                                        </p:tgtEl>
                                        <p:attrNameLst>
                                          <p:attrName>style.visibility</p:attrName>
                                        </p:attrNameLst>
                                      </p:cBhvr>
                                      <p:to>
                                        <p:strVal val="visible"/>
                                      </p:to>
                                    </p:set>
                                    <p:anim calcmode="lin" valueType="num">
                                      <p:cBhvr additive="base">
                                        <p:cTn id="7" dur="500" fill="hold"/>
                                        <p:tgtEl>
                                          <p:spTgt spid="12615411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6154113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61541133">
                                            <p:txEl>
                                              <p:pRg st="1" end="1"/>
                                            </p:txEl>
                                          </p:spTgt>
                                        </p:tgtEl>
                                        <p:attrNameLst>
                                          <p:attrName>style.visibility</p:attrName>
                                        </p:attrNameLst>
                                      </p:cBhvr>
                                      <p:to>
                                        <p:strVal val="visible"/>
                                      </p:to>
                                    </p:set>
                                    <p:anim calcmode="lin" valueType="num">
                                      <p:cBhvr additive="base">
                                        <p:cTn id="11" dur="500" fill="hold"/>
                                        <p:tgtEl>
                                          <p:spTgt spid="126154113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6154113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61541133">
                                            <p:txEl>
                                              <p:pRg st="2" end="2"/>
                                            </p:txEl>
                                          </p:spTgt>
                                        </p:tgtEl>
                                        <p:attrNameLst>
                                          <p:attrName>style.visibility</p:attrName>
                                        </p:attrNameLst>
                                      </p:cBhvr>
                                      <p:to>
                                        <p:strVal val="visible"/>
                                      </p:to>
                                    </p:set>
                                    <p:anim calcmode="lin" valueType="num">
                                      <p:cBhvr additive="base">
                                        <p:cTn id="15" dur="500" fill="hold"/>
                                        <p:tgtEl>
                                          <p:spTgt spid="126154113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615411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61541133">
                                            <p:txEl>
                                              <p:pRg st="3" end="3"/>
                                            </p:txEl>
                                          </p:spTgt>
                                        </p:tgtEl>
                                        <p:attrNameLst>
                                          <p:attrName>style.visibility</p:attrName>
                                        </p:attrNameLst>
                                      </p:cBhvr>
                                      <p:to>
                                        <p:strVal val="visible"/>
                                      </p:to>
                                    </p:set>
                                    <p:anim calcmode="lin" valueType="num">
                                      <p:cBhvr additive="base">
                                        <p:cTn id="21" dur="500" fill="hold"/>
                                        <p:tgtEl>
                                          <p:spTgt spid="126154113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6154113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61541133">
                                            <p:txEl>
                                              <p:pRg st="4" end="4"/>
                                            </p:txEl>
                                          </p:spTgt>
                                        </p:tgtEl>
                                        <p:attrNameLst>
                                          <p:attrName>style.visibility</p:attrName>
                                        </p:attrNameLst>
                                      </p:cBhvr>
                                      <p:to>
                                        <p:strVal val="visible"/>
                                      </p:to>
                                    </p:set>
                                    <p:anim calcmode="lin" valueType="num">
                                      <p:cBhvr additive="base">
                                        <p:cTn id="25" dur="500" fill="hold"/>
                                        <p:tgtEl>
                                          <p:spTgt spid="126154113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6154113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61541133">
                                            <p:txEl>
                                              <p:pRg st="5" end="5"/>
                                            </p:txEl>
                                          </p:spTgt>
                                        </p:tgtEl>
                                        <p:attrNameLst>
                                          <p:attrName>style.visibility</p:attrName>
                                        </p:attrNameLst>
                                      </p:cBhvr>
                                      <p:to>
                                        <p:strVal val="visible"/>
                                      </p:to>
                                    </p:set>
                                    <p:anim calcmode="lin" valueType="num">
                                      <p:cBhvr additive="base">
                                        <p:cTn id="29" dur="500" fill="hold"/>
                                        <p:tgtEl>
                                          <p:spTgt spid="126154113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6154113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61541133">
                                            <p:txEl>
                                              <p:pRg st="6" end="6"/>
                                            </p:txEl>
                                          </p:spTgt>
                                        </p:tgtEl>
                                        <p:attrNameLst>
                                          <p:attrName>style.visibility</p:attrName>
                                        </p:attrNameLst>
                                      </p:cBhvr>
                                      <p:to>
                                        <p:strVal val="visible"/>
                                      </p:to>
                                    </p:set>
                                    <p:anim calcmode="lin" valueType="num">
                                      <p:cBhvr additive="base">
                                        <p:cTn id="35" dur="500" fill="hold"/>
                                        <p:tgtEl>
                                          <p:spTgt spid="126154113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6154113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1541133" grpId="0" build="p"/>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4970297" name="Title 1"/>
          <p:cNvSpPr>
            <a:spLocks noGrp="1"/>
          </p:cNvSpPr>
          <p:nvPr>
            <p:ph type="title"/>
          </p:nvPr>
        </p:nvSpPr>
        <p:spPr bwMode="auto">
          <a:xfrm>
            <a:off x="685800" y="304800"/>
            <a:ext cx="8229600" cy="762000"/>
          </a:xfrm>
        </p:spPr>
        <p:txBody>
          <a:bodyPr>
            <a:normAutofit/>
          </a:bodyPr>
          <a:lstStyle/>
          <a:p>
            <a:pPr>
              <a:defRPr/>
            </a:pPr>
            <a:r>
              <a:rPr lang="en-US" sz="3600"/>
              <a:t>Examples of Hedges 1/3</a:t>
            </a:r>
            <a:endParaRPr/>
          </a:p>
        </p:txBody>
      </p:sp>
      <p:sp>
        <p:nvSpPr>
          <p:cNvPr id="913908900" name="Content Placeholder 2"/>
          <p:cNvSpPr>
            <a:spLocks noGrp="1"/>
          </p:cNvSpPr>
          <p:nvPr>
            <p:ph idx="1"/>
          </p:nvPr>
        </p:nvSpPr>
        <p:spPr bwMode="auto">
          <a:xfrm>
            <a:off x="152400" y="1066800"/>
            <a:ext cx="8839200" cy="2667000"/>
          </a:xfrm>
        </p:spPr>
        <p:txBody>
          <a:bodyPr>
            <a:noAutofit/>
          </a:bodyPr>
          <a:lstStyle/>
          <a:p>
            <a:pPr>
              <a:buNone/>
              <a:defRPr/>
            </a:pPr>
            <a:r>
              <a:rPr lang="en-US" sz="2400"/>
              <a:t>Concentration (</a:t>
            </a:r>
            <a:r>
              <a:rPr lang="en-US" sz="2400">
                <a:solidFill>
                  <a:srgbClr val="00B050"/>
                </a:solidFill>
              </a:rPr>
              <a:t>Very</a:t>
            </a:r>
            <a:r>
              <a:rPr lang="en-US" sz="2400"/>
              <a:t>)</a:t>
            </a:r>
            <a:endParaRPr/>
          </a:p>
          <a:p>
            <a:pPr lvl="1">
              <a:defRPr/>
            </a:pPr>
            <a:r>
              <a:rPr lang="en-US"/>
              <a:t>To further reduce the membership value, </a:t>
            </a:r>
            <a:endParaRPr/>
          </a:p>
          <a:p>
            <a:pPr lvl="1">
              <a:defRPr/>
            </a:pPr>
            <a:r>
              <a:rPr lang="el-GR">
                <a:solidFill>
                  <a:srgbClr val="FF0000"/>
                </a:solidFill>
              </a:rPr>
              <a:t>μ </a:t>
            </a:r>
            <a:r>
              <a:rPr lang="en-US" baseline="-25000">
                <a:solidFill>
                  <a:srgbClr val="FF0000"/>
                </a:solidFill>
              </a:rPr>
              <a:t>CON(A)</a:t>
            </a:r>
            <a:r>
              <a:rPr lang="en-US">
                <a:solidFill>
                  <a:srgbClr val="FF0000"/>
                </a:solidFill>
              </a:rPr>
              <a:t>(x) = (</a:t>
            </a:r>
            <a:r>
              <a:rPr lang="el-GR">
                <a:solidFill>
                  <a:srgbClr val="FF0000"/>
                </a:solidFill>
              </a:rPr>
              <a:t>μ</a:t>
            </a:r>
            <a:r>
              <a:rPr lang="en-US" baseline="-25000">
                <a:solidFill>
                  <a:srgbClr val="FF0000"/>
                </a:solidFill>
              </a:rPr>
              <a:t>A</a:t>
            </a:r>
            <a:r>
              <a:rPr lang="en-US">
                <a:solidFill>
                  <a:srgbClr val="FF0000"/>
                </a:solidFill>
              </a:rPr>
              <a:t>(x))</a:t>
            </a:r>
            <a:r>
              <a:rPr lang="en-US" baseline="30000">
                <a:solidFill>
                  <a:srgbClr val="FF0000"/>
                </a:solidFill>
              </a:rPr>
              <a:t> 2</a:t>
            </a:r>
            <a:endParaRPr/>
          </a:p>
          <a:p>
            <a:pPr lvl="1">
              <a:defRPr/>
            </a:pPr>
            <a:r>
              <a:rPr lang="en-US"/>
              <a:t>E.g. At Height 6,  membership value decreases </a:t>
            </a:r>
            <a:br>
              <a:rPr lang="en-US"/>
            </a:br>
            <a:r>
              <a:rPr lang="en-US"/>
              <a:t>from </a:t>
            </a:r>
            <a:r>
              <a:rPr lang="el-GR"/>
              <a:t>μ</a:t>
            </a:r>
            <a:r>
              <a:rPr lang="en-US" baseline="-25000"/>
              <a:t>Tall</a:t>
            </a:r>
            <a:r>
              <a:rPr lang="en-US"/>
              <a:t>(6)=0.7 to </a:t>
            </a:r>
            <a:r>
              <a:rPr lang="el-GR"/>
              <a:t>μ</a:t>
            </a:r>
            <a:r>
              <a:rPr lang="en-US" baseline="-25000"/>
              <a:t>VeryTall</a:t>
            </a:r>
            <a:r>
              <a:rPr lang="en-US"/>
              <a:t>(6)=0.49</a:t>
            </a:r>
            <a:endParaRPr/>
          </a:p>
          <a:p>
            <a:pPr>
              <a:buNone/>
              <a:defRPr/>
            </a:pPr>
            <a:r>
              <a:rPr lang="en-US" sz="2400"/>
              <a:t>Power (</a:t>
            </a:r>
            <a:r>
              <a:rPr lang="en-US" sz="2400">
                <a:solidFill>
                  <a:srgbClr val="00B050"/>
                </a:solidFill>
              </a:rPr>
              <a:t>Very Very</a:t>
            </a:r>
            <a:r>
              <a:rPr lang="en-US" sz="2400"/>
              <a:t>): To extend concentration, </a:t>
            </a:r>
            <a:r>
              <a:rPr lang="el-GR" sz="2400">
                <a:solidFill>
                  <a:srgbClr val="FF0000"/>
                </a:solidFill>
              </a:rPr>
              <a:t>μ</a:t>
            </a:r>
            <a:r>
              <a:rPr lang="en-US" sz="2400" baseline="-25000">
                <a:solidFill>
                  <a:srgbClr val="FF0000"/>
                </a:solidFill>
              </a:rPr>
              <a:t>POW(A)</a:t>
            </a:r>
            <a:r>
              <a:rPr lang="en-US" sz="2400">
                <a:solidFill>
                  <a:srgbClr val="FF0000"/>
                </a:solidFill>
              </a:rPr>
              <a:t>(x) = (</a:t>
            </a:r>
            <a:r>
              <a:rPr lang="el-GR" sz="2400">
                <a:solidFill>
                  <a:srgbClr val="FF0000"/>
                </a:solidFill>
              </a:rPr>
              <a:t>μ</a:t>
            </a:r>
            <a:r>
              <a:rPr lang="en-US" sz="2400" baseline="-25000">
                <a:solidFill>
                  <a:srgbClr val="FF0000"/>
                </a:solidFill>
              </a:rPr>
              <a:t>A</a:t>
            </a:r>
            <a:r>
              <a:rPr lang="en-US" sz="2400">
                <a:solidFill>
                  <a:srgbClr val="FF0000"/>
                </a:solidFill>
              </a:rPr>
              <a:t>(x))</a:t>
            </a:r>
            <a:r>
              <a:rPr lang="en-US" sz="2400" baseline="30000">
                <a:solidFill>
                  <a:srgbClr val="FF0000"/>
                </a:solidFill>
              </a:rPr>
              <a:t>n</a:t>
            </a:r>
            <a:r>
              <a:rPr lang="en-US" sz="2400"/>
              <a:t> </a:t>
            </a:r>
            <a:endParaRPr/>
          </a:p>
          <a:p>
            <a:pPr lvl="1">
              <a:defRPr/>
            </a:pPr>
            <a:endParaRPr lang="en-US"/>
          </a:p>
        </p:txBody>
      </p:sp>
      <p:pic>
        <p:nvPicPr>
          <p:cNvPr id="1254025987" name="Picture 3" descr="fig 3 - hedges very height fuzzy set.JPG"/>
          <p:cNvPicPr>
            <a:picLocks noChangeAspect="1"/>
          </p:cNvPicPr>
          <p:nvPr/>
        </p:nvPicPr>
        <p:blipFill rotWithShape="1">
          <a:blip r:embed="rId3"/>
          <a:stretch/>
        </p:blipFill>
        <p:spPr bwMode="auto">
          <a:xfrm>
            <a:off x="404813" y="3733800"/>
            <a:ext cx="7764500" cy="31146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4025987"/>
                                        </p:tgtEl>
                                        <p:attrNameLst>
                                          <p:attrName>style.visibility</p:attrName>
                                        </p:attrNameLst>
                                      </p:cBhvr>
                                      <p:to>
                                        <p:strVal val="visible"/>
                                      </p:to>
                                    </p:set>
                                    <p:anim calcmode="lin" valueType="num">
                                      <p:cBhvr additive="base">
                                        <p:cTn id="7" dur="500" fill="hold"/>
                                        <p:tgtEl>
                                          <p:spTgt spid="1254025987"/>
                                        </p:tgtEl>
                                        <p:attrNameLst>
                                          <p:attrName>ppt_x</p:attrName>
                                        </p:attrNameLst>
                                      </p:cBhvr>
                                      <p:tavLst>
                                        <p:tav tm="0">
                                          <p:val>
                                            <p:strVal val="#ppt_x"/>
                                          </p:val>
                                        </p:tav>
                                        <p:tav tm="100000">
                                          <p:val>
                                            <p:strVal val="#ppt_x"/>
                                          </p:val>
                                        </p:tav>
                                      </p:tavLst>
                                    </p:anim>
                                    <p:anim calcmode="lin" valueType="num">
                                      <p:cBhvr additive="base">
                                        <p:cTn id="8" dur="500" fill="hold"/>
                                        <p:tgtEl>
                                          <p:spTgt spid="12540259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3908900">
                                            <p:txEl>
                                              <p:pRg st="0" end="0"/>
                                            </p:txEl>
                                          </p:spTgt>
                                        </p:tgtEl>
                                        <p:attrNameLst>
                                          <p:attrName>style.visibility</p:attrName>
                                        </p:attrNameLst>
                                      </p:cBhvr>
                                      <p:to>
                                        <p:strVal val="visible"/>
                                      </p:to>
                                    </p:set>
                                    <p:anim calcmode="lin" valueType="num">
                                      <p:cBhvr additive="base">
                                        <p:cTn id="13" dur="500" fill="hold"/>
                                        <p:tgtEl>
                                          <p:spTgt spid="91390890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3908900">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13908900">
                                            <p:txEl>
                                              <p:pRg st="1" end="1"/>
                                            </p:txEl>
                                          </p:spTgt>
                                        </p:tgtEl>
                                        <p:attrNameLst>
                                          <p:attrName>style.visibility</p:attrName>
                                        </p:attrNameLst>
                                      </p:cBhvr>
                                      <p:to>
                                        <p:strVal val="visible"/>
                                      </p:to>
                                    </p:set>
                                    <p:anim calcmode="lin" valueType="num">
                                      <p:cBhvr additive="base">
                                        <p:cTn id="17" dur="500" fill="hold"/>
                                        <p:tgtEl>
                                          <p:spTgt spid="91390890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13908900">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13908900">
                                            <p:txEl>
                                              <p:pRg st="2" end="2"/>
                                            </p:txEl>
                                          </p:spTgt>
                                        </p:tgtEl>
                                        <p:attrNameLst>
                                          <p:attrName>style.visibility</p:attrName>
                                        </p:attrNameLst>
                                      </p:cBhvr>
                                      <p:to>
                                        <p:strVal val="visible"/>
                                      </p:to>
                                    </p:set>
                                    <p:anim calcmode="lin" valueType="num">
                                      <p:cBhvr additive="base">
                                        <p:cTn id="21" dur="500" fill="hold"/>
                                        <p:tgtEl>
                                          <p:spTgt spid="91390890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13908900">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13908900">
                                            <p:txEl>
                                              <p:pRg st="3" end="3"/>
                                            </p:txEl>
                                          </p:spTgt>
                                        </p:tgtEl>
                                        <p:attrNameLst>
                                          <p:attrName>style.visibility</p:attrName>
                                        </p:attrNameLst>
                                      </p:cBhvr>
                                      <p:to>
                                        <p:strVal val="visible"/>
                                      </p:to>
                                    </p:set>
                                    <p:anim calcmode="lin" valueType="num">
                                      <p:cBhvr additive="base">
                                        <p:cTn id="25" dur="500" fill="hold"/>
                                        <p:tgtEl>
                                          <p:spTgt spid="91390890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13908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13908900">
                                            <p:txEl>
                                              <p:pRg st="4" end="4"/>
                                            </p:txEl>
                                          </p:spTgt>
                                        </p:tgtEl>
                                        <p:attrNameLst>
                                          <p:attrName>style.visibility</p:attrName>
                                        </p:attrNameLst>
                                      </p:cBhvr>
                                      <p:to>
                                        <p:strVal val="visible"/>
                                      </p:to>
                                    </p:set>
                                    <p:anim calcmode="lin" valueType="num">
                                      <p:cBhvr additive="base">
                                        <p:cTn id="31" dur="500" fill="hold"/>
                                        <p:tgtEl>
                                          <p:spTgt spid="91390890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1390890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908900" grpId="0" build="p"/>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6695361" name="Title 1"/>
          <p:cNvSpPr>
            <a:spLocks noGrp="1"/>
          </p:cNvSpPr>
          <p:nvPr>
            <p:ph type="title"/>
          </p:nvPr>
        </p:nvSpPr>
        <p:spPr bwMode="auto">
          <a:xfrm>
            <a:off x="457200" y="704088"/>
            <a:ext cx="8229600" cy="743712"/>
          </a:xfrm>
        </p:spPr>
        <p:txBody>
          <a:bodyPr>
            <a:normAutofit/>
          </a:bodyPr>
          <a:lstStyle/>
          <a:p>
            <a:pPr>
              <a:defRPr/>
            </a:pPr>
            <a:r>
              <a:rPr lang="en-US" sz="4400"/>
              <a:t>Examples of Hedges 2/3</a:t>
            </a:r>
            <a:endParaRPr/>
          </a:p>
        </p:txBody>
      </p:sp>
      <p:sp>
        <p:nvSpPr>
          <p:cNvPr id="1015382066" name="Content Placeholder 2"/>
          <p:cNvSpPr>
            <a:spLocks noGrp="1"/>
          </p:cNvSpPr>
          <p:nvPr>
            <p:ph idx="1"/>
          </p:nvPr>
        </p:nvSpPr>
        <p:spPr bwMode="auto">
          <a:xfrm>
            <a:off x="457200" y="1600200"/>
            <a:ext cx="8229600" cy="1828800"/>
          </a:xfrm>
        </p:spPr>
        <p:txBody>
          <a:bodyPr>
            <a:normAutofit/>
          </a:bodyPr>
          <a:lstStyle/>
          <a:p>
            <a:pPr>
              <a:buNone/>
              <a:defRPr/>
            </a:pPr>
            <a:r>
              <a:rPr lang="en-US" sz="2800"/>
              <a:t>Dilation (</a:t>
            </a:r>
            <a:r>
              <a:rPr lang="en-US" sz="2800">
                <a:solidFill>
                  <a:srgbClr val="00B050"/>
                </a:solidFill>
              </a:rPr>
              <a:t>somewhat</a:t>
            </a:r>
            <a:r>
              <a:rPr lang="en-US" sz="2800"/>
              <a:t> / </a:t>
            </a:r>
            <a:r>
              <a:rPr lang="en-US" sz="2800">
                <a:solidFill>
                  <a:srgbClr val="00B050"/>
                </a:solidFill>
              </a:rPr>
              <a:t>More or Less</a:t>
            </a:r>
            <a:r>
              <a:rPr lang="en-US" sz="2800"/>
              <a:t>)</a:t>
            </a:r>
            <a:endParaRPr/>
          </a:p>
          <a:p>
            <a:pPr lvl="1">
              <a:defRPr/>
            </a:pPr>
            <a:r>
              <a:rPr lang="en-US" sz="2800"/>
              <a:t>Increases the membership value</a:t>
            </a:r>
            <a:endParaRPr/>
          </a:p>
          <a:p>
            <a:pPr lvl="1">
              <a:defRPr/>
            </a:pPr>
            <a:r>
              <a:rPr lang="el-GR" sz="2800">
                <a:solidFill>
                  <a:srgbClr val="FF0000"/>
                </a:solidFill>
              </a:rPr>
              <a:t>μ</a:t>
            </a:r>
            <a:r>
              <a:rPr lang="en-US" sz="2800" baseline="-25000">
                <a:solidFill>
                  <a:srgbClr val="FF0000"/>
                </a:solidFill>
              </a:rPr>
              <a:t>DIL(A)</a:t>
            </a:r>
            <a:r>
              <a:rPr lang="en-US" sz="2800">
                <a:solidFill>
                  <a:srgbClr val="FF0000"/>
                </a:solidFill>
              </a:rPr>
              <a:t>(x) = (</a:t>
            </a:r>
            <a:r>
              <a:rPr lang="el-GR" sz="2800">
                <a:solidFill>
                  <a:srgbClr val="FF0000"/>
                </a:solidFill>
              </a:rPr>
              <a:t>μ</a:t>
            </a:r>
            <a:r>
              <a:rPr lang="en-US" sz="2800" baseline="-25000">
                <a:solidFill>
                  <a:srgbClr val="FF0000"/>
                </a:solidFill>
              </a:rPr>
              <a:t>A</a:t>
            </a:r>
            <a:r>
              <a:rPr lang="en-US" sz="2800">
                <a:solidFill>
                  <a:srgbClr val="FF0000"/>
                </a:solidFill>
              </a:rPr>
              <a:t>(x))</a:t>
            </a:r>
            <a:r>
              <a:rPr lang="en-US" sz="2800" baseline="30000">
                <a:solidFill>
                  <a:srgbClr val="FF0000"/>
                </a:solidFill>
              </a:rPr>
              <a:t> 0.5</a:t>
            </a:r>
            <a:endParaRPr lang="en-US" sz="2800">
              <a:solidFill>
                <a:srgbClr val="FF0000"/>
              </a:solidFill>
            </a:endParaRPr>
          </a:p>
        </p:txBody>
      </p:sp>
      <p:pic>
        <p:nvPicPr>
          <p:cNvPr id="1711057246" name="Picture 3" descr="fig 4 - hedges somewhat height fuzzy set.JPG"/>
          <p:cNvPicPr>
            <a:picLocks noChangeAspect="1"/>
          </p:cNvPicPr>
          <p:nvPr/>
        </p:nvPicPr>
        <p:blipFill rotWithShape="1">
          <a:blip r:embed="rId3"/>
          <a:stretch/>
        </p:blipFill>
        <p:spPr bwMode="auto">
          <a:xfrm>
            <a:off x="404812" y="3438525"/>
            <a:ext cx="8334375" cy="33432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5382066">
                                            <p:txEl>
                                              <p:pRg st="0" end="0"/>
                                            </p:txEl>
                                          </p:spTgt>
                                        </p:tgtEl>
                                        <p:attrNameLst>
                                          <p:attrName>style.visibility</p:attrName>
                                        </p:attrNameLst>
                                      </p:cBhvr>
                                      <p:to>
                                        <p:strVal val="visible"/>
                                      </p:to>
                                    </p:set>
                                    <p:anim calcmode="lin" valueType="num">
                                      <p:cBhvr additive="base">
                                        <p:cTn id="7" dur="500" fill="hold"/>
                                        <p:tgtEl>
                                          <p:spTgt spid="10153820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1538206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15382066">
                                            <p:txEl>
                                              <p:pRg st="1" end="1"/>
                                            </p:txEl>
                                          </p:spTgt>
                                        </p:tgtEl>
                                        <p:attrNameLst>
                                          <p:attrName>style.visibility</p:attrName>
                                        </p:attrNameLst>
                                      </p:cBhvr>
                                      <p:to>
                                        <p:strVal val="visible"/>
                                      </p:to>
                                    </p:set>
                                    <p:anim calcmode="lin" valueType="num">
                                      <p:cBhvr additive="base">
                                        <p:cTn id="11" dur="500" fill="hold"/>
                                        <p:tgtEl>
                                          <p:spTgt spid="101538206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1538206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15382066">
                                            <p:txEl>
                                              <p:pRg st="2" end="2"/>
                                            </p:txEl>
                                          </p:spTgt>
                                        </p:tgtEl>
                                        <p:attrNameLst>
                                          <p:attrName>style.visibility</p:attrName>
                                        </p:attrNameLst>
                                      </p:cBhvr>
                                      <p:to>
                                        <p:strVal val="visible"/>
                                      </p:to>
                                    </p:set>
                                    <p:anim calcmode="lin" valueType="num">
                                      <p:cBhvr additive="base">
                                        <p:cTn id="15" dur="500" fill="hold"/>
                                        <p:tgtEl>
                                          <p:spTgt spid="101538206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153820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11057246"/>
                                        </p:tgtEl>
                                        <p:attrNameLst>
                                          <p:attrName>style.visibility</p:attrName>
                                        </p:attrNameLst>
                                      </p:cBhvr>
                                      <p:to>
                                        <p:strVal val="visible"/>
                                      </p:to>
                                    </p:set>
                                    <p:anim calcmode="lin" valueType="num">
                                      <p:cBhvr additive="base">
                                        <p:cTn id="21" dur="500" fill="hold"/>
                                        <p:tgtEl>
                                          <p:spTgt spid="1711057246"/>
                                        </p:tgtEl>
                                        <p:attrNameLst>
                                          <p:attrName>ppt_x</p:attrName>
                                        </p:attrNameLst>
                                      </p:cBhvr>
                                      <p:tavLst>
                                        <p:tav tm="0">
                                          <p:val>
                                            <p:strVal val="#ppt_x"/>
                                          </p:val>
                                        </p:tav>
                                        <p:tav tm="100000">
                                          <p:val>
                                            <p:strVal val="#ppt_x"/>
                                          </p:val>
                                        </p:tav>
                                      </p:tavLst>
                                    </p:anim>
                                    <p:anim calcmode="lin" valueType="num">
                                      <p:cBhvr additive="base">
                                        <p:cTn id="22" dur="500" fill="hold"/>
                                        <p:tgtEl>
                                          <p:spTgt spid="17110572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382066" grpId="0" build="p"/>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2419972" name="Title 1"/>
          <p:cNvSpPr>
            <a:spLocks noGrp="1"/>
          </p:cNvSpPr>
          <p:nvPr>
            <p:ph type="title"/>
          </p:nvPr>
        </p:nvSpPr>
        <p:spPr bwMode="auto">
          <a:xfrm>
            <a:off x="457200" y="0"/>
            <a:ext cx="8229600" cy="1143000"/>
          </a:xfrm>
        </p:spPr>
        <p:txBody>
          <a:bodyPr>
            <a:normAutofit/>
          </a:bodyPr>
          <a:lstStyle/>
          <a:p>
            <a:pPr>
              <a:defRPr/>
            </a:pPr>
            <a:r>
              <a:rPr lang="en-US" sz="4400"/>
              <a:t>Examples of Hedges 3/3</a:t>
            </a:r>
            <a:endParaRPr/>
          </a:p>
        </p:txBody>
      </p:sp>
      <p:sp>
        <p:nvSpPr>
          <p:cNvPr id="1569813797" name="Content Placeholder 2"/>
          <p:cNvSpPr>
            <a:spLocks noGrp="1"/>
          </p:cNvSpPr>
          <p:nvPr>
            <p:ph idx="1"/>
          </p:nvPr>
        </p:nvSpPr>
        <p:spPr bwMode="auto">
          <a:xfrm>
            <a:off x="152400" y="1143000"/>
            <a:ext cx="8839200" cy="2514600"/>
          </a:xfrm>
        </p:spPr>
        <p:txBody>
          <a:bodyPr>
            <a:normAutofit/>
          </a:bodyPr>
          <a:lstStyle/>
          <a:p>
            <a:pPr>
              <a:buNone/>
              <a:defRPr/>
            </a:pPr>
            <a:r>
              <a:rPr lang="en-US" sz="2800"/>
              <a:t>Intensification(</a:t>
            </a:r>
            <a:r>
              <a:rPr lang="en-US" sz="2800">
                <a:solidFill>
                  <a:srgbClr val="00B050"/>
                </a:solidFill>
              </a:rPr>
              <a:t>Indeed</a:t>
            </a:r>
            <a:r>
              <a:rPr lang="en-US" sz="2800"/>
              <a:t>)</a:t>
            </a:r>
            <a:endParaRPr/>
          </a:p>
          <a:p>
            <a:pPr lvl="1">
              <a:defRPr/>
            </a:pPr>
            <a:r>
              <a:rPr lang="en-US" sz="2800"/>
              <a:t>Intensify the meaning, by increasing the membership values above 0.5 and decreasing those below 0.5</a:t>
            </a:r>
            <a:endParaRPr/>
          </a:p>
          <a:p>
            <a:pPr lvl="1">
              <a:defRPr/>
            </a:pPr>
            <a:r>
              <a:rPr lang="el-GR" sz="2800">
                <a:solidFill>
                  <a:srgbClr val="FF0000"/>
                </a:solidFill>
              </a:rPr>
              <a:t>μ </a:t>
            </a:r>
            <a:r>
              <a:rPr lang="en-US" sz="2800" baseline="-25000">
                <a:solidFill>
                  <a:srgbClr val="FF0000"/>
                </a:solidFill>
              </a:rPr>
              <a:t>INT(A)</a:t>
            </a:r>
            <a:r>
              <a:rPr lang="en-US" sz="2800">
                <a:solidFill>
                  <a:srgbClr val="FF0000"/>
                </a:solidFill>
              </a:rPr>
              <a:t>(x) = 2(</a:t>
            </a:r>
            <a:r>
              <a:rPr lang="el-GR" sz="2800">
                <a:solidFill>
                  <a:srgbClr val="FF0000"/>
                </a:solidFill>
              </a:rPr>
              <a:t>μ</a:t>
            </a:r>
            <a:r>
              <a:rPr lang="en-US" sz="2800" baseline="-25000">
                <a:solidFill>
                  <a:srgbClr val="FF0000"/>
                </a:solidFill>
              </a:rPr>
              <a:t>A</a:t>
            </a:r>
            <a:r>
              <a:rPr lang="en-US" sz="2800">
                <a:solidFill>
                  <a:srgbClr val="FF0000"/>
                </a:solidFill>
              </a:rPr>
              <a:t>(x)</a:t>
            </a:r>
            <a:r>
              <a:rPr lang="en-US" sz="2800" baseline="30000">
                <a:solidFill>
                  <a:srgbClr val="FF0000"/>
                </a:solidFill>
              </a:rPr>
              <a:t>2</a:t>
            </a:r>
            <a:r>
              <a:rPr lang="en-US" sz="2800">
                <a:solidFill>
                  <a:srgbClr val="FF0000"/>
                </a:solidFill>
              </a:rPr>
              <a:t>)</a:t>
            </a:r>
            <a:r>
              <a:rPr lang="el-GR" sz="2800">
                <a:solidFill>
                  <a:srgbClr val="FF0000"/>
                </a:solidFill>
              </a:rPr>
              <a:t> </a:t>
            </a:r>
            <a:r>
              <a:rPr lang="en-US" sz="2800">
                <a:solidFill>
                  <a:srgbClr val="FF0000"/>
                </a:solidFill>
              </a:rPr>
              <a:t> </a:t>
            </a:r>
            <a:r>
              <a:rPr lang="en-US" sz="2800"/>
              <a:t>		for   0 &lt;= </a:t>
            </a:r>
            <a:r>
              <a:rPr lang="el-GR" sz="2800"/>
              <a:t>μ</a:t>
            </a:r>
            <a:r>
              <a:rPr lang="en-US" sz="2800" baseline="-25000"/>
              <a:t>A</a:t>
            </a:r>
            <a:r>
              <a:rPr lang="en-US" sz="2800"/>
              <a:t>(x) &lt;=0.5</a:t>
            </a:r>
            <a:endParaRPr/>
          </a:p>
          <a:p>
            <a:pPr lvl="1">
              <a:defRPr/>
            </a:pPr>
            <a:r>
              <a:rPr lang="el-GR" sz="2800">
                <a:solidFill>
                  <a:srgbClr val="FF0000"/>
                </a:solidFill>
              </a:rPr>
              <a:t>μ</a:t>
            </a:r>
            <a:r>
              <a:rPr lang="en-US" sz="2800" baseline="-25000">
                <a:solidFill>
                  <a:srgbClr val="FF0000"/>
                </a:solidFill>
              </a:rPr>
              <a:t>INT(A)</a:t>
            </a:r>
            <a:r>
              <a:rPr lang="en-US" sz="2800">
                <a:solidFill>
                  <a:srgbClr val="FF0000"/>
                </a:solidFill>
              </a:rPr>
              <a:t>(x)=1-2 (1 - (</a:t>
            </a:r>
            <a:r>
              <a:rPr lang="el-GR" sz="2800">
                <a:solidFill>
                  <a:srgbClr val="FF0000"/>
                </a:solidFill>
              </a:rPr>
              <a:t>μ</a:t>
            </a:r>
            <a:r>
              <a:rPr lang="en-US" sz="2800" baseline="-25000">
                <a:solidFill>
                  <a:srgbClr val="FF0000"/>
                </a:solidFill>
              </a:rPr>
              <a:t>A</a:t>
            </a:r>
            <a:r>
              <a:rPr lang="en-US" sz="2800">
                <a:solidFill>
                  <a:srgbClr val="FF0000"/>
                </a:solidFill>
              </a:rPr>
              <a:t>(x))</a:t>
            </a:r>
            <a:r>
              <a:rPr lang="en-US" sz="2800" baseline="30000">
                <a:solidFill>
                  <a:srgbClr val="FF0000"/>
                </a:solidFill>
              </a:rPr>
              <a:t>2</a:t>
            </a:r>
            <a:r>
              <a:rPr lang="en-US" sz="2800" baseline="30000"/>
              <a:t>, 	</a:t>
            </a:r>
            <a:r>
              <a:rPr lang="en-US" sz="2800"/>
              <a:t>for 0.5 &lt;  </a:t>
            </a:r>
            <a:r>
              <a:rPr lang="el-GR" sz="2800"/>
              <a:t>μ</a:t>
            </a:r>
            <a:r>
              <a:rPr lang="en-US" sz="2800" baseline="-25000"/>
              <a:t>A</a:t>
            </a:r>
            <a:r>
              <a:rPr lang="en-US" sz="2800"/>
              <a:t>(x) &lt;= 1</a:t>
            </a:r>
            <a:endParaRPr/>
          </a:p>
        </p:txBody>
      </p:sp>
      <p:pic>
        <p:nvPicPr>
          <p:cNvPr id="1813047804" name="Picture 3" descr="fig 5 - hedges indeed height fuzzy set.JPG"/>
          <p:cNvPicPr>
            <a:picLocks noChangeAspect="1"/>
          </p:cNvPicPr>
          <p:nvPr/>
        </p:nvPicPr>
        <p:blipFill rotWithShape="1">
          <a:blip r:embed="rId3"/>
          <a:stretch/>
        </p:blipFill>
        <p:spPr bwMode="auto">
          <a:xfrm>
            <a:off x="404813" y="3633417"/>
            <a:ext cx="7824788" cy="313885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69813797">
                                            <p:txEl>
                                              <p:pRg st="0" end="0"/>
                                            </p:txEl>
                                          </p:spTgt>
                                        </p:tgtEl>
                                        <p:attrNameLst>
                                          <p:attrName>style.visibility</p:attrName>
                                        </p:attrNameLst>
                                      </p:cBhvr>
                                      <p:to>
                                        <p:strVal val="visible"/>
                                      </p:to>
                                    </p:set>
                                    <p:anim calcmode="lin" valueType="num">
                                      <p:cBhvr additive="base">
                                        <p:cTn id="7" dur="500" fill="hold"/>
                                        <p:tgtEl>
                                          <p:spTgt spid="156981379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981379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69813797">
                                            <p:txEl>
                                              <p:pRg st="1" end="1"/>
                                            </p:txEl>
                                          </p:spTgt>
                                        </p:tgtEl>
                                        <p:attrNameLst>
                                          <p:attrName>style.visibility</p:attrName>
                                        </p:attrNameLst>
                                      </p:cBhvr>
                                      <p:to>
                                        <p:strVal val="visible"/>
                                      </p:to>
                                    </p:set>
                                    <p:anim calcmode="lin" valueType="num">
                                      <p:cBhvr additive="base">
                                        <p:cTn id="11" dur="500" fill="hold"/>
                                        <p:tgtEl>
                                          <p:spTgt spid="156981379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6981379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69813797">
                                            <p:txEl>
                                              <p:pRg st="2" end="2"/>
                                            </p:txEl>
                                          </p:spTgt>
                                        </p:tgtEl>
                                        <p:attrNameLst>
                                          <p:attrName>style.visibility</p:attrName>
                                        </p:attrNameLst>
                                      </p:cBhvr>
                                      <p:to>
                                        <p:strVal val="visible"/>
                                      </p:to>
                                    </p:set>
                                    <p:anim calcmode="lin" valueType="num">
                                      <p:cBhvr additive="base">
                                        <p:cTn id="15" dur="500" fill="hold"/>
                                        <p:tgtEl>
                                          <p:spTgt spid="156981379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6981379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69813797">
                                            <p:txEl>
                                              <p:pRg st="3" end="3"/>
                                            </p:txEl>
                                          </p:spTgt>
                                        </p:tgtEl>
                                        <p:attrNameLst>
                                          <p:attrName>style.visibility</p:attrName>
                                        </p:attrNameLst>
                                      </p:cBhvr>
                                      <p:to>
                                        <p:strVal val="visible"/>
                                      </p:to>
                                    </p:set>
                                    <p:anim calcmode="lin" valueType="num">
                                      <p:cBhvr additive="base">
                                        <p:cTn id="19" dur="500" fill="hold"/>
                                        <p:tgtEl>
                                          <p:spTgt spid="156981379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981379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13047804"/>
                                        </p:tgtEl>
                                        <p:attrNameLst>
                                          <p:attrName>style.visibility</p:attrName>
                                        </p:attrNameLst>
                                      </p:cBhvr>
                                      <p:to>
                                        <p:strVal val="visible"/>
                                      </p:to>
                                    </p:set>
                                    <p:anim calcmode="lin" valueType="num">
                                      <p:cBhvr additive="base">
                                        <p:cTn id="25" dur="500" fill="hold"/>
                                        <p:tgtEl>
                                          <p:spTgt spid="1813047804"/>
                                        </p:tgtEl>
                                        <p:attrNameLst>
                                          <p:attrName>ppt_x</p:attrName>
                                        </p:attrNameLst>
                                      </p:cBhvr>
                                      <p:tavLst>
                                        <p:tav tm="0">
                                          <p:val>
                                            <p:strVal val="#ppt_x"/>
                                          </p:val>
                                        </p:tav>
                                        <p:tav tm="100000">
                                          <p:val>
                                            <p:strVal val="#ppt_x"/>
                                          </p:val>
                                        </p:tav>
                                      </p:tavLst>
                                    </p:anim>
                                    <p:anim calcmode="lin" valueType="num">
                                      <p:cBhvr additive="base">
                                        <p:cTn id="26" dur="500" fill="hold"/>
                                        <p:tgtEl>
                                          <p:spTgt spid="1813047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9813797" grpId="0" build="p"/>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1534455" name="Title 1"/>
          <p:cNvSpPr>
            <a:spLocks noGrp="1"/>
          </p:cNvSpPr>
          <p:nvPr>
            <p:ph type="title"/>
          </p:nvPr>
        </p:nvSpPr>
        <p:spPr bwMode="auto">
          <a:xfrm flipH="0" flipV="0">
            <a:off x="223242" y="316558"/>
            <a:ext cx="2396132" cy="1956791"/>
          </a:xfrm>
        </p:spPr>
        <p:txBody>
          <a:bodyPr>
            <a:normAutofit/>
          </a:bodyPr>
          <a:lstStyle/>
          <a:p>
            <a:pPr algn="ctr">
              <a:defRPr/>
            </a:pPr>
            <a:r>
              <a:rPr lang="en-US" sz="4000"/>
              <a:t>Some </a:t>
            </a:r>
            <a:br>
              <a:rPr lang="en-US" sz="4000"/>
            </a:br>
            <a:r>
              <a:rPr lang="en-US" sz="4000"/>
              <a:t>Common </a:t>
            </a:r>
            <a:br>
              <a:rPr lang="en-US" sz="4000"/>
            </a:br>
            <a:r>
              <a:rPr lang="en-US" sz="4000"/>
              <a:t>Hedges</a:t>
            </a:r>
            <a:endParaRPr sz="4000"/>
          </a:p>
        </p:txBody>
      </p:sp>
      <p:pic>
        <p:nvPicPr>
          <p:cNvPr id="1890906018" name="Picture 3"/>
          <p:cNvPicPr>
            <a:picLocks noChangeAspect="1"/>
          </p:cNvPicPr>
          <p:nvPr/>
        </p:nvPicPr>
        <p:blipFill rotWithShape="1">
          <a:blip r:embed="rId3"/>
          <a:stretch/>
        </p:blipFill>
        <p:spPr bwMode="auto">
          <a:xfrm flipH="0" flipV="0">
            <a:off x="3335535" y="379514"/>
            <a:ext cx="3721541" cy="1830879"/>
          </a:xfrm>
          <a:prstGeom prst="rect">
            <a:avLst/>
          </a:prstGeom>
        </p:spPr>
      </p:pic>
      <p:pic>
        <p:nvPicPr>
          <p:cNvPr id="1394107734" name="Picture 4"/>
          <p:cNvPicPr>
            <a:picLocks noChangeAspect="1"/>
          </p:cNvPicPr>
          <p:nvPr/>
        </p:nvPicPr>
        <p:blipFill rotWithShape="1">
          <a:blip r:embed="rId4"/>
          <a:stretch/>
        </p:blipFill>
        <p:spPr bwMode="auto">
          <a:xfrm flipH="0" flipV="0">
            <a:off x="2158007" y="2470546"/>
            <a:ext cx="5915638" cy="416428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90906018"/>
                                        </p:tgtEl>
                                        <p:attrNameLst>
                                          <p:attrName>style.visibility</p:attrName>
                                        </p:attrNameLst>
                                      </p:cBhvr>
                                      <p:to>
                                        <p:strVal val="visible"/>
                                      </p:to>
                                    </p:set>
                                    <p:anim calcmode="lin" valueType="num">
                                      <p:cBhvr additive="base">
                                        <p:cTn id="7" dur="500" fill="hold"/>
                                        <p:tgtEl>
                                          <p:spTgt spid="1890906018"/>
                                        </p:tgtEl>
                                        <p:attrNameLst>
                                          <p:attrName>ppt_x</p:attrName>
                                        </p:attrNameLst>
                                      </p:cBhvr>
                                      <p:tavLst>
                                        <p:tav tm="0">
                                          <p:val>
                                            <p:strVal val="#ppt_x"/>
                                          </p:val>
                                        </p:tav>
                                        <p:tav tm="100000">
                                          <p:val>
                                            <p:strVal val="#ppt_x"/>
                                          </p:val>
                                        </p:tav>
                                      </p:tavLst>
                                    </p:anim>
                                    <p:anim calcmode="lin" valueType="num">
                                      <p:cBhvr additive="base">
                                        <p:cTn id="8" dur="500" fill="hold"/>
                                        <p:tgtEl>
                                          <p:spTgt spid="18909060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553352" name="Title 1"/>
          <p:cNvSpPr>
            <a:spLocks noGrp="1"/>
          </p:cNvSpPr>
          <p:nvPr>
            <p:ph type="title"/>
          </p:nvPr>
        </p:nvSpPr>
        <p:spPr bwMode="auto">
          <a:xfrm>
            <a:off x="457200" y="704088"/>
            <a:ext cx="8229600" cy="819912"/>
          </a:xfrm>
        </p:spPr>
        <p:txBody>
          <a:bodyPr>
            <a:normAutofit/>
          </a:bodyPr>
          <a:lstStyle/>
          <a:p>
            <a:pPr>
              <a:defRPr/>
            </a:pPr>
            <a:r>
              <a:rPr lang="en-US" sz="4400"/>
              <a:t>Fuzzy Set Operations 1/4</a:t>
            </a:r>
            <a:endParaRPr/>
          </a:p>
        </p:txBody>
      </p:sp>
      <p:sp>
        <p:nvSpPr>
          <p:cNvPr id="2112850756" name="Content Placeholder 2"/>
          <p:cNvSpPr>
            <a:spLocks noGrp="1"/>
          </p:cNvSpPr>
          <p:nvPr>
            <p:ph idx="1"/>
          </p:nvPr>
        </p:nvSpPr>
        <p:spPr bwMode="auto"/>
        <p:txBody>
          <a:bodyPr>
            <a:normAutofit/>
          </a:bodyPr>
          <a:lstStyle/>
          <a:p>
            <a:pPr>
              <a:defRPr/>
            </a:pPr>
            <a:r>
              <a:rPr lang="en-US"/>
              <a:t>Intersection</a:t>
            </a:r>
            <a:endParaRPr/>
          </a:p>
          <a:p>
            <a:pPr>
              <a:defRPr/>
            </a:pPr>
            <a:r>
              <a:rPr lang="el-GR">
                <a:solidFill>
                  <a:srgbClr val="FF0000"/>
                </a:solidFill>
              </a:rPr>
              <a:t>μ</a:t>
            </a:r>
            <a:r>
              <a:rPr lang="en-US" baseline="-25000">
                <a:solidFill>
                  <a:srgbClr val="FF0000"/>
                </a:solidFill>
              </a:rPr>
              <a:t>A</a:t>
            </a:r>
            <a:r>
              <a:rPr lang="en-US">
                <a:solidFill>
                  <a:srgbClr val="FF0000"/>
                </a:solidFill>
              </a:rPr>
              <a:t>(x)</a:t>
            </a:r>
            <a:r>
              <a:rPr lang="el-GR">
                <a:solidFill>
                  <a:srgbClr val="FF0000"/>
                </a:solidFill>
              </a:rPr>
              <a:t> </a:t>
            </a:r>
            <a:r>
              <a:rPr lang="en-US">
                <a:solidFill>
                  <a:srgbClr val="FF0000"/>
                </a:solidFill>
              </a:rPr>
              <a:t></a:t>
            </a:r>
            <a:r>
              <a:rPr lang="en-US">
                <a:solidFill>
                  <a:srgbClr val="FF0000"/>
                </a:solidFill>
              </a:rPr>
              <a:t> </a:t>
            </a:r>
            <a:r>
              <a:rPr lang="el-GR">
                <a:solidFill>
                  <a:srgbClr val="FF0000"/>
                </a:solidFill>
              </a:rPr>
              <a:t>μ</a:t>
            </a:r>
            <a:r>
              <a:rPr lang="en-US" baseline="-25000">
                <a:solidFill>
                  <a:srgbClr val="FF0000"/>
                </a:solidFill>
              </a:rPr>
              <a:t>B</a:t>
            </a:r>
            <a:r>
              <a:rPr lang="en-US">
                <a:solidFill>
                  <a:srgbClr val="FF0000"/>
                </a:solidFill>
              </a:rPr>
              <a:t>(x) = min(</a:t>
            </a:r>
            <a:r>
              <a:rPr lang="el-GR">
                <a:solidFill>
                  <a:srgbClr val="FF0000"/>
                </a:solidFill>
              </a:rPr>
              <a:t>μ</a:t>
            </a:r>
            <a:r>
              <a:rPr lang="en-US" baseline="-25000">
                <a:solidFill>
                  <a:srgbClr val="FF0000"/>
                </a:solidFill>
              </a:rPr>
              <a:t>A</a:t>
            </a:r>
            <a:r>
              <a:rPr lang="en-US">
                <a:solidFill>
                  <a:srgbClr val="FF0000"/>
                </a:solidFill>
              </a:rPr>
              <a:t>(x)</a:t>
            </a:r>
            <a:r>
              <a:rPr lang="en-US">
                <a:solidFill>
                  <a:srgbClr val="FF0000"/>
                </a:solidFill>
              </a:rPr>
              <a:t>,</a:t>
            </a:r>
            <a:r>
              <a:rPr lang="en-US">
                <a:solidFill>
                  <a:srgbClr val="FF0000"/>
                </a:solidFill>
              </a:rPr>
              <a:t> </a:t>
            </a:r>
            <a:r>
              <a:rPr lang="el-GR">
                <a:solidFill>
                  <a:srgbClr val="FF0000"/>
                </a:solidFill>
              </a:rPr>
              <a:t>μ</a:t>
            </a:r>
            <a:r>
              <a:rPr lang="en-US" baseline="-25000">
                <a:solidFill>
                  <a:srgbClr val="FF0000"/>
                </a:solidFill>
              </a:rPr>
              <a:t>B</a:t>
            </a:r>
            <a:r>
              <a:rPr lang="en-US">
                <a:solidFill>
                  <a:srgbClr val="FF0000"/>
                </a:solidFill>
              </a:rPr>
              <a:t>(x))</a:t>
            </a:r>
            <a:endParaRPr/>
          </a:p>
        </p:txBody>
      </p:sp>
      <p:pic>
        <p:nvPicPr>
          <p:cNvPr id="648845536" name="Picture 3" descr="fig 6 - intersection height fuzzy set.JPG"/>
          <p:cNvPicPr>
            <a:picLocks noChangeAspect="1"/>
          </p:cNvPicPr>
          <p:nvPr/>
        </p:nvPicPr>
        <p:blipFill rotWithShape="1">
          <a:blip r:embed="rId3"/>
          <a:stretch/>
        </p:blipFill>
        <p:spPr bwMode="auto">
          <a:xfrm>
            <a:off x="404812" y="3200400"/>
            <a:ext cx="8334375" cy="33718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12850756">
                                            <p:txEl>
                                              <p:pRg st="0" end="0"/>
                                            </p:txEl>
                                          </p:spTgt>
                                        </p:tgtEl>
                                        <p:attrNameLst>
                                          <p:attrName>style.visibility</p:attrName>
                                        </p:attrNameLst>
                                      </p:cBhvr>
                                      <p:to>
                                        <p:strVal val="visible"/>
                                      </p:to>
                                    </p:set>
                                    <p:anim calcmode="lin" valueType="num">
                                      <p:cBhvr additive="base">
                                        <p:cTn id="7" dur="500" fill="hold"/>
                                        <p:tgtEl>
                                          <p:spTgt spid="21128507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128507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12850756">
                                            <p:txEl>
                                              <p:pRg st="1" end="1"/>
                                            </p:txEl>
                                          </p:spTgt>
                                        </p:tgtEl>
                                        <p:attrNameLst>
                                          <p:attrName>style.visibility</p:attrName>
                                        </p:attrNameLst>
                                      </p:cBhvr>
                                      <p:to>
                                        <p:strVal val="visible"/>
                                      </p:to>
                                    </p:set>
                                    <p:anim calcmode="lin" valueType="num">
                                      <p:cBhvr additive="base">
                                        <p:cTn id="13" dur="500" fill="hold"/>
                                        <p:tgtEl>
                                          <p:spTgt spid="21128507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128507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48845536"/>
                                        </p:tgtEl>
                                        <p:attrNameLst>
                                          <p:attrName>style.visibility</p:attrName>
                                        </p:attrNameLst>
                                      </p:cBhvr>
                                      <p:to>
                                        <p:strVal val="visible"/>
                                      </p:to>
                                    </p:set>
                                    <p:anim calcmode="lin" valueType="num">
                                      <p:cBhvr additive="base">
                                        <p:cTn id="19" dur="500" fill="hold"/>
                                        <p:tgtEl>
                                          <p:spTgt spid="648845536"/>
                                        </p:tgtEl>
                                        <p:attrNameLst>
                                          <p:attrName>ppt_x</p:attrName>
                                        </p:attrNameLst>
                                      </p:cBhvr>
                                      <p:tavLst>
                                        <p:tav tm="0">
                                          <p:val>
                                            <p:strVal val="#ppt_x"/>
                                          </p:val>
                                        </p:tav>
                                        <p:tav tm="100000">
                                          <p:val>
                                            <p:strVal val="#ppt_x"/>
                                          </p:val>
                                        </p:tav>
                                      </p:tavLst>
                                    </p:anim>
                                    <p:anim calcmode="lin" valueType="num">
                                      <p:cBhvr additive="base">
                                        <p:cTn id="20" dur="500" fill="hold"/>
                                        <p:tgtEl>
                                          <p:spTgt spid="6488455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2850756" grpId="0" build="p"/>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5437292" name="Title 1"/>
          <p:cNvSpPr>
            <a:spLocks noGrp="1"/>
          </p:cNvSpPr>
          <p:nvPr>
            <p:ph type="title"/>
          </p:nvPr>
        </p:nvSpPr>
        <p:spPr bwMode="auto">
          <a:xfrm>
            <a:off x="457200" y="704088"/>
            <a:ext cx="8229600" cy="896112"/>
          </a:xfrm>
        </p:spPr>
        <p:txBody>
          <a:bodyPr>
            <a:normAutofit/>
          </a:bodyPr>
          <a:lstStyle/>
          <a:p>
            <a:pPr>
              <a:defRPr/>
            </a:pPr>
            <a:r>
              <a:rPr lang="en-US" sz="4400"/>
              <a:t>Fuzzy Set Operations 2/4</a:t>
            </a:r>
            <a:endParaRPr/>
          </a:p>
        </p:txBody>
      </p:sp>
      <p:sp>
        <p:nvSpPr>
          <p:cNvPr id="272125029" name="Content Placeholder 2"/>
          <p:cNvSpPr>
            <a:spLocks noGrp="1"/>
          </p:cNvSpPr>
          <p:nvPr>
            <p:ph idx="1"/>
          </p:nvPr>
        </p:nvSpPr>
        <p:spPr bwMode="auto"/>
        <p:txBody>
          <a:bodyPr>
            <a:normAutofit/>
          </a:bodyPr>
          <a:lstStyle/>
          <a:p>
            <a:pPr>
              <a:defRPr/>
            </a:pPr>
            <a:r>
              <a:rPr lang="en-US"/>
              <a:t>Union</a:t>
            </a:r>
            <a:endParaRPr/>
          </a:p>
          <a:p>
            <a:pPr>
              <a:defRPr/>
            </a:pPr>
            <a:r>
              <a:rPr lang="el-GR">
                <a:solidFill>
                  <a:srgbClr val="FF0000"/>
                </a:solidFill>
              </a:rPr>
              <a:t>μ</a:t>
            </a:r>
            <a:r>
              <a:rPr lang="en-US" baseline="-25000">
                <a:solidFill>
                  <a:srgbClr val="FF0000"/>
                </a:solidFill>
              </a:rPr>
              <a:t>A</a:t>
            </a:r>
            <a:r>
              <a:rPr lang="en-US">
                <a:solidFill>
                  <a:srgbClr val="FF0000"/>
                </a:solidFill>
              </a:rPr>
              <a:t>(x)</a:t>
            </a:r>
            <a:r>
              <a:rPr lang="el-GR">
                <a:solidFill>
                  <a:srgbClr val="FF0000"/>
                </a:solidFill>
              </a:rPr>
              <a:t> </a:t>
            </a:r>
            <a:r>
              <a:rPr lang="en-US">
                <a:solidFill>
                  <a:srgbClr val="FF0000"/>
                </a:solidFill>
              </a:rPr>
              <a:t></a:t>
            </a:r>
            <a:r>
              <a:rPr lang="en-US">
                <a:solidFill>
                  <a:srgbClr val="FF0000"/>
                </a:solidFill>
              </a:rPr>
              <a:t> </a:t>
            </a:r>
            <a:r>
              <a:rPr lang="el-GR">
                <a:solidFill>
                  <a:srgbClr val="FF0000"/>
                </a:solidFill>
              </a:rPr>
              <a:t>μ</a:t>
            </a:r>
            <a:r>
              <a:rPr lang="en-US" baseline="-25000">
                <a:solidFill>
                  <a:srgbClr val="FF0000"/>
                </a:solidFill>
              </a:rPr>
              <a:t>B</a:t>
            </a:r>
            <a:r>
              <a:rPr lang="en-US">
                <a:solidFill>
                  <a:srgbClr val="FF0000"/>
                </a:solidFill>
              </a:rPr>
              <a:t>(x) = max(</a:t>
            </a:r>
            <a:r>
              <a:rPr lang="el-GR">
                <a:solidFill>
                  <a:srgbClr val="FF0000"/>
                </a:solidFill>
              </a:rPr>
              <a:t>μ</a:t>
            </a:r>
            <a:r>
              <a:rPr lang="en-US" baseline="-25000">
                <a:solidFill>
                  <a:srgbClr val="FF0000"/>
                </a:solidFill>
              </a:rPr>
              <a:t>A</a:t>
            </a:r>
            <a:r>
              <a:rPr lang="en-US">
                <a:solidFill>
                  <a:srgbClr val="FF0000"/>
                </a:solidFill>
              </a:rPr>
              <a:t>(x)</a:t>
            </a:r>
            <a:r>
              <a:rPr lang="en-US">
                <a:solidFill>
                  <a:srgbClr val="FF0000"/>
                </a:solidFill>
              </a:rPr>
              <a:t>,</a:t>
            </a:r>
            <a:r>
              <a:rPr lang="en-US">
                <a:solidFill>
                  <a:srgbClr val="FF0000"/>
                </a:solidFill>
              </a:rPr>
              <a:t> </a:t>
            </a:r>
            <a:r>
              <a:rPr lang="el-GR">
                <a:solidFill>
                  <a:srgbClr val="FF0000"/>
                </a:solidFill>
              </a:rPr>
              <a:t>μ</a:t>
            </a:r>
            <a:r>
              <a:rPr lang="en-US" baseline="-25000">
                <a:solidFill>
                  <a:srgbClr val="FF0000"/>
                </a:solidFill>
              </a:rPr>
              <a:t>B</a:t>
            </a:r>
            <a:r>
              <a:rPr lang="en-US">
                <a:solidFill>
                  <a:srgbClr val="FF0000"/>
                </a:solidFill>
              </a:rPr>
              <a:t>(x))</a:t>
            </a:r>
            <a:endParaRPr lang="en-US"/>
          </a:p>
          <a:p>
            <a:pPr>
              <a:defRPr/>
            </a:pPr>
            <a:endParaRPr lang="en-US"/>
          </a:p>
        </p:txBody>
      </p:sp>
      <p:pic>
        <p:nvPicPr>
          <p:cNvPr id="1396677894" name="Picture 3" descr="fig 7 - union height fuzzy set.JPG"/>
          <p:cNvPicPr>
            <a:picLocks noChangeAspect="1"/>
          </p:cNvPicPr>
          <p:nvPr/>
        </p:nvPicPr>
        <p:blipFill rotWithShape="1">
          <a:blip r:embed="rId3"/>
          <a:stretch/>
        </p:blipFill>
        <p:spPr bwMode="auto">
          <a:xfrm>
            <a:off x="404812" y="3276600"/>
            <a:ext cx="8334375" cy="33718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2125029">
                                            <p:txEl>
                                              <p:pRg st="0" end="0"/>
                                            </p:txEl>
                                          </p:spTgt>
                                        </p:tgtEl>
                                        <p:attrNameLst>
                                          <p:attrName>style.visibility</p:attrName>
                                        </p:attrNameLst>
                                      </p:cBhvr>
                                      <p:to>
                                        <p:strVal val="visible"/>
                                      </p:to>
                                    </p:set>
                                    <p:anim calcmode="lin" valueType="num">
                                      <p:cBhvr additive="base">
                                        <p:cTn id="7" dur="500" fill="hold"/>
                                        <p:tgtEl>
                                          <p:spTgt spid="2721250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1250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2125029">
                                            <p:txEl>
                                              <p:pRg st="1" end="1"/>
                                            </p:txEl>
                                          </p:spTgt>
                                        </p:tgtEl>
                                        <p:attrNameLst>
                                          <p:attrName>style.visibility</p:attrName>
                                        </p:attrNameLst>
                                      </p:cBhvr>
                                      <p:to>
                                        <p:strVal val="visible"/>
                                      </p:to>
                                    </p:set>
                                    <p:anim calcmode="lin" valueType="num">
                                      <p:cBhvr additive="base">
                                        <p:cTn id="13" dur="500" fill="hold"/>
                                        <p:tgtEl>
                                          <p:spTgt spid="2721250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212502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96677894"/>
                                        </p:tgtEl>
                                        <p:attrNameLst>
                                          <p:attrName>style.visibility</p:attrName>
                                        </p:attrNameLst>
                                      </p:cBhvr>
                                      <p:to>
                                        <p:strVal val="visible"/>
                                      </p:to>
                                    </p:set>
                                    <p:anim calcmode="lin" valueType="num">
                                      <p:cBhvr additive="base">
                                        <p:cTn id="19" dur="500" fill="hold"/>
                                        <p:tgtEl>
                                          <p:spTgt spid="1396677894"/>
                                        </p:tgtEl>
                                        <p:attrNameLst>
                                          <p:attrName>ppt_x</p:attrName>
                                        </p:attrNameLst>
                                      </p:cBhvr>
                                      <p:tavLst>
                                        <p:tav tm="0">
                                          <p:val>
                                            <p:strVal val="#ppt_x"/>
                                          </p:val>
                                        </p:tav>
                                        <p:tav tm="100000">
                                          <p:val>
                                            <p:strVal val="#ppt_x"/>
                                          </p:val>
                                        </p:tav>
                                      </p:tavLst>
                                    </p:anim>
                                    <p:anim calcmode="lin" valueType="num">
                                      <p:cBhvr additive="base">
                                        <p:cTn id="20" dur="500" fill="hold"/>
                                        <p:tgtEl>
                                          <p:spTgt spid="13966778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125029" grpId="0" build="p"/>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0777965" name="Title 1"/>
          <p:cNvSpPr>
            <a:spLocks noGrp="1"/>
          </p:cNvSpPr>
          <p:nvPr>
            <p:ph type="title"/>
          </p:nvPr>
        </p:nvSpPr>
        <p:spPr bwMode="auto">
          <a:xfrm>
            <a:off x="457200" y="704088"/>
            <a:ext cx="8229600" cy="819912"/>
          </a:xfrm>
        </p:spPr>
        <p:txBody>
          <a:bodyPr>
            <a:normAutofit/>
          </a:bodyPr>
          <a:lstStyle/>
          <a:p>
            <a:pPr>
              <a:defRPr/>
            </a:pPr>
            <a:r>
              <a:rPr lang="en-US" sz="4400"/>
              <a:t>Fuzzy Set Operations 3/4</a:t>
            </a:r>
            <a:endParaRPr/>
          </a:p>
        </p:txBody>
      </p:sp>
      <p:sp>
        <p:nvSpPr>
          <p:cNvPr id="99248248" name="Content Placeholder 2"/>
          <p:cNvSpPr>
            <a:spLocks noGrp="1"/>
          </p:cNvSpPr>
          <p:nvPr>
            <p:ph idx="1"/>
          </p:nvPr>
        </p:nvSpPr>
        <p:spPr bwMode="auto"/>
        <p:txBody>
          <a:bodyPr>
            <a:normAutofit/>
          </a:bodyPr>
          <a:lstStyle/>
          <a:p>
            <a:pPr>
              <a:defRPr/>
            </a:pPr>
            <a:r>
              <a:rPr lang="en-US"/>
              <a:t>Complementation (Not)</a:t>
            </a:r>
            <a:endParaRPr/>
          </a:p>
          <a:p>
            <a:pPr>
              <a:defRPr/>
            </a:pPr>
            <a:r>
              <a:rPr lang="el-GR">
                <a:solidFill>
                  <a:srgbClr val="FF0000"/>
                </a:solidFill>
              </a:rPr>
              <a:t>μ</a:t>
            </a:r>
            <a:r>
              <a:rPr lang="en-US" baseline="-25000">
                <a:solidFill>
                  <a:srgbClr val="FF0000"/>
                </a:solidFill>
              </a:rPr>
              <a:t>Not</a:t>
            </a:r>
            <a:r>
              <a:rPr lang="en-US">
                <a:solidFill>
                  <a:srgbClr val="FF0000"/>
                </a:solidFill>
              </a:rPr>
              <a:t>(x) = 1 - </a:t>
            </a:r>
            <a:r>
              <a:rPr lang="el-GR">
                <a:solidFill>
                  <a:srgbClr val="FF0000"/>
                </a:solidFill>
              </a:rPr>
              <a:t>μ</a:t>
            </a:r>
            <a:r>
              <a:rPr lang="en-US" baseline="-25000">
                <a:solidFill>
                  <a:srgbClr val="FF0000"/>
                </a:solidFill>
              </a:rPr>
              <a:t>A</a:t>
            </a:r>
            <a:r>
              <a:rPr lang="en-US">
                <a:solidFill>
                  <a:srgbClr val="FF0000"/>
                </a:solidFill>
              </a:rPr>
              <a:t>(x)</a:t>
            </a:r>
            <a:endParaRPr/>
          </a:p>
          <a:p>
            <a:pPr>
              <a:defRPr/>
            </a:pPr>
            <a:endParaRPr lang="en-US"/>
          </a:p>
        </p:txBody>
      </p:sp>
      <p:pic>
        <p:nvPicPr>
          <p:cNvPr id="605913613" name="Picture 3" descr="fig 8 - not tall hedges height fuzzy set.JPG"/>
          <p:cNvPicPr>
            <a:picLocks noChangeAspect="1"/>
          </p:cNvPicPr>
          <p:nvPr/>
        </p:nvPicPr>
        <p:blipFill rotWithShape="1">
          <a:blip r:embed="rId3"/>
          <a:stretch/>
        </p:blipFill>
        <p:spPr bwMode="auto">
          <a:xfrm>
            <a:off x="381000" y="2981325"/>
            <a:ext cx="8334375" cy="33432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9248248">
                                            <p:txEl>
                                              <p:pRg st="0" end="0"/>
                                            </p:txEl>
                                          </p:spTgt>
                                        </p:tgtEl>
                                        <p:attrNameLst>
                                          <p:attrName>style.visibility</p:attrName>
                                        </p:attrNameLst>
                                      </p:cBhvr>
                                      <p:to>
                                        <p:strVal val="visible"/>
                                      </p:to>
                                    </p:set>
                                    <p:anim calcmode="lin" valueType="num">
                                      <p:cBhvr additive="base">
                                        <p:cTn id="7" dur="500" fill="hold"/>
                                        <p:tgtEl>
                                          <p:spTgt spid="992482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2482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9248248">
                                            <p:txEl>
                                              <p:pRg st="1" end="1"/>
                                            </p:txEl>
                                          </p:spTgt>
                                        </p:tgtEl>
                                        <p:attrNameLst>
                                          <p:attrName>style.visibility</p:attrName>
                                        </p:attrNameLst>
                                      </p:cBhvr>
                                      <p:to>
                                        <p:strVal val="visible"/>
                                      </p:to>
                                    </p:set>
                                    <p:anim calcmode="lin" valueType="num">
                                      <p:cBhvr additive="base">
                                        <p:cTn id="13" dur="500" fill="hold"/>
                                        <p:tgtEl>
                                          <p:spTgt spid="9924824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92482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05913613"/>
                                        </p:tgtEl>
                                        <p:attrNameLst>
                                          <p:attrName>style.visibility</p:attrName>
                                        </p:attrNameLst>
                                      </p:cBhvr>
                                      <p:to>
                                        <p:strVal val="visible"/>
                                      </p:to>
                                    </p:set>
                                    <p:anim calcmode="lin" valueType="num">
                                      <p:cBhvr additive="base">
                                        <p:cTn id="19" dur="500" fill="hold"/>
                                        <p:tgtEl>
                                          <p:spTgt spid="605913613"/>
                                        </p:tgtEl>
                                        <p:attrNameLst>
                                          <p:attrName>ppt_x</p:attrName>
                                        </p:attrNameLst>
                                      </p:cBhvr>
                                      <p:tavLst>
                                        <p:tav tm="0">
                                          <p:val>
                                            <p:strVal val="#ppt_x"/>
                                          </p:val>
                                        </p:tav>
                                        <p:tav tm="100000">
                                          <p:val>
                                            <p:strVal val="#ppt_x"/>
                                          </p:val>
                                        </p:tav>
                                      </p:tavLst>
                                    </p:anim>
                                    <p:anim calcmode="lin" valueType="num">
                                      <p:cBhvr additive="base">
                                        <p:cTn id="20" dur="500" fill="hold"/>
                                        <p:tgtEl>
                                          <p:spTgt spid="605913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48248" grpId="0" build="p"/>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7538721" name="Title 1"/>
          <p:cNvSpPr>
            <a:spLocks noGrp="1"/>
          </p:cNvSpPr>
          <p:nvPr>
            <p:ph type="title"/>
          </p:nvPr>
        </p:nvSpPr>
        <p:spPr bwMode="auto">
          <a:xfrm>
            <a:off x="457200" y="704088"/>
            <a:ext cx="8229600" cy="896112"/>
          </a:xfrm>
        </p:spPr>
        <p:txBody>
          <a:bodyPr/>
          <a:lstStyle/>
          <a:p>
            <a:pPr>
              <a:defRPr/>
            </a:pPr>
            <a:r>
              <a:rPr lang="en-US"/>
              <a:t>Fuzzy Set Operations 1/4</a:t>
            </a:r>
            <a:endParaRPr/>
          </a:p>
        </p:txBody>
      </p:sp>
      <p:sp>
        <p:nvSpPr>
          <p:cNvPr id="1664274933" name="Content Placeholder 2"/>
          <p:cNvSpPr>
            <a:spLocks noGrp="1"/>
          </p:cNvSpPr>
          <p:nvPr>
            <p:ph idx="1"/>
          </p:nvPr>
        </p:nvSpPr>
        <p:spPr bwMode="auto">
          <a:xfrm>
            <a:off x="457200" y="1935480"/>
            <a:ext cx="8229600" cy="1341120"/>
          </a:xfrm>
        </p:spPr>
        <p:txBody>
          <a:bodyPr>
            <a:normAutofit lnSpcReduction="10000"/>
          </a:bodyPr>
          <a:lstStyle/>
          <a:p>
            <a:pPr>
              <a:defRPr/>
            </a:pPr>
            <a:r>
              <a:rPr lang="en-US"/>
              <a:t>Complicated: </a:t>
            </a:r>
            <a:endParaRPr/>
          </a:p>
          <a:p>
            <a:pPr lvl="1">
              <a:defRPr/>
            </a:pPr>
            <a:r>
              <a:rPr lang="en-US">
                <a:solidFill>
                  <a:srgbClr val="00B050"/>
                </a:solidFill>
              </a:rPr>
              <a:t>Not Very </a:t>
            </a:r>
            <a:r>
              <a:rPr lang="en-US">
                <a:solidFill>
                  <a:srgbClr val="7030A0"/>
                </a:solidFill>
              </a:rPr>
              <a:t>Tall </a:t>
            </a:r>
            <a:r>
              <a:rPr lang="en-US"/>
              <a:t>AND </a:t>
            </a:r>
            <a:r>
              <a:rPr lang="en-US">
                <a:solidFill>
                  <a:srgbClr val="00B050"/>
                </a:solidFill>
              </a:rPr>
              <a:t>Not Very </a:t>
            </a:r>
            <a:r>
              <a:rPr lang="en-US">
                <a:solidFill>
                  <a:srgbClr val="7030A0"/>
                </a:solidFill>
              </a:rPr>
              <a:t>Short </a:t>
            </a:r>
            <a:endParaRPr/>
          </a:p>
          <a:p>
            <a:pPr lvl="1">
              <a:defRPr/>
            </a:pPr>
            <a:r>
              <a:rPr lang="en-US">
                <a:solidFill>
                  <a:srgbClr val="FF0000"/>
                </a:solidFill>
              </a:rPr>
              <a:t>(1-(</a:t>
            </a:r>
            <a:r>
              <a:rPr lang="el-GR">
                <a:solidFill>
                  <a:srgbClr val="FF0000"/>
                </a:solidFill>
              </a:rPr>
              <a:t>μ</a:t>
            </a:r>
            <a:r>
              <a:rPr lang="en-US" baseline="-25000">
                <a:solidFill>
                  <a:srgbClr val="FF0000"/>
                </a:solidFill>
              </a:rPr>
              <a:t>tall</a:t>
            </a:r>
            <a:r>
              <a:rPr lang="en-US">
                <a:solidFill>
                  <a:srgbClr val="FF0000"/>
                </a:solidFill>
              </a:rPr>
              <a:t>(x)</a:t>
            </a:r>
            <a:r>
              <a:rPr lang="en-US" baseline="30000">
                <a:solidFill>
                  <a:srgbClr val="FF0000"/>
                </a:solidFill>
              </a:rPr>
              <a:t>2</a:t>
            </a:r>
            <a:r>
              <a:rPr lang="en-US">
                <a:solidFill>
                  <a:srgbClr val="FF0000"/>
                </a:solidFill>
              </a:rPr>
              <a:t>)    </a:t>
            </a:r>
            <a:r>
              <a:rPr lang="en-US"/>
              <a:t>AND   </a:t>
            </a:r>
            <a:r>
              <a:rPr lang="en-US">
                <a:solidFill>
                  <a:srgbClr val="FF0000"/>
                </a:solidFill>
              </a:rPr>
              <a:t>(1-(</a:t>
            </a:r>
            <a:r>
              <a:rPr lang="el-GR">
                <a:solidFill>
                  <a:srgbClr val="FF0000"/>
                </a:solidFill>
              </a:rPr>
              <a:t>μ</a:t>
            </a:r>
            <a:r>
              <a:rPr lang="en-US" baseline="-25000">
                <a:solidFill>
                  <a:srgbClr val="FF0000"/>
                </a:solidFill>
              </a:rPr>
              <a:t>short</a:t>
            </a:r>
            <a:r>
              <a:rPr lang="en-US">
                <a:solidFill>
                  <a:srgbClr val="FF0000"/>
                </a:solidFill>
              </a:rPr>
              <a:t>(x)</a:t>
            </a:r>
            <a:r>
              <a:rPr lang="en-US" baseline="30000">
                <a:solidFill>
                  <a:srgbClr val="FF0000"/>
                </a:solidFill>
              </a:rPr>
              <a:t>2</a:t>
            </a:r>
            <a:r>
              <a:rPr lang="en-US">
                <a:solidFill>
                  <a:srgbClr val="FF0000"/>
                </a:solidFill>
              </a:rPr>
              <a:t>)</a:t>
            </a:r>
            <a:endParaRPr/>
          </a:p>
          <a:p>
            <a:pPr>
              <a:defRPr/>
            </a:pPr>
            <a:endParaRPr lang="en-US"/>
          </a:p>
        </p:txBody>
      </p:sp>
      <p:pic>
        <p:nvPicPr>
          <p:cNvPr id="1919565283" name="Picture 3" descr="fig 9 - height not very tall AND not very Short fuzzy set.JPG"/>
          <p:cNvPicPr>
            <a:picLocks noChangeAspect="1"/>
          </p:cNvPicPr>
          <p:nvPr/>
        </p:nvPicPr>
        <p:blipFill rotWithShape="1">
          <a:blip r:embed="rId3"/>
          <a:stretch/>
        </p:blipFill>
        <p:spPr bwMode="auto">
          <a:xfrm>
            <a:off x="404812" y="3409950"/>
            <a:ext cx="8334375" cy="33718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9565283"/>
                                        </p:tgtEl>
                                        <p:attrNameLst>
                                          <p:attrName>style.visibility</p:attrName>
                                        </p:attrNameLst>
                                      </p:cBhvr>
                                      <p:to>
                                        <p:strVal val="visible"/>
                                      </p:to>
                                    </p:set>
                                    <p:anim calcmode="lin" valueType="num">
                                      <p:cBhvr additive="base">
                                        <p:cTn id="7" dur="500" fill="hold"/>
                                        <p:tgtEl>
                                          <p:spTgt spid="1919565283"/>
                                        </p:tgtEl>
                                        <p:attrNameLst>
                                          <p:attrName>ppt_x</p:attrName>
                                        </p:attrNameLst>
                                      </p:cBhvr>
                                      <p:tavLst>
                                        <p:tav tm="0">
                                          <p:val>
                                            <p:strVal val="#ppt_x"/>
                                          </p:val>
                                        </p:tav>
                                        <p:tav tm="100000">
                                          <p:val>
                                            <p:strVal val="#ppt_x"/>
                                          </p:val>
                                        </p:tav>
                                      </p:tavLst>
                                    </p:anim>
                                    <p:anim calcmode="lin" valueType="num">
                                      <p:cBhvr additive="base">
                                        <p:cTn id="8" dur="500" fill="hold"/>
                                        <p:tgtEl>
                                          <p:spTgt spid="19195652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64274933">
                                            <p:txEl>
                                              <p:pRg st="0" end="0"/>
                                            </p:txEl>
                                          </p:spTgt>
                                        </p:tgtEl>
                                        <p:attrNameLst>
                                          <p:attrName>style.visibility</p:attrName>
                                        </p:attrNameLst>
                                      </p:cBhvr>
                                      <p:to>
                                        <p:strVal val="visible"/>
                                      </p:to>
                                    </p:set>
                                    <p:anim calcmode="lin" valueType="num">
                                      <p:cBhvr additive="base">
                                        <p:cTn id="13" dur="500" fill="hold"/>
                                        <p:tgtEl>
                                          <p:spTgt spid="166427493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6427493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64274933">
                                            <p:txEl>
                                              <p:pRg st="1" end="1"/>
                                            </p:txEl>
                                          </p:spTgt>
                                        </p:tgtEl>
                                        <p:attrNameLst>
                                          <p:attrName>style.visibility</p:attrName>
                                        </p:attrNameLst>
                                      </p:cBhvr>
                                      <p:to>
                                        <p:strVal val="visible"/>
                                      </p:to>
                                    </p:set>
                                    <p:anim calcmode="lin" valueType="num">
                                      <p:cBhvr additive="base">
                                        <p:cTn id="17" dur="500" fill="hold"/>
                                        <p:tgtEl>
                                          <p:spTgt spid="166427493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6427493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64274933">
                                            <p:txEl>
                                              <p:pRg st="2" end="2"/>
                                            </p:txEl>
                                          </p:spTgt>
                                        </p:tgtEl>
                                        <p:attrNameLst>
                                          <p:attrName>style.visibility</p:attrName>
                                        </p:attrNameLst>
                                      </p:cBhvr>
                                      <p:to>
                                        <p:strVal val="visible"/>
                                      </p:to>
                                    </p:set>
                                    <p:anim calcmode="lin" valueType="num">
                                      <p:cBhvr additive="base">
                                        <p:cTn id="21" dur="500" fill="hold"/>
                                        <p:tgtEl>
                                          <p:spTgt spid="166427493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642749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19565283"/>
                                        </p:tgtEl>
                                        <p:attrNameLst>
                                          <p:attrName>style.visibility</p:attrName>
                                        </p:attrNameLst>
                                      </p:cBhvr>
                                      <p:to>
                                        <p:strVal val="visible"/>
                                      </p:to>
                                    </p:set>
                                    <p:anim calcmode="lin" valueType="num">
                                      <p:cBhvr additive="base">
                                        <p:cTn id="27" dur="500" fill="hold"/>
                                        <p:tgtEl>
                                          <p:spTgt spid="1919565283"/>
                                        </p:tgtEl>
                                        <p:attrNameLst>
                                          <p:attrName>ppt_x</p:attrName>
                                        </p:attrNameLst>
                                      </p:cBhvr>
                                      <p:tavLst>
                                        <p:tav tm="0">
                                          <p:val>
                                            <p:strVal val="#ppt_x"/>
                                          </p:val>
                                        </p:tav>
                                        <p:tav tm="100000">
                                          <p:val>
                                            <p:strVal val="#ppt_x"/>
                                          </p:val>
                                        </p:tav>
                                      </p:tavLst>
                                    </p:anim>
                                    <p:anim calcmode="lin" valueType="num">
                                      <p:cBhvr additive="base">
                                        <p:cTn id="28" dur="500" fill="hold"/>
                                        <p:tgtEl>
                                          <p:spTgt spid="19195652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4274933" grpId="0" build="p"/>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5628499" name="Title 1"/>
          <p:cNvSpPr>
            <a:spLocks noGrp="1"/>
          </p:cNvSpPr>
          <p:nvPr>
            <p:ph type="title"/>
          </p:nvPr>
        </p:nvSpPr>
        <p:spPr bwMode="auto">
          <a:xfrm>
            <a:off x="685800" y="457200"/>
            <a:ext cx="8229600" cy="896112"/>
          </a:xfrm>
        </p:spPr>
        <p:txBody>
          <a:bodyPr>
            <a:normAutofit/>
          </a:bodyPr>
          <a:lstStyle/>
          <a:p>
            <a:pPr>
              <a:defRPr/>
            </a:pPr>
            <a:r>
              <a:rPr lang="en-US" sz="4400"/>
              <a:t>Fuzzy Inference</a:t>
            </a:r>
            <a:endParaRPr/>
          </a:p>
        </p:txBody>
      </p:sp>
      <p:sp>
        <p:nvSpPr>
          <p:cNvPr id="2067981785" name="Content Placeholder 2"/>
          <p:cNvSpPr>
            <a:spLocks noGrp="1"/>
          </p:cNvSpPr>
          <p:nvPr>
            <p:ph idx="1"/>
          </p:nvPr>
        </p:nvSpPr>
        <p:spPr bwMode="auto">
          <a:xfrm>
            <a:off x="228600" y="1600200"/>
            <a:ext cx="8915400" cy="4724399"/>
          </a:xfrm>
        </p:spPr>
        <p:txBody>
          <a:bodyPr>
            <a:normAutofit/>
          </a:bodyPr>
          <a:lstStyle/>
          <a:p>
            <a:pPr>
              <a:buNone/>
              <a:defRPr/>
            </a:pPr>
            <a:r>
              <a:rPr lang="en-US"/>
              <a:t>Fuzzy Propositions: </a:t>
            </a:r>
            <a:r>
              <a:rPr lang="en-US">
                <a:solidFill>
                  <a:srgbClr val="FF0000"/>
                </a:solidFill>
              </a:rPr>
              <a:t>X(Fuzzy Variable</a:t>
            </a:r>
            <a:r>
              <a:rPr lang="en-US"/>
              <a:t> is </a:t>
            </a:r>
            <a:r>
              <a:rPr lang="en-US">
                <a:solidFill>
                  <a:srgbClr val="7030A0"/>
                </a:solidFill>
              </a:rPr>
              <a:t>A(Fuzzy Value)</a:t>
            </a:r>
            <a:endParaRPr/>
          </a:p>
          <a:p>
            <a:pPr>
              <a:buNone/>
              <a:defRPr/>
            </a:pPr>
            <a:endParaRPr lang="en-US"/>
          </a:p>
          <a:p>
            <a:pPr>
              <a:buNone/>
              <a:defRPr/>
            </a:pPr>
            <a:r>
              <a:rPr lang="en-US"/>
              <a:t>Fuzzy Rule relates two propositions, If X is </a:t>
            </a:r>
            <a:r>
              <a:rPr lang="en-US">
                <a:solidFill>
                  <a:srgbClr val="7030A0"/>
                </a:solidFill>
              </a:rPr>
              <a:t>A</a:t>
            </a:r>
            <a:r>
              <a:rPr lang="en-US"/>
              <a:t> then Y is </a:t>
            </a:r>
            <a:r>
              <a:rPr lang="en-US">
                <a:solidFill>
                  <a:srgbClr val="7030A0"/>
                </a:solidFill>
              </a:rPr>
              <a:t>B</a:t>
            </a:r>
            <a:endParaRPr/>
          </a:p>
          <a:p>
            <a:pPr>
              <a:defRPr/>
            </a:pPr>
            <a:r>
              <a:rPr lang="en-US"/>
              <a:t>If </a:t>
            </a:r>
            <a:r>
              <a:rPr lang="en-US">
                <a:solidFill>
                  <a:srgbClr val="FF0000"/>
                </a:solidFill>
              </a:rPr>
              <a:t>Temperature</a:t>
            </a:r>
            <a:r>
              <a:rPr lang="en-US"/>
              <a:t> is </a:t>
            </a:r>
            <a:r>
              <a:rPr lang="en-US">
                <a:solidFill>
                  <a:srgbClr val="7030A0"/>
                </a:solidFill>
              </a:rPr>
              <a:t>Normal </a:t>
            </a:r>
            <a:r>
              <a:rPr lang="en-US"/>
              <a:t>then </a:t>
            </a:r>
            <a:r>
              <a:rPr lang="en-US">
                <a:solidFill>
                  <a:srgbClr val="FF0000"/>
                </a:solidFill>
              </a:rPr>
              <a:t>Velocity</a:t>
            </a:r>
            <a:r>
              <a:rPr lang="en-US"/>
              <a:t> is </a:t>
            </a:r>
            <a:r>
              <a:rPr lang="en-US">
                <a:solidFill>
                  <a:srgbClr val="7030A0"/>
                </a:solidFill>
              </a:rPr>
              <a:t>Medium</a:t>
            </a:r>
            <a:endParaRPr/>
          </a:p>
          <a:p>
            <a:pPr>
              <a:defRPr/>
            </a:pPr>
            <a:r>
              <a:rPr lang="en-US"/>
              <a:t>If </a:t>
            </a:r>
            <a:r>
              <a:rPr lang="en-US">
                <a:solidFill>
                  <a:srgbClr val="FF0000"/>
                </a:solidFill>
              </a:rPr>
              <a:t>Height</a:t>
            </a:r>
            <a:r>
              <a:rPr lang="en-US"/>
              <a:t> is </a:t>
            </a:r>
            <a:r>
              <a:rPr lang="en-US">
                <a:solidFill>
                  <a:srgbClr val="7030A0"/>
                </a:solidFill>
              </a:rPr>
              <a:t>Tall </a:t>
            </a:r>
            <a:r>
              <a:rPr lang="en-US"/>
              <a:t>then </a:t>
            </a:r>
            <a:r>
              <a:rPr lang="en-US">
                <a:solidFill>
                  <a:srgbClr val="FF0000"/>
                </a:solidFill>
              </a:rPr>
              <a:t>Weight</a:t>
            </a:r>
            <a:r>
              <a:rPr lang="en-US"/>
              <a:t> is </a:t>
            </a:r>
            <a:r>
              <a:rPr lang="en-US">
                <a:solidFill>
                  <a:srgbClr val="7030A0"/>
                </a:solidFill>
              </a:rPr>
              <a:t>Heavy</a:t>
            </a:r>
            <a:endParaRPr/>
          </a:p>
          <a:p>
            <a:pPr>
              <a:defRPr/>
            </a:pPr>
            <a:endParaRPr lang="en-US">
              <a:solidFill>
                <a:srgbClr val="7030A0"/>
              </a:solidFill>
            </a:endParaRPr>
          </a:p>
          <a:p>
            <a:pPr>
              <a:buNone/>
              <a:defRPr/>
            </a:pPr>
            <a:r>
              <a:rPr lang="en-US"/>
              <a:t>Fuzzy </a:t>
            </a:r>
            <a:r>
              <a:rPr lang="en-US"/>
              <a:t>Assosiative</a:t>
            </a:r>
            <a:r>
              <a:rPr lang="en-US"/>
              <a:t> Matrix/Memory (FAM)</a:t>
            </a:r>
            <a:endParaRPr/>
          </a:p>
          <a:p>
            <a:pPr>
              <a:defRPr/>
            </a:pPr>
            <a:r>
              <a:rPr lang="en-US"/>
              <a:t>Maps Fuzzy Set A to Fuzzy Set B for Fuzzy Inference Process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67981785">
                                            <p:txEl>
                                              <p:pRg st="0" end="0"/>
                                            </p:txEl>
                                          </p:spTgt>
                                        </p:tgtEl>
                                        <p:attrNameLst>
                                          <p:attrName>style.visibility</p:attrName>
                                        </p:attrNameLst>
                                      </p:cBhvr>
                                      <p:to>
                                        <p:strVal val="visible"/>
                                      </p:to>
                                    </p:set>
                                    <p:anim calcmode="lin" valueType="num">
                                      <p:cBhvr additive="base">
                                        <p:cTn id="7" dur="500" fill="hold"/>
                                        <p:tgtEl>
                                          <p:spTgt spid="20679817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79817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67981785">
                                            <p:txEl>
                                              <p:pRg st="2" end="2"/>
                                            </p:txEl>
                                          </p:spTgt>
                                        </p:tgtEl>
                                        <p:attrNameLst>
                                          <p:attrName>style.visibility</p:attrName>
                                        </p:attrNameLst>
                                      </p:cBhvr>
                                      <p:to>
                                        <p:strVal val="visible"/>
                                      </p:to>
                                    </p:set>
                                    <p:anim calcmode="lin" valueType="num">
                                      <p:cBhvr additive="base">
                                        <p:cTn id="13" dur="500" fill="hold"/>
                                        <p:tgtEl>
                                          <p:spTgt spid="206798178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679817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67981785">
                                            <p:txEl>
                                              <p:pRg st="3" end="3"/>
                                            </p:txEl>
                                          </p:spTgt>
                                        </p:tgtEl>
                                        <p:attrNameLst>
                                          <p:attrName>style.visibility</p:attrName>
                                        </p:attrNameLst>
                                      </p:cBhvr>
                                      <p:to>
                                        <p:strVal val="visible"/>
                                      </p:to>
                                    </p:set>
                                    <p:anim calcmode="lin" valueType="num">
                                      <p:cBhvr additive="base">
                                        <p:cTn id="19" dur="500" fill="hold"/>
                                        <p:tgtEl>
                                          <p:spTgt spid="206798178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679817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67981785">
                                            <p:txEl>
                                              <p:pRg st="4" end="4"/>
                                            </p:txEl>
                                          </p:spTgt>
                                        </p:tgtEl>
                                        <p:attrNameLst>
                                          <p:attrName>style.visibility</p:attrName>
                                        </p:attrNameLst>
                                      </p:cBhvr>
                                      <p:to>
                                        <p:strVal val="visible"/>
                                      </p:to>
                                    </p:set>
                                    <p:anim calcmode="lin" valueType="num">
                                      <p:cBhvr additive="base">
                                        <p:cTn id="25" dur="500" fill="hold"/>
                                        <p:tgtEl>
                                          <p:spTgt spid="206798178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679817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67981785">
                                            <p:txEl>
                                              <p:pRg st="6" end="6"/>
                                            </p:txEl>
                                          </p:spTgt>
                                        </p:tgtEl>
                                        <p:attrNameLst>
                                          <p:attrName>style.visibility</p:attrName>
                                        </p:attrNameLst>
                                      </p:cBhvr>
                                      <p:to>
                                        <p:strVal val="visible"/>
                                      </p:to>
                                    </p:set>
                                    <p:anim calcmode="lin" valueType="num">
                                      <p:cBhvr additive="base">
                                        <p:cTn id="31" dur="500" fill="hold"/>
                                        <p:tgtEl>
                                          <p:spTgt spid="206798178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679817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67981785">
                                            <p:txEl>
                                              <p:pRg st="7" end="7"/>
                                            </p:txEl>
                                          </p:spTgt>
                                        </p:tgtEl>
                                        <p:attrNameLst>
                                          <p:attrName>style.visibility</p:attrName>
                                        </p:attrNameLst>
                                      </p:cBhvr>
                                      <p:to>
                                        <p:strVal val="visible"/>
                                      </p:to>
                                    </p:set>
                                    <p:anim calcmode="lin" valueType="num">
                                      <p:cBhvr additive="base">
                                        <p:cTn id="37" dur="500" fill="hold"/>
                                        <p:tgtEl>
                                          <p:spTgt spid="206798178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6798178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7981785" grpId="0" build="p"/>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5925020" name="Title 1"/>
          <p:cNvSpPr>
            <a:spLocks noGrp="1"/>
          </p:cNvSpPr>
          <p:nvPr>
            <p:ph type="title"/>
          </p:nvPr>
        </p:nvSpPr>
        <p:spPr bwMode="auto">
          <a:xfrm>
            <a:off x="152400" y="2133600"/>
            <a:ext cx="4114800" cy="1752599"/>
          </a:xfrm>
        </p:spPr>
        <p:txBody>
          <a:bodyPr>
            <a:noAutofit/>
          </a:bodyPr>
          <a:lstStyle/>
          <a:p>
            <a:pPr algn="ctr">
              <a:defRPr/>
            </a:pPr>
            <a:r>
              <a:rPr lang="en-US" sz="2800"/>
              <a:t>[2] </a:t>
            </a:r>
            <a:br>
              <a:rPr lang="en-US" sz="2800"/>
            </a:br>
            <a:r>
              <a:rPr lang="en-US" sz="2800"/>
              <a:t>If </a:t>
            </a:r>
            <a:r>
              <a:rPr lang="en-US" sz="2800">
                <a:solidFill>
                  <a:srgbClr val="FF0000"/>
                </a:solidFill>
              </a:rPr>
              <a:t>Temperature</a:t>
            </a:r>
            <a:r>
              <a:rPr lang="en-US" sz="2800"/>
              <a:t> is </a:t>
            </a:r>
            <a:r>
              <a:rPr lang="en-US" sz="2800">
                <a:solidFill>
                  <a:srgbClr val="7030A0"/>
                </a:solidFill>
              </a:rPr>
              <a:t>warm </a:t>
            </a:r>
            <a:br>
              <a:rPr lang="en-US" sz="2800"/>
            </a:br>
            <a:r>
              <a:rPr lang="en-US" sz="2800"/>
              <a:t>and </a:t>
            </a:r>
            <a:r>
              <a:rPr lang="en-US" sz="2800">
                <a:solidFill>
                  <a:srgbClr val="FF0000"/>
                </a:solidFill>
              </a:rPr>
              <a:t>Pressure </a:t>
            </a:r>
            <a:r>
              <a:rPr lang="en-US" sz="2800"/>
              <a:t>is </a:t>
            </a:r>
            <a:r>
              <a:rPr lang="en-US" sz="2800">
                <a:solidFill>
                  <a:srgbClr val="7030A0"/>
                </a:solidFill>
              </a:rPr>
              <a:t>low </a:t>
            </a:r>
            <a:br>
              <a:rPr lang="en-US" sz="2800"/>
            </a:br>
            <a:r>
              <a:rPr lang="en-US" sz="2800"/>
              <a:t>then set </a:t>
            </a:r>
            <a:r>
              <a:rPr lang="en-US" sz="2800">
                <a:solidFill>
                  <a:srgbClr val="FF0000"/>
                </a:solidFill>
              </a:rPr>
              <a:t>Heat </a:t>
            </a:r>
            <a:r>
              <a:rPr lang="en-US" sz="2800"/>
              <a:t>to </a:t>
            </a:r>
            <a:r>
              <a:rPr lang="en-US" sz="2800">
                <a:solidFill>
                  <a:srgbClr val="7030A0"/>
                </a:solidFill>
              </a:rPr>
              <a:t>high</a:t>
            </a:r>
            <a:endParaRPr/>
          </a:p>
        </p:txBody>
      </p:sp>
      <p:pic>
        <p:nvPicPr>
          <p:cNvPr id="1685258019" name="Picture 4" descr="[Fuzzy Associative Matrix]"/>
          <p:cNvPicPr>
            <a:picLocks noChangeAspect="1" noChangeArrowheads="1"/>
          </p:cNvPicPr>
          <p:nvPr/>
        </p:nvPicPr>
        <p:blipFill rotWithShape="1">
          <a:blip r:embed="rId3"/>
          <a:stretch/>
        </p:blipFill>
        <p:spPr bwMode="auto">
          <a:xfrm>
            <a:off x="4114800" y="1371600"/>
            <a:ext cx="4724399" cy="5040679"/>
          </a:xfrm>
          <a:prstGeom prst="rect">
            <a:avLst/>
          </a:prstGeom>
          <a:noFill/>
        </p:spPr>
      </p:pic>
      <p:sp>
        <p:nvSpPr>
          <p:cNvPr id="503654548" name="Title 1"/>
          <p:cNvSpPr txBox="1"/>
          <p:nvPr/>
        </p:nvSpPr>
        <p:spPr bwMode="auto">
          <a:xfrm>
            <a:off x="838200" y="381000"/>
            <a:ext cx="7315200" cy="838200"/>
          </a:xfrm>
          <a:prstGeom prst="rect">
            <a:avLst/>
          </a:prstGeom>
        </p:spPr>
        <p:txBody>
          <a:bodyPr vert="horz" lIns="0" rIns="0" bIns="0" anchor="b">
            <a:noAutofit/>
          </a:bodyPr>
          <a:lstStyle/>
          <a:p>
            <a:pPr marL="0" marR="0" lvl="0" indent="0" algn="ctr" defTabSz="914400" rtl="0">
              <a:lnSpc>
                <a:spcPct val="100000"/>
              </a:lnSpc>
              <a:spcBef>
                <a:spcPts val="0"/>
              </a:spcBef>
              <a:spcAft>
                <a:spcPts val="0"/>
              </a:spcAft>
              <a:buClrTx/>
              <a:buSzTx/>
              <a:buFontTx/>
              <a:buNone/>
              <a:defRPr/>
            </a:pPr>
            <a:r>
              <a:rPr lang="en-US" sz="3600">
                <a:solidFill>
                  <a:schemeClr val="tx2"/>
                </a:solidFill>
                <a:latin typeface="+mj-lt"/>
                <a:ea typeface="+mj-ea"/>
                <a:cs typeface="+mj-cs"/>
              </a:rPr>
              <a:t>Fuzzy Associative Matrix - Example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3518879" name="Title 1"/>
          <p:cNvSpPr>
            <a:spLocks noGrp="1"/>
          </p:cNvSpPr>
          <p:nvPr>
            <p:ph type="title"/>
          </p:nvPr>
        </p:nvSpPr>
        <p:spPr bwMode="auto">
          <a:xfrm>
            <a:off x="457200" y="704088"/>
            <a:ext cx="8229600" cy="591312"/>
          </a:xfrm>
        </p:spPr>
        <p:txBody>
          <a:bodyPr>
            <a:normAutofit fontScale="90000"/>
          </a:bodyPr>
          <a:lstStyle/>
          <a:p>
            <a:pPr>
              <a:defRPr/>
            </a:pPr>
            <a:r>
              <a:rPr lang="en-US" sz="4400"/>
              <a:t>Example</a:t>
            </a:r>
            <a:endParaRPr/>
          </a:p>
        </p:txBody>
      </p:sp>
      <p:pic>
        <p:nvPicPr>
          <p:cNvPr id="743416027" name="Picture 3" descr="fuzzy_inference_3.gif"/>
          <p:cNvPicPr>
            <a:picLocks noChangeAspect="1"/>
          </p:cNvPicPr>
          <p:nvPr/>
        </p:nvPicPr>
        <p:blipFill rotWithShape="1">
          <a:blip r:embed="rId3"/>
          <a:stretch/>
        </p:blipFill>
        <p:spPr bwMode="auto">
          <a:xfrm>
            <a:off x="353291" y="1447800"/>
            <a:ext cx="8485909" cy="4572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9740456" name="Title 1"/>
          <p:cNvSpPr>
            <a:spLocks noGrp="1"/>
          </p:cNvSpPr>
          <p:nvPr>
            <p:ph type="title"/>
          </p:nvPr>
        </p:nvSpPr>
        <p:spPr bwMode="auto">
          <a:xfrm>
            <a:off x="457200" y="0"/>
            <a:ext cx="8229600" cy="1143000"/>
          </a:xfrm>
        </p:spPr>
        <p:txBody>
          <a:bodyPr/>
          <a:lstStyle/>
          <a:p>
            <a:pPr>
              <a:defRPr/>
            </a:pPr>
            <a:r>
              <a:rPr lang="en-US" sz="4400"/>
              <a:t>Example</a:t>
            </a:r>
            <a:endParaRPr lang="en-US"/>
          </a:p>
        </p:txBody>
      </p:sp>
      <p:pic>
        <p:nvPicPr>
          <p:cNvPr id="1747098006" name="Picture 3" descr="mamdani_tipping_new.gif"/>
          <p:cNvPicPr>
            <a:picLocks noChangeAspect="1"/>
          </p:cNvPicPr>
          <p:nvPr/>
        </p:nvPicPr>
        <p:blipFill rotWithShape="1">
          <a:blip r:embed="rId3"/>
          <a:stretch/>
        </p:blipFill>
        <p:spPr bwMode="auto">
          <a:xfrm>
            <a:off x="838200" y="1066800"/>
            <a:ext cx="7010399" cy="57501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338505" name="Title 1"/>
          <p:cNvSpPr>
            <a:spLocks noGrp="1"/>
          </p:cNvSpPr>
          <p:nvPr>
            <p:ph type="title"/>
          </p:nvPr>
        </p:nvSpPr>
        <p:spPr bwMode="auto">
          <a:xfrm>
            <a:off x="762000" y="457200"/>
            <a:ext cx="8229600" cy="819912"/>
          </a:xfrm>
        </p:spPr>
        <p:txBody>
          <a:bodyPr/>
          <a:lstStyle/>
          <a:p>
            <a:pPr>
              <a:defRPr/>
            </a:pPr>
            <a:r>
              <a:rPr lang="en-US" sz="4400"/>
              <a:t>Example</a:t>
            </a:r>
            <a:endParaRPr lang="en-US"/>
          </a:p>
        </p:txBody>
      </p:sp>
      <p:pic>
        <p:nvPicPr>
          <p:cNvPr id="330063960" name="Picture 3" descr="if-then_rules1_2.gif"/>
          <p:cNvPicPr>
            <a:picLocks noChangeAspect="1"/>
          </p:cNvPicPr>
          <p:nvPr/>
        </p:nvPicPr>
        <p:blipFill rotWithShape="1">
          <a:blip r:embed="rId3"/>
          <a:stretch/>
        </p:blipFill>
        <p:spPr bwMode="auto">
          <a:xfrm>
            <a:off x="1047750" y="1295400"/>
            <a:ext cx="7029450" cy="55054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5725430" name="Title 1"/>
          <p:cNvSpPr>
            <a:spLocks noGrp="1"/>
          </p:cNvSpPr>
          <p:nvPr>
            <p:ph type="title"/>
          </p:nvPr>
        </p:nvSpPr>
        <p:spPr bwMode="auto">
          <a:xfrm>
            <a:off x="609600" y="76200"/>
            <a:ext cx="8458200" cy="838200"/>
          </a:xfrm>
        </p:spPr>
        <p:txBody>
          <a:bodyPr>
            <a:normAutofit/>
          </a:bodyPr>
          <a:lstStyle/>
          <a:p>
            <a:pPr>
              <a:defRPr/>
            </a:pPr>
            <a:r>
              <a:rPr lang="en-US" sz="4000"/>
              <a:t>Fuzzy Logic &amp; Machine Learning</a:t>
            </a:r>
            <a:endParaRPr/>
          </a:p>
        </p:txBody>
      </p:sp>
      <p:sp>
        <p:nvSpPr>
          <p:cNvPr id="173560433" name="Content Placeholder 2"/>
          <p:cNvSpPr>
            <a:spLocks noGrp="1"/>
          </p:cNvSpPr>
          <p:nvPr>
            <p:ph idx="1"/>
          </p:nvPr>
        </p:nvSpPr>
        <p:spPr bwMode="auto">
          <a:xfrm>
            <a:off x="152400" y="1066800"/>
            <a:ext cx="8763000" cy="5791200"/>
          </a:xfrm>
        </p:spPr>
        <p:txBody>
          <a:bodyPr>
            <a:normAutofit fontScale="92500" lnSpcReduction="20000"/>
          </a:bodyPr>
          <a:lstStyle/>
          <a:p>
            <a:pPr>
              <a:buNone/>
              <a:defRPr/>
            </a:pPr>
            <a:r>
              <a:rPr lang="en-US"/>
              <a:t>Fuzzy Logic provides a relatively </a:t>
            </a:r>
            <a:r>
              <a:rPr lang="en-US">
                <a:solidFill>
                  <a:srgbClr val="FF0000"/>
                </a:solidFill>
              </a:rPr>
              <a:t>flexible framework for dealing with human knowledge, </a:t>
            </a:r>
            <a:endParaRPr/>
          </a:p>
          <a:p>
            <a:pPr>
              <a:buNone/>
              <a:defRPr/>
            </a:pPr>
            <a:endParaRPr lang="en-US"/>
          </a:p>
          <a:p>
            <a:pPr>
              <a:defRPr/>
            </a:pPr>
            <a:r>
              <a:rPr lang="en-US"/>
              <a:t>potential to produce models that are more comprehensible, </a:t>
            </a:r>
            <a:r>
              <a:rPr lang="en-US">
                <a:solidFill>
                  <a:srgbClr val="FF0000"/>
                </a:solidFill>
              </a:rPr>
              <a:t>less complex</a:t>
            </a:r>
            <a:r>
              <a:rPr lang="en-US"/>
              <a:t>, and </a:t>
            </a:r>
            <a:r>
              <a:rPr lang="en-US">
                <a:solidFill>
                  <a:srgbClr val="FF0000"/>
                </a:solidFill>
              </a:rPr>
              <a:t>more robust</a:t>
            </a:r>
            <a:r>
              <a:rPr lang="en-US"/>
              <a:t>;</a:t>
            </a:r>
            <a:endParaRPr/>
          </a:p>
          <a:p>
            <a:pPr>
              <a:defRPr/>
            </a:pPr>
            <a:endParaRPr lang="en-US"/>
          </a:p>
          <a:p>
            <a:pPr>
              <a:defRPr/>
            </a:pPr>
            <a:r>
              <a:rPr lang="en-US"/>
              <a:t>In data mining, fuzzy methods appear to be especially useful for representing </a:t>
            </a:r>
            <a:r>
              <a:rPr lang="en-US">
                <a:solidFill>
                  <a:srgbClr val="FF0000"/>
                </a:solidFill>
              </a:rPr>
              <a:t>vague patterns and rules</a:t>
            </a:r>
            <a:r>
              <a:rPr lang="en-US"/>
              <a:t>,</a:t>
            </a:r>
            <a:endParaRPr/>
          </a:p>
          <a:p>
            <a:pPr>
              <a:defRPr/>
            </a:pPr>
            <a:endParaRPr lang="en-US"/>
          </a:p>
          <a:p>
            <a:pPr>
              <a:defRPr/>
            </a:pPr>
            <a:r>
              <a:rPr lang="en-US"/>
              <a:t>Fuzzy logic, in conjunction with possibility theory, can contribute to the modeling and processing of various forms of </a:t>
            </a:r>
            <a:r>
              <a:rPr lang="en-US">
                <a:solidFill>
                  <a:srgbClr val="FF0000"/>
                </a:solidFill>
              </a:rPr>
              <a:t>uncertain and incomplete information</a:t>
            </a:r>
            <a:r>
              <a:rPr lang="en-US"/>
              <a:t>.</a:t>
            </a:r>
            <a:endParaRPr/>
          </a:p>
          <a:p>
            <a:pPr>
              <a:defRPr/>
            </a:pPr>
            <a:endParaRPr lang="en-US"/>
          </a:p>
          <a:p>
            <a:pPr>
              <a:defRPr/>
            </a:pPr>
            <a:r>
              <a:rPr lang="en-US"/>
              <a:t>Fuzzy methods appear to be particularly useful for data </a:t>
            </a:r>
            <a:r>
              <a:rPr lang="en-US">
                <a:solidFill>
                  <a:srgbClr val="FF0000"/>
                </a:solidFill>
              </a:rPr>
              <a:t>pre- and </a:t>
            </a:r>
            <a:r>
              <a:rPr lang="en-US">
                <a:solidFill>
                  <a:srgbClr val="FF0000"/>
                </a:solidFill>
              </a:rPr>
              <a:t>postprocessing</a:t>
            </a:r>
            <a:r>
              <a:rPr lang="en-US">
                <a:solidFill>
                  <a:srgbClr val="FF0000"/>
                </a:solidFill>
              </a:rPr>
              <a:t>, </a:t>
            </a:r>
            <a:r>
              <a:rPr lang="en-US"/>
              <a:t>in any ML technique.</a:t>
            </a:r>
            <a:endParaRPr/>
          </a:p>
          <a:p>
            <a:pPr>
              <a:defRPr/>
            </a:pPr>
            <a:r>
              <a:rPr lang="en-US" sz="1900"/>
              <a:t>Courtesy: </a:t>
            </a:r>
            <a:r>
              <a:rPr lang="en-US" sz="1900"/>
              <a:t>Eyke</a:t>
            </a:r>
            <a:r>
              <a:rPr lang="en-US" sz="1900"/>
              <a:t> </a:t>
            </a:r>
            <a:r>
              <a:rPr lang="en-US" sz="1900"/>
              <a:t>Hullermeier</a:t>
            </a:r>
            <a:r>
              <a:rPr lang="en-US" sz="1900"/>
              <a:t>, Fuzzy Methods in Machine Learning and Data Mining: Status and Prospects. Fuzzy Sets and Systems</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3560433">
                                            <p:txEl>
                                              <p:pRg st="0" end="0"/>
                                            </p:txEl>
                                          </p:spTgt>
                                        </p:tgtEl>
                                        <p:attrNameLst>
                                          <p:attrName>style.visibility</p:attrName>
                                        </p:attrNameLst>
                                      </p:cBhvr>
                                      <p:to>
                                        <p:strVal val="visible"/>
                                      </p:to>
                                    </p:set>
                                    <p:anim calcmode="lin" valueType="num">
                                      <p:cBhvr additive="base">
                                        <p:cTn id="7" dur="500" fill="hold"/>
                                        <p:tgtEl>
                                          <p:spTgt spid="1735604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35604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3560433">
                                            <p:txEl>
                                              <p:pRg st="2" end="2"/>
                                            </p:txEl>
                                          </p:spTgt>
                                        </p:tgtEl>
                                        <p:attrNameLst>
                                          <p:attrName>style.visibility</p:attrName>
                                        </p:attrNameLst>
                                      </p:cBhvr>
                                      <p:to>
                                        <p:strVal val="visible"/>
                                      </p:to>
                                    </p:set>
                                    <p:anim calcmode="lin" valueType="num">
                                      <p:cBhvr additive="base">
                                        <p:cTn id="13" dur="500" fill="hold"/>
                                        <p:tgtEl>
                                          <p:spTgt spid="17356043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35604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3560433">
                                            <p:txEl>
                                              <p:pRg st="4" end="4"/>
                                            </p:txEl>
                                          </p:spTgt>
                                        </p:tgtEl>
                                        <p:attrNameLst>
                                          <p:attrName>style.visibility</p:attrName>
                                        </p:attrNameLst>
                                      </p:cBhvr>
                                      <p:to>
                                        <p:strVal val="visible"/>
                                      </p:to>
                                    </p:set>
                                    <p:anim calcmode="lin" valueType="num">
                                      <p:cBhvr additive="base">
                                        <p:cTn id="19" dur="500" fill="hold"/>
                                        <p:tgtEl>
                                          <p:spTgt spid="17356043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356043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3560433">
                                            <p:txEl>
                                              <p:pRg st="6" end="6"/>
                                            </p:txEl>
                                          </p:spTgt>
                                        </p:tgtEl>
                                        <p:attrNameLst>
                                          <p:attrName>style.visibility</p:attrName>
                                        </p:attrNameLst>
                                      </p:cBhvr>
                                      <p:to>
                                        <p:strVal val="visible"/>
                                      </p:to>
                                    </p:set>
                                    <p:anim calcmode="lin" valueType="num">
                                      <p:cBhvr additive="base">
                                        <p:cTn id="25" dur="500" fill="hold"/>
                                        <p:tgtEl>
                                          <p:spTgt spid="17356043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356043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3560433">
                                            <p:txEl>
                                              <p:pRg st="8" end="8"/>
                                            </p:txEl>
                                          </p:spTgt>
                                        </p:tgtEl>
                                        <p:attrNameLst>
                                          <p:attrName>style.visibility</p:attrName>
                                        </p:attrNameLst>
                                      </p:cBhvr>
                                      <p:to>
                                        <p:strVal val="visible"/>
                                      </p:to>
                                    </p:set>
                                    <p:anim calcmode="lin" valueType="num">
                                      <p:cBhvr additive="base">
                                        <p:cTn id="31" dur="500" fill="hold"/>
                                        <p:tgtEl>
                                          <p:spTgt spid="17356043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356043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3560433">
                                            <p:txEl>
                                              <p:pRg st="9" end="9"/>
                                            </p:txEl>
                                          </p:spTgt>
                                        </p:tgtEl>
                                        <p:attrNameLst>
                                          <p:attrName>style.visibility</p:attrName>
                                        </p:attrNameLst>
                                      </p:cBhvr>
                                      <p:to>
                                        <p:strVal val="visible"/>
                                      </p:to>
                                    </p:set>
                                    <p:anim calcmode="lin" valueType="num">
                                      <p:cBhvr additive="base">
                                        <p:cTn id="37" dur="500" fill="hold"/>
                                        <p:tgtEl>
                                          <p:spTgt spid="17356043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356043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560433" grpId="0" build="p"/>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9649656" name="Title 1"/>
          <p:cNvSpPr>
            <a:spLocks noGrp="1"/>
          </p:cNvSpPr>
          <p:nvPr>
            <p:ph type="title"/>
          </p:nvPr>
        </p:nvSpPr>
        <p:spPr bwMode="auto">
          <a:xfrm>
            <a:off x="457200" y="381000"/>
            <a:ext cx="8229600" cy="743712"/>
          </a:xfrm>
        </p:spPr>
        <p:txBody>
          <a:bodyPr>
            <a:normAutofit fontScale="90000"/>
          </a:bodyPr>
          <a:lstStyle/>
          <a:p>
            <a:pPr>
              <a:defRPr/>
            </a:pPr>
            <a:r>
              <a:rPr lang="en-US" sz="3200"/>
              <a:t>Conclusion - Fuzzy Logic in Machine Learning</a:t>
            </a:r>
            <a:endParaRPr lang="en-US" sz="4400"/>
          </a:p>
        </p:txBody>
      </p:sp>
      <p:sp>
        <p:nvSpPr>
          <p:cNvPr id="1963836922" name="Content Placeholder 2"/>
          <p:cNvSpPr>
            <a:spLocks noGrp="1"/>
          </p:cNvSpPr>
          <p:nvPr>
            <p:ph idx="1"/>
          </p:nvPr>
        </p:nvSpPr>
        <p:spPr bwMode="auto">
          <a:xfrm>
            <a:off x="152400" y="1295400"/>
            <a:ext cx="8839200" cy="5334000"/>
          </a:xfrm>
        </p:spPr>
        <p:txBody>
          <a:bodyPr>
            <a:normAutofit fontScale="92500"/>
          </a:bodyPr>
          <a:lstStyle/>
          <a:p>
            <a:pPr>
              <a:defRPr/>
            </a:pPr>
            <a:r>
              <a:rPr lang="en-US">
                <a:solidFill>
                  <a:srgbClr val="FF0000"/>
                </a:solidFill>
              </a:rPr>
              <a:t>Humans </a:t>
            </a:r>
            <a:r>
              <a:rPr lang="en-US"/>
              <a:t>perform better when they are able to </a:t>
            </a:r>
            <a:r>
              <a:rPr lang="en-US"/>
              <a:t>intepret</a:t>
            </a:r>
            <a:r>
              <a:rPr lang="en-US"/>
              <a:t> and gain </a:t>
            </a:r>
            <a:r>
              <a:rPr lang="en-US">
                <a:solidFill>
                  <a:srgbClr val="FF0000"/>
                </a:solidFill>
              </a:rPr>
              <a:t>meaning, understanding and information </a:t>
            </a:r>
            <a:r>
              <a:rPr lang="en-US"/>
              <a:t>from the training data. This is when they can </a:t>
            </a:r>
            <a:r>
              <a:rPr lang="en-US">
                <a:solidFill>
                  <a:srgbClr val="FF0000"/>
                </a:solidFill>
              </a:rPr>
              <a:t>generalize </a:t>
            </a:r>
            <a:r>
              <a:rPr lang="en-US"/>
              <a:t>best and draw the best conclusions. </a:t>
            </a:r>
            <a:endParaRPr/>
          </a:p>
          <a:p>
            <a:pPr>
              <a:defRPr/>
            </a:pPr>
            <a:r>
              <a:rPr lang="en-US"/>
              <a:t>For </a:t>
            </a:r>
            <a:r>
              <a:rPr lang="en-US">
                <a:solidFill>
                  <a:srgbClr val="FF0000"/>
                </a:solidFill>
              </a:rPr>
              <a:t>human interaction, knowledge acquisition </a:t>
            </a:r>
            <a:r>
              <a:rPr lang="en-US"/>
              <a:t>and for </a:t>
            </a:r>
            <a:r>
              <a:rPr lang="en-US"/>
              <a:t>modelling</a:t>
            </a:r>
            <a:r>
              <a:rPr lang="en-US"/>
              <a:t> the problems with </a:t>
            </a:r>
            <a:r>
              <a:rPr lang="en-US">
                <a:solidFill>
                  <a:srgbClr val="FF0000"/>
                </a:solidFill>
              </a:rPr>
              <a:t>uncertain and vague data </a:t>
            </a:r>
            <a:r>
              <a:rPr lang="en-US"/>
              <a:t>Fuzzy Logic seems better</a:t>
            </a:r>
            <a:endParaRPr/>
          </a:p>
          <a:p>
            <a:pPr>
              <a:defRPr/>
            </a:pPr>
            <a:endParaRPr lang="en-US"/>
          </a:p>
          <a:p>
            <a:pPr>
              <a:defRPr/>
            </a:pPr>
            <a:r>
              <a:rPr lang="en-US"/>
              <a:t>ML algorithms however have no such requirements and can apply techniques to obtain results approaching the </a:t>
            </a:r>
            <a:r>
              <a:rPr lang="en-US">
                <a:solidFill>
                  <a:srgbClr val="FF0000"/>
                </a:solidFill>
              </a:rPr>
              <a:t>probabilistic optimum </a:t>
            </a:r>
            <a:r>
              <a:rPr lang="en-US"/>
              <a:t>without any need to comprehend anything. </a:t>
            </a:r>
            <a:endParaRPr/>
          </a:p>
          <a:p>
            <a:pPr>
              <a:defRPr/>
            </a:pPr>
            <a:r>
              <a:rPr lang="en-US"/>
              <a:t>In these problems </a:t>
            </a:r>
            <a:r>
              <a:rPr lang="en-US">
                <a:solidFill>
                  <a:srgbClr val="FF0000"/>
                </a:solidFill>
              </a:rPr>
              <a:t>Fuzzification</a:t>
            </a:r>
            <a:r>
              <a:rPr lang="en-US">
                <a:solidFill>
                  <a:srgbClr val="FF0000"/>
                </a:solidFill>
              </a:rPr>
              <a:t> and </a:t>
            </a:r>
            <a:r>
              <a:rPr lang="en-US">
                <a:solidFill>
                  <a:srgbClr val="FF0000"/>
                </a:solidFill>
              </a:rPr>
              <a:t>Defuzzification</a:t>
            </a:r>
            <a:r>
              <a:rPr lang="en-US">
                <a:solidFill>
                  <a:srgbClr val="FF0000"/>
                </a:solidFill>
              </a:rPr>
              <a:t> </a:t>
            </a:r>
            <a:r>
              <a:rPr lang="en-US"/>
              <a:t>will be an overhead. </a:t>
            </a:r>
            <a:endParaRPr/>
          </a:p>
          <a:p>
            <a:pPr>
              <a:defRPr/>
            </a:pPr>
            <a:r>
              <a:rPr lang="en-US"/>
              <a:t>There exists</a:t>
            </a:r>
            <a:r>
              <a:rPr lang="en-US">
                <a:solidFill>
                  <a:srgbClr val="FF0000"/>
                </a:solidFill>
              </a:rPr>
              <a:t> hybrid models</a:t>
            </a:r>
            <a:r>
              <a:rPr lang="en-US"/>
              <a:t>, but use of Fuzzy Logic in Machine Learning is </a:t>
            </a:r>
            <a:r>
              <a:rPr lang="en-US">
                <a:solidFill>
                  <a:srgbClr val="FF0000"/>
                </a:solidFill>
              </a:rPr>
              <a:t>less explored </a:t>
            </a:r>
            <a:r>
              <a:rPr lang="en-US"/>
              <a:t>yet.</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2313790" name="Title 1"/>
          <p:cNvSpPr>
            <a:spLocks noGrp="1"/>
          </p:cNvSpPr>
          <p:nvPr>
            <p:ph type="title"/>
          </p:nvPr>
        </p:nvSpPr>
        <p:spPr bwMode="auto">
          <a:xfrm>
            <a:off x="2971800" y="304800"/>
            <a:ext cx="3429000" cy="1905000"/>
          </a:xfrm>
        </p:spPr>
        <p:txBody>
          <a:bodyPr>
            <a:normAutofit/>
          </a:bodyPr>
          <a:lstStyle/>
          <a:p>
            <a:pPr algn="ctr">
              <a:defRPr/>
            </a:pPr>
            <a:r>
              <a:rPr lang="en-US"/>
              <a:t>Questions? (If Any)</a:t>
            </a:r>
            <a:endParaRPr/>
          </a:p>
        </p:txBody>
      </p:sp>
      <p:pic>
        <p:nvPicPr>
          <p:cNvPr id="237223069" name="Picture 3" descr="fuzzy_set.jpg"/>
          <p:cNvPicPr>
            <a:picLocks noChangeAspect="1"/>
          </p:cNvPicPr>
          <p:nvPr/>
        </p:nvPicPr>
        <p:blipFill rotWithShape="1">
          <a:blip r:embed="rId3"/>
          <a:stretch/>
        </p:blipFill>
        <p:spPr bwMode="auto">
          <a:xfrm>
            <a:off x="2819400" y="2286000"/>
            <a:ext cx="4686514" cy="3771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 Id="rId1" Type="http://schemas.openxmlformats.org/officeDocument/2006/relationships/image" Target="../media/image1.jpg"/></Relationships>
</file>

<file path=ppt/theme/_rels/theme2.xml.rels><?xml version="1.0" encoding="UTF-8" standalone="yes"?><Relationships xmlns="http://schemas.openxmlformats.org/package/2006/relationships"><Relationship Id="rId1" Type="http://schemas.openxmlformats.org/officeDocument/2006/relationships/image" Target="../media/image1.jpg"/></Relationships>
</file>

<file path=ppt/theme/theme1.xml><?xml version="1.0" encoding="utf-8"?>
<a:theme xmlns:a="http://schemas.openxmlformats.org/drawingml/2006/main" xmlns:r="http://schemas.openxmlformats.org/officeDocument/2006/relationships" xmlns:p="http://schemas.openxmlformats.org/presentationml/2006/main" name="Flow">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Classic">
      <a:majorFont>
        <a:latin typeface="Arial"/>
        <a:ea typeface="Arial"/>
        <a:cs typeface="Arial"/>
      </a:majorFont>
      <a:minorFont>
        <a:latin typeface="Times New Roman"/>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80000"/>
                <a:satMod val="400000"/>
              </a:schemeClr>
            </a:gs>
            <a:gs pos="25000">
              <a:schemeClr val="phClr">
                <a:tint val="83000"/>
                <a:satMod val="320000"/>
              </a:schemeClr>
            </a:gs>
            <a:gs pos="100000">
              <a:schemeClr val="phClr">
                <a:shade val="15000"/>
                <a:satMod val="320000"/>
              </a:schemeClr>
            </a:gs>
          </a:gsLst>
          <a:path path="circle"/>
        </a:gradFill>
        <a:blipFill rotWithShape="1">
          <a:blip r:embed="rId1">
            <a:duotone>
              <a:schemeClr val="phClr">
                <a:shade val="90000"/>
                <a:satMod val="150000"/>
              </a:schemeClr>
              <a:schemeClr val="phClr">
                <a:tint val="88000"/>
                <a:satMod val="150000"/>
              </a:schemeClr>
            </a:duotone>
          </a:blip>
          <a:tile algn="tl" flip="none" sx="65000" sy="65000" tx="0" ty="0"/>
        </a:blip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Flow">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
      <a:majorFont>
        <a:latin typeface="Arial"/>
        <a:ea typeface="Arial"/>
        <a:cs typeface="Arial"/>
      </a:majorFont>
      <a:minorFont>
        <a:latin typeface="Times New Roman"/>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80000"/>
                <a:satMod val="400000"/>
              </a:schemeClr>
            </a:gs>
            <a:gs pos="25000">
              <a:schemeClr val="phClr">
                <a:tint val="83000"/>
                <a:satMod val="320000"/>
              </a:schemeClr>
            </a:gs>
            <a:gs pos="100000">
              <a:schemeClr val="phClr">
                <a:shade val="15000"/>
                <a:satMod val="320000"/>
              </a:schemeClr>
            </a:gs>
          </a:gsLst>
          <a:path path="circle"/>
        </a:gradFill>
        <a:blipFill rotWithShape="1">
          <a:blip r:embed="rId1">
            <a:duotone>
              <a:schemeClr val="phClr">
                <a:shade val="90000"/>
                <a:satMod val="150000"/>
              </a:schemeClr>
              <a:schemeClr val="phClr">
                <a:tint val="88000"/>
                <a:satMod val="150000"/>
              </a:schemeClr>
            </a:duotone>
          </a:blip>
          <a:tile algn="tl" flip="none" sx="65000" sy="65000" tx="0" ty="0"/>
        </a:blip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Flow</Template>
  <TotalTime>0</TotalTime>
  <Words>0</Words>
  <Application>ONLYOFFICE/9.4.0.129</Application>
  <PresentationFormat>On-screen Show (4:3)</PresentationFormat>
  <Paragraphs>0</Paragraphs>
  <Slides>32</Slides>
  <Notes>32</Notes>
  <HiddenSlides>0</HiddenSlides>
  <MMClips>2</MMClips>
  <ScaleCrop>0</ScaleCrop>
  <HeadingPairs>
    <vt:vector size="4" baseType="variant">
      <vt:variant>
        <vt:lpstr>Theme</vt:lpstr>
      </vt:variant>
      <vt:variant>
        <vt:i4>1</vt:i4>
      </vt:variant>
      <vt:variant>
        <vt:lpstr>Slide Titles</vt:lpstr>
      </vt:variant>
      <vt:variant>
        <vt:i4>32</vt:i4>
      </vt:variant>
    </vt:vector>
  </HeadingPairs>
  <TitlesOfParts>
    <vt:vector size="3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UET</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Logic – An Introduction</dc:title>
  <dc:creator>Talha Waheed</dc:creator>
  <cp:lastModifiedBy/>
  <cp:revision>87</cp:revision>
  <dcterms:created xsi:type="dcterms:W3CDTF">2012-02-17T13:16:43Z</dcterms:created>
  <dcterms:modified xsi:type="dcterms:W3CDTF">2026-10-26T09:36:29Z</dcterms:modified>
</cp:coreProperties>
</file>