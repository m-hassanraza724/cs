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5" r:id="rId8"/>
    <p:sldId id="257" r:id="rId9"/>
    <p:sldId id="276" r:id="rId10"/>
    <p:sldId id="258" r:id="rId11"/>
    <p:sldId id="278" r:id="rId12"/>
    <p:sldId id="279" r:id="rId13"/>
    <p:sldId id="280" r:id="rId14"/>
    <p:sldId id="281" r:id="rId15"/>
    <p:sldId id="259" r:id="rId16"/>
    <p:sldId id="260" r:id="rId17"/>
    <p:sldId id="273" r:id="rId18"/>
    <p:sldId id="261" r:id="rId19"/>
    <p:sldId id="282" r:id="rId20"/>
    <p:sldId id="277" r:id="rId21"/>
    <p:sldId id="264" r:id="rId22"/>
    <p:sldId id="265" r:id="rId23"/>
    <p:sldId id="267" r:id="rId24"/>
    <p:sldId id="266" r:id="rId25"/>
    <p:sldId id="274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46" autoAdjust="0"/>
    <p:restoredTop sz="90929"/>
  </p:normalViewPr>
  <p:slideViewPr>
    <p:cSldViewPr>
      <p:cViewPr varScale="1">
        <p:scale>
          <a:sx n="67" d="100"/>
          <a:sy n="67" d="100"/>
        </p:scale>
        <p:origin x="83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>
            <a:extLst>
              <a:ext uri="{FF2B5EF4-FFF2-40B4-BE49-F238E27FC236}">
                <a16:creationId xmlns:a16="http://schemas.microsoft.com/office/drawing/2014/main" id="{3D9AC0B5-7544-4575-4353-FD184C06251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78838" cy="6173788"/>
            <a:chOff x="0" y="0"/>
            <a:chExt cx="5341" cy="3889"/>
          </a:xfrm>
        </p:grpSpPr>
        <p:sp>
          <p:nvSpPr>
            <p:cNvPr id="23555" name="Freeform 3">
              <a:extLst>
                <a:ext uri="{FF2B5EF4-FFF2-40B4-BE49-F238E27FC236}">
                  <a16:creationId xmlns:a16="http://schemas.microsoft.com/office/drawing/2014/main" id="{D0D3ED9B-38A8-7086-7E00-4135257FB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3556" name="Freeform 4">
              <a:extLst>
                <a:ext uri="{FF2B5EF4-FFF2-40B4-BE49-F238E27FC236}">
                  <a16:creationId xmlns:a16="http://schemas.microsoft.com/office/drawing/2014/main" id="{4AEBF5C8-4212-3E05-7715-44E280061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3557" name="Freeform 5">
              <a:extLst>
                <a:ext uri="{FF2B5EF4-FFF2-40B4-BE49-F238E27FC236}">
                  <a16:creationId xmlns:a16="http://schemas.microsoft.com/office/drawing/2014/main" id="{499C9AEB-C7E3-80FA-571E-B6C318598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3558" name="Freeform 6">
              <a:extLst>
                <a:ext uri="{FF2B5EF4-FFF2-40B4-BE49-F238E27FC236}">
                  <a16:creationId xmlns:a16="http://schemas.microsoft.com/office/drawing/2014/main" id="{0D7323C4-FB38-B05E-C968-4EAA3C414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3559" name="Rectangle 7">
            <a:extLst>
              <a:ext uri="{FF2B5EF4-FFF2-40B4-BE49-F238E27FC236}">
                <a16:creationId xmlns:a16="http://schemas.microsoft.com/office/drawing/2014/main" id="{BE4DD786-6B6D-10A8-86C4-7BC8D130484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43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PK" noProof="0"/>
              <a:t>Click to edit Master title style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F2D3B39B-C325-76FA-9BC0-B358D67EE48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81940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PK" noProof="0"/>
              <a:t>Click to edit Master subtitle style</a:t>
            </a:r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80AC8485-34E5-8CB1-7D7C-8927C4EDDEFF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PK"/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8868E82C-61A2-17DC-E7B5-4223C9F335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altLang="en-PK"/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8A4DF3AC-5339-828D-2B31-612DB29B947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CA3895-195E-4BAE-BA80-B1D189A37E1F}" type="slidenum">
              <a:rPr lang="en-US" altLang="en-PK"/>
              <a:pPr/>
              <a:t>‹#›</a:t>
            </a:fld>
            <a:endParaRPr lang="en-US" altLang="en-P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1A64-A8A5-6486-3766-979AA5C4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B4C99-ECDF-E3F8-42B0-6B9221B83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F64D3-A648-1D72-A08A-A5B3F3AC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D12F0-53DC-7F99-3D12-95499B78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86011-6F55-6B38-BA4A-AE3708B5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8EC670-09A5-4641-AFB3-0E839055D1C6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8336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2A72-35D3-D912-0D2F-67454EF5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3BBF5-5107-E3E9-5185-F2953010F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2B3E0-5564-07CF-F65E-763016A8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B7EC-9D54-B571-2897-A024D480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8159-4E41-3327-746C-04D286BE7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0236B-445C-469C-9B68-077CD95F50CF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236181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43E4-FA13-84C4-A2FA-098FE1709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7567D-C1ED-CDF7-2166-38EA4F6FB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081ED-2C95-9246-4C46-29DAC99A2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4415F-5C63-7D7D-50A6-64034246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D4A98-0037-D5AC-7234-052B32D9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BBD86-24B6-8E1D-A306-B5196B94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EB2971-A73F-4688-97E6-42F38BEB69A7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26979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9738-B478-0973-60F9-3547FE07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23D27-083E-95E8-386C-A92937A8C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4C787-2B7A-B857-2A40-5502017AA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AF7BB-7CDD-263D-CA8B-A4D24AD8A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F8A71-01C8-4434-61D1-F27ABD1A8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86E20-1F95-430C-426D-802F4C9D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C62DB-421F-863F-A5A6-C3DDC313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DBD06-3126-909B-A704-059B7C55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9E689-2A21-4272-ABDB-2EE582DD58EF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37447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9869-35A5-ECD6-9F78-500A5A6E6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74F53-1585-0410-73B4-2AC5F24A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3C22B-72FF-193B-57D5-0314FA08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82D03-FB73-0152-CA8D-4CEDE185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7B7003-556C-46C6-AF3D-0784C89B5F70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2029027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56729-9C90-D2F9-86D8-D23E67D1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6D83B2-06DD-E692-FDED-0BDDF779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79690-FDB1-F41C-8530-43633972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4C6FC-A2FF-46B7-AC8E-D685C2494C07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86073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60A2-72B7-6A9D-491A-E35470FE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6ECA-E897-1433-4EDD-53C0413A4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1B97D-9885-0299-A5F5-1EFE2FE96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45A6E-D671-4509-0533-F20B1976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CAB23-134C-BB83-80A7-158B4027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77FBB-269A-15B9-077B-BF5D9F2E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260E87-3D88-49A3-97C2-5A137DC251A0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46056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F680-3F74-9931-0CE9-8B66CC67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52B79B-C7F4-E6D3-CC2C-64A552710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78643-D5C0-1331-C3AB-A7E07B0E2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EC424-38D1-CA58-F952-1EF18610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AAA9C-39F2-EDC8-4901-80E4810D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6CA40-8BCE-C47B-9CE2-51162C9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AD3527-E580-497D-AC69-116939DCA52A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428553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8E49-C8ED-159E-CC42-66440A85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4776B-3651-EF1C-1A87-0BD02A96B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E81BF-129D-4E45-A682-B602FB21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D5235-CAAB-1E4D-0244-3AF04C46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029B2-37ED-C77E-5C02-7F9DFDDA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82B78E-9E51-4A6D-93F0-4487586D9500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407270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EFF87E-1323-97A4-26FA-B5ECC0CC0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0B560-489E-53ED-A6DF-831BDBE4A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02C99-E981-4828-F94E-D32FC59D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05795-EA80-F90F-6FCD-64BB23E2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0033-3532-955F-2916-136C217FA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D7F3A-3586-407D-8D9C-D7CB3D44F520}" type="slidenum">
              <a:rPr lang="en-US" altLang="en-PK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39307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>
            <a:extLst>
              <a:ext uri="{FF2B5EF4-FFF2-40B4-BE49-F238E27FC236}">
                <a16:creationId xmlns:a16="http://schemas.microsoft.com/office/drawing/2014/main" id="{624A3BCC-DA59-4510-D91F-53D998221FC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78838" cy="6173788"/>
            <a:chOff x="0" y="0"/>
            <a:chExt cx="5341" cy="3889"/>
          </a:xfrm>
        </p:grpSpPr>
        <p:sp>
          <p:nvSpPr>
            <p:cNvPr id="22531" name="Freeform 3">
              <a:extLst>
                <a:ext uri="{FF2B5EF4-FFF2-40B4-BE49-F238E27FC236}">
                  <a16:creationId xmlns:a16="http://schemas.microsoft.com/office/drawing/2014/main" id="{61C2E77C-D704-5B19-71B2-4F9FC5E5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2532" name="Freeform 4">
              <a:extLst>
                <a:ext uri="{FF2B5EF4-FFF2-40B4-BE49-F238E27FC236}">
                  <a16:creationId xmlns:a16="http://schemas.microsoft.com/office/drawing/2014/main" id="{2D5003DC-BF6A-84D6-71DA-AA2DD9EA5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2533" name="Freeform 5">
              <a:extLst>
                <a:ext uri="{FF2B5EF4-FFF2-40B4-BE49-F238E27FC236}">
                  <a16:creationId xmlns:a16="http://schemas.microsoft.com/office/drawing/2014/main" id="{D5C24042-E214-7312-3C29-0E15C7A24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2534" name="Freeform 6">
              <a:extLst>
                <a:ext uri="{FF2B5EF4-FFF2-40B4-BE49-F238E27FC236}">
                  <a16:creationId xmlns:a16="http://schemas.microsoft.com/office/drawing/2014/main" id="{E960865B-5959-8407-F0C9-4532836E8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2535" name="Rectangle 7">
            <a:extLst>
              <a:ext uri="{FF2B5EF4-FFF2-40B4-BE49-F238E27FC236}">
                <a16:creationId xmlns:a16="http://schemas.microsoft.com/office/drawing/2014/main" id="{89E1BC80-93EB-D882-FABD-CF3545674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6861DCF7-B707-134D-A1C7-6F48790630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/>
            </a:lvl1pPr>
          </a:lstStyle>
          <a:p>
            <a:endParaRPr lang="en-US" altLang="en-PK"/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7BD8BC5A-0DDF-2333-52EF-63EFF0687A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/>
            </a:lvl1pPr>
          </a:lstStyle>
          <a:p>
            <a:endParaRPr lang="en-US" altLang="en-PK"/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A6F40FB0-61CF-53C6-9EF7-A2ECF7FD8C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E36051EA-FFA1-4598-96EC-1615B2051941}" type="slidenum">
              <a:rPr lang="en-US" altLang="en-PK"/>
              <a:pPr/>
              <a:t>‹#›</a:t>
            </a:fld>
            <a:endParaRPr lang="en-US" altLang="en-PK"/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43218D83-3539-2C53-F20B-3230C3EB9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0D7E269-C293-2E84-5283-18A420B498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1447800"/>
            <a:ext cx="7696200" cy="1981200"/>
          </a:xfrm>
        </p:spPr>
        <p:txBody>
          <a:bodyPr/>
          <a:lstStyle/>
          <a:p>
            <a:r>
              <a:rPr lang="en-US" altLang="en-PK"/>
              <a:t>Fundamentals </a:t>
            </a:r>
            <a:br>
              <a:rPr lang="en-US" altLang="en-PK"/>
            </a:br>
            <a:r>
              <a:rPr lang="en-US" altLang="en-PK"/>
              <a:t>of </a:t>
            </a:r>
            <a:br>
              <a:rPr lang="en-US" altLang="en-PK"/>
            </a:br>
            <a:r>
              <a:rPr lang="en-US" altLang="en-PK"/>
              <a:t>Neural Networks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D527D51-7E66-B26F-8D9E-071696260A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81400"/>
            <a:ext cx="6400800" cy="990600"/>
          </a:xfrm>
        </p:spPr>
        <p:txBody>
          <a:bodyPr/>
          <a:lstStyle/>
          <a:p>
            <a:r>
              <a:rPr lang="en-US" altLang="en-PK"/>
              <a:t>Talha Waheed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35213CE-5D8B-9373-304B-B38C75284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Connectionist Approach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4E855A-4AD3-A581-8360-61DAF5EF4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Symbolic Versus Connectionist</a:t>
            </a:r>
          </a:p>
          <a:p>
            <a:r>
              <a:rPr lang="en-US" altLang="en-PK"/>
              <a:t>Intelligence arises in systems of simple interacting components (neurons) through a process of learning by which the connections between components are adjusted.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1E6227-8738-23B9-9DF6-E00AE68BB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Characteristics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71D3374-BAEA-A481-2468-B7999F172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Processing is distributed and parallel</a:t>
            </a:r>
          </a:p>
          <a:p>
            <a:r>
              <a:rPr lang="en-US" altLang="en-PK"/>
              <a:t>Not explicitly programmed</a:t>
            </a:r>
          </a:p>
          <a:p>
            <a:r>
              <a:rPr lang="en-US" altLang="en-PK"/>
              <a:t>No explicit manipulation of symbols. </a:t>
            </a:r>
          </a:p>
          <a:p>
            <a:r>
              <a:rPr lang="en-US" altLang="en-PK"/>
              <a:t>Patterns are encoded as numerical vectors</a:t>
            </a:r>
          </a:p>
          <a:p>
            <a:r>
              <a:rPr lang="en-US" altLang="en-PK"/>
              <a:t>Connection of components is also numerical</a:t>
            </a:r>
          </a:p>
          <a:p>
            <a:r>
              <a:rPr lang="en-US" altLang="en-PK"/>
              <a:t>Transformation of pattern by numerical operations (Matrix multiplication)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322D4F2-13DE-DD2F-81E5-8D617D74E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Applications 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F2C4214-75C9-C41D-5747-AF9E911E3A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Classification</a:t>
            </a:r>
          </a:p>
          <a:p>
            <a:r>
              <a:rPr lang="en-US" altLang="en-PK"/>
              <a:t>Pattern Recognition</a:t>
            </a:r>
          </a:p>
          <a:p>
            <a:r>
              <a:rPr lang="en-US" altLang="en-PK"/>
              <a:t>Memory Recall</a:t>
            </a:r>
          </a:p>
          <a:p>
            <a:r>
              <a:rPr lang="en-US" altLang="en-PK"/>
              <a:t>Prediction</a:t>
            </a:r>
          </a:p>
          <a:p>
            <a:r>
              <a:rPr lang="en-US" altLang="en-PK"/>
              <a:t>Optimization</a:t>
            </a:r>
          </a:p>
          <a:p>
            <a:r>
              <a:rPr lang="en-US" altLang="en-PK"/>
              <a:t>Noise Filtering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975A7A-CF95-B38D-24E5-ADFB04763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PK"/>
              <a:t>Biological Neuron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318ADE2-AB44-4522-DCF7-8EDB2506B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PK" sz="2800"/>
              <a:t>SOMA – Cell Body (Main Processing Unit)</a:t>
            </a:r>
          </a:p>
          <a:p>
            <a:pPr>
              <a:lnSpc>
                <a:spcPct val="90000"/>
              </a:lnSpc>
            </a:pPr>
            <a:r>
              <a:rPr lang="en-US" altLang="en-PK" sz="2800"/>
              <a:t>Dendrites – Input Units </a:t>
            </a:r>
          </a:p>
          <a:p>
            <a:pPr lvl="1">
              <a:lnSpc>
                <a:spcPct val="90000"/>
              </a:lnSpc>
            </a:pPr>
            <a:r>
              <a:rPr lang="en-US" altLang="en-PK" sz="2400"/>
              <a:t>~1,000-10,000</a:t>
            </a:r>
          </a:p>
          <a:p>
            <a:pPr lvl="1">
              <a:lnSpc>
                <a:spcPct val="90000"/>
              </a:lnSpc>
            </a:pPr>
            <a:r>
              <a:rPr lang="en-US" altLang="en-PK" sz="2400"/>
              <a:t>~ 1– 5 mm</a:t>
            </a:r>
          </a:p>
          <a:p>
            <a:pPr>
              <a:lnSpc>
                <a:spcPct val="90000"/>
              </a:lnSpc>
            </a:pPr>
            <a:r>
              <a:rPr lang="en-US" altLang="en-PK" sz="2800"/>
              <a:t>Axon – Output Unit</a:t>
            </a:r>
          </a:p>
          <a:p>
            <a:pPr lvl="1">
              <a:lnSpc>
                <a:spcPct val="90000"/>
              </a:lnSpc>
            </a:pPr>
            <a:r>
              <a:rPr lang="en-US" altLang="en-PK" sz="2400"/>
              <a:t>Usually 1 cm (1 meter in extreme cases)</a:t>
            </a:r>
          </a:p>
          <a:p>
            <a:pPr>
              <a:lnSpc>
                <a:spcPct val="90000"/>
              </a:lnSpc>
            </a:pPr>
            <a:r>
              <a:rPr lang="en-US" altLang="en-PK" sz="2800"/>
              <a:t>Synapses – Connecting Junction</a:t>
            </a:r>
          </a:p>
          <a:p>
            <a:pPr lvl="1">
              <a:lnSpc>
                <a:spcPct val="90000"/>
              </a:lnSpc>
            </a:pPr>
            <a:r>
              <a:rPr lang="en-US" altLang="en-PK" sz="2400"/>
              <a:t>excitatory and inhibitory</a:t>
            </a:r>
          </a:p>
          <a:p>
            <a:pPr>
              <a:lnSpc>
                <a:spcPct val="90000"/>
              </a:lnSpc>
            </a:pPr>
            <a:r>
              <a:rPr lang="en-US" altLang="en-PK" sz="2800"/>
              <a:t>Electric Potential of Cell Body</a:t>
            </a:r>
          </a:p>
          <a:p>
            <a:pPr>
              <a:lnSpc>
                <a:spcPct val="90000"/>
              </a:lnSpc>
            </a:pPr>
            <a:r>
              <a:rPr lang="en-US" altLang="en-PK" sz="2800"/>
              <a:t>Threshold of Neuron</a:t>
            </a:r>
          </a:p>
          <a:p>
            <a:pPr>
              <a:lnSpc>
                <a:spcPct val="90000"/>
              </a:lnSpc>
            </a:pPr>
            <a:r>
              <a:rPr lang="en-US" altLang="en-PK" sz="2800"/>
              <a:t>Learning in brain – weight change and new connections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7A1A5C1-2A9E-053A-54BA-1827C4B6F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PK"/>
              <a:t>Computer Vs. Brain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85AF9AB-51A5-7697-F37A-B794F171E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PK" sz="2000" dirty="0"/>
              <a:t>Computational Units</a:t>
            </a:r>
          </a:p>
          <a:p>
            <a:pPr lvl="1">
              <a:lnSpc>
                <a:spcPct val="90000"/>
              </a:lnSpc>
            </a:pPr>
            <a:r>
              <a:rPr lang="en-US" altLang="en-PK" sz="1800" dirty="0"/>
              <a:t>1 CPU, 10</a:t>
            </a:r>
            <a:r>
              <a:rPr lang="en-US" altLang="en-PK" sz="1800" baseline="30000" dirty="0"/>
              <a:t>5</a:t>
            </a:r>
            <a:r>
              <a:rPr lang="en-US" altLang="en-PK" sz="1800" dirty="0"/>
              <a:t> Gates vs. 10</a:t>
            </a:r>
            <a:r>
              <a:rPr lang="en-US" altLang="en-PK" sz="1800" baseline="30000" dirty="0"/>
              <a:t>11</a:t>
            </a:r>
            <a:r>
              <a:rPr lang="en-US" altLang="en-PK" sz="1800" dirty="0"/>
              <a:t> neurons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Storage Units</a:t>
            </a:r>
          </a:p>
          <a:p>
            <a:pPr lvl="1">
              <a:lnSpc>
                <a:spcPct val="90000"/>
              </a:lnSpc>
            </a:pPr>
            <a:r>
              <a:rPr lang="en-US" altLang="en-PK" sz="1800" dirty="0"/>
              <a:t>10</a:t>
            </a:r>
            <a:r>
              <a:rPr lang="en-US" altLang="en-PK" sz="1800" baseline="30000" dirty="0"/>
              <a:t>9</a:t>
            </a:r>
            <a:r>
              <a:rPr lang="en-US" altLang="en-PK" sz="1800" dirty="0"/>
              <a:t> bits RAM, 10</a:t>
            </a:r>
            <a:r>
              <a:rPr lang="en-US" altLang="en-PK" sz="1800" baseline="30000" dirty="0"/>
              <a:t>10</a:t>
            </a:r>
            <a:r>
              <a:rPr lang="en-US" altLang="en-PK" sz="1800" dirty="0"/>
              <a:t> bits disk, vs.</a:t>
            </a:r>
          </a:p>
          <a:p>
            <a:pPr lvl="1">
              <a:lnSpc>
                <a:spcPct val="90000"/>
              </a:lnSpc>
            </a:pPr>
            <a:r>
              <a:rPr lang="en-US" altLang="en-PK" sz="1800" dirty="0"/>
              <a:t>10</a:t>
            </a:r>
            <a:r>
              <a:rPr lang="en-US" altLang="en-PK" sz="1800" baseline="30000" dirty="0"/>
              <a:t>11</a:t>
            </a:r>
            <a:r>
              <a:rPr lang="en-US" altLang="en-PK" sz="1800" dirty="0"/>
              <a:t> neurons 10</a:t>
            </a:r>
            <a:r>
              <a:rPr lang="en-US" altLang="en-PK" sz="1800" baseline="30000" dirty="0"/>
              <a:t>14</a:t>
            </a:r>
            <a:r>
              <a:rPr lang="en-US" altLang="en-PK" sz="1800" dirty="0"/>
              <a:t> synapses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Cycle Time</a:t>
            </a:r>
          </a:p>
          <a:p>
            <a:pPr lvl="1">
              <a:lnSpc>
                <a:spcPct val="90000"/>
              </a:lnSpc>
            </a:pPr>
            <a:r>
              <a:rPr lang="en-US" altLang="en-PK" sz="1800" dirty="0"/>
              <a:t>10</a:t>
            </a:r>
            <a:r>
              <a:rPr lang="en-US" altLang="en-PK" sz="1800" baseline="30000" dirty="0"/>
              <a:t>-8 </a:t>
            </a:r>
            <a:r>
              <a:rPr lang="en-US" altLang="en-PK" sz="1800" dirty="0"/>
              <a:t>sec vs. 10</a:t>
            </a:r>
            <a:r>
              <a:rPr lang="en-US" altLang="en-PK" sz="1800" baseline="30000" dirty="0"/>
              <a:t>-3</a:t>
            </a:r>
            <a:r>
              <a:rPr lang="en-US" altLang="en-PK" sz="1800" dirty="0"/>
              <a:t> sec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Bandwidth</a:t>
            </a:r>
          </a:p>
          <a:p>
            <a:pPr lvl="1">
              <a:lnSpc>
                <a:spcPct val="90000"/>
              </a:lnSpc>
            </a:pPr>
            <a:r>
              <a:rPr lang="en-US" altLang="en-PK" sz="1800" dirty="0"/>
              <a:t>10</a:t>
            </a:r>
            <a:r>
              <a:rPr lang="en-US" altLang="en-PK" sz="1800" baseline="30000" dirty="0"/>
              <a:t>9 </a:t>
            </a:r>
            <a:r>
              <a:rPr lang="en-US" altLang="en-PK" sz="1800" dirty="0"/>
              <a:t>bits/sec vs. 10</a:t>
            </a:r>
            <a:r>
              <a:rPr lang="en-US" altLang="en-PK" sz="1800" baseline="30000" dirty="0"/>
              <a:t>14 </a:t>
            </a:r>
            <a:r>
              <a:rPr lang="en-US" altLang="en-PK" sz="1800" dirty="0"/>
              <a:t>bits/sec 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Neuron Updates/Sec</a:t>
            </a:r>
          </a:p>
          <a:p>
            <a:pPr lvl="1">
              <a:lnSpc>
                <a:spcPct val="90000"/>
              </a:lnSpc>
            </a:pPr>
            <a:r>
              <a:rPr lang="en-US" altLang="en-PK" sz="1800" dirty="0"/>
              <a:t>10</a:t>
            </a:r>
            <a:r>
              <a:rPr lang="en-US" altLang="en-PK" sz="1800" baseline="30000" dirty="0"/>
              <a:t>5  </a:t>
            </a:r>
            <a:r>
              <a:rPr lang="en-US" altLang="en-PK" sz="1800" dirty="0"/>
              <a:t>vs.</a:t>
            </a:r>
            <a:r>
              <a:rPr lang="en-US" altLang="en-PK" sz="1800" baseline="30000" dirty="0"/>
              <a:t> </a:t>
            </a:r>
            <a:r>
              <a:rPr lang="en-US" altLang="en-PK" sz="1800" dirty="0"/>
              <a:t>10</a:t>
            </a:r>
            <a:r>
              <a:rPr lang="en-US" altLang="en-PK" sz="1800" baseline="30000" dirty="0"/>
              <a:t>14</a:t>
            </a:r>
            <a:r>
              <a:rPr lang="en-US" altLang="en-PK" sz="18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A569E-FF0E-6A4A-C584-EB78F5123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091" y="1484784"/>
            <a:ext cx="4355976" cy="4454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5ACB4C6-6DD5-08DA-5139-350F0EB1A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Some Advantages of Neural Nets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5DBF6C0-AEE5-F966-48E8-54CC927950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Fault Tolerance</a:t>
            </a:r>
          </a:p>
          <a:p>
            <a:r>
              <a:rPr lang="en-US" altLang="en-PK"/>
              <a:t>Graceful Degradation</a:t>
            </a:r>
          </a:p>
          <a:p>
            <a:r>
              <a:rPr lang="en-US" altLang="en-PK"/>
              <a:t>Inductive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9640239-55E8-B890-7129-0E18A0587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Artificial Neuron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AFFA0E8-B389-2896-5127-5A569DF10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41475"/>
            <a:ext cx="4102224" cy="4454525"/>
          </a:xfrm>
        </p:spPr>
        <p:txBody>
          <a:bodyPr/>
          <a:lstStyle/>
          <a:p>
            <a:r>
              <a:rPr lang="en-US" altLang="en-PK" dirty="0"/>
              <a:t>X</a:t>
            </a:r>
            <a:r>
              <a:rPr lang="en-US" altLang="en-PK" baseline="-25000" dirty="0"/>
              <a:t>i</a:t>
            </a:r>
            <a:r>
              <a:rPr lang="en-US" altLang="en-PK" dirty="0"/>
              <a:t> = Input Signals, discrete or real numbers</a:t>
            </a:r>
          </a:p>
          <a:p>
            <a:r>
              <a:rPr lang="en-US" altLang="en-PK" dirty="0"/>
              <a:t>W</a:t>
            </a:r>
            <a:r>
              <a:rPr lang="en-US" altLang="en-PK" baseline="-25000" dirty="0"/>
              <a:t>i</a:t>
            </a:r>
            <a:r>
              <a:rPr lang="en-US" altLang="en-PK" dirty="0"/>
              <a:t> = Set of real valued Weights </a:t>
            </a:r>
          </a:p>
          <a:p>
            <a:r>
              <a:rPr lang="en-US" altLang="en-PK" dirty="0">
                <a:sym typeface="Symbol" panose="05050102010706020507" pitchFamily="18" charset="2"/>
              </a:rPr>
              <a:t> </a:t>
            </a:r>
            <a:r>
              <a:rPr lang="en-US" altLang="en-PK" dirty="0" err="1"/>
              <a:t>W</a:t>
            </a:r>
            <a:r>
              <a:rPr lang="en-US" altLang="en-PK" baseline="-25000" dirty="0" err="1"/>
              <a:t>i</a:t>
            </a:r>
            <a:r>
              <a:rPr lang="en-US" altLang="en-PK" dirty="0" err="1"/>
              <a:t>X</a:t>
            </a:r>
            <a:r>
              <a:rPr lang="en-US" altLang="en-PK" baseline="-25000" dirty="0" err="1"/>
              <a:t>i</a:t>
            </a:r>
            <a:r>
              <a:rPr lang="en-US" altLang="en-PK" dirty="0"/>
              <a:t> = Activation Level</a:t>
            </a:r>
          </a:p>
          <a:p>
            <a:r>
              <a:rPr lang="en-US" altLang="en-PK" dirty="0"/>
              <a:t>f = Threshold Function for output</a:t>
            </a:r>
          </a:p>
          <a:p>
            <a:endParaRPr lang="en-US" alt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B5CE5-1A60-675C-8DA6-D5FF8A659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0" y="1759408"/>
            <a:ext cx="4509870" cy="4218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9343-694E-7F20-1B2F-FCB45C8C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5A3B9A-A64B-7AE3-0327-9DFBCBF74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9512" y="1877281"/>
            <a:ext cx="388843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95F44B-F885-74D5-CABE-38C4875F2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2420888"/>
            <a:ext cx="4537512" cy="28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08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2C377E2-76EB-D042-8F1F-E015CF6E6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Artificial Neural Network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0BE3044-B113-8B9F-3057-5C21698399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sz="2800" dirty="0"/>
              <a:t>Network Topology</a:t>
            </a:r>
          </a:p>
          <a:p>
            <a:pPr lvl="1"/>
            <a:r>
              <a:rPr lang="en-US" altLang="en-PK" sz="2400" dirty="0"/>
              <a:t>feed-forward – unidirectional links</a:t>
            </a:r>
          </a:p>
          <a:p>
            <a:pPr lvl="1"/>
            <a:r>
              <a:rPr lang="en-US" altLang="en-PK" sz="2400" dirty="0"/>
              <a:t>Recurrent – any topology possible</a:t>
            </a:r>
          </a:p>
          <a:p>
            <a:r>
              <a:rPr lang="en-US" altLang="en-PK" sz="2800" dirty="0"/>
              <a:t>Learning Algorithm</a:t>
            </a:r>
          </a:p>
          <a:p>
            <a:pPr lvl="1"/>
            <a:r>
              <a:rPr lang="en-US" altLang="en-PK" sz="2400" dirty="0"/>
              <a:t>to train the weights </a:t>
            </a:r>
          </a:p>
          <a:p>
            <a:r>
              <a:rPr lang="en-US" altLang="en-PK" sz="2800" dirty="0"/>
              <a:t>Encoding Scheme</a:t>
            </a:r>
          </a:p>
          <a:p>
            <a:pPr lvl="1"/>
            <a:r>
              <a:rPr lang="en-US" altLang="en-PK" sz="2400" dirty="0"/>
              <a:t>Interpretation of input and output data</a:t>
            </a:r>
          </a:p>
          <a:p>
            <a:r>
              <a:rPr lang="en-US" altLang="en-PK" sz="2800" dirty="0"/>
              <a:t>Universal approximator</a:t>
            </a:r>
          </a:p>
          <a:p>
            <a:r>
              <a:rPr lang="en-US" altLang="en-PK" sz="2800" dirty="0"/>
              <a:t>Optimal Network Structure – Pruning, Tiling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EE96-854D-2DF0-6588-CFBE7447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248283-50C1-63B7-0C85-D14E662FC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2420888"/>
            <a:ext cx="4784897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8C5FC-C5E3-AF32-F8DF-D38D97AB9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083" y="1196752"/>
            <a:ext cx="34194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2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65F4-05F5-3682-7DD3-4CC05FFE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FBCED7-3929-A556-F90F-F07AD67BE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31740" y="4564"/>
            <a:ext cx="4680520" cy="7020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4108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A661-9825-E062-87CD-6FFC46B4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4F793C-848E-79D8-99FE-328D29BA2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552" y="1585055"/>
            <a:ext cx="8087646" cy="4580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33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D355-ACF3-3CAB-FC31-DC89E4BB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E3288D-C8EE-B495-1FD8-832C0EA87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640" y="129771"/>
            <a:ext cx="6838528" cy="672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4371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066B83D-1027-219C-766E-6BEF92FC8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McCulloch-Pitts Neuron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A342106-5DEA-F0A8-8F99-05A97E2F0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sz="2000" dirty="0"/>
              <a:t>McCulloch and Pitts (1943)</a:t>
            </a:r>
          </a:p>
          <a:p>
            <a:r>
              <a:rPr lang="en-US" altLang="en-PK" sz="2000" dirty="0"/>
              <a:t>Inputs: Excitatory (+1) or Inhibitory (-1)</a:t>
            </a:r>
          </a:p>
          <a:p>
            <a:r>
              <a:rPr lang="en-US" altLang="en-PK" sz="2000" dirty="0"/>
              <a:t>Weights: discrete numbers</a:t>
            </a:r>
          </a:p>
          <a:p>
            <a:r>
              <a:rPr lang="en-US" altLang="en-PK" sz="2000" dirty="0"/>
              <a:t>Activation Function: </a:t>
            </a:r>
          </a:p>
          <a:p>
            <a:pPr lvl="1">
              <a:buFontTx/>
              <a:buNone/>
            </a:pPr>
            <a:r>
              <a:rPr lang="en-US" altLang="en-PK" sz="1800" dirty="0"/>
              <a:t>if </a:t>
            </a:r>
            <a:r>
              <a:rPr lang="en-US" altLang="en-PK" sz="1800" dirty="0">
                <a:sym typeface="Symbol" panose="05050102010706020507" pitchFamily="18" charset="2"/>
              </a:rPr>
              <a:t> </a:t>
            </a:r>
            <a:r>
              <a:rPr lang="en-US" altLang="en-PK" sz="1800" dirty="0" err="1"/>
              <a:t>W</a:t>
            </a:r>
            <a:r>
              <a:rPr lang="en-US" altLang="en-PK" sz="1800" baseline="-25000" dirty="0" err="1"/>
              <a:t>i</a:t>
            </a:r>
            <a:r>
              <a:rPr lang="en-US" altLang="en-PK" sz="1800" dirty="0" err="1"/>
              <a:t>X</a:t>
            </a:r>
            <a:r>
              <a:rPr lang="en-US" altLang="en-PK" sz="1800" baseline="-25000" dirty="0" err="1"/>
              <a:t>i</a:t>
            </a:r>
            <a:r>
              <a:rPr lang="en-US" altLang="en-PK" sz="1800" dirty="0"/>
              <a:t> &gt;= 0 </a:t>
            </a:r>
          </a:p>
          <a:p>
            <a:pPr lvl="1">
              <a:buFontTx/>
              <a:buNone/>
            </a:pPr>
            <a:r>
              <a:rPr lang="en-US" altLang="en-PK" sz="1800" dirty="0"/>
              <a:t>	Output = 1 </a:t>
            </a:r>
          </a:p>
          <a:p>
            <a:pPr lvl="1">
              <a:buFontTx/>
              <a:buNone/>
            </a:pPr>
            <a:r>
              <a:rPr lang="en-US" altLang="en-PK" sz="1800" dirty="0"/>
              <a:t>else </a:t>
            </a:r>
          </a:p>
          <a:p>
            <a:pPr lvl="1">
              <a:buFontTx/>
              <a:buNone/>
            </a:pPr>
            <a:r>
              <a:rPr lang="en-US" altLang="en-PK" sz="1800" dirty="0"/>
              <a:t>	Output = 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24D25A-84B4-0EE1-7B35-2BE31F433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5" y="4437112"/>
            <a:ext cx="6889369" cy="22280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1ADF833-955B-B6CA-6B34-57A000C77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AND Function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BA2C468-4A26-8198-8ABB-85F4ECE89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Inputs: x, y</a:t>
            </a:r>
          </a:p>
          <a:p>
            <a:r>
              <a:rPr lang="en-US" altLang="en-PK"/>
              <a:t>Weights: +1, +1</a:t>
            </a:r>
          </a:p>
          <a:p>
            <a:r>
              <a:rPr lang="en-US" altLang="en-PK"/>
              <a:t>if (x * 1 + y * 1) &gt;= 2</a:t>
            </a:r>
          </a:p>
          <a:p>
            <a:pPr lvl="1">
              <a:buFontTx/>
              <a:buNone/>
            </a:pPr>
            <a:r>
              <a:rPr lang="en-US" altLang="en-PK"/>
              <a:t>	return 1</a:t>
            </a:r>
          </a:p>
          <a:p>
            <a:pPr lvl="1">
              <a:buFontTx/>
              <a:buNone/>
            </a:pPr>
            <a:r>
              <a:rPr lang="en-US" altLang="en-PK"/>
              <a:t>else </a:t>
            </a:r>
          </a:p>
          <a:p>
            <a:pPr lvl="1">
              <a:buFontTx/>
              <a:buNone/>
            </a:pPr>
            <a:r>
              <a:rPr lang="en-US" altLang="en-PK"/>
              <a:t>	return 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6F1945-3023-3E74-A7A2-96953374B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479875"/>
            <a:ext cx="5431003" cy="31876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A802763-3A3E-8FBE-81BC-7732F01E0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OR Function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57CC389-6B54-C1F6-5735-40F30D5FE2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en-PK"/>
              <a:t>	X 	   Y 	Output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PK"/>
              <a:t>1 		1	 1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PK"/>
              <a:t>1 		0	 1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PK"/>
              <a:t>0		1	 1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PK"/>
              <a:t>0		0	 0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2625B15-3F3B-FFEE-7DEE-7D080DA06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Or Function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1C125BA-4408-19C1-661C-C153DD4E4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Inputs: x, y</a:t>
            </a:r>
          </a:p>
          <a:p>
            <a:r>
              <a:rPr lang="en-US" altLang="en-PK"/>
              <a:t>Weights: +1, +1</a:t>
            </a:r>
          </a:p>
          <a:p>
            <a:r>
              <a:rPr lang="en-US" altLang="en-PK"/>
              <a:t>if (x * 1 + y * 1) &gt;= 1</a:t>
            </a:r>
          </a:p>
          <a:p>
            <a:pPr lvl="1">
              <a:buFontTx/>
              <a:buNone/>
            </a:pPr>
            <a:r>
              <a:rPr lang="en-US" altLang="en-PK"/>
              <a:t>	return 1</a:t>
            </a:r>
          </a:p>
          <a:p>
            <a:pPr lvl="1">
              <a:buFontTx/>
              <a:buNone/>
            </a:pPr>
            <a:r>
              <a:rPr lang="en-US" altLang="en-PK"/>
              <a:t>else </a:t>
            </a:r>
          </a:p>
          <a:p>
            <a:pPr lvl="1">
              <a:buFontTx/>
              <a:buNone/>
            </a:pPr>
            <a:r>
              <a:rPr lang="en-US" altLang="en-PK"/>
              <a:t>	return 0</a:t>
            </a:r>
          </a:p>
          <a:p>
            <a:endParaRPr lang="en-US" alt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BBA67-9D9B-F959-DBF5-BA5A6BA2E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429000"/>
            <a:ext cx="5621677" cy="3240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ABCF-F765-7F5B-07D1-8E4B2B03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6CEC5-1C23-B416-0F00-4554C4FB9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C495A-4CFF-9D68-6440-0AE24AA82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9" y="518706"/>
            <a:ext cx="8973802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30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6ECB-85B9-8815-E767-4803DE68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838968-C9CD-804D-8D8C-B1811F039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99501" y="1641475"/>
            <a:ext cx="6744998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0039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8BF5C9B-1505-89EB-313F-E59B8D96F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r>
              <a:rPr lang="en-US" altLang="en-PK"/>
              <a:t>Perceptron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FF998CC-3AB3-6D08-93EB-4C66F6A772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PK" sz="2000" dirty="0"/>
              <a:t>Frank </a:t>
            </a:r>
            <a:r>
              <a:rPr lang="en-US" altLang="en-PK" sz="2000" dirty="0" err="1"/>
              <a:t>RosenBlatt</a:t>
            </a:r>
            <a:r>
              <a:rPr lang="en-US" altLang="en-PK" sz="2000" dirty="0"/>
              <a:t> (1958)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Layer of Mc-Culloch Pitts Neuron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Input {–1, +1} 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Output {-1, +1}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Weights {real values}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Activation Level </a:t>
            </a:r>
            <a:r>
              <a:rPr lang="en-US" altLang="en-PK" sz="2000" dirty="0">
                <a:sym typeface="Symbol" panose="05050102010706020507" pitchFamily="18" charset="2"/>
              </a:rPr>
              <a:t> </a:t>
            </a:r>
            <a:r>
              <a:rPr lang="en-US" altLang="en-PK" sz="2000" dirty="0" err="1"/>
              <a:t>W</a:t>
            </a:r>
            <a:r>
              <a:rPr lang="en-US" altLang="en-PK" sz="2000" baseline="-25000" dirty="0" err="1"/>
              <a:t>i</a:t>
            </a:r>
            <a:r>
              <a:rPr lang="en-US" altLang="en-PK" sz="2000" dirty="0" err="1"/>
              <a:t>X</a:t>
            </a:r>
            <a:r>
              <a:rPr lang="en-US" altLang="en-PK" sz="2000" baseline="-25000" dirty="0" err="1"/>
              <a:t>i</a:t>
            </a:r>
            <a:r>
              <a:rPr lang="en-US" altLang="en-PK" sz="2000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PK" sz="2000" dirty="0"/>
              <a:t>Threshold Function </a:t>
            </a:r>
          </a:p>
          <a:p>
            <a:pPr lvl="1">
              <a:lnSpc>
                <a:spcPct val="90000"/>
              </a:lnSpc>
            </a:pPr>
            <a:r>
              <a:rPr lang="en-US" altLang="en-PK" sz="1800" dirty="0"/>
              <a:t>+1 if </a:t>
            </a:r>
            <a:r>
              <a:rPr lang="en-US" altLang="en-PK" sz="1800" dirty="0">
                <a:sym typeface="Symbol" panose="05050102010706020507" pitchFamily="18" charset="2"/>
              </a:rPr>
              <a:t> </a:t>
            </a:r>
            <a:r>
              <a:rPr lang="en-US" altLang="en-PK" sz="1800" dirty="0" err="1"/>
              <a:t>W</a:t>
            </a:r>
            <a:r>
              <a:rPr lang="en-US" altLang="en-PK" sz="1800" baseline="-25000" dirty="0" err="1"/>
              <a:t>i</a:t>
            </a:r>
            <a:r>
              <a:rPr lang="en-US" altLang="en-PK" sz="1800" dirty="0" err="1"/>
              <a:t>X</a:t>
            </a:r>
            <a:r>
              <a:rPr lang="en-US" altLang="en-PK" sz="1800" baseline="-25000" dirty="0" err="1"/>
              <a:t>i</a:t>
            </a:r>
            <a:r>
              <a:rPr lang="en-US" altLang="en-PK" sz="1800" baseline="-25000" dirty="0"/>
              <a:t> </a:t>
            </a:r>
            <a:r>
              <a:rPr lang="en-US" altLang="en-PK" sz="1800" dirty="0"/>
              <a:t>&gt;= t</a:t>
            </a:r>
          </a:p>
          <a:p>
            <a:pPr lvl="1">
              <a:lnSpc>
                <a:spcPct val="90000"/>
              </a:lnSpc>
            </a:pPr>
            <a:r>
              <a:rPr lang="en-US" altLang="en-PK" sz="1800" dirty="0"/>
              <a:t>-1  if </a:t>
            </a:r>
            <a:r>
              <a:rPr lang="en-US" altLang="en-PK" sz="1800" dirty="0">
                <a:sym typeface="Symbol" panose="05050102010706020507" pitchFamily="18" charset="2"/>
              </a:rPr>
              <a:t> </a:t>
            </a:r>
            <a:r>
              <a:rPr lang="en-US" altLang="en-PK" sz="1800" dirty="0" err="1"/>
              <a:t>W</a:t>
            </a:r>
            <a:r>
              <a:rPr lang="en-US" altLang="en-PK" sz="1800" baseline="-25000" dirty="0" err="1"/>
              <a:t>i</a:t>
            </a:r>
            <a:r>
              <a:rPr lang="en-US" altLang="en-PK" sz="1800" dirty="0" err="1"/>
              <a:t>X</a:t>
            </a:r>
            <a:r>
              <a:rPr lang="en-US" altLang="en-PK" sz="1800" baseline="-25000" dirty="0" err="1"/>
              <a:t>i</a:t>
            </a:r>
            <a:r>
              <a:rPr lang="en-US" altLang="en-PK" sz="1800" baseline="-25000" dirty="0"/>
              <a:t> &lt;</a:t>
            </a:r>
            <a:r>
              <a:rPr lang="en-US" altLang="en-PK" sz="1800" dirty="0"/>
              <a:t> t</a:t>
            </a:r>
            <a:endParaRPr lang="en-US" altLang="en-PK" sz="1800" baseline="-25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89518-2B59-D223-1313-CFC47D6F6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429000"/>
            <a:ext cx="56007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7721875-0B12-C0CB-43AA-073DBDDD0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Perceptron Learning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DE40A0F-878A-7448-2A56-2C4209CF2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Supervised Learning</a:t>
            </a:r>
          </a:p>
          <a:p>
            <a:r>
              <a:rPr lang="en-US" altLang="en-PK">
                <a:cs typeface="Times New Roman" panose="02020603050405020304" pitchFamily="18" charset="0"/>
              </a:rPr>
              <a:t> </a:t>
            </a:r>
            <a:r>
              <a:rPr lang="en-US" altLang="en-PK"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en-PK"/>
              <a:t>w = c (d – A) x</a:t>
            </a:r>
            <a:r>
              <a:rPr lang="en-US" altLang="en-PK" baseline="-25000"/>
              <a:t>i</a:t>
            </a:r>
          </a:p>
          <a:p>
            <a:pPr lvl="1"/>
            <a:r>
              <a:rPr lang="en-US" altLang="en-PK"/>
              <a:t>C = constant</a:t>
            </a:r>
          </a:p>
          <a:p>
            <a:pPr lvl="1"/>
            <a:r>
              <a:rPr lang="en-US" altLang="en-PK"/>
              <a:t>D = desired output</a:t>
            </a:r>
          </a:p>
          <a:p>
            <a:pPr lvl="1"/>
            <a:r>
              <a:rPr lang="en-US" altLang="en-PK"/>
              <a:t>A = Actual Output, Sign (</a:t>
            </a:r>
            <a:r>
              <a:rPr lang="en-US" altLang="en-PK">
                <a:sym typeface="Symbol" panose="05050102010706020507" pitchFamily="18" charset="2"/>
              </a:rPr>
              <a:t> </a:t>
            </a:r>
            <a:r>
              <a:rPr lang="en-US" altLang="en-PK"/>
              <a:t>W</a:t>
            </a:r>
            <a:r>
              <a:rPr lang="en-US" altLang="en-PK" baseline="-25000"/>
              <a:t>i</a:t>
            </a:r>
            <a:r>
              <a:rPr lang="en-US" altLang="en-PK"/>
              <a:t>X</a:t>
            </a:r>
            <a:r>
              <a:rPr lang="en-US" altLang="en-PK" baseline="-25000"/>
              <a:t>i</a:t>
            </a:r>
            <a:r>
              <a:rPr lang="en-US" altLang="en-PK"/>
              <a:t>)</a:t>
            </a:r>
          </a:p>
          <a:p>
            <a:pPr lvl="1"/>
            <a:r>
              <a:rPr lang="en-US" altLang="en-PK"/>
              <a:t>X = Input </a:t>
            </a:r>
          </a:p>
          <a:p>
            <a:pPr lvl="1"/>
            <a:r>
              <a:rPr lang="en-US" altLang="en-PK"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en-PK"/>
              <a:t>w = w</a:t>
            </a:r>
            <a:r>
              <a:rPr lang="en-US" altLang="en-PK" baseline="-25000"/>
              <a:t>t+1</a:t>
            </a:r>
            <a:r>
              <a:rPr lang="en-US" altLang="en-PK"/>
              <a:t> - w</a:t>
            </a:r>
            <a:r>
              <a:rPr lang="en-US" altLang="en-PK" baseline="-25000"/>
              <a:t>t</a:t>
            </a:r>
            <a:endParaRPr lang="en-US" altLang="en-PK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0DFDCF9-5210-FFBC-EB42-32EAAB797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Linear Separability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8129A96-920F-49C7-4D42-C6251D5F8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For a space of n dimensions a classification is linearly separable if its classes can be separated by an n-1 dimensional hyperplane</a:t>
            </a:r>
          </a:p>
          <a:p>
            <a:pPr lvl="1"/>
            <a:r>
              <a:rPr lang="en-US" altLang="en-PK"/>
              <a:t>In 2D an n-dimensional hyperplane is a line</a:t>
            </a:r>
          </a:p>
          <a:p>
            <a:pPr lvl="1"/>
            <a:r>
              <a:rPr lang="en-US" altLang="en-PK"/>
              <a:t>In 3D it is a plane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9A0FFE8-EA98-BFA3-24F7-4D307ECEA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Perceptron Limitations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05960B5-312B-2F63-7D3F-EEEF49940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sz="2400" dirty="0"/>
              <a:t>Nonlinear Separability (Minsky)</a:t>
            </a:r>
          </a:p>
          <a:p>
            <a:r>
              <a:rPr lang="en-US" altLang="en-PK" sz="2400" dirty="0"/>
              <a:t>XOR Function</a:t>
            </a:r>
          </a:p>
          <a:p>
            <a:pPr lvl="1"/>
            <a:r>
              <a:rPr lang="en-US" altLang="en-PK" sz="2000" dirty="0"/>
              <a:t>w</a:t>
            </a:r>
            <a:r>
              <a:rPr lang="en-US" altLang="en-PK" sz="2000" baseline="-25000" dirty="0"/>
              <a:t>1 </a:t>
            </a:r>
            <a:r>
              <a:rPr lang="en-US" altLang="en-PK" sz="2000" dirty="0"/>
              <a:t>* 1 + w</a:t>
            </a:r>
            <a:r>
              <a:rPr lang="en-US" altLang="en-PK" sz="2000" baseline="-25000" dirty="0"/>
              <a:t>2 </a:t>
            </a:r>
            <a:r>
              <a:rPr lang="en-US" altLang="en-PK" sz="2000" dirty="0"/>
              <a:t>* 1  &lt; t</a:t>
            </a:r>
          </a:p>
          <a:p>
            <a:pPr lvl="1"/>
            <a:r>
              <a:rPr lang="en-US" altLang="en-PK" sz="2000" dirty="0"/>
              <a:t>w</a:t>
            </a:r>
            <a:r>
              <a:rPr lang="en-US" altLang="en-PK" sz="2000" baseline="-25000" dirty="0"/>
              <a:t>1</a:t>
            </a:r>
            <a:r>
              <a:rPr lang="en-US" altLang="en-PK" sz="2000" dirty="0"/>
              <a:t> * 1 + 0          &gt; t</a:t>
            </a:r>
          </a:p>
          <a:p>
            <a:pPr lvl="1"/>
            <a:r>
              <a:rPr lang="en-US" altLang="en-PK" sz="2000" dirty="0"/>
              <a:t>0         + w2 * 1 &gt; t</a:t>
            </a:r>
          </a:p>
          <a:p>
            <a:pPr lvl="1"/>
            <a:r>
              <a:rPr lang="en-US" altLang="en-PK" sz="2000" dirty="0"/>
              <a:t>0         +  0         &lt; 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27EC4-6152-5888-F907-83555239E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054347"/>
            <a:ext cx="6336704" cy="226310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FBC8260-3711-E9BB-BC04-33E1978D7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Activation Functions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74CA82E-E9B4-47F6-CD19-3B6C8DF54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Unit Step (or Binary) Function</a:t>
            </a:r>
          </a:p>
          <a:p>
            <a:r>
              <a:rPr lang="en-US" altLang="en-PK"/>
              <a:t>Bipolar Function (-1, +1)</a:t>
            </a:r>
          </a:p>
          <a:p>
            <a:r>
              <a:rPr lang="en-US" altLang="en-PK"/>
              <a:t>Piecewise Linear Function</a:t>
            </a:r>
          </a:p>
          <a:p>
            <a:pPr lvl="1"/>
            <a:r>
              <a:rPr lang="en-US" altLang="en-PK"/>
              <a:t>Output is proportionally available in a range </a:t>
            </a:r>
          </a:p>
          <a:p>
            <a:r>
              <a:rPr lang="en-US" altLang="en-PK"/>
              <a:t>Sigmoid Function</a:t>
            </a:r>
          </a:p>
          <a:p>
            <a:pPr lvl="1"/>
            <a:r>
              <a:rPr lang="en-US" altLang="en-PK"/>
              <a:t>Logistic Function is a type of sigmoid function </a:t>
            </a:r>
          </a:p>
          <a:p>
            <a:pPr lvl="1"/>
            <a:r>
              <a:rPr lang="en-US" altLang="en-PK"/>
              <a:t>f (</a:t>
            </a:r>
            <a:r>
              <a:rPr lang="en-US" altLang="en-PK">
                <a:sym typeface="Symbol" panose="05050102010706020507" pitchFamily="18" charset="2"/>
              </a:rPr>
              <a:t> </a:t>
            </a:r>
            <a:r>
              <a:rPr lang="en-US" altLang="en-PK"/>
              <a:t>W</a:t>
            </a:r>
            <a:r>
              <a:rPr lang="en-US" altLang="en-PK" baseline="-25000"/>
              <a:t>i</a:t>
            </a:r>
            <a:r>
              <a:rPr lang="en-US" altLang="en-PK"/>
              <a:t>X</a:t>
            </a:r>
            <a:r>
              <a:rPr lang="en-US" altLang="en-PK" baseline="-25000"/>
              <a:t>i </a:t>
            </a:r>
            <a:r>
              <a:rPr lang="en-US" altLang="en-PK"/>
              <a:t>)=1/1+exp(-a* </a:t>
            </a:r>
            <a:r>
              <a:rPr lang="en-US" altLang="en-PK">
                <a:sym typeface="Symbol" panose="05050102010706020507" pitchFamily="18" charset="2"/>
              </a:rPr>
              <a:t> </a:t>
            </a:r>
            <a:r>
              <a:rPr lang="en-US" altLang="en-PK"/>
              <a:t>W</a:t>
            </a:r>
            <a:r>
              <a:rPr lang="en-US" altLang="en-PK" baseline="-25000"/>
              <a:t>i</a:t>
            </a:r>
            <a:r>
              <a:rPr lang="en-US" altLang="en-PK"/>
              <a:t>X</a:t>
            </a:r>
            <a:r>
              <a:rPr lang="en-US" altLang="en-PK" baseline="-25000"/>
              <a:t>i </a:t>
            </a:r>
            <a:r>
              <a:rPr lang="en-US" altLang="en-PK"/>
              <a:t>)</a:t>
            </a:r>
          </a:p>
          <a:p>
            <a:pPr lvl="1"/>
            <a:r>
              <a:rPr lang="en-US" altLang="en-PK"/>
              <a:t>a = constant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Diagonal">
  <a:themeElements>
    <a:clrScheme name="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Blue Diag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PK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PK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 Diagonal.pot</Template>
  <TotalTime>122</TotalTime>
  <Words>645</Words>
  <Application>Microsoft Office PowerPoint</Application>
  <PresentationFormat>On-screen Show (4:3)</PresentationFormat>
  <Paragraphs>129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Symbol</vt:lpstr>
      <vt:lpstr>Times New Roman</vt:lpstr>
      <vt:lpstr>Wingdings</vt:lpstr>
      <vt:lpstr>Blue Diagonal</vt:lpstr>
      <vt:lpstr>Fundamentals  of  Neural Networks</vt:lpstr>
      <vt:lpstr>Connectionist Approach</vt:lpstr>
      <vt:lpstr>Characteristics</vt:lpstr>
      <vt:lpstr>Applications </vt:lpstr>
      <vt:lpstr>Biological Neuron</vt:lpstr>
      <vt:lpstr>Computer Vs. Brain</vt:lpstr>
      <vt:lpstr>Some Advantages of Neural Nets</vt:lpstr>
      <vt:lpstr>Artificial Neuron</vt:lpstr>
      <vt:lpstr>PowerPoint Presentation</vt:lpstr>
      <vt:lpstr>Artificial Neural Network</vt:lpstr>
      <vt:lpstr>PowerPoint Presentation</vt:lpstr>
      <vt:lpstr>PowerPoint Presentation</vt:lpstr>
      <vt:lpstr>PowerPoint Presentation</vt:lpstr>
      <vt:lpstr>PowerPoint Presentation</vt:lpstr>
      <vt:lpstr>McCulloch-Pitts Neuron</vt:lpstr>
      <vt:lpstr>AND Function</vt:lpstr>
      <vt:lpstr>OR Function</vt:lpstr>
      <vt:lpstr>Or Function</vt:lpstr>
      <vt:lpstr>PowerPoint Presentation</vt:lpstr>
      <vt:lpstr>PowerPoint Presentation</vt:lpstr>
      <vt:lpstr>Perceptron</vt:lpstr>
      <vt:lpstr>Perceptron Learning</vt:lpstr>
      <vt:lpstr>Linear Separability</vt:lpstr>
      <vt:lpstr>Perceptron Limitations</vt:lpstr>
      <vt:lpstr>Activation Functions</vt:lpstr>
    </vt:vector>
  </TitlesOfParts>
  <Company>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</dc:title>
  <dc:creator>mscs040</dc:creator>
  <cp:lastModifiedBy>Haris Nadeem</cp:lastModifiedBy>
  <cp:revision>97</cp:revision>
  <dcterms:created xsi:type="dcterms:W3CDTF">2003-03-12T04:38:40Z</dcterms:created>
  <dcterms:modified xsi:type="dcterms:W3CDTF">2026-10-27T08:37:27Z</dcterms:modified>
</cp:coreProperties>
</file>