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85" r:id="rId4"/>
    <p:sldId id="287" r:id="rId5"/>
    <p:sldId id="258" r:id="rId6"/>
    <p:sldId id="259" r:id="rId7"/>
    <p:sldId id="260" r:id="rId8"/>
    <p:sldId id="288" r:id="rId9"/>
    <p:sldId id="261" r:id="rId10"/>
    <p:sldId id="262" r:id="rId11"/>
    <p:sldId id="263" r:id="rId12"/>
    <p:sldId id="271" r:id="rId13"/>
    <p:sldId id="264" r:id="rId14"/>
    <p:sldId id="280" r:id="rId15"/>
    <p:sldId id="265" r:id="rId16"/>
    <p:sldId id="266" r:id="rId17"/>
    <p:sldId id="272" r:id="rId18"/>
    <p:sldId id="273" r:id="rId19"/>
    <p:sldId id="267" r:id="rId20"/>
    <p:sldId id="289" r:id="rId21"/>
    <p:sldId id="268" r:id="rId22"/>
    <p:sldId id="275" r:id="rId23"/>
    <p:sldId id="276" r:id="rId24"/>
    <p:sldId id="277" r:id="rId25"/>
    <p:sldId id="295" r:id="rId26"/>
    <p:sldId id="296" r:id="rId27"/>
    <p:sldId id="269" r:id="rId28"/>
    <p:sldId id="279" r:id="rId29"/>
    <p:sldId id="281" r:id="rId30"/>
    <p:sldId id="291" r:id="rId31"/>
    <p:sldId id="290" r:id="rId32"/>
    <p:sldId id="292" r:id="rId33"/>
    <p:sldId id="294" r:id="rId34"/>
    <p:sldId id="293" r:id="rId35"/>
    <p:sldId id="283" r:id="rId36"/>
    <p:sldId id="282" r:id="rId37"/>
    <p:sldId id="270" r:id="rId38"/>
    <p:sldId id="284" r:id="rId39"/>
    <p:sldId id="278"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9" autoAdjust="0"/>
    <p:restoredTop sz="94660"/>
  </p:normalViewPr>
  <p:slideViewPr>
    <p:cSldViewPr>
      <p:cViewPr varScale="1">
        <p:scale>
          <a:sx n="85" d="100"/>
          <a:sy n="85" d="100"/>
        </p:scale>
        <p:origin x="1421"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A96F7C8C-C83D-425B-BDF9-13940951E7C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F7C8C-C83D-425B-BDF9-13940951E7C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A96F7C8C-C83D-425B-BDF9-13940951E7CD}"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82BF560-1BD1-4B4C-B299-F0C07C63264C}"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F7C8C-C83D-425B-BDF9-13940951E7C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82BF560-1BD1-4B4C-B299-F0C07C63264C}" type="datetimeFigureOut">
              <a:rPr lang="en-US" smtClean="0"/>
              <a:pPr/>
              <a:t>10/20/2026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96F7C8C-C83D-425B-BDF9-13940951E7CD}"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Fuzzy Systems</a:t>
            </a:r>
            <a:br>
              <a:rPr lang="en-US" dirty="0"/>
            </a:br>
            <a:r>
              <a:rPr lang="en-US" dirty="0"/>
              <a:t>An Introduction</a:t>
            </a:r>
          </a:p>
        </p:txBody>
      </p:sp>
      <p:sp>
        <p:nvSpPr>
          <p:cNvPr id="3" name="Subtitle 2"/>
          <p:cNvSpPr>
            <a:spLocks noGrp="1"/>
          </p:cNvSpPr>
          <p:nvPr>
            <p:ph type="subTitle" idx="1"/>
          </p:nvPr>
        </p:nvSpPr>
        <p:spPr>
          <a:xfrm>
            <a:off x="533400" y="3657600"/>
            <a:ext cx="7854696" cy="1752600"/>
          </a:xfrm>
        </p:spPr>
        <p:txBody>
          <a:bodyPr/>
          <a:lstStyle/>
          <a:p>
            <a:r>
              <a:rPr lang="en-US" dirty="0"/>
              <a:t>Dr. Talha Waheed</a:t>
            </a:r>
          </a:p>
          <a:p>
            <a:r>
              <a:rPr lang="en-US" dirty="0"/>
              <a:t>Dept. of CS, UET, Lahore.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1143000"/>
          </a:xfrm>
        </p:spPr>
        <p:txBody>
          <a:bodyPr>
            <a:noAutofit/>
          </a:bodyPr>
          <a:lstStyle/>
          <a:p>
            <a:r>
              <a:rPr lang="en-US" sz="4000" dirty="0"/>
              <a:t>Knowledge Representation</a:t>
            </a:r>
            <a:br>
              <a:rPr lang="en-US" sz="4000" dirty="0"/>
            </a:br>
            <a:r>
              <a:rPr lang="en-US" sz="4000" dirty="0"/>
              <a:t>in Machine Learning</a:t>
            </a:r>
          </a:p>
        </p:txBody>
      </p:sp>
      <p:sp>
        <p:nvSpPr>
          <p:cNvPr id="3" name="Content Placeholder 2"/>
          <p:cNvSpPr>
            <a:spLocks noGrp="1"/>
          </p:cNvSpPr>
          <p:nvPr>
            <p:ph idx="1"/>
          </p:nvPr>
        </p:nvSpPr>
        <p:spPr>
          <a:xfrm>
            <a:off x="457200" y="2438400"/>
            <a:ext cx="8229600" cy="4038600"/>
          </a:xfrm>
        </p:spPr>
        <p:txBody>
          <a:bodyPr>
            <a:noAutofit/>
          </a:bodyPr>
          <a:lstStyle/>
          <a:p>
            <a:r>
              <a:rPr lang="en-US" sz="2800" dirty="0"/>
              <a:t>Performance of machine learning techniques is directly related to the quality of </a:t>
            </a:r>
            <a:r>
              <a:rPr lang="en-US" sz="2800" dirty="0">
                <a:solidFill>
                  <a:srgbClr val="FF0000"/>
                </a:solidFill>
              </a:rPr>
              <a:t>knowledge the system has and can learn</a:t>
            </a:r>
            <a:r>
              <a:rPr lang="en-US" sz="2800" dirty="0"/>
              <a:t> from a given problem.</a:t>
            </a:r>
          </a:p>
          <a:p>
            <a:endParaRPr lang="en-US" sz="2800" dirty="0"/>
          </a:p>
          <a:p>
            <a:r>
              <a:rPr lang="en-US" sz="2800" dirty="0"/>
              <a:t>Knowledge is an abstract term that attempts to capture an individual’s </a:t>
            </a:r>
            <a:r>
              <a:rPr lang="en-US" sz="2800" dirty="0">
                <a:solidFill>
                  <a:srgbClr val="FF0000"/>
                </a:solidFill>
              </a:rPr>
              <a:t>understanding</a:t>
            </a:r>
            <a:r>
              <a:rPr lang="en-US" sz="2800" dirty="0"/>
              <a:t> of a given subject.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C6830-D1BA-F90A-02C9-001494B210A8}"/>
              </a:ext>
            </a:extLst>
          </p:cNvPr>
          <p:cNvSpPr>
            <a:spLocks noGrp="1"/>
          </p:cNvSpPr>
          <p:nvPr>
            <p:ph type="title"/>
          </p:nvPr>
        </p:nvSpPr>
        <p:spPr>
          <a:xfrm>
            <a:off x="495300" y="76200"/>
            <a:ext cx="8229600" cy="1143000"/>
          </a:xfrm>
        </p:spPr>
        <p:txBody>
          <a:bodyPr>
            <a:normAutofit/>
          </a:bodyPr>
          <a:lstStyle/>
          <a:p>
            <a:pPr algn="ctr"/>
            <a:r>
              <a:rPr lang="en-US" sz="4000" dirty="0"/>
              <a:t>Limitations of Symbolic AI</a:t>
            </a:r>
            <a:endParaRPr lang="en-PK" sz="4000" dirty="0"/>
          </a:p>
        </p:txBody>
      </p:sp>
      <p:sp>
        <p:nvSpPr>
          <p:cNvPr id="6" name="Content Placeholder 5">
            <a:extLst>
              <a:ext uri="{FF2B5EF4-FFF2-40B4-BE49-F238E27FC236}">
                <a16:creationId xmlns:a16="http://schemas.microsoft.com/office/drawing/2014/main" id="{5E1E206B-A9AE-6B47-8329-2A7757CE1A5F}"/>
              </a:ext>
            </a:extLst>
          </p:cNvPr>
          <p:cNvSpPr>
            <a:spLocks noGrp="1"/>
          </p:cNvSpPr>
          <p:nvPr>
            <p:ph idx="1"/>
          </p:nvPr>
        </p:nvSpPr>
        <p:spPr>
          <a:xfrm>
            <a:off x="76200" y="1295400"/>
            <a:ext cx="9067800" cy="5562600"/>
          </a:xfrm>
        </p:spPr>
        <p:txBody>
          <a:bodyPr>
            <a:normAutofit fontScale="77500" lnSpcReduction="20000"/>
          </a:bodyPr>
          <a:lstStyle/>
          <a:p>
            <a:pPr>
              <a:spcAft>
                <a:spcPts val="1200"/>
              </a:spcAft>
              <a:defRPr sz="1800">
                <a:solidFill>
                  <a:srgbClr val="F8FAFC"/>
                </a:solidFill>
                <a:latin typeface="Arial"/>
              </a:defRPr>
            </a:pPr>
            <a:r>
              <a:rPr lang="en-GB" sz="2300" dirty="0">
                <a:highlight>
                  <a:srgbClr val="000080"/>
                </a:highlight>
              </a:rPr>
              <a:t>Review of Classical AI Foundations</a:t>
            </a:r>
            <a:r>
              <a:rPr lang="en-GB" sz="1800" dirty="0"/>
              <a:t>:</a:t>
            </a:r>
          </a:p>
          <a:p>
            <a:pPr lvl="1">
              <a:spcAft>
                <a:spcPts val="1200"/>
              </a:spcAft>
              <a:defRPr sz="1600">
                <a:solidFill>
                  <a:srgbClr val="94A3B8"/>
                </a:solidFill>
                <a:latin typeface="Arial"/>
              </a:defRPr>
            </a:pPr>
            <a:r>
              <a:rPr lang="en-GB" sz="2800" dirty="0"/>
              <a:t>Propositional &amp; First-Order Predicate Logic function uses binary values.</a:t>
            </a:r>
          </a:p>
          <a:p>
            <a:pPr lvl="1">
              <a:spcAft>
                <a:spcPts val="1200"/>
              </a:spcAft>
              <a:defRPr sz="1600">
                <a:solidFill>
                  <a:srgbClr val="94A3B8"/>
                </a:solidFill>
                <a:latin typeface="Arial"/>
              </a:defRPr>
            </a:pPr>
            <a:r>
              <a:rPr lang="en-GB" sz="2800" dirty="0"/>
              <a:t>Principle of Bivalence: Every statement is strictly True (1) or False (0).</a:t>
            </a:r>
          </a:p>
          <a:p>
            <a:pPr lvl="1">
              <a:spcAft>
                <a:spcPts val="1200"/>
              </a:spcAft>
              <a:defRPr sz="1600">
                <a:solidFill>
                  <a:srgbClr val="94A3B8"/>
                </a:solidFill>
                <a:latin typeface="Arial"/>
              </a:defRPr>
            </a:pPr>
            <a:r>
              <a:rPr lang="en-GB" sz="2800" dirty="0"/>
              <a:t>Law of Excluded Middle: A statement is either a member of a set or its complement. (P OR ¬P) There is no middle ground.</a:t>
            </a:r>
          </a:p>
          <a:p>
            <a:pPr lvl="1">
              <a:spcAft>
                <a:spcPts val="1200"/>
              </a:spcAft>
              <a:defRPr sz="1600">
                <a:solidFill>
                  <a:srgbClr val="94A3B8"/>
                </a:solidFill>
                <a:latin typeface="Arial"/>
              </a:defRPr>
            </a:pPr>
            <a:r>
              <a:rPr lang="en-GB" sz="2800" dirty="0"/>
              <a:t>Law of Contradictions: </a:t>
            </a:r>
            <a:r>
              <a:rPr lang="en-US" sz="2800" dirty="0"/>
              <a:t>A</a:t>
            </a:r>
            <a:r>
              <a:rPr lang="en-PK" sz="2800" dirty="0"/>
              <a:t> proposition (p) and its negation cannot both be true simultaneously. </a:t>
            </a:r>
            <a:r>
              <a:rPr lang="en-GB" sz="2800" dirty="0"/>
              <a:t>¬(P AND ¬P)</a:t>
            </a:r>
          </a:p>
          <a:p>
            <a:pPr>
              <a:spcAft>
                <a:spcPts val="1200"/>
              </a:spcAft>
              <a:defRPr sz="1800">
                <a:solidFill>
                  <a:srgbClr val="F8FAFC"/>
                </a:solidFill>
                <a:latin typeface="Arial"/>
              </a:defRPr>
            </a:pPr>
            <a:r>
              <a:rPr lang="en-GB" sz="2300" dirty="0">
                <a:highlight>
                  <a:srgbClr val="000080"/>
                </a:highlight>
              </a:rPr>
              <a:t>Where Classical AI Fails in the Real World:</a:t>
            </a:r>
          </a:p>
          <a:p>
            <a:pPr lvl="1">
              <a:spcAft>
                <a:spcPts val="1200"/>
              </a:spcAft>
              <a:defRPr sz="1600">
                <a:solidFill>
                  <a:srgbClr val="94A3B8"/>
                </a:solidFill>
                <a:latin typeface="Arial"/>
              </a:defRPr>
            </a:pPr>
            <a:r>
              <a:rPr lang="en-GB" sz="2800" dirty="0">
                <a:solidFill>
                  <a:srgbClr val="94A3B8"/>
                </a:solidFill>
                <a:latin typeface="Arial"/>
              </a:rPr>
              <a:t>Hard boundaries lead to 'edge-case explosion' or catastrophic system failures.</a:t>
            </a:r>
          </a:p>
          <a:p>
            <a:pPr lvl="1">
              <a:spcAft>
                <a:spcPts val="1200"/>
              </a:spcAft>
              <a:defRPr sz="1600">
                <a:solidFill>
                  <a:srgbClr val="94A3B8"/>
                </a:solidFill>
                <a:latin typeface="Arial"/>
              </a:defRPr>
            </a:pPr>
            <a:r>
              <a:rPr lang="en-GB" sz="2800" dirty="0">
                <a:solidFill>
                  <a:srgbClr val="94A3B8"/>
                </a:solidFill>
                <a:latin typeface="Arial"/>
              </a:rPr>
              <a:t>Inability to model semantic uncertainty, sensory noise, and human-like approximations natively.</a:t>
            </a:r>
          </a:p>
          <a:p>
            <a:endParaRPr lang="en-PK" dirty="0"/>
          </a:p>
        </p:txBody>
      </p:sp>
    </p:spTree>
    <p:extLst>
      <p:ext uri="{BB962C8B-B14F-4D97-AF65-F5344CB8AC3E}">
        <p14:creationId xmlns:p14="http://schemas.microsoft.com/office/powerpoint/2010/main" val="52203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C41EC2-15C9-9426-6C34-BA6C0B0C9F46}"/>
              </a:ext>
            </a:extLst>
          </p:cNvPr>
          <p:cNvPicPr>
            <a:picLocks noChangeAspect="1"/>
          </p:cNvPicPr>
          <p:nvPr/>
        </p:nvPicPr>
        <p:blipFill>
          <a:blip r:embed="rId2"/>
          <a:stretch>
            <a:fillRect/>
          </a:stretch>
        </p:blipFill>
        <p:spPr>
          <a:xfrm>
            <a:off x="0" y="-22412"/>
            <a:ext cx="5562600" cy="6880412"/>
          </a:xfrm>
          <a:prstGeom prst="rect">
            <a:avLst/>
          </a:prstGeom>
        </p:spPr>
      </p:pic>
      <p:pic>
        <p:nvPicPr>
          <p:cNvPr id="8" name="Picture 7" descr="The Wikipedia article about philosophical paradox of The Ship Of Theseus  has been edited 39,845 times, thus making the article itself an example of  the paradox. If the original article has been">
            <a:extLst>
              <a:ext uri="{FF2B5EF4-FFF2-40B4-BE49-F238E27FC236}">
                <a16:creationId xmlns:a16="http://schemas.microsoft.com/office/drawing/2014/main" id="{C8779483-1E7D-411F-6C5A-24F29B167066}"/>
              </a:ext>
            </a:extLst>
          </p:cNvPr>
          <p:cNvPicPr>
            <a:picLocks noChangeAspect="1"/>
          </p:cNvPicPr>
          <p:nvPr/>
        </p:nvPicPr>
        <p:blipFill>
          <a:blip r:embed="rId3"/>
          <a:stretch>
            <a:fillRect/>
          </a:stretch>
        </p:blipFill>
        <p:spPr>
          <a:xfrm>
            <a:off x="5618296" y="0"/>
            <a:ext cx="3539151" cy="5160310"/>
          </a:xfrm>
          <a:prstGeom prst="rect">
            <a:avLst/>
          </a:prstGeom>
        </p:spPr>
      </p:pic>
      <p:sp>
        <p:nvSpPr>
          <p:cNvPr id="10" name="TextBox 9">
            <a:extLst>
              <a:ext uri="{FF2B5EF4-FFF2-40B4-BE49-F238E27FC236}">
                <a16:creationId xmlns:a16="http://schemas.microsoft.com/office/drawing/2014/main" id="{8AB62724-835C-DA65-C273-135DE66BEEB9}"/>
              </a:ext>
            </a:extLst>
          </p:cNvPr>
          <p:cNvSpPr txBox="1"/>
          <p:nvPr/>
        </p:nvSpPr>
        <p:spPr>
          <a:xfrm>
            <a:off x="5618296" y="5105400"/>
            <a:ext cx="3733800" cy="1569660"/>
          </a:xfrm>
          <a:prstGeom prst="rect">
            <a:avLst/>
          </a:prstGeom>
          <a:noFill/>
        </p:spPr>
        <p:txBody>
          <a:bodyPr wrap="square">
            <a:spAutoFit/>
          </a:bodyPr>
          <a:lstStyle/>
          <a:p>
            <a:r>
              <a:rPr lang="en-US" sz="1600" b="0" u="none" strike="noStrike" dirty="0">
                <a:effectLst/>
                <a:latin typeface="+mj-lt"/>
              </a:rPr>
              <a:t>Thomas </a:t>
            </a:r>
            <a:r>
              <a:rPr lang="en-US" sz="1600" b="0" u="none" strike="noStrike" dirty="0" err="1">
                <a:effectLst/>
                <a:latin typeface="+mj-lt"/>
              </a:rPr>
              <a:t>Hebbs</a:t>
            </a:r>
            <a:r>
              <a:rPr lang="en-US" sz="1600" b="0" u="none" strike="noStrike" dirty="0">
                <a:effectLst/>
                <a:latin typeface="+mj-lt"/>
              </a:rPr>
              <a:t> View: Material Identity, </a:t>
            </a:r>
          </a:p>
          <a:p>
            <a:r>
              <a:rPr lang="en-US" sz="1600" b="0" u="none" strike="noStrike" dirty="0">
                <a:effectLst/>
                <a:latin typeface="+mj-lt"/>
              </a:rPr>
              <a:t>Functional Identity or 4 Dimensionality</a:t>
            </a:r>
          </a:p>
          <a:p>
            <a:endParaRPr lang="en-US" sz="1600" dirty="0">
              <a:latin typeface="+mj-lt"/>
            </a:endParaRPr>
          </a:p>
          <a:p>
            <a:r>
              <a:rPr lang="en-US" sz="1600" dirty="0">
                <a:latin typeface="+mj-lt"/>
              </a:rPr>
              <a:t>Our Biological Identity, </a:t>
            </a:r>
          </a:p>
          <a:p>
            <a:r>
              <a:rPr lang="en-US" sz="1600" dirty="0">
                <a:latin typeface="+mj-lt"/>
              </a:rPr>
              <a:t>Consciousness, </a:t>
            </a:r>
          </a:p>
          <a:p>
            <a:r>
              <a:rPr lang="en-US" sz="1600" dirty="0">
                <a:latin typeface="+mj-lt"/>
              </a:rPr>
              <a:t>Organ Replacement</a:t>
            </a:r>
            <a:endParaRPr lang="en-PK" sz="16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8229600" cy="1143000"/>
          </a:xfrm>
        </p:spPr>
        <p:txBody>
          <a:bodyPr/>
          <a:lstStyle/>
          <a:p>
            <a:r>
              <a:rPr lang="en-US" dirty="0"/>
              <a:t>Propositions</a:t>
            </a:r>
          </a:p>
        </p:txBody>
      </p:sp>
      <p:sp>
        <p:nvSpPr>
          <p:cNvPr id="3" name="Content Placeholder 2"/>
          <p:cNvSpPr>
            <a:spLocks noGrp="1"/>
          </p:cNvSpPr>
          <p:nvPr>
            <p:ph idx="1"/>
          </p:nvPr>
        </p:nvSpPr>
        <p:spPr>
          <a:xfrm>
            <a:off x="152400" y="1295400"/>
            <a:ext cx="8915400" cy="5181600"/>
          </a:xfrm>
        </p:spPr>
        <p:txBody>
          <a:bodyPr>
            <a:normAutofit/>
          </a:bodyPr>
          <a:lstStyle/>
          <a:p>
            <a:r>
              <a:rPr lang="en-US" dirty="0"/>
              <a:t>Human understanding is mostly based on </a:t>
            </a:r>
            <a:r>
              <a:rPr lang="en-US" dirty="0">
                <a:solidFill>
                  <a:srgbClr val="FF0000"/>
                </a:solidFill>
              </a:rPr>
              <a:t>facts</a:t>
            </a:r>
            <a:r>
              <a:rPr lang="en-US" dirty="0"/>
              <a:t> about some </a:t>
            </a:r>
            <a:r>
              <a:rPr lang="en-US" dirty="0">
                <a:solidFill>
                  <a:srgbClr val="FF0000"/>
                </a:solidFill>
              </a:rPr>
              <a:t>event</a:t>
            </a:r>
            <a:r>
              <a:rPr lang="en-US" dirty="0"/>
              <a:t> or problem, that are usually represented by Propositions (</a:t>
            </a:r>
            <a:r>
              <a:rPr lang="en-US" dirty="0">
                <a:solidFill>
                  <a:srgbClr val="FF0000"/>
                </a:solidFill>
              </a:rPr>
              <a:t>True/False </a:t>
            </a:r>
            <a:r>
              <a:rPr lang="en-US" dirty="0"/>
              <a:t>Statements). E.g. </a:t>
            </a:r>
          </a:p>
          <a:p>
            <a:pPr lvl="1"/>
            <a:r>
              <a:rPr lang="en-US" dirty="0"/>
              <a:t>It is raining. (Yes/No)</a:t>
            </a:r>
          </a:p>
          <a:p>
            <a:pPr lvl="1"/>
            <a:r>
              <a:rPr lang="en-US" dirty="0"/>
              <a:t>Color of the chair is brown (True/False)</a:t>
            </a:r>
          </a:p>
          <a:p>
            <a:pPr lvl="1"/>
            <a:endParaRPr lang="en-US" dirty="0"/>
          </a:p>
          <a:p>
            <a:r>
              <a:rPr lang="en-US" dirty="0"/>
              <a:t>But our world is </a:t>
            </a:r>
            <a:r>
              <a:rPr lang="en-US" dirty="0">
                <a:solidFill>
                  <a:srgbClr val="FF0000"/>
                </a:solidFill>
              </a:rPr>
              <a:t>vague</a:t>
            </a:r>
            <a:r>
              <a:rPr lang="en-US" dirty="0"/>
              <a:t> and </a:t>
            </a:r>
            <a:r>
              <a:rPr lang="en-US" dirty="0">
                <a:solidFill>
                  <a:srgbClr val="FF0000"/>
                </a:solidFill>
              </a:rPr>
              <a:t>uncertain</a:t>
            </a:r>
            <a:r>
              <a:rPr lang="en-US" dirty="0"/>
              <a:t>. </a:t>
            </a:r>
            <a:br>
              <a:rPr lang="en-US" dirty="0"/>
            </a:br>
            <a:r>
              <a:rPr lang="en-US" dirty="0"/>
              <a:t>(Not black and white.) </a:t>
            </a:r>
          </a:p>
          <a:p>
            <a:endParaRPr lang="en-US" dirty="0"/>
          </a:p>
          <a:p>
            <a:r>
              <a:rPr lang="en-US" dirty="0"/>
              <a:t>We don’t always know if some event is </a:t>
            </a:r>
            <a:br>
              <a:rPr lang="en-US" dirty="0"/>
            </a:br>
            <a:r>
              <a:rPr lang="en-US" dirty="0"/>
              <a:t>true or false with complete certainty. </a:t>
            </a:r>
          </a:p>
        </p:txBody>
      </p:sp>
      <p:pic>
        <p:nvPicPr>
          <p:cNvPr id="4" name="Picture 3" descr="fuzzy.gif"/>
          <p:cNvPicPr>
            <a:picLocks noChangeAspect="1"/>
          </p:cNvPicPr>
          <p:nvPr/>
        </p:nvPicPr>
        <p:blipFill>
          <a:blip r:embed="rId2"/>
          <a:stretch>
            <a:fillRect/>
          </a:stretch>
        </p:blipFill>
        <p:spPr>
          <a:xfrm>
            <a:off x="6019800" y="3886200"/>
            <a:ext cx="2971800" cy="2895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96112"/>
          </a:xfrm>
        </p:spPr>
        <p:txBody>
          <a:bodyPr>
            <a:normAutofit/>
          </a:bodyPr>
          <a:lstStyle/>
          <a:p>
            <a:pPr algn="ctr"/>
            <a:r>
              <a:rPr lang="en-US" sz="4400" dirty="0"/>
              <a:t>Multi-Valued Logic</a:t>
            </a:r>
          </a:p>
        </p:txBody>
      </p:sp>
      <p:sp>
        <p:nvSpPr>
          <p:cNvPr id="3" name="Content Placeholder 2"/>
          <p:cNvSpPr>
            <a:spLocks noGrp="1"/>
          </p:cNvSpPr>
          <p:nvPr>
            <p:ph idx="1"/>
          </p:nvPr>
        </p:nvSpPr>
        <p:spPr>
          <a:xfrm>
            <a:off x="0" y="1295400"/>
            <a:ext cx="9144000" cy="5181600"/>
          </a:xfrm>
        </p:spPr>
        <p:txBody>
          <a:bodyPr>
            <a:normAutofit lnSpcReduction="10000"/>
          </a:bodyPr>
          <a:lstStyle/>
          <a:p>
            <a:r>
              <a:rPr lang="en-US" sz="2400" dirty="0"/>
              <a:t>Humans have little difficulty in interpreting vague terms. </a:t>
            </a:r>
          </a:p>
          <a:p>
            <a:r>
              <a:rPr lang="en-US" sz="2400" dirty="0"/>
              <a:t>To represent &amp; reason with </a:t>
            </a:r>
            <a:r>
              <a:rPr lang="en-US" sz="2400" dirty="0">
                <a:solidFill>
                  <a:srgbClr val="FF0000"/>
                </a:solidFill>
              </a:rPr>
              <a:t>vagueness in machines </a:t>
            </a:r>
            <a:r>
              <a:rPr lang="en-US" sz="2400" dirty="0"/>
              <a:t>is a challenge.</a:t>
            </a:r>
          </a:p>
          <a:p>
            <a:pPr marL="0" indent="0" algn="ctr">
              <a:buNone/>
            </a:pPr>
            <a:endParaRPr lang="en-US" sz="2400" dirty="0"/>
          </a:p>
          <a:p>
            <a:pPr marL="0" indent="0" algn="ctr">
              <a:buNone/>
            </a:pPr>
            <a:r>
              <a:rPr lang="en-US" sz="2400" dirty="0"/>
              <a:t>In </a:t>
            </a:r>
            <a:r>
              <a:rPr lang="en-US" sz="2400" dirty="0">
                <a:solidFill>
                  <a:srgbClr val="FF0000"/>
                </a:solidFill>
              </a:rPr>
              <a:t>Aristotle’s Binary Logic</a:t>
            </a:r>
            <a:r>
              <a:rPr lang="en-US" sz="2400" dirty="0"/>
              <a:t> </a:t>
            </a:r>
            <a:r>
              <a:rPr lang="en-PK" sz="2400" b="1" dirty="0"/>
              <a:t>"The train will arrive on time.“</a:t>
            </a:r>
            <a:r>
              <a:rPr lang="en-US" sz="2400" b="1" dirty="0"/>
              <a:t>  is (T/F)</a:t>
            </a:r>
            <a:endParaRPr lang="en-US" sz="2400" dirty="0"/>
          </a:p>
          <a:p>
            <a:endParaRPr lang="en-US" sz="2400" dirty="0">
              <a:solidFill>
                <a:srgbClr val="FF0000"/>
              </a:solidFill>
            </a:endParaRPr>
          </a:p>
          <a:p>
            <a:r>
              <a:rPr lang="en-US" sz="2400" dirty="0"/>
              <a:t>Whereas In Multi-Valued Logic:</a:t>
            </a:r>
          </a:p>
          <a:p>
            <a:r>
              <a:rPr lang="en-US" sz="2400" dirty="0">
                <a:solidFill>
                  <a:srgbClr val="FF0000"/>
                </a:solidFill>
              </a:rPr>
              <a:t>Lukasiewicz </a:t>
            </a:r>
            <a:r>
              <a:rPr lang="en-US" sz="2400" dirty="0"/>
              <a:t>Logic: (T:1, Intermediate/Possible:0.5, F:0)</a:t>
            </a:r>
          </a:p>
          <a:p>
            <a:r>
              <a:rPr lang="en-US" sz="2400" dirty="0">
                <a:solidFill>
                  <a:srgbClr val="FF0000"/>
                </a:solidFill>
              </a:rPr>
              <a:t>Kleene</a:t>
            </a:r>
            <a:r>
              <a:rPr lang="en-US" sz="2400" dirty="0"/>
              <a:t> Logic: (T:1, Undefined/Unknown:0.5, F:0)</a:t>
            </a:r>
          </a:p>
          <a:p>
            <a:r>
              <a:rPr lang="en-US" sz="2400" dirty="0">
                <a:solidFill>
                  <a:srgbClr val="FF0000"/>
                </a:solidFill>
              </a:rPr>
              <a:t>Belnap’s </a:t>
            </a:r>
            <a:r>
              <a:rPr lang="en-US" sz="2400" dirty="0"/>
              <a:t>4 valued Logic: (T:1, F:0, Neither T or F, Both T and F)</a:t>
            </a:r>
          </a:p>
          <a:p>
            <a:r>
              <a:rPr lang="en-US" sz="2400" dirty="0">
                <a:solidFill>
                  <a:srgbClr val="FF0000"/>
                </a:solidFill>
              </a:rPr>
              <a:t>Godel’s </a:t>
            </a:r>
            <a:r>
              <a:rPr lang="en-US" sz="2400" dirty="0"/>
              <a:t>Logic: Intermediate Truth{0,….,1},[False:0,True:1]</a:t>
            </a:r>
          </a:p>
          <a:p>
            <a:r>
              <a:rPr lang="en-US" sz="2400" dirty="0">
                <a:solidFill>
                  <a:srgbClr val="FF0000"/>
                </a:solidFill>
              </a:rPr>
              <a:t>Fuzzy </a:t>
            </a:r>
            <a:r>
              <a:rPr lang="en-US" sz="2400" dirty="0"/>
              <a:t>Logic:[0-1], </a:t>
            </a:r>
            <a:r>
              <a:rPr lang="en-PK" sz="2400" dirty="0"/>
              <a:t>0.7 means train is "mostly on time," perhaps only 2 minutes late</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229600" cy="715962"/>
          </a:xfrm>
        </p:spPr>
        <p:txBody>
          <a:bodyPr>
            <a:normAutofit fontScale="90000"/>
          </a:bodyPr>
          <a:lstStyle/>
          <a:p>
            <a:r>
              <a:rPr lang="en-US" dirty="0"/>
              <a:t>Fuzzy Logic – Formal Definition</a:t>
            </a:r>
          </a:p>
        </p:txBody>
      </p:sp>
      <p:sp>
        <p:nvSpPr>
          <p:cNvPr id="3" name="Content Placeholder 2"/>
          <p:cNvSpPr>
            <a:spLocks noGrp="1"/>
          </p:cNvSpPr>
          <p:nvPr>
            <p:ph idx="1"/>
          </p:nvPr>
        </p:nvSpPr>
        <p:spPr>
          <a:xfrm>
            <a:off x="0" y="1523999"/>
            <a:ext cx="9144000" cy="2209801"/>
          </a:xfrm>
        </p:spPr>
        <p:txBody>
          <a:bodyPr>
            <a:normAutofit/>
          </a:bodyPr>
          <a:lstStyle/>
          <a:p>
            <a:r>
              <a:rPr lang="en-US" sz="2400" dirty="0"/>
              <a:t>A branch of logic that uses </a:t>
            </a:r>
            <a:r>
              <a:rPr lang="en-US" sz="2400" dirty="0">
                <a:solidFill>
                  <a:srgbClr val="FF0000"/>
                </a:solidFill>
              </a:rPr>
              <a:t>degree of membership in the whole range of [0-1]</a:t>
            </a:r>
            <a:r>
              <a:rPr lang="en-US" sz="2400" dirty="0"/>
              <a:t> in sets rather than a strict true/false membership{0,1}.</a:t>
            </a:r>
          </a:p>
          <a:p>
            <a:endParaRPr lang="en-US" sz="2400" dirty="0"/>
          </a:p>
          <a:p>
            <a:r>
              <a:rPr lang="en-US" sz="2400" dirty="0"/>
              <a:t>It is used </a:t>
            </a:r>
            <a:r>
              <a:rPr lang="en-US" sz="2400" dirty="0">
                <a:solidFill>
                  <a:srgbClr val="FF0000"/>
                </a:solidFill>
              </a:rPr>
              <a:t>to quantify </a:t>
            </a:r>
            <a:r>
              <a:rPr lang="en-US" sz="2400" dirty="0"/>
              <a:t>and </a:t>
            </a:r>
            <a:r>
              <a:rPr lang="en-US" sz="2400" dirty="0">
                <a:solidFill>
                  <a:srgbClr val="FF0000"/>
                </a:solidFill>
              </a:rPr>
              <a:t>reason </a:t>
            </a:r>
            <a:r>
              <a:rPr lang="en-US" sz="2400" dirty="0"/>
              <a:t>about vague or fuzzy terms that appear in </a:t>
            </a:r>
            <a:r>
              <a:rPr lang="en-US" sz="2400" dirty="0">
                <a:solidFill>
                  <a:srgbClr val="FF0000"/>
                </a:solidFill>
              </a:rPr>
              <a:t>natural language</a:t>
            </a:r>
            <a:r>
              <a:rPr lang="en-US" sz="2400" dirty="0"/>
              <a:t>. (referred as </a:t>
            </a:r>
            <a:r>
              <a:rPr lang="en-US" sz="2400" dirty="0">
                <a:solidFill>
                  <a:srgbClr val="FF0000"/>
                </a:solidFill>
              </a:rPr>
              <a:t>Fuzzy or Linguistic Variables</a:t>
            </a:r>
            <a:r>
              <a:rPr lang="en-US" sz="2400" dirty="0"/>
              <a:t>.)</a:t>
            </a:r>
          </a:p>
        </p:txBody>
      </p:sp>
      <p:graphicFrame>
        <p:nvGraphicFramePr>
          <p:cNvPr id="4" name="Table 3"/>
          <p:cNvGraphicFramePr>
            <a:graphicFrameLocks noGrp="1"/>
          </p:cNvGraphicFramePr>
          <p:nvPr/>
        </p:nvGraphicFramePr>
        <p:xfrm>
          <a:off x="762000" y="3886200"/>
          <a:ext cx="7772400" cy="27432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548640">
                <a:tc>
                  <a:txBody>
                    <a:bodyPr/>
                    <a:lstStyle/>
                    <a:p>
                      <a:pPr algn="ctr"/>
                      <a:r>
                        <a:rPr lang="en-US" sz="2400" dirty="0">
                          <a:solidFill>
                            <a:schemeClr val="tx1"/>
                          </a:solidFill>
                        </a:rPr>
                        <a:t>Fuzzy</a:t>
                      </a:r>
                      <a:r>
                        <a:rPr lang="en-US" sz="2400" baseline="0" dirty="0">
                          <a:solidFill>
                            <a:schemeClr val="tx1"/>
                          </a:solidFill>
                        </a:rPr>
                        <a:t> Variable</a:t>
                      </a:r>
                      <a:endParaRPr lang="en-US" sz="2400" dirty="0">
                        <a:solidFill>
                          <a:schemeClr val="tx1"/>
                        </a:solidFill>
                      </a:endParaRPr>
                    </a:p>
                  </a:txBody>
                  <a:tcPr/>
                </a:tc>
                <a:tc>
                  <a:txBody>
                    <a:bodyPr/>
                    <a:lstStyle/>
                    <a:p>
                      <a:pPr algn="ctr"/>
                      <a:r>
                        <a:rPr lang="en-US" sz="2400" dirty="0">
                          <a:solidFill>
                            <a:schemeClr val="tx1"/>
                          </a:solidFill>
                        </a:rPr>
                        <a:t>Fuzzy Value</a:t>
                      </a:r>
                    </a:p>
                  </a:txBody>
                  <a:tcPr/>
                </a:tc>
                <a:extLst>
                  <a:ext uri="{0D108BD9-81ED-4DB2-BD59-A6C34878D82A}">
                    <a16:rowId xmlns:a16="http://schemas.microsoft.com/office/drawing/2014/main" val="10000"/>
                  </a:ext>
                </a:extLst>
              </a:tr>
              <a:tr h="548640">
                <a:tc>
                  <a:txBody>
                    <a:bodyPr/>
                    <a:lstStyle/>
                    <a:p>
                      <a:r>
                        <a:rPr lang="en-US" sz="2400" dirty="0"/>
                        <a:t>Temperature</a:t>
                      </a:r>
                    </a:p>
                  </a:txBody>
                  <a:tcPr/>
                </a:tc>
                <a:tc>
                  <a:txBody>
                    <a:bodyPr/>
                    <a:lstStyle/>
                    <a:p>
                      <a:r>
                        <a:rPr lang="en-US" sz="2400" dirty="0"/>
                        <a:t>Hot,</a:t>
                      </a:r>
                      <a:r>
                        <a:rPr lang="en-US" sz="2400" baseline="0" dirty="0"/>
                        <a:t> Cold</a:t>
                      </a:r>
                      <a:endParaRPr lang="en-US" sz="2400" dirty="0"/>
                    </a:p>
                  </a:txBody>
                  <a:tcPr/>
                </a:tc>
                <a:extLst>
                  <a:ext uri="{0D108BD9-81ED-4DB2-BD59-A6C34878D82A}">
                    <a16:rowId xmlns:a16="http://schemas.microsoft.com/office/drawing/2014/main" val="10001"/>
                  </a:ext>
                </a:extLst>
              </a:tr>
              <a:tr h="548640">
                <a:tc>
                  <a:txBody>
                    <a:bodyPr/>
                    <a:lstStyle/>
                    <a:p>
                      <a:r>
                        <a:rPr lang="en-US" sz="2400" dirty="0"/>
                        <a:t>Height</a:t>
                      </a:r>
                    </a:p>
                  </a:txBody>
                  <a:tcPr/>
                </a:tc>
                <a:tc>
                  <a:txBody>
                    <a:bodyPr/>
                    <a:lstStyle/>
                    <a:p>
                      <a:r>
                        <a:rPr lang="en-US" sz="2400" dirty="0"/>
                        <a:t>Short, Medium, Tall</a:t>
                      </a:r>
                    </a:p>
                  </a:txBody>
                  <a:tcPr/>
                </a:tc>
                <a:extLst>
                  <a:ext uri="{0D108BD9-81ED-4DB2-BD59-A6C34878D82A}">
                    <a16:rowId xmlns:a16="http://schemas.microsoft.com/office/drawing/2014/main" val="10002"/>
                  </a:ext>
                </a:extLst>
              </a:tr>
              <a:tr h="548640">
                <a:tc>
                  <a:txBody>
                    <a:bodyPr/>
                    <a:lstStyle/>
                    <a:p>
                      <a:r>
                        <a:rPr lang="en-US" sz="2400" dirty="0"/>
                        <a:t>Speed</a:t>
                      </a:r>
                    </a:p>
                  </a:txBody>
                  <a:tcPr/>
                </a:tc>
                <a:tc>
                  <a:txBody>
                    <a:bodyPr/>
                    <a:lstStyle/>
                    <a:p>
                      <a:r>
                        <a:rPr lang="en-US" sz="2400" dirty="0"/>
                        <a:t>Slow, Creeping, Fast</a:t>
                      </a:r>
                    </a:p>
                  </a:txBody>
                  <a:tcPr/>
                </a:tc>
                <a:extLst>
                  <a:ext uri="{0D108BD9-81ED-4DB2-BD59-A6C34878D82A}">
                    <a16:rowId xmlns:a16="http://schemas.microsoft.com/office/drawing/2014/main" val="10003"/>
                  </a:ext>
                </a:extLst>
              </a:tr>
              <a:tr h="548640">
                <a:tc>
                  <a:txBody>
                    <a:bodyPr/>
                    <a:lstStyle/>
                    <a:p>
                      <a:r>
                        <a:rPr lang="en-US" sz="2400" dirty="0"/>
                        <a:t>Age</a:t>
                      </a:r>
                    </a:p>
                  </a:txBody>
                  <a:tcPr/>
                </a:tc>
                <a:tc>
                  <a:txBody>
                    <a:bodyPr/>
                    <a:lstStyle/>
                    <a:p>
                      <a:r>
                        <a:rPr lang="en-US" sz="2400" dirty="0"/>
                        <a:t>Child,</a:t>
                      </a:r>
                      <a:r>
                        <a:rPr lang="en-US" sz="2400" baseline="0" dirty="0"/>
                        <a:t> Young, Mid-Age, Old </a:t>
                      </a:r>
                      <a:endParaRPr lang="en-US" sz="2400"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027F-CC59-BF33-81B1-F91F99E8309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5394AE0-CA55-F0AF-D750-4A7A2C4DA8D1}"/>
              </a:ext>
            </a:extLst>
          </p:cNvPr>
          <p:cNvSpPr>
            <a:spLocks noGrp="1"/>
          </p:cNvSpPr>
          <p:nvPr>
            <p:ph idx="1"/>
          </p:nvPr>
        </p:nvSpPr>
        <p:spPr/>
        <p:txBody>
          <a:bodyPr/>
          <a:lstStyle/>
          <a:p>
            <a:endParaRPr lang="en-PK"/>
          </a:p>
        </p:txBody>
      </p:sp>
      <p:pic>
        <p:nvPicPr>
          <p:cNvPr id="4" name="Picture 3" descr="What is Fuzzy Logic? Advantages and Disadvantages">
            <a:extLst>
              <a:ext uri="{FF2B5EF4-FFF2-40B4-BE49-F238E27FC236}">
                <a16:creationId xmlns:a16="http://schemas.microsoft.com/office/drawing/2014/main" id="{6C1C041C-D371-AE2B-2AF7-B439FB0D3284}"/>
              </a:ext>
            </a:extLst>
          </p:cNvPr>
          <p:cNvPicPr>
            <a:picLocks noChangeAspect="1"/>
          </p:cNvPicPr>
          <p:nvPr/>
        </p:nvPicPr>
        <p:blipFill>
          <a:blip r:embed="rId2"/>
          <a:stretch>
            <a:fillRect/>
          </a:stretch>
        </p:blipFill>
        <p:spPr>
          <a:xfrm>
            <a:off x="1143000" y="3928689"/>
            <a:ext cx="6172200" cy="3471863"/>
          </a:xfrm>
          <a:prstGeom prst="rect">
            <a:avLst/>
          </a:prstGeom>
        </p:spPr>
      </p:pic>
      <p:pic>
        <p:nvPicPr>
          <p:cNvPr id="5" name="Picture 4">
            <a:extLst>
              <a:ext uri="{FF2B5EF4-FFF2-40B4-BE49-F238E27FC236}">
                <a16:creationId xmlns:a16="http://schemas.microsoft.com/office/drawing/2014/main" id="{14412FEF-E7EE-0F00-FB52-99100C815B04}"/>
              </a:ext>
            </a:extLst>
          </p:cNvPr>
          <p:cNvPicPr>
            <a:picLocks noChangeAspect="1"/>
          </p:cNvPicPr>
          <p:nvPr/>
        </p:nvPicPr>
        <p:blipFill>
          <a:blip r:embed="rId3"/>
          <a:stretch>
            <a:fillRect/>
          </a:stretch>
        </p:blipFill>
        <p:spPr>
          <a:xfrm>
            <a:off x="1143000" y="328239"/>
            <a:ext cx="6172200" cy="3600450"/>
          </a:xfrm>
          <a:prstGeom prst="rect">
            <a:avLst/>
          </a:prstGeom>
        </p:spPr>
      </p:pic>
    </p:spTree>
    <p:extLst>
      <p:ext uri="{BB962C8B-B14F-4D97-AF65-F5344CB8AC3E}">
        <p14:creationId xmlns:p14="http://schemas.microsoft.com/office/powerpoint/2010/main" val="4072582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rmAutofit/>
          </a:bodyPr>
          <a:lstStyle/>
          <a:p>
            <a:pPr algn="ctr"/>
            <a:r>
              <a:rPr lang="en-US" sz="4400" dirty="0"/>
              <a:t>Fuzzy Rules Are Everywhere</a:t>
            </a:r>
          </a:p>
        </p:txBody>
      </p:sp>
      <p:sp>
        <p:nvSpPr>
          <p:cNvPr id="3" name="Content Placeholder 2"/>
          <p:cNvSpPr>
            <a:spLocks noGrp="1"/>
          </p:cNvSpPr>
          <p:nvPr>
            <p:ph idx="1"/>
          </p:nvPr>
        </p:nvSpPr>
        <p:spPr>
          <a:xfrm>
            <a:off x="152400" y="1447800"/>
            <a:ext cx="8534400" cy="4876800"/>
          </a:xfrm>
        </p:spPr>
        <p:txBody>
          <a:bodyPr>
            <a:normAutofit fontScale="85000" lnSpcReduction="10000"/>
          </a:bodyPr>
          <a:lstStyle/>
          <a:p>
            <a:r>
              <a:rPr lang="en-US" sz="3200" dirty="0"/>
              <a:t>If (</a:t>
            </a:r>
            <a:r>
              <a:rPr lang="en-US" sz="3200" dirty="0">
                <a:solidFill>
                  <a:srgbClr val="FF0000"/>
                </a:solidFill>
              </a:rPr>
              <a:t>Speed </a:t>
            </a:r>
            <a:r>
              <a:rPr lang="en-US" sz="3200" dirty="0"/>
              <a:t>is </a:t>
            </a:r>
            <a:r>
              <a:rPr lang="en-US" sz="3200" dirty="0">
                <a:solidFill>
                  <a:srgbClr val="7030A0"/>
                </a:solidFill>
              </a:rPr>
              <a:t>Slow)</a:t>
            </a:r>
            <a:r>
              <a:rPr lang="en-US" sz="3200" dirty="0"/>
              <a:t> Then </a:t>
            </a:r>
            <a:br>
              <a:rPr lang="en-US" sz="3200" dirty="0"/>
            </a:br>
            <a:r>
              <a:rPr lang="en-US" sz="3200" dirty="0"/>
              <a:t>	Make the </a:t>
            </a:r>
            <a:r>
              <a:rPr lang="en-US" sz="3200" dirty="0">
                <a:solidFill>
                  <a:srgbClr val="FF0000"/>
                </a:solidFill>
              </a:rPr>
              <a:t>Acceleration</a:t>
            </a:r>
            <a:r>
              <a:rPr lang="en-US" sz="3200" dirty="0"/>
              <a:t> </a:t>
            </a:r>
            <a:r>
              <a:rPr lang="en-US" sz="3200" dirty="0">
                <a:solidFill>
                  <a:srgbClr val="7030A0"/>
                </a:solidFill>
              </a:rPr>
              <a:t>High</a:t>
            </a:r>
          </a:p>
          <a:p>
            <a:endParaRPr lang="en-US" sz="3200" dirty="0"/>
          </a:p>
          <a:p>
            <a:r>
              <a:rPr lang="en-US" sz="3200" dirty="0"/>
              <a:t>If (</a:t>
            </a:r>
            <a:r>
              <a:rPr lang="en-US" sz="3200" dirty="0">
                <a:solidFill>
                  <a:srgbClr val="FF0000"/>
                </a:solidFill>
              </a:rPr>
              <a:t>Temperature</a:t>
            </a:r>
            <a:r>
              <a:rPr lang="en-US" sz="3200" dirty="0"/>
              <a:t> is </a:t>
            </a:r>
            <a:r>
              <a:rPr lang="en-US" sz="3200" dirty="0">
                <a:solidFill>
                  <a:srgbClr val="7030A0"/>
                </a:solidFill>
              </a:rPr>
              <a:t>Low</a:t>
            </a:r>
            <a:r>
              <a:rPr lang="en-US" sz="3200" dirty="0"/>
              <a:t> AND </a:t>
            </a:r>
            <a:r>
              <a:rPr lang="en-US" sz="3200" dirty="0">
                <a:solidFill>
                  <a:srgbClr val="FF0000"/>
                </a:solidFill>
              </a:rPr>
              <a:t>Pressure</a:t>
            </a:r>
            <a:r>
              <a:rPr lang="en-US" sz="3200" dirty="0"/>
              <a:t> is </a:t>
            </a:r>
            <a:r>
              <a:rPr lang="en-US" sz="3200" dirty="0">
                <a:solidFill>
                  <a:srgbClr val="7030A0"/>
                </a:solidFill>
              </a:rPr>
              <a:t>Medium)</a:t>
            </a:r>
            <a:r>
              <a:rPr lang="en-US" sz="3200" dirty="0"/>
              <a:t> Then </a:t>
            </a:r>
            <a:br>
              <a:rPr lang="en-US" sz="3200" dirty="0"/>
            </a:br>
            <a:r>
              <a:rPr lang="en-US" sz="3200" dirty="0"/>
              <a:t>	Make </a:t>
            </a:r>
            <a:r>
              <a:rPr lang="en-US" sz="3200" dirty="0">
                <a:solidFill>
                  <a:srgbClr val="FF0000"/>
                </a:solidFill>
              </a:rPr>
              <a:t>Speed</a:t>
            </a:r>
            <a:r>
              <a:rPr lang="en-US" sz="3200" dirty="0"/>
              <a:t> </a:t>
            </a:r>
            <a:r>
              <a:rPr lang="en-US" sz="3200" dirty="0">
                <a:solidFill>
                  <a:srgbClr val="7030A0"/>
                </a:solidFill>
              </a:rPr>
              <a:t>Very Slow</a:t>
            </a:r>
          </a:p>
          <a:p>
            <a:endParaRPr lang="en-US" sz="3200" dirty="0">
              <a:solidFill>
                <a:srgbClr val="7030A0"/>
              </a:solidFill>
            </a:endParaRPr>
          </a:p>
          <a:p>
            <a:pPr marL="0" indent="0" algn="ctr">
              <a:buNone/>
            </a:pPr>
            <a:r>
              <a:rPr lang="en-US" sz="3200" dirty="0"/>
              <a:t>A Fuzzy Rule is a conditional statement in the form </a:t>
            </a:r>
            <a:br>
              <a:rPr lang="en-US" sz="3200" dirty="0"/>
            </a:br>
            <a:r>
              <a:rPr lang="en-US" sz="3200" dirty="0"/>
              <a:t>IF </a:t>
            </a:r>
            <a:r>
              <a:rPr lang="en-US" sz="3200" dirty="0">
                <a:solidFill>
                  <a:srgbClr val="FF0000"/>
                </a:solidFill>
              </a:rPr>
              <a:t>x</a:t>
            </a:r>
            <a:r>
              <a:rPr lang="en-US" sz="3200" dirty="0"/>
              <a:t> is </a:t>
            </a:r>
            <a:r>
              <a:rPr lang="en-US" sz="3200" dirty="0">
                <a:solidFill>
                  <a:srgbClr val="7030A0"/>
                </a:solidFill>
              </a:rPr>
              <a:t>A</a:t>
            </a:r>
            <a:r>
              <a:rPr lang="en-US" sz="3200" dirty="0"/>
              <a:t> THEN </a:t>
            </a:r>
            <a:br>
              <a:rPr lang="en-US" sz="3200" dirty="0"/>
            </a:br>
            <a:r>
              <a:rPr lang="en-US" sz="3200" dirty="0">
                <a:solidFill>
                  <a:srgbClr val="FF0000"/>
                </a:solidFill>
              </a:rPr>
              <a:t>y</a:t>
            </a:r>
            <a:r>
              <a:rPr lang="en-US" sz="3200" dirty="0"/>
              <a:t> is </a:t>
            </a:r>
            <a:r>
              <a:rPr lang="en-US" sz="3200" dirty="0">
                <a:solidFill>
                  <a:srgbClr val="7030A0"/>
                </a:solidFill>
              </a:rPr>
              <a:t>B</a:t>
            </a:r>
            <a:br>
              <a:rPr lang="en-US" sz="3200" dirty="0">
                <a:solidFill>
                  <a:srgbClr val="7030A0"/>
                </a:solidFill>
              </a:rPr>
            </a:br>
            <a:r>
              <a:rPr lang="en-US" sz="3200" dirty="0"/>
              <a:t>(where </a:t>
            </a:r>
            <a:r>
              <a:rPr lang="en-US" sz="3200" dirty="0">
                <a:solidFill>
                  <a:srgbClr val="FF0000"/>
                </a:solidFill>
              </a:rPr>
              <a:t>x, y </a:t>
            </a:r>
            <a:r>
              <a:rPr lang="en-US" sz="3200" dirty="0"/>
              <a:t>are </a:t>
            </a:r>
            <a:r>
              <a:rPr lang="en-US" sz="3200" dirty="0">
                <a:solidFill>
                  <a:srgbClr val="FF0000"/>
                </a:solidFill>
              </a:rPr>
              <a:t>linguistic variables </a:t>
            </a:r>
            <a:r>
              <a:rPr lang="en-US" sz="3200" dirty="0"/>
              <a:t>and </a:t>
            </a:r>
            <a:br>
              <a:rPr lang="en-US" sz="3200" dirty="0"/>
            </a:br>
            <a:r>
              <a:rPr lang="en-US" sz="3200" dirty="0">
                <a:solidFill>
                  <a:srgbClr val="7030A0"/>
                </a:solidFill>
              </a:rPr>
              <a:t>A,B are linguistic values</a:t>
            </a:r>
            <a:r>
              <a:rPr lang="en-US" sz="3200" dirty="0"/>
              <a:t> determined by fuzzy sets </a:t>
            </a:r>
            <a:br>
              <a:rPr lang="en-US" sz="3200" dirty="0"/>
            </a:br>
            <a:r>
              <a:rPr lang="en-US" sz="3200" dirty="0"/>
              <a:t>on the </a:t>
            </a:r>
            <a:r>
              <a:rPr lang="en-US" sz="3200" dirty="0">
                <a:solidFill>
                  <a:srgbClr val="FF0000"/>
                </a:solidFill>
              </a:rPr>
              <a:t>universe of discourses X and Y </a:t>
            </a:r>
            <a:r>
              <a:rPr lang="en-US" sz="3200" dirty="0"/>
              <a:t>respectively</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160" y="228600"/>
            <a:ext cx="8229600" cy="762000"/>
          </a:xfrm>
        </p:spPr>
        <p:txBody>
          <a:bodyPr>
            <a:normAutofit/>
          </a:bodyPr>
          <a:lstStyle/>
          <a:p>
            <a:pPr algn="ctr"/>
            <a:r>
              <a:rPr lang="en-US" sz="4000" dirty="0"/>
              <a:t>Universe of Discourse</a:t>
            </a:r>
          </a:p>
        </p:txBody>
      </p:sp>
      <p:sp>
        <p:nvSpPr>
          <p:cNvPr id="3" name="Content Placeholder 2"/>
          <p:cNvSpPr>
            <a:spLocks noGrp="1"/>
          </p:cNvSpPr>
          <p:nvPr>
            <p:ph idx="1"/>
          </p:nvPr>
        </p:nvSpPr>
        <p:spPr>
          <a:xfrm>
            <a:off x="0" y="1143000"/>
            <a:ext cx="9144000" cy="4191000"/>
          </a:xfrm>
        </p:spPr>
        <p:txBody>
          <a:bodyPr>
            <a:normAutofit/>
          </a:bodyPr>
          <a:lstStyle/>
          <a:p>
            <a:r>
              <a:rPr lang="en-US" sz="2400" dirty="0"/>
              <a:t>Range of possible values of a linguistic variable is known as Universe of Discourse (</a:t>
            </a:r>
            <a:r>
              <a:rPr lang="en-US" sz="2400" dirty="0" err="1"/>
              <a:t>a.k.a</a:t>
            </a:r>
            <a:r>
              <a:rPr lang="en-US" sz="2400" dirty="0"/>
              <a:t> </a:t>
            </a:r>
            <a:r>
              <a:rPr lang="en-US" sz="2400" dirty="0">
                <a:solidFill>
                  <a:srgbClr val="FF0000"/>
                </a:solidFill>
              </a:rPr>
              <a:t>Domain</a:t>
            </a:r>
            <a:r>
              <a:rPr lang="en-US" sz="2400" dirty="0"/>
              <a:t>)</a:t>
            </a:r>
          </a:p>
          <a:p>
            <a:r>
              <a:rPr lang="en-US" sz="2400" dirty="0"/>
              <a:t>E.g. Domain Values for a Linguistic Variable </a:t>
            </a:r>
            <a:r>
              <a:rPr lang="en-US" sz="2400" dirty="0">
                <a:solidFill>
                  <a:srgbClr val="FF0000"/>
                </a:solidFill>
              </a:rPr>
              <a:t>Speed </a:t>
            </a:r>
            <a:r>
              <a:rPr lang="en-US" sz="2400" dirty="0"/>
              <a:t>of a Car (0-180 mph)</a:t>
            </a:r>
            <a:endParaRPr lang="en-US" sz="2400" dirty="0">
              <a:solidFill>
                <a:srgbClr val="FF0000"/>
              </a:solidFill>
            </a:endParaRPr>
          </a:p>
          <a:p>
            <a:r>
              <a:rPr lang="en-US" sz="2400" dirty="0">
                <a:solidFill>
                  <a:srgbClr val="FF0000"/>
                </a:solidFill>
              </a:rPr>
              <a:t>Speed </a:t>
            </a:r>
            <a:r>
              <a:rPr lang="en-US" sz="2400" dirty="0"/>
              <a:t>is </a:t>
            </a:r>
            <a:r>
              <a:rPr lang="en-US" sz="2400" dirty="0">
                <a:solidFill>
                  <a:srgbClr val="7030A0"/>
                </a:solidFill>
              </a:rPr>
              <a:t>slow</a:t>
            </a:r>
            <a:r>
              <a:rPr lang="en-US" sz="2400" dirty="0"/>
              <a:t> occupies a section of Domain, the linguistic term “slow” is known as a fuzzy set. </a:t>
            </a:r>
          </a:p>
        </p:txBody>
      </p:sp>
      <p:pic>
        <p:nvPicPr>
          <p:cNvPr id="16386" name="Picture 2" descr="http://t3.gstatic.com/images?q=tbn:ANd9GcRCjPJ2Ag6qDuRjzPiNFUqg6ije2cm7kYRjMx3lQP4n9-e053Kl"/>
          <p:cNvPicPr>
            <a:picLocks noChangeAspect="1" noChangeArrowheads="1"/>
          </p:cNvPicPr>
          <p:nvPr/>
        </p:nvPicPr>
        <p:blipFill>
          <a:blip r:embed="rId2"/>
          <a:srcRect/>
          <a:stretch>
            <a:fillRect/>
          </a:stretch>
        </p:blipFill>
        <p:spPr bwMode="auto">
          <a:xfrm>
            <a:off x="7239000" y="4267200"/>
            <a:ext cx="1676400" cy="1676400"/>
          </a:xfrm>
          <a:prstGeom prst="rect">
            <a:avLst/>
          </a:prstGeom>
          <a:noFill/>
        </p:spPr>
      </p:pic>
      <p:pic>
        <p:nvPicPr>
          <p:cNvPr id="16387" name="Picture 3"/>
          <p:cNvPicPr>
            <a:picLocks noChangeAspect="1" noChangeArrowheads="1"/>
          </p:cNvPicPr>
          <p:nvPr/>
        </p:nvPicPr>
        <p:blipFill>
          <a:blip r:embed="rId3"/>
          <a:srcRect/>
          <a:stretch>
            <a:fillRect/>
          </a:stretch>
        </p:blipFill>
        <p:spPr bwMode="auto">
          <a:xfrm>
            <a:off x="1066799" y="4198068"/>
            <a:ext cx="3819525" cy="2659932"/>
          </a:xfrm>
          <a:prstGeom prst="rect">
            <a:avLst/>
          </a:prstGeom>
          <a:noFill/>
          <a:ln w="9525">
            <a:noFill/>
            <a:miter lim="800000"/>
            <a:headEnd/>
            <a:tailEnd/>
          </a:ln>
          <a:effectLst/>
        </p:spPr>
      </p:pic>
      <p:pic>
        <p:nvPicPr>
          <p:cNvPr id="4" name="Picture 3" descr="Fuzzy Logic Control | Springer Nature Link">
            <a:extLst>
              <a:ext uri="{FF2B5EF4-FFF2-40B4-BE49-F238E27FC236}">
                <a16:creationId xmlns:a16="http://schemas.microsoft.com/office/drawing/2014/main" id="{26DECA3E-448C-61EC-94E7-C713E70FA37E}"/>
              </a:ext>
            </a:extLst>
          </p:cNvPr>
          <p:cNvPicPr>
            <a:picLocks noChangeAspect="1"/>
          </p:cNvPicPr>
          <p:nvPr/>
        </p:nvPicPr>
        <p:blipFill>
          <a:blip r:embed="rId4"/>
          <a:stretch>
            <a:fillRect/>
          </a:stretch>
        </p:blipFill>
        <p:spPr>
          <a:xfrm>
            <a:off x="1071281" y="3585443"/>
            <a:ext cx="5486400" cy="32770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386"/>
                                        </p:tgtEl>
                                        <p:attrNameLst>
                                          <p:attrName>style.visibility</p:attrName>
                                        </p:attrNameLst>
                                      </p:cBhvr>
                                      <p:to>
                                        <p:strVal val="visible"/>
                                      </p:to>
                                    </p:set>
                                    <p:anim calcmode="lin" valueType="num">
                                      <p:cBhvr additive="base">
                                        <p:cTn id="19" dur="500" fill="hold"/>
                                        <p:tgtEl>
                                          <p:spTgt spid="16386"/>
                                        </p:tgtEl>
                                        <p:attrNameLst>
                                          <p:attrName>ppt_x</p:attrName>
                                        </p:attrNameLst>
                                      </p:cBhvr>
                                      <p:tavLst>
                                        <p:tav tm="0">
                                          <p:val>
                                            <p:strVal val="#ppt_x"/>
                                          </p:val>
                                        </p:tav>
                                        <p:tav tm="100000">
                                          <p:val>
                                            <p:strVal val="#ppt_x"/>
                                          </p:val>
                                        </p:tav>
                                      </p:tavLst>
                                    </p:anim>
                                    <p:anim calcmode="lin" valueType="num">
                                      <p:cBhvr additive="base">
                                        <p:cTn id="20" dur="500" fill="hold"/>
                                        <p:tgtEl>
                                          <p:spTgt spid="1638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387"/>
                                        </p:tgtEl>
                                        <p:attrNameLst>
                                          <p:attrName>style.visibility</p:attrName>
                                        </p:attrNameLst>
                                      </p:cBhvr>
                                      <p:to>
                                        <p:strVal val="visible"/>
                                      </p:to>
                                    </p:set>
                                    <p:anim calcmode="lin" valueType="num">
                                      <p:cBhvr additive="base">
                                        <p:cTn id="31" dur="500" fill="hold"/>
                                        <p:tgtEl>
                                          <p:spTgt spid="16387"/>
                                        </p:tgtEl>
                                        <p:attrNameLst>
                                          <p:attrName>ppt_x</p:attrName>
                                        </p:attrNameLst>
                                      </p:cBhvr>
                                      <p:tavLst>
                                        <p:tav tm="0">
                                          <p:val>
                                            <p:strVal val="#ppt_x"/>
                                          </p:val>
                                        </p:tav>
                                        <p:tav tm="100000">
                                          <p:val>
                                            <p:strVal val="#ppt_x"/>
                                          </p:val>
                                        </p:tav>
                                      </p:tavLst>
                                    </p:anim>
                                    <p:anim calcmode="lin" valueType="num">
                                      <p:cBhvr additive="base">
                                        <p:cTn id="32" dur="500" fill="hold"/>
                                        <p:tgtEl>
                                          <p:spTgt spid="163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8229600" cy="639762"/>
          </a:xfrm>
        </p:spPr>
        <p:txBody>
          <a:bodyPr>
            <a:normAutofit fontScale="90000"/>
          </a:bodyPr>
          <a:lstStyle/>
          <a:p>
            <a:r>
              <a:rPr lang="en-US" dirty="0"/>
              <a:t>Crisp Logic</a:t>
            </a:r>
          </a:p>
        </p:txBody>
      </p:sp>
      <p:sp>
        <p:nvSpPr>
          <p:cNvPr id="3" name="Content Placeholder 2"/>
          <p:cNvSpPr>
            <a:spLocks noGrp="1"/>
          </p:cNvSpPr>
          <p:nvPr>
            <p:ph idx="1"/>
          </p:nvPr>
        </p:nvSpPr>
        <p:spPr>
          <a:xfrm>
            <a:off x="0" y="1447800"/>
            <a:ext cx="9067800" cy="4724400"/>
          </a:xfrm>
        </p:spPr>
        <p:txBody>
          <a:bodyPr>
            <a:normAutofit/>
          </a:bodyPr>
          <a:lstStyle/>
          <a:p>
            <a:r>
              <a:rPr lang="en-US" dirty="0"/>
              <a:t>Traditional Set Theory views the world as black and white (B/W), (True/False), (Yes/No), (0/1). </a:t>
            </a:r>
          </a:p>
          <a:p>
            <a:r>
              <a:rPr lang="en-US" dirty="0"/>
              <a:t>E.g. </a:t>
            </a:r>
            <a:r>
              <a:rPr lang="en-US" b="1" dirty="0"/>
              <a:t>Any one is </a:t>
            </a:r>
            <a:r>
              <a:rPr lang="en-US" b="1" dirty="0">
                <a:solidFill>
                  <a:srgbClr val="7030A0"/>
                </a:solidFill>
              </a:rPr>
              <a:t>child</a:t>
            </a:r>
            <a:r>
              <a:rPr lang="en-US" b="1" dirty="0"/>
              <a:t> if </a:t>
            </a:r>
            <a:r>
              <a:rPr lang="en-US" b="1" dirty="0">
                <a:solidFill>
                  <a:srgbClr val="FF0000"/>
                </a:solidFill>
              </a:rPr>
              <a:t>age</a:t>
            </a:r>
            <a:r>
              <a:rPr lang="en-US" b="1" dirty="0"/>
              <a:t> is less than 10.</a:t>
            </a:r>
            <a:r>
              <a:rPr lang="en-US" dirty="0"/>
              <a:t> </a:t>
            </a:r>
            <a:br>
              <a:rPr lang="en-US" dirty="0"/>
            </a:br>
            <a:r>
              <a:rPr lang="en-US" dirty="0"/>
              <a:t>On 11</a:t>
            </a:r>
            <a:r>
              <a:rPr lang="en-US" baseline="30000" dirty="0"/>
              <a:t>th</a:t>
            </a:r>
            <a:r>
              <a:rPr lang="en-US" dirty="0"/>
              <a:t> birthday his childhood suddenly vanish?</a:t>
            </a:r>
          </a:p>
        </p:txBody>
      </p:sp>
      <p:pic>
        <p:nvPicPr>
          <p:cNvPr id="4" name="Picture 3" descr="fig 0 - child.JPG"/>
          <p:cNvPicPr>
            <a:picLocks noChangeAspect="1"/>
          </p:cNvPicPr>
          <p:nvPr/>
        </p:nvPicPr>
        <p:blipFill>
          <a:blip r:embed="rId2"/>
          <a:stretch>
            <a:fillRect/>
          </a:stretch>
        </p:blipFill>
        <p:spPr>
          <a:xfrm>
            <a:off x="1981200" y="3179241"/>
            <a:ext cx="5105399" cy="36787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638"/>
            <a:ext cx="8229600" cy="715962"/>
          </a:xfrm>
        </p:spPr>
        <p:txBody>
          <a:bodyPr>
            <a:normAutofit fontScale="90000"/>
          </a:bodyPr>
          <a:lstStyle/>
          <a:p>
            <a:r>
              <a:rPr lang="en-US" dirty="0"/>
              <a:t>Fuzzy Logic</a:t>
            </a:r>
          </a:p>
        </p:txBody>
      </p:sp>
      <p:sp>
        <p:nvSpPr>
          <p:cNvPr id="3" name="Content Placeholder 2"/>
          <p:cNvSpPr>
            <a:spLocks noGrp="1"/>
          </p:cNvSpPr>
          <p:nvPr>
            <p:ph idx="1"/>
          </p:nvPr>
        </p:nvSpPr>
        <p:spPr>
          <a:xfrm>
            <a:off x="0" y="1295400"/>
            <a:ext cx="8839200" cy="4144963"/>
          </a:xfrm>
        </p:spPr>
        <p:txBody>
          <a:bodyPr/>
          <a:lstStyle/>
          <a:p>
            <a:r>
              <a:rPr lang="en-US" sz="2400" dirty="0"/>
              <a:t>Fuzzy Logic provides more reasonable interpretation of child. And assigns membership values between [0-1] (</a:t>
            </a:r>
            <a:r>
              <a:rPr lang="en-US" sz="2400" dirty="0">
                <a:solidFill>
                  <a:srgbClr val="FF0000"/>
                </a:solidFill>
              </a:rPr>
              <a:t>graceful transition</a:t>
            </a:r>
            <a:r>
              <a:rPr lang="en-US" sz="2400" dirty="0"/>
              <a:t>).</a:t>
            </a:r>
          </a:p>
          <a:p>
            <a:r>
              <a:rPr lang="en-US" sz="2400" dirty="0"/>
              <a:t>Here </a:t>
            </a:r>
            <a:r>
              <a:rPr lang="en-US" sz="2400" dirty="0">
                <a:solidFill>
                  <a:srgbClr val="FF0000"/>
                </a:solidFill>
              </a:rPr>
              <a:t>Age</a:t>
            </a:r>
            <a:r>
              <a:rPr lang="en-US" sz="2400" dirty="0"/>
              <a:t> is a Linguistic Variable and </a:t>
            </a:r>
            <a:r>
              <a:rPr lang="en-US" sz="2400" dirty="0">
                <a:solidFill>
                  <a:srgbClr val="7030A0"/>
                </a:solidFill>
              </a:rPr>
              <a:t>child</a:t>
            </a:r>
            <a:r>
              <a:rPr lang="en-US" sz="2400" dirty="0"/>
              <a:t> is one of the Fuzzy Sets.</a:t>
            </a:r>
          </a:p>
          <a:p>
            <a:r>
              <a:rPr lang="en-US" sz="2400" dirty="0"/>
              <a:t>Other sets may be Teenager, </a:t>
            </a:r>
            <a:r>
              <a:rPr lang="en-US" sz="2400" dirty="0">
                <a:solidFill>
                  <a:srgbClr val="7030A0"/>
                </a:solidFill>
              </a:rPr>
              <a:t>Young Adule, Mid-Age, Senior </a:t>
            </a:r>
            <a:r>
              <a:rPr lang="en-US" sz="2400" dirty="0"/>
              <a:t>etc. Each of these sets defined as an </a:t>
            </a:r>
            <a:r>
              <a:rPr lang="en-US" sz="2400" dirty="0">
                <a:solidFill>
                  <a:srgbClr val="FF0000"/>
                </a:solidFill>
              </a:rPr>
              <a:t>Adjective </a:t>
            </a:r>
            <a:r>
              <a:rPr lang="en-US" sz="2400" dirty="0"/>
              <a:t>on the linguistic variable.</a:t>
            </a:r>
          </a:p>
          <a:p>
            <a:endParaRPr lang="en-US" dirty="0"/>
          </a:p>
        </p:txBody>
      </p:sp>
      <p:pic>
        <p:nvPicPr>
          <p:cNvPr id="4" name="Picture 3" descr="fig 1 - child.JPG"/>
          <p:cNvPicPr>
            <a:picLocks noChangeAspect="1"/>
          </p:cNvPicPr>
          <p:nvPr/>
        </p:nvPicPr>
        <p:blipFill>
          <a:blip r:embed="rId2"/>
          <a:stretch>
            <a:fillRect/>
          </a:stretch>
        </p:blipFill>
        <p:spPr>
          <a:xfrm>
            <a:off x="76200" y="3453773"/>
            <a:ext cx="4724400" cy="3404225"/>
          </a:xfrm>
          <a:prstGeom prst="rect">
            <a:avLst/>
          </a:prstGeom>
        </p:spPr>
      </p:pic>
      <p:pic>
        <p:nvPicPr>
          <p:cNvPr id="6" name="Picture 5">
            <a:extLst>
              <a:ext uri="{FF2B5EF4-FFF2-40B4-BE49-F238E27FC236}">
                <a16:creationId xmlns:a16="http://schemas.microsoft.com/office/drawing/2014/main" id="{8456C8C2-2389-B37D-3BBC-8D0FC355CEC9}"/>
              </a:ext>
            </a:extLst>
          </p:cNvPr>
          <p:cNvPicPr>
            <a:picLocks noChangeAspect="1"/>
          </p:cNvPicPr>
          <p:nvPr/>
        </p:nvPicPr>
        <p:blipFill>
          <a:blip r:embed="rId3"/>
          <a:stretch>
            <a:fillRect/>
          </a:stretch>
        </p:blipFill>
        <p:spPr>
          <a:xfrm>
            <a:off x="4830296" y="3493772"/>
            <a:ext cx="4295775" cy="3324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85800"/>
          </a:xfrm>
        </p:spPr>
        <p:txBody>
          <a:bodyPr>
            <a:normAutofit/>
          </a:bodyPr>
          <a:lstStyle/>
          <a:p>
            <a:pPr algn="ctr"/>
            <a:r>
              <a:rPr lang="en-US" sz="4000" dirty="0"/>
              <a:t>Fuzzy Set – Formal Definition</a:t>
            </a:r>
          </a:p>
        </p:txBody>
      </p:sp>
      <p:sp>
        <p:nvSpPr>
          <p:cNvPr id="3" name="Content Placeholder 2"/>
          <p:cNvSpPr>
            <a:spLocks noGrp="1"/>
          </p:cNvSpPr>
          <p:nvPr>
            <p:ph idx="1"/>
          </p:nvPr>
        </p:nvSpPr>
        <p:spPr>
          <a:xfrm>
            <a:off x="152400" y="1219200"/>
            <a:ext cx="8610600" cy="4922520"/>
          </a:xfrm>
        </p:spPr>
        <p:txBody>
          <a:bodyPr>
            <a:normAutofit/>
          </a:bodyPr>
          <a:lstStyle/>
          <a:p>
            <a:r>
              <a:rPr lang="en-US" sz="2400" dirty="0"/>
              <a:t>Let </a:t>
            </a:r>
            <a:r>
              <a:rPr lang="en-US" sz="2400" dirty="0">
                <a:solidFill>
                  <a:srgbClr val="FF0000"/>
                </a:solidFill>
              </a:rPr>
              <a:t>X</a:t>
            </a:r>
            <a:r>
              <a:rPr lang="en-US" sz="2400" dirty="0"/>
              <a:t> be the Universe of Discourse with the elements of X denoted as </a:t>
            </a:r>
            <a:r>
              <a:rPr lang="en-US" sz="2400" dirty="0">
                <a:solidFill>
                  <a:srgbClr val="FF0000"/>
                </a:solidFill>
              </a:rPr>
              <a:t>x</a:t>
            </a:r>
            <a:r>
              <a:rPr lang="en-US" sz="2400" dirty="0"/>
              <a:t>, </a:t>
            </a:r>
            <a:br>
              <a:rPr lang="en-US" sz="2400" dirty="0"/>
            </a:br>
            <a:r>
              <a:rPr lang="en-US" sz="2400" dirty="0"/>
              <a:t>A fuzzy set </a:t>
            </a:r>
            <a:r>
              <a:rPr lang="en-US" sz="2400" dirty="0">
                <a:solidFill>
                  <a:srgbClr val="FF0000"/>
                </a:solidFill>
              </a:rPr>
              <a:t>A</a:t>
            </a:r>
            <a:r>
              <a:rPr lang="en-US" sz="2400" dirty="0"/>
              <a:t> of </a:t>
            </a:r>
            <a:r>
              <a:rPr lang="en-US" sz="2400" dirty="0">
                <a:solidFill>
                  <a:srgbClr val="FF0000"/>
                </a:solidFill>
              </a:rPr>
              <a:t>X </a:t>
            </a:r>
            <a:r>
              <a:rPr lang="en-US" sz="2400" dirty="0"/>
              <a:t>is characterized by a membership function </a:t>
            </a:r>
            <a:r>
              <a:rPr lang="el-GR" sz="2400" dirty="0">
                <a:solidFill>
                  <a:srgbClr val="FF0000"/>
                </a:solidFill>
              </a:rPr>
              <a:t>μ</a:t>
            </a:r>
            <a:r>
              <a:rPr lang="en-US" sz="2400" baseline="-25000" dirty="0">
                <a:solidFill>
                  <a:srgbClr val="FF0000"/>
                </a:solidFill>
              </a:rPr>
              <a:t>A</a:t>
            </a:r>
            <a:r>
              <a:rPr lang="en-US" sz="2400" dirty="0">
                <a:solidFill>
                  <a:srgbClr val="FF0000"/>
                </a:solidFill>
              </a:rPr>
              <a:t>(x)</a:t>
            </a:r>
            <a:r>
              <a:rPr lang="en-US" sz="2400" dirty="0"/>
              <a:t> that </a:t>
            </a:r>
            <a:br>
              <a:rPr lang="en-US" sz="2400" dirty="0"/>
            </a:br>
            <a:r>
              <a:rPr lang="en-US" sz="2400" dirty="0"/>
              <a:t>associates each element </a:t>
            </a:r>
            <a:r>
              <a:rPr lang="en-US" sz="2400" dirty="0">
                <a:solidFill>
                  <a:srgbClr val="FF0000"/>
                </a:solidFill>
              </a:rPr>
              <a:t>x</a:t>
            </a:r>
            <a:r>
              <a:rPr lang="en-US" sz="2400" dirty="0"/>
              <a:t> with a degree of membership (or </a:t>
            </a:r>
            <a:r>
              <a:rPr lang="en-US" sz="2400" dirty="0">
                <a:solidFill>
                  <a:srgbClr val="FF0000"/>
                </a:solidFill>
              </a:rPr>
              <a:t>belief</a:t>
            </a:r>
            <a:r>
              <a:rPr lang="en-US" sz="2400" dirty="0"/>
              <a:t>) in A, a </a:t>
            </a:r>
            <a:r>
              <a:rPr lang="en-US" sz="2400" dirty="0">
                <a:solidFill>
                  <a:srgbClr val="FF0000"/>
                </a:solidFill>
              </a:rPr>
              <a:t>real value (in the range of 0-1)</a:t>
            </a:r>
            <a:r>
              <a:rPr lang="en-US" sz="2400" dirty="0"/>
              <a:t>.</a:t>
            </a:r>
          </a:p>
          <a:p>
            <a:pPr algn="ctr">
              <a:buNone/>
            </a:pPr>
            <a:r>
              <a:rPr lang="el-GR" sz="2400" dirty="0"/>
              <a:t>μ</a:t>
            </a:r>
            <a:r>
              <a:rPr lang="en-US" sz="2400" baseline="-25000" dirty="0"/>
              <a:t>A</a:t>
            </a:r>
            <a:r>
              <a:rPr lang="en-US" sz="2400" dirty="0"/>
              <a:t>(x)  = Degree(X </a:t>
            </a:r>
            <a:r>
              <a:rPr lang="en-US" sz="2400" dirty="0">
                <a:sym typeface="Symbol"/>
              </a:rPr>
              <a:t> </a:t>
            </a:r>
            <a:r>
              <a:rPr lang="en-US" sz="2400" dirty="0">
                <a:sym typeface="Wingdings" pitchFamily="2" charset="2"/>
              </a:rPr>
              <a:t>A)</a:t>
            </a:r>
            <a:endParaRPr lang="en-US" sz="2400" dirty="0"/>
          </a:p>
          <a:p>
            <a:r>
              <a:rPr lang="en-US" sz="2400" dirty="0"/>
              <a:t>Whereas Crisp set is a special case of fuzzy set in which only </a:t>
            </a:r>
            <a:r>
              <a:rPr lang="en-US" sz="2400" dirty="0">
                <a:solidFill>
                  <a:srgbClr val="FF0000"/>
                </a:solidFill>
              </a:rPr>
              <a:t>whole (or boundary) values of 0, 1</a:t>
            </a:r>
            <a:r>
              <a:rPr lang="en-US" sz="2400" dirty="0"/>
              <a:t> can be assigned.</a:t>
            </a:r>
          </a:p>
          <a:p>
            <a:endParaRPr lang="en-US" sz="2400" dirty="0"/>
          </a:p>
        </p:txBody>
      </p:sp>
      <p:pic>
        <p:nvPicPr>
          <p:cNvPr id="5" name="Picture 4" descr="Fuzzy Expression - an overview | ScienceDirect Topics">
            <a:extLst>
              <a:ext uri="{FF2B5EF4-FFF2-40B4-BE49-F238E27FC236}">
                <a16:creationId xmlns:a16="http://schemas.microsoft.com/office/drawing/2014/main" id="{F58E8C8D-794C-92D4-0EBE-2F10DED6634A}"/>
              </a:ext>
            </a:extLst>
          </p:cNvPr>
          <p:cNvPicPr>
            <a:picLocks noChangeAspect="1"/>
          </p:cNvPicPr>
          <p:nvPr/>
        </p:nvPicPr>
        <p:blipFill>
          <a:blip r:embed="rId2"/>
          <a:stretch>
            <a:fillRect/>
          </a:stretch>
        </p:blipFill>
        <p:spPr>
          <a:xfrm>
            <a:off x="3352800" y="4953000"/>
            <a:ext cx="2702740" cy="1650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76200"/>
            <a:ext cx="7162800" cy="1143000"/>
          </a:xfrm>
        </p:spPr>
        <p:txBody>
          <a:bodyPr>
            <a:normAutofit/>
          </a:bodyPr>
          <a:lstStyle/>
          <a:p>
            <a:r>
              <a:rPr lang="en-US" dirty="0"/>
              <a:t>Crisp vs Fuzzy Set of Tall</a:t>
            </a:r>
          </a:p>
        </p:txBody>
      </p:sp>
      <p:pic>
        <p:nvPicPr>
          <p:cNvPr id="5" name="Picture 4" descr="fuzzy_tall.gif"/>
          <p:cNvPicPr>
            <a:picLocks noChangeAspect="1"/>
          </p:cNvPicPr>
          <p:nvPr/>
        </p:nvPicPr>
        <p:blipFill>
          <a:blip r:embed="rId2"/>
          <a:stretch>
            <a:fillRect/>
          </a:stretch>
        </p:blipFill>
        <p:spPr>
          <a:xfrm>
            <a:off x="1735931" y="1371600"/>
            <a:ext cx="6586538" cy="53047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563562"/>
          </a:xfrm>
        </p:spPr>
        <p:txBody>
          <a:bodyPr>
            <a:normAutofit fontScale="90000"/>
          </a:bodyPr>
          <a:lstStyle/>
          <a:p>
            <a:r>
              <a:rPr lang="en-US" dirty="0"/>
              <a:t>Fuzzy Set Representation</a:t>
            </a:r>
          </a:p>
        </p:txBody>
      </p:sp>
      <p:sp>
        <p:nvSpPr>
          <p:cNvPr id="3" name="Content Placeholder 2"/>
          <p:cNvSpPr>
            <a:spLocks noGrp="1"/>
          </p:cNvSpPr>
          <p:nvPr>
            <p:ph idx="1"/>
          </p:nvPr>
        </p:nvSpPr>
        <p:spPr>
          <a:xfrm>
            <a:off x="152400" y="685800"/>
            <a:ext cx="8763000" cy="2544763"/>
          </a:xfrm>
        </p:spPr>
        <p:txBody>
          <a:bodyPr>
            <a:noAutofit/>
          </a:bodyPr>
          <a:lstStyle/>
          <a:p>
            <a:r>
              <a:rPr lang="en-US" sz="2400" dirty="0"/>
              <a:t>A = (</a:t>
            </a:r>
            <a:r>
              <a:rPr lang="el-GR" sz="2400" dirty="0"/>
              <a:t>μ</a:t>
            </a:r>
            <a:r>
              <a:rPr lang="en-US" sz="2400" baseline="-25000" dirty="0"/>
              <a:t>1</a:t>
            </a:r>
            <a:r>
              <a:rPr lang="en-US" sz="2400" dirty="0"/>
              <a:t>/x</a:t>
            </a:r>
            <a:r>
              <a:rPr lang="en-US" sz="2400" baseline="-25000" dirty="0"/>
              <a:t>1,</a:t>
            </a:r>
            <a:r>
              <a:rPr lang="el-GR" sz="2400" dirty="0"/>
              <a:t> </a:t>
            </a:r>
            <a:r>
              <a:rPr lang="en-US" sz="2400" dirty="0"/>
              <a:t> </a:t>
            </a:r>
            <a:r>
              <a:rPr lang="el-GR" sz="2400" dirty="0"/>
              <a:t>μ</a:t>
            </a:r>
            <a:r>
              <a:rPr lang="en-US" sz="2400" baseline="-25000" dirty="0"/>
              <a:t>2</a:t>
            </a:r>
            <a:r>
              <a:rPr lang="en-US" sz="2400" dirty="0"/>
              <a:t>/x</a:t>
            </a:r>
            <a:r>
              <a:rPr lang="en-US" sz="2400" baseline="-25000" dirty="0"/>
              <a:t>2,</a:t>
            </a:r>
            <a:r>
              <a:rPr lang="el-GR" sz="2400" dirty="0"/>
              <a:t> </a:t>
            </a:r>
            <a:r>
              <a:rPr lang="en-US" sz="2400" dirty="0"/>
              <a:t> </a:t>
            </a:r>
            <a:r>
              <a:rPr lang="el-GR" sz="2400" dirty="0"/>
              <a:t>μ</a:t>
            </a:r>
            <a:r>
              <a:rPr lang="en-US" sz="2400" baseline="-25000" dirty="0"/>
              <a:t>3</a:t>
            </a:r>
            <a:r>
              <a:rPr lang="en-US" sz="2400" dirty="0"/>
              <a:t>/x</a:t>
            </a:r>
            <a:r>
              <a:rPr lang="en-US" sz="2400" baseline="-25000" dirty="0"/>
              <a:t>3,</a:t>
            </a:r>
            <a:r>
              <a:rPr lang="el-GR" sz="2400" dirty="0"/>
              <a:t> </a:t>
            </a:r>
            <a:r>
              <a:rPr lang="en-US" sz="2400" dirty="0"/>
              <a:t> </a:t>
            </a:r>
            <a:r>
              <a:rPr lang="el-GR" sz="2400" dirty="0"/>
              <a:t>μ</a:t>
            </a:r>
            <a:r>
              <a:rPr lang="en-US" sz="2400" baseline="-25000" dirty="0"/>
              <a:t>4</a:t>
            </a:r>
            <a:r>
              <a:rPr lang="en-US" sz="2400" dirty="0"/>
              <a:t>/x</a:t>
            </a:r>
            <a:r>
              <a:rPr lang="en-US" sz="2400" baseline="-25000" dirty="0"/>
              <a:t>4,</a:t>
            </a:r>
            <a:r>
              <a:rPr lang="el-GR" sz="2400" dirty="0"/>
              <a:t> </a:t>
            </a:r>
            <a:r>
              <a:rPr lang="en-US" sz="2400" dirty="0"/>
              <a:t> </a:t>
            </a:r>
            <a:r>
              <a:rPr lang="el-GR" sz="2400" dirty="0"/>
              <a:t>μ</a:t>
            </a:r>
            <a:r>
              <a:rPr lang="en-US" sz="2400" baseline="-25000" dirty="0"/>
              <a:t>5</a:t>
            </a:r>
            <a:r>
              <a:rPr lang="en-US" sz="2400" dirty="0"/>
              <a:t>/x</a:t>
            </a:r>
            <a:r>
              <a:rPr lang="en-US" sz="2400" baseline="-25000" dirty="0"/>
              <a:t>5</a:t>
            </a:r>
            <a:r>
              <a:rPr lang="en-US" sz="2400" dirty="0"/>
              <a:t>) is called a </a:t>
            </a:r>
            <a:r>
              <a:rPr lang="en-US" sz="2400" dirty="0">
                <a:solidFill>
                  <a:srgbClr val="FF0000"/>
                </a:solidFill>
              </a:rPr>
              <a:t>Fit-Vector</a:t>
            </a:r>
          </a:p>
          <a:p>
            <a:pPr lvl="1"/>
            <a:r>
              <a:rPr lang="en-US" sz="2200" dirty="0"/>
              <a:t>Short = (1/4, 1/4.5, 0.7/5, 0.3/5.5, 0/6)</a:t>
            </a:r>
          </a:p>
          <a:p>
            <a:pPr lvl="1"/>
            <a:r>
              <a:rPr lang="en-US" sz="2200" dirty="0"/>
              <a:t>Medium/Average = (0/4.5, 0.5/5, 1/5.5, 0.5/6, 0/6.5)</a:t>
            </a:r>
          </a:p>
          <a:p>
            <a:pPr lvl="1"/>
            <a:r>
              <a:rPr lang="en-US" sz="2200" dirty="0"/>
              <a:t>Tall = (0/5, 0.3/5.5, 0.7/6, 1/6.5, 1/7)</a:t>
            </a:r>
          </a:p>
          <a:p>
            <a:pPr lvl="1"/>
            <a:endParaRPr lang="en-US" sz="2200" dirty="0"/>
          </a:p>
          <a:p>
            <a:pPr algn="ctr"/>
            <a:r>
              <a:rPr lang="en-US" sz="2400" dirty="0"/>
              <a:t>Membership Value (or </a:t>
            </a:r>
            <a:r>
              <a:rPr lang="en-US" sz="2400" dirty="0">
                <a:solidFill>
                  <a:srgbClr val="FF0000"/>
                </a:solidFill>
              </a:rPr>
              <a:t>Belief</a:t>
            </a:r>
            <a:r>
              <a:rPr lang="en-US" sz="2400" dirty="0"/>
              <a:t>) of 5.5 feet </a:t>
            </a:r>
            <a:r>
              <a:rPr lang="en-US" sz="2400" dirty="0">
                <a:solidFill>
                  <a:srgbClr val="FF0000"/>
                </a:solidFill>
              </a:rPr>
              <a:t>Height </a:t>
            </a:r>
            <a:r>
              <a:rPr lang="en-US" sz="2400" dirty="0"/>
              <a:t>(A Fuzzy Variable) in each Fuzzy Set. </a:t>
            </a:r>
            <a:br>
              <a:rPr lang="en-US" sz="2400" dirty="0"/>
            </a:br>
            <a:r>
              <a:rPr lang="el-GR" sz="2400" dirty="0"/>
              <a:t>μ</a:t>
            </a:r>
            <a:r>
              <a:rPr lang="en-US" sz="2400" baseline="-25000" dirty="0"/>
              <a:t>Short</a:t>
            </a:r>
            <a:r>
              <a:rPr lang="en-US" sz="2400" dirty="0"/>
              <a:t>(5.5)=0.3,</a:t>
            </a:r>
            <a:r>
              <a:rPr lang="el-GR" sz="2400" dirty="0"/>
              <a:t> μ</a:t>
            </a:r>
            <a:r>
              <a:rPr lang="en-US" sz="2400" baseline="-25000" dirty="0"/>
              <a:t>Medium</a:t>
            </a:r>
            <a:r>
              <a:rPr lang="en-US" sz="2400" dirty="0"/>
              <a:t>(5.5)=1,</a:t>
            </a:r>
            <a:r>
              <a:rPr lang="el-GR" sz="2400" dirty="0"/>
              <a:t> μ</a:t>
            </a:r>
            <a:r>
              <a:rPr lang="en-US" sz="2400" baseline="-25000" dirty="0"/>
              <a:t>Tall</a:t>
            </a:r>
            <a:r>
              <a:rPr lang="en-US" sz="2400" dirty="0"/>
              <a:t>(5.5)=0.3</a:t>
            </a:r>
          </a:p>
        </p:txBody>
      </p:sp>
      <p:pic>
        <p:nvPicPr>
          <p:cNvPr id="6" name="Picture 5" descr="ex1.jpg"/>
          <p:cNvPicPr>
            <a:picLocks noChangeAspect="1"/>
          </p:cNvPicPr>
          <p:nvPr/>
        </p:nvPicPr>
        <p:blipFill>
          <a:blip r:embed="rId2"/>
          <a:stretch>
            <a:fillRect/>
          </a:stretch>
        </p:blipFill>
        <p:spPr>
          <a:xfrm>
            <a:off x="76200" y="4267200"/>
            <a:ext cx="3657600" cy="2286000"/>
          </a:xfrm>
          <a:prstGeom prst="rect">
            <a:avLst/>
          </a:prstGeom>
          <a:ln w="6350">
            <a:solidFill>
              <a:schemeClr val="tx1"/>
            </a:solidFill>
          </a:ln>
        </p:spPr>
      </p:pic>
      <p:pic>
        <p:nvPicPr>
          <p:cNvPr id="7" name="Picture 6" descr="fig 2 - height fuzzy set.JPG"/>
          <p:cNvPicPr>
            <a:picLocks noChangeAspect="1"/>
          </p:cNvPicPr>
          <p:nvPr/>
        </p:nvPicPr>
        <p:blipFill>
          <a:blip r:embed="rId3"/>
          <a:stretch>
            <a:fillRect/>
          </a:stretch>
        </p:blipFill>
        <p:spPr>
          <a:xfrm>
            <a:off x="3880037" y="4239246"/>
            <a:ext cx="5210175" cy="23419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229600" cy="1143000"/>
          </a:xfrm>
        </p:spPr>
        <p:txBody>
          <a:bodyPr/>
          <a:lstStyle/>
          <a:p>
            <a:r>
              <a:rPr lang="en-US" dirty="0"/>
              <a:t>Hedges (Adverbs)</a:t>
            </a:r>
          </a:p>
        </p:txBody>
      </p:sp>
      <p:sp>
        <p:nvSpPr>
          <p:cNvPr id="3" name="Content Placeholder 2"/>
          <p:cNvSpPr>
            <a:spLocks noGrp="1"/>
          </p:cNvSpPr>
          <p:nvPr>
            <p:ph idx="1"/>
          </p:nvPr>
        </p:nvSpPr>
        <p:spPr>
          <a:xfrm>
            <a:off x="0" y="1676400"/>
            <a:ext cx="8686800" cy="4648200"/>
          </a:xfrm>
        </p:spPr>
        <p:txBody>
          <a:bodyPr>
            <a:noAutofit/>
          </a:bodyPr>
          <a:lstStyle/>
          <a:p>
            <a:r>
              <a:rPr lang="en-US" sz="2400" dirty="0"/>
              <a:t>Used For Additional Vagueness</a:t>
            </a:r>
          </a:p>
          <a:p>
            <a:pPr lvl="1"/>
            <a:r>
              <a:rPr lang="en-US" dirty="0">
                <a:solidFill>
                  <a:srgbClr val="00B050"/>
                </a:solidFill>
              </a:rPr>
              <a:t>Very</a:t>
            </a:r>
            <a:r>
              <a:rPr lang="en-US" dirty="0"/>
              <a:t>, </a:t>
            </a:r>
            <a:r>
              <a:rPr lang="en-US" dirty="0">
                <a:solidFill>
                  <a:srgbClr val="00B050"/>
                </a:solidFill>
              </a:rPr>
              <a:t>Slightly</a:t>
            </a:r>
            <a:r>
              <a:rPr lang="en-US" dirty="0"/>
              <a:t>, </a:t>
            </a:r>
            <a:r>
              <a:rPr lang="en-US" dirty="0">
                <a:solidFill>
                  <a:srgbClr val="00B050"/>
                </a:solidFill>
              </a:rPr>
              <a:t>Somewhat </a:t>
            </a:r>
          </a:p>
          <a:p>
            <a:pPr lvl="1"/>
            <a:br>
              <a:rPr lang="en-US" dirty="0"/>
            </a:br>
            <a:br>
              <a:rPr lang="en-US" dirty="0"/>
            </a:br>
            <a:endParaRPr lang="en-US" dirty="0"/>
          </a:p>
          <a:p>
            <a:r>
              <a:rPr lang="en-US" sz="2400" dirty="0"/>
              <a:t>An Adverb is a word that modifies Verb, an Adjective, Another Adverb or a whole sentence. E.g.</a:t>
            </a:r>
          </a:p>
          <a:p>
            <a:pPr lvl="1"/>
            <a:r>
              <a:rPr lang="en-US" dirty="0"/>
              <a:t>The person is </a:t>
            </a:r>
            <a:r>
              <a:rPr lang="en-US" dirty="0">
                <a:solidFill>
                  <a:srgbClr val="00B050"/>
                </a:solidFill>
              </a:rPr>
              <a:t>very</a:t>
            </a:r>
            <a:r>
              <a:rPr lang="en-US" dirty="0"/>
              <a:t> </a:t>
            </a:r>
            <a:r>
              <a:rPr lang="en-US" dirty="0">
                <a:solidFill>
                  <a:srgbClr val="7030A0"/>
                </a:solidFill>
              </a:rPr>
              <a:t>tall, </a:t>
            </a:r>
            <a:r>
              <a:rPr lang="en-US" dirty="0"/>
              <a:t>the person is </a:t>
            </a:r>
            <a:r>
              <a:rPr lang="en-US" dirty="0">
                <a:solidFill>
                  <a:srgbClr val="00B050"/>
                </a:solidFill>
              </a:rPr>
              <a:t>well</a:t>
            </a:r>
            <a:r>
              <a:rPr lang="en-US" dirty="0"/>
              <a:t> </a:t>
            </a:r>
            <a:r>
              <a:rPr lang="en-US" dirty="0">
                <a:solidFill>
                  <a:srgbClr val="7030A0"/>
                </a:solidFill>
              </a:rPr>
              <a:t>built</a:t>
            </a:r>
          </a:p>
          <a:p>
            <a:pPr lvl="1"/>
            <a:r>
              <a:rPr lang="en-US" dirty="0"/>
              <a:t>Luggage is </a:t>
            </a:r>
            <a:r>
              <a:rPr lang="en-US" dirty="0">
                <a:solidFill>
                  <a:srgbClr val="00B050"/>
                </a:solidFill>
              </a:rPr>
              <a:t>much</a:t>
            </a:r>
            <a:r>
              <a:rPr lang="en-US" dirty="0"/>
              <a:t> </a:t>
            </a:r>
            <a:r>
              <a:rPr lang="en-US" dirty="0">
                <a:solidFill>
                  <a:srgbClr val="7030A0"/>
                </a:solidFill>
              </a:rPr>
              <a:t>heavy</a:t>
            </a:r>
          </a:p>
          <a:p>
            <a:r>
              <a:rPr lang="en-US" sz="2400" dirty="0"/>
              <a:t>A hedge modifies mathematically an existing fuzzy set to account for some added adverb.</a:t>
            </a:r>
          </a:p>
        </p:txBody>
      </p:sp>
      <p:pic>
        <p:nvPicPr>
          <p:cNvPr id="6" name="Content Placeholder 5">
            <a:extLst>
              <a:ext uri="{FF2B5EF4-FFF2-40B4-BE49-F238E27FC236}">
                <a16:creationId xmlns:a16="http://schemas.microsoft.com/office/drawing/2014/main" id="{BBEC2F34-9E8A-078A-83D5-EA5AF3746EB8}"/>
              </a:ext>
            </a:extLst>
          </p:cNvPr>
          <p:cNvPicPr>
            <a:picLocks noChangeAspect="1"/>
          </p:cNvPicPr>
          <p:nvPr/>
        </p:nvPicPr>
        <p:blipFill>
          <a:blip r:embed="rId2"/>
          <a:stretch>
            <a:fillRect/>
          </a:stretch>
        </p:blipFill>
        <p:spPr>
          <a:xfrm>
            <a:off x="5791200" y="1447800"/>
            <a:ext cx="3275347" cy="2209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229600" cy="762000"/>
          </a:xfrm>
        </p:spPr>
        <p:txBody>
          <a:bodyPr>
            <a:normAutofit/>
          </a:bodyPr>
          <a:lstStyle/>
          <a:p>
            <a:r>
              <a:rPr lang="en-US" sz="3600" dirty="0"/>
              <a:t>Examples of Hedges 1/3</a:t>
            </a:r>
          </a:p>
        </p:txBody>
      </p:sp>
      <p:sp>
        <p:nvSpPr>
          <p:cNvPr id="3" name="Content Placeholder 2"/>
          <p:cNvSpPr>
            <a:spLocks noGrp="1"/>
          </p:cNvSpPr>
          <p:nvPr>
            <p:ph idx="1"/>
          </p:nvPr>
        </p:nvSpPr>
        <p:spPr>
          <a:xfrm>
            <a:off x="152400" y="1066800"/>
            <a:ext cx="8839200" cy="2667000"/>
          </a:xfrm>
        </p:spPr>
        <p:txBody>
          <a:bodyPr>
            <a:noAutofit/>
          </a:bodyPr>
          <a:lstStyle/>
          <a:p>
            <a:pPr>
              <a:buNone/>
            </a:pPr>
            <a:r>
              <a:rPr lang="en-US" sz="2400" dirty="0"/>
              <a:t>Concentration (</a:t>
            </a:r>
            <a:r>
              <a:rPr lang="en-US" sz="2400" dirty="0">
                <a:solidFill>
                  <a:srgbClr val="00B050"/>
                </a:solidFill>
              </a:rPr>
              <a:t>Very</a:t>
            </a:r>
            <a:r>
              <a:rPr lang="en-US" sz="2400" dirty="0"/>
              <a:t>)</a:t>
            </a:r>
          </a:p>
          <a:p>
            <a:pPr lvl="1"/>
            <a:r>
              <a:rPr lang="en-US" dirty="0"/>
              <a:t>To further reduce the membership value, </a:t>
            </a:r>
          </a:p>
          <a:p>
            <a:pPr lvl="1"/>
            <a:r>
              <a:rPr lang="el-GR" dirty="0">
                <a:solidFill>
                  <a:srgbClr val="FF0000"/>
                </a:solidFill>
              </a:rPr>
              <a:t>μ </a:t>
            </a:r>
            <a:r>
              <a:rPr lang="en-US" baseline="-25000" dirty="0">
                <a:solidFill>
                  <a:srgbClr val="FF0000"/>
                </a:solidFill>
              </a:rPr>
              <a:t>CON(A)</a:t>
            </a:r>
            <a:r>
              <a:rPr lang="en-US" dirty="0">
                <a:solidFill>
                  <a:srgbClr val="FF0000"/>
                </a:solidFill>
              </a:rPr>
              <a:t>(x) = (</a:t>
            </a:r>
            <a:r>
              <a:rPr lang="el-GR" dirty="0">
                <a:solidFill>
                  <a:srgbClr val="FF0000"/>
                </a:solidFill>
              </a:rPr>
              <a:t>μ</a:t>
            </a:r>
            <a:r>
              <a:rPr lang="en-US" baseline="-25000" dirty="0">
                <a:solidFill>
                  <a:srgbClr val="FF0000"/>
                </a:solidFill>
              </a:rPr>
              <a:t>A</a:t>
            </a:r>
            <a:r>
              <a:rPr lang="en-US" dirty="0">
                <a:solidFill>
                  <a:srgbClr val="FF0000"/>
                </a:solidFill>
              </a:rPr>
              <a:t>(x))</a:t>
            </a:r>
            <a:r>
              <a:rPr lang="en-US" baseline="30000" dirty="0">
                <a:solidFill>
                  <a:srgbClr val="FF0000"/>
                </a:solidFill>
              </a:rPr>
              <a:t> 2</a:t>
            </a:r>
          </a:p>
          <a:p>
            <a:pPr lvl="1"/>
            <a:r>
              <a:rPr lang="en-US" dirty="0"/>
              <a:t>E.g. At Height 6,  membership value decreases </a:t>
            </a:r>
            <a:br>
              <a:rPr lang="en-US" dirty="0"/>
            </a:br>
            <a:r>
              <a:rPr lang="en-US" dirty="0"/>
              <a:t>from </a:t>
            </a:r>
            <a:r>
              <a:rPr lang="el-GR" dirty="0"/>
              <a:t>μ</a:t>
            </a:r>
            <a:r>
              <a:rPr lang="en-US" baseline="-25000" dirty="0"/>
              <a:t>Tall</a:t>
            </a:r>
            <a:r>
              <a:rPr lang="en-US" dirty="0"/>
              <a:t>(6)=0.7 to </a:t>
            </a:r>
            <a:r>
              <a:rPr lang="el-GR" dirty="0"/>
              <a:t>μ</a:t>
            </a:r>
            <a:r>
              <a:rPr lang="en-US" baseline="-25000" dirty="0" err="1"/>
              <a:t>VeryTall</a:t>
            </a:r>
            <a:r>
              <a:rPr lang="en-US" dirty="0"/>
              <a:t>(6)=0.49</a:t>
            </a:r>
          </a:p>
          <a:p>
            <a:pPr>
              <a:buNone/>
            </a:pPr>
            <a:r>
              <a:rPr lang="en-US" sz="2400" dirty="0"/>
              <a:t>Power (</a:t>
            </a:r>
            <a:r>
              <a:rPr lang="en-US" sz="2400" dirty="0">
                <a:solidFill>
                  <a:srgbClr val="00B050"/>
                </a:solidFill>
              </a:rPr>
              <a:t>Very Very</a:t>
            </a:r>
            <a:r>
              <a:rPr lang="en-US" sz="2400" dirty="0"/>
              <a:t>): To extend concentration, </a:t>
            </a:r>
            <a:r>
              <a:rPr lang="el-GR" sz="2400" dirty="0">
                <a:solidFill>
                  <a:srgbClr val="FF0000"/>
                </a:solidFill>
              </a:rPr>
              <a:t>μ</a:t>
            </a:r>
            <a:r>
              <a:rPr lang="en-US" sz="2400" baseline="-25000" dirty="0">
                <a:solidFill>
                  <a:srgbClr val="FF0000"/>
                </a:solidFill>
              </a:rPr>
              <a:t>POW(A)</a:t>
            </a:r>
            <a:r>
              <a:rPr lang="en-US" sz="2400" dirty="0">
                <a:solidFill>
                  <a:srgbClr val="FF0000"/>
                </a:solidFill>
              </a:rPr>
              <a:t>(x) = (</a:t>
            </a:r>
            <a:r>
              <a:rPr lang="el-GR" sz="2400" dirty="0">
                <a:solidFill>
                  <a:srgbClr val="FF0000"/>
                </a:solidFill>
              </a:rPr>
              <a:t>μ</a:t>
            </a:r>
            <a:r>
              <a:rPr lang="en-US" sz="2400" baseline="-25000" dirty="0">
                <a:solidFill>
                  <a:srgbClr val="FF0000"/>
                </a:solidFill>
              </a:rPr>
              <a:t>A</a:t>
            </a:r>
            <a:r>
              <a:rPr lang="en-US" sz="2400" dirty="0">
                <a:solidFill>
                  <a:srgbClr val="FF0000"/>
                </a:solidFill>
              </a:rPr>
              <a:t>(x))</a:t>
            </a:r>
            <a:r>
              <a:rPr lang="en-US" sz="2400" baseline="30000" dirty="0">
                <a:solidFill>
                  <a:srgbClr val="FF0000"/>
                </a:solidFill>
              </a:rPr>
              <a:t>n</a:t>
            </a:r>
            <a:r>
              <a:rPr lang="en-US" sz="2400" dirty="0"/>
              <a:t> </a:t>
            </a:r>
          </a:p>
          <a:p>
            <a:pPr lvl="1"/>
            <a:endParaRPr lang="en-US" dirty="0"/>
          </a:p>
        </p:txBody>
      </p:sp>
      <p:pic>
        <p:nvPicPr>
          <p:cNvPr id="4" name="Picture 3" descr="fig 3 - hedges very height fuzzy set.JPG"/>
          <p:cNvPicPr>
            <a:picLocks noChangeAspect="1"/>
          </p:cNvPicPr>
          <p:nvPr/>
        </p:nvPicPr>
        <p:blipFill>
          <a:blip r:embed="rId2"/>
          <a:stretch>
            <a:fillRect/>
          </a:stretch>
        </p:blipFill>
        <p:spPr>
          <a:xfrm>
            <a:off x="404813" y="3733800"/>
            <a:ext cx="7764500" cy="31146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4400" dirty="0"/>
              <a:t>Examples of Hedges 2/3</a:t>
            </a:r>
          </a:p>
        </p:txBody>
      </p:sp>
      <p:sp>
        <p:nvSpPr>
          <p:cNvPr id="3" name="Content Placeholder 2"/>
          <p:cNvSpPr>
            <a:spLocks noGrp="1"/>
          </p:cNvSpPr>
          <p:nvPr>
            <p:ph idx="1"/>
          </p:nvPr>
        </p:nvSpPr>
        <p:spPr>
          <a:xfrm>
            <a:off x="457200" y="1600200"/>
            <a:ext cx="8229600" cy="1828800"/>
          </a:xfrm>
        </p:spPr>
        <p:txBody>
          <a:bodyPr>
            <a:normAutofit/>
          </a:bodyPr>
          <a:lstStyle/>
          <a:p>
            <a:pPr>
              <a:buNone/>
            </a:pPr>
            <a:r>
              <a:rPr lang="en-US" sz="2800" dirty="0"/>
              <a:t>Dilation (</a:t>
            </a:r>
            <a:r>
              <a:rPr lang="en-US" sz="2800" dirty="0">
                <a:solidFill>
                  <a:srgbClr val="00B050"/>
                </a:solidFill>
              </a:rPr>
              <a:t>somewhat</a:t>
            </a:r>
            <a:r>
              <a:rPr lang="en-US" sz="2800" dirty="0"/>
              <a:t> / </a:t>
            </a:r>
            <a:r>
              <a:rPr lang="en-US" sz="2800" dirty="0">
                <a:solidFill>
                  <a:srgbClr val="00B050"/>
                </a:solidFill>
              </a:rPr>
              <a:t>More or Less</a:t>
            </a:r>
            <a:r>
              <a:rPr lang="en-US" sz="2800" dirty="0"/>
              <a:t>)</a:t>
            </a:r>
          </a:p>
          <a:p>
            <a:pPr lvl="1"/>
            <a:r>
              <a:rPr lang="en-US" sz="2800" dirty="0"/>
              <a:t>Increases the membership value</a:t>
            </a:r>
          </a:p>
          <a:p>
            <a:pPr lvl="1"/>
            <a:r>
              <a:rPr lang="el-GR" sz="2800" dirty="0">
                <a:solidFill>
                  <a:srgbClr val="FF0000"/>
                </a:solidFill>
              </a:rPr>
              <a:t>μ</a:t>
            </a:r>
            <a:r>
              <a:rPr lang="en-US" sz="2800" baseline="-25000" dirty="0">
                <a:solidFill>
                  <a:srgbClr val="FF0000"/>
                </a:solidFill>
              </a:rPr>
              <a:t>DIL(A)</a:t>
            </a:r>
            <a:r>
              <a:rPr lang="en-US" sz="2800" dirty="0">
                <a:solidFill>
                  <a:srgbClr val="FF0000"/>
                </a:solidFill>
              </a:rPr>
              <a:t>(x) = (</a:t>
            </a:r>
            <a:r>
              <a:rPr lang="el-GR" sz="2800" dirty="0">
                <a:solidFill>
                  <a:srgbClr val="FF0000"/>
                </a:solidFill>
              </a:rPr>
              <a:t>μ</a:t>
            </a:r>
            <a:r>
              <a:rPr lang="en-US" sz="2800" baseline="-25000" dirty="0">
                <a:solidFill>
                  <a:srgbClr val="FF0000"/>
                </a:solidFill>
              </a:rPr>
              <a:t>A</a:t>
            </a:r>
            <a:r>
              <a:rPr lang="en-US" sz="2800" dirty="0">
                <a:solidFill>
                  <a:srgbClr val="FF0000"/>
                </a:solidFill>
              </a:rPr>
              <a:t>(x))</a:t>
            </a:r>
            <a:r>
              <a:rPr lang="en-US" sz="2800" baseline="30000" dirty="0">
                <a:solidFill>
                  <a:srgbClr val="FF0000"/>
                </a:solidFill>
              </a:rPr>
              <a:t> 0.5</a:t>
            </a:r>
            <a:endParaRPr lang="en-US" sz="2800" dirty="0">
              <a:solidFill>
                <a:srgbClr val="FF0000"/>
              </a:solidFill>
            </a:endParaRPr>
          </a:p>
        </p:txBody>
      </p:sp>
      <p:pic>
        <p:nvPicPr>
          <p:cNvPr id="4" name="Picture 3" descr="fig 4 - hedges somewhat height fuzzy set.JPG"/>
          <p:cNvPicPr>
            <a:picLocks noChangeAspect="1"/>
          </p:cNvPicPr>
          <p:nvPr/>
        </p:nvPicPr>
        <p:blipFill>
          <a:blip r:embed="rId2"/>
          <a:stretch>
            <a:fillRect/>
          </a:stretch>
        </p:blipFill>
        <p:spPr>
          <a:xfrm>
            <a:off x="404812" y="3438525"/>
            <a:ext cx="8334375" cy="33432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400" dirty="0"/>
              <a:t>Examples of Hedges 3/3</a:t>
            </a:r>
          </a:p>
        </p:txBody>
      </p:sp>
      <p:sp>
        <p:nvSpPr>
          <p:cNvPr id="3" name="Content Placeholder 2"/>
          <p:cNvSpPr>
            <a:spLocks noGrp="1"/>
          </p:cNvSpPr>
          <p:nvPr>
            <p:ph idx="1"/>
          </p:nvPr>
        </p:nvSpPr>
        <p:spPr>
          <a:xfrm>
            <a:off x="152400" y="1143000"/>
            <a:ext cx="8839200" cy="2514600"/>
          </a:xfrm>
        </p:spPr>
        <p:txBody>
          <a:bodyPr>
            <a:normAutofit/>
          </a:bodyPr>
          <a:lstStyle/>
          <a:p>
            <a:pPr>
              <a:buNone/>
            </a:pPr>
            <a:r>
              <a:rPr lang="en-US" sz="2800" dirty="0"/>
              <a:t>Intensification(</a:t>
            </a:r>
            <a:r>
              <a:rPr lang="en-US" sz="2800" dirty="0">
                <a:solidFill>
                  <a:srgbClr val="00B050"/>
                </a:solidFill>
              </a:rPr>
              <a:t>Indeed</a:t>
            </a:r>
            <a:r>
              <a:rPr lang="en-US" sz="2800" dirty="0"/>
              <a:t>)</a:t>
            </a:r>
          </a:p>
          <a:p>
            <a:pPr lvl="1"/>
            <a:r>
              <a:rPr lang="en-US" sz="2800" dirty="0"/>
              <a:t>Intensify the meaning, by increasing the membership values above 0.5 and decreasing those below 0.5</a:t>
            </a:r>
          </a:p>
          <a:p>
            <a:pPr lvl="1"/>
            <a:r>
              <a:rPr lang="el-GR" sz="2800" dirty="0">
                <a:solidFill>
                  <a:srgbClr val="FF0000"/>
                </a:solidFill>
              </a:rPr>
              <a:t>μ </a:t>
            </a:r>
            <a:r>
              <a:rPr lang="en-US" sz="2800" baseline="-25000" dirty="0">
                <a:solidFill>
                  <a:srgbClr val="FF0000"/>
                </a:solidFill>
              </a:rPr>
              <a:t>INT(A)</a:t>
            </a:r>
            <a:r>
              <a:rPr lang="en-US" sz="2800" dirty="0">
                <a:solidFill>
                  <a:srgbClr val="FF0000"/>
                </a:solidFill>
              </a:rPr>
              <a:t>(x) = 2(</a:t>
            </a:r>
            <a:r>
              <a:rPr lang="el-GR" sz="2800" dirty="0">
                <a:solidFill>
                  <a:srgbClr val="FF0000"/>
                </a:solidFill>
              </a:rPr>
              <a:t>μ</a:t>
            </a:r>
            <a:r>
              <a:rPr lang="en-US" sz="2800" baseline="-25000" dirty="0">
                <a:solidFill>
                  <a:srgbClr val="FF0000"/>
                </a:solidFill>
              </a:rPr>
              <a:t>A</a:t>
            </a:r>
            <a:r>
              <a:rPr lang="en-US" sz="2800" dirty="0">
                <a:solidFill>
                  <a:srgbClr val="FF0000"/>
                </a:solidFill>
              </a:rPr>
              <a:t>(x)</a:t>
            </a:r>
            <a:r>
              <a:rPr lang="en-US" sz="2800" baseline="30000" dirty="0">
                <a:solidFill>
                  <a:srgbClr val="FF0000"/>
                </a:solidFill>
              </a:rPr>
              <a:t>2</a:t>
            </a:r>
            <a:r>
              <a:rPr lang="en-US" sz="2800" dirty="0">
                <a:solidFill>
                  <a:srgbClr val="FF0000"/>
                </a:solidFill>
              </a:rPr>
              <a:t>)</a:t>
            </a:r>
            <a:r>
              <a:rPr lang="el-GR" sz="2800" dirty="0">
                <a:solidFill>
                  <a:srgbClr val="FF0000"/>
                </a:solidFill>
              </a:rPr>
              <a:t> </a:t>
            </a:r>
            <a:r>
              <a:rPr lang="en-US" sz="2800" dirty="0">
                <a:solidFill>
                  <a:srgbClr val="FF0000"/>
                </a:solidFill>
              </a:rPr>
              <a:t> </a:t>
            </a:r>
            <a:r>
              <a:rPr lang="en-US" sz="2800" dirty="0"/>
              <a:t>		for   0 &lt;= </a:t>
            </a:r>
            <a:r>
              <a:rPr lang="el-GR" sz="2800" dirty="0"/>
              <a:t>μ</a:t>
            </a:r>
            <a:r>
              <a:rPr lang="en-US" sz="2800" baseline="-25000" dirty="0"/>
              <a:t>A</a:t>
            </a:r>
            <a:r>
              <a:rPr lang="en-US" sz="2800" dirty="0"/>
              <a:t>(x) &lt;=0.5</a:t>
            </a:r>
          </a:p>
          <a:p>
            <a:pPr lvl="1"/>
            <a:r>
              <a:rPr lang="el-GR" sz="2800" dirty="0">
                <a:solidFill>
                  <a:srgbClr val="FF0000"/>
                </a:solidFill>
              </a:rPr>
              <a:t>μ</a:t>
            </a:r>
            <a:r>
              <a:rPr lang="en-US" sz="2800" baseline="-25000" dirty="0">
                <a:solidFill>
                  <a:srgbClr val="FF0000"/>
                </a:solidFill>
              </a:rPr>
              <a:t>INT(A)</a:t>
            </a:r>
            <a:r>
              <a:rPr lang="en-US" sz="2800" dirty="0">
                <a:solidFill>
                  <a:srgbClr val="FF0000"/>
                </a:solidFill>
              </a:rPr>
              <a:t>(x)=1-2 (1 - (</a:t>
            </a:r>
            <a:r>
              <a:rPr lang="el-GR" sz="2800" dirty="0">
                <a:solidFill>
                  <a:srgbClr val="FF0000"/>
                </a:solidFill>
              </a:rPr>
              <a:t>μ</a:t>
            </a:r>
            <a:r>
              <a:rPr lang="en-US" sz="2800" baseline="-25000" dirty="0">
                <a:solidFill>
                  <a:srgbClr val="FF0000"/>
                </a:solidFill>
              </a:rPr>
              <a:t>A</a:t>
            </a:r>
            <a:r>
              <a:rPr lang="en-US" sz="2800" dirty="0">
                <a:solidFill>
                  <a:srgbClr val="FF0000"/>
                </a:solidFill>
              </a:rPr>
              <a:t>(x))</a:t>
            </a:r>
            <a:r>
              <a:rPr lang="en-US" sz="2800" baseline="30000" dirty="0">
                <a:solidFill>
                  <a:srgbClr val="FF0000"/>
                </a:solidFill>
              </a:rPr>
              <a:t>2</a:t>
            </a:r>
            <a:r>
              <a:rPr lang="en-US" sz="2800" baseline="30000" dirty="0"/>
              <a:t>, 	</a:t>
            </a:r>
            <a:r>
              <a:rPr lang="en-US" sz="2800" dirty="0"/>
              <a:t>for 0.5 &lt;  </a:t>
            </a:r>
            <a:r>
              <a:rPr lang="el-GR" sz="2800" dirty="0"/>
              <a:t>μ</a:t>
            </a:r>
            <a:r>
              <a:rPr lang="en-US" sz="2800" baseline="-25000" dirty="0"/>
              <a:t>A</a:t>
            </a:r>
            <a:r>
              <a:rPr lang="en-US" sz="2800" dirty="0"/>
              <a:t>(x) &lt;= 1</a:t>
            </a:r>
          </a:p>
        </p:txBody>
      </p:sp>
      <p:pic>
        <p:nvPicPr>
          <p:cNvPr id="4" name="Picture 3" descr="fig 5 - hedges indeed height fuzzy set.JPG"/>
          <p:cNvPicPr>
            <a:picLocks noChangeAspect="1"/>
          </p:cNvPicPr>
          <p:nvPr/>
        </p:nvPicPr>
        <p:blipFill>
          <a:blip r:embed="rId2"/>
          <a:stretch>
            <a:fillRect/>
          </a:stretch>
        </p:blipFill>
        <p:spPr>
          <a:xfrm>
            <a:off x="404813" y="3633417"/>
            <a:ext cx="7824788" cy="31388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78EED-F5B8-2D0A-F044-340D2322102A}"/>
              </a:ext>
            </a:extLst>
          </p:cNvPr>
          <p:cNvSpPr>
            <a:spLocks noGrp="1"/>
          </p:cNvSpPr>
          <p:nvPr>
            <p:ph type="title"/>
          </p:nvPr>
        </p:nvSpPr>
        <p:spPr>
          <a:xfrm>
            <a:off x="-76200" y="31376"/>
            <a:ext cx="9067800" cy="730624"/>
          </a:xfrm>
        </p:spPr>
        <p:txBody>
          <a:bodyPr>
            <a:normAutofit/>
          </a:bodyPr>
          <a:lstStyle/>
          <a:p>
            <a:pPr algn="ctr"/>
            <a:r>
              <a:rPr lang="en-US" sz="4000" dirty="0"/>
              <a:t>Some Common Hedges</a:t>
            </a:r>
            <a:endParaRPr lang="en-PK" sz="4000" dirty="0"/>
          </a:p>
        </p:txBody>
      </p:sp>
      <p:pic>
        <p:nvPicPr>
          <p:cNvPr id="5" name="Picture 4">
            <a:extLst>
              <a:ext uri="{FF2B5EF4-FFF2-40B4-BE49-F238E27FC236}">
                <a16:creationId xmlns:a16="http://schemas.microsoft.com/office/drawing/2014/main" id="{6FD2CA37-9B30-9ED4-587A-6439F35F6944}"/>
              </a:ext>
            </a:extLst>
          </p:cNvPr>
          <p:cNvPicPr>
            <a:picLocks noChangeAspect="1"/>
          </p:cNvPicPr>
          <p:nvPr/>
        </p:nvPicPr>
        <p:blipFill>
          <a:blip r:embed="rId2"/>
          <a:stretch>
            <a:fillRect/>
          </a:stretch>
        </p:blipFill>
        <p:spPr>
          <a:xfrm>
            <a:off x="404490" y="990600"/>
            <a:ext cx="8335020" cy="5762065"/>
          </a:xfrm>
          <a:prstGeom prst="rect">
            <a:avLst/>
          </a:prstGeom>
        </p:spPr>
      </p:pic>
    </p:spTree>
    <p:extLst>
      <p:ext uri="{BB962C8B-B14F-4D97-AF65-F5344CB8AC3E}">
        <p14:creationId xmlns:p14="http://schemas.microsoft.com/office/powerpoint/2010/main" val="4223481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sz="4400" dirty="0"/>
              <a:t>Fuzzy Set Operations 1/4</a:t>
            </a:r>
          </a:p>
        </p:txBody>
      </p:sp>
      <p:sp>
        <p:nvSpPr>
          <p:cNvPr id="3" name="Content Placeholder 2"/>
          <p:cNvSpPr>
            <a:spLocks noGrp="1"/>
          </p:cNvSpPr>
          <p:nvPr>
            <p:ph idx="1"/>
          </p:nvPr>
        </p:nvSpPr>
        <p:spPr/>
        <p:txBody>
          <a:bodyPr>
            <a:normAutofit/>
          </a:bodyPr>
          <a:lstStyle/>
          <a:p>
            <a:r>
              <a:rPr lang="en-US" dirty="0"/>
              <a:t>Intersection</a:t>
            </a:r>
          </a:p>
          <a:p>
            <a:r>
              <a:rPr lang="el-GR" dirty="0">
                <a:solidFill>
                  <a:srgbClr val="FF0000"/>
                </a:solidFill>
              </a:rPr>
              <a:t>μ</a:t>
            </a:r>
            <a:r>
              <a:rPr lang="en-US" baseline="-25000" dirty="0">
                <a:solidFill>
                  <a:srgbClr val="FF0000"/>
                </a:solidFill>
              </a:rPr>
              <a:t>A</a:t>
            </a:r>
            <a:r>
              <a:rPr lang="en-US" dirty="0">
                <a:solidFill>
                  <a:srgbClr val="FF0000"/>
                </a:solidFill>
              </a:rPr>
              <a:t>(x)</a:t>
            </a:r>
            <a:r>
              <a:rPr lang="el-GR" dirty="0">
                <a:solidFill>
                  <a:srgbClr val="FF0000"/>
                </a:solidFill>
              </a:rPr>
              <a:t> </a:t>
            </a:r>
            <a:r>
              <a:rPr lang="en-US" dirty="0">
                <a:solidFill>
                  <a:srgbClr val="FF0000"/>
                </a:solidFill>
                <a:sym typeface="Symbol"/>
              </a:rPr>
              <a:t></a:t>
            </a:r>
            <a:r>
              <a:rPr lang="en-US" dirty="0">
                <a:solidFill>
                  <a:srgbClr val="FF0000"/>
                </a:solidFill>
              </a:rPr>
              <a:t> </a:t>
            </a:r>
            <a:r>
              <a:rPr lang="el-GR" dirty="0">
                <a:solidFill>
                  <a:srgbClr val="FF0000"/>
                </a:solidFill>
              </a:rPr>
              <a:t>μ</a:t>
            </a:r>
            <a:r>
              <a:rPr lang="en-US" baseline="-25000" dirty="0">
                <a:solidFill>
                  <a:srgbClr val="FF0000"/>
                </a:solidFill>
              </a:rPr>
              <a:t>B</a:t>
            </a:r>
            <a:r>
              <a:rPr lang="en-US" dirty="0">
                <a:solidFill>
                  <a:srgbClr val="FF0000"/>
                </a:solidFill>
              </a:rPr>
              <a:t>(x) = min(</a:t>
            </a:r>
            <a:r>
              <a:rPr lang="el-GR" dirty="0">
                <a:solidFill>
                  <a:srgbClr val="FF0000"/>
                </a:solidFill>
              </a:rPr>
              <a:t>μ</a:t>
            </a:r>
            <a:r>
              <a:rPr lang="en-US" baseline="-25000" dirty="0">
                <a:solidFill>
                  <a:srgbClr val="FF0000"/>
                </a:solidFill>
              </a:rPr>
              <a:t>A</a:t>
            </a:r>
            <a:r>
              <a:rPr lang="en-US" dirty="0">
                <a:solidFill>
                  <a:srgbClr val="FF0000"/>
                </a:solidFill>
              </a:rPr>
              <a:t>(x)</a:t>
            </a:r>
            <a:r>
              <a:rPr lang="en-US" dirty="0">
                <a:solidFill>
                  <a:srgbClr val="FF0000"/>
                </a:solidFill>
                <a:sym typeface="Symbol"/>
              </a:rPr>
              <a:t>,</a:t>
            </a:r>
            <a:r>
              <a:rPr lang="en-US" dirty="0">
                <a:solidFill>
                  <a:srgbClr val="FF0000"/>
                </a:solidFill>
              </a:rPr>
              <a:t> </a:t>
            </a:r>
            <a:r>
              <a:rPr lang="el-GR" dirty="0">
                <a:solidFill>
                  <a:srgbClr val="FF0000"/>
                </a:solidFill>
              </a:rPr>
              <a:t>μ</a:t>
            </a:r>
            <a:r>
              <a:rPr lang="en-US" baseline="-25000" dirty="0">
                <a:solidFill>
                  <a:srgbClr val="FF0000"/>
                </a:solidFill>
              </a:rPr>
              <a:t>B</a:t>
            </a:r>
            <a:r>
              <a:rPr lang="en-US" dirty="0">
                <a:solidFill>
                  <a:srgbClr val="FF0000"/>
                </a:solidFill>
              </a:rPr>
              <a:t>(x))</a:t>
            </a:r>
          </a:p>
        </p:txBody>
      </p:sp>
      <p:pic>
        <p:nvPicPr>
          <p:cNvPr id="4" name="Picture 3" descr="fig 6 - intersection height fuzzy set.JPG"/>
          <p:cNvPicPr>
            <a:picLocks noChangeAspect="1"/>
          </p:cNvPicPr>
          <p:nvPr/>
        </p:nvPicPr>
        <p:blipFill>
          <a:blip r:embed="rId2"/>
          <a:stretch>
            <a:fillRect/>
          </a:stretch>
        </p:blipFill>
        <p:spPr>
          <a:xfrm>
            <a:off x="404812" y="3200400"/>
            <a:ext cx="8334375" cy="3371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a:bodyPr>
          <a:lstStyle/>
          <a:p>
            <a:r>
              <a:rPr lang="en-US" sz="4400" dirty="0"/>
              <a:t>Fuzzy Set Operations 2/4</a:t>
            </a:r>
          </a:p>
        </p:txBody>
      </p:sp>
      <p:sp>
        <p:nvSpPr>
          <p:cNvPr id="3" name="Content Placeholder 2"/>
          <p:cNvSpPr>
            <a:spLocks noGrp="1"/>
          </p:cNvSpPr>
          <p:nvPr>
            <p:ph idx="1"/>
          </p:nvPr>
        </p:nvSpPr>
        <p:spPr/>
        <p:txBody>
          <a:bodyPr>
            <a:normAutofit/>
          </a:bodyPr>
          <a:lstStyle/>
          <a:p>
            <a:r>
              <a:rPr lang="en-US" dirty="0"/>
              <a:t>Union</a:t>
            </a:r>
          </a:p>
          <a:p>
            <a:r>
              <a:rPr lang="el-GR" dirty="0">
                <a:solidFill>
                  <a:srgbClr val="FF0000"/>
                </a:solidFill>
              </a:rPr>
              <a:t>μ</a:t>
            </a:r>
            <a:r>
              <a:rPr lang="en-US" baseline="-25000" dirty="0">
                <a:solidFill>
                  <a:srgbClr val="FF0000"/>
                </a:solidFill>
              </a:rPr>
              <a:t>A</a:t>
            </a:r>
            <a:r>
              <a:rPr lang="en-US" dirty="0">
                <a:solidFill>
                  <a:srgbClr val="FF0000"/>
                </a:solidFill>
              </a:rPr>
              <a:t>(x)</a:t>
            </a:r>
            <a:r>
              <a:rPr lang="el-GR" dirty="0">
                <a:solidFill>
                  <a:srgbClr val="FF0000"/>
                </a:solidFill>
              </a:rPr>
              <a:t> </a:t>
            </a:r>
            <a:r>
              <a:rPr lang="en-US" dirty="0">
                <a:solidFill>
                  <a:srgbClr val="FF0000"/>
                </a:solidFill>
                <a:sym typeface="Symbol"/>
              </a:rPr>
              <a:t></a:t>
            </a:r>
            <a:r>
              <a:rPr lang="en-US" dirty="0">
                <a:solidFill>
                  <a:srgbClr val="FF0000"/>
                </a:solidFill>
              </a:rPr>
              <a:t> </a:t>
            </a:r>
            <a:r>
              <a:rPr lang="el-GR" dirty="0">
                <a:solidFill>
                  <a:srgbClr val="FF0000"/>
                </a:solidFill>
              </a:rPr>
              <a:t>μ</a:t>
            </a:r>
            <a:r>
              <a:rPr lang="en-US" baseline="-25000" dirty="0">
                <a:solidFill>
                  <a:srgbClr val="FF0000"/>
                </a:solidFill>
              </a:rPr>
              <a:t>B</a:t>
            </a:r>
            <a:r>
              <a:rPr lang="en-US" dirty="0">
                <a:solidFill>
                  <a:srgbClr val="FF0000"/>
                </a:solidFill>
              </a:rPr>
              <a:t>(x) = max(</a:t>
            </a:r>
            <a:r>
              <a:rPr lang="el-GR" dirty="0">
                <a:solidFill>
                  <a:srgbClr val="FF0000"/>
                </a:solidFill>
              </a:rPr>
              <a:t>μ</a:t>
            </a:r>
            <a:r>
              <a:rPr lang="en-US" baseline="-25000" dirty="0">
                <a:solidFill>
                  <a:srgbClr val="FF0000"/>
                </a:solidFill>
              </a:rPr>
              <a:t>A</a:t>
            </a:r>
            <a:r>
              <a:rPr lang="en-US" dirty="0">
                <a:solidFill>
                  <a:srgbClr val="FF0000"/>
                </a:solidFill>
              </a:rPr>
              <a:t>(x)</a:t>
            </a:r>
            <a:r>
              <a:rPr lang="en-US" dirty="0">
                <a:solidFill>
                  <a:srgbClr val="FF0000"/>
                </a:solidFill>
                <a:sym typeface="Symbol"/>
              </a:rPr>
              <a:t>,</a:t>
            </a:r>
            <a:r>
              <a:rPr lang="en-US" dirty="0">
                <a:solidFill>
                  <a:srgbClr val="FF0000"/>
                </a:solidFill>
              </a:rPr>
              <a:t> </a:t>
            </a:r>
            <a:r>
              <a:rPr lang="el-GR" dirty="0">
                <a:solidFill>
                  <a:srgbClr val="FF0000"/>
                </a:solidFill>
              </a:rPr>
              <a:t>μ</a:t>
            </a:r>
            <a:r>
              <a:rPr lang="en-US" baseline="-25000" dirty="0">
                <a:solidFill>
                  <a:srgbClr val="FF0000"/>
                </a:solidFill>
              </a:rPr>
              <a:t>B</a:t>
            </a:r>
            <a:r>
              <a:rPr lang="en-US" dirty="0">
                <a:solidFill>
                  <a:srgbClr val="FF0000"/>
                </a:solidFill>
              </a:rPr>
              <a:t>(x))</a:t>
            </a:r>
            <a:endParaRPr lang="en-US" dirty="0"/>
          </a:p>
          <a:p>
            <a:endParaRPr lang="en-US" dirty="0"/>
          </a:p>
        </p:txBody>
      </p:sp>
      <p:pic>
        <p:nvPicPr>
          <p:cNvPr id="4" name="Picture 3" descr="fig 7 - union height fuzzy set.JPG"/>
          <p:cNvPicPr>
            <a:picLocks noChangeAspect="1"/>
          </p:cNvPicPr>
          <p:nvPr/>
        </p:nvPicPr>
        <p:blipFill>
          <a:blip r:embed="rId2"/>
          <a:stretch>
            <a:fillRect/>
          </a:stretch>
        </p:blipFill>
        <p:spPr>
          <a:xfrm>
            <a:off x="404812" y="3276600"/>
            <a:ext cx="8334375" cy="3371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sz="4400" dirty="0"/>
              <a:t>Fuzzy Set Operations 3/4</a:t>
            </a:r>
          </a:p>
        </p:txBody>
      </p:sp>
      <p:sp>
        <p:nvSpPr>
          <p:cNvPr id="3" name="Content Placeholder 2"/>
          <p:cNvSpPr>
            <a:spLocks noGrp="1"/>
          </p:cNvSpPr>
          <p:nvPr>
            <p:ph idx="1"/>
          </p:nvPr>
        </p:nvSpPr>
        <p:spPr/>
        <p:txBody>
          <a:bodyPr>
            <a:normAutofit/>
          </a:bodyPr>
          <a:lstStyle/>
          <a:p>
            <a:r>
              <a:rPr lang="en-US" dirty="0"/>
              <a:t>Complementation (Not)</a:t>
            </a:r>
          </a:p>
          <a:p>
            <a:r>
              <a:rPr lang="el-GR" dirty="0">
                <a:solidFill>
                  <a:srgbClr val="FF0000"/>
                </a:solidFill>
              </a:rPr>
              <a:t>μ</a:t>
            </a:r>
            <a:r>
              <a:rPr lang="en-US" baseline="-25000" dirty="0">
                <a:solidFill>
                  <a:srgbClr val="FF0000"/>
                </a:solidFill>
              </a:rPr>
              <a:t>Not</a:t>
            </a:r>
            <a:r>
              <a:rPr lang="en-US" dirty="0">
                <a:solidFill>
                  <a:srgbClr val="FF0000"/>
                </a:solidFill>
              </a:rPr>
              <a:t>(x) = 1 - </a:t>
            </a:r>
            <a:r>
              <a:rPr lang="el-GR" dirty="0">
                <a:solidFill>
                  <a:srgbClr val="FF0000"/>
                </a:solidFill>
              </a:rPr>
              <a:t>μ</a:t>
            </a:r>
            <a:r>
              <a:rPr lang="en-US" baseline="-25000" dirty="0">
                <a:solidFill>
                  <a:srgbClr val="FF0000"/>
                </a:solidFill>
              </a:rPr>
              <a:t>A</a:t>
            </a:r>
            <a:r>
              <a:rPr lang="en-US" dirty="0">
                <a:solidFill>
                  <a:srgbClr val="FF0000"/>
                </a:solidFill>
              </a:rPr>
              <a:t>(x)</a:t>
            </a:r>
          </a:p>
          <a:p>
            <a:endParaRPr lang="en-US" dirty="0"/>
          </a:p>
        </p:txBody>
      </p:sp>
      <p:pic>
        <p:nvPicPr>
          <p:cNvPr id="4" name="Picture 3" descr="fig 8 - not tall hedges height fuzzy set.JPG"/>
          <p:cNvPicPr>
            <a:picLocks noChangeAspect="1"/>
          </p:cNvPicPr>
          <p:nvPr/>
        </p:nvPicPr>
        <p:blipFill>
          <a:blip r:embed="rId2"/>
          <a:stretch>
            <a:fillRect/>
          </a:stretch>
        </p:blipFill>
        <p:spPr>
          <a:xfrm>
            <a:off x="381000" y="2981325"/>
            <a:ext cx="8334375" cy="33432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r>
              <a:rPr lang="en-US" dirty="0"/>
              <a:t>Fuzzy Set Operations 1/4</a:t>
            </a:r>
          </a:p>
        </p:txBody>
      </p:sp>
      <p:sp>
        <p:nvSpPr>
          <p:cNvPr id="3" name="Content Placeholder 2"/>
          <p:cNvSpPr>
            <a:spLocks noGrp="1"/>
          </p:cNvSpPr>
          <p:nvPr>
            <p:ph idx="1"/>
          </p:nvPr>
        </p:nvSpPr>
        <p:spPr>
          <a:xfrm>
            <a:off x="457200" y="1935480"/>
            <a:ext cx="8229600" cy="1341120"/>
          </a:xfrm>
        </p:spPr>
        <p:txBody>
          <a:bodyPr>
            <a:normAutofit lnSpcReduction="10000"/>
          </a:bodyPr>
          <a:lstStyle/>
          <a:p>
            <a:r>
              <a:rPr lang="en-US" dirty="0"/>
              <a:t>Complicated: </a:t>
            </a:r>
          </a:p>
          <a:p>
            <a:pPr lvl="1"/>
            <a:r>
              <a:rPr lang="en-US" dirty="0">
                <a:solidFill>
                  <a:srgbClr val="00B050"/>
                </a:solidFill>
              </a:rPr>
              <a:t>Not Very </a:t>
            </a:r>
            <a:r>
              <a:rPr lang="en-US" dirty="0">
                <a:solidFill>
                  <a:srgbClr val="7030A0"/>
                </a:solidFill>
              </a:rPr>
              <a:t>Tall </a:t>
            </a:r>
            <a:r>
              <a:rPr lang="en-US" dirty="0"/>
              <a:t>AND </a:t>
            </a:r>
            <a:r>
              <a:rPr lang="en-US" dirty="0">
                <a:solidFill>
                  <a:srgbClr val="00B050"/>
                </a:solidFill>
              </a:rPr>
              <a:t>Not Very </a:t>
            </a:r>
            <a:r>
              <a:rPr lang="en-US" dirty="0">
                <a:solidFill>
                  <a:srgbClr val="7030A0"/>
                </a:solidFill>
              </a:rPr>
              <a:t>Short </a:t>
            </a:r>
          </a:p>
          <a:p>
            <a:pPr lvl="1"/>
            <a:r>
              <a:rPr lang="en-US" dirty="0">
                <a:solidFill>
                  <a:srgbClr val="FF0000"/>
                </a:solidFill>
              </a:rPr>
              <a:t>(1-(</a:t>
            </a:r>
            <a:r>
              <a:rPr lang="el-GR" dirty="0">
                <a:solidFill>
                  <a:srgbClr val="FF0000"/>
                </a:solidFill>
              </a:rPr>
              <a:t>μ</a:t>
            </a:r>
            <a:r>
              <a:rPr lang="en-US" baseline="-25000" dirty="0">
                <a:solidFill>
                  <a:srgbClr val="FF0000"/>
                </a:solidFill>
              </a:rPr>
              <a:t>tall</a:t>
            </a:r>
            <a:r>
              <a:rPr lang="en-US" dirty="0">
                <a:solidFill>
                  <a:srgbClr val="FF0000"/>
                </a:solidFill>
              </a:rPr>
              <a:t>(x)</a:t>
            </a:r>
            <a:r>
              <a:rPr lang="en-US" baseline="30000" dirty="0">
                <a:solidFill>
                  <a:srgbClr val="FF0000"/>
                </a:solidFill>
              </a:rPr>
              <a:t>2</a:t>
            </a:r>
            <a:r>
              <a:rPr lang="en-US" dirty="0">
                <a:solidFill>
                  <a:srgbClr val="FF0000"/>
                </a:solidFill>
              </a:rPr>
              <a:t>)    </a:t>
            </a:r>
            <a:r>
              <a:rPr lang="en-US" dirty="0"/>
              <a:t>AND   </a:t>
            </a:r>
            <a:r>
              <a:rPr lang="en-US" dirty="0">
                <a:solidFill>
                  <a:srgbClr val="FF0000"/>
                </a:solidFill>
              </a:rPr>
              <a:t>(1-(</a:t>
            </a:r>
            <a:r>
              <a:rPr lang="el-GR" dirty="0">
                <a:solidFill>
                  <a:srgbClr val="FF0000"/>
                </a:solidFill>
              </a:rPr>
              <a:t>μ</a:t>
            </a:r>
            <a:r>
              <a:rPr lang="en-US" baseline="-25000" dirty="0">
                <a:solidFill>
                  <a:srgbClr val="FF0000"/>
                </a:solidFill>
              </a:rPr>
              <a:t>short</a:t>
            </a:r>
            <a:r>
              <a:rPr lang="en-US" dirty="0">
                <a:solidFill>
                  <a:srgbClr val="FF0000"/>
                </a:solidFill>
              </a:rPr>
              <a:t>(x)</a:t>
            </a:r>
            <a:r>
              <a:rPr lang="en-US" baseline="30000" dirty="0">
                <a:solidFill>
                  <a:srgbClr val="FF0000"/>
                </a:solidFill>
              </a:rPr>
              <a:t>2</a:t>
            </a:r>
            <a:r>
              <a:rPr lang="en-US" dirty="0">
                <a:solidFill>
                  <a:srgbClr val="FF0000"/>
                </a:solidFill>
              </a:rPr>
              <a:t>)</a:t>
            </a:r>
          </a:p>
          <a:p>
            <a:endParaRPr lang="en-US" dirty="0"/>
          </a:p>
        </p:txBody>
      </p:sp>
      <p:pic>
        <p:nvPicPr>
          <p:cNvPr id="4" name="Picture 3" descr="fig 9 - height not very tall AND not very Short fuzzy set.JPG"/>
          <p:cNvPicPr>
            <a:picLocks noChangeAspect="1"/>
          </p:cNvPicPr>
          <p:nvPr/>
        </p:nvPicPr>
        <p:blipFill>
          <a:blip r:embed="rId2"/>
          <a:stretch>
            <a:fillRect/>
          </a:stretch>
        </p:blipFill>
        <p:spPr>
          <a:xfrm>
            <a:off x="-76200" y="3544645"/>
            <a:ext cx="8334375" cy="3371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2B6F-0656-7E0E-6C01-E710330246E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239007B-14AF-833B-53A1-6C6BA9B084D2}"/>
              </a:ext>
            </a:extLst>
          </p:cNvPr>
          <p:cNvSpPr>
            <a:spLocks noGrp="1"/>
          </p:cNvSpPr>
          <p:nvPr>
            <p:ph idx="1"/>
          </p:nvPr>
        </p:nvSpPr>
        <p:spPr/>
        <p:txBody>
          <a:bodyPr/>
          <a:lstStyle/>
          <a:p>
            <a:endParaRPr lang="en-PK"/>
          </a:p>
        </p:txBody>
      </p:sp>
      <p:pic>
        <p:nvPicPr>
          <p:cNvPr id="4" name="Picture 3" descr="Fuzzy sets, advanced fuzzy sets and hybrids | Semantic Scholar">
            <a:extLst>
              <a:ext uri="{FF2B5EF4-FFF2-40B4-BE49-F238E27FC236}">
                <a16:creationId xmlns:a16="http://schemas.microsoft.com/office/drawing/2014/main" id="{763969A5-DDF6-AAF7-BD45-E4A129E8FEAD}"/>
              </a:ext>
            </a:extLst>
          </p:cNvPr>
          <p:cNvPicPr>
            <a:picLocks noChangeAspect="1"/>
          </p:cNvPicPr>
          <p:nvPr/>
        </p:nvPicPr>
        <p:blipFill>
          <a:blip r:embed="rId2"/>
          <a:stretch>
            <a:fillRect/>
          </a:stretch>
        </p:blipFill>
        <p:spPr>
          <a:xfrm>
            <a:off x="1458020" y="837639"/>
            <a:ext cx="6227960" cy="5160310"/>
          </a:xfrm>
          <a:prstGeom prst="rect">
            <a:avLst/>
          </a:prstGeom>
        </p:spPr>
      </p:pic>
    </p:spTree>
    <p:extLst>
      <p:ext uri="{BB962C8B-B14F-4D97-AF65-F5344CB8AC3E}">
        <p14:creationId xmlns:p14="http://schemas.microsoft.com/office/powerpoint/2010/main" val="899837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AB791-654F-5970-46E8-79188698CA6B}"/>
              </a:ext>
            </a:extLst>
          </p:cNvPr>
          <p:cNvSpPr>
            <a:spLocks noGrp="1"/>
          </p:cNvSpPr>
          <p:nvPr>
            <p:ph type="title"/>
          </p:nvPr>
        </p:nvSpPr>
        <p:spPr>
          <a:xfrm>
            <a:off x="282388" y="685800"/>
            <a:ext cx="3680012" cy="2133600"/>
          </a:xfrm>
        </p:spPr>
        <p:txBody>
          <a:bodyPr>
            <a:normAutofit fontScale="90000"/>
          </a:bodyPr>
          <a:lstStyle/>
          <a:p>
            <a:pPr algn="ctr"/>
            <a:r>
              <a:rPr lang="en-US" sz="3600" dirty="0"/>
              <a:t>Types </a:t>
            </a:r>
            <a:br>
              <a:rPr lang="en-US" sz="3600" dirty="0"/>
            </a:br>
            <a:r>
              <a:rPr lang="en-US" sz="3600" dirty="0"/>
              <a:t>of </a:t>
            </a:r>
            <a:br>
              <a:rPr lang="en-US" sz="3600" dirty="0"/>
            </a:br>
            <a:r>
              <a:rPr lang="en-US" sz="3600" dirty="0"/>
              <a:t>Fuzzy </a:t>
            </a:r>
            <a:br>
              <a:rPr lang="en-US" sz="3600" dirty="0"/>
            </a:br>
            <a:r>
              <a:rPr lang="en-US" sz="3600" dirty="0"/>
              <a:t>Membership </a:t>
            </a:r>
            <a:br>
              <a:rPr lang="en-US" sz="3600" dirty="0"/>
            </a:br>
            <a:r>
              <a:rPr lang="en-US" sz="3600" dirty="0"/>
              <a:t>Functions</a:t>
            </a:r>
            <a:endParaRPr lang="en-PK" sz="3600" dirty="0"/>
          </a:p>
        </p:txBody>
      </p:sp>
      <p:sp>
        <p:nvSpPr>
          <p:cNvPr id="3" name="Content Placeholder 2">
            <a:extLst>
              <a:ext uri="{FF2B5EF4-FFF2-40B4-BE49-F238E27FC236}">
                <a16:creationId xmlns:a16="http://schemas.microsoft.com/office/drawing/2014/main" id="{9CCA68A1-16B3-9CD4-2C92-C676783E254A}"/>
              </a:ext>
            </a:extLst>
          </p:cNvPr>
          <p:cNvSpPr>
            <a:spLocks noGrp="1"/>
          </p:cNvSpPr>
          <p:nvPr>
            <p:ph idx="1"/>
          </p:nvPr>
        </p:nvSpPr>
        <p:spPr>
          <a:xfrm>
            <a:off x="76200" y="762000"/>
            <a:ext cx="8229600" cy="4389120"/>
          </a:xfrm>
        </p:spPr>
        <p:txBody>
          <a:bodyPr/>
          <a:lstStyle/>
          <a:p>
            <a:endParaRPr lang="en-PK" dirty="0"/>
          </a:p>
        </p:txBody>
      </p:sp>
      <p:pic>
        <p:nvPicPr>
          <p:cNvPr id="4" name="Picture 3">
            <a:extLst>
              <a:ext uri="{FF2B5EF4-FFF2-40B4-BE49-F238E27FC236}">
                <a16:creationId xmlns:a16="http://schemas.microsoft.com/office/drawing/2014/main" id="{55FA15DD-EFCC-16D0-C820-5A1445E6D350}"/>
              </a:ext>
            </a:extLst>
          </p:cNvPr>
          <p:cNvPicPr>
            <a:picLocks noChangeAspect="1"/>
          </p:cNvPicPr>
          <p:nvPr/>
        </p:nvPicPr>
        <p:blipFill>
          <a:blip r:embed="rId2"/>
          <a:stretch>
            <a:fillRect/>
          </a:stretch>
        </p:blipFill>
        <p:spPr>
          <a:xfrm>
            <a:off x="2263588" y="2956560"/>
            <a:ext cx="6934200" cy="3889917"/>
          </a:xfrm>
          <a:prstGeom prst="rect">
            <a:avLst/>
          </a:prstGeom>
        </p:spPr>
      </p:pic>
      <p:pic>
        <p:nvPicPr>
          <p:cNvPr id="7" name="Picture 6" descr="Fuzzy Deep Learning | Springer Nature Link">
            <a:extLst>
              <a:ext uri="{FF2B5EF4-FFF2-40B4-BE49-F238E27FC236}">
                <a16:creationId xmlns:a16="http://schemas.microsoft.com/office/drawing/2014/main" id="{29337ACA-9C4A-A731-0661-918B60AABFE7}"/>
              </a:ext>
            </a:extLst>
          </p:cNvPr>
          <p:cNvPicPr>
            <a:picLocks noChangeAspect="1"/>
          </p:cNvPicPr>
          <p:nvPr/>
        </p:nvPicPr>
        <p:blipFill>
          <a:blip r:embed="rId3"/>
          <a:stretch>
            <a:fillRect/>
          </a:stretch>
        </p:blipFill>
        <p:spPr>
          <a:xfrm>
            <a:off x="4267200" y="0"/>
            <a:ext cx="4915640" cy="2956560"/>
          </a:xfrm>
          <a:prstGeom prst="rect">
            <a:avLst/>
          </a:prstGeom>
        </p:spPr>
      </p:pic>
    </p:spTree>
    <p:extLst>
      <p:ext uri="{BB962C8B-B14F-4D97-AF65-F5344CB8AC3E}">
        <p14:creationId xmlns:p14="http://schemas.microsoft.com/office/powerpoint/2010/main" val="2053056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8229600" cy="896112"/>
          </a:xfrm>
        </p:spPr>
        <p:txBody>
          <a:bodyPr>
            <a:normAutofit/>
          </a:bodyPr>
          <a:lstStyle/>
          <a:p>
            <a:r>
              <a:rPr lang="en-US" sz="4400" dirty="0"/>
              <a:t>Fuzzy Inferencing Process</a:t>
            </a:r>
          </a:p>
        </p:txBody>
      </p:sp>
      <p:sp>
        <p:nvSpPr>
          <p:cNvPr id="3" name="Content Placeholder 2"/>
          <p:cNvSpPr>
            <a:spLocks noGrp="1"/>
          </p:cNvSpPr>
          <p:nvPr>
            <p:ph idx="1"/>
          </p:nvPr>
        </p:nvSpPr>
        <p:spPr>
          <a:xfrm>
            <a:off x="228600" y="1600200"/>
            <a:ext cx="8915400" cy="4724400"/>
          </a:xfrm>
        </p:spPr>
        <p:txBody>
          <a:bodyPr>
            <a:normAutofit/>
          </a:bodyPr>
          <a:lstStyle/>
          <a:p>
            <a:pPr>
              <a:buNone/>
            </a:pPr>
            <a:r>
              <a:rPr lang="en-US" dirty="0"/>
              <a:t>Fuzzy Propositions: </a:t>
            </a:r>
            <a:r>
              <a:rPr lang="en-US" dirty="0">
                <a:solidFill>
                  <a:srgbClr val="FF0000"/>
                </a:solidFill>
              </a:rPr>
              <a:t>X(Fuzzy Variable</a:t>
            </a:r>
            <a:r>
              <a:rPr lang="en-US" dirty="0"/>
              <a:t> is </a:t>
            </a:r>
            <a:r>
              <a:rPr lang="en-US" dirty="0">
                <a:solidFill>
                  <a:srgbClr val="7030A0"/>
                </a:solidFill>
              </a:rPr>
              <a:t>A(Fuzzy Value)</a:t>
            </a:r>
          </a:p>
          <a:p>
            <a:pPr>
              <a:buNone/>
            </a:pPr>
            <a:endParaRPr lang="en-US" dirty="0"/>
          </a:p>
          <a:p>
            <a:pPr>
              <a:buNone/>
            </a:pPr>
            <a:r>
              <a:rPr lang="en-US" dirty="0"/>
              <a:t>Fuzzy Rule relates two propositions, If X is </a:t>
            </a:r>
            <a:r>
              <a:rPr lang="en-US" dirty="0">
                <a:solidFill>
                  <a:srgbClr val="7030A0"/>
                </a:solidFill>
              </a:rPr>
              <a:t>A</a:t>
            </a:r>
            <a:r>
              <a:rPr lang="en-US" dirty="0"/>
              <a:t> then Y is </a:t>
            </a:r>
            <a:r>
              <a:rPr lang="en-US" dirty="0">
                <a:solidFill>
                  <a:srgbClr val="7030A0"/>
                </a:solidFill>
              </a:rPr>
              <a:t>B</a:t>
            </a:r>
          </a:p>
          <a:p>
            <a:r>
              <a:rPr lang="en-US" dirty="0"/>
              <a:t>If </a:t>
            </a:r>
            <a:r>
              <a:rPr lang="en-US" dirty="0">
                <a:solidFill>
                  <a:srgbClr val="FF0000"/>
                </a:solidFill>
              </a:rPr>
              <a:t>Temperature</a:t>
            </a:r>
            <a:r>
              <a:rPr lang="en-US" dirty="0"/>
              <a:t> is </a:t>
            </a:r>
            <a:r>
              <a:rPr lang="en-US" dirty="0">
                <a:solidFill>
                  <a:srgbClr val="7030A0"/>
                </a:solidFill>
              </a:rPr>
              <a:t>Normal </a:t>
            </a:r>
            <a:r>
              <a:rPr lang="en-US" dirty="0"/>
              <a:t>then </a:t>
            </a:r>
            <a:r>
              <a:rPr lang="en-US" dirty="0">
                <a:solidFill>
                  <a:srgbClr val="FF0000"/>
                </a:solidFill>
              </a:rPr>
              <a:t>Velocity</a:t>
            </a:r>
            <a:r>
              <a:rPr lang="en-US" dirty="0"/>
              <a:t> is </a:t>
            </a:r>
            <a:r>
              <a:rPr lang="en-US" dirty="0">
                <a:solidFill>
                  <a:srgbClr val="7030A0"/>
                </a:solidFill>
              </a:rPr>
              <a:t>Medium</a:t>
            </a:r>
          </a:p>
          <a:p>
            <a:r>
              <a:rPr lang="en-US" dirty="0"/>
              <a:t>If </a:t>
            </a:r>
            <a:r>
              <a:rPr lang="en-US" dirty="0">
                <a:solidFill>
                  <a:srgbClr val="FF0000"/>
                </a:solidFill>
              </a:rPr>
              <a:t>Height</a:t>
            </a:r>
            <a:r>
              <a:rPr lang="en-US" dirty="0"/>
              <a:t> is </a:t>
            </a:r>
            <a:r>
              <a:rPr lang="en-US" dirty="0">
                <a:solidFill>
                  <a:srgbClr val="7030A0"/>
                </a:solidFill>
              </a:rPr>
              <a:t>Tall </a:t>
            </a:r>
            <a:r>
              <a:rPr lang="en-US" dirty="0"/>
              <a:t>then </a:t>
            </a:r>
            <a:r>
              <a:rPr lang="en-US" dirty="0">
                <a:solidFill>
                  <a:srgbClr val="FF0000"/>
                </a:solidFill>
              </a:rPr>
              <a:t>Weight</a:t>
            </a:r>
            <a:r>
              <a:rPr lang="en-US" dirty="0"/>
              <a:t> is </a:t>
            </a:r>
            <a:r>
              <a:rPr lang="en-US" dirty="0">
                <a:solidFill>
                  <a:srgbClr val="7030A0"/>
                </a:solidFill>
              </a:rPr>
              <a:t>Heavy</a:t>
            </a:r>
          </a:p>
          <a:p>
            <a:endParaRPr lang="en-US" dirty="0">
              <a:solidFill>
                <a:srgbClr val="7030A0"/>
              </a:solidFill>
            </a:endParaRPr>
          </a:p>
          <a:p>
            <a:pPr>
              <a:buNone/>
            </a:pPr>
            <a:r>
              <a:rPr lang="en-US" dirty="0"/>
              <a:t>Fuzzy </a:t>
            </a:r>
            <a:r>
              <a:rPr lang="en-US" dirty="0" err="1"/>
              <a:t>Assosiative</a:t>
            </a:r>
            <a:r>
              <a:rPr lang="en-US" dirty="0"/>
              <a:t> Matrix/Memory (FAM)</a:t>
            </a:r>
          </a:p>
          <a:p>
            <a:r>
              <a:rPr lang="en-US" dirty="0"/>
              <a:t>Maps </a:t>
            </a:r>
            <a:r>
              <a:rPr lang="en-US" dirty="0">
                <a:solidFill>
                  <a:srgbClr val="FF0000"/>
                </a:solidFill>
              </a:rPr>
              <a:t>Fuzzy Set A </a:t>
            </a:r>
            <a:r>
              <a:rPr lang="en-US" dirty="0"/>
              <a:t>to </a:t>
            </a:r>
            <a:r>
              <a:rPr lang="en-US" dirty="0">
                <a:solidFill>
                  <a:srgbClr val="FF0000"/>
                </a:solidFill>
              </a:rPr>
              <a:t>Fuzzy Set B </a:t>
            </a:r>
            <a:r>
              <a:rPr lang="en-US" dirty="0"/>
              <a:t>for Fuzzy Inference Process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133600"/>
            <a:ext cx="4114800" cy="1752600"/>
          </a:xfrm>
        </p:spPr>
        <p:txBody>
          <a:bodyPr>
            <a:noAutofit/>
          </a:bodyPr>
          <a:lstStyle/>
          <a:p>
            <a:pPr algn="ctr"/>
            <a:r>
              <a:rPr lang="en-US" sz="2800" dirty="0"/>
              <a:t>[2] </a:t>
            </a:r>
            <a:br>
              <a:rPr lang="en-US" sz="2800" dirty="0"/>
            </a:br>
            <a:r>
              <a:rPr lang="en-US" sz="2800" dirty="0"/>
              <a:t>If </a:t>
            </a:r>
            <a:r>
              <a:rPr lang="en-US" sz="2800" dirty="0">
                <a:solidFill>
                  <a:srgbClr val="FF0000"/>
                </a:solidFill>
              </a:rPr>
              <a:t>Temperature</a:t>
            </a:r>
            <a:r>
              <a:rPr lang="en-US" sz="2800" dirty="0"/>
              <a:t> is </a:t>
            </a:r>
            <a:r>
              <a:rPr lang="en-US" sz="2800" dirty="0">
                <a:solidFill>
                  <a:srgbClr val="7030A0"/>
                </a:solidFill>
              </a:rPr>
              <a:t>warm </a:t>
            </a:r>
            <a:br>
              <a:rPr lang="en-US" sz="2800" dirty="0"/>
            </a:br>
            <a:r>
              <a:rPr lang="en-US" sz="2800" dirty="0"/>
              <a:t>and </a:t>
            </a:r>
            <a:r>
              <a:rPr lang="en-US" sz="2800" dirty="0">
                <a:solidFill>
                  <a:srgbClr val="FF0000"/>
                </a:solidFill>
              </a:rPr>
              <a:t>Pressure </a:t>
            </a:r>
            <a:r>
              <a:rPr lang="en-US" sz="2800" dirty="0"/>
              <a:t>is </a:t>
            </a:r>
            <a:r>
              <a:rPr lang="en-US" sz="2800" dirty="0">
                <a:solidFill>
                  <a:srgbClr val="7030A0"/>
                </a:solidFill>
              </a:rPr>
              <a:t>low </a:t>
            </a:r>
            <a:br>
              <a:rPr lang="en-US" sz="2800" dirty="0"/>
            </a:br>
            <a:r>
              <a:rPr lang="en-US" sz="2800" dirty="0"/>
              <a:t>then set </a:t>
            </a:r>
            <a:r>
              <a:rPr lang="en-US" sz="2800" dirty="0">
                <a:solidFill>
                  <a:srgbClr val="FF0000"/>
                </a:solidFill>
              </a:rPr>
              <a:t>Heat </a:t>
            </a:r>
            <a:r>
              <a:rPr lang="en-US" sz="2800" dirty="0"/>
              <a:t>to </a:t>
            </a:r>
            <a:r>
              <a:rPr lang="en-US" sz="2800" dirty="0">
                <a:solidFill>
                  <a:srgbClr val="7030A0"/>
                </a:solidFill>
              </a:rPr>
              <a:t>high</a:t>
            </a:r>
          </a:p>
        </p:txBody>
      </p:sp>
      <p:pic>
        <p:nvPicPr>
          <p:cNvPr id="35844" name="Picture 4" descr="[Fuzzy Associative Matrix]"/>
          <p:cNvPicPr>
            <a:picLocks noChangeAspect="1" noChangeArrowheads="1"/>
          </p:cNvPicPr>
          <p:nvPr/>
        </p:nvPicPr>
        <p:blipFill>
          <a:blip r:embed="rId2"/>
          <a:srcRect/>
          <a:stretch>
            <a:fillRect/>
          </a:stretch>
        </p:blipFill>
        <p:spPr bwMode="auto">
          <a:xfrm>
            <a:off x="4114800" y="1371600"/>
            <a:ext cx="4724400" cy="5040679"/>
          </a:xfrm>
          <a:prstGeom prst="rect">
            <a:avLst/>
          </a:prstGeom>
          <a:noFill/>
        </p:spPr>
      </p:pic>
      <p:sp>
        <p:nvSpPr>
          <p:cNvPr id="6" name="Title 1"/>
          <p:cNvSpPr txBox="1">
            <a:spLocks/>
          </p:cNvSpPr>
          <p:nvPr/>
        </p:nvSpPr>
        <p:spPr>
          <a:xfrm>
            <a:off x="838200" y="381000"/>
            <a:ext cx="7315200" cy="838200"/>
          </a:xfrm>
          <a:prstGeom prst="rect">
            <a:avLst/>
          </a:prstGeom>
        </p:spPr>
        <p:txBody>
          <a:bodyPr vert="horz" lIns="0" rIns="0" bIns="0"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600" dirty="0">
                <a:solidFill>
                  <a:schemeClr val="tx2"/>
                </a:solidFill>
                <a:latin typeface="+mj-lt"/>
                <a:ea typeface="+mj-ea"/>
                <a:cs typeface="+mj-cs"/>
              </a:rPr>
              <a:t>Fuzzy Associative Matrix - Example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591312"/>
          </a:xfrm>
        </p:spPr>
        <p:txBody>
          <a:bodyPr>
            <a:normAutofit fontScale="90000"/>
          </a:bodyPr>
          <a:lstStyle/>
          <a:p>
            <a:r>
              <a:rPr lang="en-US" sz="4400" dirty="0"/>
              <a:t>Example – Fuzzy Inference Process</a:t>
            </a:r>
          </a:p>
        </p:txBody>
      </p:sp>
      <p:pic>
        <p:nvPicPr>
          <p:cNvPr id="5" name="Picture 4">
            <a:extLst>
              <a:ext uri="{FF2B5EF4-FFF2-40B4-BE49-F238E27FC236}">
                <a16:creationId xmlns:a16="http://schemas.microsoft.com/office/drawing/2014/main" id="{8FA14F86-906D-7899-0835-3063F28983A1}"/>
              </a:ext>
            </a:extLst>
          </p:cNvPr>
          <p:cNvPicPr>
            <a:picLocks noChangeAspect="1"/>
          </p:cNvPicPr>
          <p:nvPr/>
        </p:nvPicPr>
        <p:blipFill>
          <a:blip r:embed="rId2"/>
          <a:stretch>
            <a:fillRect/>
          </a:stretch>
        </p:blipFill>
        <p:spPr>
          <a:xfrm>
            <a:off x="111983" y="1641730"/>
            <a:ext cx="8920033" cy="4800600"/>
          </a:xfrm>
          <a:prstGeom prst="rect">
            <a:avLst/>
          </a:prstGeom>
        </p:spPr>
      </p:pic>
      <p:sp>
        <p:nvSpPr>
          <p:cNvPr id="7" name="TextBox 6">
            <a:extLst>
              <a:ext uri="{FF2B5EF4-FFF2-40B4-BE49-F238E27FC236}">
                <a16:creationId xmlns:a16="http://schemas.microsoft.com/office/drawing/2014/main" id="{B71A8203-1B9A-34E6-36B7-16430FB8957E}"/>
              </a:ext>
            </a:extLst>
          </p:cNvPr>
          <p:cNvSpPr txBox="1"/>
          <p:nvPr/>
        </p:nvSpPr>
        <p:spPr>
          <a:xfrm>
            <a:off x="152400" y="914400"/>
            <a:ext cx="9067800" cy="707886"/>
          </a:xfrm>
          <a:prstGeom prst="rect">
            <a:avLst/>
          </a:prstGeom>
          <a:noFill/>
        </p:spPr>
        <p:txBody>
          <a:bodyPr wrap="square">
            <a:spAutoFit/>
          </a:bodyPr>
          <a:lstStyle/>
          <a:p>
            <a:pPr algn="ctr"/>
            <a:r>
              <a:rPr lang="en-PK" sz="2000" b="0" i="0" dirty="0">
                <a:solidFill>
                  <a:schemeClr val="tx1"/>
                </a:solidFill>
                <a:effectLst/>
                <a:latin typeface="+mn-lt"/>
              </a:rPr>
              <a:t>takes </a:t>
            </a:r>
            <a:r>
              <a:rPr lang="en-PK" sz="2000" b="0" i="1" dirty="0">
                <a:solidFill>
                  <a:srgbClr val="FF0000"/>
                </a:solidFill>
                <a:effectLst/>
                <a:latin typeface="+mn-lt"/>
              </a:rPr>
              <a:t>service</a:t>
            </a:r>
            <a:r>
              <a:rPr lang="en-PK" sz="2000" b="0" i="0" dirty="0">
                <a:solidFill>
                  <a:srgbClr val="FF0000"/>
                </a:solidFill>
                <a:effectLst/>
                <a:latin typeface="+mn-lt"/>
              </a:rPr>
              <a:t> </a:t>
            </a:r>
            <a:r>
              <a:rPr lang="en-PK" sz="2000" b="0" i="0" dirty="0">
                <a:solidFill>
                  <a:schemeClr val="tx1"/>
                </a:solidFill>
                <a:effectLst/>
                <a:latin typeface="+mn-lt"/>
              </a:rPr>
              <a:t>and </a:t>
            </a:r>
            <a:r>
              <a:rPr lang="en-PK" sz="2000" b="0" i="1" dirty="0">
                <a:solidFill>
                  <a:srgbClr val="FF0000"/>
                </a:solidFill>
                <a:effectLst/>
                <a:latin typeface="+mn-lt"/>
              </a:rPr>
              <a:t>food quality</a:t>
            </a:r>
            <a:r>
              <a:rPr lang="en-PK" sz="2000" b="0" i="0" dirty="0">
                <a:solidFill>
                  <a:srgbClr val="FF0000"/>
                </a:solidFill>
                <a:effectLst/>
                <a:latin typeface="+mn-lt"/>
              </a:rPr>
              <a:t> </a:t>
            </a:r>
            <a:r>
              <a:rPr lang="en-PK" sz="2000" b="0" i="0" dirty="0">
                <a:solidFill>
                  <a:schemeClr val="tx1"/>
                </a:solidFill>
                <a:effectLst/>
                <a:latin typeface="+mn-lt"/>
              </a:rPr>
              <a:t>as inputs and computes a </a:t>
            </a:r>
            <a:r>
              <a:rPr lang="en-PK" sz="2000" b="0" i="0" dirty="0">
                <a:solidFill>
                  <a:srgbClr val="FF0000"/>
                </a:solidFill>
                <a:effectLst/>
                <a:latin typeface="+mn-lt"/>
              </a:rPr>
              <a:t>tip percentage </a:t>
            </a:r>
            <a:r>
              <a:rPr lang="en-PK" sz="2000" b="0" i="0" dirty="0">
                <a:solidFill>
                  <a:schemeClr val="tx1"/>
                </a:solidFill>
                <a:effectLst/>
                <a:latin typeface="+mn-lt"/>
              </a:rPr>
              <a:t>using the following </a:t>
            </a:r>
            <a:r>
              <a:rPr lang="en-US" sz="2000" b="0" i="0" dirty="0">
                <a:solidFill>
                  <a:schemeClr val="tx1"/>
                </a:solidFill>
                <a:effectLst/>
                <a:latin typeface="+mn-lt"/>
              </a:rPr>
              <a:t>3 </a:t>
            </a:r>
            <a:r>
              <a:rPr lang="en-PK" sz="2000" b="0" i="0" dirty="0">
                <a:solidFill>
                  <a:schemeClr val="tx1"/>
                </a:solidFill>
                <a:effectLst/>
                <a:latin typeface="+mn-lt"/>
              </a:rPr>
              <a:t>rules</a:t>
            </a:r>
            <a:endParaRPr lang="en-PK" sz="2000" dirty="0"/>
          </a:p>
        </p:txBody>
      </p:sp>
      <p:sp>
        <p:nvSpPr>
          <p:cNvPr id="9" name="TextBox 8">
            <a:extLst>
              <a:ext uri="{FF2B5EF4-FFF2-40B4-BE49-F238E27FC236}">
                <a16:creationId xmlns:a16="http://schemas.microsoft.com/office/drawing/2014/main" id="{D41FBB6F-B501-AD15-BB69-C757033734EC}"/>
              </a:ext>
            </a:extLst>
          </p:cNvPr>
          <p:cNvSpPr txBox="1"/>
          <p:nvPr/>
        </p:nvSpPr>
        <p:spPr>
          <a:xfrm>
            <a:off x="147918" y="6461774"/>
            <a:ext cx="9067800" cy="369332"/>
          </a:xfrm>
          <a:prstGeom prst="rect">
            <a:avLst/>
          </a:prstGeom>
          <a:noFill/>
        </p:spPr>
        <p:txBody>
          <a:bodyPr wrap="square">
            <a:spAutoFit/>
          </a:bodyPr>
          <a:lstStyle/>
          <a:p>
            <a:r>
              <a:rPr lang="en-PK" dirty="0"/>
              <a:t>https://www.mathworks.com/help/fuzzy/fuzzy-inference-process.html#doc_center_content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642D8-9ADB-548C-EE4D-429977B57162}"/>
              </a:ext>
            </a:extLst>
          </p:cNvPr>
          <p:cNvSpPr>
            <a:spLocks noGrp="1"/>
          </p:cNvSpPr>
          <p:nvPr>
            <p:ph type="title"/>
          </p:nvPr>
        </p:nvSpPr>
        <p:spPr>
          <a:xfrm>
            <a:off x="457200" y="704088"/>
            <a:ext cx="8229600" cy="591312"/>
          </a:xfrm>
        </p:spPr>
        <p:txBody>
          <a:bodyPr>
            <a:noAutofit/>
          </a:bodyPr>
          <a:lstStyle/>
          <a:p>
            <a:pPr algn="ctr"/>
            <a:r>
              <a:rPr lang="en-US" sz="4000" dirty="0"/>
              <a:t>Example – Fuzzy Inference System</a:t>
            </a:r>
            <a:endParaRPr lang="en-PK" sz="4000" dirty="0"/>
          </a:p>
        </p:txBody>
      </p:sp>
      <p:sp>
        <p:nvSpPr>
          <p:cNvPr id="3" name="Content Placeholder 2">
            <a:extLst>
              <a:ext uri="{FF2B5EF4-FFF2-40B4-BE49-F238E27FC236}">
                <a16:creationId xmlns:a16="http://schemas.microsoft.com/office/drawing/2014/main" id="{E637E2B2-E094-68CF-94B6-549563F221B1}"/>
              </a:ext>
            </a:extLst>
          </p:cNvPr>
          <p:cNvSpPr>
            <a:spLocks noGrp="1"/>
          </p:cNvSpPr>
          <p:nvPr>
            <p:ph idx="1"/>
          </p:nvPr>
        </p:nvSpPr>
        <p:spPr/>
        <p:txBody>
          <a:bodyPr>
            <a:normAutofit/>
          </a:bodyPr>
          <a:lstStyle/>
          <a:p>
            <a:r>
              <a:rPr lang="en-US" dirty="0"/>
              <a:t>F</a:t>
            </a:r>
            <a:r>
              <a:rPr lang="en-PK" dirty="0" err="1"/>
              <a:t>uzzy</a:t>
            </a:r>
            <a:r>
              <a:rPr lang="en-PK" dirty="0"/>
              <a:t> inference system for this </a:t>
            </a:r>
            <a:r>
              <a:rPr lang="en-US" dirty="0"/>
              <a:t>tip calculation </a:t>
            </a:r>
            <a:r>
              <a:rPr lang="en-PK" dirty="0"/>
              <a:t>problem takes </a:t>
            </a:r>
            <a:r>
              <a:rPr lang="en-PK" i="1" dirty="0">
                <a:solidFill>
                  <a:srgbClr val="FF0000"/>
                </a:solidFill>
              </a:rPr>
              <a:t>service</a:t>
            </a:r>
            <a:r>
              <a:rPr lang="en-PK" dirty="0">
                <a:solidFill>
                  <a:srgbClr val="FF0000"/>
                </a:solidFill>
              </a:rPr>
              <a:t> </a:t>
            </a:r>
            <a:r>
              <a:rPr lang="en-PK" dirty="0"/>
              <a:t>and </a:t>
            </a:r>
            <a:r>
              <a:rPr lang="en-PK" i="1" dirty="0">
                <a:solidFill>
                  <a:srgbClr val="FF0000"/>
                </a:solidFill>
              </a:rPr>
              <a:t>food quality</a:t>
            </a:r>
            <a:r>
              <a:rPr lang="en-PK" dirty="0">
                <a:solidFill>
                  <a:srgbClr val="FF0000"/>
                </a:solidFill>
              </a:rPr>
              <a:t> </a:t>
            </a:r>
            <a:r>
              <a:rPr lang="en-PK" dirty="0"/>
              <a:t>as </a:t>
            </a:r>
            <a:r>
              <a:rPr lang="en-PK" dirty="0">
                <a:solidFill>
                  <a:srgbClr val="FF0000"/>
                </a:solidFill>
              </a:rPr>
              <a:t>inputs </a:t>
            </a:r>
            <a:r>
              <a:rPr lang="en-PK" dirty="0"/>
              <a:t>and computes a </a:t>
            </a:r>
            <a:r>
              <a:rPr lang="en-PK" dirty="0">
                <a:solidFill>
                  <a:srgbClr val="FF0000"/>
                </a:solidFill>
              </a:rPr>
              <a:t>tip percentage </a:t>
            </a:r>
            <a:r>
              <a:rPr lang="en-PK" dirty="0"/>
              <a:t>using the following rules.</a:t>
            </a:r>
            <a:endParaRPr lang="en-US" dirty="0"/>
          </a:p>
          <a:p>
            <a:r>
              <a:rPr lang="en-US" dirty="0"/>
              <a:t>Rules</a:t>
            </a:r>
            <a:endParaRPr lang="en-PK" dirty="0"/>
          </a:p>
          <a:p>
            <a:pPr marL="514350" lvl="0" indent="-514350">
              <a:buFont typeface="+mj-lt"/>
              <a:buAutoNum type="arabicPeriod"/>
            </a:pPr>
            <a:r>
              <a:rPr lang="en-PK" dirty="0"/>
              <a:t>If the </a:t>
            </a:r>
            <a:r>
              <a:rPr lang="en-PK" dirty="0">
                <a:solidFill>
                  <a:srgbClr val="FF0000"/>
                </a:solidFill>
              </a:rPr>
              <a:t>service </a:t>
            </a:r>
            <a:r>
              <a:rPr lang="en-PK" dirty="0"/>
              <a:t>is </a:t>
            </a:r>
            <a:r>
              <a:rPr lang="en-PK" dirty="0">
                <a:solidFill>
                  <a:srgbClr val="00B0F0"/>
                </a:solidFill>
              </a:rPr>
              <a:t>poor </a:t>
            </a:r>
            <a:r>
              <a:rPr lang="en-PK" dirty="0"/>
              <a:t>or the </a:t>
            </a:r>
            <a:r>
              <a:rPr lang="en-PK" dirty="0">
                <a:solidFill>
                  <a:srgbClr val="FF0000"/>
                </a:solidFill>
              </a:rPr>
              <a:t>food </a:t>
            </a:r>
            <a:r>
              <a:rPr lang="en-PK" dirty="0"/>
              <a:t>is rancid, then </a:t>
            </a:r>
            <a:r>
              <a:rPr lang="en-PK" dirty="0">
                <a:solidFill>
                  <a:srgbClr val="FF0000"/>
                </a:solidFill>
              </a:rPr>
              <a:t>tip </a:t>
            </a:r>
            <a:r>
              <a:rPr lang="en-PK" dirty="0"/>
              <a:t>is </a:t>
            </a:r>
            <a:r>
              <a:rPr lang="en-PK" dirty="0">
                <a:solidFill>
                  <a:srgbClr val="00B0F0"/>
                </a:solidFill>
              </a:rPr>
              <a:t>cheap</a:t>
            </a:r>
            <a:r>
              <a:rPr lang="en-PK" dirty="0"/>
              <a:t>.</a:t>
            </a:r>
          </a:p>
          <a:p>
            <a:pPr marL="514350" lvl="0" indent="-514350">
              <a:buFont typeface="+mj-lt"/>
              <a:buAutoNum type="arabicPeriod"/>
            </a:pPr>
            <a:r>
              <a:rPr lang="en-PK" dirty="0"/>
              <a:t>If the </a:t>
            </a:r>
            <a:r>
              <a:rPr lang="en-PK" dirty="0">
                <a:solidFill>
                  <a:srgbClr val="FF0000"/>
                </a:solidFill>
              </a:rPr>
              <a:t>service </a:t>
            </a:r>
            <a:r>
              <a:rPr lang="en-PK" dirty="0"/>
              <a:t>is </a:t>
            </a:r>
            <a:r>
              <a:rPr lang="en-PK" dirty="0">
                <a:solidFill>
                  <a:srgbClr val="00B0F0"/>
                </a:solidFill>
              </a:rPr>
              <a:t>good</a:t>
            </a:r>
            <a:r>
              <a:rPr lang="en-PK" dirty="0"/>
              <a:t>, then </a:t>
            </a:r>
            <a:r>
              <a:rPr lang="en-PK" dirty="0">
                <a:solidFill>
                  <a:srgbClr val="FF0000"/>
                </a:solidFill>
              </a:rPr>
              <a:t>tip </a:t>
            </a:r>
            <a:r>
              <a:rPr lang="en-PK" dirty="0"/>
              <a:t>is </a:t>
            </a:r>
            <a:r>
              <a:rPr lang="en-PK" dirty="0">
                <a:solidFill>
                  <a:srgbClr val="00B0F0"/>
                </a:solidFill>
              </a:rPr>
              <a:t>average</a:t>
            </a:r>
            <a:r>
              <a:rPr lang="en-PK" dirty="0"/>
              <a:t>.</a:t>
            </a:r>
          </a:p>
          <a:p>
            <a:pPr marL="514350" lvl="0" indent="-514350">
              <a:buFont typeface="+mj-lt"/>
              <a:buAutoNum type="arabicPeriod"/>
            </a:pPr>
            <a:r>
              <a:rPr lang="en-PK" dirty="0"/>
              <a:t>If the </a:t>
            </a:r>
            <a:r>
              <a:rPr lang="en-PK" dirty="0">
                <a:solidFill>
                  <a:srgbClr val="FF0000"/>
                </a:solidFill>
              </a:rPr>
              <a:t>service </a:t>
            </a:r>
            <a:r>
              <a:rPr lang="en-PK" dirty="0"/>
              <a:t>is </a:t>
            </a:r>
            <a:r>
              <a:rPr lang="en-PK" dirty="0">
                <a:solidFill>
                  <a:srgbClr val="00B0F0"/>
                </a:solidFill>
              </a:rPr>
              <a:t>excellent </a:t>
            </a:r>
            <a:r>
              <a:rPr lang="en-PK" dirty="0"/>
              <a:t>or the </a:t>
            </a:r>
            <a:r>
              <a:rPr lang="en-PK" dirty="0">
                <a:solidFill>
                  <a:srgbClr val="FF0000"/>
                </a:solidFill>
              </a:rPr>
              <a:t>food </a:t>
            </a:r>
            <a:r>
              <a:rPr lang="en-PK" dirty="0"/>
              <a:t>is </a:t>
            </a:r>
            <a:r>
              <a:rPr lang="en-PK" dirty="0">
                <a:solidFill>
                  <a:srgbClr val="00B0F0"/>
                </a:solidFill>
              </a:rPr>
              <a:t>delicious</a:t>
            </a:r>
            <a:r>
              <a:rPr lang="en-PK" dirty="0"/>
              <a:t>, then </a:t>
            </a:r>
            <a:r>
              <a:rPr lang="en-PK" dirty="0">
                <a:solidFill>
                  <a:srgbClr val="FF0000"/>
                </a:solidFill>
              </a:rPr>
              <a:t>tip </a:t>
            </a:r>
            <a:r>
              <a:rPr lang="en-PK" dirty="0"/>
              <a:t>is </a:t>
            </a:r>
            <a:r>
              <a:rPr lang="en-PK" dirty="0">
                <a:solidFill>
                  <a:srgbClr val="00B0F0"/>
                </a:solidFill>
              </a:rPr>
              <a:t>generous</a:t>
            </a:r>
            <a:r>
              <a:rPr lang="en-PK" dirty="0"/>
              <a:t>.</a:t>
            </a:r>
            <a:endParaRPr lang="en-US" dirty="0"/>
          </a:p>
          <a:p>
            <a:pPr marL="0" lvl="0" indent="0">
              <a:buNone/>
            </a:pPr>
            <a:endParaRPr lang="en-US" dirty="0"/>
          </a:p>
        </p:txBody>
      </p:sp>
    </p:spTree>
    <p:extLst>
      <p:ext uri="{BB962C8B-B14F-4D97-AF65-F5344CB8AC3E}">
        <p14:creationId xmlns:p14="http://schemas.microsoft.com/office/powerpoint/2010/main" val="179756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3D940-EECD-D374-5473-CA8FC0D81995}"/>
              </a:ext>
            </a:extLst>
          </p:cNvPr>
          <p:cNvSpPr>
            <a:spLocks noGrp="1"/>
          </p:cNvSpPr>
          <p:nvPr>
            <p:ph type="title"/>
          </p:nvPr>
        </p:nvSpPr>
        <p:spPr>
          <a:xfrm>
            <a:off x="457200" y="381000"/>
            <a:ext cx="8229600" cy="667512"/>
          </a:xfrm>
        </p:spPr>
        <p:txBody>
          <a:bodyPr/>
          <a:lstStyle/>
          <a:p>
            <a:pPr algn="ctr"/>
            <a:r>
              <a:rPr lang="en-US" sz="4000" dirty="0"/>
              <a:t>Steps in Fuzzy Inference Process</a:t>
            </a:r>
            <a:endParaRPr lang="en-PK" dirty="0"/>
          </a:p>
        </p:txBody>
      </p:sp>
      <p:sp>
        <p:nvSpPr>
          <p:cNvPr id="3" name="Content Placeholder 2">
            <a:extLst>
              <a:ext uri="{FF2B5EF4-FFF2-40B4-BE49-F238E27FC236}">
                <a16:creationId xmlns:a16="http://schemas.microsoft.com/office/drawing/2014/main" id="{FBE503B0-1D2B-6DD0-4B7C-6DE6FC8F7552}"/>
              </a:ext>
            </a:extLst>
          </p:cNvPr>
          <p:cNvSpPr>
            <a:spLocks noGrp="1"/>
          </p:cNvSpPr>
          <p:nvPr>
            <p:ph idx="1"/>
          </p:nvPr>
        </p:nvSpPr>
        <p:spPr>
          <a:xfrm>
            <a:off x="304800" y="1048512"/>
            <a:ext cx="8229600" cy="4389120"/>
          </a:xfrm>
        </p:spPr>
        <p:txBody>
          <a:bodyPr>
            <a:normAutofit/>
          </a:bodyPr>
          <a:lstStyle/>
          <a:p>
            <a:pPr marL="514350" lvl="0" indent="-514350">
              <a:buFont typeface="+mj-lt"/>
              <a:buAutoNum type="arabicPeriod"/>
            </a:pPr>
            <a:r>
              <a:rPr lang="en-PK" sz="2000" dirty="0"/>
              <a:t>Fuzzification of the input variables</a:t>
            </a:r>
            <a:r>
              <a:rPr lang="en-US" sz="2000" dirty="0"/>
              <a:t> (Service, Food, Tip)</a:t>
            </a:r>
            <a:endParaRPr lang="en-PK" sz="2000" dirty="0"/>
          </a:p>
          <a:p>
            <a:pPr marL="514350" lvl="0" indent="-514350">
              <a:buFont typeface="+mj-lt"/>
              <a:buAutoNum type="arabicPeriod"/>
            </a:pPr>
            <a:r>
              <a:rPr lang="en-PK" sz="2000" dirty="0"/>
              <a:t>Application of the fuzzy operator (AND or OR) in the antecedent</a:t>
            </a:r>
          </a:p>
          <a:p>
            <a:pPr marL="514350" lvl="0" indent="-514350">
              <a:buFont typeface="+mj-lt"/>
              <a:buAutoNum type="arabicPeriod"/>
            </a:pPr>
            <a:r>
              <a:rPr lang="en-PK" sz="2000" dirty="0"/>
              <a:t>Implication from the antecedent to the consequent</a:t>
            </a:r>
          </a:p>
          <a:p>
            <a:pPr marL="514350" lvl="0" indent="-514350">
              <a:buFont typeface="+mj-lt"/>
              <a:buAutoNum type="arabicPeriod"/>
            </a:pPr>
            <a:r>
              <a:rPr lang="en-PK" sz="2000" dirty="0"/>
              <a:t>Aggregation of the consequents across the rules</a:t>
            </a:r>
          </a:p>
          <a:p>
            <a:pPr marL="514350" lvl="0" indent="-514350">
              <a:buFont typeface="+mj-lt"/>
              <a:buAutoNum type="arabicPeriod"/>
            </a:pPr>
            <a:r>
              <a:rPr lang="en-PK" sz="2000" dirty="0"/>
              <a:t>Defuzzification</a:t>
            </a:r>
            <a:r>
              <a:rPr lang="en-US" sz="2000" dirty="0"/>
              <a:t> (Getting Numerical Value)</a:t>
            </a:r>
            <a:endParaRPr lang="en-PK" sz="2000" dirty="0"/>
          </a:p>
          <a:p>
            <a:endParaRPr lang="en-PK" sz="2000" dirty="0"/>
          </a:p>
        </p:txBody>
      </p:sp>
      <p:pic>
        <p:nvPicPr>
          <p:cNvPr id="5" name="Picture 4">
            <a:extLst>
              <a:ext uri="{FF2B5EF4-FFF2-40B4-BE49-F238E27FC236}">
                <a16:creationId xmlns:a16="http://schemas.microsoft.com/office/drawing/2014/main" id="{4AC5B115-DB04-2497-726F-79B207A0CEF5}"/>
              </a:ext>
            </a:extLst>
          </p:cNvPr>
          <p:cNvPicPr>
            <a:picLocks noChangeAspect="1"/>
          </p:cNvPicPr>
          <p:nvPr/>
        </p:nvPicPr>
        <p:blipFill>
          <a:blip r:embed="rId2"/>
          <a:stretch>
            <a:fillRect/>
          </a:stretch>
        </p:blipFill>
        <p:spPr>
          <a:xfrm>
            <a:off x="1295400" y="3171825"/>
            <a:ext cx="6286500" cy="3686175"/>
          </a:xfrm>
          <a:prstGeom prst="rect">
            <a:avLst/>
          </a:prstGeom>
        </p:spPr>
      </p:pic>
    </p:spTree>
    <p:extLst>
      <p:ext uri="{BB962C8B-B14F-4D97-AF65-F5344CB8AC3E}">
        <p14:creationId xmlns:p14="http://schemas.microsoft.com/office/powerpoint/2010/main" val="230243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009A8-9D09-F75A-824A-D537BE613720}"/>
              </a:ext>
            </a:extLst>
          </p:cNvPr>
          <p:cNvSpPr>
            <a:spLocks noGrp="1"/>
          </p:cNvSpPr>
          <p:nvPr>
            <p:ph type="title"/>
          </p:nvPr>
        </p:nvSpPr>
        <p:spPr>
          <a:xfrm>
            <a:off x="76200" y="704088"/>
            <a:ext cx="8610600" cy="1143000"/>
          </a:xfrm>
        </p:spPr>
        <p:txBody>
          <a:bodyPr>
            <a:normAutofit/>
          </a:bodyPr>
          <a:lstStyle/>
          <a:p>
            <a:r>
              <a:rPr lang="en-US" sz="3600" dirty="0"/>
              <a:t>1. </a:t>
            </a:r>
            <a:r>
              <a:rPr lang="en-US" sz="3600" dirty="0" err="1"/>
              <a:t>Fuzzify</a:t>
            </a:r>
            <a:r>
              <a:rPr lang="en-US" sz="3600" dirty="0"/>
              <a:t> Input Variables</a:t>
            </a:r>
            <a:endParaRPr lang="en-PK" sz="3600" dirty="0"/>
          </a:p>
        </p:txBody>
      </p:sp>
      <p:sp>
        <p:nvSpPr>
          <p:cNvPr id="3" name="Content Placeholder 2">
            <a:extLst>
              <a:ext uri="{FF2B5EF4-FFF2-40B4-BE49-F238E27FC236}">
                <a16:creationId xmlns:a16="http://schemas.microsoft.com/office/drawing/2014/main" id="{530C9B0E-B8CC-7312-6D7A-F2051FD8B778}"/>
              </a:ext>
            </a:extLst>
          </p:cNvPr>
          <p:cNvSpPr>
            <a:spLocks noGrp="1"/>
          </p:cNvSpPr>
          <p:nvPr>
            <p:ph idx="1"/>
          </p:nvPr>
        </p:nvSpPr>
        <p:spPr>
          <a:xfrm>
            <a:off x="533400" y="1905000"/>
            <a:ext cx="8229600" cy="4389120"/>
          </a:xfrm>
        </p:spPr>
        <p:txBody>
          <a:bodyPr/>
          <a:lstStyle/>
          <a:p>
            <a:r>
              <a:rPr lang="en-US" dirty="0"/>
              <a:t>Service Fuzzy Set: Sigmoid [?]</a:t>
            </a:r>
          </a:p>
          <a:p>
            <a:r>
              <a:rPr lang="en-US" dirty="0"/>
              <a:t>Food Fuzzy Set: Trapezoidal[?]</a:t>
            </a:r>
          </a:p>
          <a:p>
            <a:r>
              <a:rPr lang="en-US" dirty="0"/>
              <a:t>Tip Fuzzy Set: Triangular[?]</a:t>
            </a:r>
            <a:endParaRPr lang="en-PK" dirty="0"/>
          </a:p>
          <a:p>
            <a:endParaRPr lang="en-PK" dirty="0"/>
          </a:p>
        </p:txBody>
      </p:sp>
      <p:pic>
        <p:nvPicPr>
          <p:cNvPr id="4" name="Picture 3" descr="Experiment No. (15) Building Fuzzy Inference System (FIS) Using Command  Line Object: The object of this experiment is to illustr">
            <a:extLst>
              <a:ext uri="{FF2B5EF4-FFF2-40B4-BE49-F238E27FC236}">
                <a16:creationId xmlns:a16="http://schemas.microsoft.com/office/drawing/2014/main" id="{6B6A242A-12C2-35C6-098B-E3C3FE465964}"/>
              </a:ext>
            </a:extLst>
          </p:cNvPr>
          <p:cNvPicPr>
            <a:picLocks noChangeAspect="1"/>
          </p:cNvPicPr>
          <p:nvPr/>
        </p:nvPicPr>
        <p:blipFill>
          <a:blip r:embed="rId2"/>
          <a:stretch>
            <a:fillRect/>
          </a:stretch>
        </p:blipFill>
        <p:spPr>
          <a:xfrm>
            <a:off x="5257800" y="881872"/>
            <a:ext cx="3886200" cy="2975372"/>
          </a:xfrm>
          <a:prstGeom prst="rect">
            <a:avLst/>
          </a:prstGeom>
        </p:spPr>
      </p:pic>
      <p:pic>
        <p:nvPicPr>
          <p:cNvPr id="8" name="Picture 7">
            <a:extLst>
              <a:ext uri="{FF2B5EF4-FFF2-40B4-BE49-F238E27FC236}">
                <a16:creationId xmlns:a16="http://schemas.microsoft.com/office/drawing/2014/main" id="{08FB586C-C691-5B9B-82E4-F516C6D13A94}"/>
              </a:ext>
            </a:extLst>
          </p:cNvPr>
          <p:cNvPicPr>
            <a:picLocks noChangeAspect="1"/>
          </p:cNvPicPr>
          <p:nvPr/>
        </p:nvPicPr>
        <p:blipFill>
          <a:blip r:embed="rId3"/>
          <a:stretch>
            <a:fillRect/>
          </a:stretch>
        </p:blipFill>
        <p:spPr>
          <a:xfrm>
            <a:off x="5514975" y="3810000"/>
            <a:ext cx="3371850" cy="2771775"/>
          </a:xfrm>
          <a:prstGeom prst="rect">
            <a:avLst/>
          </a:prstGeom>
        </p:spPr>
      </p:pic>
      <p:pic>
        <p:nvPicPr>
          <p:cNvPr id="10" name="Picture 9">
            <a:extLst>
              <a:ext uri="{FF2B5EF4-FFF2-40B4-BE49-F238E27FC236}">
                <a16:creationId xmlns:a16="http://schemas.microsoft.com/office/drawing/2014/main" id="{8147E424-3C04-D68D-858A-9F82687BA36C}"/>
              </a:ext>
            </a:extLst>
          </p:cNvPr>
          <p:cNvPicPr>
            <a:picLocks noChangeAspect="1"/>
          </p:cNvPicPr>
          <p:nvPr/>
        </p:nvPicPr>
        <p:blipFill>
          <a:blip r:embed="rId4"/>
          <a:stretch>
            <a:fillRect/>
          </a:stretch>
        </p:blipFill>
        <p:spPr>
          <a:xfrm>
            <a:off x="-17929" y="3648075"/>
            <a:ext cx="5334000" cy="3209925"/>
          </a:xfrm>
          <a:prstGeom prst="rect">
            <a:avLst/>
          </a:prstGeom>
        </p:spPr>
      </p:pic>
    </p:spTree>
    <p:extLst>
      <p:ext uri="{BB962C8B-B14F-4D97-AF65-F5344CB8AC3E}">
        <p14:creationId xmlns:p14="http://schemas.microsoft.com/office/powerpoint/2010/main" val="328681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2936-7414-A052-9A74-252DE4E09F2E}"/>
              </a:ext>
            </a:extLst>
          </p:cNvPr>
          <p:cNvSpPr>
            <a:spLocks noGrp="1"/>
          </p:cNvSpPr>
          <p:nvPr>
            <p:ph type="title"/>
          </p:nvPr>
        </p:nvSpPr>
        <p:spPr>
          <a:xfrm>
            <a:off x="457200" y="704088"/>
            <a:ext cx="8229600" cy="591312"/>
          </a:xfrm>
        </p:spPr>
        <p:txBody>
          <a:bodyPr>
            <a:noAutofit/>
          </a:bodyPr>
          <a:lstStyle/>
          <a:p>
            <a:r>
              <a:rPr lang="en-US" sz="3600" dirty="0"/>
              <a:t>2 - Apply Fuzzy Operators in Antecedent</a:t>
            </a:r>
            <a:endParaRPr lang="en-PK" sz="3600" dirty="0"/>
          </a:p>
        </p:txBody>
      </p:sp>
      <p:sp>
        <p:nvSpPr>
          <p:cNvPr id="3" name="Content Placeholder 2">
            <a:extLst>
              <a:ext uri="{FF2B5EF4-FFF2-40B4-BE49-F238E27FC236}">
                <a16:creationId xmlns:a16="http://schemas.microsoft.com/office/drawing/2014/main" id="{6953AF9A-DD9E-38FB-B50B-3AA12F19564D}"/>
              </a:ext>
            </a:extLst>
          </p:cNvPr>
          <p:cNvSpPr>
            <a:spLocks noGrp="1"/>
          </p:cNvSpPr>
          <p:nvPr>
            <p:ph idx="1"/>
          </p:nvPr>
        </p:nvSpPr>
        <p:spPr/>
        <p:txBody>
          <a:bodyPr/>
          <a:lstStyle/>
          <a:p>
            <a:r>
              <a:rPr lang="en-PK" dirty="0"/>
              <a:t>The fuzzy OR operator selects the maximum of the two values, </a:t>
            </a:r>
            <a:r>
              <a:rPr lang="en-US" dirty="0"/>
              <a:t>max(0, </a:t>
            </a:r>
            <a:r>
              <a:rPr lang="en-PK" dirty="0"/>
              <a:t>0.7</a:t>
            </a:r>
            <a:r>
              <a:rPr lang="en-US" dirty="0"/>
              <a:t>) = 0.7</a:t>
            </a:r>
            <a:r>
              <a:rPr lang="en-PK" dirty="0"/>
              <a:t>. </a:t>
            </a:r>
          </a:p>
        </p:txBody>
      </p:sp>
      <p:pic>
        <p:nvPicPr>
          <p:cNvPr id="5" name="Picture 4">
            <a:extLst>
              <a:ext uri="{FF2B5EF4-FFF2-40B4-BE49-F238E27FC236}">
                <a16:creationId xmlns:a16="http://schemas.microsoft.com/office/drawing/2014/main" id="{35BA12FF-42D3-9C63-793F-FBCA88AF42C8}"/>
              </a:ext>
            </a:extLst>
          </p:cNvPr>
          <p:cNvPicPr>
            <a:picLocks noChangeAspect="1"/>
          </p:cNvPicPr>
          <p:nvPr/>
        </p:nvPicPr>
        <p:blipFill>
          <a:blip r:embed="rId2"/>
          <a:stretch>
            <a:fillRect/>
          </a:stretch>
        </p:blipFill>
        <p:spPr>
          <a:xfrm>
            <a:off x="914400" y="2971800"/>
            <a:ext cx="6896100" cy="3000375"/>
          </a:xfrm>
          <a:prstGeom prst="rect">
            <a:avLst/>
          </a:prstGeom>
        </p:spPr>
      </p:pic>
    </p:spTree>
    <p:extLst>
      <p:ext uri="{BB962C8B-B14F-4D97-AF65-F5344CB8AC3E}">
        <p14:creationId xmlns:p14="http://schemas.microsoft.com/office/powerpoint/2010/main" val="1419577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1471-69C5-440F-2B56-F7834704FC00}"/>
              </a:ext>
            </a:extLst>
          </p:cNvPr>
          <p:cNvSpPr>
            <a:spLocks noGrp="1"/>
          </p:cNvSpPr>
          <p:nvPr>
            <p:ph type="title"/>
          </p:nvPr>
        </p:nvSpPr>
        <p:spPr>
          <a:xfrm>
            <a:off x="0" y="704088"/>
            <a:ext cx="9144000" cy="438912"/>
          </a:xfrm>
        </p:spPr>
        <p:txBody>
          <a:bodyPr>
            <a:noAutofit/>
          </a:bodyPr>
          <a:lstStyle/>
          <a:p>
            <a:pPr algn="ctr"/>
            <a:r>
              <a:rPr lang="en-US" sz="3200" dirty="0"/>
              <a:t>3. </a:t>
            </a:r>
            <a:r>
              <a:rPr lang="en-PK" sz="3200" dirty="0"/>
              <a:t>Implication from the antecedent </a:t>
            </a:r>
            <a:br>
              <a:rPr lang="en-US" sz="3200" dirty="0"/>
            </a:br>
            <a:r>
              <a:rPr lang="en-PK" sz="3200" dirty="0"/>
              <a:t>to the consequent</a:t>
            </a:r>
          </a:p>
        </p:txBody>
      </p:sp>
      <p:sp>
        <p:nvSpPr>
          <p:cNvPr id="3" name="Content Placeholder 2">
            <a:extLst>
              <a:ext uri="{FF2B5EF4-FFF2-40B4-BE49-F238E27FC236}">
                <a16:creationId xmlns:a16="http://schemas.microsoft.com/office/drawing/2014/main" id="{6894015F-0050-AFE6-3671-9A31E39EE0E9}"/>
              </a:ext>
            </a:extLst>
          </p:cNvPr>
          <p:cNvSpPr>
            <a:spLocks noGrp="1"/>
          </p:cNvSpPr>
          <p:nvPr>
            <p:ph idx="1"/>
          </p:nvPr>
        </p:nvSpPr>
        <p:spPr>
          <a:xfrm>
            <a:off x="457200" y="1234440"/>
            <a:ext cx="8229600" cy="4389120"/>
          </a:xfrm>
        </p:spPr>
        <p:txBody>
          <a:bodyPr/>
          <a:lstStyle/>
          <a:p>
            <a:r>
              <a:rPr lang="en-PK" dirty="0"/>
              <a:t>If the </a:t>
            </a:r>
            <a:r>
              <a:rPr lang="en-PK" dirty="0">
                <a:solidFill>
                  <a:srgbClr val="FF0000"/>
                </a:solidFill>
              </a:rPr>
              <a:t>service </a:t>
            </a:r>
            <a:r>
              <a:rPr lang="en-PK" dirty="0"/>
              <a:t>is </a:t>
            </a:r>
            <a:r>
              <a:rPr lang="en-PK" dirty="0">
                <a:solidFill>
                  <a:srgbClr val="00B0F0"/>
                </a:solidFill>
              </a:rPr>
              <a:t>excellent </a:t>
            </a:r>
            <a:r>
              <a:rPr lang="en-US" b="1" dirty="0"/>
              <a:t>OR</a:t>
            </a:r>
            <a:r>
              <a:rPr lang="en-PK" dirty="0"/>
              <a:t> the </a:t>
            </a:r>
            <a:r>
              <a:rPr lang="en-PK" dirty="0">
                <a:solidFill>
                  <a:srgbClr val="FF0000"/>
                </a:solidFill>
              </a:rPr>
              <a:t>food </a:t>
            </a:r>
            <a:r>
              <a:rPr lang="en-PK" dirty="0"/>
              <a:t>is </a:t>
            </a:r>
            <a:r>
              <a:rPr lang="en-PK" dirty="0">
                <a:solidFill>
                  <a:srgbClr val="00B0F0"/>
                </a:solidFill>
              </a:rPr>
              <a:t>delicious</a:t>
            </a:r>
            <a:r>
              <a:rPr lang="en-PK" dirty="0"/>
              <a:t>, then </a:t>
            </a:r>
            <a:r>
              <a:rPr lang="en-PK" dirty="0">
                <a:solidFill>
                  <a:srgbClr val="FF0000"/>
                </a:solidFill>
              </a:rPr>
              <a:t>tip </a:t>
            </a:r>
            <a:r>
              <a:rPr lang="en-PK" dirty="0"/>
              <a:t>is </a:t>
            </a:r>
            <a:r>
              <a:rPr lang="en-PK" dirty="0">
                <a:solidFill>
                  <a:srgbClr val="00B0F0"/>
                </a:solidFill>
              </a:rPr>
              <a:t>generous</a:t>
            </a:r>
            <a:endParaRPr lang="en-US" dirty="0">
              <a:solidFill>
                <a:srgbClr val="00B0F0"/>
              </a:solidFill>
            </a:endParaRPr>
          </a:p>
          <a:p>
            <a:endParaRPr lang="en-PK" dirty="0"/>
          </a:p>
        </p:txBody>
      </p:sp>
      <p:pic>
        <p:nvPicPr>
          <p:cNvPr id="10" name="Picture 9">
            <a:extLst>
              <a:ext uri="{FF2B5EF4-FFF2-40B4-BE49-F238E27FC236}">
                <a16:creationId xmlns:a16="http://schemas.microsoft.com/office/drawing/2014/main" id="{957ADCE1-F3BC-B766-FAA0-3DE25D20307C}"/>
              </a:ext>
            </a:extLst>
          </p:cNvPr>
          <p:cNvPicPr>
            <a:picLocks noChangeAspect="1"/>
          </p:cNvPicPr>
          <p:nvPr/>
        </p:nvPicPr>
        <p:blipFill>
          <a:blip r:embed="rId2"/>
          <a:stretch>
            <a:fillRect/>
          </a:stretch>
        </p:blipFill>
        <p:spPr>
          <a:xfrm>
            <a:off x="304800" y="2266950"/>
            <a:ext cx="8626542" cy="4389120"/>
          </a:xfrm>
          <a:prstGeom prst="rect">
            <a:avLst/>
          </a:prstGeom>
        </p:spPr>
      </p:pic>
    </p:spTree>
    <p:extLst>
      <p:ext uri="{BB962C8B-B14F-4D97-AF65-F5344CB8AC3E}">
        <p14:creationId xmlns:p14="http://schemas.microsoft.com/office/powerpoint/2010/main" val="2007615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8229600" cy="819912"/>
          </a:xfrm>
        </p:spPr>
        <p:txBody>
          <a:bodyPr>
            <a:normAutofit/>
          </a:bodyPr>
          <a:lstStyle/>
          <a:p>
            <a:pPr algn="ctr"/>
            <a:r>
              <a:rPr lang="en-US" sz="3600" dirty="0"/>
              <a:t>3– Apply Implication Method</a:t>
            </a:r>
            <a:endParaRPr lang="en-US" sz="4400" dirty="0"/>
          </a:p>
        </p:txBody>
      </p:sp>
      <p:pic>
        <p:nvPicPr>
          <p:cNvPr id="4" name="Picture 3" descr="if-then_rules1_2.gif"/>
          <p:cNvPicPr>
            <a:picLocks noChangeAspect="1"/>
          </p:cNvPicPr>
          <p:nvPr/>
        </p:nvPicPr>
        <p:blipFill>
          <a:blip r:embed="rId2"/>
          <a:stretch>
            <a:fillRect/>
          </a:stretch>
        </p:blipFill>
        <p:spPr>
          <a:xfrm>
            <a:off x="1057275" y="1277112"/>
            <a:ext cx="7029450" cy="55054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20200" cy="609600"/>
          </a:xfrm>
        </p:spPr>
        <p:txBody>
          <a:bodyPr>
            <a:normAutofit/>
          </a:bodyPr>
          <a:lstStyle/>
          <a:p>
            <a:pPr algn="ctr"/>
            <a:r>
              <a:rPr lang="en-US" sz="3600" dirty="0"/>
              <a:t>4-Aggregate All Consequences Outputs</a:t>
            </a:r>
            <a:endParaRPr lang="en-US" dirty="0"/>
          </a:p>
        </p:txBody>
      </p:sp>
      <p:pic>
        <p:nvPicPr>
          <p:cNvPr id="7" name="Picture 6">
            <a:extLst>
              <a:ext uri="{FF2B5EF4-FFF2-40B4-BE49-F238E27FC236}">
                <a16:creationId xmlns:a16="http://schemas.microsoft.com/office/drawing/2014/main" id="{9DFB14AB-CD7C-10D6-77A1-4E20981A7B20}"/>
              </a:ext>
            </a:extLst>
          </p:cNvPr>
          <p:cNvPicPr>
            <a:picLocks noChangeAspect="1"/>
          </p:cNvPicPr>
          <p:nvPr/>
        </p:nvPicPr>
        <p:blipFill>
          <a:blip r:embed="rId2"/>
          <a:stretch>
            <a:fillRect/>
          </a:stretch>
        </p:blipFill>
        <p:spPr>
          <a:xfrm>
            <a:off x="1524000" y="685800"/>
            <a:ext cx="7534275" cy="6257925"/>
          </a:xfrm>
          <a:prstGeom prst="rect">
            <a:avLst/>
          </a:prstGeom>
        </p:spPr>
      </p:pic>
      <p:sp>
        <p:nvSpPr>
          <p:cNvPr id="8" name="Title 1">
            <a:extLst>
              <a:ext uri="{FF2B5EF4-FFF2-40B4-BE49-F238E27FC236}">
                <a16:creationId xmlns:a16="http://schemas.microsoft.com/office/drawing/2014/main" id="{530CB2FC-F2C5-1749-6B65-5775F9B7F2BA}"/>
              </a:ext>
            </a:extLst>
          </p:cNvPr>
          <p:cNvSpPr txBox="1">
            <a:spLocks/>
          </p:cNvSpPr>
          <p:nvPr/>
        </p:nvSpPr>
        <p:spPr>
          <a:xfrm>
            <a:off x="152400" y="6248400"/>
            <a:ext cx="9220200" cy="609600"/>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dirty="0"/>
              <a:t>5-Take Centroid to </a:t>
            </a:r>
            <a:r>
              <a:rPr lang="en-US" sz="3200" dirty="0" err="1"/>
              <a:t>Defuzzify</a:t>
            </a:r>
            <a:endParaRPr lang="en-US" sz="4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458200" cy="838200"/>
          </a:xfrm>
        </p:spPr>
        <p:txBody>
          <a:bodyPr>
            <a:noAutofit/>
          </a:bodyPr>
          <a:lstStyle/>
          <a:p>
            <a:pPr algn="ctr"/>
            <a:r>
              <a:rPr lang="en-US" sz="3200" dirty="0"/>
              <a:t>Fuzzy Logic &amp; Knowledge Representation</a:t>
            </a:r>
          </a:p>
        </p:txBody>
      </p:sp>
      <p:sp>
        <p:nvSpPr>
          <p:cNvPr id="3" name="Content Placeholder 2"/>
          <p:cNvSpPr>
            <a:spLocks noGrp="1"/>
          </p:cNvSpPr>
          <p:nvPr>
            <p:ph idx="1"/>
          </p:nvPr>
        </p:nvSpPr>
        <p:spPr>
          <a:xfrm>
            <a:off x="152400" y="1066800"/>
            <a:ext cx="8763000" cy="5791200"/>
          </a:xfrm>
        </p:spPr>
        <p:txBody>
          <a:bodyPr>
            <a:normAutofit fontScale="92500" lnSpcReduction="20000"/>
          </a:bodyPr>
          <a:lstStyle/>
          <a:p>
            <a:pPr>
              <a:buNone/>
            </a:pPr>
            <a:r>
              <a:rPr lang="en-US" dirty="0"/>
              <a:t>Fuzzy Logic provides a relatively </a:t>
            </a:r>
            <a:r>
              <a:rPr lang="en-US" dirty="0">
                <a:solidFill>
                  <a:srgbClr val="FF0000"/>
                </a:solidFill>
              </a:rPr>
              <a:t>flexible framework for dealing with human knowledge, </a:t>
            </a:r>
          </a:p>
          <a:p>
            <a:pPr>
              <a:buNone/>
            </a:pPr>
            <a:endParaRPr lang="en-US" dirty="0"/>
          </a:p>
          <a:p>
            <a:r>
              <a:rPr lang="en-US" dirty="0"/>
              <a:t>potential to produce models that are more comprehensible, </a:t>
            </a:r>
            <a:r>
              <a:rPr lang="en-US" dirty="0">
                <a:solidFill>
                  <a:srgbClr val="FF0000"/>
                </a:solidFill>
              </a:rPr>
              <a:t>less complex</a:t>
            </a:r>
            <a:r>
              <a:rPr lang="en-US" dirty="0"/>
              <a:t>, and </a:t>
            </a:r>
            <a:r>
              <a:rPr lang="en-US" dirty="0">
                <a:solidFill>
                  <a:srgbClr val="FF0000"/>
                </a:solidFill>
              </a:rPr>
              <a:t>more robust</a:t>
            </a:r>
            <a:r>
              <a:rPr lang="en-US" dirty="0"/>
              <a:t>;</a:t>
            </a:r>
          </a:p>
          <a:p>
            <a:endParaRPr lang="en-US" dirty="0"/>
          </a:p>
          <a:p>
            <a:r>
              <a:rPr lang="en-US" dirty="0"/>
              <a:t>In data mining, fuzzy methods appear to be especially useful for representing </a:t>
            </a:r>
            <a:r>
              <a:rPr lang="en-US" dirty="0">
                <a:solidFill>
                  <a:srgbClr val="FF0000"/>
                </a:solidFill>
              </a:rPr>
              <a:t>vague patterns and rules</a:t>
            </a:r>
            <a:r>
              <a:rPr lang="en-US" dirty="0"/>
              <a:t>,</a:t>
            </a:r>
          </a:p>
          <a:p>
            <a:endParaRPr lang="en-US" dirty="0"/>
          </a:p>
          <a:p>
            <a:r>
              <a:rPr lang="en-US" dirty="0"/>
              <a:t>Fuzzy logic, in conjunction with possibility theory, can contribute to the modeling and processing of various forms of </a:t>
            </a:r>
            <a:r>
              <a:rPr lang="en-US" dirty="0">
                <a:solidFill>
                  <a:srgbClr val="FF0000"/>
                </a:solidFill>
              </a:rPr>
              <a:t>uncertain and incomplete information</a:t>
            </a:r>
            <a:r>
              <a:rPr lang="en-US" dirty="0"/>
              <a:t>.</a:t>
            </a:r>
          </a:p>
          <a:p>
            <a:endParaRPr lang="en-US" dirty="0"/>
          </a:p>
          <a:p>
            <a:r>
              <a:rPr lang="en-US" dirty="0"/>
              <a:t>Fuzzy methods appear to be particularly useful for data </a:t>
            </a:r>
            <a:r>
              <a:rPr lang="en-US" dirty="0">
                <a:solidFill>
                  <a:srgbClr val="FF0000"/>
                </a:solidFill>
              </a:rPr>
              <a:t>pre- and </a:t>
            </a:r>
            <a:r>
              <a:rPr lang="en-US" dirty="0" err="1">
                <a:solidFill>
                  <a:srgbClr val="FF0000"/>
                </a:solidFill>
              </a:rPr>
              <a:t>postprocessing</a:t>
            </a:r>
            <a:r>
              <a:rPr lang="en-US" dirty="0">
                <a:solidFill>
                  <a:srgbClr val="FF0000"/>
                </a:solidFill>
              </a:rPr>
              <a:t>, </a:t>
            </a:r>
            <a:r>
              <a:rPr lang="en-US" dirty="0"/>
              <a:t>in any ML technique.</a:t>
            </a:r>
          </a:p>
          <a:p>
            <a:r>
              <a:rPr lang="en-US" sz="1900" dirty="0"/>
              <a:t>Courtesy: </a:t>
            </a:r>
            <a:r>
              <a:rPr lang="en-US" sz="1900" dirty="0" err="1"/>
              <a:t>Eyke</a:t>
            </a:r>
            <a:r>
              <a:rPr lang="en-US" sz="1900" dirty="0"/>
              <a:t> </a:t>
            </a:r>
            <a:r>
              <a:rPr lang="en-US" sz="1900" dirty="0" err="1"/>
              <a:t>Hullermeier</a:t>
            </a:r>
            <a:r>
              <a:rPr lang="en-US" sz="1900" dirty="0"/>
              <a:t>, Fuzzy Methods in Machine Learning and Data Mining: Status and Prospects. Fuzzy Sets and Systems</a:t>
            </a:r>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43712"/>
          </a:xfrm>
        </p:spPr>
        <p:txBody>
          <a:bodyPr>
            <a:normAutofit/>
          </a:bodyPr>
          <a:lstStyle/>
          <a:p>
            <a:r>
              <a:rPr lang="en-US" sz="3200" dirty="0"/>
              <a:t>Conclusion - Fuzzy Logic in AI</a:t>
            </a:r>
            <a:endParaRPr lang="en-US" sz="4400" dirty="0"/>
          </a:p>
        </p:txBody>
      </p:sp>
      <p:sp>
        <p:nvSpPr>
          <p:cNvPr id="3" name="Content Placeholder 2"/>
          <p:cNvSpPr>
            <a:spLocks noGrp="1"/>
          </p:cNvSpPr>
          <p:nvPr>
            <p:ph idx="1"/>
          </p:nvPr>
        </p:nvSpPr>
        <p:spPr>
          <a:xfrm>
            <a:off x="152400" y="1295400"/>
            <a:ext cx="8839200" cy="5334000"/>
          </a:xfrm>
        </p:spPr>
        <p:txBody>
          <a:bodyPr>
            <a:normAutofit fontScale="92500"/>
          </a:bodyPr>
          <a:lstStyle/>
          <a:p>
            <a:r>
              <a:rPr lang="en-US" dirty="0">
                <a:solidFill>
                  <a:srgbClr val="FF0000"/>
                </a:solidFill>
              </a:rPr>
              <a:t>Humans </a:t>
            </a:r>
            <a:r>
              <a:rPr lang="en-US" dirty="0"/>
              <a:t>perform better when they are able to </a:t>
            </a:r>
            <a:r>
              <a:rPr lang="en-US" dirty="0" err="1"/>
              <a:t>intepret</a:t>
            </a:r>
            <a:r>
              <a:rPr lang="en-US" dirty="0"/>
              <a:t> and gain </a:t>
            </a:r>
            <a:r>
              <a:rPr lang="en-US" dirty="0">
                <a:solidFill>
                  <a:srgbClr val="FF0000"/>
                </a:solidFill>
              </a:rPr>
              <a:t>meaning, understanding and information </a:t>
            </a:r>
            <a:r>
              <a:rPr lang="en-US" dirty="0"/>
              <a:t>from the training data. This is when they can </a:t>
            </a:r>
            <a:r>
              <a:rPr lang="en-US" dirty="0">
                <a:solidFill>
                  <a:srgbClr val="FF0000"/>
                </a:solidFill>
              </a:rPr>
              <a:t>generalize </a:t>
            </a:r>
            <a:r>
              <a:rPr lang="en-US" dirty="0"/>
              <a:t>best and draw the best conclusions. </a:t>
            </a:r>
          </a:p>
          <a:p>
            <a:r>
              <a:rPr lang="en-US" dirty="0"/>
              <a:t>For </a:t>
            </a:r>
            <a:r>
              <a:rPr lang="en-US" dirty="0">
                <a:solidFill>
                  <a:srgbClr val="FF0000"/>
                </a:solidFill>
              </a:rPr>
              <a:t>human interaction, knowledge acquisition </a:t>
            </a:r>
            <a:r>
              <a:rPr lang="en-US" dirty="0"/>
              <a:t>and for </a:t>
            </a:r>
            <a:r>
              <a:rPr lang="en-US" dirty="0" err="1"/>
              <a:t>modelling</a:t>
            </a:r>
            <a:r>
              <a:rPr lang="en-US" dirty="0"/>
              <a:t> the problems with </a:t>
            </a:r>
            <a:r>
              <a:rPr lang="en-US" dirty="0">
                <a:solidFill>
                  <a:srgbClr val="FF0000"/>
                </a:solidFill>
              </a:rPr>
              <a:t>uncertain and vague data </a:t>
            </a:r>
            <a:r>
              <a:rPr lang="en-US" dirty="0"/>
              <a:t>Fuzzy Logic seems better</a:t>
            </a:r>
          </a:p>
          <a:p>
            <a:endParaRPr lang="en-US" dirty="0"/>
          </a:p>
          <a:p>
            <a:r>
              <a:rPr lang="en-US" dirty="0"/>
              <a:t>ML algorithms however have no such requirements and can apply techniques to obtain results approaching the </a:t>
            </a:r>
            <a:r>
              <a:rPr lang="en-US" dirty="0">
                <a:solidFill>
                  <a:srgbClr val="FF0000"/>
                </a:solidFill>
              </a:rPr>
              <a:t>probabilistic optimum </a:t>
            </a:r>
            <a:r>
              <a:rPr lang="en-US" dirty="0"/>
              <a:t>without any need to comprehend anything. </a:t>
            </a:r>
          </a:p>
          <a:p>
            <a:r>
              <a:rPr lang="en-US" dirty="0"/>
              <a:t>In these problems </a:t>
            </a:r>
            <a:r>
              <a:rPr lang="en-US" dirty="0" err="1">
                <a:solidFill>
                  <a:srgbClr val="FF0000"/>
                </a:solidFill>
              </a:rPr>
              <a:t>Fuzzification</a:t>
            </a:r>
            <a:r>
              <a:rPr lang="en-US" dirty="0">
                <a:solidFill>
                  <a:srgbClr val="FF0000"/>
                </a:solidFill>
              </a:rPr>
              <a:t> and </a:t>
            </a:r>
            <a:r>
              <a:rPr lang="en-US" dirty="0" err="1">
                <a:solidFill>
                  <a:srgbClr val="FF0000"/>
                </a:solidFill>
              </a:rPr>
              <a:t>Defuzzification</a:t>
            </a:r>
            <a:r>
              <a:rPr lang="en-US" dirty="0">
                <a:solidFill>
                  <a:srgbClr val="FF0000"/>
                </a:solidFill>
              </a:rPr>
              <a:t> </a:t>
            </a:r>
            <a:r>
              <a:rPr lang="en-US" dirty="0"/>
              <a:t>will be an overhead. </a:t>
            </a:r>
          </a:p>
          <a:p>
            <a:r>
              <a:rPr lang="en-US" dirty="0"/>
              <a:t>There exists</a:t>
            </a:r>
            <a:r>
              <a:rPr lang="en-US" dirty="0">
                <a:solidFill>
                  <a:srgbClr val="FF0000"/>
                </a:solidFill>
              </a:rPr>
              <a:t> hybrid models</a:t>
            </a:r>
            <a:r>
              <a:rPr lang="en-US" dirty="0"/>
              <a:t>, but use of Fuzzy Logic in Machine Learning is </a:t>
            </a:r>
            <a:r>
              <a:rPr lang="en-US" dirty="0">
                <a:solidFill>
                  <a:srgbClr val="FF0000"/>
                </a:solidFill>
              </a:rPr>
              <a:t>less explored </a:t>
            </a:r>
            <a:r>
              <a:rPr lang="en-US" dirty="0"/>
              <a:t>yet.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0" y="304800"/>
            <a:ext cx="3429000" cy="1905000"/>
          </a:xfrm>
        </p:spPr>
        <p:txBody>
          <a:bodyPr>
            <a:normAutofit fontScale="90000"/>
          </a:bodyPr>
          <a:lstStyle/>
          <a:p>
            <a:pPr algn="ctr"/>
            <a:r>
              <a:rPr lang="en-US" dirty="0"/>
              <a:t>Fuzzy Questions? (If Any)</a:t>
            </a:r>
          </a:p>
        </p:txBody>
      </p:sp>
      <p:pic>
        <p:nvPicPr>
          <p:cNvPr id="4" name="Picture 3" descr="fuzzy_set.jpg"/>
          <p:cNvPicPr>
            <a:picLocks noChangeAspect="1"/>
          </p:cNvPicPr>
          <p:nvPr/>
        </p:nvPicPr>
        <p:blipFill>
          <a:blip r:embed="rId2"/>
          <a:stretch>
            <a:fillRect/>
          </a:stretch>
        </p:blipFill>
        <p:spPr>
          <a:xfrm>
            <a:off x="2819400" y="2286000"/>
            <a:ext cx="4686515" cy="37719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754</TotalTime>
  <Words>1996</Words>
  <Application>Microsoft Office PowerPoint</Application>
  <PresentationFormat>On-screen Show (4:3)</PresentationFormat>
  <Paragraphs>179</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Symbol</vt:lpstr>
      <vt:lpstr>Times New Roman</vt:lpstr>
      <vt:lpstr>Wingdings</vt:lpstr>
      <vt:lpstr>Wingdings 2</vt:lpstr>
      <vt:lpstr>Flow</vt:lpstr>
      <vt:lpstr>Fuzzy Systems An Introduction</vt:lpstr>
      <vt:lpstr>Knowledge Representation in Machine Learning</vt:lpstr>
      <vt:lpstr>Limitations of Symbolic AI</vt:lpstr>
      <vt:lpstr>PowerPoint Presentation</vt:lpstr>
      <vt:lpstr>Propositions</vt:lpstr>
      <vt:lpstr>Multi-Valued Logic</vt:lpstr>
      <vt:lpstr>Fuzzy Logic – Formal Definition</vt:lpstr>
      <vt:lpstr>PowerPoint Presentation</vt:lpstr>
      <vt:lpstr>Fuzzy Rules Are Everywhere</vt:lpstr>
      <vt:lpstr>Universe of Discourse</vt:lpstr>
      <vt:lpstr>Crisp Logic</vt:lpstr>
      <vt:lpstr>Fuzzy Logic</vt:lpstr>
      <vt:lpstr>Fuzzy Set – Formal Definition</vt:lpstr>
      <vt:lpstr>Crisp vs Fuzzy Set of Tall</vt:lpstr>
      <vt:lpstr>Fuzzy Set Representation</vt:lpstr>
      <vt:lpstr>Hedges (Adverbs)</vt:lpstr>
      <vt:lpstr>Examples of Hedges 1/3</vt:lpstr>
      <vt:lpstr>Examples of Hedges 2/3</vt:lpstr>
      <vt:lpstr>Examples of Hedges 3/3</vt:lpstr>
      <vt:lpstr>Some Common Hedges</vt:lpstr>
      <vt:lpstr>Fuzzy Set Operations 1/4</vt:lpstr>
      <vt:lpstr>Fuzzy Set Operations 2/4</vt:lpstr>
      <vt:lpstr>Fuzzy Set Operations 3/4</vt:lpstr>
      <vt:lpstr>Fuzzy Set Operations 1/4</vt:lpstr>
      <vt:lpstr>PowerPoint Presentation</vt:lpstr>
      <vt:lpstr>Types  of  Fuzzy  Membership  Functions</vt:lpstr>
      <vt:lpstr>Fuzzy Inferencing Process</vt:lpstr>
      <vt:lpstr>[2]  If Temperature is warm  and Pressure is low  then set Heat to high</vt:lpstr>
      <vt:lpstr>Example – Fuzzy Inference Process</vt:lpstr>
      <vt:lpstr>Example – Fuzzy Inference System</vt:lpstr>
      <vt:lpstr>Steps in Fuzzy Inference Process</vt:lpstr>
      <vt:lpstr>1. Fuzzify Input Variables</vt:lpstr>
      <vt:lpstr>2 - Apply Fuzzy Operators in Antecedent</vt:lpstr>
      <vt:lpstr>3. Implication from the antecedent  to the consequent</vt:lpstr>
      <vt:lpstr>3– Apply Implication Method</vt:lpstr>
      <vt:lpstr>4-Aggregate All Consequences Outputs</vt:lpstr>
      <vt:lpstr>Fuzzy Logic &amp; Knowledge Representation</vt:lpstr>
      <vt:lpstr>Conclusion - Fuzzy Logic in AI</vt:lpstr>
      <vt:lpstr>Fuzzy Questions? (If Any)</vt:lpstr>
    </vt:vector>
  </TitlesOfParts>
  <Company>UET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Logic – An Introduction</dc:title>
  <dc:creator>Talha Waheed</dc:creator>
  <cp:lastModifiedBy>talha waheed</cp:lastModifiedBy>
  <cp:revision>107</cp:revision>
  <dcterms:created xsi:type="dcterms:W3CDTF">2012-02-17T13:16:43Z</dcterms:created>
  <dcterms:modified xsi:type="dcterms:W3CDTF">2026-10-20T00:53:23Z</dcterms:modified>
</cp:coreProperties>
</file>