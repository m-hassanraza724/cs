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0"/>
  </p:notesMasterIdLst>
  <p:sldIdLst>
    <p:sldId id="256" r:id="rId2"/>
    <p:sldId id="275" r:id="rId3"/>
    <p:sldId id="349" r:id="rId4"/>
    <p:sldId id="350" r:id="rId5"/>
    <p:sldId id="286" r:id="rId6"/>
    <p:sldId id="351" r:id="rId7"/>
    <p:sldId id="363" r:id="rId8"/>
    <p:sldId id="3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ADEA6-6786-431C-8B90-455BEBAC6AF7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B34F4-15FC-466D-843D-F8163BC7BD2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135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7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3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1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6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6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948556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7799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965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78410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607495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49701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03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9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8D24A4-5FEC-4062-8995-EB21925B3B40}" type="datetime1">
              <a:rPr lang="en-US" smtClean="0"/>
              <a:t>9/21/2026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10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E2B9DC17-CAE4-4370-823A-96E8CB4B3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2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C7E453BC-8D1C-427C-9F9B-2B4912F7F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Title 1">
            <a:extLst>
              <a:ext uri="{FF2B5EF4-FFF2-40B4-BE49-F238E27FC236}">
                <a16:creationId xmlns:a16="http://schemas.microsoft.com/office/drawing/2014/main" id="{9AB1AB1A-8A90-4741-A4F3-0A9F40F8C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7678" y="2627791"/>
            <a:ext cx="6235148" cy="3592034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effectLst>
                <a:outerShdw blurRad="469900" dist="342900" dir="5400000" sy="-20000" rotWithShape="0">
                  <a:schemeClr val="bg1"/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CCF86-055A-4687-B53C-E38093173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044" y="564704"/>
            <a:ext cx="4941762" cy="2512161"/>
          </a:xfrm>
        </p:spPr>
        <p:txBody>
          <a:bodyPr wrap="square"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Questions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(Artificial) Intelligence</a:t>
            </a:r>
            <a:endParaRPr lang="en-PK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C4252-61B7-4AEA-BED0-DE3DBC006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66" y="4678080"/>
            <a:ext cx="4935124" cy="1188175"/>
          </a:xfrm>
        </p:spPr>
        <p:txBody>
          <a:bodyPr>
            <a:norm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Talha Waheed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UET, Lahore</a:t>
            </a:r>
            <a:endParaRPr 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5" name="Rounded Rectangle 15">
            <a:extLst>
              <a:ext uri="{FF2B5EF4-FFF2-40B4-BE49-F238E27FC236}">
                <a16:creationId xmlns:a16="http://schemas.microsoft.com/office/drawing/2014/main" id="{5E92B561-42DB-47DB-9900-2204C376C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6820" y="484632"/>
            <a:ext cx="2685229" cy="3518880"/>
          </a:xfrm>
          <a:prstGeom prst="roundRect">
            <a:avLst>
              <a:gd name="adj" fmla="val 2028"/>
            </a:avLst>
          </a:prstGeom>
          <a:solidFill>
            <a:schemeClr val="tx1"/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127000" dist="127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ow to Use 'Wh' Question Words? - eAge Tutor">
            <a:extLst>
              <a:ext uri="{FF2B5EF4-FFF2-40B4-BE49-F238E27FC236}">
                <a16:creationId xmlns:a16="http://schemas.microsoft.com/office/drawing/2014/main" id="{7B371B1E-D3C4-AB68-A8E9-A86FD978D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8186" y="1145125"/>
            <a:ext cx="2514517" cy="231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3086">
            <a:extLst>
              <a:ext uri="{FF2B5EF4-FFF2-40B4-BE49-F238E27FC236}">
                <a16:creationId xmlns:a16="http://schemas.microsoft.com/office/drawing/2014/main" id="{A4FA3B15-DA91-4B51-985B-CDD261A26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700" y="484632"/>
            <a:ext cx="2241661" cy="2672306"/>
          </a:xfrm>
          <a:prstGeom prst="rect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CF5CA9C8-5D01-4E32-8297-397A3F7CB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6819" y="4164380"/>
            <a:ext cx="2713700" cy="219197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ounded Rectangle 17">
            <a:extLst>
              <a:ext uri="{FF2B5EF4-FFF2-40B4-BE49-F238E27FC236}">
                <a16:creationId xmlns:a16="http://schemas.microsoft.com/office/drawing/2014/main" id="{44DD171D-321C-4F7E-8111-6CA1F4D72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2913" y="3336324"/>
            <a:ext cx="2244448" cy="3020025"/>
          </a:xfrm>
          <a:prstGeom prst="roundRect">
            <a:avLst>
              <a:gd name="adj" fmla="val 2028"/>
            </a:avLst>
          </a:prstGeom>
          <a:solidFill>
            <a:schemeClr val="tx1"/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127000" dist="127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UET Lahore (@UET_official) / Twitter">
            <a:extLst>
              <a:ext uri="{FF2B5EF4-FFF2-40B4-BE49-F238E27FC236}">
                <a16:creationId xmlns:a16="http://schemas.microsoft.com/office/drawing/2014/main" id="{BB7E797C-38C5-449D-A2E7-41D838202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1497" y="3071907"/>
            <a:ext cx="1228856" cy="122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A107CA-FC96-8485-C6C8-82383372B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3144" y="986547"/>
            <a:ext cx="2103985" cy="1711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02F986-8F5A-7701-4561-4EA2A9901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776" y="4391032"/>
            <a:ext cx="2656837" cy="1722363"/>
          </a:xfrm>
          <a:prstGeom prst="rect">
            <a:avLst/>
          </a:prstGeom>
        </p:spPr>
      </p:pic>
      <p:pic>
        <p:nvPicPr>
          <p:cNvPr id="4" name="Picture 3" descr="Meet Sophia: The first robot declared a citizen by Saudi Arabia  #sophiarobot #sophia #robot #ai #usa">
            <a:extLst>
              <a:ext uri="{FF2B5EF4-FFF2-40B4-BE49-F238E27FC236}">
                <a16:creationId xmlns:a16="http://schemas.microsoft.com/office/drawing/2014/main" id="{9F6C5713-03B0-6101-AD13-2A2A316A64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0816" y="3341687"/>
            <a:ext cx="2008639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6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D04E-3513-4CE1-9103-3DBCE81A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2513"/>
          </a:xfr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GB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Intelligence? What is Artificial Intelligence? </a:t>
            </a:r>
            <a:br>
              <a:rPr lang="en-GB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(and what they are not)?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EA199-8895-454B-9730-4D8B7753C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3" y="1189567"/>
            <a:ext cx="11925204" cy="59264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altLang="ur-PK" sz="2400" b="1" dirty="0">
                <a:solidFill>
                  <a:srgbClr val="FFC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Intelligence – A broad definition</a:t>
            </a:r>
          </a:p>
          <a:p>
            <a:pPr marL="0" indent="0">
              <a:buNone/>
            </a:pP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property of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mind 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involves </a:t>
            </a:r>
            <a:b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abilities, such as: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perceive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 problems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 abstractly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grasp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lang="en-US" sz="2400" b="0" i="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i="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lang="en-GB" altLang="ur-PK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[Marvin Minsky, MIT AI Lab]</a:t>
            </a:r>
          </a:p>
          <a:p>
            <a:pPr marL="0" indent="0" algn="ctr">
              <a:buNone/>
            </a:pPr>
            <a: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“the science of making machines do things that would require intelligence if done by men” </a:t>
            </a:r>
            <a:b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GB" altLang="ur-PK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What Is Artificial Intelligence: Definition &amp; Sub-fields Of AI">
            <a:extLst>
              <a:ext uri="{FF2B5EF4-FFF2-40B4-BE49-F238E27FC236}">
                <a16:creationId xmlns:a16="http://schemas.microsoft.com/office/drawing/2014/main" id="{854AA52A-306F-84AB-AB8D-E37EBA0A8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413" y="1722439"/>
            <a:ext cx="3905221" cy="371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5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EF9E-C86F-4668-BAA0-847B71C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66" y="4510364"/>
            <a:ext cx="10796138" cy="9801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an interesting question that comes to your mind 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human intelligence?</a:t>
            </a:r>
          </a:p>
        </p:txBody>
      </p:sp>
      <p:pic>
        <p:nvPicPr>
          <p:cNvPr id="11" name="Picture 4" descr="Wood human figure">
            <a:extLst>
              <a:ext uri="{FF2B5EF4-FFF2-40B4-BE49-F238E27FC236}">
                <a16:creationId xmlns:a16="http://schemas.microsoft.com/office/drawing/2014/main" id="{54DA6DC8-A851-9DAC-DA7A-81ED4187B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96" b="50691"/>
          <a:stretch/>
        </p:blipFill>
        <p:spPr>
          <a:xfrm>
            <a:off x="0" y="10"/>
            <a:ext cx="12191980" cy="35916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BEBCE1-E24F-4DEB-BEA9-E85DA89D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383" y="1040477"/>
            <a:ext cx="9144000" cy="1641490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9600" spc="-300" dirty="0">
                <a:solidFill>
                  <a:schemeClr val="accent4"/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18746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E396509-1EC0-4C12-9DDC-45A08E06D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7363" y="0"/>
            <a:ext cx="8410575" cy="790575"/>
          </a:xfr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Core Questions About Human Intelligence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AE700D5-2B12-46EB-ADDA-F33039057A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0773" y="966788"/>
            <a:ext cx="12222773" cy="58388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single faculty or a collection of distinct and unrelated abilities? (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vs Multiple Intelligence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intelligence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measurable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Is there a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Intelligence? (IQ, EQ, Machine IQ)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infer it from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observable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 (</a:t>
            </a:r>
            <a:r>
              <a:rPr lang="en-GB" altLang="ur-PK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psychology) or does it require evidence of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(neuroscience)?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what extent is intelligence learned or is it have a priori existence? (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vs. nurture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modern neuroscience techniques, can we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 within the brain?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brain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occurs? (it strengthen neural pathways)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represented in the nerves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human (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neuron vs network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network of networks) ? Is it helpful in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intelligent machines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57BFAD60-6363-471C-89BE-15EA05D4B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47713"/>
            <a:ext cx="12014687" cy="587729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of following concepts with Intelligence? How can they be developed?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Thinking 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and Mind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vs Knowledge 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Creativity (is it a chaotic process?)</a:t>
            </a:r>
            <a:endParaRPr lang="en-GB" alt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Intuition vs self-awareness (consciousness)</a:t>
            </a:r>
            <a:endParaRPr lang="en-GB" alt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AABDF7-5FBF-B00C-F583-5D83F37A2683}"/>
              </a:ext>
            </a:extLst>
          </p:cNvPr>
          <p:cNvSpPr txBox="1">
            <a:spLocks noChangeArrowheads="1"/>
          </p:cNvSpPr>
          <p:nvPr/>
        </p:nvSpPr>
        <p:spPr>
          <a:xfrm>
            <a:off x="2143125" y="4763"/>
            <a:ext cx="8524875" cy="671513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More Questions About Human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158B2-6C52-4810-BC49-2427A5CA7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81013" y="742950"/>
            <a:ext cx="12763501" cy="611505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+mj-lt"/>
              <a:buAutoNum type="arabicParenR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 Consciousness, </a:t>
            </a:r>
            <a:r>
              <a:rPr lang="en-GB" altLang="ur-P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-Temporal Consciousness, Divine Consciousness)</a:t>
            </a:r>
          </a:p>
          <a:p>
            <a:pPr marL="914400" lvl="1" indent="-457200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+mj-lt"/>
              <a:buAutoNum type="arabicParenR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Animals 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 dog self-aware, animal rights)</a:t>
            </a:r>
          </a:p>
          <a:p>
            <a:pPr marL="914400" lvl="1" indent="-457200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+mj-lt"/>
              <a:buAutoNum type="arabicParenR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Plants 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(watch YouTube videos on plant consciousness)</a:t>
            </a:r>
          </a:p>
          <a:p>
            <a:pPr marL="914400" lvl="1" indent="-457200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+mj-lt"/>
              <a:buAutoNum type="arabicParenR"/>
            </a:pP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Minerals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Material (What if </a:t>
            </a:r>
            <a:r>
              <a:rPr lang="en-US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droplets from 2 different sources are combined ?)</a:t>
            </a:r>
            <a:endParaRPr lang="en-GB" alt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</a:t>
            </a: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difference 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consciousness or it is a continuum on </a:t>
            </a:r>
            <a:r>
              <a:rPr lang="en-GB" altLang="ur-P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degree</a:t>
            </a: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GB" altLang="ur-PK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ur-PK" sz="3600" b="1" dirty="0">
                <a:highlight>
                  <a:srgbClr val="0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Machine Consciousness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(Robot vs. chatbot / What should be conscious ? Hardware or Software?)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computer </a:t>
            </a: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knows and feels 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song it is playing? 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Consciousness</a:t>
            </a: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Artificial Emotions/ Sentiment Analysis &amp; Generation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77F4A0-9BFD-EAE1-A2B9-521E653D8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8425" y="0"/>
            <a:ext cx="7153275" cy="671513"/>
          </a:xfr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Consciousness is Theory of Everything?</a:t>
            </a:r>
          </a:p>
        </p:txBody>
      </p:sp>
    </p:spTree>
    <p:extLst>
      <p:ext uri="{BB962C8B-B14F-4D97-AF65-F5344CB8AC3E}">
        <p14:creationId xmlns:p14="http://schemas.microsoft.com/office/powerpoint/2010/main" val="162082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4DC3-AA3E-494F-8CCE-8F86B70ED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123950"/>
            <a:ext cx="11063287" cy="50530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necessary to imitate human intelligence (</a:t>
            </a:r>
            <a:r>
              <a:rPr lang="en-GB" altLang="ur-PK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Intelligence)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b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strict engineering approach is sufficient? (</a:t>
            </a:r>
            <a:r>
              <a:rPr lang="en-GB" altLang="ur-PK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(ever) possible to achieve (human) intelligence on a machine? </a:t>
            </a:r>
            <a:b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up to what extent? (</a:t>
            </a:r>
            <a:r>
              <a:rPr lang="en-GB" altLang="ur-PK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Limits of AI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does an intelligent entity require the richness of sensation and experience that is found in </a:t>
            </a:r>
            <a:r>
              <a:rPr lang="en-GB" altLang="ur-PK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biological/molecular 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systems? (</a:t>
            </a:r>
            <a:r>
              <a:rPr lang="en-GB" altLang="ur-PK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Situatedness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·"/>
            </a:pP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Fault-tolerant systems, self-repairing software depicts about AI (auto-</a:t>
            </a:r>
            <a:r>
              <a:rPr lang="en-GB" altLang="ur-P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updation</a:t>
            </a:r>
            <a:r>
              <a:rPr lang="en-GB" altLang="ur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windows)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3AA3545-C012-0940-ADFE-FF40E68C5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7363" y="0"/>
            <a:ext cx="8410575" cy="790575"/>
          </a:xfr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 eaLnBrk="1" hangingPunct="1"/>
            <a:r>
              <a:rPr lang="en-US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Core Questions About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5683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0" name="Rectangle 13319">
            <a:extLst>
              <a:ext uri="{FF2B5EF4-FFF2-40B4-BE49-F238E27FC236}">
                <a16:creationId xmlns:a16="http://schemas.microsoft.com/office/drawing/2014/main" id="{229B61F6-561C-44B1-809D-51A2F295F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DF5F80E-C7A7-4A3F-810D-8650BCDFFA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6715125" cy="573652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Intelligence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(Broad - Computational Intelligence/Cognitive Sc)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is kind of a lab (medium) for finding answers about (human) intelligence: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(theories tested by computer programs and </a:t>
            </a:r>
            <a:b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through their execution on a machine.)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GB" altLang="ur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 startAt="2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</a:t>
            </a:r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(Narrow - Artificial Intelligence)</a:t>
            </a:r>
          </a:p>
          <a:p>
            <a:pPr marL="0" indent="0" eaLnBrk="1" hangingPunct="1">
              <a:buNone/>
            </a:pPr>
            <a:r>
              <a:rPr lang="en-GB" altLang="ur-PK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of computer science to automate any intelligent behaviour.</a:t>
            </a:r>
          </a:p>
          <a:p>
            <a:pPr eaLnBrk="1" hangingPunct="1">
              <a:buFontTx/>
              <a:buNone/>
            </a:pPr>
            <a:r>
              <a:rPr lang="en-GB" alt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deals with subjects like data structure, algorithms, programming languages, ML/DL</a:t>
            </a:r>
            <a:endParaRPr lang="en-US" altLang="ur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Cognitive Science and User Experience | by Santhosh Gandhi | Bootcamp">
            <a:extLst>
              <a:ext uri="{FF2B5EF4-FFF2-40B4-BE49-F238E27FC236}">
                <a16:creationId xmlns:a16="http://schemas.microsoft.com/office/drawing/2014/main" id="{195E9FC5-8A64-1F39-896A-5C7F94A9B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5" y="989741"/>
            <a:ext cx="5194455" cy="580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A7C8F4E-E463-F0DD-92AD-30DCCE4B0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6425" y="64835"/>
            <a:ext cx="7967663" cy="563815"/>
          </a:xfr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altLang="ur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Puzzle of Intelligence We Need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5735</TotalTime>
  <Words>622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Corbel</vt:lpstr>
      <vt:lpstr>Courier New</vt:lpstr>
      <vt:lpstr>Symbol</vt:lpstr>
      <vt:lpstr>Times New Roman</vt:lpstr>
      <vt:lpstr>Depth</vt:lpstr>
      <vt:lpstr>Core Questions  of  (Artificial) Intelligence</vt:lpstr>
      <vt:lpstr>What is Intelligence? What is Artificial Intelligence?  (and what they are not)?</vt:lpstr>
      <vt:lpstr>Activity</vt:lpstr>
      <vt:lpstr>Few Core Questions About Human Intelligence</vt:lpstr>
      <vt:lpstr>PowerPoint Presentation</vt:lpstr>
      <vt:lpstr>Consciousness is Theory of Everything?</vt:lpstr>
      <vt:lpstr>Few Core Questions About Artificial Intelligence</vt:lpstr>
      <vt:lpstr>To Solve this Puzzle of Intelligence We Need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1-  Soft Computing</dc:title>
  <dc:creator>Talha Waheed</dc:creator>
  <cp:lastModifiedBy>talha waheed</cp:lastModifiedBy>
  <cp:revision>22</cp:revision>
  <dcterms:created xsi:type="dcterms:W3CDTF">2022-01-23T19:06:10Z</dcterms:created>
  <dcterms:modified xsi:type="dcterms:W3CDTF">2026-09-20T21:22:35Z</dcterms:modified>
</cp:coreProperties>
</file>