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7"/>
  </p:notesMasterIdLst>
  <p:sldIdLst>
    <p:sldId id="256" r:id="rId2"/>
    <p:sldId id="277" r:id="rId3"/>
    <p:sldId id="368" r:id="rId4"/>
    <p:sldId id="259" r:id="rId5"/>
    <p:sldId id="263" r:id="rId6"/>
    <p:sldId id="258" r:id="rId7"/>
    <p:sldId id="268" r:id="rId8"/>
    <p:sldId id="269" r:id="rId9"/>
    <p:sldId id="272" r:id="rId10"/>
    <p:sldId id="260" r:id="rId11"/>
    <p:sldId id="264" r:id="rId12"/>
    <p:sldId id="261" r:id="rId13"/>
    <p:sldId id="262" r:id="rId14"/>
    <p:sldId id="267" r:id="rId15"/>
    <p:sldId id="3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03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46DC2F-4614-4360-8DA5-14F5CFF417DB}" type="doc">
      <dgm:prSet loTypeId="urn:microsoft.com/office/officeart/2005/8/layout/matrix3" loCatId="matrix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B0BF0BB-BDEE-4AAD-97BD-8AA6F5E08322}">
      <dgm:prSet/>
      <dgm:spPr/>
      <dgm:t>
        <a:bodyPr/>
        <a:lstStyle/>
        <a:p>
          <a:r>
            <a:rPr lang="en-GB" b="0" i="0" dirty="0"/>
            <a:t>Soft Computing can be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extended </a:t>
          </a:r>
          <a:r>
            <a:rPr lang="en-GB" b="0" i="0" dirty="0"/>
            <a:t>to include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other approaches </a:t>
          </a:r>
          <a:r>
            <a:rPr lang="en-GB" b="0" i="0" dirty="0"/>
            <a:t>like bio-informatics aspects.</a:t>
          </a:r>
          <a:endParaRPr lang="en-US" dirty="0"/>
        </a:p>
      </dgm:t>
    </dgm:pt>
    <dgm:pt modelId="{6E18B9A1-A6FC-4B12-813C-BB62DA11D1B9}" type="parTrans" cxnId="{156E2F95-D52C-425E-9FF3-D03F1DA583BA}">
      <dgm:prSet/>
      <dgm:spPr/>
      <dgm:t>
        <a:bodyPr/>
        <a:lstStyle/>
        <a:p>
          <a:endParaRPr lang="en-US"/>
        </a:p>
      </dgm:t>
    </dgm:pt>
    <dgm:pt modelId="{6DFDFA11-7543-47DD-BE71-EC0B5C8F9AC9}" type="sibTrans" cxnId="{156E2F95-D52C-425E-9FF3-D03F1DA583BA}">
      <dgm:prSet/>
      <dgm:spPr/>
      <dgm:t>
        <a:bodyPr/>
        <a:lstStyle/>
        <a:p>
          <a:endParaRPr lang="en-US"/>
        </a:p>
      </dgm:t>
    </dgm:pt>
    <dgm:pt modelId="{AA9DA326-5523-4D99-BFFD-F72151E07B32}">
      <dgm:prSet/>
      <dgm:spPr/>
      <dgm:t>
        <a:bodyPr/>
        <a:lstStyle/>
        <a:p>
          <a:r>
            <a:rPr lang="en-GB" b="0" i="0" dirty="0"/>
            <a:t>Fuzzy system can be applied to the construction of more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advanced intelligent industrial systems</a:t>
          </a:r>
          <a:r>
            <a:rPr lang="en-GB" b="0" i="0" dirty="0"/>
            <a:t>. </a:t>
          </a:r>
          <a:endParaRPr lang="en-US" dirty="0"/>
        </a:p>
      </dgm:t>
    </dgm:pt>
    <dgm:pt modelId="{6BAB241D-55A9-41D6-B4FB-EBEFBA445AAE}" type="parTrans" cxnId="{B19954C4-7951-4509-8E46-BE72B4F15168}">
      <dgm:prSet/>
      <dgm:spPr/>
      <dgm:t>
        <a:bodyPr/>
        <a:lstStyle/>
        <a:p>
          <a:endParaRPr lang="en-US"/>
        </a:p>
      </dgm:t>
    </dgm:pt>
    <dgm:pt modelId="{CC8705C1-638A-4D8F-AD76-590C36612AAC}" type="sibTrans" cxnId="{B19954C4-7951-4509-8E46-BE72B4F15168}">
      <dgm:prSet/>
      <dgm:spPr/>
      <dgm:t>
        <a:bodyPr/>
        <a:lstStyle/>
        <a:p>
          <a:endParaRPr lang="en-US"/>
        </a:p>
      </dgm:t>
    </dgm:pt>
    <dgm:pt modelId="{7F3F10CE-2FB9-4D27-94D8-609E4CECD3D1}">
      <dgm:prSet/>
      <dgm:spPr/>
      <dgm:t>
        <a:bodyPr/>
        <a:lstStyle/>
        <a:p>
          <a:r>
            <a:rPr lang="en-GB" b="0" i="0" dirty="0"/>
            <a:t>Soft computing is very effective when it’s applied to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real world </a:t>
          </a:r>
          <a:r>
            <a:rPr lang="en-GB" b="0" i="0" dirty="0"/>
            <a:t>problems that are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not able to solved </a:t>
          </a:r>
          <a:r>
            <a:rPr lang="en-GB" b="0" i="0" dirty="0"/>
            <a:t>by traditional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hard computing</a:t>
          </a:r>
          <a:r>
            <a:rPr lang="en-GB" b="0" i="0" dirty="0"/>
            <a:t>. </a:t>
          </a:r>
          <a:endParaRPr lang="en-US" dirty="0"/>
        </a:p>
      </dgm:t>
    </dgm:pt>
    <dgm:pt modelId="{C22028FC-5833-4CB8-9824-5CD6805051F0}" type="parTrans" cxnId="{2ECBB578-3807-45F9-A09F-91CFF478D5B3}">
      <dgm:prSet/>
      <dgm:spPr/>
      <dgm:t>
        <a:bodyPr/>
        <a:lstStyle/>
        <a:p>
          <a:endParaRPr lang="en-US"/>
        </a:p>
      </dgm:t>
    </dgm:pt>
    <dgm:pt modelId="{AE8FB9DF-C756-4DF2-A369-88C7A29E1C45}" type="sibTrans" cxnId="{2ECBB578-3807-45F9-A09F-91CFF478D5B3}">
      <dgm:prSet/>
      <dgm:spPr/>
      <dgm:t>
        <a:bodyPr/>
        <a:lstStyle/>
        <a:p>
          <a:endParaRPr lang="en-US"/>
        </a:p>
      </dgm:t>
    </dgm:pt>
    <dgm:pt modelId="{63BB1233-0987-4A81-944E-B2FB4221020E}">
      <dgm:prSet/>
      <dgm:spPr/>
      <dgm:t>
        <a:bodyPr/>
        <a:lstStyle/>
        <a:p>
          <a:r>
            <a:rPr lang="en-GB" b="0" i="0" dirty="0"/>
            <a:t>Soft computing enables industrial to be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innovative </a:t>
          </a:r>
          <a:r>
            <a:rPr lang="en-GB" b="0" i="0" dirty="0"/>
            <a:t>due to the characteristics of soft computing: </a:t>
          </a:r>
          <a:r>
            <a:rPr lang="en-GB" b="0" i="0" dirty="0">
              <a:solidFill>
                <a:schemeClr val="bg2">
                  <a:lumMod val="50000"/>
                </a:schemeClr>
              </a:solidFill>
            </a:rPr>
            <a:t>tractability, low cost and high machine intelligent quotient</a:t>
          </a:r>
          <a:r>
            <a:rPr lang="en-GB" b="0" i="0" dirty="0"/>
            <a:t>.</a:t>
          </a:r>
          <a:endParaRPr lang="en-US" dirty="0"/>
        </a:p>
      </dgm:t>
    </dgm:pt>
    <dgm:pt modelId="{E183BFE4-EDDE-4CC3-823B-67F450377517}" type="parTrans" cxnId="{9AB24160-DD14-4AD2-821E-7C2B6AF2C70B}">
      <dgm:prSet/>
      <dgm:spPr/>
      <dgm:t>
        <a:bodyPr/>
        <a:lstStyle/>
        <a:p>
          <a:endParaRPr lang="en-US"/>
        </a:p>
      </dgm:t>
    </dgm:pt>
    <dgm:pt modelId="{A974D681-9867-4560-801A-06FBC2CA4CE9}" type="sibTrans" cxnId="{9AB24160-DD14-4AD2-821E-7C2B6AF2C70B}">
      <dgm:prSet/>
      <dgm:spPr/>
      <dgm:t>
        <a:bodyPr/>
        <a:lstStyle/>
        <a:p>
          <a:endParaRPr lang="en-US"/>
        </a:p>
      </dgm:t>
    </dgm:pt>
    <dgm:pt modelId="{522B05EB-A2B5-4B56-8E68-6DD0868D6A02}" type="pres">
      <dgm:prSet presAssocID="{6046DC2F-4614-4360-8DA5-14F5CFF417DB}" presName="matrix" presStyleCnt="0">
        <dgm:presLayoutVars>
          <dgm:chMax val="1"/>
          <dgm:dir/>
          <dgm:resizeHandles val="exact"/>
        </dgm:presLayoutVars>
      </dgm:prSet>
      <dgm:spPr/>
    </dgm:pt>
    <dgm:pt modelId="{93D84C42-5A0F-4ECE-BC0B-0B226D33AC31}" type="pres">
      <dgm:prSet presAssocID="{6046DC2F-4614-4360-8DA5-14F5CFF417DB}" presName="diamond" presStyleLbl="bgShp" presStyleIdx="0" presStyleCnt="1"/>
      <dgm:spPr/>
    </dgm:pt>
    <dgm:pt modelId="{F78D4F91-0BA7-4F0F-8F18-56B93F343F1A}" type="pres">
      <dgm:prSet presAssocID="{6046DC2F-4614-4360-8DA5-14F5CFF417D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5DB5D4-A1B7-4FD0-A5BA-1D4A5C0A0FA3}" type="pres">
      <dgm:prSet presAssocID="{6046DC2F-4614-4360-8DA5-14F5CFF417D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124D3C7-3D10-48B9-BACD-8EC4CDE62936}" type="pres">
      <dgm:prSet presAssocID="{6046DC2F-4614-4360-8DA5-14F5CFF417D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F1E87F8-DE9C-4E3E-BA33-E11056B7CA5B}" type="pres">
      <dgm:prSet presAssocID="{6046DC2F-4614-4360-8DA5-14F5CFF417D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2D6219-550F-432B-8205-F7BE86E8A9D1}" type="presOf" srcId="{6046DC2F-4614-4360-8DA5-14F5CFF417DB}" destId="{522B05EB-A2B5-4B56-8E68-6DD0868D6A02}" srcOrd="0" destOrd="0" presId="urn:microsoft.com/office/officeart/2005/8/layout/matrix3"/>
    <dgm:cxn modelId="{4B9C8321-FC7B-49E2-9596-C45E8A348338}" type="presOf" srcId="{63BB1233-0987-4A81-944E-B2FB4221020E}" destId="{7F1E87F8-DE9C-4E3E-BA33-E11056B7CA5B}" srcOrd="0" destOrd="0" presId="urn:microsoft.com/office/officeart/2005/8/layout/matrix3"/>
    <dgm:cxn modelId="{9AB24160-DD14-4AD2-821E-7C2B6AF2C70B}" srcId="{6046DC2F-4614-4360-8DA5-14F5CFF417DB}" destId="{63BB1233-0987-4A81-944E-B2FB4221020E}" srcOrd="3" destOrd="0" parTransId="{E183BFE4-EDDE-4CC3-823B-67F450377517}" sibTransId="{A974D681-9867-4560-801A-06FBC2CA4CE9}"/>
    <dgm:cxn modelId="{2ECBB578-3807-45F9-A09F-91CFF478D5B3}" srcId="{6046DC2F-4614-4360-8DA5-14F5CFF417DB}" destId="{7F3F10CE-2FB9-4D27-94D8-609E4CECD3D1}" srcOrd="2" destOrd="0" parTransId="{C22028FC-5833-4CB8-9824-5CD6805051F0}" sibTransId="{AE8FB9DF-C756-4DF2-A369-88C7A29E1C45}"/>
    <dgm:cxn modelId="{156E2F95-D52C-425E-9FF3-D03F1DA583BA}" srcId="{6046DC2F-4614-4360-8DA5-14F5CFF417DB}" destId="{AB0BF0BB-BDEE-4AAD-97BD-8AA6F5E08322}" srcOrd="0" destOrd="0" parTransId="{6E18B9A1-A6FC-4B12-813C-BB62DA11D1B9}" sibTransId="{6DFDFA11-7543-47DD-BE71-EC0B5C8F9AC9}"/>
    <dgm:cxn modelId="{F895A59D-3B9B-45EA-8439-4C2DC6A1584A}" type="presOf" srcId="{AB0BF0BB-BDEE-4AAD-97BD-8AA6F5E08322}" destId="{F78D4F91-0BA7-4F0F-8F18-56B93F343F1A}" srcOrd="0" destOrd="0" presId="urn:microsoft.com/office/officeart/2005/8/layout/matrix3"/>
    <dgm:cxn modelId="{B19954C4-7951-4509-8E46-BE72B4F15168}" srcId="{6046DC2F-4614-4360-8DA5-14F5CFF417DB}" destId="{AA9DA326-5523-4D99-BFFD-F72151E07B32}" srcOrd="1" destOrd="0" parTransId="{6BAB241D-55A9-41D6-B4FB-EBEFBA445AAE}" sibTransId="{CC8705C1-638A-4D8F-AD76-590C36612AAC}"/>
    <dgm:cxn modelId="{47EF31E7-3E3C-4456-B5E1-678D9151A32F}" type="presOf" srcId="{7F3F10CE-2FB9-4D27-94D8-609E4CECD3D1}" destId="{2124D3C7-3D10-48B9-BACD-8EC4CDE62936}" srcOrd="0" destOrd="0" presId="urn:microsoft.com/office/officeart/2005/8/layout/matrix3"/>
    <dgm:cxn modelId="{4ABC9EEB-C792-4E83-9E28-4B4F417BC193}" type="presOf" srcId="{AA9DA326-5523-4D99-BFFD-F72151E07B32}" destId="{445DB5D4-A1B7-4FD0-A5BA-1D4A5C0A0FA3}" srcOrd="0" destOrd="0" presId="urn:microsoft.com/office/officeart/2005/8/layout/matrix3"/>
    <dgm:cxn modelId="{8B6E8F25-B046-49B8-A6A6-B51A3328FD5D}" type="presParOf" srcId="{522B05EB-A2B5-4B56-8E68-6DD0868D6A02}" destId="{93D84C42-5A0F-4ECE-BC0B-0B226D33AC31}" srcOrd="0" destOrd="0" presId="urn:microsoft.com/office/officeart/2005/8/layout/matrix3"/>
    <dgm:cxn modelId="{56049F1C-76B5-4F8F-B9CF-A306AC3FC71B}" type="presParOf" srcId="{522B05EB-A2B5-4B56-8E68-6DD0868D6A02}" destId="{F78D4F91-0BA7-4F0F-8F18-56B93F343F1A}" srcOrd="1" destOrd="0" presId="urn:microsoft.com/office/officeart/2005/8/layout/matrix3"/>
    <dgm:cxn modelId="{134C9E9F-75EB-467D-B7B2-2D7BC6C8B074}" type="presParOf" srcId="{522B05EB-A2B5-4B56-8E68-6DD0868D6A02}" destId="{445DB5D4-A1B7-4FD0-A5BA-1D4A5C0A0FA3}" srcOrd="2" destOrd="0" presId="urn:microsoft.com/office/officeart/2005/8/layout/matrix3"/>
    <dgm:cxn modelId="{12FA9F97-1CFD-4CF8-8650-91C206DA5949}" type="presParOf" srcId="{522B05EB-A2B5-4B56-8E68-6DD0868D6A02}" destId="{2124D3C7-3D10-48B9-BACD-8EC4CDE62936}" srcOrd="3" destOrd="0" presId="urn:microsoft.com/office/officeart/2005/8/layout/matrix3"/>
    <dgm:cxn modelId="{520F0047-73A9-4088-89F5-FA7EAB1A7B9B}" type="presParOf" srcId="{522B05EB-A2B5-4B56-8E68-6DD0868D6A02}" destId="{7F1E87F8-DE9C-4E3E-BA33-E11056B7CA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DA2420-8DFC-4278-8D09-673972BC77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399B10-B433-4AF3-AE35-7C7B2B00C370}">
      <dgm:prSet/>
      <dgm:spPr/>
      <dgm:t>
        <a:bodyPr/>
        <a:lstStyle/>
        <a:p>
          <a:r>
            <a:rPr lang="en-GB" b="1" i="0" dirty="0"/>
            <a:t>Approximation</a:t>
          </a:r>
          <a:r>
            <a:rPr lang="en-GB" b="0" i="0" dirty="0"/>
            <a:t>: the model features are </a:t>
          </a:r>
          <a:r>
            <a:rPr lang="en-GB" b="0" i="0" dirty="0">
              <a:solidFill>
                <a:srgbClr val="FFC000"/>
              </a:solidFill>
            </a:rPr>
            <a:t>similar </a:t>
          </a:r>
          <a:r>
            <a:rPr lang="en-GB" b="0" i="0" dirty="0"/>
            <a:t>to the real ones, </a:t>
          </a:r>
          <a:r>
            <a:rPr lang="en-GB" b="0" i="0" dirty="0">
              <a:solidFill>
                <a:srgbClr val="FFC000"/>
              </a:solidFill>
            </a:rPr>
            <a:t>but not the same</a:t>
          </a:r>
          <a:r>
            <a:rPr lang="en-GB" b="0" i="0" dirty="0"/>
            <a:t>.</a:t>
          </a:r>
          <a:endParaRPr lang="en-US" dirty="0"/>
        </a:p>
      </dgm:t>
    </dgm:pt>
    <dgm:pt modelId="{C864EA27-C2F2-4C8F-9D3D-75A551A62843}" type="parTrans" cxnId="{2F4B8611-F5F2-4889-B329-7FF7D09B4C03}">
      <dgm:prSet/>
      <dgm:spPr/>
      <dgm:t>
        <a:bodyPr/>
        <a:lstStyle/>
        <a:p>
          <a:endParaRPr lang="en-US"/>
        </a:p>
      </dgm:t>
    </dgm:pt>
    <dgm:pt modelId="{153CF19B-03A2-4FC5-8D6F-26F90C140A91}" type="sibTrans" cxnId="{2F4B8611-F5F2-4889-B329-7FF7D09B4C03}">
      <dgm:prSet/>
      <dgm:spPr/>
      <dgm:t>
        <a:bodyPr/>
        <a:lstStyle/>
        <a:p>
          <a:endParaRPr lang="en-US"/>
        </a:p>
      </dgm:t>
    </dgm:pt>
    <dgm:pt modelId="{DB9E46D0-B353-4B01-9B5C-8A942C2BA592}">
      <dgm:prSet/>
      <dgm:spPr/>
      <dgm:t>
        <a:bodyPr/>
        <a:lstStyle/>
        <a:p>
          <a:r>
            <a:rPr lang="en-GB" b="1" i="0" dirty="0"/>
            <a:t>Uncertainty</a:t>
          </a:r>
          <a:r>
            <a:rPr lang="en-GB" b="0" i="0" dirty="0"/>
            <a:t>: </a:t>
          </a:r>
          <a:r>
            <a:rPr lang="en-GB" b="0" i="0" dirty="0">
              <a:solidFill>
                <a:srgbClr val="FFC000"/>
              </a:solidFill>
            </a:rPr>
            <a:t>not sure </a:t>
          </a:r>
          <a:r>
            <a:rPr lang="en-GB" b="0" i="0" dirty="0"/>
            <a:t>that features of the model are the </a:t>
          </a:r>
          <a:r>
            <a:rPr lang="en-GB" b="0" i="0" dirty="0">
              <a:solidFill>
                <a:srgbClr val="FFC000"/>
              </a:solidFill>
            </a:rPr>
            <a:t>same as that of the entity </a:t>
          </a:r>
          <a:r>
            <a:rPr lang="en-GB" b="0" i="0" dirty="0"/>
            <a:t>(belief). </a:t>
          </a:r>
          <a:endParaRPr lang="en-US" dirty="0"/>
        </a:p>
      </dgm:t>
    </dgm:pt>
    <dgm:pt modelId="{D2C624BF-F6AD-46B8-BB78-D6367D1AF63A}" type="parTrans" cxnId="{4A91E6D1-1109-4234-A33C-0B2F5F708E3B}">
      <dgm:prSet/>
      <dgm:spPr/>
      <dgm:t>
        <a:bodyPr/>
        <a:lstStyle/>
        <a:p>
          <a:endParaRPr lang="en-US"/>
        </a:p>
      </dgm:t>
    </dgm:pt>
    <dgm:pt modelId="{DCE20E52-7900-4056-8EE8-AA24069BC3EC}" type="sibTrans" cxnId="{4A91E6D1-1109-4234-A33C-0B2F5F708E3B}">
      <dgm:prSet/>
      <dgm:spPr/>
      <dgm:t>
        <a:bodyPr/>
        <a:lstStyle/>
        <a:p>
          <a:endParaRPr lang="en-US"/>
        </a:p>
      </dgm:t>
    </dgm:pt>
    <dgm:pt modelId="{E4B4A732-892C-4DC5-A4CD-080809950FC8}">
      <dgm:prSet/>
      <dgm:spPr/>
      <dgm:t>
        <a:bodyPr/>
        <a:lstStyle/>
        <a:p>
          <a:r>
            <a:rPr lang="en-GB" b="1" i="0" dirty="0"/>
            <a:t>Imprecision</a:t>
          </a:r>
          <a:r>
            <a:rPr lang="en-GB" b="0" i="0" dirty="0"/>
            <a:t>: the model features (quantities) are not same as that of the real ones, but </a:t>
          </a:r>
          <a:r>
            <a:rPr lang="en-GB" b="0" i="0" dirty="0">
              <a:solidFill>
                <a:srgbClr val="FFC000"/>
              </a:solidFill>
            </a:rPr>
            <a:t>close to them</a:t>
          </a:r>
          <a:r>
            <a:rPr lang="en-GB" b="0" i="0" dirty="0"/>
            <a:t>. </a:t>
          </a:r>
          <a:endParaRPr lang="en-US" dirty="0"/>
        </a:p>
      </dgm:t>
    </dgm:pt>
    <dgm:pt modelId="{11FCCFA6-20D1-4E52-AD95-94421FE169EF}" type="parTrans" cxnId="{186D5A80-4ADC-4ACC-920C-558C20219A00}">
      <dgm:prSet/>
      <dgm:spPr/>
      <dgm:t>
        <a:bodyPr/>
        <a:lstStyle/>
        <a:p>
          <a:endParaRPr lang="en-US"/>
        </a:p>
      </dgm:t>
    </dgm:pt>
    <dgm:pt modelId="{3B4BA48B-1A71-4432-B3F2-44755BC81660}" type="sibTrans" cxnId="{186D5A80-4ADC-4ACC-920C-558C20219A00}">
      <dgm:prSet/>
      <dgm:spPr/>
      <dgm:t>
        <a:bodyPr/>
        <a:lstStyle/>
        <a:p>
          <a:endParaRPr lang="en-US"/>
        </a:p>
      </dgm:t>
    </dgm:pt>
    <dgm:pt modelId="{D39AA4DF-2BBB-4C32-B507-38AF0B35B303}">
      <dgm:prSet/>
      <dgm:spPr/>
      <dgm:t>
        <a:bodyPr/>
        <a:lstStyle/>
        <a:p>
          <a:r>
            <a:rPr lang="en-GB" b="0" i="0" dirty="0"/>
            <a:t>The guiding </a:t>
          </a:r>
          <a:r>
            <a:rPr lang="en-GB" b="0" i="0" dirty="0">
              <a:solidFill>
                <a:srgbClr val="FFC000"/>
              </a:solidFill>
            </a:rPr>
            <a:t>principle</a:t>
          </a:r>
          <a:r>
            <a:rPr lang="en-GB" b="0" i="0" dirty="0"/>
            <a:t> of soft computing is to exploit these tolerance to achieve </a:t>
          </a:r>
          <a:r>
            <a:rPr lang="en-GB" b="0" i="0" dirty="0">
              <a:solidFill>
                <a:srgbClr val="FFC000"/>
              </a:solidFill>
            </a:rPr>
            <a:t>tractability, robustness and low solution cost</a:t>
          </a:r>
          <a:r>
            <a:rPr lang="en-GB" b="0" i="0" dirty="0"/>
            <a:t>. </a:t>
          </a:r>
          <a:endParaRPr lang="en-US" dirty="0"/>
        </a:p>
      </dgm:t>
    </dgm:pt>
    <dgm:pt modelId="{9675FBF6-8FF4-435F-8893-8EAA79B8E2AC}" type="parTrans" cxnId="{FD088490-3053-47DC-AAF1-2BE3CA3E3764}">
      <dgm:prSet/>
      <dgm:spPr/>
      <dgm:t>
        <a:bodyPr/>
        <a:lstStyle/>
        <a:p>
          <a:endParaRPr lang="en-US"/>
        </a:p>
      </dgm:t>
    </dgm:pt>
    <dgm:pt modelId="{63E9D188-0EF7-40A1-95A9-B996E88EC347}" type="sibTrans" cxnId="{FD088490-3053-47DC-AAF1-2BE3CA3E3764}">
      <dgm:prSet/>
      <dgm:spPr/>
      <dgm:t>
        <a:bodyPr/>
        <a:lstStyle/>
        <a:p>
          <a:endParaRPr lang="en-US"/>
        </a:p>
      </dgm:t>
    </dgm:pt>
    <dgm:pt modelId="{91BE40F3-783D-4FE5-A406-2B05AD1E3EE3}">
      <dgm:prSet/>
      <dgm:spPr/>
      <dgm:t>
        <a:bodyPr/>
        <a:lstStyle/>
        <a:p>
          <a:r>
            <a:rPr lang="en-GB" b="0" i="0" dirty="0"/>
            <a:t>The </a:t>
          </a:r>
          <a:r>
            <a:rPr lang="en-GB" b="0" i="0" dirty="0">
              <a:solidFill>
                <a:srgbClr val="FFC000"/>
              </a:solidFill>
            </a:rPr>
            <a:t>role model </a:t>
          </a:r>
          <a:r>
            <a:rPr lang="en-GB" b="0" i="0" dirty="0"/>
            <a:t>for soft computing is the </a:t>
          </a:r>
          <a:r>
            <a:rPr lang="en-GB" b="0" i="0" dirty="0">
              <a:solidFill>
                <a:srgbClr val="FFC000"/>
              </a:solidFill>
            </a:rPr>
            <a:t>humans</a:t>
          </a:r>
          <a:r>
            <a:rPr lang="en-GB" b="0" i="0" dirty="0"/>
            <a:t>.</a:t>
          </a:r>
          <a:endParaRPr lang="en-US" dirty="0"/>
        </a:p>
      </dgm:t>
    </dgm:pt>
    <dgm:pt modelId="{207306BC-00FB-4570-BEE1-CC23ABA9E079}" type="parTrans" cxnId="{E9937187-9337-42AC-B78C-66BB2C2DBA93}">
      <dgm:prSet/>
      <dgm:spPr/>
      <dgm:t>
        <a:bodyPr/>
        <a:lstStyle/>
        <a:p>
          <a:endParaRPr lang="en-US"/>
        </a:p>
      </dgm:t>
    </dgm:pt>
    <dgm:pt modelId="{B0CFF38B-F69F-4FCC-8C7E-B2066EAB3151}" type="sibTrans" cxnId="{E9937187-9337-42AC-B78C-66BB2C2DBA93}">
      <dgm:prSet/>
      <dgm:spPr/>
      <dgm:t>
        <a:bodyPr/>
        <a:lstStyle/>
        <a:p>
          <a:endParaRPr lang="en-US"/>
        </a:p>
      </dgm:t>
    </dgm:pt>
    <dgm:pt modelId="{B0A8FC64-C806-4F83-9206-A44BC9C9881A}" type="pres">
      <dgm:prSet presAssocID="{2DDA2420-8DFC-4278-8D09-673972BC7794}" presName="root" presStyleCnt="0">
        <dgm:presLayoutVars>
          <dgm:dir/>
          <dgm:resizeHandles val="exact"/>
        </dgm:presLayoutVars>
      </dgm:prSet>
      <dgm:spPr/>
    </dgm:pt>
    <dgm:pt modelId="{8B808AE6-7C03-411C-AE3A-B9E2975F9BA8}" type="pres">
      <dgm:prSet presAssocID="{83399B10-B433-4AF3-AE35-7C7B2B00C370}" presName="compNode" presStyleCnt="0"/>
      <dgm:spPr/>
    </dgm:pt>
    <dgm:pt modelId="{4AD3770D-0057-4E5B-AF28-32DB0C83B349}" type="pres">
      <dgm:prSet presAssocID="{83399B10-B433-4AF3-AE35-7C7B2B00C370}" presName="bgRect" presStyleLbl="bgShp" presStyleIdx="0" presStyleCnt="5"/>
      <dgm:spPr/>
    </dgm:pt>
    <dgm:pt modelId="{2A2E23FB-AECA-4920-97BE-F6D6947431A3}" type="pres">
      <dgm:prSet presAssocID="{83399B10-B433-4AF3-AE35-7C7B2B00C37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72CCFE6-97B8-44D6-A7B9-F00B95CA2DC0}" type="pres">
      <dgm:prSet presAssocID="{83399B10-B433-4AF3-AE35-7C7B2B00C370}" presName="spaceRect" presStyleCnt="0"/>
      <dgm:spPr/>
    </dgm:pt>
    <dgm:pt modelId="{0ED2096F-B0C4-457A-B89B-27B90F0DDDA4}" type="pres">
      <dgm:prSet presAssocID="{83399B10-B433-4AF3-AE35-7C7B2B00C370}" presName="parTx" presStyleLbl="revTx" presStyleIdx="0" presStyleCnt="5">
        <dgm:presLayoutVars>
          <dgm:chMax val="0"/>
          <dgm:chPref val="0"/>
        </dgm:presLayoutVars>
      </dgm:prSet>
      <dgm:spPr/>
    </dgm:pt>
    <dgm:pt modelId="{488427D3-C1A1-4B6F-8933-911D02F3AD6D}" type="pres">
      <dgm:prSet presAssocID="{153CF19B-03A2-4FC5-8D6F-26F90C140A91}" presName="sibTrans" presStyleCnt="0"/>
      <dgm:spPr/>
    </dgm:pt>
    <dgm:pt modelId="{CF8C9296-9639-4576-BC86-04B9162D2A43}" type="pres">
      <dgm:prSet presAssocID="{DB9E46D0-B353-4B01-9B5C-8A942C2BA592}" presName="compNode" presStyleCnt="0"/>
      <dgm:spPr/>
    </dgm:pt>
    <dgm:pt modelId="{EDBA62D7-E4E6-4EFC-9434-E5FFDF5CCE0E}" type="pres">
      <dgm:prSet presAssocID="{DB9E46D0-B353-4B01-9B5C-8A942C2BA592}" presName="bgRect" presStyleLbl="bgShp" presStyleIdx="1" presStyleCnt="5"/>
      <dgm:spPr/>
    </dgm:pt>
    <dgm:pt modelId="{97C2EBD7-AC79-4676-8D92-A242BA925F4D}" type="pres">
      <dgm:prSet presAssocID="{DB9E46D0-B353-4B01-9B5C-8A942C2BA59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0AA437B-385A-4975-B05F-D23A72ACF16F}" type="pres">
      <dgm:prSet presAssocID="{DB9E46D0-B353-4B01-9B5C-8A942C2BA592}" presName="spaceRect" presStyleCnt="0"/>
      <dgm:spPr/>
    </dgm:pt>
    <dgm:pt modelId="{983D1776-78DF-48C0-B961-4D3185010ECF}" type="pres">
      <dgm:prSet presAssocID="{DB9E46D0-B353-4B01-9B5C-8A942C2BA592}" presName="parTx" presStyleLbl="revTx" presStyleIdx="1" presStyleCnt="5">
        <dgm:presLayoutVars>
          <dgm:chMax val="0"/>
          <dgm:chPref val="0"/>
        </dgm:presLayoutVars>
      </dgm:prSet>
      <dgm:spPr/>
    </dgm:pt>
    <dgm:pt modelId="{D51DB781-3306-4D3B-91FC-D89CCB1DEEFE}" type="pres">
      <dgm:prSet presAssocID="{DCE20E52-7900-4056-8EE8-AA24069BC3EC}" presName="sibTrans" presStyleCnt="0"/>
      <dgm:spPr/>
    </dgm:pt>
    <dgm:pt modelId="{148FFC94-2DE0-40D5-9299-14B805056BB4}" type="pres">
      <dgm:prSet presAssocID="{E4B4A732-892C-4DC5-A4CD-080809950FC8}" presName="compNode" presStyleCnt="0"/>
      <dgm:spPr/>
    </dgm:pt>
    <dgm:pt modelId="{6EB3FE7C-100B-42DB-848C-F96B7D8A0EFF}" type="pres">
      <dgm:prSet presAssocID="{E4B4A732-892C-4DC5-A4CD-080809950FC8}" presName="bgRect" presStyleLbl="bgShp" presStyleIdx="2" presStyleCnt="5"/>
      <dgm:spPr/>
    </dgm:pt>
    <dgm:pt modelId="{63336794-7A00-4F66-85FE-0BE125BAD01F}" type="pres">
      <dgm:prSet presAssocID="{E4B4A732-892C-4DC5-A4CD-080809950FC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8CF9CB4-172A-4B35-B026-2F98C75002F1}" type="pres">
      <dgm:prSet presAssocID="{E4B4A732-892C-4DC5-A4CD-080809950FC8}" presName="spaceRect" presStyleCnt="0"/>
      <dgm:spPr/>
    </dgm:pt>
    <dgm:pt modelId="{286D4412-9D0D-4483-9048-25AF0FD449E0}" type="pres">
      <dgm:prSet presAssocID="{E4B4A732-892C-4DC5-A4CD-080809950FC8}" presName="parTx" presStyleLbl="revTx" presStyleIdx="2" presStyleCnt="5">
        <dgm:presLayoutVars>
          <dgm:chMax val="0"/>
          <dgm:chPref val="0"/>
        </dgm:presLayoutVars>
      </dgm:prSet>
      <dgm:spPr/>
    </dgm:pt>
    <dgm:pt modelId="{EFC82447-DF4F-4ABE-8EB5-58348DE210DA}" type="pres">
      <dgm:prSet presAssocID="{3B4BA48B-1A71-4432-B3F2-44755BC81660}" presName="sibTrans" presStyleCnt="0"/>
      <dgm:spPr/>
    </dgm:pt>
    <dgm:pt modelId="{6580729D-2FA4-495E-B57C-F7C0D7DBC206}" type="pres">
      <dgm:prSet presAssocID="{D39AA4DF-2BBB-4C32-B507-38AF0B35B303}" presName="compNode" presStyleCnt="0"/>
      <dgm:spPr/>
    </dgm:pt>
    <dgm:pt modelId="{42CD7FA7-BD00-4D67-A1B6-EE1CAFA99D38}" type="pres">
      <dgm:prSet presAssocID="{D39AA4DF-2BBB-4C32-B507-38AF0B35B303}" presName="bgRect" presStyleLbl="bgShp" presStyleIdx="3" presStyleCnt="5"/>
      <dgm:spPr/>
    </dgm:pt>
    <dgm:pt modelId="{5BD968E9-0710-493D-93A6-BF5F2FD9129C}" type="pres">
      <dgm:prSet presAssocID="{D39AA4DF-2BBB-4C32-B507-38AF0B35B30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CAC1E6C-ADF0-4731-8F5D-573140492714}" type="pres">
      <dgm:prSet presAssocID="{D39AA4DF-2BBB-4C32-B507-38AF0B35B303}" presName="spaceRect" presStyleCnt="0"/>
      <dgm:spPr/>
    </dgm:pt>
    <dgm:pt modelId="{FE499E67-9247-48BD-A5D6-2A0948F152B3}" type="pres">
      <dgm:prSet presAssocID="{D39AA4DF-2BBB-4C32-B507-38AF0B35B303}" presName="parTx" presStyleLbl="revTx" presStyleIdx="3" presStyleCnt="5">
        <dgm:presLayoutVars>
          <dgm:chMax val="0"/>
          <dgm:chPref val="0"/>
        </dgm:presLayoutVars>
      </dgm:prSet>
      <dgm:spPr/>
    </dgm:pt>
    <dgm:pt modelId="{07BF8EC6-DAD3-4E5C-A342-9944C63AC805}" type="pres">
      <dgm:prSet presAssocID="{63E9D188-0EF7-40A1-95A9-B996E88EC347}" presName="sibTrans" presStyleCnt="0"/>
      <dgm:spPr/>
    </dgm:pt>
    <dgm:pt modelId="{F8A616FB-5ACE-4802-B458-AE0591BB9678}" type="pres">
      <dgm:prSet presAssocID="{91BE40F3-783D-4FE5-A406-2B05AD1E3EE3}" presName="compNode" presStyleCnt="0"/>
      <dgm:spPr/>
    </dgm:pt>
    <dgm:pt modelId="{9D4DFDEB-CF70-40D7-A82B-0EE56D37054E}" type="pres">
      <dgm:prSet presAssocID="{91BE40F3-783D-4FE5-A406-2B05AD1E3EE3}" presName="bgRect" presStyleLbl="bgShp" presStyleIdx="4" presStyleCnt="5"/>
      <dgm:spPr/>
    </dgm:pt>
    <dgm:pt modelId="{D5CCE909-E209-440B-BDCB-CA79610A7306}" type="pres">
      <dgm:prSet presAssocID="{91BE40F3-783D-4FE5-A406-2B05AD1E3EE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DC1C192-6926-4CEA-8EAD-025715BDE7EC}" type="pres">
      <dgm:prSet presAssocID="{91BE40F3-783D-4FE5-A406-2B05AD1E3EE3}" presName="spaceRect" presStyleCnt="0"/>
      <dgm:spPr/>
    </dgm:pt>
    <dgm:pt modelId="{15C33D96-D407-4D43-809B-D80DE03338AB}" type="pres">
      <dgm:prSet presAssocID="{91BE40F3-783D-4FE5-A406-2B05AD1E3EE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F4B8611-F5F2-4889-B329-7FF7D09B4C03}" srcId="{2DDA2420-8DFC-4278-8D09-673972BC7794}" destId="{83399B10-B433-4AF3-AE35-7C7B2B00C370}" srcOrd="0" destOrd="0" parTransId="{C864EA27-C2F2-4C8F-9D3D-75A551A62843}" sibTransId="{153CF19B-03A2-4FC5-8D6F-26F90C140A91}"/>
    <dgm:cxn modelId="{ED8F0E24-15FC-428D-9E3B-0A089CD9025E}" type="presOf" srcId="{D39AA4DF-2BBB-4C32-B507-38AF0B35B303}" destId="{FE499E67-9247-48BD-A5D6-2A0948F152B3}" srcOrd="0" destOrd="0" presId="urn:microsoft.com/office/officeart/2018/2/layout/IconVerticalSolidList"/>
    <dgm:cxn modelId="{022C973D-65B5-461D-B994-D60732E2C056}" type="presOf" srcId="{DB9E46D0-B353-4B01-9B5C-8A942C2BA592}" destId="{983D1776-78DF-48C0-B961-4D3185010ECF}" srcOrd="0" destOrd="0" presId="urn:microsoft.com/office/officeart/2018/2/layout/IconVerticalSolidList"/>
    <dgm:cxn modelId="{9C7B935C-14D7-450D-850D-5F0BE0D2BBFF}" type="presOf" srcId="{E4B4A732-892C-4DC5-A4CD-080809950FC8}" destId="{286D4412-9D0D-4483-9048-25AF0FD449E0}" srcOrd="0" destOrd="0" presId="urn:microsoft.com/office/officeart/2018/2/layout/IconVerticalSolidList"/>
    <dgm:cxn modelId="{A8712046-D565-4DC9-B3D5-7CD148947D2D}" type="presOf" srcId="{83399B10-B433-4AF3-AE35-7C7B2B00C370}" destId="{0ED2096F-B0C4-457A-B89B-27B90F0DDDA4}" srcOrd="0" destOrd="0" presId="urn:microsoft.com/office/officeart/2018/2/layout/IconVerticalSolidList"/>
    <dgm:cxn modelId="{90E0275A-28ED-46BB-8E0B-611355B3F611}" type="presOf" srcId="{2DDA2420-8DFC-4278-8D09-673972BC7794}" destId="{B0A8FC64-C806-4F83-9206-A44BC9C9881A}" srcOrd="0" destOrd="0" presId="urn:microsoft.com/office/officeart/2018/2/layout/IconVerticalSolidList"/>
    <dgm:cxn modelId="{4AF1697E-269F-4252-B99D-F62C406EC6AD}" type="presOf" srcId="{91BE40F3-783D-4FE5-A406-2B05AD1E3EE3}" destId="{15C33D96-D407-4D43-809B-D80DE03338AB}" srcOrd="0" destOrd="0" presId="urn:microsoft.com/office/officeart/2018/2/layout/IconVerticalSolidList"/>
    <dgm:cxn modelId="{186D5A80-4ADC-4ACC-920C-558C20219A00}" srcId="{2DDA2420-8DFC-4278-8D09-673972BC7794}" destId="{E4B4A732-892C-4DC5-A4CD-080809950FC8}" srcOrd="2" destOrd="0" parTransId="{11FCCFA6-20D1-4E52-AD95-94421FE169EF}" sibTransId="{3B4BA48B-1A71-4432-B3F2-44755BC81660}"/>
    <dgm:cxn modelId="{E9937187-9337-42AC-B78C-66BB2C2DBA93}" srcId="{2DDA2420-8DFC-4278-8D09-673972BC7794}" destId="{91BE40F3-783D-4FE5-A406-2B05AD1E3EE3}" srcOrd="4" destOrd="0" parTransId="{207306BC-00FB-4570-BEE1-CC23ABA9E079}" sibTransId="{B0CFF38B-F69F-4FCC-8C7E-B2066EAB3151}"/>
    <dgm:cxn modelId="{FD088490-3053-47DC-AAF1-2BE3CA3E3764}" srcId="{2DDA2420-8DFC-4278-8D09-673972BC7794}" destId="{D39AA4DF-2BBB-4C32-B507-38AF0B35B303}" srcOrd="3" destOrd="0" parTransId="{9675FBF6-8FF4-435F-8893-8EAA79B8E2AC}" sibTransId="{63E9D188-0EF7-40A1-95A9-B996E88EC347}"/>
    <dgm:cxn modelId="{4A91E6D1-1109-4234-A33C-0B2F5F708E3B}" srcId="{2DDA2420-8DFC-4278-8D09-673972BC7794}" destId="{DB9E46D0-B353-4B01-9B5C-8A942C2BA592}" srcOrd="1" destOrd="0" parTransId="{D2C624BF-F6AD-46B8-BB78-D6367D1AF63A}" sibTransId="{DCE20E52-7900-4056-8EE8-AA24069BC3EC}"/>
    <dgm:cxn modelId="{2AC96B12-DE8F-4A44-BE54-732998004E44}" type="presParOf" srcId="{B0A8FC64-C806-4F83-9206-A44BC9C9881A}" destId="{8B808AE6-7C03-411C-AE3A-B9E2975F9BA8}" srcOrd="0" destOrd="0" presId="urn:microsoft.com/office/officeart/2018/2/layout/IconVerticalSolidList"/>
    <dgm:cxn modelId="{2E9A8315-C745-49FA-900B-5755FC2EC94D}" type="presParOf" srcId="{8B808AE6-7C03-411C-AE3A-B9E2975F9BA8}" destId="{4AD3770D-0057-4E5B-AF28-32DB0C83B349}" srcOrd="0" destOrd="0" presId="urn:microsoft.com/office/officeart/2018/2/layout/IconVerticalSolidList"/>
    <dgm:cxn modelId="{FBA008D7-A817-4E24-A216-B33485D5B97C}" type="presParOf" srcId="{8B808AE6-7C03-411C-AE3A-B9E2975F9BA8}" destId="{2A2E23FB-AECA-4920-97BE-F6D6947431A3}" srcOrd="1" destOrd="0" presId="urn:microsoft.com/office/officeart/2018/2/layout/IconVerticalSolidList"/>
    <dgm:cxn modelId="{BB0FDA88-E34F-4FD6-906D-7AE6A205C358}" type="presParOf" srcId="{8B808AE6-7C03-411C-AE3A-B9E2975F9BA8}" destId="{F72CCFE6-97B8-44D6-A7B9-F00B95CA2DC0}" srcOrd="2" destOrd="0" presId="urn:microsoft.com/office/officeart/2018/2/layout/IconVerticalSolidList"/>
    <dgm:cxn modelId="{6301A2E7-C81D-40CA-9545-6F3FE7961C2A}" type="presParOf" srcId="{8B808AE6-7C03-411C-AE3A-B9E2975F9BA8}" destId="{0ED2096F-B0C4-457A-B89B-27B90F0DDDA4}" srcOrd="3" destOrd="0" presId="urn:microsoft.com/office/officeart/2018/2/layout/IconVerticalSolidList"/>
    <dgm:cxn modelId="{6880EEB7-3809-42FD-B666-ABF898366449}" type="presParOf" srcId="{B0A8FC64-C806-4F83-9206-A44BC9C9881A}" destId="{488427D3-C1A1-4B6F-8933-911D02F3AD6D}" srcOrd="1" destOrd="0" presId="urn:microsoft.com/office/officeart/2018/2/layout/IconVerticalSolidList"/>
    <dgm:cxn modelId="{C8046C2E-E066-462D-924E-83B4D7D36A3C}" type="presParOf" srcId="{B0A8FC64-C806-4F83-9206-A44BC9C9881A}" destId="{CF8C9296-9639-4576-BC86-04B9162D2A43}" srcOrd="2" destOrd="0" presId="urn:microsoft.com/office/officeart/2018/2/layout/IconVerticalSolidList"/>
    <dgm:cxn modelId="{5A4E59EC-E423-47F8-8BAA-E2462FFD1716}" type="presParOf" srcId="{CF8C9296-9639-4576-BC86-04B9162D2A43}" destId="{EDBA62D7-E4E6-4EFC-9434-E5FFDF5CCE0E}" srcOrd="0" destOrd="0" presId="urn:microsoft.com/office/officeart/2018/2/layout/IconVerticalSolidList"/>
    <dgm:cxn modelId="{4F67ABF2-0F6B-428B-ADC2-3AAF33B43D4D}" type="presParOf" srcId="{CF8C9296-9639-4576-BC86-04B9162D2A43}" destId="{97C2EBD7-AC79-4676-8D92-A242BA925F4D}" srcOrd="1" destOrd="0" presId="urn:microsoft.com/office/officeart/2018/2/layout/IconVerticalSolidList"/>
    <dgm:cxn modelId="{252F96F5-2123-4E41-980C-A40CEA7D61E1}" type="presParOf" srcId="{CF8C9296-9639-4576-BC86-04B9162D2A43}" destId="{40AA437B-385A-4975-B05F-D23A72ACF16F}" srcOrd="2" destOrd="0" presId="urn:microsoft.com/office/officeart/2018/2/layout/IconVerticalSolidList"/>
    <dgm:cxn modelId="{63DAFC9B-4152-4114-89EB-F13DBABB5F2F}" type="presParOf" srcId="{CF8C9296-9639-4576-BC86-04B9162D2A43}" destId="{983D1776-78DF-48C0-B961-4D3185010ECF}" srcOrd="3" destOrd="0" presId="urn:microsoft.com/office/officeart/2018/2/layout/IconVerticalSolidList"/>
    <dgm:cxn modelId="{673C2092-8FC8-40C2-817A-2FBACB5FA27E}" type="presParOf" srcId="{B0A8FC64-C806-4F83-9206-A44BC9C9881A}" destId="{D51DB781-3306-4D3B-91FC-D89CCB1DEEFE}" srcOrd="3" destOrd="0" presId="urn:microsoft.com/office/officeart/2018/2/layout/IconVerticalSolidList"/>
    <dgm:cxn modelId="{4F0829D1-46BB-43B2-8015-E58D62EF450C}" type="presParOf" srcId="{B0A8FC64-C806-4F83-9206-A44BC9C9881A}" destId="{148FFC94-2DE0-40D5-9299-14B805056BB4}" srcOrd="4" destOrd="0" presId="urn:microsoft.com/office/officeart/2018/2/layout/IconVerticalSolidList"/>
    <dgm:cxn modelId="{B60E047F-B4C3-4C34-9E69-D4661403A8CF}" type="presParOf" srcId="{148FFC94-2DE0-40D5-9299-14B805056BB4}" destId="{6EB3FE7C-100B-42DB-848C-F96B7D8A0EFF}" srcOrd="0" destOrd="0" presId="urn:microsoft.com/office/officeart/2018/2/layout/IconVerticalSolidList"/>
    <dgm:cxn modelId="{F26A68C3-418B-4F1B-8054-3AE9CA82F13E}" type="presParOf" srcId="{148FFC94-2DE0-40D5-9299-14B805056BB4}" destId="{63336794-7A00-4F66-85FE-0BE125BAD01F}" srcOrd="1" destOrd="0" presId="urn:microsoft.com/office/officeart/2018/2/layout/IconVerticalSolidList"/>
    <dgm:cxn modelId="{8F897F98-1C20-49AA-9113-98A2435E9F49}" type="presParOf" srcId="{148FFC94-2DE0-40D5-9299-14B805056BB4}" destId="{78CF9CB4-172A-4B35-B026-2F98C75002F1}" srcOrd="2" destOrd="0" presId="urn:microsoft.com/office/officeart/2018/2/layout/IconVerticalSolidList"/>
    <dgm:cxn modelId="{76487CD1-2F94-4709-AAFF-3F5C0FD28098}" type="presParOf" srcId="{148FFC94-2DE0-40D5-9299-14B805056BB4}" destId="{286D4412-9D0D-4483-9048-25AF0FD449E0}" srcOrd="3" destOrd="0" presId="urn:microsoft.com/office/officeart/2018/2/layout/IconVerticalSolidList"/>
    <dgm:cxn modelId="{01C18AB8-2259-4A4C-B4A2-C4188B1AD29C}" type="presParOf" srcId="{B0A8FC64-C806-4F83-9206-A44BC9C9881A}" destId="{EFC82447-DF4F-4ABE-8EB5-58348DE210DA}" srcOrd="5" destOrd="0" presId="urn:microsoft.com/office/officeart/2018/2/layout/IconVerticalSolidList"/>
    <dgm:cxn modelId="{6318A0D7-B804-4FC4-99BB-579750C52236}" type="presParOf" srcId="{B0A8FC64-C806-4F83-9206-A44BC9C9881A}" destId="{6580729D-2FA4-495E-B57C-F7C0D7DBC206}" srcOrd="6" destOrd="0" presId="urn:microsoft.com/office/officeart/2018/2/layout/IconVerticalSolidList"/>
    <dgm:cxn modelId="{506FA6F7-C6B0-4058-858E-B0600A4ACE87}" type="presParOf" srcId="{6580729D-2FA4-495E-B57C-F7C0D7DBC206}" destId="{42CD7FA7-BD00-4D67-A1B6-EE1CAFA99D38}" srcOrd="0" destOrd="0" presId="urn:microsoft.com/office/officeart/2018/2/layout/IconVerticalSolidList"/>
    <dgm:cxn modelId="{EEDDDA74-BEE4-474C-B6B9-B2E755D69A07}" type="presParOf" srcId="{6580729D-2FA4-495E-B57C-F7C0D7DBC206}" destId="{5BD968E9-0710-493D-93A6-BF5F2FD9129C}" srcOrd="1" destOrd="0" presId="urn:microsoft.com/office/officeart/2018/2/layout/IconVerticalSolidList"/>
    <dgm:cxn modelId="{480F0100-23A9-41A3-8B1C-886F66CEB213}" type="presParOf" srcId="{6580729D-2FA4-495E-B57C-F7C0D7DBC206}" destId="{0CAC1E6C-ADF0-4731-8F5D-573140492714}" srcOrd="2" destOrd="0" presId="urn:microsoft.com/office/officeart/2018/2/layout/IconVerticalSolidList"/>
    <dgm:cxn modelId="{71EB05D8-78E3-401E-8850-2BD8EBDF73CB}" type="presParOf" srcId="{6580729D-2FA4-495E-B57C-F7C0D7DBC206}" destId="{FE499E67-9247-48BD-A5D6-2A0948F152B3}" srcOrd="3" destOrd="0" presId="urn:microsoft.com/office/officeart/2018/2/layout/IconVerticalSolidList"/>
    <dgm:cxn modelId="{409651DF-8DD3-4C7C-BDB2-669923F83F14}" type="presParOf" srcId="{B0A8FC64-C806-4F83-9206-A44BC9C9881A}" destId="{07BF8EC6-DAD3-4E5C-A342-9944C63AC805}" srcOrd="7" destOrd="0" presId="urn:microsoft.com/office/officeart/2018/2/layout/IconVerticalSolidList"/>
    <dgm:cxn modelId="{F5CE43F3-4EA8-43E1-AEC7-DEBE41C4E794}" type="presParOf" srcId="{B0A8FC64-C806-4F83-9206-A44BC9C9881A}" destId="{F8A616FB-5ACE-4802-B458-AE0591BB9678}" srcOrd="8" destOrd="0" presId="urn:microsoft.com/office/officeart/2018/2/layout/IconVerticalSolidList"/>
    <dgm:cxn modelId="{C3D89F2A-7B61-4E89-8D0B-D679CF6B21AA}" type="presParOf" srcId="{F8A616FB-5ACE-4802-B458-AE0591BB9678}" destId="{9D4DFDEB-CF70-40D7-A82B-0EE56D37054E}" srcOrd="0" destOrd="0" presId="urn:microsoft.com/office/officeart/2018/2/layout/IconVerticalSolidList"/>
    <dgm:cxn modelId="{B583499B-6C70-4308-AE0E-270551B71BEF}" type="presParOf" srcId="{F8A616FB-5ACE-4802-B458-AE0591BB9678}" destId="{D5CCE909-E209-440B-BDCB-CA79610A7306}" srcOrd="1" destOrd="0" presId="urn:microsoft.com/office/officeart/2018/2/layout/IconVerticalSolidList"/>
    <dgm:cxn modelId="{4F537B24-FC32-49CA-93CC-BD227BFBC8E3}" type="presParOf" srcId="{F8A616FB-5ACE-4802-B458-AE0591BB9678}" destId="{FDC1C192-6926-4CEA-8EAD-025715BDE7EC}" srcOrd="2" destOrd="0" presId="urn:microsoft.com/office/officeart/2018/2/layout/IconVerticalSolidList"/>
    <dgm:cxn modelId="{72E0ECCE-F103-44B0-98CF-B53ED20910F3}" type="presParOf" srcId="{F8A616FB-5ACE-4802-B458-AE0591BB9678}" destId="{15C33D96-D407-4D43-809B-D80DE03338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84C42-5A0F-4ECE-BC0B-0B226D33AC31}">
      <dsp:nvSpPr>
        <dsp:cNvPr id="0" name=""/>
        <dsp:cNvSpPr/>
      </dsp:nvSpPr>
      <dsp:spPr>
        <a:xfrm>
          <a:off x="386683" y="0"/>
          <a:ext cx="5538783" cy="5538783"/>
        </a:xfrm>
        <a:prstGeom prst="diamond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D4F91-0BA7-4F0F-8F18-56B93F343F1A}">
      <dsp:nvSpPr>
        <dsp:cNvPr id="0" name=""/>
        <dsp:cNvSpPr/>
      </dsp:nvSpPr>
      <dsp:spPr>
        <a:xfrm>
          <a:off x="912867" y="526184"/>
          <a:ext cx="2160125" cy="21601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Soft Computing can be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extended </a:t>
          </a:r>
          <a:r>
            <a:rPr lang="en-GB" sz="1600" b="0" i="0" kern="1200" dirty="0"/>
            <a:t>to include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other approaches </a:t>
          </a:r>
          <a:r>
            <a:rPr lang="en-GB" sz="1600" b="0" i="0" kern="1200" dirty="0"/>
            <a:t>like bio-informatics aspects.</a:t>
          </a:r>
          <a:endParaRPr lang="en-US" sz="1600" kern="1200" dirty="0"/>
        </a:p>
      </dsp:txBody>
      <dsp:txXfrm>
        <a:off x="1018316" y="631633"/>
        <a:ext cx="1949227" cy="1949227"/>
      </dsp:txXfrm>
    </dsp:sp>
    <dsp:sp modelId="{445DB5D4-A1B7-4FD0-A5BA-1D4A5C0A0FA3}">
      <dsp:nvSpPr>
        <dsp:cNvPr id="0" name=""/>
        <dsp:cNvSpPr/>
      </dsp:nvSpPr>
      <dsp:spPr>
        <a:xfrm>
          <a:off x="3239156" y="526184"/>
          <a:ext cx="2160125" cy="21601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Fuzzy system can be applied to the construction of more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advanced intelligent industrial systems</a:t>
          </a:r>
          <a:r>
            <a:rPr lang="en-GB" sz="1600" b="0" i="0" kern="1200" dirty="0"/>
            <a:t>. </a:t>
          </a:r>
          <a:endParaRPr lang="en-US" sz="1600" kern="1200" dirty="0"/>
        </a:p>
      </dsp:txBody>
      <dsp:txXfrm>
        <a:off x="3344605" y="631633"/>
        <a:ext cx="1949227" cy="1949227"/>
      </dsp:txXfrm>
    </dsp:sp>
    <dsp:sp modelId="{2124D3C7-3D10-48B9-BACD-8EC4CDE62936}">
      <dsp:nvSpPr>
        <dsp:cNvPr id="0" name=""/>
        <dsp:cNvSpPr/>
      </dsp:nvSpPr>
      <dsp:spPr>
        <a:xfrm>
          <a:off x="912867" y="2852473"/>
          <a:ext cx="2160125" cy="21601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Soft computing is very effective when it’s applied to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real world </a:t>
          </a:r>
          <a:r>
            <a:rPr lang="en-GB" sz="1600" b="0" i="0" kern="1200" dirty="0"/>
            <a:t>problems that are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not able to solved </a:t>
          </a:r>
          <a:r>
            <a:rPr lang="en-GB" sz="1600" b="0" i="0" kern="1200" dirty="0"/>
            <a:t>by traditional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hard computing</a:t>
          </a:r>
          <a:r>
            <a:rPr lang="en-GB" sz="1600" b="0" i="0" kern="1200" dirty="0"/>
            <a:t>. </a:t>
          </a:r>
          <a:endParaRPr lang="en-US" sz="1600" kern="1200" dirty="0"/>
        </a:p>
      </dsp:txBody>
      <dsp:txXfrm>
        <a:off x="1018316" y="2957922"/>
        <a:ext cx="1949227" cy="1949227"/>
      </dsp:txXfrm>
    </dsp:sp>
    <dsp:sp modelId="{7F1E87F8-DE9C-4E3E-BA33-E11056B7CA5B}">
      <dsp:nvSpPr>
        <dsp:cNvPr id="0" name=""/>
        <dsp:cNvSpPr/>
      </dsp:nvSpPr>
      <dsp:spPr>
        <a:xfrm>
          <a:off x="3239156" y="2852473"/>
          <a:ext cx="2160125" cy="21601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Soft computing enables industrial to be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innovative </a:t>
          </a:r>
          <a:r>
            <a:rPr lang="en-GB" sz="1600" b="0" i="0" kern="1200" dirty="0"/>
            <a:t>due to the characteristics of soft computing: </a:t>
          </a:r>
          <a:r>
            <a:rPr lang="en-GB" sz="1600" b="0" i="0" kern="1200" dirty="0">
              <a:solidFill>
                <a:schemeClr val="bg2">
                  <a:lumMod val="50000"/>
                </a:schemeClr>
              </a:solidFill>
            </a:rPr>
            <a:t>tractability, low cost and high machine intelligent quotient</a:t>
          </a:r>
          <a:r>
            <a:rPr lang="en-GB" sz="1600" b="0" i="0" kern="1200" dirty="0"/>
            <a:t>.</a:t>
          </a:r>
          <a:endParaRPr lang="en-US" sz="1600" kern="1200" dirty="0"/>
        </a:p>
      </dsp:txBody>
      <dsp:txXfrm>
        <a:off x="3344605" y="2957922"/>
        <a:ext cx="1949227" cy="1949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3770D-0057-4E5B-AF28-32DB0C83B349}">
      <dsp:nvSpPr>
        <dsp:cNvPr id="0" name=""/>
        <dsp:cNvSpPr/>
      </dsp:nvSpPr>
      <dsp:spPr>
        <a:xfrm>
          <a:off x="0" y="3399"/>
          <a:ext cx="10233025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E23FB-AECA-4920-97BE-F6D6947431A3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2096F-B0C4-457A-B89B-27B90F0DDDA4}">
      <dsp:nvSpPr>
        <dsp:cNvPr id="0" name=""/>
        <dsp:cNvSpPr/>
      </dsp:nvSpPr>
      <dsp:spPr>
        <a:xfrm>
          <a:off x="836323" y="3399"/>
          <a:ext cx="93967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i="0" kern="1200" dirty="0"/>
            <a:t>Approximation</a:t>
          </a:r>
          <a:r>
            <a:rPr lang="en-GB" sz="1900" b="0" i="0" kern="1200" dirty="0"/>
            <a:t>: the model features are </a:t>
          </a:r>
          <a:r>
            <a:rPr lang="en-GB" sz="1900" b="0" i="0" kern="1200" dirty="0">
              <a:solidFill>
                <a:srgbClr val="FFC000"/>
              </a:solidFill>
            </a:rPr>
            <a:t>similar </a:t>
          </a:r>
          <a:r>
            <a:rPr lang="en-GB" sz="1900" b="0" i="0" kern="1200" dirty="0"/>
            <a:t>to the real ones, </a:t>
          </a:r>
          <a:r>
            <a:rPr lang="en-GB" sz="1900" b="0" i="0" kern="1200" dirty="0">
              <a:solidFill>
                <a:srgbClr val="FFC000"/>
              </a:solidFill>
            </a:rPr>
            <a:t>but not the same</a:t>
          </a:r>
          <a:r>
            <a:rPr lang="en-GB" sz="1900" b="0" i="0" kern="1200" dirty="0"/>
            <a:t>.</a:t>
          </a:r>
          <a:endParaRPr lang="en-US" sz="1900" kern="1200" dirty="0"/>
        </a:p>
      </dsp:txBody>
      <dsp:txXfrm>
        <a:off x="836323" y="3399"/>
        <a:ext cx="9396701" cy="724089"/>
      </dsp:txXfrm>
    </dsp:sp>
    <dsp:sp modelId="{EDBA62D7-E4E6-4EFC-9434-E5FFDF5CCE0E}">
      <dsp:nvSpPr>
        <dsp:cNvPr id="0" name=""/>
        <dsp:cNvSpPr/>
      </dsp:nvSpPr>
      <dsp:spPr>
        <a:xfrm>
          <a:off x="0" y="908511"/>
          <a:ext cx="10233025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2EBD7-AC79-4676-8D92-A242BA925F4D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D1776-78DF-48C0-B961-4D3185010ECF}">
      <dsp:nvSpPr>
        <dsp:cNvPr id="0" name=""/>
        <dsp:cNvSpPr/>
      </dsp:nvSpPr>
      <dsp:spPr>
        <a:xfrm>
          <a:off x="836323" y="908511"/>
          <a:ext cx="93967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i="0" kern="1200" dirty="0"/>
            <a:t>Uncertainty</a:t>
          </a:r>
          <a:r>
            <a:rPr lang="en-GB" sz="1900" b="0" i="0" kern="1200" dirty="0"/>
            <a:t>: </a:t>
          </a:r>
          <a:r>
            <a:rPr lang="en-GB" sz="1900" b="0" i="0" kern="1200" dirty="0">
              <a:solidFill>
                <a:srgbClr val="FFC000"/>
              </a:solidFill>
            </a:rPr>
            <a:t>not sure </a:t>
          </a:r>
          <a:r>
            <a:rPr lang="en-GB" sz="1900" b="0" i="0" kern="1200" dirty="0"/>
            <a:t>that features of the model are the </a:t>
          </a:r>
          <a:r>
            <a:rPr lang="en-GB" sz="1900" b="0" i="0" kern="1200" dirty="0">
              <a:solidFill>
                <a:srgbClr val="FFC000"/>
              </a:solidFill>
            </a:rPr>
            <a:t>same as that of the entity </a:t>
          </a:r>
          <a:r>
            <a:rPr lang="en-GB" sz="1900" b="0" i="0" kern="1200" dirty="0"/>
            <a:t>(belief). </a:t>
          </a:r>
          <a:endParaRPr lang="en-US" sz="1900" kern="1200" dirty="0"/>
        </a:p>
      </dsp:txBody>
      <dsp:txXfrm>
        <a:off x="836323" y="908511"/>
        <a:ext cx="9396701" cy="724089"/>
      </dsp:txXfrm>
    </dsp:sp>
    <dsp:sp modelId="{6EB3FE7C-100B-42DB-848C-F96B7D8A0EFF}">
      <dsp:nvSpPr>
        <dsp:cNvPr id="0" name=""/>
        <dsp:cNvSpPr/>
      </dsp:nvSpPr>
      <dsp:spPr>
        <a:xfrm>
          <a:off x="0" y="1813624"/>
          <a:ext cx="10233025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36794-7A00-4F66-85FE-0BE125BAD01F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D4412-9D0D-4483-9048-25AF0FD449E0}">
      <dsp:nvSpPr>
        <dsp:cNvPr id="0" name=""/>
        <dsp:cNvSpPr/>
      </dsp:nvSpPr>
      <dsp:spPr>
        <a:xfrm>
          <a:off x="836323" y="1813624"/>
          <a:ext cx="93967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i="0" kern="1200" dirty="0"/>
            <a:t>Imprecision</a:t>
          </a:r>
          <a:r>
            <a:rPr lang="en-GB" sz="1900" b="0" i="0" kern="1200" dirty="0"/>
            <a:t>: the model features (quantities) are not same as that of the real ones, but </a:t>
          </a:r>
          <a:r>
            <a:rPr lang="en-GB" sz="1900" b="0" i="0" kern="1200" dirty="0">
              <a:solidFill>
                <a:srgbClr val="FFC000"/>
              </a:solidFill>
            </a:rPr>
            <a:t>close to them</a:t>
          </a:r>
          <a:r>
            <a:rPr lang="en-GB" sz="1900" b="0" i="0" kern="1200" dirty="0"/>
            <a:t>. </a:t>
          </a:r>
          <a:endParaRPr lang="en-US" sz="1900" kern="1200" dirty="0"/>
        </a:p>
      </dsp:txBody>
      <dsp:txXfrm>
        <a:off x="836323" y="1813624"/>
        <a:ext cx="9396701" cy="724089"/>
      </dsp:txXfrm>
    </dsp:sp>
    <dsp:sp modelId="{42CD7FA7-BD00-4D67-A1B6-EE1CAFA99D38}">
      <dsp:nvSpPr>
        <dsp:cNvPr id="0" name=""/>
        <dsp:cNvSpPr/>
      </dsp:nvSpPr>
      <dsp:spPr>
        <a:xfrm>
          <a:off x="0" y="2718736"/>
          <a:ext cx="10233025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968E9-0710-493D-93A6-BF5F2FD9129C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99E67-9247-48BD-A5D6-2A0948F152B3}">
      <dsp:nvSpPr>
        <dsp:cNvPr id="0" name=""/>
        <dsp:cNvSpPr/>
      </dsp:nvSpPr>
      <dsp:spPr>
        <a:xfrm>
          <a:off x="836323" y="2718736"/>
          <a:ext cx="93967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 dirty="0"/>
            <a:t>The guiding </a:t>
          </a:r>
          <a:r>
            <a:rPr lang="en-GB" sz="1900" b="0" i="0" kern="1200" dirty="0">
              <a:solidFill>
                <a:srgbClr val="FFC000"/>
              </a:solidFill>
            </a:rPr>
            <a:t>principle</a:t>
          </a:r>
          <a:r>
            <a:rPr lang="en-GB" sz="1900" b="0" i="0" kern="1200" dirty="0"/>
            <a:t> of soft computing is to exploit these tolerance to achieve </a:t>
          </a:r>
          <a:r>
            <a:rPr lang="en-GB" sz="1900" b="0" i="0" kern="1200" dirty="0">
              <a:solidFill>
                <a:srgbClr val="FFC000"/>
              </a:solidFill>
            </a:rPr>
            <a:t>tractability, robustness and low solution cost</a:t>
          </a:r>
          <a:r>
            <a:rPr lang="en-GB" sz="1900" b="0" i="0" kern="1200" dirty="0"/>
            <a:t>. </a:t>
          </a:r>
          <a:endParaRPr lang="en-US" sz="1900" kern="1200" dirty="0"/>
        </a:p>
      </dsp:txBody>
      <dsp:txXfrm>
        <a:off x="836323" y="2718736"/>
        <a:ext cx="9396701" cy="724089"/>
      </dsp:txXfrm>
    </dsp:sp>
    <dsp:sp modelId="{9D4DFDEB-CF70-40D7-A82B-0EE56D37054E}">
      <dsp:nvSpPr>
        <dsp:cNvPr id="0" name=""/>
        <dsp:cNvSpPr/>
      </dsp:nvSpPr>
      <dsp:spPr>
        <a:xfrm>
          <a:off x="0" y="3623848"/>
          <a:ext cx="10233025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CE909-E209-440B-BDCB-CA79610A7306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33D96-D407-4D43-809B-D80DE03338AB}">
      <dsp:nvSpPr>
        <dsp:cNvPr id="0" name=""/>
        <dsp:cNvSpPr/>
      </dsp:nvSpPr>
      <dsp:spPr>
        <a:xfrm>
          <a:off x="836323" y="3623848"/>
          <a:ext cx="93967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 dirty="0"/>
            <a:t>The </a:t>
          </a:r>
          <a:r>
            <a:rPr lang="en-GB" sz="1900" b="0" i="0" kern="1200" dirty="0">
              <a:solidFill>
                <a:srgbClr val="FFC000"/>
              </a:solidFill>
            </a:rPr>
            <a:t>role model </a:t>
          </a:r>
          <a:r>
            <a:rPr lang="en-GB" sz="1900" b="0" i="0" kern="1200" dirty="0"/>
            <a:t>for soft computing is the </a:t>
          </a:r>
          <a:r>
            <a:rPr lang="en-GB" sz="1900" b="0" i="0" kern="1200" dirty="0">
              <a:solidFill>
                <a:srgbClr val="FFC000"/>
              </a:solidFill>
            </a:rPr>
            <a:t>humans</a:t>
          </a:r>
          <a:r>
            <a:rPr lang="en-GB" sz="1900" b="0" i="0" kern="1200" dirty="0"/>
            <a:t>.</a:t>
          </a:r>
          <a:endParaRPr lang="en-US" sz="1900" kern="1200" dirty="0"/>
        </a:p>
      </dsp:txBody>
      <dsp:txXfrm>
        <a:off x="836323" y="3623848"/>
        <a:ext cx="9396701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ADEA6-6786-431C-8B90-455BEBAC6AF7}" type="datetimeFigureOut">
              <a:rPr lang="en-PK" smtClean="0"/>
              <a:t>12/10/2026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B34F4-15FC-466D-843D-F8163BC7BD2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135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7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3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1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6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6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948556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7799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965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78410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607495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49701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03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9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8D24A4-5FEC-4062-8995-EB21925B3B40}" type="datetime1">
              <a:rPr lang="en-US" smtClean="0"/>
              <a:t>10/12/2026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10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CF86-055A-4687-B53C-E38093173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145" y="970633"/>
            <a:ext cx="6419852" cy="16414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 Computing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C4252-61B7-4AEA-BED0-DE3DBC006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562" y="5628205"/>
            <a:ext cx="7920038" cy="967267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Talha Waheed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UET, Lahore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62219-495C-4C7E-BF4B-06C19D557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098" y="1210208"/>
            <a:ext cx="4743272" cy="4437583"/>
          </a:xfrm>
          <a:prstGeom prst="rect">
            <a:avLst/>
          </a:prstGeom>
        </p:spPr>
      </p:pic>
      <p:pic>
        <p:nvPicPr>
          <p:cNvPr id="3074" name="Picture 2" descr="UET Lahore (@UET_official) / Twitter">
            <a:extLst>
              <a:ext uri="{FF2B5EF4-FFF2-40B4-BE49-F238E27FC236}">
                <a16:creationId xmlns:a16="http://schemas.microsoft.com/office/drawing/2014/main" id="{BB7E797C-38C5-449D-A2E7-41D838202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97" y="3489976"/>
            <a:ext cx="1167373" cy="116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66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A012-3324-4271-93F4-7A2DF5E1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738309"/>
          </a:xfrm>
        </p:spPr>
        <p:txBody>
          <a:bodyPr>
            <a:norm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(Revision) Two Main Approaches of AI</a:t>
            </a:r>
            <a:endParaRPr lang="en-PK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275F-D5AA-4C6F-B3EE-5548CA200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63" y="1715723"/>
            <a:ext cx="589963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Classical AI: (“Good-Old-Fashioned AI”) </a:t>
            </a:r>
          </a:p>
          <a:p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behavior is the result of a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symbol system (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Logical, top-down, designed behavior, knowledge-intensive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C28945-BBBB-43A9-86DA-7E99D0DD3DC8}"/>
              </a:ext>
            </a:extLst>
          </p:cNvPr>
          <p:cNvSpPr txBox="1">
            <a:spLocks/>
          </p:cNvSpPr>
          <p:nvPr/>
        </p:nvSpPr>
        <p:spPr>
          <a:xfrm>
            <a:off x="6172200" y="1696676"/>
            <a:ext cx="55772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Sub-symbolic (Connectionist)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AI: Biological and Social based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behavior is the result of connection processing 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 / Social, bottom-up, emergent behavior, learning-based </a:t>
            </a:r>
          </a:p>
        </p:txBody>
      </p:sp>
    </p:spTree>
    <p:extLst>
      <p:ext uri="{BB962C8B-B14F-4D97-AF65-F5344CB8AC3E}">
        <p14:creationId xmlns:p14="http://schemas.microsoft.com/office/powerpoint/2010/main" val="321943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22820-C47D-37BA-025E-7B9A0FCE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59"/>
            <a:ext cx="10515600" cy="88370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Sub-Symbolic vs Soft Computing</a:t>
            </a:r>
            <a:endParaRPr lang="en-PK" sz="4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734546-18C1-85CB-D0D9-3A1E244AF6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459410"/>
              </p:ext>
            </p:extLst>
          </p:nvPr>
        </p:nvGraphicFramePr>
        <p:xfrm>
          <a:off x="158010" y="3811058"/>
          <a:ext cx="11978956" cy="2877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3942">
                  <a:extLst>
                    <a:ext uri="{9D8B030D-6E8A-4147-A177-3AD203B41FA5}">
                      <a16:colId xmlns:a16="http://schemas.microsoft.com/office/drawing/2014/main" val="2202660057"/>
                    </a:ext>
                  </a:extLst>
                </a:gridCol>
                <a:gridCol w="3575348">
                  <a:extLst>
                    <a:ext uri="{9D8B030D-6E8A-4147-A177-3AD203B41FA5}">
                      <a16:colId xmlns:a16="http://schemas.microsoft.com/office/drawing/2014/main" val="1964480919"/>
                    </a:ext>
                  </a:extLst>
                </a:gridCol>
                <a:gridCol w="5799666">
                  <a:extLst>
                    <a:ext uri="{9D8B030D-6E8A-4147-A177-3AD203B41FA5}">
                      <a16:colId xmlns:a16="http://schemas.microsoft.com/office/drawing/2014/main" val="3714791925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Aspect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1" dirty="0"/>
                        <a:t>Sub-symbolic / connectionist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1" dirty="0"/>
                        <a:t>Soft computing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62923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Nature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A </a:t>
                      </a:r>
                      <a:r>
                        <a:rPr lang="en-PK" sz="1600" b="0" dirty="0">
                          <a:solidFill>
                            <a:srgbClr val="FFC000"/>
                          </a:solidFill>
                        </a:rPr>
                        <a:t>paradigm</a:t>
                      </a:r>
                      <a:r>
                        <a:rPr lang="en-PK" sz="1600" b="1" dirty="0"/>
                        <a:t> </a:t>
                      </a:r>
                      <a:r>
                        <a:rPr lang="en-PK" sz="1600" dirty="0"/>
                        <a:t>or philosophy of AI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A family of techniques</a:t>
                      </a:r>
                      <a:r>
                        <a:rPr lang="en-US" sz="1600" dirty="0"/>
                        <a:t> (set of </a:t>
                      </a:r>
                      <a:r>
                        <a:rPr lang="en-US" sz="1600" dirty="0">
                          <a:solidFill>
                            <a:srgbClr val="FFC000"/>
                          </a:solidFill>
                        </a:rPr>
                        <a:t>toolbox</a:t>
                      </a:r>
                      <a:r>
                        <a:rPr lang="en-US" sz="1600" dirty="0"/>
                        <a:t>) (connectionist is its subset)</a:t>
                      </a:r>
                      <a:endParaRPr lang="en-PK" sz="1600" dirty="0"/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456086"/>
                  </a:ext>
                </a:extLst>
              </a:tr>
              <a:tr h="59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Scope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Narrower</a:t>
                      </a:r>
                      <a:r>
                        <a:rPr lang="en-PK" sz="1600" dirty="0"/>
                        <a:t>; essentially neural networks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Broader</a:t>
                      </a:r>
                      <a:r>
                        <a:rPr lang="en-PK" sz="1600" dirty="0"/>
                        <a:t>; includes </a:t>
                      </a:r>
                      <a:r>
                        <a:rPr lang="en-US" sz="1600" dirty="0"/>
                        <a:t>ANN,</a:t>
                      </a:r>
                      <a:r>
                        <a:rPr lang="en-PK" sz="1600" dirty="0"/>
                        <a:t> fuzzy logic, evolutionary computation</a:t>
                      </a:r>
                      <a:r>
                        <a:rPr lang="en-US" sz="1600" dirty="0"/>
                        <a:t>/GAs</a:t>
                      </a:r>
                      <a:r>
                        <a:rPr lang="en-PK" sz="1600" dirty="0"/>
                        <a:t>, probabilistic methods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etc</a:t>
                      </a:r>
                      <a:endParaRPr lang="en-PK" sz="1600" dirty="0"/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56788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Opposed to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Symbolic AI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Hard</a:t>
                      </a:r>
                      <a:r>
                        <a:rPr lang="en-PK" sz="1600" dirty="0"/>
                        <a:t> (precise, deterministic) computing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39563"/>
                  </a:ext>
                </a:extLst>
              </a:tr>
              <a:tr h="385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Inspiration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The </a:t>
                      </a: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brain’s </a:t>
                      </a:r>
                      <a:r>
                        <a:rPr lang="en-PK" sz="1600" dirty="0"/>
                        <a:t>structure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Human </a:t>
                      </a:r>
                      <a:r>
                        <a:rPr lang="en-PK" sz="1600" dirty="0"/>
                        <a:t>tolerance for imprecision</a:t>
                      </a:r>
                      <a:r>
                        <a:rPr lang="en-US" sz="1600" dirty="0"/>
                        <a:t> +</a:t>
                      </a:r>
                      <a:r>
                        <a:rPr lang="en-PK" sz="1600" dirty="0"/>
                        <a:t> </a:t>
                      </a: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nature </a:t>
                      </a:r>
                      <a:r>
                        <a:rPr lang="en-PK" sz="1600" dirty="0"/>
                        <a:t>(evolution, swarms)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162171"/>
                  </a:ext>
                </a:extLst>
              </a:tr>
              <a:tr h="436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Handles uncertainty via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Learning distributed weights from data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Fuzzy sets, probability, approximate reasoning, heuristic search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991404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Explicit knowledge</a:t>
                      </a:r>
                    </a:p>
                  </a:txBody>
                  <a:tcPr marL="83680" marR="83680" marT="41840" marB="4184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Not used </a:t>
                      </a:r>
                      <a:r>
                        <a:rPr lang="en-PK" sz="1600" dirty="0"/>
                        <a:t>(no symbols)</a:t>
                      </a: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600" dirty="0"/>
                        <a:t>Fuzzy logic does use human-readable </a:t>
                      </a:r>
                      <a:r>
                        <a:rPr lang="en-PK" sz="1600" dirty="0">
                          <a:solidFill>
                            <a:srgbClr val="FFC000"/>
                          </a:solidFill>
                        </a:rPr>
                        <a:t>linguistic rules</a:t>
                      </a:r>
                      <a:r>
                        <a:rPr lang="en-US" sz="1600" dirty="0">
                          <a:solidFill>
                            <a:srgbClr val="FFC000"/>
                          </a:solidFill>
                        </a:rPr>
                        <a:t> like warm, tall</a:t>
                      </a:r>
                      <a:endParaRPr lang="en-PK" sz="1600" dirty="0">
                        <a:solidFill>
                          <a:srgbClr val="FFC000"/>
                        </a:solidFill>
                      </a:endParaRPr>
                    </a:p>
                  </a:txBody>
                  <a:tcPr marL="83680" marR="83680" marT="41840" marB="418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2560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8DDBB3-1E26-5E08-8222-9588A97A6ABE}"/>
              </a:ext>
            </a:extLst>
          </p:cNvPr>
          <p:cNvSpPr txBox="1"/>
          <p:nvPr/>
        </p:nvSpPr>
        <p:spPr>
          <a:xfrm>
            <a:off x="55034" y="850900"/>
            <a:ext cx="12191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PK" dirty="0"/>
              <a:t>wo terms overlap </a:t>
            </a:r>
            <a:r>
              <a:rPr lang="en-US" dirty="0"/>
              <a:t>and confused </a:t>
            </a:r>
            <a:r>
              <a:rPr lang="en-PK" dirty="0"/>
              <a:t>a lot, but they sit at different levels: </a:t>
            </a:r>
            <a:br>
              <a:rPr lang="en-US" dirty="0"/>
            </a:br>
            <a:r>
              <a:rPr lang="en-PK" dirty="0"/>
              <a:t>one is </a:t>
            </a:r>
            <a:r>
              <a:rPr lang="en-PK" dirty="0">
                <a:solidFill>
                  <a:srgbClr val="FFC000"/>
                </a:solidFill>
              </a:rPr>
              <a:t>a </a:t>
            </a:r>
            <a:r>
              <a:rPr lang="en-PK" b="1" dirty="0">
                <a:solidFill>
                  <a:srgbClr val="FFC000"/>
                </a:solidFill>
              </a:rPr>
              <a:t>paradigm of AI</a:t>
            </a:r>
            <a:r>
              <a:rPr lang="en-PK" dirty="0"/>
              <a:t>, the other is a </a:t>
            </a:r>
            <a:r>
              <a:rPr lang="en-PK" b="1" dirty="0">
                <a:solidFill>
                  <a:srgbClr val="FFC000"/>
                </a:solidFill>
              </a:rPr>
              <a:t>toolbox of techniques</a:t>
            </a:r>
            <a:r>
              <a:rPr lang="en-PK" dirty="0"/>
              <a:t>.</a:t>
            </a:r>
            <a:endParaRPr lang="en-US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Connectionist AI</a:t>
            </a:r>
          </a:p>
          <a:p>
            <a:pPr algn="ctr"/>
            <a:r>
              <a:rPr lang="en-US" dirty="0"/>
              <a:t>It </a:t>
            </a:r>
            <a:r>
              <a:rPr lang="en-PK" dirty="0"/>
              <a:t>models intelligence through </a:t>
            </a:r>
            <a:r>
              <a:rPr lang="en-PK" dirty="0">
                <a:solidFill>
                  <a:srgbClr val="FFC000"/>
                </a:solidFill>
              </a:rPr>
              <a:t>networks of </a:t>
            </a:r>
            <a:r>
              <a:rPr lang="en-PK" dirty="0"/>
              <a:t>simple interconnected artificial </a:t>
            </a:r>
            <a:r>
              <a:rPr lang="en-PK" dirty="0">
                <a:solidFill>
                  <a:srgbClr val="FFC000"/>
                </a:solidFill>
              </a:rPr>
              <a:t>neurons</a:t>
            </a:r>
            <a:r>
              <a:rPr lang="en-PK" dirty="0"/>
              <a:t>. </a:t>
            </a:r>
            <a:r>
              <a:rPr lang="en-PK" dirty="0">
                <a:solidFill>
                  <a:srgbClr val="FFC000"/>
                </a:solidFill>
              </a:rPr>
              <a:t>Knowledge </a:t>
            </a:r>
            <a:r>
              <a:rPr lang="en-PK" dirty="0"/>
              <a:t>isn’t stored as explicit rules or symbols; it’s </a:t>
            </a:r>
            <a:r>
              <a:rPr lang="en-PK" dirty="0">
                <a:solidFill>
                  <a:srgbClr val="FFC000"/>
                </a:solidFill>
              </a:rPr>
              <a:t>distributed across the connection </a:t>
            </a:r>
            <a:r>
              <a:rPr lang="en-PK" dirty="0"/>
              <a:t>weights and </a:t>
            </a:r>
            <a:r>
              <a:rPr lang="en-PK" dirty="0">
                <a:solidFill>
                  <a:srgbClr val="FFC000"/>
                </a:solidFill>
              </a:rPr>
              <a:t>learned from data</a:t>
            </a:r>
            <a:r>
              <a:rPr lang="en-PK" dirty="0"/>
              <a:t>.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S</a:t>
            </a:r>
            <a:r>
              <a:rPr lang="en-PK" b="1" dirty="0"/>
              <a:t>oft computing</a:t>
            </a:r>
            <a:endParaRPr lang="en-US" dirty="0"/>
          </a:p>
          <a:p>
            <a:pPr algn="ctr"/>
            <a:r>
              <a:rPr lang="en-US" dirty="0"/>
              <a:t>A</a:t>
            </a:r>
            <a:r>
              <a:rPr lang="en-PK" dirty="0"/>
              <a:t> collection of methodologies that tolerate </a:t>
            </a:r>
            <a:r>
              <a:rPr lang="en-PK" dirty="0">
                <a:solidFill>
                  <a:srgbClr val="FFC000"/>
                </a:solidFill>
              </a:rPr>
              <a:t>imprecision, uncertainty</a:t>
            </a:r>
            <a:r>
              <a:rPr lang="en-PK" dirty="0"/>
              <a:t>, and </a:t>
            </a:r>
            <a:r>
              <a:rPr lang="en-PK" dirty="0">
                <a:solidFill>
                  <a:srgbClr val="FFC000"/>
                </a:solidFill>
              </a:rPr>
              <a:t>partial truth </a:t>
            </a:r>
            <a:r>
              <a:rPr lang="en-PK" dirty="0"/>
              <a:t>to achieve </a:t>
            </a:r>
            <a:r>
              <a:rPr lang="en-PK" dirty="0">
                <a:solidFill>
                  <a:srgbClr val="FFC000"/>
                </a:solidFill>
              </a:rPr>
              <a:t>robust, low-cost </a:t>
            </a:r>
            <a:r>
              <a:rPr lang="en-PK" dirty="0"/>
              <a:t>solutions to problems that are </a:t>
            </a:r>
            <a:r>
              <a:rPr lang="en-PK" dirty="0">
                <a:solidFill>
                  <a:srgbClr val="FFC000"/>
                </a:solidFill>
              </a:rPr>
              <a:t>hard to solve exactly</a:t>
            </a:r>
            <a:r>
              <a:rPr lang="en-PK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02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2436-7B2A-41EB-9247-1BCE9283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95899"/>
            <a:ext cx="10659110" cy="685556"/>
          </a:xfrm>
        </p:spPr>
        <p:txBody>
          <a:bodyPr>
            <a:normAutofit/>
          </a:bodyPr>
          <a:lstStyle/>
          <a:p>
            <a:pPr algn="ctr"/>
            <a:r>
              <a:rPr lang="en-GB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Goals of Soft Computing</a:t>
            </a:r>
            <a:endParaRPr lang="en-PK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85A1-2F8C-449C-B1E7-A4DB2833F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11036300" cy="4351338"/>
          </a:xfrm>
        </p:spPr>
        <p:txBody>
          <a:bodyPr>
            <a:normAutofit/>
          </a:bodyPr>
          <a:lstStyle/>
          <a:p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 suited for real world problems where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solutions are not there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intelligent machines to provide solutions to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world problems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are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modelled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difficult to model 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(exactly).</a:t>
            </a:r>
          </a:p>
          <a:p>
            <a:pPr marL="0" indent="0">
              <a:buNone/>
            </a:pP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exploit the tolerance for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Approximation, Uncertainty, Imprecision, and Partial Truth 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close resemblance with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biological systems and human like decision making</a:t>
            </a:r>
          </a:p>
          <a:p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97A846-D32A-4311-B9C1-45F0E7B0AF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702232"/>
              </p:ext>
            </p:extLst>
          </p:nvPr>
        </p:nvGraphicFramePr>
        <p:xfrm>
          <a:off x="96349" y="54024"/>
          <a:ext cx="11759710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9855">
                  <a:extLst>
                    <a:ext uri="{9D8B030D-6E8A-4147-A177-3AD203B41FA5}">
                      <a16:colId xmlns:a16="http://schemas.microsoft.com/office/drawing/2014/main" val="2601329354"/>
                    </a:ext>
                  </a:extLst>
                </a:gridCol>
                <a:gridCol w="5879855">
                  <a:extLst>
                    <a:ext uri="{9D8B030D-6E8A-4147-A177-3AD203B41FA5}">
                      <a16:colId xmlns:a16="http://schemas.microsoft.com/office/drawing/2014/main" val="2485258053"/>
                    </a:ext>
                  </a:extLst>
                </a:gridCol>
              </a:tblGrid>
              <a:tr h="3415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Computing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 Computing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976909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and Precise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Model (is Mandatory)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Tolerance to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Imprecision, Uncertainty, Approximation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902024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Logic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(Rigid/Crisp/Precise). Requires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Truth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Multi-valued Logic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(Fuzzy). Works with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Truth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658203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Algorithms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Precise Output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(Overly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Solution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Imprecise and Ambiguous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/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Heuristic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/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Approximate Output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(Solution that’s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Enough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825764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Parallelism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237384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(Total Order)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Non-Deterministic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Stochastic (Partial Order)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01623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to be written. (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Rigid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Programs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initially written then Evolved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334728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Artificial Intelligence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Human Intelligence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99183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Numbers / Symbols (Symbol System Hypothesis)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Numbers / Words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197330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 (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Logical)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Reasoning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 (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Approximate) Reasoning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55307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Systems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 Tasks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(that are not Critical)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327765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Constraints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Constraints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(Noise Imposed for Learning)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98334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Problems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Complex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Problems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Simple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035518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Computational Time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Time due to approximation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32527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Based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(without context)</a:t>
                      </a:r>
                      <a:endParaRPr lang="en-PK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Empirical (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Context) Based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31785"/>
                  </a:ext>
                </a:extLst>
              </a:tr>
              <a:tr h="3415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Algorithms for each problem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Hybrid/Plural</a:t>
                      </a:r>
                      <a:endParaRPr lang="en-PK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15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558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B5AF-C0EF-486A-88FB-87766B17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3" y="139701"/>
            <a:ext cx="11582400" cy="62229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(Minimum) Components of Soft Computing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2937-FB38-4DBE-998A-1E5D859D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" y="832403"/>
            <a:ext cx="12069234" cy="4405312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is an Umbrella term for all algorithms that deals with imprecision, uncertainty, partial truth, and approximation to achieve practicability, robustness and low solution cost.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its minimum components are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Logic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Multivalued Logic for treatment of </a:t>
            </a:r>
            <a:r>
              <a:rPr lang="en-GB" sz="22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imprecision and vagueness 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 </a:t>
            </a:r>
            <a:r>
              <a:rPr lang="en-GB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Computers mimic certain processing capabilities of the </a:t>
            </a:r>
            <a:r>
              <a:rPr lang="en-GB" sz="22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brain 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Computing /Genetic Algorithms: </a:t>
            </a:r>
          </a:p>
          <a:p>
            <a:pPr marL="457200" lvl="1" indent="0">
              <a:buNone/>
            </a:pPr>
            <a:r>
              <a:rPr lang="en-GB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mimic some of the processes observed in </a:t>
            </a:r>
            <a:r>
              <a:rPr lang="en-GB" sz="22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evolution </a:t>
            </a:r>
            <a:r>
              <a:rPr lang="en-GB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GAs are used to evolve programs to perform certain tasks. </a:t>
            </a:r>
            <a:endParaRPr 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DB43A-F785-FC9C-FF47-4CD033C4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433" y="3740276"/>
            <a:ext cx="5638800" cy="33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3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4237-5DB9-49AF-95D3-3D7F8615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733" y="0"/>
            <a:ext cx="12327466" cy="87756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Classifications of Soft Computing Approaches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E5C36-54A9-B182-56BE-D5FE072F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8" y="3988643"/>
            <a:ext cx="5550143" cy="2644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327103-8FC9-3FA4-F923-A0B78BF23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46" y="838831"/>
            <a:ext cx="5972175" cy="3028950"/>
          </a:xfrm>
          <a:prstGeom prst="rect">
            <a:avLst/>
          </a:prstGeom>
        </p:spPr>
      </p:pic>
      <p:pic>
        <p:nvPicPr>
          <p:cNvPr id="9" name="Picture 8" descr="Soft Computing Techniques, Four Factors of Soft Computing">
            <a:extLst>
              <a:ext uri="{FF2B5EF4-FFF2-40B4-BE49-F238E27FC236}">
                <a16:creationId xmlns:a16="http://schemas.microsoft.com/office/drawing/2014/main" id="{94288B7E-41D0-D88B-297B-B572C0949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689" y="800098"/>
            <a:ext cx="4486807" cy="3028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FF7B61-EFDF-470A-9685-95B7B00D8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029" y="3927034"/>
            <a:ext cx="6218767" cy="293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2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FA22-1A3F-4760-8482-79251D1A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1790"/>
            <a:ext cx="10659110" cy="92734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wise Comparison of SC Approaches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8661D-A617-4752-AE74-C8D0E5AC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3074" name="Picture 2" descr="TABLE 4. Strengths and weaknesses of various of soft computing techniques (derived from [12], [57]–[59]).">
            <a:extLst>
              <a:ext uri="{FF2B5EF4-FFF2-40B4-BE49-F238E27FC236}">
                <a16:creationId xmlns:a16="http://schemas.microsoft.com/office/drawing/2014/main" id="{1DF044AE-BDEA-4B80-9A1E-D88D40F77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2" y="1701800"/>
            <a:ext cx="12069268" cy="424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91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EE49-2C8E-4BC8-806B-8DCBB159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98" y="149714"/>
            <a:ext cx="10659110" cy="99328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Computing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What is the result of combining neural networks, fuzzy logic and genetic  algorithms? - Quora">
            <a:extLst>
              <a:ext uri="{FF2B5EF4-FFF2-40B4-BE49-F238E27FC236}">
                <a16:creationId xmlns:a16="http://schemas.microsoft.com/office/drawing/2014/main" id="{D313E3F7-3F9F-4F15-B878-BF9F96F3C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037901" y="3838557"/>
            <a:ext cx="5107761" cy="296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11D30-7223-4FF5-9DD9-83201330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9" y="3429000"/>
            <a:ext cx="4819650" cy="3422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1A9F98-42D1-4ED1-925F-852F43F71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818" y="3349033"/>
            <a:ext cx="5167925" cy="449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2143D6-EBD6-04AC-477C-0179CF56BE60}"/>
              </a:ext>
            </a:extLst>
          </p:cNvPr>
          <p:cNvSpPr txBox="1"/>
          <p:nvPr/>
        </p:nvSpPr>
        <p:spPr>
          <a:xfrm>
            <a:off x="169333" y="1037167"/>
            <a:ext cx="119763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en-PK" sz="2000" b="1" i="0" dirty="0" err="1">
                <a:solidFill>
                  <a:schemeClr val="tx1"/>
                </a:solidFill>
                <a:effectLst/>
                <a:latin typeface="+mn-lt"/>
              </a:rPr>
              <a:t>uzzy</a:t>
            </a:r>
            <a:r>
              <a:rPr lang="en-PK" sz="2000" b="1" i="0" dirty="0">
                <a:solidFill>
                  <a:schemeClr val="tx1"/>
                </a:solidFill>
                <a:effectLst/>
                <a:latin typeface="+mn-lt"/>
              </a:rPr>
              <a:t> logic 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for </a:t>
            </a:r>
            <a:r>
              <a:rPr lang="en-PK" sz="2000" b="0" i="0" dirty="0">
                <a:solidFill>
                  <a:srgbClr val="FFC000"/>
                </a:solidFill>
                <a:effectLst/>
                <a:latin typeface="+mn-lt"/>
              </a:rPr>
              <a:t>reasoning with vagueness</a:t>
            </a:r>
            <a:r>
              <a:rPr lang="en-US" sz="2000" b="0" i="0" dirty="0">
                <a:solidFill>
                  <a:srgbClr val="FFC000"/>
                </a:solidFill>
                <a:effectLst/>
                <a:latin typeface="+mn-lt"/>
              </a:rPr>
              <a:t> using Natural Language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PK" sz="2000" b="1" i="0" dirty="0">
                <a:solidFill>
                  <a:schemeClr val="tx1"/>
                </a:solidFill>
                <a:effectLst/>
                <a:latin typeface="+mn-lt"/>
              </a:rPr>
              <a:t>artificial neural networks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 for </a:t>
            </a:r>
            <a:r>
              <a:rPr lang="en-PK" sz="2000" b="0" i="0" dirty="0">
                <a:solidFill>
                  <a:srgbClr val="FFC000"/>
                </a:solidFill>
                <a:effectLst/>
                <a:latin typeface="+mn-lt"/>
              </a:rPr>
              <a:t>learning 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from data, </a:t>
            </a: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PK" sz="2000" b="1" i="0" dirty="0">
                <a:solidFill>
                  <a:schemeClr val="tx1"/>
                </a:solidFill>
                <a:effectLst/>
                <a:latin typeface="+mn-lt"/>
              </a:rPr>
              <a:t>genetic algorithms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 for evolving </a:t>
            </a:r>
            <a:r>
              <a:rPr lang="en-PK" sz="2000" b="0" i="0" dirty="0">
                <a:solidFill>
                  <a:srgbClr val="FFC000"/>
                </a:solidFill>
                <a:effectLst/>
                <a:latin typeface="+mn-lt"/>
              </a:rPr>
              <a:t>optimal 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solutions, </a:t>
            </a: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PK" sz="2000" b="1" i="0" dirty="0">
                <a:solidFill>
                  <a:schemeClr val="tx1"/>
                </a:solidFill>
                <a:effectLst/>
                <a:latin typeface="+mn-lt"/>
              </a:rPr>
              <a:t>probabilistic reasoning 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for managing </a:t>
            </a:r>
            <a:r>
              <a:rPr lang="en-PK" sz="2000" b="0" i="0" dirty="0">
                <a:solidFill>
                  <a:srgbClr val="FFC000"/>
                </a:solidFill>
                <a:effectLst/>
                <a:latin typeface="+mn-lt"/>
              </a:rPr>
              <a:t>uncertainty</a:t>
            </a:r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ctr"/>
            <a:r>
              <a:rPr lang="en-PK" sz="2000" b="0" i="0" dirty="0">
                <a:solidFill>
                  <a:schemeClr val="tx1"/>
                </a:solidFill>
                <a:effectLst/>
                <a:latin typeface="+mn-lt"/>
              </a:rPr>
              <a:t>Each of these is a complete field of study on its own — and each intersects the others in hybrid systems that represent the frontier of </a:t>
            </a:r>
            <a:r>
              <a:rPr lang="en-PK" sz="2000" b="1" i="0" dirty="0">
                <a:solidFill>
                  <a:schemeClr val="tx1"/>
                </a:solidFill>
                <a:effectLst/>
                <a:latin typeface="+mn-lt"/>
              </a:rPr>
              <a:t>intelligent computing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62317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B8BA-EE2F-487D-8548-F87AF2EF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45" y="118941"/>
            <a:ext cx="10659110" cy="865798"/>
          </a:xfrm>
        </p:spPr>
        <p:txBody>
          <a:bodyPr>
            <a:norm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Computing Sub Areas - Brief History</a:t>
            </a:r>
            <a:endParaRPr lang="en-PK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4D27-A8A9-49A1-B4FC-A8AB0D6E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3" y="1239715"/>
            <a:ext cx="11904607" cy="49372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Computing (Zadeh 1981) =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Computing (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Rechenberg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1960) +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(McCulloch 1943 ) +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Logic (Zadeh 1965 )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Computing (</a:t>
            </a:r>
            <a:r>
              <a:rPr lang="en-US" sz="24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Rechenberg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1960) =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Programming (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Koza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1992) +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 Strategies (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Rechenberg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1965) +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programming (Fogel 1962) +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Algorithms (Holland 1970)</a:t>
            </a:r>
            <a:endParaRPr lang="en-P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17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66D3-78E5-4EBA-9160-73E33AA6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5" y="190501"/>
            <a:ext cx="10659110" cy="7690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Lotfi Ali Askar Zadeh</a:t>
            </a:r>
            <a:r>
              <a:rPr lang="en-PK" sz="3200" dirty="0"/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(1921-2017)</a:t>
            </a: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BDC5-B1E3-4A03-B98B-79EDFCC4D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7732" y="876300"/>
            <a:ext cx="12181416" cy="794336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Born in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Baku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(Azerbaijan), mathematician, computer scientist, electrical engineer, AI researcher, and professor of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at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Berkeley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(Received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Honorary Doctorate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Zadeh is best known for proposing </a:t>
            </a:r>
            <a:r>
              <a:rPr lang="en-US" sz="2400" b="0" i="0" u="none" strike="noStrike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mathematics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</a:t>
            </a:r>
            <a:r>
              <a:rPr lang="en-US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several </a:t>
            </a:r>
            <a:r>
              <a:rPr lang="en-US" sz="1800" b="1" i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en-US" sz="1800" b="1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-related concepts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sets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logic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fuzzy algorithms, fuzzy semantics,</a:t>
            </a:r>
            <a:r>
              <a:rPr lang="en-US" sz="1800" b="0" i="0" u="none" strike="noStrike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languages,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control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systems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fuzzy probabilities, fuzzy events, and fuzzy information.</a:t>
            </a:r>
          </a:p>
          <a:p>
            <a:pPr lvl="1">
              <a:lnSpc>
                <a:spcPct val="150000"/>
              </a:lnSpc>
            </a:pPr>
            <a:endParaRPr lang="en-US" sz="1800" b="0" i="0" u="none" strike="noStrike" baseline="30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Zadeh's work has got at least ~</a:t>
            </a:r>
            <a:r>
              <a:rPr lang="en-GB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300,000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citations, with the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1965 </a:t>
            </a:r>
            <a:r>
              <a:rPr lang="en-GB" sz="2400" b="0" i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sets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receiving at least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175k 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citations (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</a:t>
            </a:r>
            <a:r>
              <a:rPr lang="en-GB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b="0" i="0" baseline="30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Contributions: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Transform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with Words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Theory of Uncertainty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P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Lotfi A. Zadeh - Simple English Wikipedia, the free encyclopedia">
            <a:extLst>
              <a:ext uri="{FF2B5EF4-FFF2-40B4-BE49-F238E27FC236}">
                <a16:creationId xmlns:a16="http://schemas.microsoft.com/office/drawing/2014/main" id="{AB57430A-9EF3-4C5B-8240-C98E17F10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941" y="1417719"/>
            <a:ext cx="1531325" cy="21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89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57FD-90D7-48EC-A2F2-F6098B71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628" y="365125"/>
            <a:ext cx="6651171" cy="1325563"/>
          </a:xfrm>
        </p:spPr>
        <p:txBody>
          <a:bodyPr>
            <a:normAutofit/>
          </a:bodyPr>
          <a:lstStyle/>
          <a:p>
            <a:r>
              <a:rPr lang="en-GB" sz="42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Fuzzy Logic - Some Application Areas</a:t>
            </a:r>
            <a:endParaRPr lang="en-PK" sz="4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922A-F353-4C30-A2D2-64408C75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479" y="1825625"/>
            <a:ext cx="726355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 machine, 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AC, Refrigerators, Heaters. </a:t>
            </a:r>
          </a:p>
          <a:p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Bullet Trains, Emotional Pet robots.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appliances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Rice cookers and Microwave.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Poker, checker etc.</a:t>
            </a:r>
          </a:p>
          <a:p>
            <a:pPr marL="0" indent="0">
              <a:buNone/>
            </a:pP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aier Fully Automatic Washing Machine 120-826S6 – Modern Center">
            <a:extLst>
              <a:ext uri="{FF2B5EF4-FFF2-40B4-BE49-F238E27FC236}">
                <a16:creationId xmlns:a16="http://schemas.microsoft.com/office/drawing/2014/main" id="{22B106F5-A0A1-89A1-CD95-B0B0B4AC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5" r="3084"/>
          <a:stretch>
            <a:fillRect/>
          </a:stretch>
        </p:blipFill>
        <p:spPr>
          <a:xfrm>
            <a:off x="20" y="10"/>
            <a:ext cx="43433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7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A2ED4A3-DC65-45F3-978E-FB4AFCD23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7534655" cy="6858000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4ACDFF9-6F4F-44AB-88A8-B2C9E674D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8040" y="1"/>
            <a:ext cx="4643959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8E920-FF00-4D73-8C2A-AA15AB88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257" y="1349680"/>
            <a:ext cx="3417713" cy="4827278"/>
          </a:xfrm>
        </p:spPr>
        <p:txBody>
          <a:bodyPr>
            <a:normAutofit/>
          </a:bodyPr>
          <a:lstStyle/>
          <a:p>
            <a:r>
              <a:rPr lang="en-GB" sz="4800" b="1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PK" sz="4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EA300FD-C920-B130-335C-112954BC5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612208"/>
              </p:ext>
            </p:extLst>
          </p:nvPr>
        </p:nvGraphicFramePr>
        <p:xfrm>
          <a:off x="627291" y="638175"/>
          <a:ext cx="6312150" cy="5538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625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792F-83C6-47C4-BFE0-0357BB37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Related Terms and Summary</a:t>
            </a:r>
            <a:endParaRPr lang="en-PK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E0808E-20C8-E927-85DF-78C8294F3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289118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4919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509A-6AD3-8B85-A0BA-6F20731C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1B72A-2A1B-3E5D-49CB-F8DDEA0A9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88D4A-38AA-8248-41AB-A23B2B455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3"/>
            <a:ext cx="12192000" cy="68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8744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779</TotalTime>
  <Words>1141</Words>
  <Application>Microsoft Office PowerPoint</Application>
  <PresentationFormat>Widescreen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Corbel</vt:lpstr>
      <vt:lpstr>Times New Roman</vt:lpstr>
      <vt:lpstr>Wingdings</vt:lpstr>
      <vt:lpstr>Depth</vt:lpstr>
      <vt:lpstr>Introduction to Soft Computing</vt:lpstr>
      <vt:lpstr> (Revision) Two Main Approaches of AI</vt:lpstr>
      <vt:lpstr>Sub-Symbolic vs Soft Computing</vt:lpstr>
      <vt:lpstr>Goals of Soft Computing</vt:lpstr>
      <vt:lpstr>PowerPoint Presentation</vt:lpstr>
      <vt:lpstr>(Minimum) Components of Soft Computing</vt:lpstr>
      <vt:lpstr>Different Classifications of Soft Computing Approaches</vt:lpstr>
      <vt:lpstr>Feature wise Comparison of SC Approaches</vt:lpstr>
      <vt:lpstr>Hybrid Computing</vt:lpstr>
      <vt:lpstr>Soft Computing Sub Areas - Brief History</vt:lpstr>
      <vt:lpstr>Lotfi Ali Askar Zadeh (1921-2017)</vt:lpstr>
      <vt:lpstr>Fuzzy Logic - Some Application Areas</vt:lpstr>
      <vt:lpstr>Future Scope</vt:lpstr>
      <vt:lpstr>Few Related Terms and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1-  Soft Computing</dc:title>
  <dc:creator>Talha Waheed</dc:creator>
  <cp:lastModifiedBy>talha waheed</cp:lastModifiedBy>
  <cp:revision>51</cp:revision>
  <dcterms:created xsi:type="dcterms:W3CDTF">2022-01-23T19:06:10Z</dcterms:created>
  <dcterms:modified xsi:type="dcterms:W3CDTF">2026-10-11T22:55:55Z</dcterms:modified>
</cp:coreProperties>
</file>