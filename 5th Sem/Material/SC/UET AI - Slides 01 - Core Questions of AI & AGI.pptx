
<file path=[Content_Types].xml><?xml version="1.0" encoding="utf-8"?>
<Types xmlns="http://schemas.openxmlformats.org/package/2006/content-types">
  <Default Extension="1&amp;q=75&amp;auto=format&amp;w=768&amp;h=512&amp;fit=crop&amp;dpr=1" ContentType="image/jpeg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56.pn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Plus Jakarta Sans" pitchFamily="2" charset="0"/>
      <p:regular r:id="rId19"/>
      <p:bold r:id="rId20"/>
      <p:italic r:id="rId21"/>
      <p:boldItalic r:id="rId22"/>
    </p:embeddedFont>
    <p:embeddedFont>
      <p:font typeface="Space Grotesk" panose="00000500000000000000" pitchFamily="50" charset="0"/>
      <p:regular r:id="rId23"/>
      <p:bold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56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1&amp;q=75&amp;auto=format&amp;w=768&amp;h=512&amp;fit=crop&amp;dpr=1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9.png"/><Relationship Id="rId7" Type="http://schemas.openxmlformats.org/officeDocument/2006/relationships/image" Target="../media/image33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jp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600" y="5829300"/>
            <a:ext cx="109728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609600"/>
            <a:ext cx="3695700" cy="323850"/>
          </a:xfrm>
          <a:prstGeom prst="roundRect">
            <a:avLst>
              <a:gd name="adj" fmla="val 50000"/>
            </a:avLst>
          </a:prstGeom>
          <a:solidFill>
            <a:srgbClr val="172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82930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540" y="1666875"/>
            <a:ext cx="4354859" cy="3429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365" y="1790700"/>
            <a:ext cx="4107209" cy="3181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2402234"/>
            <a:ext cx="6568789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900" b="1" i="0" u="none" dirty="0">
                <a:solidFill>
                  <a:srgbClr val="FFFFFF"/>
                </a:solidFill>
                <a:latin typeface="Space Grotesk"/>
              </a:rPr>
              <a:t>Core</a:t>
            </a:r>
            <a:r>
              <a:rPr sz="3900" b="1" i="0" u="none" dirty="0">
                <a:solidFill>
                  <a:srgbClr val="FFFFFF"/>
                </a:solidFill>
                <a:latin typeface="Space Grotesk"/>
              </a:rPr>
              <a:t> Questions of AI &amp; AGI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731865"/>
            <a:ext cx="6000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Plus Jakarta Sans"/>
              </a:rPr>
              <a:t>What we need to ask before building Strong AI and General Artificial Intelligence</a:t>
            </a:r>
            <a:r>
              <a:rPr lang="en-US" sz="1650" b="0" i="0" u="none" dirty="0">
                <a:solidFill>
                  <a:srgbClr val="CBD5E1"/>
                </a:solidFill>
                <a:latin typeface="Plus Jakarta Sans"/>
              </a:rPr>
              <a:t> (AGI)</a:t>
            </a:r>
            <a:r>
              <a:rPr sz="165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EA25E9-86C1-C673-3E6E-AA7134F65B42}"/>
              </a:ext>
            </a:extLst>
          </p:cNvPr>
          <p:cNvSpPr txBox="1"/>
          <p:nvPr/>
        </p:nvSpPr>
        <p:spPr>
          <a:xfrm>
            <a:off x="2330824" y="4621306"/>
            <a:ext cx="4025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Talha Waheed,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CS Dept, UET, Lahore.</a:t>
            </a:r>
            <a:endParaRPr lang="en-PK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0337"/>
            <a:ext cx="2571750" cy="2447925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700337"/>
            <a:ext cx="2571750" cy="2447925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700337"/>
            <a:ext cx="2571750" cy="2447925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96375" y="2736196"/>
            <a:ext cx="2571750" cy="2447925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3925" y="3014662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24275" y="3014662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24625" y="3014662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24975" y="3014662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450" y="752475"/>
            <a:ext cx="19050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771525"/>
            <a:ext cx="5325665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0F172A"/>
                </a:solidFill>
                <a:latin typeface="Plus Jakarta Sans"/>
              </a:rPr>
              <a:t>1. What is Intelligence?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3014662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1D4ED8"/>
                </a:solidFill>
                <a:latin typeface="Plus Jakarta San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1125" y="3089746"/>
            <a:ext cx="174246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Definition &amp;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862387"/>
            <a:ext cx="2038350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What do we mean by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intelligence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in biological versus artificial systems?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400" y="3014662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1D4ED8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3887" y="3089746"/>
            <a:ext cx="161582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Core 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275" y="3862387"/>
            <a:ext cx="2038350" cy="1218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Is it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problem solving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learning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reasoning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adapting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or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achieving goals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750" y="3014662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1D4ED8"/>
                </a:solidFill>
                <a:latin typeface="Plus Jakarta Sans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9958" y="3101232"/>
            <a:ext cx="188352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Consciousness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3862387"/>
            <a:ext cx="2038350" cy="1218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Can intelligence exist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without consciousness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or subjective experience?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3014662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1D4ED8"/>
                </a:solidFill>
                <a:latin typeface="Plus Jakarta San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6900" y="3112718"/>
            <a:ext cx="148117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Human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4975" y="3862387"/>
            <a:ext cx="2038350" cy="1218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Is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human intelligence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the only valid model for General Intelligence?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1" y="1418318"/>
            <a:ext cx="5676900" cy="2044005"/>
          </a:xfrm>
          <a:prstGeom prst="roundRect">
            <a:avLst>
              <a:gd name="adj" fmla="val 931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66720" y="1433502"/>
            <a:ext cx="49911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66720" y="2643177"/>
            <a:ext cx="4991100" cy="8477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66720" y="3643302"/>
            <a:ext cx="49911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66720" y="1433502"/>
            <a:ext cx="38100" cy="10572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6720" y="2643177"/>
            <a:ext cx="38100" cy="8477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6720" y="3643302"/>
            <a:ext cx="38100" cy="10572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8537" y="752475"/>
            <a:ext cx="31432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630696"/>
            <a:ext cx="2857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771525"/>
            <a:ext cx="7038379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2. Can a Machine Really Think?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4138" y="2018379"/>
            <a:ext cx="2587247" cy="3000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 dirty="0">
                <a:solidFill>
                  <a:srgbClr val="FFFFFF"/>
                </a:solidFill>
                <a:latin typeface="Plus Jakarta Sans"/>
              </a:rPr>
              <a:t>The Turing Test</a:t>
            </a:r>
            <a:r>
              <a:rPr lang="en-US" sz="1950" b="1" i="0" u="none" dirty="0">
                <a:solidFill>
                  <a:srgbClr val="FFFFFF"/>
                </a:solidFill>
                <a:latin typeface="Plus Jakarta Sans"/>
              </a:rPr>
              <a:t> (1950)</a:t>
            </a:r>
            <a:endParaRPr sz="195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48400" y="2440321"/>
            <a:ext cx="5086350" cy="819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i="0" u="none" dirty="0">
                <a:solidFill>
                  <a:schemeClr val="bg1"/>
                </a:solidFill>
                <a:latin typeface="Plus Jakarta Sans"/>
              </a:rPr>
              <a:t>Is human-like behavioral imitation enough to call a </a:t>
            </a:r>
            <a:r>
              <a:rPr b="1" i="0" u="none" dirty="0">
                <a:solidFill>
                  <a:schemeClr val="bg1"/>
                </a:solidFill>
                <a:latin typeface="Plus Jakarta Sans"/>
              </a:rPr>
              <a:t>machine intelligent</a:t>
            </a:r>
            <a:r>
              <a:rPr b="0" i="0" u="none" dirty="0">
                <a:solidFill>
                  <a:schemeClr val="bg1"/>
                </a:solidFill>
                <a:latin typeface="Plus Jakarta Sans"/>
              </a:rPr>
              <a:t>, or does it merely mimic external outputs?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9954" y="1624002"/>
            <a:ext cx="143148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Defining Thought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0" y="1881177"/>
            <a:ext cx="46672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What does it actually mean to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"think"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in an algorithmic environment?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2829" y="2833677"/>
            <a:ext cx="220573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Apparent vs. Real Thought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0" y="3090852"/>
            <a:ext cx="416139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If a machine gives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intelligent answers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, </a:t>
            </a:r>
            <a:br>
              <a:rPr lang="en-US" b="0" i="0" u="none" dirty="0">
                <a:solidFill>
                  <a:srgbClr val="475569"/>
                </a:solidFill>
                <a:latin typeface="Plus Jakarta Sans"/>
              </a:rPr>
            </a:br>
            <a:r>
              <a:rPr b="0" i="0" u="none" dirty="0">
                <a:solidFill>
                  <a:srgbClr val="475569"/>
                </a:solidFill>
                <a:latin typeface="Plus Jakarta Sans"/>
              </a:rPr>
              <a:t>is it actually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thinking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59166" y="3833802"/>
            <a:ext cx="227305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Computation vs. Cognition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20" y="4090977"/>
            <a:ext cx="46672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Can mechanical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computation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produce genuine subjective thought?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450" y="1644983"/>
            <a:ext cx="2119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8BDF8"/>
                </a:solidFill>
                <a:latin typeface="Space Grotesk"/>
              </a:rPr>
              <a:t>BENCHMARK CRITERION</a:t>
            </a:r>
          </a:p>
        </p:txBody>
      </p:sp>
      <p:pic>
        <p:nvPicPr>
          <p:cNvPr id="23" name="Picture 22" descr="Turing Test and The Chinese Room Test - Idiot Developer">
            <a:extLst>
              <a:ext uri="{FF2B5EF4-FFF2-40B4-BE49-F238E27FC236}">
                <a16:creationId xmlns:a16="http://schemas.microsoft.com/office/drawing/2014/main" id="{F46B9139-2F89-B0D0-A565-69E7216F2E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9525" y="4795838"/>
            <a:ext cx="2508154" cy="19947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55BBBD5-0748-177D-0ED7-F50A2A2824C3}"/>
              </a:ext>
            </a:extLst>
          </p:cNvPr>
          <p:cNvSpPr txBox="1"/>
          <p:nvPr/>
        </p:nvSpPr>
        <p:spPr>
          <a:xfrm>
            <a:off x="5607846" y="3828022"/>
            <a:ext cx="636745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Processing: </a:t>
            </a:r>
            <a:r>
              <a:rPr lang="en-PK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read, interpret, and generate text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K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Contextual Understanding:</a:t>
            </a:r>
            <a:r>
              <a:rPr lang="en-PK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track the flow of a conversation and remember previous details.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K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Coherence and Relevance:</a:t>
            </a:r>
            <a:r>
              <a:rPr lang="en-PK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Answers must address the judge's open-ended questions without wandering off-topic.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K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Nuance and Subtlety:</a:t>
            </a:r>
            <a:r>
              <a:rPr lang="en-PK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should handle </a:t>
            </a:r>
            <a:r>
              <a:rPr lang="en-PK" sz="1600" b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humor</a:t>
            </a:r>
            <a:r>
              <a:rPr lang="en-PK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irony, idioms, and emotional tone rather than just giving rigid, pre-programmed facts.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K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Human-Like Reasoning:</a:t>
            </a:r>
            <a:r>
              <a:rPr lang="en-PK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must simulate common-sense logic and everyday world knowledge to avoid sounding robotic or overly literal.</a:t>
            </a:r>
            <a:endParaRPr lang="en-PK" sz="1100" b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A204A1DD-B490-B6BF-971E-E3A5F746AEA6}"/>
              </a:ext>
            </a:extLst>
          </p:cNvPr>
          <p:cNvSpPr/>
          <p:nvPr/>
        </p:nvSpPr>
        <p:spPr>
          <a:xfrm>
            <a:off x="8508205" y="3542378"/>
            <a:ext cx="566737" cy="238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091B31F-E428-0688-96D6-80CB2958FCC3}"/>
              </a:ext>
            </a:extLst>
          </p:cNvPr>
          <p:cNvSpPr/>
          <p:nvPr/>
        </p:nvSpPr>
        <p:spPr>
          <a:xfrm>
            <a:off x="4705350" y="5343525"/>
            <a:ext cx="438150" cy="43815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50" y="1550613"/>
            <a:ext cx="3307556" cy="4800600"/>
          </a:xfrm>
          <a:prstGeom prst="roundRect">
            <a:avLst>
              <a:gd name="adj" fmla="val 57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83856" y="1524000"/>
            <a:ext cx="3307556" cy="4800600"/>
          </a:xfrm>
          <a:prstGeom prst="roundRect">
            <a:avLst>
              <a:gd name="adj" fmla="val 57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58112" y="1524000"/>
            <a:ext cx="3824287" cy="2137566"/>
          </a:xfrm>
          <a:prstGeom prst="roundRect">
            <a:avLst>
              <a:gd name="adj" fmla="val 4981"/>
            </a:avLst>
          </a:prstGeom>
          <a:solidFill>
            <a:srgbClr val="3D1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875" y="752475"/>
            <a:ext cx="2476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119437"/>
            <a:ext cx="2678906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181" y="3119437"/>
            <a:ext cx="2678906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771525"/>
            <a:ext cx="7088385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3. Can a Machine Understand?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3498" y="3144879"/>
            <a:ext cx="2186496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sng" dirty="0">
                <a:solidFill>
                  <a:schemeClr val="accent2"/>
                </a:solidFill>
                <a:latin typeface="Plus Jakarta Sans"/>
              </a:rPr>
              <a:t>Syntax vs. Semantics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957637"/>
            <a:ext cx="2774156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Is processing mathematical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symbols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functionally the same as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understanding meaning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8589" y="3144879"/>
            <a:ext cx="2213748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sng" dirty="0">
                <a:solidFill>
                  <a:schemeClr val="accent2"/>
                </a:solidFill>
                <a:latin typeface="Plus Jakarta Sans"/>
              </a:rPr>
              <a:t>Language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181" y="3957637"/>
            <a:ext cx="2774156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Does an AI that generates fluent, meaningful language actually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understand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what it produces?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2538" y="1640102"/>
            <a:ext cx="347543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 dirty="0">
                <a:solidFill>
                  <a:srgbClr val="FFFFFF"/>
                </a:solidFill>
                <a:latin typeface="Plus Jakarta Sans"/>
              </a:rPr>
              <a:t>The Chinese Room </a:t>
            </a:r>
            <a:r>
              <a:rPr lang="en-US" sz="1800" b="1" i="0" u="none" dirty="0">
                <a:solidFill>
                  <a:srgbClr val="FFFFFF"/>
                </a:solidFill>
                <a:latin typeface="Plus Jakarta Sans"/>
              </a:rPr>
              <a:t>Argument</a:t>
            </a:r>
            <a:endParaRPr sz="18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51820" y="2122683"/>
            <a:ext cx="3309937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b="0" i="0" u="none" dirty="0">
                <a:solidFill>
                  <a:schemeClr val="bg1"/>
                </a:solidFill>
                <a:latin typeface="Plus Jakarta Sans"/>
              </a:rPr>
              <a:t>John </a:t>
            </a:r>
            <a:r>
              <a:rPr b="0" i="0" u="none" dirty="0">
                <a:solidFill>
                  <a:schemeClr val="bg1"/>
                </a:solidFill>
                <a:latin typeface="Plus Jakarta Sans"/>
              </a:rPr>
              <a:t>Searle's dilemma: </a:t>
            </a:r>
            <a:br>
              <a:rPr lang="en-US" b="0" i="0" u="none" dirty="0">
                <a:solidFill>
                  <a:schemeClr val="bg1"/>
                </a:solidFill>
                <a:latin typeface="Plus Jakarta Sans"/>
              </a:rPr>
            </a:br>
            <a:br>
              <a:rPr lang="en-US" b="0" i="0" u="none" dirty="0">
                <a:solidFill>
                  <a:schemeClr val="bg1"/>
                </a:solidFill>
                <a:latin typeface="Plus Jakarta Sans"/>
              </a:rPr>
            </a:br>
            <a:r>
              <a:rPr b="0" i="0" u="none" dirty="0">
                <a:solidFill>
                  <a:schemeClr val="bg1"/>
                </a:solidFill>
                <a:latin typeface="Plus Jakarta Sans"/>
              </a:rPr>
              <a:t>Can a system follow formal rules to behave intelligently without possessing any real understanding?</a:t>
            </a:r>
          </a:p>
        </p:txBody>
      </p:sp>
      <p:pic>
        <p:nvPicPr>
          <p:cNvPr id="19" name="Picture 18" descr="Against John Searle, Gary Marcus, the Chinese Room thought experiment and  its world">
            <a:extLst>
              <a:ext uri="{FF2B5EF4-FFF2-40B4-BE49-F238E27FC236}">
                <a16:creationId xmlns:a16="http://schemas.microsoft.com/office/drawing/2014/main" id="{6A76FB87-5DAB-A270-09C5-B9A8C5209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7985" y="4200525"/>
            <a:ext cx="3910163" cy="2365615"/>
          </a:xfrm>
          <a:prstGeom prst="rect">
            <a:avLst/>
          </a:prstGeom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C40F99E1-484E-04FF-6E55-4E604410CF69}"/>
              </a:ext>
            </a:extLst>
          </p:cNvPr>
          <p:cNvSpPr/>
          <p:nvPr/>
        </p:nvSpPr>
        <p:spPr>
          <a:xfrm>
            <a:off x="9386888" y="3733800"/>
            <a:ext cx="666750" cy="40481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19275"/>
            <a:ext cx="5584626" cy="847725"/>
          </a:xfrm>
          <a:prstGeom prst="roundRect">
            <a:avLst>
              <a:gd name="adj" fmla="val 13483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57500"/>
            <a:ext cx="5584626" cy="847725"/>
          </a:xfrm>
          <a:prstGeom prst="roundRect">
            <a:avLst>
              <a:gd name="adj" fmla="val 13483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895725"/>
            <a:ext cx="5584626" cy="1057275"/>
          </a:xfrm>
          <a:prstGeom prst="roundRect">
            <a:avLst>
              <a:gd name="adj" fmla="val 1081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5143500"/>
            <a:ext cx="5584626" cy="847725"/>
          </a:xfrm>
          <a:prstGeom prst="roundRect">
            <a:avLst>
              <a:gd name="adj" fmla="val 13483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819275"/>
            <a:ext cx="38100" cy="8477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38100" cy="8477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895725"/>
            <a:ext cx="38100" cy="10572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5143500"/>
            <a:ext cx="38100" cy="8477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126" y="2095500"/>
            <a:ext cx="5045273" cy="3619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7587" y="752475"/>
            <a:ext cx="276225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771525"/>
            <a:ext cx="6238279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4. What is Consciousness?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009775"/>
            <a:ext cx="185948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chemeClr val="accent2"/>
                </a:solidFill>
                <a:latin typeface="Plus Jakarta Sans"/>
              </a:rPr>
              <a:t>Subjective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266950"/>
            <a:ext cx="586218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What fundamental quality makes a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person conscious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048000"/>
            <a:ext cx="159338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chemeClr val="accent2"/>
                </a:solidFill>
                <a:latin typeface="Plus Jakarta Sans"/>
              </a:rPr>
              <a:t>Artificial Sentience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305175"/>
            <a:ext cx="656429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Could an artificial synthetic system ever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become conscious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086225"/>
            <a:ext cx="142507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chemeClr val="accent2"/>
                </a:solidFill>
                <a:latin typeface="Plus Jakarta Sans"/>
              </a:rPr>
              <a:t>AGI Requirement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343400"/>
            <a:ext cx="526077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Is internal subjective consciousness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necessary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for General Intelligence?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5334000"/>
            <a:ext cx="171200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chemeClr val="accent2"/>
                </a:solidFill>
                <a:latin typeface="Plus Jakarta Sans"/>
              </a:rPr>
              <a:t>Verification 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591175"/>
            <a:ext cx="656910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How would we objectively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know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if an AI system is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conscious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pic>
        <p:nvPicPr>
          <p:cNvPr id="24" name="Picture 23" descr="Why we need to figure out a theory of consciousness">
            <a:extLst>
              <a:ext uri="{FF2B5EF4-FFF2-40B4-BE49-F238E27FC236}">
                <a16:creationId xmlns:a16="http://schemas.microsoft.com/office/drawing/2014/main" id="{3627673F-5BE3-15C9-AE06-840DA8E89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799" y="2266950"/>
            <a:ext cx="4329113" cy="2886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9350"/>
            <a:ext cx="5372100" cy="1390650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419350"/>
            <a:ext cx="5372100" cy="1390650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38600"/>
            <a:ext cx="5372100" cy="1390650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038600"/>
            <a:ext cx="5372100" cy="1390650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8537" y="752475"/>
            <a:ext cx="3143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71938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2719387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338637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4338637"/>
            <a:ext cx="23812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771525"/>
            <a:ext cx="7875984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5. What Makes a Person a Person?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048000"/>
            <a:ext cx="49149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Is raw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intelligence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sufficient to make an entity a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person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, or are emotional/social bonds required?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048000"/>
            <a:ext cx="49149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Should highly intelligent autonomous AI systems be granted fundamental legal or moral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rights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667250"/>
            <a:ext cx="49149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What unique attributes make human beings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morally significant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in a world of smart machines?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4667250"/>
            <a:ext cx="49149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Could an artificial non-biological entity act as a true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moral agent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capable of ethical duties?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2695575"/>
            <a:ext cx="251350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chemeClr val="accent2"/>
                </a:solidFill>
                <a:latin typeface="Plus Jakarta Sans"/>
              </a:rPr>
              <a:t>Intelligence vs Personhood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1325" y="2695575"/>
            <a:ext cx="115576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chemeClr val="accent2"/>
                </a:solidFill>
                <a:latin typeface="Plus Jakarta Sans"/>
              </a:rPr>
              <a:t>Moral Rights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4314825"/>
            <a:ext cx="184986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chemeClr val="accent2"/>
                </a:solidFill>
                <a:latin typeface="Plus Jakarta Sans"/>
              </a:rPr>
              <a:t>Human Significance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8950" y="4314825"/>
            <a:ext cx="128080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chemeClr val="accent2"/>
                </a:solidFill>
                <a:latin typeface="Plus Jakarta Sans"/>
              </a:rPr>
              <a:t>Moral Agency</a:t>
            </a:r>
          </a:p>
        </p:txBody>
      </p:sp>
      <p:pic>
        <p:nvPicPr>
          <p:cNvPr id="22" name="Picture 21" descr="Answers for Young children's sense of identity - IELTS reading practice test">
            <a:extLst>
              <a:ext uri="{FF2B5EF4-FFF2-40B4-BE49-F238E27FC236}">
                <a16:creationId xmlns:a16="http://schemas.microsoft.com/office/drawing/2014/main" id="{8AE6D9A6-E068-BFA9-3D81-71CFCB704A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4206" y="157497"/>
            <a:ext cx="3824288" cy="22237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7500"/>
            <a:ext cx="2571750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381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2857500"/>
            <a:ext cx="2571750" cy="2133600"/>
          </a:xfrm>
          <a:prstGeom prst="roundRect">
            <a:avLst>
              <a:gd name="adj" fmla="val 7142"/>
            </a:avLst>
          </a:prstGeom>
          <a:solidFill>
            <a:schemeClr val="bg1"/>
          </a:solidFill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2857500"/>
            <a:ext cx="2571750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010650" y="2857500"/>
            <a:ext cx="2571750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875" y="752475"/>
            <a:ext cx="24765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771525"/>
            <a:ext cx="5988248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6. Intentions and Free Will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124200"/>
            <a:ext cx="2133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E11D48"/>
                </a:solidFill>
                <a:latin typeface="Plus Jakarta Sans"/>
              </a:rPr>
              <a:t>Desire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3124200"/>
            <a:ext cx="2133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E11D48"/>
                </a:solidFill>
                <a:latin typeface="Plus Jakarta Sans"/>
              </a:rPr>
              <a:t>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143250"/>
            <a:ext cx="2133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E11D48"/>
                </a:solidFill>
                <a:latin typeface="Plus Jakarta Sans"/>
              </a:rP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7350" y="3124200"/>
            <a:ext cx="2133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E11D48"/>
                </a:solidFill>
                <a:latin typeface="Plus Jakarta Sans"/>
              </a:rPr>
              <a:t>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6780" y="3445818"/>
            <a:ext cx="124393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Intentionality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3752850"/>
            <a:ext cx="2133600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Does an AI system actually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want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something, or is it executing math?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108" y="3438525"/>
            <a:ext cx="97943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Autonomy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6650" y="3752850"/>
            <a:ext cx="2133600" cy="1218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Can a machine make a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genuinely autonomous decision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unguided by code?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0537" y="3445818"/>
            <a:ext cx="78707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Free Will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3752850"/>
            <a:ext cx="2133600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What does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"free will"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even mean for a deterministic synthetic system?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5660" y="3438525"/>
            <a:ext cx="137697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Accountability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7350" y="3752850"/>
            <a:ext cx="2133600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Can an AI be held morally or legally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responsible for its actions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pic>
        <p:nvPicPr>
          <p:cNvPr id="26" name="Picture 25" descr="There's Free Will - by Bentham's Bulldog">
            <a:extLst>
              <a:ext uri="{FF2B5EF4-FFF2-40B4-BE49-F238E27FC236}">
                <a16:creationId xmlns:a16="http://schemas.microsoft.com/office/drawing/2014/main" id="{DADBA3A5-3DBA-F9D0-2E3A-7368F05C4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212" y="481662"/>
            <a:ext cx="3436775" cy="2194863"/>
          </a:xfrm>
          <a:prstGeom prst="rect">
            <a:avLst/>
          </a:prstGeom>
        </p:spPr>
      </p:pic>
      <p:pic>
        <p:nvPicPr>
          <p:cNvPr id="27" name="Picture 26" descr="BBC Radio 4 - In Our Time, Free Will">
            <a:extLst>
              <a:ext uri="{FF2B5EF4-FFF2-40B4-BE49-F238E27FC236}">
                <a16:creationId xmlns:a16="http://schemas.microsoft.com/office/drawing/2014/main" id="{DA7E9F18-F58B-D312-E93F-B94AC446BF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320" y="5067300"/>
            <a:ext cx="2967355" cy="16691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Man Emotion Masks Faceless Guy Hiding Stock Vector (Royalty Free)  2358591053 | Shutterstock">
            <a:extLst>
              <a:ext uri="{FF2B5EF4-FFF2-40B4-BE49-F238E27FC236}">
                <a16:creationId xmlns:a16="http://schemas.microsoft.com/office/drawing/2014/main" id="{4260E5F1-52BF-588D-CAD4-D6E16479C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225" y="74472"/>
            <a:ext cx="3533775" cy="2667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33695" y="2348406"/>
            <a:ext cx="5334000" cy="2677085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56538" y="2294965"/>
            <a:ext cx="5334000" cy="2677085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875" y="752475"/>
            <a:ext cx="2476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190875"/>
            <a:ext cx="381000" cy="428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4019550"/>
            <a:ext cx="342900" cy="428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3190875"/>
            <a:ext cx="419100" cy="428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4019550"/>
            <a:ext cx="381000" cy="4286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3333750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225" y="4162425"/>
            <a:ext cx="1143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7025" y="3333750"/>
            <a:ext cx="1905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7025" y="4162425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771525"/>
            <a:ext cx="7575946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7. Intelligence Without Emotion?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8396" y="2637598"/>
            <a:ext cx="178734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Necessity of Emotion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0734" y="3055877"/>
            <a:ext cx="4267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Are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emotions necessary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for human-level cognitive intelligence?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2434" y="4019550"/>
            <a:ext cx="131927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Pure Rationality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9225" y="4238625"/>
            <a:ext cx="43053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Can effective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rational decision-making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exist in total absence of emotion?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5537" y="2730093"/>
            <a:ext cx="160620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Affective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4225" y="3132950"/>
            <a:ext cx="42291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Should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AGI have real emotions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, or simply simulate/model them?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8208" y="3967002"/>
            <a:ext cx="175208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Impact on Capability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6125" y="4238625"/>
            <a:ext cx="4267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Would emotional responses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improve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or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interfere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with AI performance?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54388" y="1876425"/>
            <a:ext cx="6728011" cy="847725"/>
          </a:xfrm>
          <a:prstGeom prst="roundRect">
            <a:avLst>
              <a:gd name="adj" fmla="val 13483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854388" y="2876550"/>
            <a:ext cx="6728011" cy="847725"/>
          </a:xfrm>
          <a:prstGeom prst="roundRect">
            <a:avLst>
              <a:gd name="adj" fmla="val 13483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854388" y="3876675"/>
            <a:ext cx="6728011" cy="1057275"/>
          </a:xfrm>
          <a:prstGeom prst="roundRect">
            <a:avLst>
              <a:gd name="adj" fmla="val 1081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854388" y="5086350"/>
            <a:ext cx="6728011" cy="847725"/>
          </a:xfrm>
          <a:prstGeom prst="roundRect">
            <a:avLst>
              <a:gd name="adj" fmla="val 13483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94752" y="1876425"/>
            <a:ext cx="38100" cy="8477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99239" y="2876550"/>
            <a:ext cx="38100" cy="8477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90279" y="3876675"/>
            <a:ext cx="38100" cy="10572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85797" y="5086350"/>
            <a:ext cx="38100" cy="8477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95500"/>
            <a:ext cx="4004982" cy="3619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8537" y="752475"/>
            <a:ext cx="31432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105025"/>
            <a:ext cx="3872193" cy="28793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771525"/>
            <a:ext cx="9863732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0F172A"/>
                </a:solidFill>
                <a:latin typeface="Plus Jakarta Sans"/>
              </a:rPr>
              <a:t>8. How Should AGI Decide Right &amp; Wrong?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1767" y="2066925"/>
            <a:ext cx="142346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Defining Morality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5306" y="2322552"/>
            <a:ext cx="723669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How can we define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right and wrong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for an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artificial agent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1504" y="3067050"/>
            <a:ext cx="170399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Normative Authority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1272" y="3274799"/>
            <a:ext cx="718072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Should AGI follow universal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laws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, human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ethics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, or owner instructions?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5017" y="4067175"/>
            <a:ext cx="179696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Conflicting Principles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1272" y="4324350"/>
            <a:ext cx="647587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What happens when foundational ethical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principles conflict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in practice?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5399" y="5276850"/>
            <a:ext cx="181620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chemeClr val="accent2"/>
                </a:solidFill>
                <a:latin typeface="Plus Jakarta Sans"/>
              </a:rPr>
              <a:t>Computational Ethics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5306" y="5477035"/>
            <a:ext cx="5724324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Can morality be formally represented and calculated </a:t>
            </a:r>
            <a:br>
              <a:rPr lang="en-US" b="0" i="0" u="none" dirty="0">
                <a:solidFill>
                  <a:srgbClr val="475569"/>
                </a:solidFill>
                <a:latin typeface="Plus Jakarta Sans"/>
              </a:rPr>
            </a:br>
            <a:r>
              <a:rPr b="1" i="0" u="none" dirty="0">
                <a:solidFill>
                  <a:srgbClr val="475569"/>
                </a:solidFill>
                <a:latin typeface="Plus Jakarta Sans"/>
              </a:rPr>
              <a:t>computationally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28875"/>
            <a:ext cx="5372100" cy="1352550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428875"/>
            <a:ext cx="5372100" cy="1352550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7225" y="4038040"/>
            <a:ext cx="5372100" cy="1352550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010025"/>
            <a:ext cx="5372100" cy="1352550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06265" y="1343903"/>
            <a:ext cx="2756647" cy="284321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619125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875" y="762000"/>
            <a:ext cx="2476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790575"/>
            <a:ext cx="8451056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9. Whose Values Should AGI Follow?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6915" y="1329615"/>
            <a:ext cx="332478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E40AF"/>
                </a:solidFill>
                <a:latin typeface="Plus Jakarta Sans"/>
              </a:rPr>
              <a:t>The AI Alignment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0775" y="2705100"/>
            <a:ext cx="207588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Target Value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019425"/>
            <a:ext cx="49149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What core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human values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should an AGI be engineered to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pursue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165" y="2705100"/>
            <a:ext cx="159819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Cultural Diversity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019425"/>
            <a:ext cx="49149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Values differ vastly across cultures —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whose values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take priority?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6091" y="4286250"/>
            <a:ext cx="280525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Preventing Instrumental 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600575"/>
            <a:ext cx="49149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How can we prevent machines from forming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unintended, harmful goals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1969" y="4286250"/>
            <a:ext cx="223458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Human Interest Synergy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4600575"/>
            <a:ext cx="49149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Can we make AI goals permanently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compatible with human survival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pic>
        <p:nvPicPr>
          <p:cNvPr id="20" name="Picture 19" descr="The AI Alignment Dilemma: Can We Control Super Intelligent Machines Before  It's Too Late? | by The Ai Consultancy | Medium">
            <a:extLst>
              <a:ext uri="{FF2B5EF4-FFF2-40B4-BE49-F238E27FC236}">
                <a16:creationId xmlns:a16="http://schemas.microsoft.com/office/drawing/2014/main" id="{E767B4E1-8E69-EDBC-8728-F4B3A954D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381" y="46706"/>
            <a:ext cx="3856284" cy="2344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Responsible AI: Ethics, Challenges, and Benefits">
            <a:extLst>
              <a:ext uri="{FF2B5EF4-FFF2-40B4-BE49-F238E27FC236}">
                <a16:creationId xmlns:a16="http://schemas.microsoft.com/office/drawing/2014/main" id="{AEB13C58-E555-BA97-2C12-68226089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545" y="5449271"/>
            <a:ext cx="5576579" cy="1741132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395537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938712"/>
            <a:ext cx="10972800" cy="5143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395537"/>
            <a:ext cx="38100" cy="609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233737"/>
            <a:ext cx="2600325" cy="1476375"/>
          </a:xfrm>
          <a:prstGeom prst="roundRect">
            <a:avLst>
              <a:gd name="adj" fmla="val 103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0425" y="3233737"/>
            <a:ext cx="2600325" cy="1476375"/>
          </a:xfrm>
          <a:prstGeom prst="roundRect">
            <a:avLst>
              <a:gd name="adj" fmla="val 103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233737"/>
            <a:ext cx="2600325" cy="1476375"/>
          </a:xfrm>
          <a:prstGeom prst="roundRect">
            <a:avLst>
              <a:gd name="adj" fmla="val 103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82075" y="3233737"/>
            <a:ext cx="2600325" cy="1476375"/>
          </a:xfrm>
          <a:prstGeom prst="roundRect">
            <a:avLst>
              <a:gd name="adj" fmla="val 103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875" y="752475"/>
            <a:ext cx="2476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3075" y="3471862"/>
            <a:ext cx="333375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575" y="3471862"/>
            <a:ext cx="200025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2350" y="3471862"/>
            <a:ext cx="238125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5550" y="3471862"/>
            <a:ext cx="333375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266700" y="5091112"/>
            <a:ext cx="12725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334155"/>
                </a:solidFill>
                <a:latin typeface="Plus Jakarta Sans"/>
              </a:rPr>
              <a:t>Question: Can legal &amp; moral responsibility be shared across distributed autonomous networks?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71525"/>
            <a:ext cx="8788598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10. Who Is Responsible for Decisions?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586037"/>
            <a:ext cx="891269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78350F"/>
                </a:solidFill>
                <a:latin typeface="Plus Jakarta Sans"/>
              </a:rPr>
              <a:t>If an autonomous AI system causes harm, where does ultimate responsibility lie?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838" y="3852862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The 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215" y="4110037"/>
            <a:ext cx="2655093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64748B"/>
                </a:solidFill>
                <a:latin typeface="Plus Jakarta Sans"/>
              </a:rPr>
              <a:t>Architects who </a:t>
            </a:r>
            <a:br>
              <a:rPr lang="en-US" b="0" i="0" u="none" dirty="0">
                <a:solidFill>
                  <a:srgbClr val="64748B"/>
                </a:solidFill>
                <a:latin typeface="Plus Jakarta Sans"/>
              </a:rPr>
            </a:br>
            <a:r>
              <a:rPr b="0" i="0" u="none" dirty="0">
                <a:solidFill>
                  <a:srgbClr val="64748B"/>
                </a:solidFill>
                <a:latin typeface="Plus Jakarta Sans"/>
              </a:rPr>
              <a:t>wrote the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6663" y="3852862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The Organization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0082" y="4110037"/>
            <a:ext cx="1821011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64748B"/>
                </a:solidFill>
                <a:latin typeface="Plus Jakarta Sans"/>
              </a:rPr>
              <a:t>Entity deploying </a:t>
            </a:r>
            <a:br>
              <a:rPr lang="en-US" b="0" i="0" u="none" dirty="0">
                <a:solidFill>
                  <a:srgbClr val="64748B"/>
                </a:solidFill>
                <a:latin typeface="Plus Jakarta Sans"/>
              </a:rPr>
            </a:br>
            <a:r>
              <a:rPr b="0" i="0" u="none" dirty="0">
                <a:solidFill>
                  <a:srgbClr val="64748B"/>
                </a:solidFill>
                <a:latin typeface="Plus Jakarta Sans"/>
              </a:rPr>
              <a:t>the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7488" y="3852862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The End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3273" y="4110037"/>
            <a:ext cx="185627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64748B"/>
                </a:solidFill>
                <a:latin typeface="Plus Jakarta Sans"/>
              </a:rPr>
              <a:t>Operator issuing </a:t>
            </a:r>
            <a:br>
              <a:rPr lang="en-US" b="0" i="0" u="none" dirty="0">
                <a:solidFill>
                  <a:srgbClr val="64748B"/>
                </a:solidFill>
                <a:latin typeface="Plus Jakarta Sans"/>
              </a:rPr>
            </a:br>
            <a:r>
              <a:rPr b="0" i="0" u="none" dirty="0">
                <a:solidFill>
                  <a:srgbClr val="64748B"/>
                </a:solidFill>
                <a:latin typeface="Plus Jakarta Sans"/>
              </a:rPr>
              <a:t>prompts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8313" y="3852862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The AI Itself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7962" y="4110037"/>
            <a:ext cx="2428549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64748B"/>
                </a:solidFill>
                <a:latin typeface="Plus Jakarta Sans"/>
              </a:rPr>
              <a:t>Autonomous decision </a:t>
            </a:r>
            <a:br>
              <a:rPr lang="en-US" b="0" i="0" u="none" dirty="0">
                <a:solidFill>
                  <a:srgbClr val="64748B"/>
                </a:solidFill>
                <a:latin typeface="Plus Jakarta Sans"/>
              </a:rPr>
            </a:br>
            <a:r>
              <a:rPr b="0" i="0" u="none" dirty="0">
                <a:solidFill>
                  <a:srgbClr val="64748B"/>
                </a:solidFill>
                <a:latin typeface="Plus Jakarta Sans"/>
              </a:rPr>
              <a:t>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28775"/>
            <a:ext cx="7498976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57500"/>
            <a:ext cx="7498976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86225"/>
            <a:ext cx="7467600" cy="866775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5105400"/>
            <a:ext cx="746760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497" y="2095500"/>
            <a:ext cx="4793902" cy="3619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8537" y="752475"/>
            <a:ext cx="3143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022" y="2105025"/>
            <a:ext cx="4774852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771525"/>
            <a:ext cx="56007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11. Can We Trust an AGI?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9463" y="1829700"/>
            <a:ext cx="182421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Performance vs.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2085975"/>
            <a:ext cx="553119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Should we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trust an AI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simply because it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performs well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benchmark-wise?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7261" y="3057525"/>
            <a:ext cx="181940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Reliability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314700"/>
            <a:ext cx="553119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How do we verify that its internal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reasoning is reliable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under edge cases?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509" y="4286250"/>
            <a:ext cx="112691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4543425"/>
            <a:ext cx="720389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Can an AGI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explain why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it arrived at a specific complex conclusion?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0473" y="5305425"/>
            <a:ext cx="223298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High-Stakes 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5562600"/>
            <a:ext cx="553119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What level of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transparency is required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for high-stakes medical/military decisions?</a:t>
            </a:r>
          </a:p>
        </p:txBody>
      </p:sp>
      <p:pic>
        <p:nvPicPr>
          <p:cNvPr id="20" name="Picture 19" descr="Can distrust in AI disrupt your business? - Raconteur">
            <a:extLst>
              <a:ext uri="{FF2B5EF4-FFF2-40B4-BE49-F238E27FC236}">
                <a16:creationId xmlns:a16="http://schemas.microsoft.com/office/drawing/2014/main" id="{F5D2A63C-6365-5D46-0DF7-EB4835571F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319" y="1340585"/>
            <a:ext cx="4653143" cy="26130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What Is AI Bias? Causes, Types, &amp; Real-World Impacts - Palo Alto Networks">
            <a:extLst>
              <a:ext uri="{FF2B5EF4-FFF2-40B4-BE49-F238E27FC236}">
                <a16:creationId xmlns:a16="http://schemas.microsoft.com/office/drawing/2014/main" id="{E16836B6-B980-7793-4C9A-FFF99865C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743" y="-64901"/>
            <a:ext cx="5965844" cy="3355788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481012" y="2950058"/>
            <a:ext cx="10972800" cy="1019175"/>
          </a:xfrm>
          <a:prstGeom prst="roundRect">
            <a:avLst>
              <a:gd name="adj" fmla="val 1495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976576"/>
            <a:ext cx="38100" cy="10191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24351"/>
            <a:ext cx="3530649" cy="131240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749" y="4224351"/>
            <a:ext cx="3530649" cy="131240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899" y="4224351"/>
            <a:ext cx="3530649" cy="131240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5643576"/>
            <a:ext cx="5391150" cy="1035984"/>
          </a:xfrm>
          <a:prstGeom prst="roundRect">
            <a:avLst>
              <a:gd name="adj" fmla="val 1463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0" y="5643576"/>
            <a:ext cx="5391150" cy="1035984"/>
          </a:xfrm>
          <a:prstGeom prst="roundRect">
            <a:avLst>
              <a:gd name="adj" fmla="val 1463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7587" y="752475"/>
            <a:ext cx="276225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71525"/>
            <a:ext cx="4675960" cy="877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0F172A"/>
                </a:solidFill>
                <a:latin typeface="Plus Jakarta Sans"/>
              </a:rPr>
              <a:t>12. Intelligence Separated </a:t>
            </a:r>
            <a:br>
              <a:rPr lang="en-US" sz="2850" b="1" i="0" u="none" dirty="0">
                <a:solidFill>
                  <a:srgbClr val="0F172A"/>
                </a:solidFill>
                <a:latin typeface="Plus Jakarta Sans"/>
              </a:rPr>
            </a:br>
            <a:r>
              <a:rPr sz="2850" b="1" i="0" u="none" dirty="0">
                <a:solidFill>
                  <a:srgbClr val="0F172A"/>
                </a:solidFill>
                <a:latin typeface="Plus Jakarta Sans"/>
              </a:rPr>
              <a:t>from Bias?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3019" y="3109197"/>
            <a:ext cx="1933222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991B1B"/>
                </a:solidFill>
                <a:latin typeface="Plus Jakarta Sans"/>
              </a:rPr>
              <a:t>The Unbiased Ideal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548076"/>
            <a:ext cx="716702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Can an artificial intelligence system ever be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completely unbiased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452951"/>
            <a:ext cx="3168699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Plus Jakarta Sans"/>
              </a:rPr>
              <a:t>Origin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9349" y="4452951"/>
            <a:ext cx="3168699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Plus Jakarta Sans"/>
              </a:rPr>
              <a:t>Origin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499" y="4452951"/>
            <a:ext cx="3168699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Plus Jakarta Sans"/>
              </a:rPr>
              <a:t>Origin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700601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Data &amp;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2417" y="4927439"/>
            <a:ext cx="192841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64748B"/>
                </a:solidFill>
                <a:latin typeface="Plus Jakarta Sans"/>
              </a:rPr>
              <a:t>Historical training </a:t>
            </a:r>
            <a:br>
              <a:rPr lang="en-US" b="0" i="0" u="none" dirty="0">
                <a:solidFill>
                  <a:srgbClr val="64748B"/>
                </a:solidFill>
                <a:latin typeface="Plus Jakarta Sans"/>
              </a:rPr>
            </a:br>
            <a:r>
              <a:rPr b="0" i="0" u="none" dirty="0">
                <a:solidFill>
                  <a:srgbClr val="64748B"/>
                </a:solidFill>
                <a:latin typeface="Plus Jakarta Sans"/>
              </a:rPr>
              <a:t>data biases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74" y="4700601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Algorithmic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874" y="4995876"/>
            <a:ext cx="260648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64748B"/>
                </a:solidFill>
                <a:latin typeface="Plus Jakarta Sans"/>
              </a:rPr>
              <a:t>Mathematical objective </a:t>
            </a:r>
            <a:br>
              <a:rPr lang="en-US" b="0" i="0" u="none" dirty="0">
                <a:solidFill>
                  <a:srgbClr val="64748B"/>
                </a:solidFill>
                <a:latin typeface="Plus Jakarta Sans"/>
              </a:rPr>
            </a:br>
            <a:r>
              <a:rPr b="0" i="0" u="none" dirty="0">
                <a:solidFill>
                  <a:srgbClr val="64748B"/>
                </a:solidFill>
                <a:latin typeface="Plus Jakarta Sans"/>
              </a:rPr>
              <a:t>formulations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4774" y="4663414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Human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6825" y="4927439"/>
            <a:ext cx="170399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64748B"/>
                </a:solidFill>
                <a:latin typeface="Plus Jakarta Sans"/>
              </a:rPr>
              <a:t>Feedback loop </a:t>
            </a:r>
            <a:br>
              <a:rPr lang="en-US" b="0" i="0" u="none" dirty="0">
                <a:solidFill>
                  <a:srgbClr val="64748B"/>
                </a:solidFill>
                <a:latin typeface="Plus Jakarta Sans"/>
              </a:rPr>
            </a:br>
            <a:r>
              <a:rPr b="0" i="0" u="none" dirty="0">
                <a:solidFill>
                  <a:srgbClr val="64748B"/>
                </a:solidFill>
                <a:latin typeface="Plus Jakarta Sans"/>
              </a:rPr>
              <a:t>reinforcement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5834076"/>
            <a:ext cx="51054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sng" dirty="0">
                <a:solidFill>
                  <a:schemeClr val="accent2"/>
                </a:solidFill>
                <a:latin typeface="Plus Jakarta Sans"/>
              </a:rPr>
              <a:t>Fairness Definition:</a:t>
            </a:r>
            <a:r>
              <a:rPr sz="1200" b="0" i="0" u="sng" dirty="0">
                <a:solidFill>
                  <a:schemeClr val="accent2"/>
                </a:solidFill>
                <a:latin typeface="Plus Jakarta Sans"/>
              </a:rPr>
              <a:t> </a:t>
            </a:r>
            <a:br>
              <a:rPr lang="en-US" sz="1200" b="0" i="0" u="none" dirty="0">
                <a:solidFill>
                  <a:srgbClr val="334155"/>
                </a:solidFill>
                <a:latin typeface="Plus Jakarta Sans"/>
              </a:rPr>
            </a:br>
            <a:r>
              <a:rPr b="0" i="0" u="none" dirty="0">
                <a:solidFill>
                  <a:srgbClr val="334155"/>
                </a:solidFill>
                <a:latin typeface="Plus Jakarta Sans"/>
              </a:rPr>
              <a:t>What does fairness actually mean mathematically?</a:t>
            </a:r>
            <a:endParaRPr sz="12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81750" y="5834076"/>
            <a:ext cx="51054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sng" dirty="0">
                <a:solidFill>
                  <a:schemeClr val="accent2"/>
                </a:solidFill>
                <a:latin typeface="Plus Jakarta Sans"/>
              </a:rPr>
              <a:t>Conflicting Definitions: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br>
              <a:rPr lang="en-US" sz="1200" b="0" i="0" u="none" dirty="0">
                <a:solidFill>
                  <a:srgbClr val="334155"/>
                </a:solidFill>
                <a:latin typeface="Plus Jakarta Sans"/>
              </a:rPr>
            </a:br>
            <a:r>
              <a:rPr b="0" i="0" u="none" dirty="0">
                <a:solidFill>
                  <a:srgbClr val="334155"/>
                </a:solidFill>
                <a:latin typeface="Plus Jakarta Sans"/>
              </a:rPr>
              <a:t>Can competing mathematical notions of fairness be reconciled?</a:t>
            </a:r>
            <a:endParaRPr sz="1200" b="0" i="0" u="none" dirty="0">
              <a:solidFill>
                <a:srgbClr val="334155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411" y="2616776"/>
            <a:ext cx="2571750" cy="2538412"/>
          </a:xfrm>
          <a:prstGeom prst="roundRect">
            <a:avLst>
              <a:gd name="adj" fmla="val 75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655093"/>
            <a:ext cx="2571750" cy="2538412"/>
          </a:xfrm>
          <a:prstGeom prst="roundRect">
            <a:avLst>
              <a:gd name="adj" fmla="val 75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83545" y="2587501"/>
            <a:ext cx="2571750" cy="2538412"/>
          </a:xfrm>
          <a:prstGeom prst="roundRect">
            <a:avLst>
              <a:gd name="adj" fmla="val 75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655093"/>
            <a:ext cx="2571750" cy="2538412"/>
          </a:xfrm>
          <a:prstGeom prst="roundRect">
            <a:avLst>
              <a:gd name="adj" fmla="val 75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8537" y="752475"/>
            <a:ext cx="3143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73" y="2961428"/>
            <a:ext cx="19431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4275" y="2969418"/>
            <a:ext cx="19431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850" y="2969418"/>
            <a:ext cx="19431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4975" y="2969418"/>
            <a:ext cx="19431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771525"/>
            <a:ext cx="7638454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13. Limits of Machine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520" y="2987352"/>
            <a:ext cx="2140267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Omniscience Paradox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620762"/>
            <a:ext cx="2038350" cy="1218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Can a computational machine ever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know everything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that is knowable?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3174" y="2993944"/>
            <a:ext cx="196528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Unsolvable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4616" y="3609662"/>
            <a:ext cx="2038350" cy="1218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Are there fundamental problems computers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cannot solve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in finite time?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8428" y="2987352"/>
            <a:ext cx="181459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Theoretical Barriers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3664743"/>
            <a:ext cx="203835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What do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incompleteness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undecidability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, and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complexity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tell us about AGI?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5895" y="3013270"/>
            <a:ext cx="161743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Scale Boundaries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4975" y="3712368"/>
            <a:ext cx="2038350" cy="1218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Does simply expanding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intelligence remove limits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or reveal new ones?</a:t>
            </a:r>
          </a:p>
        </p:txBody>
      </p:sp>
      <p:pic>
        <p:nvPicPr>
          <p:cNvPr id="22" name="Picture 21" descr="Page 32 | Ai artificial intelligence machine learning Images - Free  Download on Magnific (formerly Freepik)">
            <a:extLst>
              <a:ext uri="{FF2B5EF4-FFF2-40B4-BE49-F238E27FC236}">
                <a16:creationId xmlns:a16="http://schemas.microsoft.com/office/drawing/2014/main" id="{9A3BBF20-6D94-745D-4977-5F4DBC87C6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4231" y="163457"/>
            <a:ext cx="4162425" cy="22330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05500" y="1294246"/>
            <a:ext cx="5676900" cy="2158305"/>
          </a:xfrm>
          <a:prstGeom prst="roundRect">
            <a:avLst>
              <a:gd name="adj" fmla="val 8826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185987"/>
            <a:ext cx="4991100" cy="105727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395662"/>
            <a:ext cx="4991100" cy="105727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605337"/>
            <a:ext cx="4991100" cy="105727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185987"/>
            <a:ext cx="38100" cy="10572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395662"/>
            <a:ext cx="38100" cy="10572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605337"/>
            <a:ext cx="38100" cy="10572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875" y="752475"/>
            <a:ext cx="2476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637146"/>
            <a:ext cx="49911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771525"/>
            <a:ext cx="910113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14. Can AI Create Genuine Knowledge?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1820" y="1605875"/>
            <a:ext cx="2967159" cy="3000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950" b="1" i="0" u="none" dirty="0">
                <a:solidFill>
                  <a:srgbClr val="FFFFFF"/>
                </a:solidFill>
                <a:latin typeface="Plus Jakarta Sans"/>
              </a:rPr>
              <a:t>Epistemological Frontier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9350" y="2151471"/>
            <a:ext cx="5086350" cy="819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GB" b="0" i="0" u="none" dirty="0">
                <a:solidFill>
                  <a:schemeClr val="bg1"/>
                </a:solidFill>
                <a:latin typeface="Plus Jakarta Sans"/>
              </a:rPr>
              <a:t>Can an AI system discover fundamental truths about nature that </a:t>
            </a:r>
            <a:r>
              <a:rPr lang="en-GB" b="1" i="0" u="none" dirty="0">
                <a:solidFill>
                  <a:schemeClr val="bg1"/>
                </a:solidFill>
                <a:latin typeface="Plus Jakarta Sans"/>
              </a:rPr>
              <a:t>humans cannot comprehend</a:t>
            </a:r>
            <a:r>
              <a:rPr lang="en-GB" b="0" i="0" u="none" dirty="0">
                <a:solidFill>
                  <a:schemeClr val="bg1"/>
                </a:solidFill>
                <a:latin typeface="Plus Jakarta Sans"/>
              </a:rPr>
              <a:t> or conceptualize?</a:t>
            </a:r>
            <a:endParaRPr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48106" y="2376487"/>
            <a:ext cx="178093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Pattern vs.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633662"/>
            <a:ext cx="46672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0" i="0" u="none" dirty="0">
                <a:solidFill>
                  <a:srgbClr val="475569"/>
                </a:solidFill>
                <a:latin typeface="Plus Jakarta Sans"/>
              </a:rPr>
              <a:t>Is statistical </a:t>
            </a:r>
            <a:r>
              <a:rPr lang="en-US" dirty="0">
                <a:solidFill>
                  <a:srgbClr val="475569"/>
                </a:solidFill>
                <a:latin typeface="Plus Jakarta Sans"/>
              </a:rPr>
              <a:t>learning of a 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pattern the same as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discovering knowledge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4055" y="3586162"/>
            <a:ext cx="140904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Scientific Theory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843337"/>
            <a:ext cx="46672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Can AI autonomously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generate new scientific theories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from raw empirical data?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6923" y="4795837"/>
            <a:ext cx="176330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sng" dirty="0">
                <a:solidFill>
                  <a:schemeClr val="accent2"/>
                </a:solidFill>
                <a:latin typeface="Plus Jakarta Sans"/>
              </a:rPr>
              <a:t>Prediction vs.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053012"/>
            <a:ext cx="46672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Does accurate statistical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prediction require true understanding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?</a:t>
            </a:r>
          </a:p>
        </p:txBody>
      </p:sp>
      <p:pic>
        <p:nvPicPr>
          <p:cNvPr id="12" name="Picture 11" descr="Knowledge AI vs. Knowledge Management: Main Differences">
            <a:extLst>
              <a:ext uri="{FF2B5EF4-FFF2-40B4-BE49-F238E27FC236}">
                <a16:creationId xmlns:a16="http://schemas.microsoft.com/office/drawing/2014/main" id="{5BA63AD3-DC26-C097-D928-50E5748D7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352" y="3623976"/>
            <a:ext cx="3118597" cy="31185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746131"/>
            <a:ext cx="5372100" cy="1390650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746131"/>
            <a:ext cx="5372100" cy="1390650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5365381"/>
            <a:ext cx="5372100" cy="1390650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5365381"/>
            <a:ext cx="5372100" cy="1390650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609600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046168"/>
            <a:ext cx="2381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4046168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5665418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5665418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71525"/>
            <a:ext cx="3685304" cy="877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0F172A"/>
                </a:solidFill>
                <a:latin typeface="Plus Jakarta Sans"/>
              </a:rPr>
              <a:t>15. When AI Exceeds </a:t>
            </a:r>
            <a:br>
              <a:rPr lang="en-US" sz="2850" b="1" i="0" u="none" dirty="0">
                <a:solidFill>
                  <a:srgbClr val="0F172A"/>
                </a:solidFill>
                <a:latin typeface="Plus Jakarta Sans"/>
              </a:rPr>
            </a:br>
            <a:r>
              <a:rPr sz="2850" b="1" i="0" u="none" dirty="0">
                <a:solidFill>
                  <a:srgbClr val="0F172A"/>
                </a:solidFill>
                <a:latin typeface="Plus Jakarta Sans"/>
              </a:rPr>
              <a:t>Human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374781"/>
            <a:ext cx="49149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How should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humans interact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with highly capable, superior intelligence?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374781"/>
            <a:ext cx="49149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Should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humans remain in control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, and is meaningful control possible?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5994031"/>
            <a:ext cx="49149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What does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human oversight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mean for fast autonomous systems?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5994031"/>
            <a:ext cx="49149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How should society 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respond if AI exceeds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overall human intelligence?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1776" y="4022356"/>
            <a:ext cx="172322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Human 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330" y="4022356"/>
            <a:ext cx="154048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Control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661" y="5641606"/>
            <a:ext cx="162384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Human Oversight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9945" y="5641606"/>
            <a:ext cx="172803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sng" dirty="0">
                <a:solidFill>
                  <a:schemeClr val="accent2"/>
                </a:solidFill>
                <a:latin typeface="Plus Jakarta Sans"/>
              </a:rPr>
              <a:t>Societal Response</a:t>
            </a:r>
          </a:p>
        </p:txBody>
      </p:sp>
      <p:pic>
        <p:nvPicPr>
          <p:cNvPr id="11" name="Picture 10" descr="The Singularity – CraigBellamy.net(.au)">
            <a:extLst>
              <a:ext uri="{FF2B5EF4-FFF2-40B4-BE49-F238E27FC236}">
                <a16:creationId xmlns:a16="http://schemas.microsoft.com/office/drawing/2014/main" id="{18B9DF38-9269-4FB6-986E-1491675D94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6774" y="487175"/>
            <a:ext cx="6366022" cy="31208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" y="107576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4082" y="4272682"/>
            <a:ext cx="10972800" cy="1171575"/>
          </a:xfrm>
          <a:prstGeom prst="roundRect">
            <a:avLst>
              <a:gd name="adj" fmla="val 13008"/>
            </a:avLst>
          </a:prstGeom>
          <a:solidFill>
            <a:srgbClr val="1E2042"/>
          </a:solidFill>
          <a:ln w="9525">
            <a:solidFill>
              <a:srgbClr val="31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5495925"/>
            <a:ext cx="10972800" cy="904875"/>
          </a:xfrm>
          <a:prstGeom prst="roundRect">
            <a:avLst>
              <a:gd name="adj" fmla="val 16842"/>
            </a:avLst>
          </a:prstGeom>
          <a:solidFill>
            <a:srgbClr val="282566"/>
          </a:solidFill>
          <a:ln w="254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1219200"/>
            <a:ext cx="2072580" cy="2488706"/>
          </a:xfrm>
          <a:prstGeom prst="roundRect">
            <a:avLst>
              <a:gd name="adj" fmla="val 10294"/>
            </a:avLst>
          </a:prstGeom>
          <a:solidFill>
            <a:srgbClr val="212344"/>
          </a:solidFill>
          <a:ln w="2540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34580" y="1219200"/>
            <a:ext cx="2072580" cy="2523565"/>
          </a:xfrm>
          <a:prstGeom prst="roundRect">
            <a:avLst>
              <a:gd name="adj" fmla="val 10294"/>
            </a:avLst>
          </a:prstGeom>
          <a:solidFill>
            <a:srgbClr val="212344"/>
          </a:solidFill>
          <a:ln w="254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59560" y="1219200"/>
            <a:ext cx="2072580" cy="2506182"/>
          </a:xfrm>
          <a:prstGeom prst="roundRect">
            <a:avLst>
              <a:gd name="adj" fmla="val 10294"/>
            </a:avLst>
          </a:prstGeom>
          <a:solidFill>
            <a:srgbClr val="212344"/>
          </a:solidFill>
          <a:ln w="254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84541" y="1219200"/>
            <a:ext cx="2072580" cy="2523565"/>
          </a:xfrm>
          <a:prstGeom prst="roundRect">
            <a:avLst>
              <a:gd name="adj" fmla="val 10294"/>
            </a:avLst>
          </a:prstGeom>
          <a:solidFill>
            <a:srgbClr val="212344"/>
          </a:solidFill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509521" y="1219200"/>
            <a:ext cx="2072580" cy="2523565"/>
          </a:xfrm>
          <a:prstGeom prst="roundRect">
            <a:avLst>
              <a:gd name="adj" fmla="val 10294"/>
            </a:avLst>
          </a:prstGeom>
          <a:solidFill>
            <a:srgbClr val="212344"/>
          </a:solidFill>
          <a:ln w="254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3987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980" y="1423987"/>
            <a:ext cx="1714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960" y="1423987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941" y="1423987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1921" y="1423987"/>
            <a:ext cx="1524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1525" y="4176679"/>
            <a:ext cx="105346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sng" dirty="0">
                <a:solidFill>
                  <a:srgbClr val="FBBF24"/>
                </a:solidFill>
                <a:latin typeface="Plus Jakarta Sans"/>
              </a:rPr>
              <a:t>THE ULTIMATE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1960" y="423476"/>
            <a:ext cx="274434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38BDF8"/>
                </a:solidFill>
                <a:latin typeface="Space Grotesk"/>
              </a:rPr>
              <a:t>SYNTHESIS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2206" y="695325"/>
            <a:ext cx="4477187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FFFFFF"/>
                </a:solidFill>
                <a:latin typeface="Plus Jakarta Sans"/>
              </a:rPr>
              <a:t>The </a:t>
            </a:r>
            <a:r>
              <a:rPr lang="en-US" sz="2100" b="1" i="0" u="none" dirty="0">
                <a:solidFill>
                  <a:srgbClr val="FFFFFF"/>
                </a:solidFill>
                <a:latin typeface="Plus Jakarta Sans"/>
              </a:rPr>
              <a:t>5</a:t>
            </a:r>
            <a:r>
              <a:rPr sz="2100" b="1" i="0" u="none" dirty="0">
                <a:solidFill>
                  <a:srgbClr val="FFFFFF"/>
                </a:solidFill>
                <a:latin typeface="Plus Jakarta Sans"/>
              </a:rPr>
              <a:t> Big Philosophical Challenges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4531344"/>
            <a:ext cx="11168063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i="0" u="none" dirty="0">
                <a:solidFill>
                  <a:schemeClr val="bg1"/>
                </a:solidFill>
                <a:latin typeface="Plus Jakarta Sans"/>
              </a:rPr>
              <a:t>"If we build a machine that can learn, reason, understand, plan and act across many domains like a human</a:t>
            </a:r>
            <a:r>
              <a:rPr lang="en-US" b="0" i="0" u="none" dirty="0">
                <a:solidFill>
                  <a:schemeClr val="bg1"/>
                </a:solidFill>
                <a:latin typeface="Plus Jakarta Sans"/>
              </a:rPr>
              <a:t> </a:t>
            </a:r>
            <a:r>
              <a:rPr b="0" i="0" u="none" dirty="0">
                <a:solidFill>
                  <a:schemeClr val="bg1"/>
                </a:solidFill>
                <a:latin typeface="Plus Jakarta Sans"/>
              </a:rPr>
              <a:t>—or beyond human level—</a:t>
            </a:r>
            <a:br>
              <a:rPr lang="en-US" b="0" i="0" u="none" dirty="0">
                <a:solidFill>
                  <a:schemeClr val="bg1"/>
                </a:solidFill>
                <a:latin typeface="Plus Jakarta Sans"/>
              </a:rPr>
            </a:br>
            <a:r>
              <a:rPr b="1" i="0" u="none" dirty="0">
                <a:solidFill>
                  <a:schemeClr val="bg1"/>
                </a:solidFill>
                <a:latin typeface="Plus Jakarta Sans"/>
              </a:rPr>
              <a:t>what would make it genuinely intelligent</a:t>
            </a:r>
            <a:r>
              <a:rPr b="0" i="0" u="none" dirty="0">
                <a:solidFill>
                  <a:schemeClr val="bg1"/>
                </a:solidFill>
                <a:latin typeface="Plus Jakarta Sans"/>
              </a:rPr>
              <a:t> rather than merely </a:t>
            </a:r>
            <a:r>
              <a:rPr b="1" i="0" u="none" dirty="0">
                <a:solidFill>
                  <a:schemeClr val="bg1"/>
                </a:solidFill>
                <a:latin typeface="Plus Jakarta Sans"/>
              </a:rPr>
              <a:t>very good at computation</a:t>
            </a:r>
            <a:r>
              <a:rPr b="0" i="0" u="none" dirty="0">
                <a:solidFill>
                  <a:schemeClr val="bg1"/>
                </a:solidFill>
                <a:latin typeface="Plus Jakarta Sans"/>
              </a:rPr>
              <a:t>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8276" y="5668686"/>
            <a:ext cx="3802323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FFFF00"/>
                </a:solidFill>
                <a:latin typeface="Plus Jakarta Sans"/>
              </a:rPr>
              <a:t>Think, Question, Build a Better Future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1442" y="6031045"/>
            <a:ext cx="628537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chemeClr val="bg1"/>
                </a:solidFill>
                <a:latin typeface="Plus Jakarta Sans"/>
              </a:rPr>
              <a:t>AI is not just a technical challenge — </a:t>
            </a:r>
            <a:r>
              <a:rPr b="1" i="0" u="none" dirty="0">
                <a:solidFill>
                  <a:schemeClr val="bg1"/>
                </a:solidFill>
                <a:latin typeface="Plus Jakarta Sans"/>
              </a:rPr>
              <a:t>it's a human question</a:t>
            </a:r>
            <a:r>
              <a:rPr b="0" i="0" u="none" dirty="0">
                <a:solidFill>
                  <a:schemeClr val="bg1"/>
                </a:solidFill>
                <a:latin typeface="Plus Jakarta Sans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1657350"/>
            <a:ext cx="1863030" cy="20224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b="0" i="0" u="none" dirty="0">
                <a:solidFill>
                  <a:schemeClr val="bg1"/>
                </a:solidFill>
                <a:latin typeface="Plus Jakarta Sans"/>
              </a:rPr>
              <a:t>Can a machine think, understand or become conscious?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6980" y="1657350"/>
            <a:ext cx="1863030" cy="1606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b="0" i="0" u="none" dirty="0">
                <a:solidFill>
                  <a:schemeClr val="bg1"/>
                </a:solidFill>
                <a:latin typeface="Plus Jakarta Sans"/>
              </a:rPr>
              <a:t>Can a machine genuinely know, reason and discover?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1960" y="1657350"/>
            <a:ext cx="1863030" cy="1606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b="0" i="0" u="none" dirty="0">
                <a:solidFill>
                  <a:schemeClr val="bg1"/>
                </a:solidFill>
                <a:latin typeface="Plus Jakarta Sans"/>
              </a:rPr>
              <a:t>Can a machine have intentions, autonomy or free will?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6941" y="1657350"/>
            <a:ext cx="1863030" cy="1606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b="0" i="0" u="none" dirty="0">
                <a:solidFill>
                  <a:schemeClr val="bg1"/>
                </a:solidFill>
                <a:latin typeface="Plus Jakarta Sans"/>
              </a:rPr>
              <a:t>Can a machine understand and follow ethical values?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1921" y="1657350"/>
            <a:ext cx="1863030" cy="1606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b="0" i="0" u="none" dirty="0">
                <a:solidFill>
                  <a:schemeClr val="bg1"/>
                </a:solidFill>
                <a:latin typeface="Plus Jakarta Sans"/>
              </a:rPr>
              <a:t>Can we ensure AI remains compatible with human goals?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099" y="1400175"/>
            <a:ext cx="49372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sng" dirty="0">
                <a:solidFill>
                  <a:srgbClr val="FFFFFF"/>
                </a:solidFill>
                <a:latin typeface="Plus Jakarta Sans"/>
              </a:rPr>
              <a:t>Mind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4630" y="1400175"/>
            <a:ext cx="114614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sng" dirty="0">
                <a:solidFill>
                  <a:srgbClr val="FFFFFF"/>
                </a:solidFill>
                <a:latin typeface="Plus Jakarta Sans"/>
              </a:rPr>
              <a:t>Knowledge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560" y="1400175"/>
            <a:ext cx="76783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sng" dirty="0">
                <a:solidFill>
                  <a:srgbClr val="FFFFFF"/>
                </a:solidFill>
                <a:latin typeface="Plus Jakarta Sans"/>
              </a:rPr>
              <a:t>Agency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5541" y="1400175"/>
            <a:ext cx="81913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sng" dirty="0">
                <a:solidFill>
                  <a:srgbClr val="FFFFFF"/>
                </a:solidFill>
                <a:latin typeface="Plus Jakarta Sans"/>
              </a:rPr>
              <a:t>Morality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6401" y="1400175"/>
            <a:ext cx="102431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sng" dirty="0">
                <a:solidFill>
                  <a:srgbClr val="FFFFFF"/>
                </a:solidFill>
                <a:latin typeface="Plus Jakarta Sans"/>
              </a:rPr>
              <a:t>Alignment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1243</Words>
  <Application>Microsoft Office PowerPoint</Application>
  <PresentationFormat>Widescreen</PresentationFormat>
  <Paragraphs>174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Times New Roman</vt:lpstr>
      <vt:lpstr>Calibri</vt:lpstr>
      <vt:lpstr>Arial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talha waheed</cp:lastModifiedBy>
  <cp:revision>20</cp:revision>
  <dcterms:created xsi:type="dcterms:W3CDTF">2013-01-27T09:14:16Z</dcterms:created>
  <dcterms:modified xsi:type="dcterms:W3CDTF">2026-09-27T23:01:38Z</dcterms:modified>
  <cp:category/>
</cp:coreProperties>
</file>