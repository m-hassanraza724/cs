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this week is not a tour of psychology for its own sake. Every fact about the human we meet has a design consequence, and today we follow one fact — how people move a pointer — all the way into the interfaces they use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question in bold — it is the exam-worthy habit of mind for this course. Point at the table and say the left column is Chapter 1, the right column is why we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out; they are the contract for the lecture. Note that Lab 1 this week is the empirical half of today's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of the MHP from Lecture 1 of last week's reading. The key claim: the motor stage is the one we can put a number on, so it is where quantitative interface design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physically: throw your hand at the door handle (ballistic), then the little wiggle at the end (corrective). Students remember the gesture better than the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statements are obvious once said; the value of the law is that it says HOW MUCH, and the two contributions are not symmetric — halving the distance buys less than doubling the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'measured along the axis of motion'. A wide, flat button approached from above is a narrow target; the same button approached from the side is a wide one. This single clause explains half of the examples later in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on the board if time allows. The point is to move students from 'obviously bigger is better' to 'here is the size of the effect, and here is the argument I can take to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Fitts' original participants tapped with a stylus. Ask the class why a law from 1954 would survive the mouse, the trackpad and the touchscreen — the answer is that it describes the limb, not the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run this. Walk the room. The bodily memory of 'I didn't have to aim' is what makes the next four slides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the third option costs nothing — no pixels, no predictability. Designers who do not know Fitts' Law leave it on the table, which is exactly what the next slides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limit on the board. Students who have just seen the formula enjoy watching the log term vanish — it converts a hand-waving claim into a consequence of the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phrase 'a mile high' is worth repeating — students remember it. Then set up the next slide: if one edge is good, what about a place where two edges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name what occupies each corner on their own machine, and whether that is the right thing to put there. It is a good two-minute discussion and it generalises immediately to phone layouts.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lecture's best cautionary tale: the designer had the right idea (corner placement) and lost all of it to a visual detail. Ask what the equivalent mistake looks like on a web page — a clickable label that is not part of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trade: the Ribbon is often criticised for eating vertical space. That criticism is correct and the design is still defensible — it is a deliberate exchange of one resource for another, which is what engineering design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lever is safer. Reducing distance by moving controls is powerful but unpredictable — a control that is sometimes there cannot be learned spatially, which is why Office keeps every Mini Toolbar command in the Ribbon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pair: QAT = fixed, learnable, edge-anchored, for habitual commands. Mini Toolbar = transient, close, for commands tied to a selection. Same law, opposite strategies, both correct for their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row is the one students forget. Speed is not always the goal — the menu-slip story from the first lecture is exactly a case where Save and Delete were too close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 against over-application: every year somebody argues in a design review that a button should be the size of the screen. Name the boundaries of the law now so the argument does not happen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this as the bridge into Lab 1. Students who arrive with a specific interface in mind get far more out of the Fitts measurement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the opening question: what does this force me to do differently as a designer? Today's answer is measurable, and the lab is where they measure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7680960" cy="365760"/>
          </a:xfrm>
          <a:prstGeom prst="rect">
            <a:avLst/>
          </a:prstGeom>
          <a:noFill/>
          <a:ln/>
        </p:spPr>
        <p:txBody>
          <a:bodyPr wrap="square" lIns="0" tIns="0" rIns="0" bIns="0" rtlCol="0" anchor="ctr"/>
          <a:lstStyle/>
          <a:p>
            <a:pPr indent="0" marL="0">
              <a:buNone/>
            </a:pPr>
            <a:r>
              <a:rPr lang="en-US" sz="1400" dirty="0">
                <a:solidFill>
                  <a:srgbClr val="595959"/>
                </a:solidFill>
                <a:latin typeface="Times New Roman" pitchFamily="34" charset="0"/>
                <a:ea typeface="Times New Roman" pitchFamily="34" charset="-122"/>
                <a:cs typeface="Times New Roman" pitchFamily="34" charset="-120"/>
              </a:rPr>
              <a:t>Human–Computer Interaction  ·  BS Computer Science  ·  Fall 2026</a:t>
            </a:r>
            <a:endParaRPr lang="en-US" sz="1400" dirty="0"/>
          </a:p>
        </p:txBody>
      </p:sp>
      <p:sp>
        <p:nvSpPr>
          <p:cNvPr id="3" name="Text 1"/>
          <p:cNvSpPr txBox="1"/>
          <p:nvPr/>
        </p:nvSpPr>
        <p:spPr>
          <a:xfrm>
            <a:off x="731520" y="1280160"/>
            <a:ext cx="7680960" cy="1280160"/>
          </a:xfrm>
          <a:prstGeom prst="rect">
            <a:avLst/>
          </a:prstGeom>
          <a:noFill/>
          <a:ln/>
        </p:spPr>
        <p:txBody>
          <a:bodyPr wrap="square" lIns="0" tIns="0" rIns="0" bIns="0" rtlCol="0" anchor="ctr"/>
          <a:lstStyle/>
          <a:p>
            <a:pPr indent="0" marL="0">
              <a:lnSpc>
                <a:spcPct val="110000"/>
              </a:lnSpc>
              <a:buNone/>
            </a:pPr>
            <a:r>
              <a:rPr lang="en-US" sz="3200" b="1" dirty="0">
                <a:solidFill>
                  <a:srgbClr val="000000"/>
                </a:solidFill>
                <a:latin typeface="Times New Roman" pitchFamily="34" charset="0"/>
                <a:ea typeface="Times New Roman" pitchFamily="34" charset="-122"/>
                <a:cs typeface="Times New Roman" pitchFamily="34" charset="-120"/>
              </a:rPr>
              <a:t>Week 1 · Lecture 1</a:t>
            </a:r>
            <a:endParaRPr lang="en-US" sz="3200" dirty="0"/>
          </a:p>
          <a:p>
            <a:pPr indent="0" marL="0">
              <a:lnSpc>
                <a:spcPct val="110000"/>
              </a:lnSpc>
              <a:buNone/>
            </a:pPr>
            <a:r>
              <a:rPr lang="en-US" sz="3200" b="1" dirty="0">
                <a:solidFill>
                  <a:srgbClr val="000000"/>
                </a:solidFill>
                <a:latin typeface="Times New Roman" pitchFamily="34" charset="0"/>
                <a:ea typeface="Times New Roman" pitchFamily="34" charset="-122"/>
                <a:cs typeface="Times New Roman" pitchFamily="34" charset="-120"/>
              </a:rPr>
              <a:t>The Human — Design Thoughts (I)</a:t>
            </a:r>
            <a:endParaRPr lang="en-US" sz="3200" dirty="0"/>
          </a:p>
        </p:txBody>
      </p:sp>
      <p:sp>
        <p:nvSpPr>
          <p:cNvPr id="4" name="Text 2"/>
          <p:cNvSpPr txBox="1"/>
          <p:nvPr/>
        </p:nvSpPr>
        <p:spPr>
          <a:xfrm>
            <a:off x="731520" y="2606040"/>
            <a:ext cx="7680960" cy="548640"/>
          </a:xfrm>
          <a:prstGeom prst="rect">
            <a:avLst/>
          </a:prstGeom>
          <a:noFill/>
          <a:ln/>
        </p:spPr>
        <p:txBody>
          <a:bodyPr wrap="square" lIns="0" tIns="0" rIns="0" bIns="0" rtlCol="0" anchor="ctr"/>
          <a:lstStyle/>
          <a:p>
            <a:pPr indent="0" marL="0">
              <a:buNone/>
            </a:pPr>
            <a:r>
              <a:rPr lang="en-US" sz="1800" i="1" dirty="0">
                <a:solidFill>
                  <a:srgbClr val="262626"/>
                </a:solidFill>
                <a:latin typeface="Times New Roman" pitchFamily="34" charset="0"/>
                <a:ea typeface="Times New Roman" pitchFamily="34" charset="-122"/>
                <a:cs typeface="Times New Roman" pitchFamily="34" charset="-120"/>
              </a:rPr>
              <a:t>Fitts' Law and designing for the motor channel</a:t>
            </a:r>
            <a:endParaRPr lang="en-US" sz="1800" dirty="0"/>
          </a:p>
        </p:txBody>
      </p:sp>
      <p:sp>
        <p:nvSpPr>
          <p:cNvPr id="5" name="Shape 3"/>
          <p:cNvSpPr/>
          <p:nvPr/>
        </p:nvSpPr>
        <p:spPr>
          <a:xfrm>
            <a:off x="731520" y="3383280"/>
            <a:ext cx="1828800" cy="0"/>
          </a:xfrm>
          <a:prstGeom prst="line">
            <a:avLst/>
          </a:prstGeom>
          <a:noFill/>
          <a:ln w="15875">
            <a:solidFill>
              <a:srgbClr val="BFBFBF"/>
            </a:solidFill>
            <a:prstDash val="solid"/>
          </a:ln>
        </p:spPr>
      </p:sp>
      <p:sp>
        <p:nvSpPr>
          <p:cNvPr id="6" name="Text 4"/>
          <p:cNvSpPr txBox="1"/>
          <p:nvPr/>
        </p:nvSpPr>
        <p:spPr>
          <a:xfrm>
            <a:off x="731520" y="3520440"/>
            <a:ext cx="7680960" cy="1097280"/>
          </a:xfrm>
          <a:prstGeom prst="rect">
            <a:avLst/>
          </a:prstGeom>
          <a:noFill/>
          <a:ln/>
        </p:spPr>
        <p:txBody>
          <a:bodyPr wrap="square" lIns="0" tIns="0" rIns="0" bIns="0" rtlCol="0" anchor="ctr"/>
          <a:lstStyle/>
          <a:p>
            <a:pPr indent="0" marL="0">
              <a:lnSpc>
                <a:spcPct val="115000"/>
              </a:lnSpc>
              <a:buNone/>
            </a:pPr>
            <a:r>
              <a:rPr lang="en-US" sz="1200" dirty="0">
                <a:solidFill>
                  <a:srgbClr val="595959"/>
                </a:solidFill>
                <a:latin typeface="Times New Roman" pitchFamily="34" charset="0"/>
                <a:ea typeface="Times New Roman" pitchFamily="34" charset="-122"/>
                <a:cs typeface="Times New Roman" pitchFamily="34" charset="-120"/>
              </a:rPr>
              <a:t>Instructor: Aliya Farooq</a:t>
            </a:r>
            <a:endParaRPr lang="en-US" sz="1200" dirty="0"/>
          </a:p>
          <a:p>
            <a:pPr indent="0" marL="0">
              <a:lnSpc>
                <a:spcPct val="115000"/>
              </a:lnSpc>
              <a:buNone/>
            </a:pPr>
            <a:r>
              <a:rPr lang="en-US" sz="1200" dirty="0">
                <a:solidFill>
                  <a:srgbClr val="595959"/>
                </a:solidFill>
                <a:latin typeface="Times New Roman" pitchFamily="34" charset="0"/>
                <a:ea typeface="Times New Roman" pitchFamily="34" charset="-122"/>
                <a:cs typeface="Times New Roman" pitchFamily="34" charset="-120"/>
              </a:rPr>
              <a:t>Department of Computer Science, University of Engineering and Technology, Lahore</a:t>
            </a:r>
            <a:endParaRPr lang="en-US" sz="1200" dirty="0"/>
          </a:p>
          <a:p>
            <a:pPr indent="0" marL="0">
              <a:lnSpc>
                <a:spcPct val="115000"/>
              </a:lnSpc>
              <a:buNone/>
            </a:pPr>
            <a:r>
              <a:rPr lang="en-US" sz="1200" dirty="0">
                <a:solidFill>
                  <a:srgbClr val="595959"/>
                </a:solidFill>
                <a:latin typeface="Times New Roman" pitchFamily="34" charset="0"/>
                <a:ea typeface="Times New Roman" pitchFamily="34" charset="-122"/>
                <a:cs typeface="Times New Roman" pitchFamily="34" charset="-120"/>
              </a:rPr>
              <a:t>Reading: Dix, Finlay, Abowd &amp; Beale, Human–Computer Interaction (3rd ed.), Ch. 1 — movement</a:t>
            </a:r>
            <a:endParaRPr lang="en-US" sz="1200" dirty="0"/>
          </a:p>
          <a:p>
            <a:pPr indent="0" marL="0">
              <a:lnSpc>
                <a:spcPct val="115000"/>
              </a:lnSpc>
              <a:buNone/>
            </a:pPr>
            <a:r>
              <a:rPr lang="en-US" sz="1200" dirty="0">
                <a:solidFill>
                  <a:srgbClr val="595959"/>
                </a:solidFill>
                <a:latin typeface="Times New Roman" pitchFamily="34" charset="0"/>
                <a:ea typeface="Times New Roman" pitchFamily="34" charset="-122"/>
                <a:cs typeface="Times New Roman" pitchFamily="34" charset="-120"/>
              </a:rPr>
              <a:t>Supplementary: Tidwell, Designing Interfaces (2nd ed.) — layout and visual hierarchy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2</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What 'design thoughts' means</a:t>
            </a:r>
            <a:endParaRPr lang="en-US" sz="2800" dirty="0"/>
          </a:p>
        </p:txBody>
      </p:sp>
      <p:sp>
        <p:nvSpPr>
          <p:cNvPr id="5" name="Text 3"/>
          <p:cNvSpPr txBox="1"/>
          <p:nvPr/>
        </p:nvSpPr>
        <p:spPr>
          <a:xfrm>
            <a:off x="457200" y="1097280"/>
            <a:ext cx="4206240" cy="3291840"/>
          </a:xfrm>
          <a:prstGeom prst="rect">
            <a:avLst/>
          </a:prstGeom>
          <a:noFill/>
          <a:ln/>
        </p:spPr>
        <p:txBody>
          <a:bodyPr wrap="square" lIns="0" tIns="0" rIns="0" bIns="0" rtlCol="0" anchor="t"/>
          <a:lstStyle/>
          <a:p>
            <a:pPr algn="l" indent="0" marL="0">
              <a:lnSpc>
                <a:spcPct val="115000"/>
              </a:lnSpc>
              <a:spcAft>
                <a:spcPts val="600"/>
              </a:spcAft>
              <a:buNone/>
            </a:pPr>
            <a:r>
              <a:rPr lang="en-US" sz="1350" dirty="0">
                <a:solidFill>
                  <a:srgbClr val="262626"/>
                </a:solidFill>
                <a:latin typeface="Times New Roman" pitchFamily="34" charset="0"/>
                <a:ea typeface="Times New Roman" pitchFamily="34" charset="-122"/>
                <a:cs typeface="Times New Roman" pitchFamily="34" charset="-120"/>
              </a:rPr>
              <a:t>Chapter 1 of Dix describes the human as an information-processing system: channels that take the world in, memory that holds it, and a motor system that acts on it.</a:t>
            </a:r>
            <a:endParaRPr lang="en-US" sz="1350" dirty="0"/>
          </a:p>
          <a:p>
            <a:pPr algn="l" indent="0" marL="0">
              <a:lnSpc>
                <a:spcPct val="115000"/>
              </a:lnSpc>
              <a:spcAft>
                <a:spcPts val="600"/>
              </a:spcAft>
              <a:buNone/>
            </a:pPr>
            <a:r>
              <a:rPr lang="en-US" sz="1350" dirty="0">
                <a:solidFill>
                  <a:srgbClr val="262626"/>
                </a:solidFill>
                <a:latin typeface="Times New Roman" pitchFamily="34" charset="0"/>
                <a:ea typeface="Times New Roman" pitchFamily="34" charset="-122"/>
                <a:cs typeface="Times New Roman" pitchFamily="34" charset="-120"/>
              </a:rPr>
              <a:t>That description is only worth the time it takes if it changes what we build. So for every property of the human we will ask one question:</a:t>
            </a:r>
            <a:endParaRPr lang="en-US" sz="1350" dirty="0"/>
          </a:p>
          <a:p>
            <a:pPr algn="l" indent="0" marL="0">
              <a:lnSpc>
                <a:spcPct val="115000"/>
              </a:lnSpc>
              <a:spcAft>
                <a:spcPts val="600"/>
              </a:spcAft>
              <a:buNone/>
            </a:pPr>
            <a:r>
              <a:rPr lang="en-US" sz="1350" b="1" i="1" dirty="0">
                <a:solidFill>
                  <a:srgbClr val="000000"/>
                </a:solidFill>
                <a:latin typeface="Times New Roman" pitchFamily="34" charset="0"/>
                <a:ea typeface="Times New Roman" pitchFamily="34" charset="-122"/>
                <a:cs typeface="Times New Roman" pitchFamily="34" charset="-120"/>
              </a:rPr>
              <a:t>“What does this force me to do differently as a designer?”</a:t>
            </a:r>
            <a:endParaRPr lang="en-US" sz="1350" dirty="0"/>
          </a:p>
          <a:p>
            <a:pPr algn="l" indent="0" marL="0">
              <a:lnSpc>
                <a:spcPct val="115000"/>
              </a:lnSpc>
              <a:spcAft>
                <a:spcPts val="600"/>
              </a:spcAft>
              <a:buNone/>
            </a:pPr>
            <a:r>
              <a:rPr lang="en-US" sz="1350" dirty="0">
                <a:solidFill>
                  <a:srgbClr val="262626"/>
                </a:solidFill>
                <a:latin typeface="Times New Roman" pitchFamily="34" charset="0"/>
                <a:ea typeface="Times New Roman" pitchFamily="34" charset="-122"/>
                <a:cs typeface="Times New Roman" pitchFamily="34" charset="-120"/>
              </a:rPr>
              <a:t>Today we follow the motor channel. Next lecture we follow perception, memory and error.</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846320" y="1143000"/>
          <a:ext cx="3840480" cy="914400"/>
        </p:xfrm>
        <a:graphic>
          <a:graphicData uri="http://schemas.openxmlformats.org/drawingml/2006/table">
            <a:tbl>
              <a:tblPr/>
              <a:tblGrid>
                <a:gridCol w="1691640"/>
                <a:gridCol w="2148840"/>
              </a:tblGrid>
              <a:tr h="475488">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Human property</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Design consequence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Movement is slower to small, distant targets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Size and placement of controls are performance decisions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The screen has hard edges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Edges and corners are the cheapest targets you own</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Short-term memory is small and volatile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Group information; do not ask people to hold state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The mind closes a task and flushes it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Return what the user owns before the task completes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7548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Trained responses resurface under stress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Consistency is a safety property, not a style rule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Text 4"/>
          <p:cNvSpPr txBox="1"/>
          <p:nvPr/>
        </p:nvSpPr>
        <p:spPr>
          <a:xfrm>
            <a:off x="4846320" y="4315968"/>
            <a:ext cx="3840480" cy="27432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The right-hand column is the whole of Week 1 in five lines.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3</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By the end of this lecture you can…</a:t>
            </a:r>
            <a:endParaRPr lang="en-US" sz="2800" dirty="0"/>
          </a:p>
        </p:txBody>
      </p:sp>
      <p:sp>
        <p:nvSpPr>
          <p:cNvPr id="5" name="Text 3"/>
          <p:cNvSpPr txBox="1"/>
          <p:nvPr/>
        </p:nvSpPr>
        <p:spPr>
          <a:xfrm>
            <a:off x="548640" y="1188720"/>
            <a:ext cx="5852160" cy="3291840"/>
          </a:xfrm>
          <a:prstGeom prst="rect">
            <a:avLst/>
          </a:prstGeom>
          <a:noFill/>
          <a:ln/>
        </p:spPr>
        <p:txBody>
          <a:bodyPr wrap="square" lIns="0" tIns="0" rIns="0" bIns="0" rtlCol="0" anchor="t"/>
          <a:lstStyle/>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State Fitts' Law in words and in its logarithmic form, and say what each term means.</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Compute an index of difficulty and predict which of two layouts will be faster.</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Explain why the edges and corners of a screen behave as infinitely large targets.</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Identify, in a real interface, whether a design is buying speed by increasing size or by reducing distance.</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Critique a screen layout using Fitts' Law and propose a measurable improvement.</a:t>
            </a:r>
            <a:endParaRPr lang="en-US" sz="1400" dirty="0"/>
          </a:p>
          <a:p>
            <a:pPr marL="152400" indent="-152400">
              <a:lnSpc>
                <a:spcPct val="110000"/>
              </a:lnSpc>
              <a:spcAft>
                <a:spcPts val="1100"/>
              </a:spcAft>
              <a:buSzPct val="100000"/>
              <a:buChar char="•"/>
            </a:pPr>
            <a:r>
              <a:rPr lang="en-US" sz="1400" dirty="0">
                <a:solidFill>
                  <a:srgbClr val="262626"/>
                </a:solidFill>
                <a:latin typeface="Times New Roman" pitchFamily="34" charset="0"/>
                <a:ea typeface="Times New Roman" pitchFamily="34" charset="-122"/>
                <a:cs typeface="Times New Roman" pitchFamily="34" charset="-120"/>
              </a:rPr>
              <a:t>State two situations in which Fitts' Law does not straightforwardly apply.</a:t>
            </a:r>
            <a:endParaRPr lang="en-US" sz="1400" dirty="0"/>
          </a:p>
        </p:txBody>
      </p:sp>
      <p:sp>
        <p:nvSpPr>
          <p:cNvPr id="6" name="Shape 4"/>
          <p:cNvSpPr/>
          <p:nvPr/>
        </p:nvSpPr>
        <p:spPr>
          <a:xfrm>
            <a:off x="6675120" y="1188720"/>
            <a:ext cx="2011680" cy="2926080"/>
          </a:xfrm>
          <a:prstGeom prst="rect">
            <a:avLst/>
          </a:prstGeom>
          <a:solidFill>
            <a:srgbClr val="F2F2F2"/>
          </a:solidFill>
          <a:ln w="9525">
            <a:solidFill>
              <a:srgbClr val="BFBFBF"/>
            </a:solidFill>
            <a:prstDash val="solid"/>
          </a:ln>
        </p:spPr>
      </p:sp>
      <p:sp>
        <p:nvSpPr>
          <p:cNvPr id="7" name="Text 5"/>
          <p:cNvSpPr txBox="1"/>
          <p:nvPr/>
        </p:nvSpPr>
        <p:spPr>
          <a:xfrm>
            <a:off x="6812280" y="1280160"/>
            <a:ext cx="173736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Assessment link</a:t>
            </a:r>
            <a:endParaRPr lang="en-US" sz="1400" dirty="0"/>
          </a:p>
        </p:txBody>
      </p:sp>
      <p:sp>
        <p:nvSpPr>
          <p:cNvPr id="8" name="Text 6"/>
          <p:cNvSpPr txBox="1"/>
          <p:nvPr/>
        </p:nvSpPr>
        <p:spPr>
          <a:xfrm>
            <a:off x="6812280" y="1627632"/>
            <a:ext cx="1737360" cy="2331720"/>
          </a:xfrm>
          <a:prstGeom prst="rect">
            <a:avLst/>
          </a:prstGeom>
          <a:noFill/>
          <a:ln/>
        </p:spPr>
        <p:txBody>
          <a:bodyPr wrap="square" lIns="0" tIns="0" rIns="0" bIns="0" rtlCol="0" anchor="t"/>
          <a:lstStyle/>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Quiz 1 covers the formula and one numerical prediction.</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Lab 1 measures your own Fitts' constants and fits the line.</a:t>
            </a:r>
            <a:endParaRPr lang="en-US" sz="1050" dirty="0"/>
          </a:p>
          <a:p>
            <a:pPr indent="0" marL="0">
              <a:lnSpc>
                <a:spcPct val="112000"/>
              </a:lnSpc>
              <a:buNone/>
            </a:pPr>
            <a:endParaRPr lang="en-US" sz="1050" dirty="0"/>
          </a:p>
          <a:p>
            <a:pPr indent="0" marL="0">
              <a:lnSpc>
                <a:spcPct val="112000"/>
              </a:lnSpc>
              <a:buNone/>
            </a:pPr>
            <a:r>
              <a:rPr lang="en-US" sz="1050" dirty="0">
                <a:solidFill>
                  <a:srgbClr val="262626"/>
                </a:solidFill>
                <a:latin typeface="Times New Roman" pitchFamily="34" charset="0"/>
                <a:ea typeface="Times New Roman" pitchFamily="34" charset="-122"/>
                <a:cs typeface="Times New Roman" pitchFamily="34" charset="-120"/>
              </a:rPr>
              <a:t>Mid-term asks you to justify a layout choice quantitatively.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4</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Recap: the human as three connected systems</a:t>
            </a:r>
            <a:endParaRPr lang="en-US" sz="2800" dirty="0"/>
          </a:p>
        </p:txBody>
      </p:sp>
      <p:sp>
        <p:nvSpPr>
          <p:cNvPr id="5" name="Shape 3"/>
          <p:cNvSpPr/>
          <p:nvPr/>
        </p:nvSpPr>
        <p:spPr>
          <a:xfrm>
            <a:off x="502920" y="1234440"/>
            <a:ext cx="2514600" cy="1783080"/>
          </a:xfrm>
          <a:prstGeom prst="rect">
            <a:avLst/>
          </a:prstGeom>
          <a:solidFill>
            <a:srgbClr val="F2F2F2"/>
          </a:solidFill>
          <a:ln w="9525">
            <a:solidFill>
              <a:srgbClr val="BFBFBF"/>
            </a:solidFill>
            <a:prstDash val="solid"/>
          </a:ln>
        </p:spPr>
      </p:sp>
      <p:sp>
        <p:nvSpPr>
          <p:cNvPr id="6" name="Text 4"/>
          <p:cNvSpPr txBox="1"/>
          <p:nvPr/>
        </p:nvSpPr>
        <p:spPr>
          <a:xfrm>
            <a:off x="640080" y="1325880"/>
            <a:ext cx="224028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Perceptual</a:t>
            </a:r>
            <a:endParaRPr lang="en-US" sz="1400" dirty="0"/>
          </a:p>
        </p:txBody>
      </p:sp>
      <p:sp>
        <p:nvSpPr>
          <p:cNvPr id="7" name="Text 5"/>
          <p:cNvSpPr txBox="1"/>
          <p:nvPr/>
        </p:nvSpPr>
        <p:spPr>
          <a:xfrm>
            <a:off x="640080" y="1673352"/>
            <a:ext cx="2240280" cy="123444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Vision, hearing, touch.</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Takes the world in;</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fixes how fast a change</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can even be noticed.</a:t>
            </a:r>
            <a:endParaRPr lang="en-US" sz="1150" dirty="0"/>
          </a:p>
        </p:txBody>
      </p:sp>
      <p:sp>
        <p:nvSpPr>
          <p:cNvPr id="8" name="Shape 6"/>
          <p:cNvSpPr/>
          <p:nvPr/>
        </p:nvSpPr>
        <p:spPr>
          <a:xfrm>
            <a:off x="3081528" y="2121408"/>
            <a:ext cx="219456" cy="0"/>
          </a:xfrm>
          <a:prstGeom prst="line">
            <a:avLst/>
          </a:prstGeom>
          <a:noFill/>
          <a:ln w="15875">
            <a:solidFill>
              <a:srgbClr val="595959"/>
            </a:solidFill>
            <a:prstDash val="solid"/>
            <a:tailEnd type="triangle"/>
          </a:ln>
        </p:spPr>
      </p:sp>
      <p:sp>
        <p:nvSpPr>
          <p:cNvPr id="9" name="Shape 7"/>
          <p:cNvSpPr/>
          <p:nvPr/>
        </p:nvSpPr>
        <p:spPr>
          <a:xfrm>
            <a:off x="3355848" y="1234440"/>
            <a:ext cx="2514600" cy="1783080"/>
          </a:xfrm>
          <a:prstGeom prst="rect">
            <a:avLst/>
          </a:prstGeom>
          <a:solidFill>
            <a:srgbClr val="F2F2F2"/>
          </a:solidFill>
          <a:ln w="9525">
            <a:solidFill>
              <a:srgbClr val="BFBFBF"/>
            </a:solidFill>
            <a:prstDash val="solid"/>
          </a:ln>
        </p:spPr>
      </p:sp>
      <p:sp>
        <p:nvSpPr>
          <p:cNvPr id="10" name="Text 8"/>
          <p:cNvSpPr txBox="1"/>
          <p:nvPr/>
        </p:nvSpPr>
        <p:spPr>
          <a:xfrm>
            <a:off x="3493008" y="1325880"/>
            <a:ext cx="224028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Cognitive</a:t>
            </a:r>
            <a:endParaRPr lang="en-US" sz="1400" dirty="0"/>
          </a:p>
        </p:txBody>
      </p:sp>
      <p:sp>
        <p:nvSpPr>
          <p:cNvPr id="11" name="Text 9"/>
          <p:cNvSpPr txBox="1"/>
          <p:nvPr/>
        </p:nvSpPr>
        <p:spPr>
          <a:xfrm>
            <a:off x="3493008" y="1673352"/>
            <a:ext cx="2240280" cy="123444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Memory, attention,</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reasoning, problem solving.</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Decides what to do —</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and is easily overloaded.</a:t>
            </a:r>
            <a:endParaRPr lang="en-US" sz="1150" dirty="0"/>
          </a:p>
        </p:txBody>
      </p:sp>
      <p:sp>
        <p:nvSpPr>
          <p:cNvPr id="12" name="Shape 10"/>
          <p:cNvSpPr/>
          <p:nvPr/>
        </p:nvSpPr>
        <p:spPr>
          <a:xfrm>
            <a:off x="5934456" y="2121408"/>
            <a:ext cx="219456" cy="0"/>
          </a:xfrm>
          <a:prstGeom prst="line">
            <a:avLst/>
          </a:prstGeom>
          <a:noFill/>
          <a:ln w="15875">
            <a:solidFill>
              <a:srgbClr val="595959"/>
            </a:solidFill>
            <a:prstDash val="solid"/>
            <a:tailEnd type="triangle"/>
          </a:ln>
        </p:spPr>
      </p:sp>
      <p:sp>
        <p:nvSpPr>
          <p:cNvPr id="13" name="Shape 11"/>
          <p:cNvSpPr/>
          <p:nvPr/>
        </p:nvSpPr>
        <p:spPr>
          <a:xfrm>
            <a:off x="6208776" y="1234440"/>
            <a:ext cx="2514600" cy="1783080"/>
          </a:xfrm>
          <a:prstGeom prst="rect">
            <a:avLst/>
          </a:prstGeom>
          <a:solidFill>
            <a:srgbClr val="F2F2F2"/>
          </a:solidFill>
          <a:ln w="9525">
            <a:solidFill>
              <a:srgbClr val="BFBFBF"/>
            </a:solidFill>
            <a:prstDash val="solid"/>
          </a:ln>
        </p:spPr>
      </p:sp>
      <p:sp>
        <p:nvSpPr>
          <p:cNvPr id="14" name="Text 12"/>
          <p:cNvSpPr txBox="1"/>
          <p:nvPr/>
        </p:nvSpPr>
        <p:spPr>
          <a:xfrm>
            <a:off x="6345936" y="1325880"/>
            <a:ext cx="224028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Motor</a:t>
            </a:r>
            <a:endParaRPr lang="en-US" sz="1400" dirty="0"/>
          </a:p>
        </p:txBody>
      </p:sp>
      <p:sp>
        <p:nvSpPr>
          <p:cNvPr id="15" name="Text 13"/>
          <p:cNvSpPr txBox="1"/>
          <p:nvPr/>
        </p:nvSpPr>
        <p:spPr>
          <a:xfrm>
            <a:off x="6345936" y="1673352"/>
            <a:ext cx="2240280" cy="123444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Hands, eyes, voice.</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Carries the decision out;</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its speed is lawful and</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therefore predictable.</a:t>
            </a:r>
            <a:endParaRPr lang="en-US" sz="1150" dirty="0"/>
          </a:p>
        </p:txBody>
      </p:sp>
      <p:sp>
        <p:nvSpPr>
          <p:cNvPr id="16" name="Text 14"/>
          <p:cNvSpPr txBox="1"/>
          <p:nvPr/>
        </p:nvSpPr>
        <p:spPr>
          <a:xfrm>
            <a:off x="502920" y="3291840"/>
            <a:ext cx="8138160" cy="1097280"/>
          </a:xfrm>
          <a:prstGeom prst="rect">
            <a:avLst/>
          </a:prstGeom>
          <a:noFill/>
          <a:ln/>
        </p:spPr>
        <p:txBody>
          <a:bodyPr wrap="square" lIns="0" tIns="0" rIns="0" bIns="0" rtlCol="0" anchor="t"/>
          <a:lstStyle/>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Total time on a task is the sum of the three. The perceptual and cognitive stages are hard to predict in general — they depend on what the user knows and what else is on their mind. The motor stage is the exception: for aimed movement it obeys a law accurate enough to design against, and that law is what we spend today on.</a:t>
            </a:r>
            <a:endParaRPr lang="en-US" sz="1300" dirty="0"/>
          </a:p>
        </p:txBody>
      </p:sp>
      <p:sp>
        <p:nvSpPr>
          <p:cNvPr id="17" name="Text 15"/>
          <p:cNvSpPr txBox="1"/>
          <p:nvPr/>
        </p:nvSpPr>
        <p:spPr>
          <a:xfrm>
            <a:off x="502920" y="4315968"/>
            <a:ext cx="8138160" cy="27432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Card–Moran–Newell call this the Model Human Processor; we use only its last stage today.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5</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Aimed movement: two phases</a:t>
            </a:r>
            <a:endParaRPr lang="en-US" sz="2800" dirty="0"/>
          </a:p>
        </p:txBody>
      </p:sp>
      <p:sp>
        <p:nvSpPr>
          <p:cNvPr id="5" name="Shape 3"/>
          <p:cNvSpPr/>
          <p:nvPr/>
        </p:nvSpPr>
        <p:spPr>
          <a:xfrm>
            <a:off x="502920" y="1188720"/>
            <a:ext cx="3977640" cy="1965960"/>
          </a:xfrm>
          <a:prstGeom prst="rect">
            <a:avLst/>
          </a:prstGeom>
          <a:solidFill>
            <a:srgbClr val="F2F2F2"/>
          </a:solidFill>
          <a:ln w="9525">
            <a:solidFill>
              <a:srgbClr val="BFBFBF"/>
            </a:solidFill>
            <a:prstDash val="solid"/>
          </a:ln>
        </p:spPr>
      </p:sp>
      <p:sp>
        <p:nvSpPr>
          <p:cNvPr id="6" name="Text 4"/>
          <p:cNvSpPr txBox="1"/>
          <p:nvPr/>
        </p:nvSpPr>
        <p:spPr>
          <a:xfrm>
            <a:off x="640080" y="128016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1 · The ballistic phase</a:t>
            </a:r>
            <a:endParaRPr lang="en-US" sz="1400" dirty="0"/>
          </a:p>
        </p:txBody>
      </p:sp>
      <p:sp>
        <p:nvSpPr>
          <p:cNvPr id="7" name="Text 5"/>
          <p:cNvSpPr txBox="1"/>
          <p:nvPr/>
        </p:nvSpPr>
        <p:spPr>
          <a:xfrm>
            <a:off x="640080" y="1627632"/>
            <a:ext cx="3703320" cy="1280160"/>
          </a:xfrm>
          <a:prstGeom prst="rect">
            <a:avLst/>
          </a:prstGeom>
          <a:noFill/>
          <a:ln/>
        </p:spPr>
        <p:txBody>
          <a:bodyPr wrap="square" lIns="0" tIns="0" rIns="0" bIns="0" rtlCol="0" anchor="t"/>
          <a:lstStyle/>
          <a:p>
            <a:pPr indent="0" marL="0">
              <a:lnSpc>
                <a:spcPct val="112000"/>
              </a:lnSpc>
              <a:buNone/>
            </a:pPr>
            <a:r>
              <a:rPr lang="en-US" sz="1200" dirty="0">
                <a:solidFill>
                  <a:srgbClr val="262626"/>
                </a:solidFill>
                <a:latin typeface="Times New Roman" pitchFamily="34" charset="0"/>
                <a:ea typeface="Times New Roman" pitchFamily="34" charset="-122"/>
                <a:cs typeface="Times New Roman" pitchFamily="34" charset="-120"/>
              </a:rPr>
              <a:t>A single fast, pre-programmed throw of the hand towards roughly the right place.</a:t>
            </a:r>
            <a:endParaRPr lang="en-US" sz="1200" dirty="0"/>
          </a:p>
          <a:p>
            <a:pPr indent="0" marL="0">
              <a:lnSpc>
                <a:spcPct val="112000"/>
              </a:lnSpc>
              <a:buNone/>
            </a:pPr>
            <a:r>
              <a:rPr lang="en-US" sz="1200" dirty="0">
                <a:solidFill>
                  <a:srgbClr val="262626"/>
                </a:solidFill>
                <a:latin typeface="Times New Roman" pitchFamily="34" charset="0"/>
                <a:ea typeface="Times New Roman" pitchFamily="34" charset="-122"/>
                <a:cs typeface="Times New Roman" pitchFamily="34" charset="-120"/>
              </a:rPr>
              <a:t>Distance dominates here — a longer throw takes longer.</a:t>
            </a:r>
            <a:endParaRPr lang="en-US" sz="1200" dirty="0"/>
          </a:p>
        </p:txBody>
      </p:sp>
      <p:sp>
        <p:nvSpPr>
          <p:cNvPr id="8" name="Shape 6"/>
          <p:cNvSpPr/>
          <p:nvPr/>
        </p:nvSpPr>
        <p:spPr>
          <a:xfrm>
            <a:off x="4663440" y="1188720"/>
            <a:ext cx="3977640" cy="1965960"/>
          </a:xfrm>
          <a:prstGeom prst="rect">
            <a:avLst/>
          </a:prstGeom>
          <a:solidFill>
            <a:srgbClr val="F2F2F2"/>
          </a:solidFill>
          <a:ln w="9525">
            <a:solidFill>
              <a:srgbClr val="BFBFBF"/>
            </a:solidFill>
            <a:prstDash val="solid"/>
          </a:ln>
        </p:spPr>
      </p:sp>
      <p:sp>
        <p:nvSpPr>
          <p:cNvPr id="9" name="Text 7"/>
          <p:cNvSpPr txBox="1"/>
          <p:nvPr/>
        </p:nvSpPr>
        <p:spPr>
          <a:xfrm>
            <a:off x="4800600" y="128016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2 · The corrective phase</a:t>
            </a:r>
            <a:endParaRPr lang="en-US" sz="1400" dirty="0"/>
          </a:p>
        </p:txBody>
      </p:sp>
      <p:sp>
        <p:nvSpPr>
          <p:cNvPr id="10" name="Text 8"/>
          <p:cNvSpPr txBox="1"/>
          <p:nvPr/>
        </p:nvSpPr>
        <p:spPr>
          <a:xfrm>
            <a:off x="4800600" y="1627632"/>
            <a:ext cx="3703320" cy="1280160"/>
          </a:xfrm>
          <a:prstGeom prst="rect">
            <a:avLst/>
          </a:prstGeom>
          <a:noFill/>
          <a:ln/>
        </p:spPr>
        <p:txBody>
          <a:bodyPr wrap="square" lIns="0" tIns="0" rIns="0" bIns="0" rtlCol="0" anchor="t"/>
          <a:lstStyle/>
          <a:p>
            <a:pPr indent="0" marL="0">
              <a:lnSpc>
                <a:spcPct val="112000"/>
              </a:lnSpc>
              <a:buNone/>
            </a:pPr>
            <a:r>
              <a:rPr lang="en-US" sz="1200" dirty="0">
                <a:solidFill>
                  <a:srgbClr val="262626"/>
                </a:solidFill>
                <a:latin typeface="Times New Roman" pitchFamily="34" charset="0"/>
                <a:ea typeface="Times New Roman" pitchFamily="34" charset="-122"/>
                <a:cs typeface="Times New Roman" pitchFamily="34" charset="-120"/>
              </a:rPr>
              <a:t>A series of small closed-loop corrections, each guided by what the eye now sees.</a:t>
            </a:r>
            <a:endParaRPr lang="en-US" sz="1200" dirty="0"/>
          </a:p>
          <a:p>
            <a:pPr indent="0" marL="0">
              <a:lnSpc>
                <a:spcPct val="112000"/>
              </a:lnSpc>
              <a:buNone/>
            </a:pPr>
            <a:r>
              <a:rPr lang="en-US" sz="1200" dirty="0">
                <a:solidFill>
                  <a:srgbClr val="262626"/>
                </a:solidFill>
                <a:latin typeface="Times New Roman" pitchFamily="34" charset="0"/>
                <a:ea typeface="Times New Roman" pitchFamily="34" charset="-122"/>
                <a:cs typeface="Times New Roman" pitchFamily="34" charset="-120"/>
              </a:rPr>
              <a:t>Target size dominates here — a smaller target needs more corrections.</a:t>
            </a:r>
            <a:endParaRPr lang="en-US" sz="1200" dirty="0"/>
          </a:p>
        </p:txBody>
      </p:sp>
      <p:sp>
        <p:nvSpPr>
          <p:cNvPr id="11" name="Text 9"/>
          <p:cNvSpPr txBox="1"/>
          <p:nvPr/>
        </p:nvSpPr>
        <p:spPr>
          <a:xfrm>
            <a:off x="502920" y="3337560"/>
            <a:ext cx="8138160" cy="100584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Fitts' Law is what you get when you write those two phases as one equation. It is worth remembering the two phases, because they explain the shape of the law: distance enters linearly through the throw, size enters through the number of corrections — and corrections halve the remaining error each time, which is where the logarithm comes from.</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6</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Fitts' Law — in plain words</a:t>
            </a:r>
            <a:endParaRPr lang="en-US" sz="2800" dirty="0"/>
          </a:p>
        </p:txBody>
      </p:sp>
      <p:sp>
        <p:nvSpPr>
          <p:cNvPr id="5" name="Shape 3"/>
          <p:cNvSpPr/>
          <p:nvPr/>
        </p:nvSpPr>
        <p:spPr>
          <a:xfrm>
            <a:off x="502920" y="1143000"/>
            <a:ext cx="5120640" cy="914400"/>
          </a:xfrm>
          <a:prstGeom prst="rect">
            <a:avLst/>
          </a:prstGeom>
          <a:solidFill>
            <a:srgbClr val="F2F2F2"/>
          </a:solidFill>
          <a:ln w="9525">
            <a:solidFill>
              <a:srgbClr val="BFBFBF"/>
            </a:solidFill>
            <a:prstDash val="solid"/>
          </a:ln>
        </p:spPr>
      </p:sp>
      <p:sp>
        <p:nvSpPr>
          <p:cNvPr id="6" name="Text 4"/>
          <p:cNvSpPr txBox="1"/>
          <p:nvPr/>
        </p:nvSpPr>
        <p:spPr>
          <a:xfrm>
            <a:off x="640080" y="1252728"/>
            <a:ext cx="4846320" cy="685800"/>
          </a:xfrm>
          <a:prstGeom prst="rect">
            <a:avLst/>
          </a:prstGeom>
          <a:noFill/>
          <a:ln/>
        </p:spPr>
        <p:txBody>
          <a:bodyPr wrap="square" lIns="0" tIns="0" rIns="0" bIns="0" rtlCol="0" anchor="t"/>
          <a:lstStyle/>
          <a:p>
            <a:pPr indent="0" marL="0">
              <a:lnSpc>
                <a:spcPct val="112000"/>
              </a:lnSpc>
              <a:buNone/>
            </a:pPr>
            <a:r>
              <a:rPr lang="en-US" sz="1400" dirty="0">
                <a:solidFill>
                  <a:srgbClr val="000000"/>
                </a:solidFill>
                <a:latin typeface="Times New Roman" pitchFamily="34" charset="0"/>
                <a:ea typeface="Times New Roman" pitchFamily="34" charset="-122"/>
                <a:cs typeface="Times New Roman" pitchFamily="34" charset="-120"/>
              </a:rPr>
              <a:t>1.  The farther away a target is, the longer it takes to acquire it with the mouse.</a:t>
            </a:r>
            <a:endParaRPr lang="en-US" sz="1400" dirty="0"/>
          </a:p>
        </p:txBody>
      </p:sp>
      <p:sp>
        <p:nvSpPr>
          <p:cNvPr id="7" name="Shape 5"/>
          <p:cNvSpPr/>
          <p:nvPr/>
        </p:nvSpPr>
        <p:spPr>
          <a:xfrm>
            <a:off x="502920" y="2194560"/>
            <a:ext cx="5120640" cy="914400"/>
          </a:xfrm>
          <a:prstGeom prst="rect">
            <a:avLst/>
          </a:prstGeom>
          <a:solidFill>
            <a:srgbClr val="F2F2F2"/>
          </a:solidFill>
          <a:ln w="9525">
            <a:solidFill>
              <a:srgbClr val="BFBFBF"/>
            </a:solidFill>
            <a:prstDash val="solid"/>
          </a:ln>
        </p:spPr>
      </p:sp>
      <p:sp>
        <p:nvSpPr>
          <p:cNvPr id="8" name="Text 6"/>
          <p:cNvSpPr txBox="1"/>
          <p:nvPr/>
        </p:nvSpPr>
        <p:spPr>
          <a:xfrm>
            <a:off x="640080" y="2304288"/>
            <a:ext cx="4846320" cy="685800"/>
          </a:xfrm>
          <a:prstGeom prst="rect">
            <a:avLst/>
          </a:prstGeom>
          <a:noFill/>
          <a:ln/>
        </p:spPr>
        <p:txBody>
          <a:bodyPr wrap="square" lIns="0" tIns="0" rIns="0" bIns="0" rtlCol="0" anchor="t"/>
          <a:lstStyle/>
          <a:p>
            <a:pPr indent="0" marL="0">
              <a:lnSpc>
                <a:spcPct val="112000"/>
              </a:lnSpc>
              <a:buNone/>
            </a:pPr>
            <a:r>
              <a:rPr lang="en-US" sz="1400" dirty="0">
                <a:solidFill>
                  <a:srgbClr val="000000"/>
                </a:solidFill>
                <a:latin typeface="Times New Roman" pitchFamily="34" charset="0"/>
                <a:ea typeface="Times New Roman" pitchFamily="34" charset="-122"/>
                <a:cs typeface="Times New Roman" pitchFamily="34" charset="-120"/>
              </a:rPr>
              <a:t>2.  The smaller a target is, the longer it takes to acquire it with the mouse.</a:t>
            </a:r>
            <a:endParaRPr lang="en-US" sz="1400" dirty="0"/>
          </a:p>
        </p:txBody>
      </p:sp>
      <p:sp>
        <p:nvSpPr>
          <p:cNvPr id="9" name="Text 7"/>
          <p:cNvSpPr txBox="1"/>
          <p:nvPr/>
        </p:nvSpPr>
        <p:spPr>
          <a:xfrm>
            <a:off x="502920" y="3291840"/>
            <a:ext cx="5120640" cy="1005840"/>
          </a:xfrm>
          <a:prstGeom prst="rect">
            <a:avLst/>
          </a:prstGeom>
          <a:noFill/>
          <a:ln/>
        </p:spPr>
        <p:txBody>
          <a:bodyPr wrap="square" lIns="0" tIns="0" rIns="0" bIns="0" rtlCol="0" anchor="t"/>
          <a:lstStyle/>
          <a:p>
            <a:pPr algn="l" indent="0" marL="0">
              <a:lnSpc>
                <a:spcPct val="115000"/>
              </a:lnSpc>
              <a:spcAft>
                <a:spcPts val="600"/>
              </a:spcAft>
              <a:buNone/>
            </a:pPr>
            <a:r>
              <a:rPr lang="en-US" sz="1300" dirty="0">
                <a:solidFill>
                  <a:srgbClr val="000000"/>
                </a:solidFill>
                <a:latin typeface="Times New Roman" pitchFamily="34" charset="0"/>
                <a:ea typeface="Times New Roman" pitchFamily="34" charset="-122"/>
                <a:cs typeface="Times New Roman" pitchFamily="34" charset="-120"/>
              </a:rPr>
              <a:t>The inverse of both statements is true as well: closer and bigger targets can be acquired more quickly.</a:t>
            </a:r>
            <a:endParaRPr lang="en-US" sz="1300" dirty="0"/>
          </a:p>
        </p:txBody>
      </p:sp>
      <p:sp>
        <p:nvSpPr>
          <p:cNvPr id="10" name="Text 8"/>
          <p:cNvSpPr txBox="1"/>
          <p:nvPr/>
        </p:nvSpPr>
        <p:spPr>
          <a:xfrm>
            <a:off x="5897880" y="1051560"/>
            <a:ext cx="2743200" cy="228600"/>
          </a:xfrm>
          <a:prstGeom prst="rect">
            <a:avLst/>
          </a:prstGeom>
          <a:noFill/>
          <a:ln/>
        </p:spPr>
        <p:txBody>
          <a:bodyPr wrap="square" lIns="0" tIns="0" rIns="0" bIns="0" rtlCol="0" anchor="ctr"/>
          <a:lstStyle/>
          <a:p>
            <a:pPr algn="ctr" indent="0" marL="0">
              <a:buNone/>
            </a:pPr>
            <a:r>
              <a:rPr lang="en-US" sz="1100" i="1" dirty="0">
                <a:solidFill>
                  <a:srgbClr val="595959"/>
                </a:solidFill>
                <a:latin typeface="Times New Roman" pitchFamily="34" charset="0"/>
                <a:ea typeface="Times New Roman" pitchFamily="34" charset="-122"/>
                <a:cs typeface="Times New Roman" pitchFamily="34" charset="-120"/>
              </a:rPr>
              <a:t>Same distance, different size</a:t>
            </a:r>
            <a:endParaRPr lang="en-US" sz="1100" dirty="0"/>
          </a:p>
        </p:txBody>
      </p:sp>
      <p:sp>
        <p:nvSpPr>
          <p:cNvPr id="11" name="Shape 9"/>
          <p:cNvSpPr/>
          <p:nvPr/>
        </p:nvSpPr>
        <p:spPr>
          <a:xfrm>
            <a:off x="5943600" y="1536192"/>
            <a:ext cx="91440" cy="91440"/>
          </a:xfrm>
          <a:prstGeom prst="ellipse">
            <a:avLst/>
          </a:prstGeom>
          <a:solidFill>
            <a:srgbClr val="404040"/>
          </a:solidFill>
          <a:ln w="6350">
            <a:solidFill>
              <a:srgbClr val="404040"/>
            </a:solidFill>
            <a:prstDash val="solid"/>
          </a:ln>
        </p:spPr>
      </p:sp>
      <p:sp>
        <p:nvSpPr>
          <p:cNvPr id="12" name="Shape 10"/>
          <p:cNvSpPr/>
          <p:nvPr/>
        </p:nvSpPr>
        <p:spPr>
          <a:xfrm>
            <a:off x="5989320" y="1581912"/>
            <a:ext cx="2148840" cy="0"/>
          </a:xfrm>
          <a:prstGeom prst="line">
            <a:avLst/>
          </a:prstGeom>
          <a:noFill/>
          <a:ln w="12700">
            <a:solidFill>
              <a:srgbClr val="595959"/>
            </a:solidFill>
            <a:prstDash val="dash"/>
          </a:ln>
        </p:spPr>
      </p:sp>
      <p:sp>
        <p:nvSpPr>
          <p:cNvPr id="13" name="Shape 11"/>
          <p:cNvSpPr/>
          <p:nvPr/>
        </p:nvSpPr>
        <p:spPr>
          <a:xfrm>
            <a:off x="8138160" y="1307592"/>
            <a:ext cx="502920" cy="548640"/>
          </a:xfrm>
          <a:prstGeom prst="rect">
            <a:avLst/>
          </a:prstGeom>
          <a:solidFill>
            <a:srgbClr val="F2F2F2"/>
          </a:solidFill>
          <a:ln w="12700">
            <a:solidFill>
              <a:srgbClr val="404040"/>
            </a:solidFill>
            <a:prstDash val="solid"/>
          </a:ln>
        </p:spPr>
      </p:sp>
      <p:sp>
        <p:nvSpPr>
          <p:cNvPr id="14" name="Text 12"/>
          <p:cNvSpPr txBox="1"/>
          <p:nvPr/>
        </p:nvSpPr>
        <p:spPr>
          <a:xfrm>
            <a:off x="7818120" y="1874520"/>
            <a:ext cx="914400" cy="228600"/>
          </a:xfrm>
          <a:prstGeom prst="rect">
            <a:avLst/>
          </a:prstGeom>
          <a:noFill/>
          <a:ln/>
        </p:spPr>
        <p:txBody>
          <a:bodyPr wrap="square" lIns="0" tIns="0" rIns="0" bIns="0" rtlCol="0" anchor="ctr"/>
          <a:lstStyle/>
          <a:p>
            <a:pPr algn="ctr" indent="0" marL="0">
              <a:buNone/>
            </a:pPr>
            <a:r>
              <a:rPr lang="en-US" sz="1000" i="1" dirty="0">
                <a:solidFill>
                  <a:srgbClr val="595959"/>
                </a:solidFill>
                <a:latin typeface="Times New Roman" pitchFamily="34" charset="0"/>
                <a:ea typeface="Times New Roman" pitchFamily="34" charset="-122"/>
                <a:cs typeface="Times New Roman" pitchFamily="34" charset="-120"/>
              </a:rPr>
              <a:t>wide</a:t>
            </a:r>
            <a:endParaRPr lang="en-US" sz="1000" dirty="0"/>
          </a:p>
        </p:txBody>
      </p:sp>
      <p:sp>
        <p:nvSpPr>
          <p:cNvPr id="15" name="Shape 13"/>
          <p:cNvSpPr/>
          <p:nvPr/>
        </p:nvSpPr>
        <p:spPr>
          <a:xfrm>
            <a:off x="5943600" y="2542032"/>
            <a:ext cx="91440" cy="91440"/>
          </a:xfrm>
          <a:prstGeom prst="ellipse">
            <a:avLst/>
          </a:prstGeom>
          <a:solidFill>
            <a:srgbClr val="404040"/>
          </a:solidFill>
          <a:ln w="6350">
            <a:solidFill>
              <a:srgbClr val="404040"/>
            </a:solidFill>
            <a:prstDash val="solid"/>
          </a:ln>
        </p:spPr>
      </p:sp>
      <p:sp>
        <p:nvSpPr>
          <p:cNvPr id="16" name="Shape 14"/>
          <p:cNvSpPr/>
          <p:nvPr/>
        </p:nvSpPr>
        <p:spPr>
          <a:xfrm>
            <a:off x="5989320" y="2587752"/>
            <a:ext cx="2286000" cy="0"/>
          </a:xfrm>
          <a:prstGeom prst="line">
            <a:avLst/>
          </a:prstGeom>
          <a:noFill/>
          <a:ln w="12700">
            <a:solidFill>
              <a:srgbClr val="595959"/>
            </a:solidFill>
            <a:prstDash val="dash"/>
          </a:ln>
        </p:spPr>
      </p:sp>
      <p:sp>
        <p:nvSpPr>
          <p:cNvPr id="17" name="Shape 15"/>
          <p:cNvSpPr/>
          <p:nvPr/>
        </p:nvSpPr>
        <p:spPr>
          <a:xfrm>
            <a:off x="8275320" y="2404872"/>
            <a:ext cx="146304" cy="365760"/>
          </a:xfrm>
          <a:prstGeom prst="rect">
            <a:avLst/>
          </a:prstGeom>
          <a:solidFill>
            <a:srgbClr val="F2F2F2"/>
          </a:solidFill>
          <a:ln w="12700">
            <a:solidFill>
              <a:srgbClr val="404040"/>
            </a:solidFill>
            <a:prstDash val="solid"/>
          </a:ln>
        </p:spPr>
      </p:sp>
      <p:sp>
        <p:nvSpPr>
          <p:cNvPr id="18" name="Text 16"/>
          <p:cNvSpPr txBox="1"/>
          <p:nvPr/>
        </p:nvSpPr>
        <p:spPr>
          <a:xfrm>
            <a:off x="7955280" y="2788920"/>
            <a:ext cx="914400" cy="228600"/>
          </a:xfrm>
          <a:prstGeom prst="rect">
            <a:avLst/>
          </a:prstGeom>
          <a:noFill/>
          <a:ln/>
        </p:spPr>
        <p:txBody>
          <a:bodyPr wrap="square" lIns="0" tIns="0" rIns="0" bIns="0" rtlCol="0" anchor="ctr"/>
          <a:lstStyle/>
          <a:p>
            <a:pPr algn="ctr" indent="0" marL="0">
              <a:buNone/>
            </a:pPr>
            <a:r>
              <a:rPr lang="en-US" sz="1000" i="1" dirty="0">
                <a:solidFill>
                  <a:srgbClr val="595959"/>
                </a:solidFill>
                <a:latin typeface="Times New Roman" pitchFamily="34" charset="0"/>
                <a:ea typeface="Times New Roman" pitchFamily="34" charset="-122"/>
                <a:cs typeface="Times New Roman" pitchFamily="34" charset="-120"/>
              </a:rPr>
              <a:t>narrow</a:t>
            </a:r>
            <a:endParaRPr lang="en-US" sz="1000" dirty="0"/>
          </a:p>
        </p:txBody>
      </p:sp>
      <p:sp>
        <p:nvSpPr>
          <p:cNvPr id="19" name="Text 17"/>
          <p:cNvSpPr txBox="1"/>
          <p:nvPr/>
        </p:nvSpPr>
        <p:spPr>
          <a:xfrm>
            <a:off x="5897880" y="3200400"/>
            <a:ext cx="2743200" cy="228600"/>
          </a:xfrm>
          <a:prstGeom prst="rect">
            <a:avLst/>
          </a:prstGeom>
          <a:noFill/>
          <a:ln/>
        </p:spPr>
        <p:txBody>
          <a:bodyPr wrap="square" lIns="0" tIns="0" rIns="0" bIns="0" rtlCol="0" anchor="ctr"/>
          <a:lstStyle/>
          <a:p>
            <a:pPr algn="ctr" indent="0" marL="0">
              <a:buNone/>
            </a:pPr>
            <a:r>
              <a:rPr lang="en-US" sz="1100" i="1" dirty="0">
                <a:solidFill>
                  <a:srgbClr val="595959"/>
                </a:solidFill>
                <a:latin typeface="Times New Roman" pitchFamily="34" charset="0"/>
                <a:ea typeface="Times New Roman" pitchFamily="34" charset="-122"/>
                <a:cs typeface="Times New Roman" pitchFamily="34" charset="-120"/>
              </a:rPr>
              <a:t>Same size, different distance</a:t>
            </a:r>
            <a:endParaRPr lang="en-US" sz="1100" dirty="0"/>
          </a:p>
        </p:txBody>
      </p:sp>
      <p:sp>
        <p:nvSpPr>
          <p:cNvPr id="20" name="Shape 18"/>
          <p:cNvSpPr/>
          <p:nvPr/>
        </p:nvSpPr>
        <p:spPr>
          <a:xfrm>
            <a:off x="5943600" y="3593592"/>
            <a:ext cx="91440" cy="91440"/>
          </a:xfrm>
          <a:prstGeom prst="ellipse">
            <a:avLst/>
          </a:prstGeom>
          <a:solidFill>
            <a:srgbClr val="404040"/>
          </a:solidFill>
          <a:ln w="6350">
            <a:solidFill>
              <a:srgbClr val="404040"/>
            </a:solidFill>
            <a:prstDash val="solid"/>
          </a:ln>
        </p:spPr>
      </p:sp>
      <p:sp>
        <p:nvSpPr>
          <p:cNvPr id="21" name="Shape 19"/>
          <p:cNvSpPr/>
          <p:nvPr/>
        </p:nvSpPr>
        <p:spPr>
          <a:xfrm>
            <a:off x="5989320" y="3639312"/>
            <a:ext cx="822960" cy="0"/>
          </a:xfrm>
          <a:prstGeom prst="line">
            <a:avLst/>
          </a:prstGeom>
          <a:noFill/>
          <a:ln w="12700">
            <a:solidFill>
              <a:srgbClr val="595959"/>
            </a:solidFill>
            <a:prstDash val="dash"/>
          </a:ln>
        </p:spPr>
      </p:sp>
      <p:sp>
        <p:nvSpPr>
          <p:cNvPr id="22" name="Shape 20"/>
          <p:cNvSpPr/>
          <p:nvPr/>
        </p:nvSpPr>
        <p:spPr>
          <a:xfrm>
            <a:off x="6812280" y="3456432"/>
            <a:ext cx="274320" cy="365760"/>
          </a:xfrm>
          <a:prstGeom prst="rect">
            <a:avLst/>
          </a:prstGeom>
          <a:solidFill>
            <a:srgbClr val="F2F2F2"/>
          </a:solidFill>
          <a:ln w="12700">
            <a:solidFill>
              <a:srgbClr val="404040"/>
            </a:solidFill>
            <a:prstDash val="solid"/>
          </a:ln>
        </p:spPr>
      </p:sp>
      <p:sp>
        <p:nvSpPr>
          <p:cNvPr id="23" name="Shape 21"/>
          <p:cNvSpPr/>
          <p:nvPr/>
        </p:nvSpPr>
        <p:spPr>
          <a:xfrm>
            <a:off x="5943600" y="4142232"/>
            <a:ext cx="91440" cy="91440"/>
          </a:xfrm>
          <a:prstGeom prst="ellipse">
            <a:avLst/>
          </a:prstGeom>
          <a:solidFill>
            <a:srgbClr val="404040"/>
          </a:solidFill>
          <a:ln w="6350">
            <a:solidFill>
              <a:srgbClr val="404040"/>
            </a:solidFill>
            <a:prstDash val="solid"/>
          </a:ln>
        </p:spPr>
      </p:sp>
      <p:sp>
        <p:nvSpPr>
          <p:cNvPr id="24" name="Shape 22"/>
          <p:cNvSpPr/>
          <p:nvPr/>
        </p:nvSpPr>
        <p:spPr>
          <a:xfrm>
            <a:off x="5989320" y="4187952"/>
            <a:ext cx="2377440" cy="0"/>
          </a:xfrm>
          <a:prstGeom prst="line">
            <a:avLst/>
          </a:prstGeom>
          <a:noFill/>
          <a:ln w="12700">
            <a:solidFill>
              <a:srgbClr val="595959"/>
            </a:solidFill>
            <a:prstDash val="dash"/>
          </a:ln>
        </p:spPr>
      </p:sp>
      <p:sp>
        <p:nvSpPr>
          <p:cNvPr id="25" name="Shape 23"/>
          <p:cNvSpPr/>
          <p:nvPr/>
        </p:nvSpPr>
        <p:spPr>
          <a:xfrm>
            <a:off x="8366760" y="4005072"/>
            <a:ext cx="274320" cy="365760"/>
          </a:xfrm>
          <a:prstGeom prst="rect">
            <a:avLst/>
          </a:prstGeom>
          <a:solidFill>
            <a:srgbClr val="F2F2F2"/>
          </a:solidFill>
          <a:ln w="12700">
            <a:solidFill>
              <a:srgbClr val="404040"/>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7</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Fitts' Law — the representation</a:t>
            </a:r>
            <a:endParaRPr lang="en-US" sz="2800" dirty="0"/>
          </a:p>
        </p:txBody>
      </p:sp>
      <p:sp>
        <p:nvSpPr>
          <p:cNvPr id="5" name="Shape 3"/>
          <p:cNvSpPr/>
          <p:nvPr/>
        </p:nvSpPr>
        <p:spPr>
          <a:xfrm>
            <a:off x="822960" y="1097280"/>
            <a:ext cx="7498080" cy="777240"/>
          </a:xfrm>
          <a:prstGeom prst="rect">
            <a:avLst/>
          </a:prstGeom>
          <a:solidFill>
            <a:srgbClr val="F2F2F2"/>
          </a:solidFill>
          <a:ln w="9525">
            <a:solidFill>
              <a:srgbClr val="BFBFBF"/>
            </a:solidFill>
            <a:prstDash val="solid"/>
          </a:ln>
        </p:spPr>
      </p:sp>
      <p:sp>
        <p:nvSpPr>
          <p:cNvPr id="6" name="Text 4"/>
          <p:cNvSpPr txBox="1"/>
          <p:nvPr/>
        </p:nvSpPr>
        <p:spPr>
          <a:xfrm>
            <a:off x="822960" y="1097280"/>
            <a:ext cx="7498080" cy="777240"/>
          </a:xfrm>
          <a:prstGeom prst="rect">
            <a:avLst/>
          </a:prstGeom>
          <a:noFill/>
          <a:ln/>
        </p:spPr>
        <p:txBody>
          <a:bodyPr wrap="square" lIns="0" tIns="0" rIns="0" bIns="0" rtlCol="0" anchor="ctr"/>
          <a:lstStyle/>
          <a:p>
            <a:pPr algn="ctr" indent="0" marL="0">
              <a:buNone/>
            </a:pPr>
            <a:r>
              <a:rPr lang="en-US" sz="2000" i="1" dirty="0">
                <a:solidFill>
                  <a:srgbClr val="000000"/>
                </a:solidFill>
                <a:latin typeface="Times New Roman" pitchFamily="34" charset="0"/>
                <a:ea typeface="Times New Roman" pitchFamily="34" charset="-122"/>
                <a:cs typeface="Times New Roman" pitchFamily="34" charset="-120"/>
              </a:rPr>
              <a:t>Movement Time  =  a  +  b · log₂ ( distance / size  +  1 )</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8046720" cy="914400"/>
        </p:xfrm>
        <a:graphic>
          <a:graphicData uri="http://schemas.openxmlformats.org/drawingml/2006/table">
            <a:tbl>
              <a:tblPr/>
              <a:tblGrid>
                <a:gridCol w="1371600"/>
                <a:gridCol w="3383280"/>
                <a:gridCol w="3291840"/>
              </a:tblGrid>
              <a:tr h="384048">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Term</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Meaning</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Where it comes from</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38404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a</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Fixed overhead of starting and stopping the movement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Empirical; device- and person-dependent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b</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Cost per unit of difficulty (ms per bit)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Empirical; the slope of the fitted line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distance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From the starting point to the centre of the target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Read off the layout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size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Width of the target measured along the axis of motion</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Read off the layout — note the italics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log₂(D/S + 1)</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Index of difficulty, in bits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The corrective phase: each correction halves the error</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8" name="Text 5"/>
          <p:cNvSpPr txBox="1"/>
          <p:nvPr/>
        </p:nvSpPr>
        <p:spPr>
          <a:xfrm>
            <a:off x="548640" y="4370832"/>
            <a:ext cx="8046720" cy="27432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a and b are measured, not derived — you will measure your own in this week's lab.</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8</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Putting numbers on it</a:t>
            </a:r>
            <a:endParaRPr lang="en-US" sz="2800" dirty="0"/>
          </a:p>
        </p:txBody>
      </p:sp>
      <p:sp>
        <p:nvSpPr>
          <p:cNvPr id="5" name="Text 3"/>
          <p:cNvSpPr txBox="1"/>
          <p:nvPr/>
        </p:nvSpPr>
        <p:spPr>
          <a:xfrm>
            <a:off x="502920" y="1097280"/>
            <a:ext cx="3931920" cy="82296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Take a = 100 ms and b = 150 ms/bit — values in the usual range for a mouse. Compare four targets: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3931920" cy="914400"/>
        </p:xfrm>
        <a:graphic>
          <a:graphicData uri="http://schemas.openxmlformats.org/drawingml/2006/table">
            <a:tbl>
              <a:tblPr/>
              <a:tblGrid>
                <a:gridCol w="960120"/>
                <a:gridCol w="960120"/>
                <a:gridCol w="1005840"/>
                <a:gridCol w="1005840"/>
              </a:tblGrid>
              <a:tr h="347472">
                <a:tc>
                  <a:txBody>
                    <a:bodyPr/>
                    <a:lstStyle/>
                    <a:p>
                      <a:pPr indent="0" marL="0">
                        <a:buNone/>
                      </a:pPr>
                      <a:r>
                        <a:rPr lang="en-US" sz="1150" b="1" dirty="0">
                          <a:solidFill>
                            <a:srgbClr val="000000"/>
                          </a:solidFill>
                          <a:latin typeface="Times New Roman" pitchFamily="34" charset="0"/>
                          <a:ea typeface="Times New Roman" pitchFamily="34" charset="-122"/>
                          <a:cs typeface="Times New Roman" pitchFamily="34" charset="-120"/>
                        </a:rPr>
                        <a:t>D (px)</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Times New Roman" pitchFamily="34" charset="0"/>
                          <a:ea typeface="Times New Roman" pitchFamily="34" charset="-122"/>
                          <a:cs typeface="Times New Roman" pitchFamily="34" charset="-120"/>
                        </a:rPr>
                        <a:t>S (px)</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Times New Roman" pitchFamily="34" charset="0"/>
                          <a:ea typeface="Times New Roman" pitchFamily="34" charset="-122"/>
                          <a:cs typeface="Times New Roman" pitchFamily="34" charset="-120"/>
                        </a:rPr>
                        <a:t>ID (bits)</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Times New Roman" pitchFamily="34" charset="0"/>
                          <a:ea typeface="Times New Roman" pitchFamily="34" charset="-122"/>
                          <a:cs typeface="Times New Roman" pitchFamily="34" charset="-120"/>
                        </a:rPr>
                        <a:t>MT (ms)</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347472">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400</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16</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4.70</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805</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400</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64</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2.81</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522</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100</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16</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2.86</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529</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100</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64</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1.36</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150" dirty="0">
                          <a:solidFill>
                            <a:srgbClr val="262626"/>
                          </a:solidFill>
                          <a:latin typeface="Times New Roman" pitchFamily="34" charset="0"/>
                          <a:ea typeface="Times New Roman" pitchFamily="34" charset="-122"/>
                          <a:cs typeface="Times New Roman" pitchFamily="34" charset="-120"/>
                        </a:rPr>
                        <a:t>304</a:t>
                      </a:r>
                      <a:endParaRPr lang="en-US" sz="11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7" name="Text 4"/>
          <p:cNvSpPr txBox="1"/>
          <p:nvPr/>
        </p:nvSpPr>
        <p:spPr>
          <a:xfrm>
            <a:off x="502920" y="3886200"/>
            <a:ext cx="3931920" cy="548640"/>
          </a:xfrm>
          <a:prstGeom prst="rect">
            <a:avLst/>
          </a:prstGeom>
          <a:noFill/>
          <a:ln/>
        </p:spPr>
        <p:txBody>
          <a:bodyPr wrap="square" lIns="0" tIns="0" rIns="0" bIns="0" rtlCol="0" anchor="ctr"/>
          <a:lstStyle/>
          <a:p>
            <a:pPr algn="l" indent="0" marL="0">
              <a:buNone/>
            </a:pPr>
            <a:r>
              <a:rPr lang="en-US" sz="1000" i="1" dirty="0">
                <a:solidFill>
                  <a:srgbClr val="595959"/>
                </a:solidFill>
                <a:latin typeface="Times New Roman" pitchFamily="34" charset="0"/>
                <a:ea typeface="Times New Roman" pitchFamily="34" charset="-122"/>
                <a:cs typeface="Times New Roman" pitchFamily="34" charset="-120"/>
              </a:rPr>
              <a:t>Quadrupling the target saves about 280 ms; quartering the distance saves about the same. Neither is free — but on a crowded screen, size is usually the cheaper one to buy.</a:t>
            </a:r>
            <a:endParaRPr lang="en-US" sz="1000" dirty="0"/>
          </a:p>
        </p:txBody>
      </p:sp>
      <p:sp>
        <p:nvSpPr>
          <p:cNvPr id="8" name="Shape 5"/>
          <p:cNvSpPr/>
          <p:nvPr/>
        </p:nvSpPr>
        <p:spPr>
          <a:xfrm>
            <a:off x="4800600" y="1097280"/>
            <a:ext cx="3840480" cy="3291840"/>
          </a:xfrm>
          <a:prstGeom prst="rect">
            <a:avLst/>
          </a:prstGeom>
          <a:solidFill>
            <a:srgbClr val="F2F2F2"/>
          </a:solidFill>
          <a:ln w="9525">
            <a:solidFill>
              <a:srgbClr val="BFBFBF"/>
            </a:solidFill>
            <a:prstDash val="solid"/>
          </a:ln>
        </p:spPr>
      </p:sp>
      <p:sp>
        <p:nvSpPr>
          <p:cNvPr id="9" name="Text 6"/>
          <p:cNvSpPr txBox="1"/>
          <p:nvPr/>
        </p:nvSpPr>
        <p:spPr>
          <a:xfrm>
            <a:off x="4937760" y="1188720"/>
            <a:ext cx="356616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Why this matters in practice</a:t>
            </a:r>
            <a:endParaRPr lang="en-US" sz="1400" dirty="0"/>
          </a:p>
        </p:txBody>
      </p:sp>
      <p:sp>
        <p:nvSpPr>
          <p:cNvPr id="10" name="Text 7"/>
          <p:cNvSpPr txBox="1"/>
          <p:nvPr/>
        </p:nvSpPr>
        <p:spPr>
          <a:xfrm>
            <a:off x="4937760" y="1536192"/>
            <a:ext cx="3566160" cy="265176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280 ms sounds trivial. Multiply by a control pressed 400 times a shift, five days a week:</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400 × 280 ms  ≈  1.9 minutes per shift</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  7.7 hours per year, per operator</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For one control. Data-entry and point-of-sale systems live or die on exactly this arithmetic — which is why Fitts' Law is the one piece of psychology that routinely survives contact with a procurement meeting.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9</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Fitts' experiments</a:t>
            </a:r>
            <a:endParaRPr lang="en-US" sz="2800" dirty="0"/>
          </a:p>
        </p:txBody>
      </p:sp>
      <p:sp>
        <p:nvSpPr>
          <p:cNvPr id="5" name="Text 3"/>
          <p:cNvSpPr txBox="1"/>
          <p:nvPr/>
        </p:nvSpPr>
        <p:spPr>
          <a:xfrm>
            <a:off x="502920" y="1097280"/>
            <a:ext cx="3931920" cy="1828800"/>
          </a:xfrm>
          <a:prstGeom prst="rect">
            <a:avLst/>
          </a:prstGeom>
          <a:noFill/>
          <a:ln/>
        </p:spPr>
        <p:txBody>
          <a:bodyPr wrap="square" lIns="0" tIns="0" rIns="0" bIns="0" rtlCol="0" anchor="t"/>
          <a:lstStyle/>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Paul Fitts (1954) had participants tap alternately between two metal plates, as fast as they could without missing.</a:t>
            </a:r>
            <a:endParaRPr lang="en-US" sz="1300" dirty="0"/>
          </a:p>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He varied the separation between plates and their width, and recorded the average time per tap.</a:t>
            </a:r>
            <a:endParaRPr lang="en-US" sz="1300" dirty="0"/>
          </a:p>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Plotting movement time against log₂(D/S + 1) gives a straight line — across devices, limbs and decades.</a:t>
            </a:r>
            <a:endParaRPr lang="en-US" sz="1300" dirty="0"/>
          </a:p>
        </p:txBody>
      </p:sp>
      <p:sp>
        <p:nvSpPr>
          <p:cNvPr id="6" name="Text 4"/>
          <p:cNvSpPr txBox="1"/>
          <p:nvPr/>
        </p:nvSpPr>
        <p:spPr>
          <a:xfrm>
            <a:off x="502920" y="3063240"/>
            <a:ext cx="3931920" cy="1280160"/>
          </a:xfrm>
          <a:prstGeom prst="rect">
            <a:avLst/>
          </a:prstGeom>
          <a:noFill/>
          <a:ln/>
        </p:spPr>
        <p:txBody>
          <a:bodyPr wrap="square" lIns="0" tIns="0" rIns="0" bIns="0" rtlCol="0" anchor="t"/>
          <a:lstStyle/>
          <a:p>
            <a:pPr algn="l" indent="0" marL="0">
              <a:lnSpc>
                <a:spcPct val="115000"/>
              </a:lnSpc>
              <a:spcAft>
                <a:spcPts val="600"/>
              </a:spcAft>
              <a:buNone/>
            </a:pPr>
            <a:r>
              <a:rPr lang="en-US" sz="1200" dirty="0">
                <a:solidFill>
                  <a:srgbClr val="595959"/>
                </a:solidFill>
                <a:latin typeface="Times New Roman" pitchFamily="34" charset="0"/>
                <a:ea typeface="Times New Roman" pitchFamily="34" charset="-122"/>
                <a:cs typeface="Times New Roman" pitchFamily="34" charset="-120"/>
              </a:rPr>
              <a:t>That robustness is the reason the law is taken seriously: it was not invented for screens, and it was not fitted to them afterwards. The mouse simply turned out to obey a law discovered with a metal stylus.</a:t>
            </a:r>
            <a:endParaRPr lang="en-US" sz="1200" dirty="0"/>
          </a:p>
        </p:txBody>
      </p:sp>
      <p:sp>
        <p:nvSpPr>
          <p:cNvPr id="7" name="Shape 5"/>
          <p:cNvSpPr/>
          <p:nvPr/>
        </p:nvSpPr>
        <p:spPr>
          <a:xfrm>
            <a:off x="4754880" y="1143000"/>
            <a:ext cx="3931920" cy="1828800"/>
          </a:xfrm>
          <a:prstGeom prst="rect">
            <a:avLst/>
          </a:prstGeom>
          <a:solidFill>
            <a:srgbClr val="FFFFFF"/>
          </a:solidFill>
          <a:ln w="9525">
            <a:solidFill>
              <a:srgbClr val="BFBFBF"/>
            </a:solidFill>
            <a:prstDash val="solid"/>
          </a:ln>
        </p:spPr>
      </p:sp>
      <p:sp>
        <p:nvSpPr>
          <p:cNvPr id="8" name="Shape 6"/>
          <p:cNvSpPr/>
          <p:nvPr/>
        </p:nvSpPr>
        <p:spPr>
          <a:xfrm>
            <a:off x="5120640" y="1417320"/>
            <a:ext cx="274320" cy="1234440"/>
          </a:xfrm>
          <a:prstGeom prst="rect">
            <a:avLst/>
          </a:prstGeom>
          <a:solidFill>
            <a:srgbClr val="F2F2F2"/>
          </a:solidFill>
          <a:ln w="12700">
            <a:solidFill>
              <a:srgbClr val="404040"/>
            </a:solidFill>
            <a:prstDash val="solid"/>
          </a:ln>
        </p:spPr>
      </p:sp>
      <p:sp>
        <p:nvSpPr>
          <p:cNvPr id="9" name="Shape 7"/>
          <p:cNvSpPr/>
          <p:nvPr/>
        </p:nvSpPr>
        <p:spPr>
          <a:xfrm>
            <a:off x="7955280" y="1417320"/>
            <a:ext cx="274320" cy="1234440"/>
          </a:xfrm>
          <a:prstGeom prst="rect">
            <a:avLst/>
          </a:prstGeom>
          <a:solidFill>
            <a:srgbClr val="F2F2F2"/>
          </a:solidFill>
          <a:ln w="12700">
            <a:solidFill>
              <a:srgbClr val="404040"/>
            </a:solidFill>
            <a:prstDash val="solid"/>
          </a:ln>
        </p:spPr>
      </p:sp>
      <p:sp>
        <p:nvSpPr>
          <p:cNvPr id="10" name="Shape 8"/>
          <p:cNvSpPr/>
          <p:nvPr/>
        </p:nvSpPr>
        <p:spPr>
          <a:xfrm>
            <a:off x="5257800" y="2029968"/>
            <a:ext cx="2834640" cy="0"/>
          </a:xfrm>
          <a:prstGeom prst="line">
            <a:avLst/>
          </a:prstGeom>
          <a:noFill/>
          <a:ln w="12700">
            <a:solidFill>
              <a:srgbClr val="595959"/>
            </a:solidFill>
            <a:prstDash val="dash"/>
          </a:ln>
        </p:spPr>
      </p:sp>
      <p:sp>
        <p:nvSpPr>
          <p:cNvPr id="11" name="Text 9"/>
          <p:cNvSpPr txBox="1"/>
          <p:nvPr/>
        </p:nvSpPr>
        <p:spPr>
          <a:xfrm>
            <a:off x="5852160" y="1783080"/>
            <a:ext cx="1645920" cy="228600"/>
          </a:xfrm>
          <a:prstGeom prst="rect">
            <a:avLst/>
          </a:prstGeom>
          <a:noFill/>
          <a:ln/>
        </p:spPr>
        <p:txBody>
          <a:bodyPr wrap="square" lIns="0" tIns="0" rIns="0" bIns="0" rtlCol="0" anchor="ctr"/>
          <a:lstStyle/>
          <a:p>
            <a:pPr algn="ctr" indent="0" marL="0">
              <a:buNone/>
            </a:pPr>
            <a:r>
              <a:rPr lang="en-US" sz="1000" i="1" dirty="0">
                <a:solidFill>
                  <a:srgbClr val="595959"/>
                </a:solidFill>
                <a:latin typeface="Times New Roman" pitchFamily="34" charset="0"/>
                <a:ea typeface="Times New Roman" pitchFamily="34" charset="-122"/>
                <a:cs typeface="Times New Roman" pitchFamily="34" charset="-120"/>
              </a:rPr>
              <a:t>D  (centre to centre)</a:t>
            </a:r>
            <a:endParaRPr lang="en-US" sz="1000" dirty="0"/>
          </a:p>
        </p:txBody>
      </p:sp>
      <p:sp>
        <p:nvSpPr>
          <p:cNvPr id="12" name="Text 10"/>
          <p:cNvSpPr txBox="1"/>
          <p:nvPr/>
        </p:nvSpPr>
        <p:spPr>
          <a:xfrm>
            <a:off x="4892040" y="2697480"/>
            <a:ext cx="731520" cy="228600"/>
          </a:xfrm>
          <a:prstGeom prst="rect">
            <a:avLst/>
          </a:prstGeom>
          <a:noFill/>
          <a:ln/>
        </p:spPr>
        <p:txBody>
          <a:bodyPr wrap="square" lIns="0" tIns="0" rIns="0" bIns="0" rtlCol="0" anchor="ctr"/>
          <a:lstStyle/>
          <a:p>
            <a:pPr algn="ctr" indent="0" marL="0">
              <a:buNone/>
            </a:pPr>
            <a:r>
              <a:rPr lang="en-US" sz="1000" b="1" dirty="0">
                <a:solidFill>
                  <a:srgbClr val="595959"/>
                </a:solidFill>
                <a:latin typeface="Times New Roman" pitchFamily="34" charset="0"/>
                <a:ea typeface="Times New Roman" pitchFamily="34" charset="-122"/>
                <a:cs typeface="Times New Roman" pitchFamily="34" charset="-120"/>
              </a:rPr>
              <a:t>S</a:t>
            </a:r>
            <a:endParaRPr lang="en-US" sz="1000" dirty="0"/>
          </a:p>
        </p:txBody>
      </p:sp>
      <p:sp>
        <p:nvSpPr>
          <p:cNvPr id="13" name="Text 11"/>
          <p:cNvSpPr txBox="1"/>
          <p:nvPr/>
        </p:nvSpPr>
        <p:spPr>
          <a:xfrm>
            <a:off x="7818120" y="2697480"/>
            <a:ext cx="731520" cy="228600"/>
          </a:xfrm>
          <a:prstGeom prst="rect">
            <a:avLst/>
          </a:prstGeom>
          <a:noFill/>
          <a:ln/>
        </p:spPr>
        <p:txBody>
          <a:bodyPr wrap="square" lIns="0" tIns="0" rIns="0" bIns="0" rtlCol="0" anchor="ctr"/>
          <a:lstStyle/>
          <a:p>
            <a:pPr algn="ctr" indent="0" marL="0">
              <a:buNone/>
            </a:pPr>
            <a:r>
              <a:rPr lang="en-US" sz="1000" b="1" dirty="0">
                <a:solidFill>
                  <a:srgbClr val="595959"/>
                </a:solidFill>
                <a:latin typeface="Times New Roman" pitchFamily="34" charset="0"/>
                <a:ea typeface="Times New Roman" pitchFamily="34" charset="-122"/>
                <a:cs typeface="Times New Roman" pitchFamily="34" charset="-120"/>
              </a:rPr>
              <a:t>S</a:t>
            </a:r>
            <a:endParaRPr lang="en-US" sz="1000" dirty="0"/>
          </a:p>
        </p:txBody>
      </p:sp>
      <p:sp>
        <p:nvSpPr>
          <p:cNvPr id="14" name="Text 12"/>
          <p:cNvSpPr txBox="1"/>
          <p:nvPr/>
        </p:nvSpPr>
        <p:spPr>
          <a:xfrm>
            <a:off x="4754880" y="3063240"/>
            <a:ext cx="393192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Movement time against index of difficulty</a:t>
            </a:r>
            <a:endParaRPr lang="en-US" sz="1100" dirty="0"/>
          </a:p>
        </p:txBody>
      </p:sp>
      <p:sp>
        <p:nvSpPr>
          <p:cNvPr id="15" name="Shape 13"/>
          <p:cNvSpPr/>
          <p:nvPr/>
        </p:nvSpPr>
        <p:spPr>
          <a:xfrm flipV="1">
            <a:off x="5120640" y="3401568"/>
            <a:ext cx="0" cy="914400"/>
          </a:xfrm>
          <a:prstGeom prst="line">
            <a:avLst/>
          </a:prstGeom>
          <a:noFill/>
          <a:ln w="12700">
            <a:solidFill>
              <a:srgbClr val="404040"/>
            </a:solidFill>
            <a:prstDash val="solid"/>
          </a:ln>
        </p:spPr>
      </p:sp>
      <p:sp>
        <p:nvSpPr>
          <p:cNvPr id="16" name="Shape 14"/>
          <p:cNvSpPr/>
          <p:nvPr/>
        </p:nvSpPr>
        <p:spPr>
          <a:xfrm>
            <a:off x="5120640" y="4315968"/>
            <a:ext cx="3383280" cy="0"/>
          </a:xfrm>
          <a:prstGeom prst="line">
            <a:avLst/>
          </a:prstGeom>
          <a:noFill/>
          <a:ln w="12700">
            <a:solidFill>
              <a:srgbClr val="404040"/>
            </a:solidFill>
            <a:prstDash val="solid"/>
          </a:ln>
        </p:spPr>
      </p:sp>
      <p:sp>
        <p:nvSpPr>
          <p:cNvPr id="17" name="Shape 15"/>
          <p:cNvSpPr/>
          <p:nvPr/>
        </p:nvSpPr>
        <p:spPr>
          <a:xfrm flipV="1">
            <a:off x="5257800" y="3493008"/>
            <a:ext cx="3063240" cy="621792"/>
          </a:xfrm>
          <a:prstGeom prst="line">
            <a:avLst/>
          </a:prstGeom>
          <a:noFill/>
          <a:ln w="15875">
            <a:solidFill>
              <a:srgbClr val="404040"/>
            </a:solidFill>
            <a:prstDash val="solid"/>
          </a:ln>
        </p:spPr>
      </p:sp>
      <p:sp>
        <p:nvSpPr>
          <p:cNvPr id="18" name="Shape 16"/>
          <p:cNvSpPr/>
          <p:nvPr/>
        </p:nvSpPr>
        <p:spPr>
          <a:xfrm>
            <a:off x="5486400" y="4041648"/>
            <a:ext cx="73152" cy="73152"/>
          </a:xfrm>
          <a:prstGeom prst="ellipse">
            <a:avLst/>
          </a:prstGeom>
          <a:solidFill>
            <a:srgbClr val="404040"/>
          </a:solidFill>
          <a:ln w="6350">
            <a:solidFill>
              <a:srgbClr val="404040"/>
            </a:solidFill>
            <a:prstDash val="solid"/>
          </a:ln>
        </p:spPr>
      </p:sp>
      <p:sp>
        <p:nvSpPr>
          <p:cNvPr id="19" name="Shape 17"/>
          <p:cNvSpPr/>
          <p:nvPr/>
        </p:nvSpPr>
        <p:spPr>
          <a:xfrm>
            <a:off x="6035040" y="3931920"/>
            <a:ext cx="73152" cy="73152"/>
          </a:xfrm>
          <a:prstGeom prst="ellipse">
            <a:avLst/>
          </a:prstGeom>
          <a:solidFill>
            <a:srgbClr val="404040"/>
          </a:solidFill>
          <a:ln w="6350">
            <a:solidFill>
              <a:srgbClr val="404040"/>
            </a:solidFill>
            <a:prstDash val="solid"/>
          </a:ln>
        </p:spPr>
      </p:sp>
      <p:sp>
        <p:nvSpPr>
          <p:cNvPr id="20" name="Shape 18"/>
          <p:cNvSpPr/>
          <p:nvPr/>
        </p:nvSpPr>
        <p:spPr>
          <a:xfrm>
            <a:off x="6583680" y="3822192"/>
            <a:ext cx="73152" cy="73152"/>
          </a:xfrm>
          <a:prstGeom prst="ellipse">
            <a:avLst/>
          </a:prstGeom>
          <a:solidFill>
            <a:srgbClr val="404040"/>
          </a:solidFill>
          <a:ln w="6350">
            <a:solidFill>
              <a:srgbClr val="404040"/>
            </a:solidFill>
            <a:prstDash val="solid"/>
          </a:ln>
        </p:spPr>
      </p:sp>
      <p:sp>
        <p:nvSpPr>
          <p:cNvPr id="21" name="Shape 19"/>
          <p:cNvSpPr/>
          <p:nvPr/>
        </p:nvSpPr>
        <p:spPr>
          <a:xfrm>
            <a:off x="7132320" y="3694176"/>
            <a:ext cx="73152" cy="73152"/>
          </a:xfrm>
          <a:prstGeom prst="ellipse">
            <a:avLst/>
          </a:prstGeom>
          <a:solidFill>
            <a:srgbClr val="404040"/>
          </a:solidFill>
          <a:ln w="6350">
            <a:solidFill>
              <a:srgbClr val="404040"/>
            </a:solidFill>
            <a:prstDash val="solid"/>
          </a:ln>
        </p:spPr>
      </p:sp>
      <p:sp>
        <p:nvSpPr>
          <p:cNvPr id="22" name="Shape 20"/>
          <p:cNvSpPr/>
          <p:nvPr/>
        </p:nvSpPr>
        <p:spPr>
          <a:xfrm>
            <a:off x="7680960" y="3602736"/>
            <a:ext cx="73152" cy="73152"/>
          </a:xfrm>
          <a:prstGeom prst="ellipse">
            <a:avLst/>
          </a:prstGeom>
          <a:solidFill>
            <a:srgbClr val="404040"/>
          </a:solidFill>
          <a:ln w="6350">
            <a:solidFill>
              <a:srgbClr val="404040"/>
            </a:solidFill>
            <a:prstDash val="solid"/>
          </a:ln>
        </p:spPr>
      </p:sp>
      <p:sp>
        <p:nvSpPr>
          <p:cNvPr id="23" name="Shape 21"/>
          <p:cNvSpPr/>
          <p:nvPr/>
        </p:nvSpPr>
        <p:spPr>
          <a:xfrm>
            <a:off x="8138160" y="3520440"/>
            <a:ext cx="73152" cy="73152"/>
          </a:xfrm>
          <a:prstGeom prst="ellipse">
            <a:avLst/>
          </a:prstGeom>
          <a:solidFill>
            <a:srgbClr val="404040"/>
          </a:solidFill>
          <a:ln w="6350">
            <a:solidFill>
              <a:srgbClr val="404040"/>
            </a:solidFill>
            <a:prstDash val="solid"/>
          </a:ln>
        </p:spPr>
      </p:sp>
      <p:sp>
        <p:nvSpPr>
          <p:cNvPr id="24" name="Text 22"/>
          <p:cNvSpPr txBox="1"/>
          <p:nvPr/>
        </p:nvSpPr>
        <p:spPr>
          <a:xfrm>
            <a:off x="4526280" y="3291840"/>
            <a:ext cx="502920" cy="228600"/>
          </a:xfrm>
          <a:prstGeom prst="rect">
            <a:avLst/>
          </a:prstGeom>
          <a:noFill/>
          <a:ln/>
        </p:spPr>
        <p:txBody>
          <a:bodyPr wrap="square" lIns="0" tIns="0" rIns="0" bIns="0" rtlCol="0" anchor="ctr"/>
          <a:lstStyle/>
          <a:p>
            <a:pPr algn="r" indent="0" marL="0">
              <a:buNone/>
            </a:pPr>
            <a:r>
              <a:rPr lang="en-US" sz="900" dirty="0">
                <a:solidFill>
                  <a:srgbClr val="595959"/>
                </a:solidFill>
                <a:latin typeface="Times New Roman" pitchFamily="34" charset="0"/>
                <a:ea typeface="Times New Roman" pitchFamily="34" charset="-122"/>
                <a:cs typeface="Times New Roman" pitchFamily="34" charset="-120"/>
              </a:rPr>
              <a:t>MT</a:t>
            </a:r>
            <a:endParaRPr lang="en-US" sz="900" dirty="0"/>
          </a:p>
        </p:txBody>
      </p:sp>
      <p:sp>
        <p:nvSpPr>
          <p:cNvPr id="25" name="Text 23"/>
          <p:cNvSpPr txBox="1"/>
          <p:nvPr/>
        </p:nvSpPr>
        <p:spPr>
          <a:xfrm>
            <a:off x="7863840" y="4343400"/>
            <a:ext cx="731520" cy="228600"/>
          </a:xfrm>
          <a:prstGeom prst="rect">
            <a:avLst/>
          </a:prstGeom>
          <a:noFill/>
          <a:ln/>
        </p:spPr>
        <p:txBody>
          <a:bodyPr wrap="square" lIns="0" tIns="0" rIns="0" bIns="0" rtlCol="0" anchor="ctr"/>
          <a:lstStyle/>
          <a:p>
            <a:pPr algn="l" indent="0" marL="0">
              <a:buNone/>
            </a:pPr>
            <a:r>
              <a:rPr lang="en-US" sz="900" i="1" dirty="0">
                <a:solidFill>
                  <a:srgbClr val="595959"/>
                </a:solidFill>
                <a:latin typeface="Times New Roman" pitchFamily="34" charset="0"/>
                <a:ea typeface="Times New Roman" pitchFamily="34" charset="-122"/>
                <a:cs typeface="Times New Roman" pitchFamily="34" charset="-120"/>
              </a:rPr>
              <a:t>ID (bits)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10</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Try it now — two minutes</a:t>
            </a:r>
            <a:endParaRPr lang="en-US" sz="2800" dirty="0"/>
          </a:p>
        </p:txBody>
      </p:sp>
      <p:sp>
        <p:nvSpPr>
          <p:cNvPr id="5" name="Shape 3"/>
          <p:cNvSpPr/>
          <p:nvPr/>
        </p:nvSpPr>
        <p:spPr>
          <a:xfrm>
            <a:off x="502920" y="1097280"/>
            <a:ext cx="3977640" cy="3017520"/>
          </a:xfrm>
          <a:prstGeom prst="rect">
            <a:avLst/>
          </a:prstGeom>
          <a:solidFill>
            <a:srgbClr val="F2F2F2"/>
          </a:solidFill>
          <a:ln w="9525">
            <a:solidFill>
              <a:srgbClr val="BFBFBF"/>
            </a:solidFill>
            <a:prstDash val="solid"/>
          </a:ln>
        </p:spPr>
      </p:sp>
      <p:sp>
        <p:nvSpPr>
          <p:cNvPr id="6" name="Text 4"/>
          <p:cNvSpPr txBox="1"/>
          <p:nvPr/>
        </p:nvSpPr>
        <p:spPr>
          <a:xfrm>
            <a:off x="640080" y="118872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The drill</a:t>
            </a:r>
            <a:endParaRPr lang="en-US" sz="1400" dirty="0"/>
          </a:p>
        </p:txBody>
      </p:sp>
      <p:sp>
        <p:nvSpPr>
          <p:cNvPr id="7" name="Text 5"/>
          <p:cNvSpPr txBox="1"/>
          <p:nvPr/>
        </p:nvSpPr>
        <p:spPr>
          <a:xfrm>
            <a:off x="640080" y="1536192"/>
            <a:ext cx="3703320" cy="237744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1.  Open any window on your laptop.</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2.  Close it using the small × in the corner of the window. Note how carefully you had to aim.</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3.  Now maximise a window and close it with the same ×, which is now flush against the screen corner.</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4.  Do each five times and notice the difference in effort, not just in time.</a:t>
            </a:r>
            <a:endParaRPr lang="en-US" sz="1150" dirty="0"/>
          </a:p>
        </p:txBody>
      </p:sp>
      <p:sp>
        <p:nvSpPr>
          <p:cNvPr id="8" name="Shape 6"/>
          <p:cNvSpPr/>
          <p:nvPr/>
        </p:nvSpPr>
        <p:spPr>
          <a:xfrm>
            <a:off x="4800600" y="1097280"/>
            <a:ext cx="3840480" cy="3017520"/>
          </a:xfrm>
          <a:prstGeom prst="rect">
            <a:avLst/>
          </a:prstGeom>
          <a:solidFill>
            <a:srgbClr val="F2F2F2"/>
          </a:solidFill>
          <a:ln w="9525">
            <a:solidFill>
              <a:srgbClr val="BFBFBF"/>
            </a:solidFill>
            <a:prstDash val="solid"/>
          </a:ln>
        </p:spPr>
      </p:sp>
      <p:sp>
        <p:nvSpPr>
          <p:cNvPr id="9" name="Text 7"/>
          <p:cNvSpPr txBox="1"/>
          <p:nvPr/>
        </p:nvSpPr>
        <p:spPr>
          <a:xfrm>
            <a:off x="4937760" y="1188720"/>
            <a:ext cx="356616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What you should have felt</a:t>
            </a:r>
            <a:endParaRPr lang="en-US" sz="1400" dirty="0"/>
          </a:p>
        </p:txBody>
      </p:sp>
      <p:sp>
        <p:nvSpPr>
          <p:cNvPr id="10" name="Text 8"/>
          <p:cNvSpPr txBox="1"/>
          <p:nvPr/>
        </p:nvSpPr>
        <p:spPr>
          <a:xfrm>
            <a:off x="4937760" y="1536192"/>
            <a:ext cx="3566160" cy="237744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The maximised window's × required no aiming at all: you could throw the pointer at the corner and stop there.</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The floating window's × required the corrective phase — the little wiggle at the end.</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Same button, same pixels, very different difficulty. Nothing about the button changed. What changed was what the screen did at the edge.</a:t>
            </a:r>
            <a:endParaRPr lang="en-US" sz="1150" dirty="0"/>
          </a:p>
        </p:txBody>
      </p:sp>
      <p:sp>
        <p:nvSpPr>
          <p:cNvPr id="11" name="Text 9"/>
          <p:cNvSpPr txBox="1"/>
          <p:nvPr/>
        </p:nvSpPr>
        <p:spPr>
          <a:xfrm>
            <a:off x="502920" y="4251960"/>
            <a:ext cx="8138160" cy="274320"/>
          </a:xfrm>
          <a:prstGeom prst="rect">
            <a:avLst/>
          </a:prstGeom>
          <a:noFill/>
          <a:ln/>
        </p:spPr>
        <p:txBody>
          <a:bodyPr wrap="square" lIns="0" tIns="0" rIns="0" bIns="0" rtlCol="0" anchor="ctr"/>
          <a:lstStyle/>
          <a:p>
            <a:pPr algn="ctr" indent="0" marL="0">
              <a:buNone/>
            </a:pPr>
            <a:r>
              <a:rPr lang="en-US" sz="1200" b="1" dirty="0">
                <a:solidFill>
                  <a:srgbClr val="262626"/>
                </a:solidFill>
                <a:latin typeface="Times New Roman" pitchFamily="34" charset="0"/>
                <a:ea typeface="Times New Roman" pitchFamily="34" charset="-122"/>
                <a:cs typeface="Times New Roman" pitchFamily="34" charset="-120"/>
              </a:rPr>
              <a:t>Hold that observation — the rest of the lecture is its consequences.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11</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How Fitts' Law affects the interface</a:t>
            </a:r>
            <a:endParaRPr lang="en-US" sz="2800" dirty="0"/>
          </a:p>
        </p:txBody>
      </p:sp>
      <p:sp>
        <p:nvSpPr>
          <p:cNvPr id="5" name="Text 3"/>
          <p:cNvSpPr txBox="1"/>
          <p:nvPr/>
        </p:nvSpPr>
        <p:spPr>
          <a:xfrm>
            <a:off x="502920" y="1097280"/>
            <a:ext cx="8138160" cy="411480"/>
          </a:xfrm>
          <a:prstGeom prst="rect">
            <a:avLst/>
          </a:prstGeom>
          <a:noFill/>
          <a:ln/>
        </p:spPr>
        <p:txBody>
          <a:bodyPr wrap="square" lIns="0" tIns="0" rIns="0" bIns="0" rtlCol="0" anchor="t"/>
          <a:lstStyle/>
          <a:p>
            <a:pPr algn="l" indent="0" marL="0">
              <a:lnSpc>
                <a:spcPct val="115000"/>
              </a:lnSpc>
              <a:spcAft>
                <a:spcPts val="600"/>
              </a:spcAft>
              <a:buNone/>
            </a:pPr>
            <a:r>
              <a:rPr lang="en-US" sz="1400" b="1" dirty="0">
                <a:solidFill>
                  <a:srgbClr val="000000"/>
                </a:solidFill>
                <a:latin typeface="Times New Roman" pitchFamily="34" charset="0"/>
                <a:ea typeface="Times New Roman" pitchFamily="34" charset="-122"/>
                <a:cs typeface="Times New Roman" pitchFamily="34" charset="-120"/>
              </a:rPr>
              <a:t>There are only two levers. Every Fitts-driven design decision pulls one of them.</a:t>
            </a:r>
            <a:endParaRPr lang="en-US" sz="1400" dirty="0"/>
          </a:p>
        </p:txBody>
      </p:sp>
      <p:sp>
        <p:nvSpPr>
          <p:cNvPr id="6" name="Shape 4"/>
          <p:cNvSpPr/>
          <p:nvPr/>
        </p:nvSpPr>
        <p:spPr>
          <a:xfrm>
            <a:off x="502920" y="1600200"/>
            <a:ext cx="3977640" cy="1417320"/>
          </a:xfrm>
          <a:prstGeom prst="rect">
            <a:avLst/>
          </a:prstGeom>
          <a:solidFill>
            <a:srgbClr val="F2F2F2"/>
          </a:solidFill>
          <a:ln w="9525">
            <a:solidFill>
              <a:srgbClr val="BFBFBF"/>
            </a:solidFill>
            <a:prstDash val="solid"/>
          </a:ln>
        </p:spPr>
      </p:sp>
      <p:sp>
        <p:nvSpPr>
          <p:cNvPr id="7" name="Text 5"/>
          <p:cNvSpPr txBox="1"/>
          <p:nvPr/>
        </p:nvSpPr>
        <p:spPr>
          <a:xfrm>
            <a:off x="640080" y="16916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Lever 1 · Increase size</a:t>
            </a:r>
            <a:endParaRPr lang="en-US" sz="1400" dirty="0"/>
          </a:p>
        </p:txBody>
      </p:sp>
      <p:sp>
        <p:nvSpPr>
          <p:cNvPr id="8" name="Text 6"/>
          <p:cNvSpPr txBox="1"/>
          <p:nvPr/>
        </p:nvSpPr>
        <p:spPr>
          <a:xfrm>
            <a:off x="640080" y="2039112"/>
            <a:ext cx="3703320" cy="91440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Make the control physically bigger along the axis the pointer approaches from.</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Costs screen real estate — and screen real estate is finite.</a:t>
            </a:r>
            <a:endParaRPr lang="en-US" sz="1150" dirty="0"/>
          </a:p>
        </p:txBody>
      </p:sp>
      <p:sp>
        <p:nvSpPr>
          <p:cNvPr id="9" name="Shape 7"/>
          <p:cNvSpPr/>
          <p:nvPr/>
        </p:nvSpPr>
        <p:spPr>
          <a:xfrm>
            <a:off x="4663440" y="1600200"/>
            <a:ext cx="3977640" cy="1417320"/>
          </a:xfrm>
          <a:prstGeom prst="rect">
            <a:avLst/>
          </a:prstGeom>
          <a:solidFill>
            <a:srgbClr val="F2F2F2"/>
          </a:solidFill>
          <a:ln w="9525">
            <a:solidFill>
              <a:srgbClr val="BFBFBF"/>
            </a:solidFill>
            <a:prstDash val="solid"/>
          </a:ln>
        </p:spPr>
      </p:sp>
      <p:sp>
        <p:nvSpPr>
          <p:cNvPr id="10" name="Text 8"/>
          <p:cNvSpPr txBox="1"/>
          <p:nvPr/>
        </p:nvSpPr>
        <p:spPr>
          <a:xfrm>
            <a:off x="4800600" y="16916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Lever 2 · Reduce distance</a:t>
            </a:r>
            <a:endParaRPr lang="en-US" sz="1400" dirty="0"/>
          </a:p>
        </p:txBody>
      </p:sp>
      <p:sp>
        <p:nvSpPr>
          <p:cNvPr id="11" name="Text 9"/>
          <p:cNvSpPr txBox="1"/>
          <p:nvPr/>
        </p:nvSpPr>
        <p:spPr>
          <a:xfrm>
            <a:off x="4800600" y="2039112"/>
            <a:ext cx="3703320" cy="91440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Move the control to where the pointer already is, or will be.</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Costs predictability — controls that move are controls that must be found.</a:t>
            </a:r>
            <a:endParaRPr lang="en-US" sz="1150" dirty="0"/>
          </a:p>
        </p:txBody>
      </p:sp>
      <p:sp>
        <p:nvSpPr>
          <p:cNvPr id="12" name="Text 10"/>
          <p:cNvSpPr txBox="1"/>
          <p:nvPr/>
        </p:nvSpPr>
        <p:spPr>
          <a:xfrm>
            <a:off x="502920" y="3200400"/>
            <a:ext cx="8138160" cy="1143000"/>
          </a:xfrm>
          <a:prstGeom prst="rect">
            <a:avLst/>
          </a:prstGeom>
          <a:noFill/>
          <a:ln/>
        </p:spPr>
        <p:txBody>
          <a:bodyPr wrap="square" lIns="0" tIns="0" rIns="0" bIns="0" rtlCol="0" anchor="t"/>
          <a:lstStyle/>
          <a:p>
            <a:pPr algn="l" indent="0" marL="0">
              <a:lnSpc>
                <a:spcPct val="115000"/>
              </a:lnSpc>
              <a:spcAft>
                <a:spcPts val="600"/>
              </a:spcAft>
              <a:buNone/>
            </a:pPr>
            <a:r>
              <a:rPr lang="en-US" sz="1300" b="1" dirty="0">
                <a:solidFill>
                  <a:srgbClr val="000000"/>
                </a:solidFill>
                <a:latin typeface="Times New Roman" pitchFamily="34" charset="0"/>
                <a:ea typeface="Times New Roman" pitchFamily="34" charset="-122"/>
                <a:cs typeface="Times New Roman" pitchFamily="34" charset="-120"/>
              </a:rPr>
              <a:t>A third option the screen gives you for free.  </a:t>
            </a:r>
            <a:endParaRPr lang="en-US" sz="1300" dirty="0"/>
          </a:p>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The screen is bounded. No matter how far you move the mouse to the left, the cursor will never go farther than the left edge. In Fitts' terms the edge behaves as a target of infinite width: you can slam the pointer at it as hard and as fast as you like and you will not overshoot. The corrective phase disappears entirely.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12</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edges are infinitely deep</a:t>
            </a:r>
            <a:endParaRPr lang="en-US" sz="2800" dirty="0"/>
          </a:p>
        </p:txBody>
      </p:sp>
      <p:sp>
        <p:nvSpPr>
          <p:cNvPr id="5" name="Shape 3"/>
          <p:cNvSpPr/>
          <p:nvPr/>
        </p:nvSpPr>
        <p:spPr>
          <a:xfrm>
            <a:off x="640080" y="1234440"/>
            <a:ext cx="4846320" cy="2743200"/>
          </a:xfrm>
          <a:prstGeom prst="rect">
            <a:avLst/>
          </a:prstGeom>
          <a:solidFill>
            <a:srgbClr val="FFFFFF"/>
          </a:solidFill>
          <a:ln w="15875">
            <a:solidFill>
              <a:srgbClr val="404040"/>
            </a:solidFill>
            <a:prstDash val="solid"/>
          </a:ln>
        </p:spPr>
      </p:sp>
      <p:sp>
        <p:nvSpPr>
          <p:cNvPr id="6" name="Shape 4"/>
          <p:cNvSpPr/>
          <p:nvPr/>
        </p:nvSpPr>
        <p:spPr>
          <a:xfrm>
            <a:off x="640080" y="1234440"/>
            <a:ext cx="164592" cy="2743200"/>
          </a:xfrm>
          <a:prstGeom prst="rect">
            <a:avLst/>
          </a:prstGeom>
          <a:solidFill>
            <a:srgbClr val="F2F2F2"/>
          </a:solidFill>
          <a:ln w="6350">
            <a:solidFill>
              <a:srgbClr val="BFBFBF"/>
            </a:solidFill>
            <a:prstDash val="solid"/>
          </a:ln>
        </p:spPr>
      </p:sp>
      <p:sp>
        <p:nvSpPr>
          <p:cNvPr id="7" name="Shape 5"/>
          <p:cNvSpPr/>
          <p:nvPr/>
        </p:nvSpPr>
        <p:spPr>
          <a:xfrm>
            <a:off x="5321808" y="1234440"/>
            <a:ext cx="164592" cy="2743200"/>
          </a:xfrm>
          <a:prstGeom prst="rect">
            <a:avLst/>
          </a:prstGeom>
          <a:solidFill>
            <a:srgbClr val="F2F2F2"/>
          </a:solidFill>
          <a:ln w="6350">
            <a:solidFill>
              <a:srgbClr val="BFBFBF"/>
            </a:solidFill>
            <a:prstDash val="solid"/>
          </a:ln>
        </p:spPr>
      </p:sp>
      <p:sp>
        <p:nvSpPr>
          <p:cNvPr id="8" name="Shape 6"/>
          <p:cNvSpPr/>
          <p:nvPr/>
        </p:nvSpPr>
        <p:spPr>
          <a:xfrm>
            <a:off x="640080" y="1234440"/>
            <a:ext cx="4846320" cy="164592"/>
          </a:xfrm>
          <a:prstGeom prst="rect">
            <a:avLst/>
          </a:prstGeom>
          <a:solidFill>
            <a:srgbClr val="F2F2F2"/>
          </a:solidFill>
          <a:ln w="6350">
            <a:solidFill>
              <a:srgbClr val="BFBFBF"/>
            </a:solidFill>
            <a:prstDash val="solid"/>
          </a:ln>
        </p:spPr>
      </p:sp>
      <p:sp>
        <p:nvSpPr>
          <p:cNvPr id="9" name="Shape 7"/>
          <p:cNvSpPr/>
          <p:nvPr/>
        </p:nvSpPr>
        <p:spPr>
          <a:xfrm>
            <a:off x="640080" y="3813048"/>
            <a:ext cx="4846320" cy="164592"/>
          </a:xfrm>
          <a:prstGeom prst="rect">
            <a:avLst/>
          </a:prstGeom>
          <a:solidFill>
            <a:srgbClr val="F2F2F2"/>
          </a:solidFill>
          <a:ln w="6350">
            <a:solidFill>
              <a:srgbClr val="BFBFBF"/>
            </a:solidFill>
            <a:prstDash val="solid"/>
          </a:ln>
        </p:spPr>
      </p:sp>
      <p:sp>
        <p:nvSpPr>
          <p:cNvPr id="10" name="Shape 8"/>
          <p:cNvSpPr/>
          <p:nvPr/>
        </p:nvSpPr>
        <p:spPr>
          <a:xfrm flipH="1">
            <a:off x="914400" y="2606040"/>
            <a:ext cx="3291840" cy="0"/>
          </a:xfrm>
          <a:prstGeom prst="line">
            <a:avLst/>
          </a:prstGeom>
          <a:noFill/>
          <a:ln w="19050">
            <a:solidFill>
              <a:srgbClr val="404040"/>
            </a:solidFill>
            <a:prstDash val="solid"/>
            <a:tailEnd type="triangle"/>
          </a:ln>
        </p:spPr>
      </p:sp>
      <p:sp>
        <p:nvSpPr>
          <p:cNvPr id="11" name="Text 9"/>
          <p:cNvSpPr txBox="1"/>
          <p:nvPr/>
        </p:nvSpPr>
        <p:spPr>
          <a:xfrm>
            <a:off x="1920240" y="2286000"/>
            <a:ext cx="2377440" cy="228600"/>
          </a:xfrm>
          <a:prstGeom prst="rect">
            <a:avLst/>
          </a:prstGeom>
          <a:noFill/>
          <a:ln/>
        </p:spPr>
        <p:txBody>
          <a:bodyPr wrap="square" lIns="0" tIns="0" rIns="0" bIns="0" rtlCol="0" anchor="ctr"/>
          <a:lstStyle/>
          <a:p>
            <a:pPr algn="ctr" indent="0" marL="0">
              <a:buNone/>
            </a:pPr>
            <a:r>
              <a:rPr lang="en-US" sz="1000" i="1" dirty="0">
                <a:solidFill>
                  <a:srgbClr val="595959"/>
                </a:solidFill>
                <a:latin typeface="Times New Roman" pitchFamily="34" charset="0"/>
                <a:ea typeface="Times New Roman" pitchFamily="34" charset="-122"/>
                <a:cs typeface="Times New Roman" pitchFamily="34" charset="-120"/>
              </a:rPr>
              <a:t>throw the pointer left, hard…</a:t>
            </a:r>
            <a:endParaRPr lang="en-US" sz="1000" dirty="0"/>
          </a:p>
        </p:txBody>
      </p:sp>
      <p:sp>
        <p:nvSpPr>
          <p:cNvPr id="12" name="Text 10"/>
          <p:cNvSpPr txBox="1"/>
          <p:nvPr/>
        </p:nvSpPr>
        <p:spPr>
          <a:xfrm>
            <a:off x="868680" y="2788920"/>
            <a:ext cx="1737360" cy="228600"/>
          </a:xfrm>
          <a:prstGeom prst="rect">
            <a:avLst/>
          </a:prstGeom>
          <a:noFill/>
          <a:ln/>
        </p:spPr>
        <p:txBody>
          <a:bodyPr wrap="square" lIns="0" tIns="0" rIns="0" bIns="0" rtlCol="0" anchor="ctr"/>
          <a:lstStyle/>
          <a:p>
            <a:pPr algn="l" indent="0" marL="0">
              <a:buNone/>
            </a:pPr>
            <a:r>
              <a:rPr lang="en-US" sz="1000" i="1" dirty="0">
                <a:solidFill>
                  <a:srgbClr val="595959"/>
                </a:solidFill>
                <a:latin typeface="Times New Roman" pitchFamily="34" charset="0"/>
                <a:ea typeface="Times New Roman" pitchFamily="34" charset="-122"/>
                <a:cs typeface="Times New Roman" pitchFamily="34" charset="-120"/>
              </a:rPr>
              <a:t>…it stops here</a:t>
            </a:r>
            <a:endParaRPr lang="en-US" sz="1000" dirty="0"/>
          </a:p>
        </p:txBody>
      </p:sp>
      <p:sp>
        <p:nvSpPr>
          <p:cNvPr id="13" name="Text 11"/>
          <p:cNvSpPr txBox="1"/>
          <p:nvPr/>
        </p:nvSpPr>
        <p:spPr>
          <a:xfrm>
            <a:off x="640080" y="4069080"/>
            <a:ext cx="4846320" cy="274320"/>
          </a:xfrm>
          <a:prstGeom prst="rect">
            <a:avLst/>
          </a:prstGeom>
          <a:noFill/>
          <a:ln/>
        </p:spPr>
        <p:txBody>
          <a:bodyPr wrap="square" lIns="0" tIns="0" rIns="0" bIns="0" rtlCol="0" anchor="ctr"/>
          <a:lstStyle/>
          <a:p>
            <a:pPr algn="ctr" indent="0" marL="0">
              <a:buNone/>
            </a:pPr>
            <a:r>
              <a:rPr lang="en-US" sz="1000" i="1" dirty="0">
                <a:solidFill>
                  <a:srgbClr val="595959"/>
                </a:solidFill>
                <a:latin typeface="Times New Roman" pitchFamily="34" charset="0"/>
                <a:ea typeface="Times New Roman" pitchFamily="34" charset="-122"/>
                <a:cs typeface="Times New Roman" pitchFamily="34" charset="-120"/>
              </a:rPr>
              <a:t>Shaded bands: pixels you cannot overshoot.</a:t>
            </a:r>
            <a:endParaRPr lang="en-US" sz="1000" dirty="0"/>
          </a:p>
        </p:txBody>
      </p:sp>
      <p:sp>
        <p:nvSpPr>
          <p:cNvPr id="14" name="Shape 12"/>
          <p:cNvSpPr/>
          <p:nvPr/>
        </p:nvSpPr>
        <p:spPr>
          <a:xfrm>
            <a:off x="5806440" y="1234440"/>
            <a:ext cx="2834640" cy="2743200"/>
          </a:xfrm>
          <a:prstGeom prst="rect">
            <a:avLst/>
          </a:prstGeom>
          <a:solidFill>
            <a:srgbClr val="F2F2F2"/>
          </a:solidFill>
          <a:ln w="9525">
            <a:solidFill>
              <a:srgbClr val="BFBFBF"/>
            </a:solidFill>
            <a:prstDash val="solid"/>
          </a:ln>
        </p:spPr>
      </p:sp>
      <p:sp>
        <p:nvSpPr>
          <p:cNvPr id="15" name="Text 13"/>
          <p:cNvSpPr txBox="1"/>
          <p:nvPr/>
        </p:nvSpPr>
        <p:spPr>
          <a:xfrm>
            <a:off x="5943600" y="1325880"/>
            <a:ext cx="2560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In Fitts' terms</a:t>
            </a:r>
            <a:endParaRPr lang="en-US" sz="1400" dirty="0"/>
          </a:p>
        </p:txBody>
      </p:sp>
      <p:sp>
        <p:nvSpPr>
          <p:cNvPr id="16" name="Text 14"/>
          <p:cNvSpPr txBox="1"/>
          <p:nvPr/>
        </p:nvSpPr>
        <p:spPr>
          <a:xfrm>
            <a:off x="5943600" y="1673352"/>
            <a:ext cx="2560320" cy="219456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size → ∞ along the axis of motion</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log₂(D/S + 1) → 0</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MT → a</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The movement collapses to its fixed overhead. Nothing on an unbounded surface can be acquired faster than something on an edge.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13</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taskbar is a mile high</a:t>
            </a:r>
            <a:endParaRPr lang="en-US" sz="2800" dirty="0"/>
          </a:p>
        </p:txBody>
      </p:sp>
      <p:sp>
        <p:nvSpPr>
          <p:cNvPr id="5" name="Shape 3"/>
          <p:cNvSpPr/>
          <p:nvPr/>
        </p:nvSpPr>
        <p:spPr>
          <a:xfrm>
            <a:off x="502920" y="1188720"/>
            <a:ext cx="5029200" cy="2377440"/>
          </a:xfrm>
          <a:prstGeom prst="rect">
            <a:avLst/>
          </a:prstGeom>
          <a:solidFill>
            <a:srgbClr val="FFFFFF"/>
          </a:solidFill>
          <a:ln w="15875">
            <a:solidFill>
              <a:srgbClr val="404040"/>
            </a:solidFill>
            <a:prstDash val="solid"/>
          </a:ln>
        </p:spPr>
      </p:sp>
      <p:sp>
        <p:nvSpPr>
          <p:cNvPr id="6" name="Shape 4"/>
          <p:cNvSpPr/>
          <p:nvPr/>
        </p:nvSpPr>
        <p:spPr>
          <a:xfrm>
            <a:off x="502920" y="3246120"/>
            <a:ext cx="5029200" cy="320040"/>
          </a:xfrm>
          <a:prstGeom prst="rect">
            <a:avLst/>
          </a:prstGeom>
          <a:solidFill>
            <a:srgbClr val="F2F2F2"/>
          </a:solidFill>
          <a:ln w="12700">
            <a:solidFill>
              <a:srgbClr val="404040"/>
            </a:solidFill>
            <a:prstDash val="solid"/>
          </a:ln>
        </p:spPr>
      </p:sp>
      <p:sp>
        <p:nvSpPr>
          <p:cNvPr id="7" name="Shape 5"/>
          <p:cNvSpPr/>
          <p:nvPr/>
        </p:nvSpPr>
        <p:spPr>
          <a:xfrm>
            <a:off x="594360" y="3291840"/>
            <a:ext cx="859536" cy="228600"/>
          </a:xfrm>
          <a:prstGeom prst="rect">
            <a:avLst/>
          </a:prstGeom>
          <a:solidFill>
            <a:srgbClr val="FFFFFF"/>
          </a:solidFill>
          <a:ln w="6350">
            <a:solidFill>
              <a:srgbClr val="BFBFBF"/>
            </a:solidFill>
            <a:prstDash val="solid"/>
          </a:ln>
        </p:spPr>
      </p:sp>
      <p:sp>
        <p:nvSpPr>
          <p:cNvPr id="8" name="Text 6"/>
          <p:cNvSpPr txBox="1"/>
          <p:nvPr/>
        </p:nvSpPr>
        <p:spPr>
          <a:xfrm>
            <a:off x="594360" y="3291840"/>
            <a:ext cx="859536" cy="228600"/>
          </a:xfrm>
          <a:prstGeom prst="rect">
            <a:avLst/>
          </a:prstGeom>
          <a:noFill/>
          <a:ln/>
        </p:spPr>
        <p:txBody>
          <a:bodyPr wrap="square" lIns="0" tIns="0" rIns="0" bIns="0" rtlCol="0" anchor="ctr"/>
          <a:lstStyle/>
          <a:p>
            <a:pPr algn="ctr" indent="0" marL="0">
              <a:buNone/>
            </a:pPr>
            <a:r>
              <a:rPr lang="en-US" sz="900" dirty="0">
                <a:solidFill>
                  <a:srgbClr val="262626"/>
                </a:solidFill>
                <a:latin typeface="Times New Roman" pitchFamily="34" charset="0"/>
                <a:ea typeface="Times New Roman" pitchFamily="34" charset="-122"/>
                <a:cs typeface="Times New Roman" pitchFamily="34" charset="-120"/>
              </a:rPr>
              <a:t>Start</a:t>
            </a:r>
            <a:endParaRPr lang="en-US" sz="900" dirty="0"/>
          </a:p>
        </p:txBody>
      </p:sp>
      <p:sp>
        <p:nvSpPr>
          <p:cNvPr id="9" name="Shape 7"/>
          <p:cNvSpPr/>
          <p:nvPr/>
        </p:nvSpPr>
        <p:spPr>
          <a:xfrm>
            <a:off x="1527048" y="3291840"/>
            <a:ext cx="859536" cy="228600"/>
          </a:xfrm>
          <a:prstGeom prst="rect">
            <a:avLst/>
          </a:prstGeom>
          <a:solidFill>
            <a:srgbClr val="FFFFFF"/>
          </a:solidFill>
          <a:ln w="6350">
            <a:solidFill>
              <a:srgbClr val="BFBFBF"/>
            </a:solidFill>
            <a:prstDash val="solid"/>
          </a:ln>
        </p:spPr>
      </p:sp>
      <p:sp>
        <p:nvSpPr>
          <p:cNvPr id="10" name="Text 8"/>
          <p:cNvSpPr txBox="1"/>
          <p:nvPr/>
        </p:nvSpPr>
        <p:spPr>
          <a:xfrm>
            <a:off x="1527048" y="3291840"/>
            <a:ext cx="859536" cy="228600"/>
          </a:xfrm>
          <a:prstGeom prst="rect">
            <a:avLst/>
          </a:prstGeom>
          <a:noFill/>
          <a:ln/>
        </p:spPr>
        <p:txBody>
          <a:bodyPr wrap="square" lIns="0" tIns="0" rIns="0" bIns="0" rtlCol="0" anchor="ctr"/>
          <a:lstStyle/>
          <a:p>
            <a:pPr algn="ctr" indent="0" marL="0">
              <a:buNone/>
            </a:pPr>
            <a:r>
              <a:rPr lang="en-US" sz="900" dirty="0">
                <a:solidFill>
                  <a:srgbClr val="262626"/>
                </a:solidFill>
                <a:latin typeface="Times New Roman" pitchFamily="34" charset="0"/>
                <a:ea typeface="Times New Roman" pitchFamily="34" charset="-122"/>
                <a:cs typeface="Times New Roman" pitchFamily="34" charset="-120"/>
              </a:rPr>
              <a:t>Files</a:t>
            </a:r>
            <a:endParaRPr lang="en-US" sz="900" dirty="0"/>
          </a:p>
        </p:txBody>
      </p:sp>
      <p:sp>
        <p:nvSpPr>
          <p:cNvPr id="11" name="Shape 9"/>
          <p:cNvSpPr/>
          <p:nvPr/>
        </p:nvSpPr>
        <p:spPr>
          <a:xfrm>
            <a:off x="2459736" y="3291840"/>
            <a:ext cx="859536" cy="228600"/>
          </a:xfrm>
          <a:prstGeom prst="rect">
            <a:avLst/>
          </a:prstGeom>
          <a:solidFill>
            <a:srgbClr val="FFFFFF"/>
          </a:solidFill>
          <a:ln w="6350">
            <a:solidFill>
              <a:srgbClr val="BFBFBF"/>
            </a:solidFill>
            <a:prstDash val="solid"/>
          </a:ln>
        </p:spPr>
      </p:sp>
      <p:sp>
        <p:nvSpPr>
          <p:cNvPr id="12" name="Text 10"/>
          <p:cNvSpPr txBox="1"/>
          <p:nvPr/>
        </p:nvSpPr>
        <p:spPr>
          <a:xfrm>
            <a:off x="2459736" y="3291840"/>
            <a:ext cx="859536" cy="228600"/>
          </a:xfrm>
          <a:prstGeom prst="rect">
            <a:avLst/>
          </a:prstGeom>
          <a:noFill/>
          <a:ln/>
        </p:spPr>
        <p:txBody>
          <a:bodyPr wrap="square" lIns="0" tIns="0" rIns="0" bIns="0" rtlCol="0" anchor="ctr"/>
          <a:lstStyle/>
          <a:p>
            <a:pPr algn="ctr" indent="0" marL="0">
              <a:buNone/>
            </a:pPr>
            <a:r>
              <a:rPr lang="en-US" sz="900" dirty="0">
                <a:solidFill>
                  <a:srgbClr val="262626"/>
                </a:solidFill>
                <a:latin typeface="Times New Roman" pitchFamily="34" charset="0"/>
                <a:ea typeface="Times New Roman" pitchFamily="34" charset="-122"/>
                <a:cs typeface="Times New Roman" pitchFamily="34" charset="-120"/>
              </a:rPr>
              <a:t>Browser</a:t>
            </a:r>
            <a:endParaRPr lang="en-US" sz="900" dirty="0"/>
          </a:p>
        </p:txBody>
      </p:sp>
      <p:sp>
        <p:nvSpPr>
          <p:cNvPr id="13" name="Shape 11"/>
          <p:cNvSpPr/>
          <p:nvPr/>
        </p:nvSpPr>
        <p:spPr>
          <a:xfrm>
            <a:off x="3392424" y="3291840"/>
            <a:ext cx="859536" cy="228600"/>
          </a:xfrm>
          <a:prstGeom prst="rect">
            <a:avLst/>
          </a:prstGeom>
          <a:solidFill>
            <a:srgbClr val="FFFFFF"/>
          </a:solidFill>
          <a:ln w="6350">
            <a:solidFill>
              <a:srgbClr val="BFBFBF"/>
            </a:solidFill>
            <a:prstDash val="solid"/>
          </a:ln>
        </p:spPr>
      </p:sp>
      <p:sp>
        <p:nvSpPr>
          <p:cNvPr id="14" name="Text 12"/>
          <p:cNvSpPr txBox="1"/>
          <p:nvPr/>
        </p:nvSpPr>
        <p:spPr>
          <a:xfrm>
            <a:off x="3392424" y="3291840"/>
            <a:ext cx="859536" cy="228600"/>
          </a:xfrm>
          <a:prstGeom prst="rect">
            <a:avLst/>
          </a:prstGeom>
          <a:noFill/>
          <a:ln/>
        </p:spPr>
        <p:txBody>
          <a:bodyPr wrap="square" lIns="0" tIns="0" rIns="0" bIns="0" rtlCol="0" anchor="ctr"/>
          <a:lstStyle/>
          <a:p>
            <a:pPr algn="ctr" indent="0" marL="0">
              <a:buNone/>
            </a:pPr>
            <a:r>
              <a:rPr lang="en-US" sz="900" dirty="0">
                <a:solidFill>
                  <a:srgbClr val="262626"/>
                </a:solidFill>
                <a:latin typeface="Times New Roman" pitchFamily="34" charset="0"/>
                <a:ea typeface="Times New Roman" pitchFamily="34" charset="-122"/>
                <a:cs typeface="Times New Roman" pitchFamily="34" charset="-120"/>
              </a:rPr>
              <a:t>Mail</a:t>
            </a:r>
            <a:endParaRPr lang="en-US" sz="900" dirty="0"/>
          </a:p>
        </p:txBody>
      </p:sp>
      <p:sp>
        <p:nvSpPr>
          <p:cNvPr id="15" name="Shape 13"/>
          <p:cNvSpPr/>
          <p:nvPr/>
        </p:nvSpPr>
        <p:spPr>
          <a:xfrm>
            <a:off x="2743200" y="1965960"/>
            <a:ext cx="0" cy="1188720"/>
          </a:xfrm>
          <a:prstGeom prst="line">
            <a:avLst/>
          </a:prstGeom>
          <a:noFill/>
          <a:ln w="19050">
            <a:solidFill>
              <a:srgbClr val="595959"/>
            </a:solidFill>
            <a:prstDash val="solid"/>
            <a:tailEnd type="triangle"/>
          </a:ln>
        </p:spPr>
      </p:sp>
      <p:sp>
        <p:nvSpPr>
          <p:cNvPr id="16" name="Text 14"/>
          <p:cNvSpPr txBox="1"/>
          <p:nvPr/>
        </p:nvSpPr>
        <p:spPr>
          <a:xfrm>
            <a:off x="2834640" y="2377440"/>
            <a:ext cx="2194560" cy="274320"/>
          </a:xfrm>
          <a:prstGeom prst="rect">
            <a:avLst/>
          </a:prstGeom>
          <a:noFill/>
          <a:ln/>
        </p:spPr>
        <p:txBody>
          <a:bodyPr wrap="square" lIns="0" tIns="0" rIns="0" bIns="0" rtlCol="0" anchor="ctr"/>
          <a:lstStyle/>
          <a:p>
            <a:pPr algn="l" indent="0" marL="0">
              <a:buNone/>
            </a:pPr>
            <a:r>
              <a:rPr lang="en-US" sz="1000" i="1" dirty="0">
                <a:solidFill>
                  <a:srgbClr val="595959"/>
                </a:solidFill>
                <a:latin typeface="Times New Roman" pitchFamily="34" charset="0"/>
                <a:ea typeface="Times New Roman" pitchFamily="34" charset="-122"/>
                <a:cs typeface="Times New Roman" pitchFamily="34" charset="-120"/>
              </a:rPr>
              <a:t>vertical aim is free</a:t>
            </a:r>
            <a:endParaRPr lang="en-US" sz="1000" dirty="0"/>
          </a:p>
        </p:txBody>
      </p:sp>
      <p:sp>
        <p:nvSpPr>
          <p:cNvPr id="17" name="Text 15"/>
          <p:cNvSpPr txBox="1"/>
          <p:nvPr/>
        </p:nvSpPr>
        <p:spPr>
          <a:xfrm>
            <a:off x="502920" y="3657600"/>
            <a:ext cx="5029200" cy="502920"/>
          </a:xfrm>
          <a:prstGeom prst="rect">
            <a:avLst/>
          </a:prstGeom>
          <a:noFill/>
          <a:ln/>
        </p:spPr>
        <p:txBody>
          <a:bodyPr wrap="square" lIns="0" tIns="0" rIns="0" bIns="0" rtlCol="0" anchor="ctr"/>
          <a:lstStyle/>
          <a:p>
            <a:pPr algn="l" indent="0" marL="0">
              <a:buNone/>
            </a:pPr>
            <a:r>
              <a:rPr lang="en-US" sz="1050" dirty="0">
                <a:solidFill>
                  <a:srgbClr val="262626"/>
                </a:solidFill>
                <a:latin typeface="Times New Roman" pitchFamily="34" charset="0"/>
                <a:ea typeface="Times New Roman" pitchFamily="34" charset="-122"/>
                <a:cs typeface="Times New Roman" pitchFamily="34" charset="-120"/>
              </a:rPr>
              <a:t>The taskbar sits on the bottom edge, so it is effectively infinitely tall: you can slam the pointer downwards and only worry about targeting horizontally.</a:t>
            </a:r>
            <a:endParaRPr lang="en-US" sz="1050" dirty="0"/>
          </a:p>
        </p:txBody>
      </p:sp>
      <p:sp>
        <p:nvSpPr>
          <p:cNvPr id="18" name="Shape 16"/>
          <p:cNvSpPr/>
          <p:nvPr/>
        </p:nvSpPr>
        <p:spPr>
          <a:xfrm>
            <a:off x="5806440" y="1188720"/>
            <a:ext cx="2834640" cy="2971800"/>
          </a:xfrm>
          <a:prstGeom prst="rect">
            <a:avLst/>
          </a:prstGeom>
          <a:solidFill>
            <a:srgbClr val="F2F2F2"/>
          </a:solidFill>
          <a:ln w="9525">
            <a:solidFill>
              <a:srgbClr val="BFBFBF"/>
            </a:solidFill>
            <a:prstDash val="solid"/>
          </a:ln>
        </p:spPr>
      </p:sp>
      <p:sp>
        <p:nvSpPr>
          <p:cNvPr id="19" name="Text 17"/>
          <p:cNvSpPr txBox="1"/>
          <p:nvPr/>
        </p:nvSpPr>
        <p:spPr>
          <a:xfrm>
            <a:off x="5943600" y="1280160"/>
            <a:ext cx="2560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The design rule</a:t>
            </a:r>
            <a:endParaRPr lang="en-US" sz="1400" dirty="0"/>
          </a:p>
        </p:txBody>
      </p:sp>
      <p:sp>
        <p:nvSpPr>
          <p:cNvPr id="20" name="Text 18"/>
          <p:cNvSpPr txBox="1"/>
          <p:nvPr/>
        </p:nvSpPr>
        <p:spPr>
          <a:xfrm>
            <a:off x="5943600" y="1627632"/>
            <a:ext cx="2560320" cy="237744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A control on an edge reduces a two-dimensional aiming problem to a one-dimensional one.</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So put frequently-used, error-costly controls on an edge — and make sure they actually touch it.</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A one-pixel gap between the control and the edge throws the whole benefit away, because the pointer can now land in the gap.</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14</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Four places that are infinitely wide and infinitely tall</a:t>
            </a:r>
            <a:endParaRPr lang="en-US" sz="2800" dirty="0"/>
          </a:p>
        </p:txBody>
      </p:sp>
      <p:sp>
        <p:nvSpPr>
          <p:cNvPr id="5" name="Shape 3"/>
          <p:cNvSpPr/>
          <p:nvPr/>
        </p:nvSpPr>
        <p:spPr>
          <a:xfrm>
            <a:off x="1463040" y="1188720"/>
            <a:ext cx="6217920" cy="2743200"/>
          </a:xfrm>
          <a:prstGeom prst="rect">
            <a:avLst/>
          </a:prstGeom>
          <a:solidFill>
            <a:srgbClr val="FFFFFF"/>
          </a:solidFill>
          <a:ln w="15875">
            <a:solidFill>
              <a:srgbClr val="404040"/>
            </a:solidFill>
            <a:prstDash val="solid"/>
          </a:ln>
        </p:spPr>
      </p:sp>
      <p:sp>
        <p:nvSpPr>
          <p:cNvPr id="6" name="Shape 4"/>
          <p:cNvSpPr/>
          <p:nvPr/>
        </p:nvSpPr>
        <p:spPr>
          <a:xfrm>
            <a:off x="1463040" y="1188720"/>
            <a:ext cx="594360" cy="548640"/>
          </a:xfrm>
          <a:prstGeom prst="rect">
            <a:avLst/>
          </a:prstGeom>
          <a:solidFill>
            <a:srgbClr val="F2F2F2"/>
          </a:solidFill>
          <a:ln w="12700">
            <a:solidFill>
              <a:srgbClr val="404040"/>
            </a:solidFill>
            <a:prstDash val="solid"/>
          </a:ln>
        </p:spPr>
      </p:sp>
      <p:sp>
        <p:nvSpPr>
          <p:cNvPr id="7" name="Shape 5"/>
          <p:cNvSpPr/>
          <p:nvPr/>
        </p:nvSpPr>
        <p:spPr>
          <a:xfrm>
            <a:off x="7086600" y="1188720"/>
            <a:ext cx="594360" cy="548640"/>
          </a:xfrm>
          <a:prstGeom prst="rect">
            <a:avLst/>
          </a:prstGeom>
          <a:solidFill>
            <a:srgbClr val="F2F2F2"/>
          </a:solidFill>
          <a:ln w="12700">
            <a:solidFill>
              <a:srgbClr val="404040"/>
            </a:solidFill>
            <a:prstDash val="solid"/>
          </a:ln>
        </p:spPr>
      </p:sp>
      <p:sp>
        <p:nvSpPr>
          <p:cNvPr id="8" name="Shape 6"/>
          <p:cNvSpPr/>
          <p:nvPr/>
        </p:nvSpPr>
        <p:spPr>
          <a:xfrm>
            <a:off x="1463040" y="3383280"/>
            <a:ext cx="594360" cy="548640"/>
          </a:xfrm>
          <a:prstGeom prst="rect">
            <a:avLst/>
          </a:prstGeom>
          <a:solidFill>
            <a:srgbClr val="F2F2F2"/>
          </a:solidFill>
          <a:ln w="12700">
            <a:solidFill>
              <a:srgbClr val="404040"/>
            </a:solidFill>
            <a:prstDash val="solid"/>
          </a:ln>
        </p:spPr>
      </p:sp>
      <p:sp>
        <p:nvSpPr>
          <p:cNvPr id="9" name="Shape 7"/>
          <p:cNvSpPr/>
          <p:nvPr/>
        </p:nvSpPr>
        <p:spPr>
          <a:xfrm>
            <a:off x="7086600" y="3383280"/>
            <a:ext cx="594360" cy="548640"/>
          </a:xfrm>
          <a:prstGeom prst="rect">
            <a:avLst/>
          </a:prstGeom>
          <a:solidFill>
            <a:srgbClr val="F2F2F2"/>
          </a:solidFill>
          <a:ln w="12700">
            <a:solidFill>
              <a:srgbClr val="404040"/>
            </a:solidFill>
            <a:prstDash val="solid"/>
          </a:ln>
        </p:spPr>
      </p:sp>
      <p:sp>
        <p:nvSpPr>
          <p:cNvPr id="10" name="Text 8"/>
          <p:cNvSpPr txBox="1"/>
          <p:nvPr/>
        </p:nvSpPr>
        <p:spPr>
          <a:xfrm>
            <a:off x="2103120" y="1298448"/>
            <a:ext cx="2194560" cy="274320"/>
          </a:xfrm>
          <a:prstGeom prst="rect">
            <a:avLst/>
          </a:prstGeom>
          <a:noFill/>
          <a:ln/>
        </p:spPr>
        <p:txBody>
          <a:bodyPr wrap="square" lIns="0" tIns="0" rIns="0" bIns="0" rtlCol="0" anchor="ctr"/>
          <a:lstStyle/>
          <a:p>
            <a:pPr algn="l" indent="0" marL="0">
              <a:buNone/>
            </a:pPr>
            <a:r>
              <a:rPr lang="en-US" sz="1000" i="1" dirty="0">
                <a:solidFill>
                  <a:srgbClr val="595959"/>
                </a:solidFill>
                <a:latin typeface="Times New Roman" pitchFamily="34" charset="0"/>
                <a:ea typeface="Times New Roman" pitchFamily="34" charset="-122"/>
                <a:cs typeface="Times New Roman" pitchFamily="34" charset="-120"/>
              </a:rPr>
              <a:t>top-left</a:t>
            </a:r>
            <a:endParaRPr lang="en-US" sz="1000" dirty="0"/>
          </a:p>
        </p:txBody>
      </p:sp>
      <p:sp>
        <p:nvSpPr>
          <p:cNvPr id="11" name="Text 9"/>
          <p:cNvSpPr txBox="1"/>
          <p:nvPr/>
        </p:nvSpPr>
        <p:spPr>
          <a:xfrm>
            <a:off x="5394960" y="1298448"/>
            <a:ext cx="1600200" cy="274320"/>
          </a:xfrm>
          <a:prstGeom prst="rect">
            <a:avLst/>
          </a:prstGeom>
          <a:noFill/>
          <a:ln/>
        </p:spPr>
        <p:txBody>
          <a:bodyPr wrap="square" lIns="0" tIns="0" rIns="0" bIns="0" rtlCol="0" anchor="ctr"/>
          <a:lstStyle/>
          <a:p>
            <a:pPr algn="r" indent="0" marL="0">
              <a:buNone/>
            </a:pPr>
            <a:r>
              <a:rPr lang="en-US" sz="1000" i="1" dirty="0">
                <a:solidFill>
                  <a:srgbClr val="595959"/>
                </a:solidFill>
                <a:latin typeface="Times New Roman" pitchFamily="34" charset="0"/>
                <a:ea typeface="Times New Roman" pitchFamily="34" charset="-122"/>
                <a:cs typeface="Times New Roman" pitchFamily="34" charset="-120"/>
              </a:rPr>
              <a:t>top-right</a:t>
            </a:r>
            <a:endParaRPr lang="en-US" sz="1000" dirty="0"/>
          </a:p>
        </p:txBody>
      </p:sp>
      <p:sp>
        <p:nvSpPr>
          <p:cNvPr id="12" name="Text 10"/>
          <p:cNvSpPr txBox="1"/>
          <p:nvPr/>
        </p:nvSpPr>
        <p:spPr>
          <a:xfrm>
            <a:off x="2103120" y="3493008"/>
            <a:ext cx="2194560" cy="274320"/>
          </a:xfrm>
          <a:prstGeom prst="rect">
            <a:avLst/>
          </a:prstGeom>
          <a:noFill/>
          <a:ln/>
        </p:spPr>
        <p:txBody>
          <a:bodyPr wrap="square" lIns="0" tIns="0" rIns="0" bIns="0" rtlCol="0" anchor="ctr"/>
          <a:lstStyle/>
          <a:p>
            <a:pPr algn="l" indent="0" marL="0">
              <a:buNone/>
            </a:pPr>
            <a:r>
              <a:rPr lang="en-US" sz="1000" i="1" dirty="0">
                <a:solidFill>
                  <a:srgbClr val="595959"/>
                </a:solidFill>
                <a:latin typeface="Times New Roman" pitchFamily="34" charset="0"/>
                <a:ea typeface="Times New Roman" pitchFamily="34" charset="-122"/>
                <a:cs typeface="Times New Roman" pitchFamily="34" charset="-120"/>
              </a:rPr>
              <a:t>bottom-left</a:t>
            </a:r>
            <a:endParaRPr lang="en-US" sz="1000" dirty="0"/>
          </a:p>
        </p:txBody>
      </p:sp>
      <p:sp>
        <p:nvSpPr>
          <p:cNvPr id="13" name="Text 11"/>
          <p:cNvSpPr txBox="1"/>
          <p:nvPr/>
        </p:nvSpPr>
        <p:spPr>
          <a:xfrm>
            <a:off x="5394960" y="3493008"/>
            <a:ext cx="1600200" cy="274320"/>
          </a:xfrm>
          <a:prstGeom prst="rect">
            <a:avLst/>
          </a:prstGeom>
          <a:noFill/>
          <a:ln/>
        </p:spPr>
        <p:txBody>
          <a:bodyPr wrap="square" lIns="0" tIns="0" rIns="0" bIns="0" rtlCol="0" anchor="ctr"/>
          <a:lstStyle/>
          <a:p>
            <a:pPr algn="r" indent="0" marL="0">
              <a:buNone/>
            </a:pPr>
            <a:r>
              <a:rPr lang="en-US" sz="1000" i="1" dirty="0">
                <a:solidFill>
                  <a:srgbClr val="595959"/>
                </a:solidFill>
                <a:latin typeface="Times New Roman" pitchFamily="34" charset="0"/>
                <a:ea typeface="Times New Roman" pitchFamily="34" charset="-122"/>
                <a:cs typeface="Times New Roman" pitchFamily="34" charset="-120"/>
              </a:rPr>
              <a:t>bottom-right</a:t>
            </a:r>
            <a:endParaRPr lang="en-US" sz="1000" dirty="0"/>
          </a:p>
        </p:txBody>
      </p:sp>
      <p:sp>
        <p:nvSpPr>
          <p:cNvPr id="14" name="Text 12"/>
          <p:cNvSpPr txBox="1"/>
          <p:nvPr/>
        </p:nvSpPr>
        <p:spPr>
          <a:xfrm>
            <a:off x="1463040" y="2240280"/>
            <a:ext cx="6217920" cy="548640"/>
          </a:xfrm>
          <a:prstGeom prst="rect">
            <a:avLst/>
          </a:prstGeom>
          <a:noFill/>
          <a:ln/>
        </p:spPr>
        <p:txBody>
          <a:bodyPr wrap="square" lIns="0" tIns="0" rIns="0" bIns="0" rtlCol="0" anchor="ctr"/>
          <a:lstStyle/>
          <a:p>
            <a:pPr algn="ctr" indent="0" marL="0">
              <a:buNone/>
            </a:pPr>
            <a:r>
              <a:rPr lang="en-US" sz="1200" dirty="0">
                <a:solidFill>
                  <a:srgbClr val="262626"/>
                </a:solidFill>
                <a:latin typeface="Times New Roman" pitchFamily="34" charset="0"/>
                <a:ea typeface="Times New Roman" pitchFamily="34" charset="-122"/>
                <a:cs typeface="Times New Roman" pitchFamily="34" charset="-120"/>
              </a:rPr>
              <a:t>Regardless of how distant a corner is from the current pointer position,</a:t>
            </a:r>
            <a:endParaRPr lang="en-US" sz="1200" dirty="0"/>
          </a:p>
          <a:p>
            <a:pPr algn="ctr" indent="0" marL="0">
              <a:buNone/>
            </a:pPr>
            <a:r>
              <a:rPr lang="en-US" sz="1200" dirty="0">
                <a:solidFill>
                  <a:srgbClr val="262626"/>
                </a:solidFill>
                <a:latin typeface="Times New Roman" pitchFamily="34" charset="0"/>
                <a:ea typeface="Times New Roman" pitchFamily="34" charset="-122"/>
                <a:cs typeface="Times New Roman" pitchFamily="34" charset="-120"/>
              </a:rPr>
              <a:t>you can get to it in almost no time at all.</a:t>
            </a:r>
            <a:endParaRPr lang="en-US" sz="1200" dirty="0"/>
          </a:p>
        </p:txBody>
      </p:sp>
      <p:sp>
        <p:nvSpPr>
          <p:cNvPr id="15" name="Text 13"/>
          <p:cNvSpPr txBox="1"/>
          <p:nvPr/>
        </p:nvSpPr>
        <p:spPr>
          <a:xfrm>
            <a:off x="502920" y="4069080"/>
            <a:ext cx="8138160" cy="548640"/>
          </a:xfrm>
          <a:prstGeom prst="rect">
            <a:avLst/>
          </a:prstGeom>
          <a:noFill/>
          <a:ln/>
        </p:spPr>
        <p:txBody>
          <a:bodyPr wrap="square" lIns="0" tIns="0" rIns="0" bIns="0" rtlCol="0" anchor="t"/>
          <a:lstStyle/>
          <a:p>
            <a:pPr algn="l" indent="0" marL="0">
              <a:lnSpc>
                <a:spcPct val="115000"/>
              </a:lnSpc>
              <a:spcAft>
                <a:spcPts val="600"/>
              </a:spcAft>
              <a:buNone/>
            </a:pPr>
            <a:r>
              <a:rPr lang="en-US" sz="1150" dirty="0">
                <a:solidFill>
                  <a:srgbClr val="262626"/>
                </a:solidFill>
                <a:latin typeface="Times New Roman" pitchFamily="34" charset="0"/>
                <a:ea typeface="Times New Roman" pitchFamily="34" charset="-122"/>
                <a:cs typeface="Times New Roman" pitchFamily="34" charset="-120"/>
              </a:rPr>
              <a:t>Which is why the Apple menu, the Windows Start button, the macOS window controls and the 'hot corners' of every desktop environment live exactly where they do. Those four squares are the most valuable real estate on any screen — and there are only four of them, so spend them on what people press most.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15</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Start button and its dead pixel</a:t>
            </a:r>
            <a:endParaRPr lang="en-US" sz="2800" dirty="0"/>
          </a:p>
        </p:txBody>
      </p:sp>
      <p:sp>
        <p:nvSpPr>
          <p:cNvPr id="5" name="Text 3"/>
          <p:cNvSpPr txBox="1"/>
          <p:nvPr/>
        </p:nvSpPr>
        <p:spPr>
          <a:xfrm>
            <a:off x="502920" y="1097280"/>
            <a:ext cx="4206240" cy="1463040"/>
          </a:xfrm>
          <a:prstGeom prst="rect">
            <a:avLst/>
          </a:prstGeom>
          <a:noFill/>
          <a:ln/>
        </p:spPr>
        <p:txBody>
          <a:bodyPr wrap="square" lIns="0" tIns="0" rIns="0" bIns="0" rtlCol="0" anchor="t"/>
          <a:lstStyle/>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The Start button is seemingly in an ideal place for fast acquisition: the bottom-left corner of the screen.</a:t>
            </a:r>
            <a:endParaRPr lang="en-US" sz="1300" dirty="0"/>
          </a:p>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But prior to Windows 2000 there was a strip of dead pixels along the left and bottom sides of the button — the button did not quite touch the edge.</a:t>
            </a:r>
            <a:endParaRPr lang="en-US" sz="1300" dirty="0"/>
          </a:p>
        </p:txBody>
      </p:sp>
      <p:sp>
        <p:nvSpPr>
          <p:cNvPr id="6" name="Text 4"/>
          <p:cNvSpPr txBox="1"/>
          <p:nvPr/>
        </p:nvSpPr>
        <p:spPr>
          <a:xfrm>
            <a:off x="502920" y="2697480"/>
            <a:ext cx="4206240" cy="1645920"/>
          </a:xfrm>
          <a:prstGeom prst="rect">
            <a:avLst/>
          </a:prstGeom>
          <a:noFill/>
          <a:ln/>
        </p:spPr>
        <p:txBody>
          <a:bodyPr wrap="square" lIns="0" tIns="0" rIns="0" bIns="0" rtlCol="0" anchor="t"/>
          <a:lstStyle/>
          <a:p>
            <a:pPr algn="l" indent="0" marL="0">
              <a:lnSpc>
                <a:spcPct val="115000"/>
              </a:lnSpc>
              <a:spcAft>
                <a:spcPts val="600"/>
              </a:spcAft>
              <a:buNone/>
            </a:pPr>
            <a:r>
              <a:rPr lang="en-US" sz="1250" dirty="0">
                <a:solidFill>
                  <a:srgbClr val="262626"/>
                </a:solidFill>
                <a:latin typeface="Times New Roman" pitchFamily="34" charset="0"/>
                <a:ea typeface="Times New Roman" pitchFamily="34" charset="-122"/>
                <a:cs typeface="Times New Roman" pitchFamily="34" charset="-120"/>
              </a:rPr>
              <a:t>So the corner did not behave as a corner. Slamming the pointer into it landed you on the dead strip, the click did nothing, and you had to aim again — a corrective phase reintroduced by a few pixels of styling.</a:t>
            </a:r>
            <a:endParaRPr lang="en-US" sz="1250" dirty="0"/>
          </a:p>
          <a:p>
            <a:pPr algn="l" indent="0" marL="0">
              <a:lnSpc>
                <a:spcPct val="115000"/>
              </a:lnSpc>
              <a:spcAft>
                <a:spcPts val="600"/>
              </a:spcAft>
              <a:buNone/>
            </a:pPr>
            <a:r>
              <a:rPr lang="en-US" sz="1250" b="1" dirty="0">
                <a:solidFill>
                  <a:srgbClr val="000000"/>
                </a:solidFill>
                <a:latin typeface="Times New Roman" pitchFamily="34" charset="0"/>
                <a:ea typeface="Times New Roman" pitchFamily="34" charset="-122"/>
                <a:cs typeface="Times New Roman" pitchFamily="34" charset="-120"/>
              </a:rPr>
              <a:t>Fixing it cost nothing and made the most-pressed control on the system instantly acquirable.</a:t>
            </a:r>
            <a:endParaRPr lang="en-US" sz="1250" dirty="0"/>
          </a:p>
        </p:txBody>
      </p:sp>
      <p:sp>
        <p:nvSpPr>
          <p:cNvPr id="7" name="Text 5"/>
          <p:cNvSpPr txBox="1"/>
          <p:nvPr/>
        </p:nvSpPr>
        <p:spPr>
          <a:xfrm>
            <a:off x="4983480" y="1097280"/>
            <a:ext cx="365760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Before: a gap at the corner</a:t>
            </a:r>
            <a:endParaRPr lang="en-US" sz="1100" dirty="0"/>
          </a:p>
        </p:txBody>
      </p:sp>
      <p:sp>
        <p:nvSpPr>
          <p:cNvPr id="8" name="Shape 6"/>
          <p:cNvSpPr/>
          <p:nvPr/>
        </p:nvSpPr>
        <p:spPr>
          <a:xfrm>
            <a:off x="4983480" y="1371600"/>
            <a:ext cx="3657600" cy="685800"/>
          </a:xfrm>
          <a:prstGeom prst="rect">
            <a:avLst/>
          </a:prstGeom>
          <a:solidFill>
            <a:srgbClr val="FFFFFF"/>
          </a:solidFill>
          <a:ln w="15875">
            <a:solidFill>
              <a:srgbClr val="404040"/>
            </a:solidFill>
            <a:prstDash val="solid"/>
          </a:ln>
        </p:spPr>
      </p:sp>
      <p:sp>
        <p:nvSpPr>
          <p:cNvPr id="9" name="Shape 7"/>
          <p:cNvSpPr/>
          <p:nvPr/>
        </p:nvSpPr>
        <p:spPr>
          <a:xfrm>
            <a:off x="4983480" y="1371600"/>
            <a:ext cx="91440" cy="685800"/>
          </a:xfrm>
          <a:prstGeom prst="rect">
            <a:avLst/>
          </a:prstGeom>
          <a:solidFill>
            <a:srgbClr val="D9D9D9"/>
          </a:solidFill>
          <a:ln w="5080">
            <a:solidFill>
              <a:srgbClr val="BFBFBF"/>
            </a:solidFill>
            <a:prstDash val="solid"/>
          </a:ln>
        </p:spPr>
      </p:sp>
      <p:sp>
        <p:nvSpPr>
          <p:cNvPr id="10" name="Shape 8"/>
          <p:cNvSpPr/>
          <p:nvPr/>
        </p:nvSpPr>
        <p:spPr>
          <a:xfrm>
            <a:off x="4983480" y="1965960"/>
            <a:ext cx="3657600" cy="91440"/>
          </a:xfrm>
          <a:prstGeom prst="rect">
            <a:avLst/>
          </a:prstGeom>
          <a:solidFill>
            <a:srgbClr val="D9D9D9"/>
          </a:solidFill>
          <a:ln w="5080">
            <a:solidFill>
              <a:srgbClr val="BFBFBF"/>
            </a:solidFill>
            <a:prstDash val="solid"/>
          </a:ln>
        </p:spPr>
      </p:sp>
      <p:sp>
        <p:nvSpPr>
          <p:cNvPr id="11" name="Shape 9"/>
          <p:cNvSpPr/>
          <p:nvPr/>
        </p:nvSpPr>
        <p:spPr>
          <a:xfrm>
            <a:off x="5120640" y="1463040"/>
            <a:ext cx="914400" cy="457200"/>
          </a:xfrm>
          <a:prstGeom prst="rect">
            <a:avLst/>
          </a:prstGeom>
          <a:solidFill>
            <a:srgbClr val="F2F2F2"/>
          </a:solidFill>
          <a:ln w="12700">
            <a:solidFill>
              <a:srgbClr val="404040"/>
            </a:solidFill>
            <a:prstDash val="solid"/>
          </a:ln>
        </p:spPr>
      </p:sp>
      <p:sp>
        <p:nvSpPr>
          <p:cNvPr id="12" name="Text 10"/>
          <p:cNvSpPr txBox="1"/>
          <p:nvPr/>
        </p:nvSpPr>
        <p:spPr>
          <a:xfrm>
            <a:off x="5120640" y="1463040"/>
            <a:ext cx="914400" cy="457200"/>
          </a:xfrm>
          <a:prstGeom prst="rect">
            <a:avLst/>
          </a:prstGeom>
          <a:noFill/>
          <a:ln/>
        </p:spPr>
        <p:txBody>
          <a:bodyPr wrap="square" lIns="0" tIns="0" rIns="0" bIns="0" rtlCol="0" anchor="ct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Start</a:t>
            </a:r>
            <a:endParaRPr lang="en-US" sz="1100" dirty="0"/>
          </a:p>
        </p:txBody>
      </p:sp>
      <p:sp>
        <p:nvSpPr>
          <p:cNvPr id="13" name="Text 11"/>
          <p:cNvSpPr txBox="1"/>
          <p:nvPr/>
        </p:nvSpPr>
        <p:spPr>
          <a:xfrm>
            <a:off x="6172200" y="1463040"/>
            <a:ext cx="2377440" cy="457200"/>
          </a:xfrm>
          <a:prstGeom prst="rect">
            <a:avLst/>
          </a:prstGeom>
          <a:noFill/>
          <a:ln/>
        </p:spPr>
        <p:txBody>
          <a:bodyPr wrap="square" lIns="0" tIns="0" rIns="0" bIns="0" rtlCol="0" anchor="ctr"/>
          <a:lstStyle/>
          <a:p>
            <a:pPr algn="l" indent="0" marL="0">
              <a:buNone/>
            </a:pPr>
            <a:r>
              <a:rPr lang="en-US" sz="950" i="1" dirty="0">
                <a:solidFill>
                  <a:srgbClr val="595959"/>
                </a:solidFill>
                <a:latin typeface="Times New Roman" pitchFamily="34" charset="0"/>
                <a:ea typeface="Times New Roman" pitchFamily="34" charset="-122"/>
                <a:cs typeface="Times New Roman" pitchFamily="34" charset="-120"/>
              </a:rPr>
              <a:t>grey strip = dead pixels;</a:t>
            </a:r>
            <a:endParaRPr lang="en-US" sz="950" dirty="0"/>
          </a:p>
          <a:p>
            <a:pPr algn="l" indent="0" marL="0">
              <a:buNone/>
            </a:pPr>
            <a:r>
              <a:rPr lang="en-US" sz="950" i="1" dirty="0">
                <a:solidFill>
                  <a:srgbClr val="595959"/>
                </a:solidFill>
                <a:latin typeface="Times New Roman" pitchFamily="34" charset="0"/>
                <a:ea typeface="Times New Roman" pitchFamily="34" charset="-122"/>
                <a:cs typeface="Times New Roman" pitchFamily="34" charset="-120"/>
              </a:rPr>
              <a:t>clicks here do nothing</a:t>
            </a:r>
            <a:endParaRPr lang="en-US" sz="950" dirty="0"/>
          </a:p>
        </p:txBody>
      </p:sp>
      <p:sp>
        <p:nvSpPr>
          <p:cNvPr id="14" name="Text 12"/>
          <p:cNvSpPr txBox="1"/>
          <p:nvPr/>
        </p:nvSpPr>
        <p:spPr>
          <a:xfrm>
            <a:off x="4983480" y="2331720"/>
            <a:ext cx="365760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After: flush with the corner</a:t>
            </a:r>
            <a:endParaRPr lang="en-US" sz="1100" dirty="0"/>
          </a:p>
        </p:txBody>
      </p:sp>
      <p:sp>
        <p:nvSpPr>
          <p:cNvPr id="15" name="Shape 13"/>
          <p:cNvSpPr/>
          <p:nvPr/>
        </p:nvSpPr>
        <p:spPr>
          <a:xfrm>
            <a:off x="4983480" y="2606040"/>
            <a:ext cx="3657600" cy="685800"/>
          </a:xfrm>
          <a:prstGeom prst="rect">
            <a:avLst/>
          </a:prstGeom>
          <a:solidFill>
            <a:srgbClr val="FFFFFF"/>
          </a:solidFill>
          <a:ln w="15875">
            <a:solidFill>
              <a:srgbClr val="404040"/>
            </a:solidFill>
            <a:prstDash val="solid"/>
          </a:ln>
        </p:spPr>
      </p:sp>
      <p:sp>
        <p:nvSpPr>
          <p:cNvPr id="16" name="Shape 14"/>
          <p:cNvSpPr/>
          <p:nvPr/>
        </p:nvSpPr>
        <p:spPr>
          <a:xfrm>
            <a:off x="4983480" y="2606040"/>
            <a:ext cx="1051560" cy="685800"/>
          </a:xfrm>
          <a:prstGeom prst="rect">
            <a:avLst/>
          </a:prstGeom>
          <a:solidFill>
            <a:srgbClr val="F2F2F2"/>
          </a:solidFill>
          <a:ln w="12700">
            <a:solidFill>
              <a:srgbClr val="404040"/>
            </a:solidFill>
            <a:prstDash val="solid"/>
          </a:ln>
        </p:spPr>
      </p:sp>
      <p:sp>
        <p:nvSpPr>
          <p:cNvPr id="17" name="Text 15"/>
          <p:cNvSpPr txBox="1"/>
          <p:nvPr/>
        </p:nvSpPr>
        <p:spPr>
          <a:xfrm>
            <a:off x="4983480" y="2606040"/>
            <a:ext cx="1051560" cy="685800"/>
          </a:xfrm>
          <a:prstGeom prst="rect">
            <a:avLst/>
          </a:prstGeom>
          <a:noFill/>
          <a:ln/>
        </p:spPr>
        <p:txBody>
          <a:bodyPr wrap="square" lIns="0" tIns="0" rIns="0" bIns="0" rtlCol="0" anchor="ct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Start</a:t>
            </a:r>
            <a:endParaRPr lang="en-US" sz="1100" dirty="0"/>
          </a:p>
        </p:txBody>
      </p:sp>
      <p:sp>
        <p:nvSpPr>
          <p:cNvPr id="18" name="Text 16"/>
          <p:cNvSpPr txBox="1"/>
          <p:nvPr/>
        </p:nvSpPr>
        <p:spPr>
          <a:xfrm>
            <a:off x="6172200" y="2606040"/>
            <a:ext cx="2377440" cy="685800"/>
          </a:xfrm>
          <a:prstGeom prst="rect">
            <a:avLst/>
          </a:prstGeom>
          <a:noFill/>
          <a:ln/>
        </p:spPr>
        <p:txBody>
          <a:bodyPr wrap="square" lIns="0" tIns="0" rIns="0" bIns="0" rtlCol="0" anchor="ctr"/>
          <a:lstStyle/>
          <a:p>
            <a:pPr algn="l" indent="0" marL="0">
              <a:buNone/>
            </a:pPr>
            <a:r>
              <a:rPr lang="en-US" sz="950" i="1" dirty="0">
                <a:solidFill>
                  <a:srgbClr val="595959"/>
                </a:solidFill>
                <a:latin typeface="Times New Roman" pitchFamily="34" charset="0"/>
                <a:ea typeface="Times New Roman" pitchFamily="34" charset="-122"/>
                <a:cs typeface="Times New Roman" pitchFamily="34" charset="-120"/>
              </a:rPr>
              <a:t>button occupies the corner</a:t>
            </a:r>
            <a:endParaRPr lang="en-US" sz="950" dirty="0"/>
          </a:p>
          <a:p>
            <a:pPr algn="l" indent="0" marL="0">
              <a:buNone/>
            </a:pPr>
            <a:r>
              <a:rPr lang="en-US" sz="950" i="1" dirty="0">
                <a:solidFill>
                  <a:srgbClr val="595959"/>
                </a:solidFill>
                <a:latin typeface="Times New Roman" pitchFamily="34" charset="0"/>
                <a:ea typeface="Times New Roman" pitchFamily="34" charset="-122"/>
                <a:cs typeface="Times New Roman" pitchFamily="34" charset="-120"/>
              </a:rPr>
              <a:t>itself — no aiming needed</a:t>
            </a:r>
            <a:endParaRPr lang="en-US" sz="950" dirty="0"/>
          </a:p>
        </p:txBody>
      </p:sp>
      <p:sp>
        <p:nvSpPr>
          <p:cNvPr id="19" name="Text 17"/>
          <p:cNvSpPr txBox="1"/>
          <p:nvPr/>
        </p:nvSpPr>
        <p:spPr>
          <a:xfrm>
            <a:off x="4983480" y="3474720"/>
            <a:ext cx="3657600" cy="822960"/>
          </a:xfrm>
          <a:prstGeom prst="rect">
            <a:avLst/>
          </a:prstGeom>
          <a:noFill/>
          <a:ln/>
        </p:spPr>
        <p:txBody>
          <a:bodyPr wrap="square" lIns="0" tIns="0" rIns="0" bIns="0" rtlCol="0" anchor="ctr"/>
          <a:lstStyle/>
          <a:p>
            <a:pPr algn="l" indent="0" marL="0">
              <a:buNone/>
            </a:pPr>
            <a:r>
              <a:rPr lang="en-US" sz="1100" i="1" dirty="0">
                <a:solidFill>
                  <a:srgbClr val="262626"/>
                </a:solidFill>
                <a:latin typeface="Times New Roman" pitchFamily="34" charset="0"/>
                <a:ea typeface="Times New Roman" pitchFamily="34" charset="-122"/>
                <a:cs typeface="Times New Roman" pitchFamily="34" charset="-120"/>
              </a:rPr>
              <a:t>A design can be right in principle and wrong in the last five pixels. Fitts' Law is a law about pixels, not about intentions.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16</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Office 2007: buying speed with size</a:t>
            </a:r>
            <a:endParaRPr lang="en-US" sz="2800" dirty="0"/>
          </a:p>
        </p:txBody>
      </p:sp>
      <p:sp>
        <p:nvSpPr>
          <p:cNvPr id="5" name="Text 3"/>
          <p:cNvSpPr txBox="1"/>
          <p:nvPr/>
        </p:nvSpPr>
        <p:spPr>
          <a:xfrm>
            <a:off x="502920" y="1097280"/>
            <a:ext cx="4023360" cy="1371600"/>
          </a:xfrm>
          <a:prstGeom prst="rect">
            <a:avLst/>
          </a:prstGeom>
          <a:noFill/>
          <a:ln/>
        </p:spPr>
        <p:txBody>
          <a:bodyPr wrap="square" lIns="0" tIns="0" rIns="0" bIns="0" rtlCol="0" anchor="t"/>
          <a:lstStyle/>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Most controls in the Ribbon are labelled and the buttons are considerably bigger than the toolbar icons they replaced.</a:t>
            </a:r>
            <a:endParaRPr lang="en-US" sz="1300" dirty="0"/>
          </a:p>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Bigger targets are faster targets — and a labelled target is also a discoverable one.</a:t>
            </a:r>
            <a:endParaRPr lang="en-US" sz="1300" dirty="0"/>
          </a:p>
        </p:txBody>
      </p:sp>
      <p:sp>
        <p:nvSpPr>
          <p:cNvPr id="6" name="Shape 4"/>
          <p:cNvSpPr/>
          <p:nvPr/>
        </p:nvSpPr>
        <p:spPr>
          <a:xfrm>
            <a:off x="502920" y="2651760"/>
            <a:ext cx="4023360" cy="1691640"/>
          </a:xfrm>
          <a:prstGeom prst="rect">
            <a:avLst/>
          </a:prstGeom>
          <a:solidFill>
            <a:srgbClr val="F2F2F2"/>
          </a:solidFill>
          <a:ln w="9525">
            <a:solidFill>
              <a:srgbClr val="BFBFBF"/>
            </a:solidFill>
            <a:prstDash val="solid"/>
          </a:ln>
        </p:spPr>
      </p:sp>
      <p:sp>
        <p:nvSpPr>
          <p:cNvPr id="7" name="Text 5"/>
          <p:cNvSpPr txBox="1"/>
          <p:nvPr/>
        </p:nvSpPr>
        <p:spPr>
          <a:xfrm>
            <a:off x="640080" y="2743200"/>
            <a:ext cx="374904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Two wins at once</a:t>
            </a:r>
            <a:endParaRPr lang="en-US" sz="1400" dirty="0"/>
          </a:p>
        </p:txBody>
      </p:sp>
      <p:sp>
        <p:nvSpPr>
          <p:cNvPr id="8" name="Text 6"/>
          <p:cNvSpPr txBox="1"/>
          <p:nvPr/>
        </p:nvSpPr>
        <p:spPr>
          <a:xfrm>
            <a:off x="640080" y="3090672"/>
            <a:ext cx="3749040" cy="114300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Performance: larger size in the denominator of the index of difficulty.</a:t>
            </a:r>
            <a:endParaRPr lang="en-US" sz="1150" dirty="0"/>
          </a:p>
          <a:p>
            <a:pPr indent="0" marL="0">
              <a:lnSpc>
                <a:spcPct val="112000"/>
              </a:lnSpc>
              <a:buNone/>
            </a:pP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Discoverability: a labelled control can be recognised rather than recalled — which is a memory argument, and the subject of the next lecture.</a:t>
            </a:r>
            <a:endParaRPr lang="en-US" sz="1150" dirty="0"/>
          </a:p>
        </p:txBody>
      </p:sp>
      <p:sp>
        <p:nvSpPr>
          <p:cNvPr id="9" name="Text 7"/>
          <p:cNvSpPr txBox="1"/>
          <p:nvPr/>
        </p:nvSpPr>
        <p:spPr>
          <a:xfrm>
            <a:off x="4846320" y="1097280"/>
            <a:ext cx="379476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Classic toolbar — small, unlabelled</a:t>
            </a:r>
            <a:endParaRPr lang="en-US" sz="1100" dirty="0"/>
          </a:p>
        </p:txBody>
      </p:sp>
      <p:sp>
        <p:nvSpPr>
          <p:cNvPr id="10" name="Shape 8"/>
          <p:cNvSpPr/>
          <p:nvPr/>
        </p:nvSpPr>
        <p:spPr>
          <a:xfrm>
            <a:off x="4846320" y="1371600"/>
            <a:ext cx="3794760" cy="457200"/>
          </a:xfrm>
          <a:prstGeom prst="rect">
            <a:avLst/>
          </a:prstGeom>
          <a:solidFill>
            <a:srgbClr val="FFFFFF"/>
          </a:solidFill>
          <a:ln w="12700">
            <a:solidFill>
              <a:srgbClr val="404040"/>
            </a:solidFill>
            <a:prstDash val="solid"/>
          </a:ln>
        </p:spPr>
      </p:sp>
      <p:sp>
        <p:nvSpPr>
          <p:cNvPr id="11" name="Shape 9"/>
          <p:cNvSpPr/>
          <p:nvPr/>
        </p:nvSpPr>
        <p:spPr>
          <a:xfrm>
            <a:off x="4956048" y="1490472"/>
            <a:ext cx="237744" cy="237744"/>
          </a:xfrm>
          <a:prstGeom prst="rect">
            <a:avLst/>
          </a:prstGeom>
          <a:solidFill>
            <a:srgbClr val="F2F2F2"/>
          </a:solidFill>
          <a:ln w="6350">
            <a:solidFill>
              <a:srgbClr val="BFBFBF"/>
            </a:solidFill>
            <a:prstDash val="solid"/>
          </a:ln>
        </p:spPr>
      </p:sp>
      <p:sp>
        <p:nvSpPr>
          <p:cNvPr id="12" name="Shape 10"/>
          <p:cNvSpPr/>
          <p:nvPr/>
        </p:nvSpPr>
        <p:spPr>
          <a:xfrm>
            <a:off x="5321808" y="1490472"/>
            <a:ext cx="237744" cy="237744"/>
          </a:xfrm>
          <a:prstGeom prst="rect">
            <a:avLst/>
          </a:prstGeom>
          <a:solidFill>
            <a:srgbClr val="F2F2F2"/>
          </a:solidFill>
          <a:ln w="6350">
            <a:solidFill>
              <a:srgbClr val="BFBFBF"/>
            </a:solidFill>
            <a:prstDash val="solid"/>
          </a:ln>
        </p:spPr>
      </p:sp>
      <p:sp>
        <p:nvSpPr>
          <p:cNvPr id="13" name="Shape 11"/>
          <p:cNvSpPr/>
          <p:nvPr/>
        </p:nvSpPr>
        <p:spPr>
          <a:xfrm>
            <a:off x="5687568" y="1490472"/>
            <a:ext cx="237744" cy="237744"/>
          </a:xfrm>
          <a:prstGeom prst="rect">
            <a:avLst/>
          </a:prstGeom>
          <a:solidFill>
            <a:srgbClr val="F2F2F2"/>
          </a:solidFill>
          <a:ln w="6350">
            <a:solidFill>
              <a:srgbClr val="BFBFBF"/>
            </a:solidFill>
            <a:prstDash val="solid"/>
          </a:ln>
        </p:spPr>
      </p:sp>
      <p:sp>
        <p:nvSpPr>
          <p:cNvPr id="14" name="Shape 12"/>
          <p:cNvSpPr/>
          <p:nvPr/>
        </p:nvSpPr>
        <p:spPr>
          <a:xfrm>
            <a:off x="6053328" y="1490472"/>
            <a:ext cx="237744" cy="237744"/>
          </a:xfrm>
          <a:prstGeom prst="rect">
            <a:avLst/>
          </a:prstGeom>
          <a:solidFill>
            <a:srgbClr val="F2F2F2"/>
          </a:solidFill>
          <a:ln w="6350">
            <a:solidFill>
              <a:srgbClr val="BFBFBF"/>
            </a:solidFill>
            <a:prstDash val="solid"/>
          </a:ln>
        </p:spPr>
      </p:sp>
      <p:sp>
        <p:nvSpPr>
          <p:cNvPr id="15" name="Shape 13"/>
          <p:cNvSpPr/>
          <p:nvPr/>
        </p:nvSpPr>
        <p:spPr>
          <a:xfrm>
            <a:off x="6419088" y="1490472"/>
            <a:ext cx="237744" cy="237744"/>
          </a:xfrm>
          <a:prstGeom prst="rect">
            <a:avLst/>
          </a:prstGeom>
          <a:solidFill>
            <a:srgbClr val="F2F2F2"/>
          </a:solidFill>
          <a:ln w="6350">
            <a:solidFill>
              <a:srgbClr val="BFBFBF"/>
            </a:solidFill>
            <a:prstDash val="solid"/>
          </a:ln>
        </p:spPr>
      </p:sp>
      <p:sp>
        <p:nvSpPr>
          <p:cNvPr id="16" name="Shape 14"/>
          <p:cNvSpPr/>
          <p:nvPr/>
        </p:nvSpPr>
        <p:spPr>
          <a:xfrm>
            <a:off x="6784848" y="1490472"/>
            <a:ext cx="237744" cy="237744"/>
          </a:xfrm>
          <a:prstGeom prst="rect">
            <a:avLst/>
          </a:prstGeom>
          <a:solidFill>
            <a:srgbClr val="F2F2F2"/>
          </a:solidFill>
          <a:ln w="6350">
            <a:solidFill>
              <a:srgbClr val="BFBFBF"/>
            </a:solidFill>
            <a:prstDash val="solid"/>
          </a:ln>
        </p:spPr>
      </p:sp>
      <p:sp>
        <p:nvSpPr>
          <p:cNvPr id="17" name="Shape 15"/>
          <p:cNvSpPr/>
          <p:nvPr/>
        </p:nvSpPr>
        <p:spPr>
          <a:xfrm>
            <a:off x="7150608" y="1490472"/>
            <a:ext cx="237744" cy="237744"/>
          </a:xfrm>
          <a:prstGeom prst="rect">
            <a:avLst/>
          </a:prstGeom>
          <a:solidFill>
            <a:srgbClr val="F2F2F2"/>
          </a:solidFill>
          <a:ln w="6350">
            <a:solidFill>
              <a:srgbClr val="BFBFBF"/>
            </a:solidFill>
            <a:prstDash val="solid"/>
          </a:ln>
        </p:spPr>
      </p:sp>
      <p:sp>
        <p:nvSpPr>
          <p:cNvPr id="18" name="Shape 16"/>
          <p:cNvSpPr/>
          <p:nvPr/>
        </p:nvSpPr>
        <p:spPr>
          <a:xfrm>
            <a:off x="7516368" y="1490472"/>
            <a:ext cx="237744" cy="237744"/>
          </a:xfrm>
          <a:prstGeom prst="rect">
            <a:avLst/>
          </a:prstGeom>
          <a:solidFill>
            <a:srgbClr val="F2F2F2"/>
          </a:solidFill>
          <a:ln w="6350">
            <a:solidFill>
              <a:srgbClr val="BFBFBF"/>
            </a:solidFill>
            <a:prstDash val="solid"/>
          </a:ln>
        </p:spPr>
      </p:sp>
      <p:sp>
        <p:nvSpPr>
          <p:cNvPr id="19" name="Shape 17"/>
          <p:cNvSpPr/>
          <p:nvPr/>
        </p:nvSpPr>
        <p:spPr>
          <a:xfrm>
            <a:off x="7882128" y="1490472"/>
            <a:ext cx="237744" cy="237744"/>
          </a:xfrm>
          <a:prstGeom prst="rect">
            <a:avLst/>
          </a:prstGeom>
          <a:solidFill>
            <a:srgbClr val="F2F2F2"/>
          </a:solidFill>
          <a:ln w="6350">
            <a:solidFill>
              <a:srgbClr val="BFBFBF"/>
            </a:solidFill>
            <a:prstDash val="solid"/>
          </a:ln>
        </p:spPr>
      </p:sp>
      <p:sp>
        <p:nvSpPr>
          <p:cNvPr id="20" name="Shape 18"/>
          <p:cNvSpPr/>
          <p:nvPr/>
        </p:nvSpPr>
        <p:spPr>
          <a:xfrm>
            <a:off x="8247888" y="1490472"/>
            <a:ext cx="237744" cy="237744"/>
          </a:xfrm>
          <a:prstGeom prst="rect">
            <a:avLst/>
          </a:prstGeom>
          <a:solidFill>
            <a:srgbClr val="F2F2F2"/>
          </a:solidFill>
          <a:ln w="6350">
            <a:solidFill>
              <a:srgbClr val="BFBFBF"/>
            </a:solidFill>
            <a:prstDash val="solid"/>
          </a:ln>
        </p:spPr>
      </p:sp>
      <p:sp>
        <p:nvSpPr>
          <p:cNvPr id="21" name="Text 19"/>
          <p:cNvSpPr txBox="1"/>
          <p:nvPr/>
        </p:nvSpPr>
        <p:spPr>
          <a:xfrm>
            <a:off x="4846320" y="1874520"/>
            <a:ext cx="3794760" cy="228600"/>
          </a:xfrm>
          <a:prstGeom prst="rect">
            <a:avLst/>
          </a:prstGeom>
          <a:noFill/>
          <a:ln/>
        </p:spPr>
        <p:txBody>
          <a:bodyPr wrap="square" lIns="0" tIns="0" rIns="0" bIns="0" rtlCol="0" anchor="ctr"/>
          <a:lstStyle/>
          <a:p>
            <a:pPr algn="l" indent="0" marL="0">
              <a:buNone/>
            </a:pPr>
            <a:r>
              <a:rPr lang="en-US" sz="950" i="1" dirty="0">
                <a:solidFill>
                  <a:srgbClr val="595959"/>
                </a:solidFill>
                <a:latin typeface="Times New Roman" pitchFamily="34" charset="0"/>
                <a:ea typeface="Times New Roman" pitchFamily="34" charset="-122"/>
                <a:cs typeface="Times New Roman" pitchFamily="34" charset="-120"/>
              </a:rPr>
              <a:t>26-pixel squares, meaning carried by icon alone</a:t>
            </a:r>
            <a:endParaRPr lang="en-US" sz="950" dirty="0"/>
          </a:p>
        </p:txBody>
      </p:sp>
      <p:sp>
        <p:nvSpPr>
          <p:cNvPr id="22" name="Text 20"/>
          <p:cNvSpPr txBox="1"/>
          <p:nvPr/>
        </p:nvSpPr>
        <p:spPr>
          <a:xfrm>
            <a:off x="4846320" y="2240280"/>
            <a:ext cx="379476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Ribbon — large, labelled, grouped</a:t>
            </a:r>
            <a:endParaRPr lang="en-US" sz="1100" dirty="0"/>
          </a:p>
        </p:txBody>
      </p:sp>
      <p:sp>
        <p:nvSpPr>
          <p:cNvPr id="23" name="Shape 21"/>
          <p:cNvSpPr/>
          <p:nvPr/>
        </p:nvSpPr>
        <p:spPr>
          <a:xfrm>
            <a:off x="4846320" y="2514600"/>
            <a:ext cx="3794760" cy="1325880"/>
          </a:xfrm>
          <a:prstGeom prst="rect">
            <a:avLst/>
          </a:prstGeom>
          <a:solidFill>
            <a:srgbClr val="FFFFFF"/>
          </a:solidFill>
          <a:ln w="12700">
            <a:solidFill>
              <a:srgbClr val="404040"/>
            </a:solidFill>
            <a:prstDash val="solid"/>
          </a:ln>
        </p:spPr>
      </p:sp>
      <p:sp>
        <p:nvSpPr>
          <p:cNvPr id="24" name="Shape 22"/>
          <p:cNvSpPr/>
          <p:nvPr/>
        </p:nvSpPr>
        <p:spPr>
          <a:xfrm>
            <a:off x="4956048" y="2624328"/>
            <a:ext cx="822960" cy="868680"/>
          </a:xfrm>
          <a:prstGeom prst="rect">
            <a:avLst/>
          </a:prstGeom>
          <a:solidFill>
            <a:srgbClr val="F2F2F2"/>
          </a:solidFill>
          <a:ln w="7620">
            <a:solidFill>
              <a:srgbClr val="BFBFBF"/>
            </a:solidFill>
            <a:prstDash val="solid"/>
          </a:ln>
        </p:spPr>
      </p:sp>
      <p:sp>
        <p:nvSpPr>
          <p:cNvPr id="25" name="Text 23"/>
          <p:cNvSpPr txBox="1"/>
          <p:nvPr/>
        </p:nvSpPr>
        <p:spPr>
          <a:xfrm>
            <a:off x="4956048" y="3154680"/>
            <a:ext cx="822960" cy="274320"/>
          </a:xfrm>
          <a:prstGeom prst="rect">
            <a:avLst/>
          </a:prstGeom>
          <a:no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Table</a:t>
            </a:r>
            <a:endParaRPr lang="en-US" sz="950" dirty="0"/>
          </a:p>
        </p:txBody>
      </p:sp>
      <p:sp>
        <p:nvSpPr>
          <p:cNvPr id="26" name="Shape 24"/>
          <p:cNvSpPr/>
          <p:nvPr/>
        </p:nvSpPr>
        <p:spPr>
          <a:xfrm>
            <a:off x="5870448" y="2624328"/>
            <a:ext cx="822960" cy="868680"/>
          </a:xfrm>
          <a:prstGeom prst="rect">
            <a:avLst/>
          </a:prstGeom>
          <a:solidFill>
            <a:srgbClr val="F2F2F2"/>
          </a:solidFill>
          <a:ln w="7620">
            <a:solidFill>
              <a:srgbClr val="BFBFBF"/>
            </a:solidFill>
            <a:prstDash val="solid"/>
          </a:ln>
        </p:spPr>
      </p:sp>
      <p:sp>
        <p:nvSpPr>
          <p:cNvPr id="27" name="Text 25"/>
          <p:cNvSpPr txBox="1"/>
          <p:nvPr/>
        </p:nvSpPr>
        <p:spPr>
          <a:xfrm>
            <a:off x="5870448" y="3154680"/>
            <a:ext cx="822960" cy="274320"/>
          </a:xfrm>
          <a:prstGeom prst="rect">
            <a:avLst/>
          </a:prstGeom>
          <a:no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Picture</a:t>
            </a:r>
            <a:endParaRPr lang="en-US" sz="950" dirty="0"/>
          </a:p>
        </p:txBody>
      </p:sp>
      <p:sp>
        <p:nvSpPr>
          <p:cNvPr id="28" name="Shape 26"/>
          <p:cNvSpPr/>
          <p:nvPr/>
        </p:nvSpPr>
        <p:spPr>
          <a:xfrm>
            <a:off x="6784848" y="2624328"/>
            <a:ext cx="822960" cy="868680"/>
          </a:xfrm>
          <a:prstGeom prst="rect">
            <a:avLst/>
          </a:prstGeom>
          <a:solidFill>
            <a:srgbClr val="F2F2F2"/>
          </a:solidFill>
          <a:ln w="7620">
            <a:solidFill>
              <a:srgbClr val="BFBFBF"/>
            </a:solidFill>
            <a:prstDash val="solid"/>
          </a:ln>
        </p:spPr>
      </p:sp>
      <p:sp>
        <p:nvSpPr>
          <p:cNvPr id="29" name="Text 27"/>
          <p:cNvSpPr txBox="1"/>
          <p:nvPr/>
        </p:nvSpPr>
        <p:spPr>
          <a:xfrm>
            <a:off x="6784848" y="3154680"/>
            <a:ext cx="822960" cy="274320"/>
          </a:xfrm>
          <a:prstGeom prst="rect">
            <a:avLst/>
          </a:prstGeom>
          <a:no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Chart</a:t>
            </a:r>
            <a:endParaRPr lang="en-US" sz="950" dirty="0"/>
          </a:p>
        </p:txBody>
      </p:sp>
      <p:sp>
        <p:nvSpPr>
          <p:cNvPr id="30" name="Shape 28"/>
          <p:cNvSpPr/>
          <p:nvPr/>
        </p:nvSpPr>
        <p:spPr>
          <a:xfrm>
            <a:off x="7699248" y="2624328"/>
            <a:ext cx="822960" cy="868680"/>
          </a:xfrm>
          <a:prstGeom prst="rect">
            <a:avLst/>
          </a:prstGeom>
          <a:solidFill>
            <a:srgbClr val="F2F2F2"/>
          </a:solidFill>
          <a:ln w="7620">
            <a:solidFill>
              <a:srgbClr val="BFBFBF"/>
            </a:solidFill>
            <a:prstDash val="solid"/>
          </a:ln>
        </p:spPr>
      </p:sp>
      <p:sp>
        <p:nvSpPr>
          <p:cNvPr id="31" name="Text 29"/>
          <p:cNvSpPr txBox="1"/>
          <p:nvPr/>
        </p:nvSpPr>
        <p:spPr>
          <a:xfrm>
            <a:off x="7699248" y="3154680"/>
            <a:ext cx="822960" cy="274320"/>
          </a:xfrm>
          <a:prstGeom prst="rect">
            <a:avLst/>
          </a:prstGeom>
          <a:noFill/>
          <a:ln/>
        </p:spPr>
        <p:txBody>
          <a:bodyPr wrap="square" lIns="0" tIns="0" rIns="0" bIns="0" rtlCol="0" anchor="ctr"/>
          <a:lstStyle/>
          <a:p>
            <a:pPr algn="ctr" indent="0" marL="0">
              <a:buNone/>
            </a:pPr>
            <a:r>
              <a:rPr lang="en-US" sz="950" dirty="0">
                <a:solidFill>
                  <a:srgbClr val="000000"/>
                </a:solidFill>
                <a:latin typeface="Times New Roman" pitchFamily="34" charset="0"/>
                <a:ea typeface="Times New Roman" pitchFamily="34" charset="-122"/>
                <a:cs typeface="Times New Roman" pitchFamily="34" charset="-120"/>
              </a:rPr>
              <a:t>Links</a:t>
            </a:r>
            <a:endParaRPr lang="en-US" sz="950" dirty="0"/>
          </a:p>
        </p:txBody>
      </p:sp>
      <p:sp>
        <p:nvSpPr>
          <p:cNvPr id="32" name="Text 30"/>
          <p:cNvSpPr txBox="1"/>
          <p:nvPr/>
        </p:nvSpPr>
        <p:spPr>
          <a:xfrm>
            <a:off x="4846320" y="3566160"/>
            <a:ext cx="3794760" cy="228600"/>
          </a:xfrm>
          <a:prstGeom prst="rect">
            <a:avLst/>
          </a:prstGeom>
          <a:noFill/>
          <a:ln/>
        </p:spPr>
        <p:txBody>
          <a:bodyPr wrap="square" lIns="0" tIns="0" rIns="0" bIns="0" rtlCol="0" anchor="ctr"/>
          <a:lstStyle/>
          <a:p>
            <a:pPr algn="ctr" indent="0" marL="0">
              <a:buNone/>
            </a:pPr>
            <a:r>
              <a:rPr lang="en-US" sz="900" i="1" dirty="0">
                <a:solidFill>
                  <a:srgbClr val="595959"/>
                </a:solidFill>
                <a:latin typeface="Times New Roman" pitchFamily="34" charset="0"/>
                <a:ea typeface="Times New Roman" pitchFamily="34" charset="-122"/>
                <a:cs typeface="Times New Roman" pitchFamily="34" charset="-120"/>
              </a:rPr>
              <a:t>Insert</a:t>
            </a:r>
            <a:endParaRPr lang="en-US" sz="900" dirty="0"/>
          </a:p>
        </p:txBody>
      </p:sp>
      <p:sp>
        <p:nvSpPr>
          <p:cNvPr id="33" name="Text 31"/>
          <p:cNvSpPr txBox="1"/>
          <p:nvPr/>
        </p:nvSpPr>
        <p:spPr>
          <a:xfrm>
            <a:off x="4846320" y="3931920"/>
            <a:ext cx="3794760" cy="411480"/>
          </a:xfrm>
          <a:prstGeom prst="rect">
            <a:avLst/>
          </a:prstGeom>
          <a:noFill/>
          <a:ln/>
        </p:spPr>
        <p:txBody>
          <a:bodyPr wrap="square" lIns="0" tIns="0" rIns="0" bIns="0" rtlCol="0" anchor="ctr"/>
          <a:lstStyle/>
          <a:p>
            <a:pPr algn="l" indent="0" marL="0">
              <a:buNone/>
            </a:pPr>
            <a:r>
              <a:rPr lang="en-US" sz="1050" i="1" dirty="0">
                <a:solidFill>
                  <a:srgbClr val="595959"/>
                </a:solidFill>
                <a:latin typeface="Times New Roman" pitchFamily="34" charset="0"/>
                <a:ea typeface="Times New Roman" pitchFamily="34" charset="-122"/>
                <a:cs typeface="Times New Roman" pitchFamily="34" charset="-120"/>
              </a:rPr>
              <a:t>Same commands. The Ribbon spends screen area to buy movement time and recognisability.</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17</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Mini Toolbar: buying speed with distance</a:t>
            </a:r>
            <a:endParaRPr lang="en-US" sz="2800" dirty="0"/>
          </a:p>
        </p:txBody>
      </p:sp>
      <p:sp>
        <p:nvSpPr>
          <p:cNvPr id="5" name="Text 3"/>
          <p:cNvSpPr txBox="1"/>
          <p:nvPr/>
        </p:nvSpPr>
        <p:spPr>
          <a:xfrm>
            <a:off x="502920" y="1097280"/>
            <a:ext cx="4297680" cy="2011680"/>
          </a:xfrm>
          <a:prstGeom prst="rect">
            <a:avLst/>
          </a:prstGeom>
          <a:noFill/>
          <a:ln/>
        </p:spPr>
        <p:txBody>
          <a:bodyPr wrap="square" lIns="0" tIns="0" rIns="0" bIns="0" rtlCol="0" anchor="t"/>
          <a:lstStyle/>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The Mini Toolbar appears next to text the moment you select it. Its controls are small — so by the first statement of Fitts' Law they should be slow.</a:t>
            </a:r>
            <a:endParaRPr lang="en-US" sz="1300" dirty="0"/>
          </a:p>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But the distance is also small, and distance and size enter the formula as a ratio. A tiny control two centimetres away can beat a large one across the screen.</a:t>
            </a:r>
            <a:endParaRPr lang="en-US" sz="1300" dirty="0"/>
          </a:p>
        </p:txBody>
      </p:sp>
      <p:sp>
        <p:nvSpPr>
          <p:cNvPr id="6" name="Shape 4"/>
          <p:cNvSpPr/>
          <p:nvPr/>
        </p:nvSpPr>
        <p:spPr>
          <a:xfrm>
            <a:off x="502920" y="3200400"/>
            <a:ext cx="4297680" cy="1143000"/>
          </a:xfrm>
          <a:prstGeom prst="rect">
            <a:avLst/>
          </a:prstGeom>
          <a:solidFill>
            <a:srgbClr val="F2F2F2"/>
          </a:solidFill>
          <a:ln w="9525">
            <a:solidFill>
              <a:srgbClr val="BFBFBF"/>
            </a:solidFill>
            <a:prstDash val="solid"/>
          </a:ln>
        </p:spPr>
      </p:sp>
      <p:sp>
        <p:nvSpPr>
          <p:cNvPr id="7" name="Text 5"/>
          <p:cNvSpPr txBox="1"/>
          <p:nvPr/>
        </p:nvSpPr>
        <p:spPr>
          <a:xfrm>
            <a:off x="640080" y="3310128"/>
            <a:ext cx="4023360" cy="914400"/>
          </a:xfrm>
          <a:prstGeom prst="rect">
            <a:avLst/>
          </a:prstGeom>
          <a:noFill/>
          <a:ln/>
        </p:spPr>
        <p:txBody>
          <a:bodyPr wrap="square" lIns="0" tIns="0" rIns="0" bIns="0" rtlCol="0" anchor="t"/>
          <a:lstStyle/>
          <a:p>
            <a:pPr indent="0" marL="0">
              <a:lnSpc>
                <a:spcPct val="112000"/>
              </a:lnSpc>
              <a:buNone/>
            </a:pPr>
            <a:r>
              <a:rPr lang="en-US" sz="1200" dirty="0">
                <a:solidFill>
                  <a:srgbClr val="000000"/>
                </a:solidFill>
                <a:latin typeface="Times New Roman" pitchFamily="34" charset="0"/>
                <a:ea typeface="Times New Roman" pitchFamily="34" charset="-122"/>
                <a:cs typeface="Times New Roman" pitchFamily="34" charset="-120"/>
              </a:rPr>
              <a:t>The Ribbon is designed to increase size.</a:t>
            </a:r>
            <a:endParaRPr lang="en-US" sz="1200" dirty="0"/>
          </a:p>
          <a:p>
            <a:pPr indent="0" marL="0">
              <a:lnSpc>
                <a:spcPct val="112000"/>
              </a:lnSpc>
              <a:buNone/>
            </a:pPr>
            <a:r>
              <a:rPr lang="en-US" sz="1200" dirty="0">
                <a:solidFill>
                  <a:srgbClr val="000000"/>
                </a:solidFill>
                <a:latin typeface="Times New Roman" pitchFamily="34" charset="0"/>
                <a:ea typeface="Times New Roman" pitchFamily="34" charset="-122"/>
                <a:cs typeface="Times New Roman" pitchFamily="34" charset="-120"/>
              </a:rPr>
              <a:t>The Mini Toolbar is designed to reduce distance.</a:t>
            </a:r>
            <a:endParaRPr lang="en-US" sz="1200" dirty="0"/>
          </a:p>
          <a:p>
            <a:pPr indent="0" marL="0">
              <a:lnSpc>
                <a:spcPct val="112000"/>
              </a:lnSpc>
              <a:buNone/>
            </a:pPr>
            <a:r>
              <a:rPr lang="en-US" sz="1200" dirty="0">
                <a:solidFill>
                  <a:srgbClr val="000000"/>
                </a:solidFill>
                <a:latin typeface="Times New Roman" pitchFamily="34" charset="0"/>
                <a:ea typeface="Times New Roman" pitchFamily="34" charset="-122"/>
                <a:cs typeface="Times New Roman" pitchFamily="34" charset="-120"/>
              </a:rPr>
              <a:t>Both reduce log₂(distance / size + 1).</a:t>
            </a:r>
            <a:endParaRPr lang="en-US" sz="1200" dirty="0"/>
          </a:p>
        </p:txBody>
      </p:sp>
      <p:sp>
        <p:nvSpPr>
          <p:cNvPr id="8" name="Shape 6"/>
          <p:cNvSpPr/>
          <p:nvPr/>
        </p:nvSpPr>
        <p:spPr>
          <a:xfrm>
            <a:off x="5120640" y="1188720"/>
            <a:ext cx="3520440" cy="2194560"/>
          </a:xfrm>
          <a:prstGeom prst="rect">
            <a:avLst/>
          </a:prstGeom>
          <a:solidFill>
            <a:srgbClr val="FFFFFF"/>
          </a:solidFill>
          <a:ln w="12700">
            <a:solidFill>
              <a:srgbClr val="404040"/>
            </a:solidFill>
            <a:prstDash val="solid"/>
          </a:ln>
        </p:spPr>
      </p:sp>
      <p:sp>
        <p:nvSpPr>
          <p:cNvPr id="9" name="Text 7"/>
          <p:cNvSpPr txBox="1"/>
          <p:nvPr/>
        </p:nvSpPr>
        <p:spPr>
          <a:xfrm>
            <a:off x="5257800" y="1371600"/>
            <a:ext cx="3246120" cy="274320"/>
          </a:xfrm>
          <a:prstGeom prst="rect">
            <a:avLst/>
          </a:prstGeom>
          <a:noFill/>
          <a:ln/>
        </p:spPr>
        <p:txBody>
          <a:bodyPr wrap="square" lIns="0" tIns="0" rIns="0" bIns="0" rtlCol="0" anchor="ctr"/>
          <a:lstStyle/>
          <a:p>
            <a:pPr algn="l" indent="0" marL="0">
              <a:buNone/>
            </a:pPr>
            <a:r>
              <a:rPr lang="en-US" sz="1050" dirty="0">
                <a:solidFill>
                  <a:srgbClr val="262626"/>
                </a:solidFill>
                <a:latin typeface="Times New Roman" pitchFamily="34" charset="0"/>
                <a:ea typeface="Times New Roman" pitchFamily="34" charset="-122"/>
                <a:cs typeface="Times New Roman" pitchFamily="34" charset="-120"/>
              </a:rPr>
              <a:t>…the human is the system component</a:t>
            </a:r>
            <a:endParaRPr lang="en-US" sz="1050" dirty="0"/>
          </a:p>
        </p:txBody>
      </p:sp>
      <p:sp>
        <p:nvSpPr>
          <p:cNvPr id="10" name="Shape 8"/>
          <p:cNvSpPr/>
          <p:nvPr/>
        </p:nvSpPr>
        <p:spPr>
          <a:xfrm>
            <a:off x="5257800" y="1691640"/>
            <a:ext cx="1371600" cy="256032"/>
          </a:xfrm>
          <a:prstGeom prst="rect">
            <a:avLst/>
          </a:prstGeom>
          <a:solidFill>
            <a:srgbClr val="D9D9D9"/>
          </a:solidFill>
          <a:ln w="5080">
            <a:solidFill>
              <a:srgbClr val="BFBFBF"/>
            </a:solidFill>
            <a:prstDash val="solid"/>
          </a:ln>
        </p:spPr>
      </p:sp>
      <p:sp>
        <p:nvSpPr>
          <p:cNvPr id="11" name="Text 9"/>
          <p:cNvSpPr txBox="1"/>
          <p:nvPr/>
        </p:nvSpPr>
        <p:spPr>
          <a:xfrm>
            <a:off x="5257800" y="1691640"/>
            <a:ext cx="1371600" cy="256032"/>
          </a:xfrm>
          <a:prstGeom prst="rect">
            <a:avLst/>
          </a:prstGeom>
          <a:noFill/>
          <a:ln/>
        </p:spPr>
        <p:txBody>
          <a:bodyPr wrap="square" lIns="0" tIns="0" rIns="0" bIns="0" rtlCol="0" anchor="ctr"/>
          <a:lstStyle/>
          <a:p>
            <a:pPr algn="l" indent="0" marL="0">
              <a:buNone/>
            </a:pPr>
            <a:r>
              <a:rPr lang="en-US" sz="1050" dirty="0">
                <a:solidFill>
                  <a:srgbClr val="000000"/>
                </a:solidFill>
                <a:latin typeface="Times New Roman" pitchFamily="34" charset="0"/>
                <a:ea typeface="Times New Roman" pitchFamily="34" charset="-122"/>
                <a:cs typeface="Times New Roman" pitchFamily="34" charset="-120"/>
              </a:rPr>
              <a:t>whose behaviour</a:t>
            </a:r>
            <a:endParaRPr lang="en-US" sz="1050" dirty="0"/>
          </a:p>
        </p:txBody>
      </p:sp>
      <p:sp>
        <p:nvSpPr>
          <p:cNvPr id="12" name="Shape 10"/>
          <p:cNvSpPr/>
          <p:nvPr/>
        </p:nvSpPr>
        <p:spPr>
          <a:xfrm>
            <a:off x="6355080" y="2057400"/>
            <a:ext cx="2011680" cy="502920"/>
          </a:xfrm>
          <a:prstGeom prst="rect">
            <a:avLst/>
          </a:prstGeom>
          <a:solidFill>
            <a:srgbClr val="F2F2F2"/>
          </a:solidFill>
          <a:ln w="10160">
            <a:solidFill>
              <a:srgbClr val="404040"/>
            </a:solidFill>
            <a:prstDash val="solid"/>
          </a:ln>
        </p:spPr>
      </p:sp>
      <p:sp>
        <p:nvSpPr>
          <p:cNvPr id="13" name="Shape 11"/>
          <p:cNvSpPr/>
          <p:nvPr/>
        </p:nvSpPr>
        <p:spPr>
          <a:xfrm>
            <a:off x="6446520" y="2148840"/>
            <a:ext cx="228600" cy="146304"/>
          </a:xfrm>
          <a:prstGeom prst="rect">
            <a:avLst/>
          </a:prstGeom>
          <a:solidFill>
            <a:srgbClr val="FFFFFF"/>
          </a:solidFill>
          <a:ln w="5080">
            <a:solidFill>
              <a:srgbClr val="BFBFBF"/>
            </a:solidFill>
            <a:prstDash val="solid"/>
          </a:ln>
        </p:spPr>
      </p:sp>
      <p:sp>
        <p:nvSpPr>
          <p:cNvPr id="14" name="Shape 12"/>
          <p:cNvSpPr/>
          <p:nvPr/>
        </p:nvSpPr>
        <p:spPr>
          <a:xfrm>
            <a:off x="6446520" y="2340864"/>
            <a:ext cx="228600" cy="146304"/>
          </a:xfrm>
          <a:prstGeom prst="rect">
            <a:avLst/>
          </a:prstGeom>
          <a:solidFill>
            <a:srgbClr val="FFFFFF"/>
          </a:solidFill>
          <a:ln w="5080">
            <a:solidFill>
              <a:srgbClr val="BFBFBF"/>
            </a:solidFill>
            <a:prstDash val="solid"/>
          </a:ln>
        </p:spPr>
      </p:sp>
      <p:sp>
        <p:nvSpPr>
          <p:cNvPr id="15" name="Shape 13"/>
          <p:cNvSpPr/>
          <p:nvPr/>
        </p:nvSpPr>
        <p:spPr>
          <a:xfrm>
            <a:off x="6766560" y="2148840"/>
            <a:ext cx="228600" cy="146304"/>
          </a:xfrm>
          <a:prstGeom prst="rect">
            <a:avLst/>
          </a:prstGeom>
          <a:solidFill>
            <a:srgbClr val="FFFFFF"/>
          </a:solidFill>
          <a:ln w="5080">
            <a:solidFill>
              <a:srgbClr val="BFBFBF"/>
            </a:solidFill>
            <a:prstDash val="solid"/>
          </a:ln>
        </p:spPr>
      </p:sp>
      <p:sp>
        <p:nvSpPr>
          <p:cNvPr id="16" name="Shape 14"/>
          <p:cNvSpPr/>
          <p:nvPr/>
        </p:nvSpPr>
        <p:spPr>
          <a:xfrm>
            <a:off x="6766560" y="2340864"/>
            <a:ext cx="228600" cy="146304"/>
          </a:xfrm>
          <a:prstGeom prst="rect">
            <a:avLst/>
          </a:prstGeom>
          <a:solidFill>
            <a:srgbClr val="FFFFFF"/>
          </a:solidFill>
          <a:ln w="5080">
            <a:solidFill>
              <a:srgbClr val="BFBFBF"/>
            </a:solidFill>
            <a:prstDash val="solid"/>
          </a:ln>
        </p:spPr>
      </p:sp>
      <p:sp>
        <p:nvSpPr>
          <p:cNvPr id="17" name="Shape 15"/>
          <p:cNvSpPr/>
          <p:nvPr/>
        </p:nvSpPr>
        <p:spPr>
          <a:xfrm>
            <a:off x="7086600" y="2148840"/>
            <a:ext cx="228600" cy="146304"/>
          </a:xfrm>
          <a:prstGeom prst="rect">
            <a:avLst/>
          </a:prstGeom>
          <a:solidFill>
            <a:srgbClr val="FFFFFF"/>
          </a:solidFill>
          <a:ln w="5080">
            <a:solidFill>
              <a:srgbClr val="BFBFBF"/>
            </a:solidFill>
            <a:prstDash val="solid"/>
          </a:ln>
        </p:spPr>
      </p:sp>
      <p:sp>
        <p:nvSpPr>
          <p:cNvPr id="18" name="Shape 16"/>
          <p:cNvSpPr/>
          <p:nvPr/>
        </p:nvSpPr>
        <p:spPr>
          <a:xfrm>
            <a:off x="7086600" y="2340864"/>
            <a:ext cx="228600" cy="146304"/>
          </a:xfrm>
          <a:prstGeom prst="rect">
            <a:avLst/>
          </a:prstGeom>
          <a:solidFill>
            <a:srgbClr val="FFFFFF"/>
          </a:solidFill>
          <a:ln w="5080">
            <a:solidFill>
              <a:srgbClr val="BFBFBF"/>
            </a:solidFill>
            <a:prstDash val="solid"/>
          </a:ln>
        </p:spPr>
      </p:sp>
      <p:sp>
        <p:nvSpPr>
          <p:cNvPr id="19" name="Shape 17"/>
          <p:cNvSpPr/>
          <p:nvPr/>
        </p:nvSpPr>
        <p:spPr>
          <a:xfrm>
            <a:off x="7406640" y="2148840"/>
            <a:ext cx="228600" cy="146304"/>
          </a:xfrm>
          <a:prstGeom prst="rect">
            <a:avLst/>
          </a:prstGeom>
          <a:solidFill>
            <a:srgbClr val="FFFFFF"/>
          </a:solidFill>
          <a:ln w="5080">
            <a:solidFill>
              <a:srgbClr val="BFBFBF"/>
            </a:solidFill>
            <a:prstDash val="solid"/>
          </a:ln>
        </p:spPr>
      </p:sp>
      <p:sp>
        <p:nvSpPr>
          <p:cNvPr id="20" name="Shape 18"/>
          <p:cNvSpPr/>
          <p:nvPr/>
        </p:nvSpPr>
        <p:spPr>
          <a:xfrm>
            <a:off x="7406640" y="2340864"/>
            <a:ext cx="228600" cy="146304"/>
          </a:xfrm>
          <a:prstGeom prst="rect">
            <a:avLst/>
          </a:prstGeom>
          <a:solidFill>
            <a:srgbClr val="FFFFFF"/>
          </a:solidFill>
          <a:ln w="5080">
            <a:solidFill>
              <a:srgbClr val="BFBFBF"/>
            </a:solidFill>
            <a:prstDash val="solid"/>
          </a:ln>
        </p:spPr>
      </p:sp>
      <p:sp>
        <p:nvSpPr>
          <p:cNvPr id="21" name="Shape 19"/>
          <p:cNvSpPr/>
          <p:nvPr/>
        </p:nvSpPr>
        <p:spPr>
          <a:xfrm>
            <a:off x="7726680" y="2148840"/>
            <a:ext cx="228600" cy="146304"/>
          </a:xfrm>
          <a:prstGeom prst="rect">
            <a:avLst/>
          </a:prstGeom>
          <a:solidFill>
            <a:srgbClr val="FFFFFF"/>
          </a:solidFill>
          <a:ln w="5080">
            <a:solidFill>
              <a:srgbClr val="BFBFBF"/>
            </a:solidFill>
            <a:prstDash val="solid"/>
          </a:ln>
        </p:spPr>
      </p:sp>
      <p:sp>
        <p:nvSpPr>
          <p:cNvPr id="22" name="Shape 20"/>
          <p:cNvSpPr/>
          <p:nvPr/>
        </p:nvSpPr>
        <p:spPr>
          <a:xfrm>
            <a:off x="7726680" y="2340864"/>
            <a:ext cx="228600" cy="146304"/>
          </a:xfrm>
          <a:prstGeom prst="rect">
            <a:avLst/>
          </a:prstGeom>
          <a:solidFill>
            <a:srgbClr val="FFFFFF"/>
          </a:solidFill>
          <a:ln w="5080">
            <a:solidFill>
              <a:srgbClr val="BFBFBF"/>
            </a:solidFill>
            <a:prstDash val="solid"/>
          </a:ln>
        </p:spPr>
      </p:sp>
      <p:sp>
        <p:nvSpPr>
          <p:cNvPr id="23" name="Shape 21"/>
          <p:cNvSpPr/>
          <p:nvPr/>
        </p:nvSpPr>
        <p:spPr>
          <a:xfrm>
            <a:off x="8046720" y="2148840"/>
            <a:ext cx="228600" cy="146304"/>
          </a:xfrm>
          <a:prstGeom prst="rect">
            <a:avLst/>
          </a:prstGeom>
          <a:solidFill>
            <a:srgbClr val="FFFFFF"/>
          </a:solidFill>
          <a:ln w="5080">
            <a:solidFill>
              <a:srgbClr val="BFBFBF"/>
            </a:solidFill>
            <a:prstDash val="solid"/>
          </a:ln>
        </p:spPr>
      </p:sp>
      <p:sp>
        <p:nvSpPr>
          <p:cNvPr id="24" name="Shape 22"/>
          <p:cNvSpPr/>
          <p:nvPr/>
        </p:nvSpPr>
        <p:spPr>
          <a:xfrm>
            <a:off x="8046720" y="2340864"/>
            <a:ext cx="228600" cy="146304"/>
          </a:xfrm>
          <a:prstGeom prst="rect">
            <a:avLst/>
          </a:prstGeom>
          <a:solidFill>
            <a:srgbClr val="FFFFFF"/>
          </a:solidFill>
          <a:ln w="5080">
            <a:solidFill>
              <a:srgbClr val="BFBFBF"/>
            </a:solidFill>
            <a:prstDash val="solid"/>
          </a:ln>
        </p:spPr>
      </p:sp>
      <p:sp>
        <p:nvSpPr>
          <p:cNvPr id="25" name="Shape 23"/>
          <p:cNvSpPr/>
          <p:nvPr/>
        </p:nvSpPr>
        <p:spPr>
          <a:xfrm>
            <a:off x="5943600" y="1874520"/>
            <a:ext cx="411480" cy="274320"/>
          </a:xfrm>
          <a:prstGeom prst="line">
            <a:avLst/>
          </a:prstGeom>
          <a:noFill/>
          <a:ln w="12700">
            <a:solidFill>
              <a:srgbClr val="595959"/>
            </a:solidFill>
            <a:prstDash val="dash"/>
          </a:ln>
        </p:spPr>
      </p:sp>
      <p:sp>
        <p:nvSpPr>
          <p:cNvPr id="26" name="Text 24"/>
          <p:cNvSpPr txBox="1"/>
          <p:nvPr/>
        </p:nvSpPr>
        <p:spPr>
          <a:xfrm>
            <a:off x="5120640" y="3474720"/>
            <a:ext cx="3520440" cy="868680"/>
          </a:xfrm>
          <a:prstGeom prst="rect">
            <a:avLst/>
          </a:prstGeom>
          <a:noFill/>
          <a:ln/>
        </p:spPr>
        <p:txBody>
          <a:bodyPr wrap="square" lIns="0" tIns="0" rIns="0" bIns="0" rtlCol="0" anchor="ctr"/>
          <a:lstStyle/>
          <a:p>
            <a:pPr algn="l" indent="0" marL="0">
              <a:buNone/>
            </a:pPr>
            <a:r>
              <a:rPr lang="en-US" sz="1050" i="1" dirty="0">
                <a:solidFill>
                  <a:srgbClr val="595959"/>
                </a:solidFill>
                <a:latin typeface="Times New Roman" pitchFamily="34" charset="0"/>
                <a:ea typeface="Times New Roman" pitchFamily="34" charset="-122"/>
                <a:cs typeface="Times New Roman" pitchFamily="34" charset="-120"/>
              </a:rPr>
              <a:t>The toolbar is summoned to the pointer rather than the pointer sent to the toolbar. Cost: it appears and disappears, so it can never be the only route to a command.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18</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Quick Access Toolbar: reclaiming a wasted edge</a:t>
            </a:r>
            <a:endParaRPr lang="en-US" sz="2800" dirty="0"/>
          </a:p>
        </p:txBody>
      </p:sp>
      <p:sp>
        <p:nvSpPr>
          <p:cNvPr id="5" name="Text 3"/>
          <p:cNvSpPr txBox="1"/>
          <p:nvPr/>
        </p:nvSpPr>
        <p:spPr>
          <a:xfrm>
            <a:off x="502920" y="1097280"/>
            <a:ext cx="4206240" cy="2103120"/>
          </a:xfrm>
          <a:prstGeom prst="rect">
            <a:avLst/>
          </a:prstGeom>
          <a:noFill/>
          <a:ln/>
        </p:spPr>
        <p:txBody>
          <a:bodyPr wrap="square" lIns="0" tIns="0" rIns="0" bIns="0" rtlCol="0" anchor="t"/>
          <a:lstStyle/>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Historically the top edge of the screen is used for the title bar. Having a title bar is probably necessary — but it is a huge waste of easily-targeted space.</a:t>
            </a:r>
            <a:endParaRPr lang="en-US" sz="1300" dirty="0"/>
          </a:p>
          <a:p>
            <a:pPr algn="l" indent="0" marL="0">
              <a:lnSpc>
                <a:spcPct val="115000"/>
              </a:lnSpc>
              <a:spcAft>
                <a:spcPts val="600"/>
              </a:spcAft>
              <a:buNone/>
            </a:pPr>
            <a:r>
              <a:rPr lang="en-US" sz="1300" dirty="0">
                <a:solidFill>
                  <a:srgbClr val="262626"/>
                </a:solidFill>
                <a:latin typeface="Times New Roman" pitchFamily="34" charset="0"/>
                <a:ea typeface="Times New Roman" pitchFamily="34" charset="-122"/>
                <a:cs typeface="Times New Roman" pitchFamily="34" charset="-120"/>
              </a:rPr>
              <a:t>So Microsoft placed the Quick Access Toolbar in the title bar by default: the commands you press most often sit on the one edge that was previously doing nothing but displaying a filename.</a:t>
            </a:r>
            <a:endParaRPr lang="en-US" sz="1300" dirty="0"/>
          </a:p>
        </p:txBody>
      </p:sp>
      <p:sp>
        <p:nvSpPr>
          <p:cNvPr id="6" name="Shape 4"/>
          <p:cNvSpPr/>
          <p:nvPr/>
        </p:nvSpPr>
        <p:spPr>
          <a:xfrm>
            <a:off x="502920" y="3337560"/>
            <a:ext cx="4206240" cy="1005840"/>
          </a:xfrm>
          <a:prstGeom prst="rect">
            <a:avLst/>
          </a:prstGeom>
          <a:solidFill>
            <a:srgbClr val="F2F2F2"/>
          </a:solidFill>
          <a:ln w="9525">
            <a:solidFill>
              <a:srgbClr val="BFBFBF"/>
            </a:solidFill>
            <a:prstDash val="solid"/>
          </a:ln>
        </p:spPr>
      </p:sp>
      <p:sp>
        <p:nvSpPr>
          <p:cNvPr id="7" name="Text 5"/>
          <p:cNvSpPr txBox="1"/>
          <p:nvPr/>
        </p:nvSpPr>
        <p:spPr>
          <a:xfrm>
            <a:off x="640080" y="3447288"/>
            <a:ext cx="3931920" cy="777240"/>
          </a:xfrm>
          <a:prstGeom prst="rect">
            <a:avLst/>
          </a:prstGeom>
          <a:noFill/>
          <a:ln/>
        </p:spPr>
        <p:txBody>
          <a:bodyPr wrap="square" lIns="0" tIns="0" rIns="0" bIns="0" rtlCol="0" anchor="t"/>
          <a:lstStyle/>
          <a:p>
            <a:pPr indent="0" marL="0">
              <a:lnSpc>
                <a:spcPct val="112000"/>
              </a:lnSpc>
              <a:buNone/>
            </a:pPr>
            <a:r>
              <a:rPr lang="en-US" sz="1200" dirty="0">
                <a:solidFill>
                  <a:srgbClr val="000000"/>
                </a:solidFill>
                <a:latin typeface="Times New Roman" pitchFamily="34" charset="0"/>
                <a:ea typeface="Times New Roman" pitchFamily="34" charset="-122"/>
                <a:cs typeface="Times New Roman" pitchFamily="34" charset="-120"/>
              </a:rPr>
              <a:t>Design question to carry away: which edges in your own interface are currently spent on decoration?</a:t>
            </a:r>
            <a:endParaRPr lang="en-US" sz="1200" dirty="0"/>
          </a:p>
        </p:txBody>
      </p:sp>
      <p:sp>
        <p:nvSpPr>
          <p:cNvPr id="8" name="Text 6"/>
          <p:cNvSpPr txBox="1"/>
          <p:nvPr/>
        </p:nvSpPr>
        <p:spPr>
          <a:xfrm>
            <a:off x="5029200" y="1097280"/>
            <a:ext cx="361188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Title bar doing nothing but naming the file</a:t>
            </a:r>
            <a:endParaRPr lang="en-US" sz="1100" dirty="0"/>
          </a:p>
        </p:txBody>
      </p:sp>
      <p:sp>
        <p:nvSpPr>
          <p:cNvPr id="9" name="Shape 7"/>
          <p:cNvSpPr/>
          <p:nvPr/>
        </p:nvSpPr>
        <p:spPr>
          <a:xfrm>
            <a:off x="5029200" y="1371600"/>
            <a:ext cx="3611880" cy="365760"/>
          </a:xfrm>
          <a:prstGeom prst="rect">
            <a:avLst/>
          </a:prstGeom>
          <a:solidFill>
            <a:srgbClr val="F2F2F2"/>
          </a:solidFill>
          <a:ln w="12700">
            <a:solidFill>
              <a:srgbClr val="404040"/>
            </a:solidFill>
            <a:prstDash val="solid"/>
          </a:ln>
        </p:spPr>
      </p:sp>
      <p:sp>
        <p:nvSpPr>
          <p:cNvPr id="10" name="Text 8"/>
          <p:cNvSpPr txBox="1"/>
          <p:nvPr/>
        </p:nvSpPr>
        <p:spPr>
          <a:xfrm>
            <a:off x="5029200" y="1371600"/>
            <a:ext cx="3611880" cy="365760"/>
          </a:xfrm>
          <a:prstGeom prst="rect">
            <a:avLst/>
          </a:prstGeom>
          <a:noFill/>
          <a:ln/>
        </p:spPr>
        <p:txBody>
          <a:bodyPr wrap="square" lIns="0" tIns="0" rIns="0" bIns="0" rtlCol="0" anchor="ctr"/>
          <a:lstStyle/>
          <a:p>
            <a:pPr algn="ctr" indent="0" marL="0">
              <a:buNone/>
            </a:pPr>
            <a:r>
              <a:rPr lang="en-US" sz="1000" dirty="0">
                <a:solidFill>
                  <a:srgbClr val="262626"/>
                </a:solidFill>
                <a:latin typeface="Times New Roman" pitchFamily="34" charset="0"/>
                <a:ea typeface="Times New Roman" pitchFamily="34" charset="-122"/>
                <a:cs typeface="Times New Roman" pitchFamily="34" charset="-120"/>
              </a:rPr>
              <a:t>report.docx  —  Word</a:t>
            </a:r>
            <a:endParaRPr lang="en-US" sz="1000" dirty="0"/>
          </a:p>
        </p:txBody>
      </p:sp>
      <p:sp>
        <p:nvSpPr>
          <p:cNvPr id="11" name="Text 9"/>
          <p:cNvSpPr txBox="1"/>
          <p:nvPr/>
        </p:nvSpPr>
        <p:spPr>
          <a:xfrm>
            <a:off x="5029200" y="1965960"/>
            <a:ext cx="3611880" cy="22860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Title bar carrying the most-used commands</a:t>
            </a:r>
            <a:endParaRPr lang="en-US" sz="1100" dirty="0"/>
          </a:p>
        </p:txBody>
      </p:sp>
      <p:sp>
        <p:nvSpPr>
          <p:cNvPr id="12" name="Shape 10"/>
          <p:cNvSpPr/>
          <p:nvPr/>
        </p:nvSpPr>
        <p:spPr>
          <a:xfrm>
            <a:off x="5029200" y="2240280"/>
            <a:ext cx="3611880" cy="365760"/>
          </a:xfrm>
          <a:prstGeom prst="rect">
            <a:avLst/>
          </a:prstGeom>
          <a:solidFill>
            <a:srgbClr val="F2F2F2"/>
          </a:solidFill>
          <a:ln w="12700">
            <a:solidFill>
              <a:srgbClr val="404040"/>
            </a:solidFill>
            <a:prstDash val="solid"/>
          </a:ln>
        </p:spPr>
      </p:sp>
      <p:sp>
        <p:nvSpPr>
          <p:cNvPr id="13" name="Shape 11"/>
          <p:cNvSpPr/>
          <p:nvPr/>
        </p:nvSpPr>
        <p:spPr>
          <a:xfrm>
            <a:off x="5102352" y="2276856"/>
            <a:ext cx="566928" cy="292608"/>
          </a:xfrm>
          <a:prstGeom prst="rect">
            <a:avLst/>
          </a:prstGeom>
          <a:solidFill>
            <a:srgbClr val="FFFFFF"/>
          </a:solidFill>
          <a:ln w="6350">
            <a:solidFill>
              <a:srgbClr val="BFBFBF"/>
            </a:solidFill>
            <a:prstDash val="solid"/>
          </a:ln>
        </p:spPr>
      </p:sp>
      <p:sp>
        <p:nvSpPr>
          <p:cNvPr id="14" name="Text 12"/>
          <p:cNvSpPr txBox="1"/>
          <p:nvPr/>
        </p:nvSpPr>
        <p:spPr>
          <a:xfrm>
            <a:off x="5102352" y="2276856"/>
            <a:ext cx="566928" cy="292608"/>
          </a:xfrm>
          <a:prstGeom prst="rect">
            <a:avLst/>
          </a:prstGeom>
          <a:noFill/>
          <a:ln/>
        </p:spPr>
        <p:txBody>
          <a:bodyPr wrap="square" lIns="0" tIns="0" rIns="0" bIns="0" rtlCol="0" anchor="ctr"/>
          <a:lstStyle/>
          <a:p>
            <a:pPr algn="ctr" indent="0" marL="0">
              <a:buNone/>
            </a:pPr>
            <a:r>
              <a:rPr lang="en-US" sz="900" dirty="0">
                <a:solidFill>
                  <a:srgbClr val="262626"/>
                </a:solidFill>
                <a:latin typeface="Times New Roman" pitchFamily="34" charset="0"/>
                <a:ea typeface="Times New Roman" pitchFamily="34" charset="-122"/>
                <a:cs typeface="Times New Roman" pitchFamily="34" charset="-120"/>
              </a:rPr>
              <a:t>Save</a:t>
            </a:r>
            <a:endParaRPr lang="en-US" sz="900" dirty="0"/>
          </a:p>
        </p:txBody>
      </p:sp>
      <p:sp>
        <p:nvSpPr>
          <p:cNvPr id="15" name="Shape 13"/>
          <p:cNvSpPr/>
          <p:nvPr/>
        </p:nvSpPr>
        <p:spPr>
          <a:xfrm>
            <a:off x="5724144" y="2276856"/>
            <a:ext cx="566928" cy="292608"/>
          </a:xfrm>
          <a:prstGeom prst="rect">
            <a:avLst/>
          </a:prstGeom>
          <a:solidFill>
            <a:srgbClr val="FFFFFF"/>
          </a:solidFill>
          <a:ln w="6350">
            <a:solidFill>
              <a:srgbClr val="BFBFBF"/>
            </a:solidFill>
            <a:prstDash val="solid"/>
          </a:ln>
        </p:spPr>
      </p:sp>
      <p:sp>
        <p:nvSpPr>
          <p:cNvPr id="16" name="Text 14"/>
          <p:cNvSpPr txBox="1"/>
          <p:nvPr/>
        </p:nvSpPr>
        <p:spPr>
          <a:xfrm>
            <a:off x="5724144" y="2276856"/>
            <a:ext cx="566928" cy="292608"/>
          </a:xfrm>
          <a:prstGeom prst="rect">
            <a:avLst/>
          </a:prstGeom>
          <a:noFill/>
          <a:ln/>
        </p:spPr>
        <p:txBody>
          <a:bodyPr wrap="square" lIns="0" tIns="0" rIns="0" bIns="0" rtlCol="0" anchor="ctr"/>
          <a:lstStyle/>
          <a:p>
            <a:pPr algn="ctr" indent="0" marL="0">
              <a:buNone/>
            </a:pPr>
            <a:r>
              <a:rPr lang="en-US" sz="900" dirty="0">
                <a:solidFill>
                  <a:srgbClr val="262626"/>
                </a:solidFill>
                <a:latin typeface="Times New Roman" pitchFamily="34" charset="0"/>
                <a:ea typeface="Times New Roman" pitchFamily="34" charset="-122"/>
                <a:cs typeface="Times New Roman" pitchFamily="34" charset="-120"/>
              </a:rPr>
              <a:t>Undo</a:t>
            </a:r>
            <a:endParaRPr lang="en-US" sz="900" dirty="0"/>
          </a:p>
        </p:txBody>
      </p:sp>
      <p:sp>
        <p:nvSpPr>
          <p:cNvPr id="17" name="Shape 15"/>
          <p:cNvSpPr/>
          <p:nvPr/>
        </p:nvSpPr>
        <p:spPr>
          <a:xfrm>
            <a:off x="6345936" y="2276856"/>
            <a:ext cx="566928" cy="292608"/>
          </a:xfrm>
          <a:prstGeom prst="rect">
            <a:avLst/>
          </a:prstGeom>
          <a:solidFill>
            <a:srgbClr val="FFFFFF"/>
          </a:solidFill>
          <a:ln w="6350">
            <a:solidFill>
              <a:srgbClr val="BFBFBF"/>
            </a:solidFill>
            <a:prstDash val="solid"/>
          </a:ln>
        </p:spPr>
      </p:sp>
      <p:sp>
        <p:nvSpPr>
          <p:cNvPr id="18" name="Text 16"/>
          <p:cNvSpPr txBox="1"/>
          <p:nvPr/>
        </p:nvSpPr>
        <p:spPr>
          <a:xfrm>
            <a:off x="6345936" y="2276856"/>
            <a:ext cx="566928" cy="292608"/>
          </a:xfrm>
          <a:prstGeom prst="rect">
            <a:avLst/>
          </a:prstGeom>
          <a:noFill/>
          <a:ln/>
        </p:spPr>
        <p:txBody>
          <a:bodyPr wrap="square" lIns="0" tIns="0" rIns="0" bIns="0" rtlCol="0" anchor="ctr"/>
          <a:lstStyle/>
          <a:p>
            <a:pPr algn="ctr" indent="0" marL="0">
              <a:buNone/>
            </a:pPr>
            <a:r>
              <a:rPr lang="en-US" sz="900" dirty="0">
                <a:solidFill>
                  <a:srgbClr val="262626"/>
                </a:solidFill>
                <a:latin typeface="Times New Roman" pitchFamily="34" charset="0"/>
                <a:ea typeface="Times New Roman" pitchFamily="34" charset="-122"/>
                <a:cs typeface="Times New Roman" pitchFamily="34" charset="-120"/>
              </a:rPr>
              <a:t>Redo</a:t>
            </a:r>
            <a:endParaRPr lang="en-US" sz="900" dirty="0"/>
          </a:p>
        </p:txBody>
      </p:sp>
      <p:sp>
        <p:nvSpPr>
          <p:cNvPr id="19" name="Shape 17"/>
          <p:cNvSpPr/>
          <p:nvPr/>
        </p:nvSpPr>
        <p:spPr>
          <a:xfrm>
            <a:off x="6967728" y="2276856"/>
            <a:ext cx="566928" cy="292608"/>
          </a:xfrm>
          <a:prstGeom prst="rect">
            <a:avLst/>
          </a:prstGeom>
          <a:solidFill>
            <a:srgbClr val="FFFFFF"/>
          </a:solidFill>
          <a:ln w="6350">
            <a:solidFill>
              <a:srgbClr val="BFBFBF"/>
            </a:solidFill>
            <a:prstDash val="solid"/>
          </a:ln>
        </p:spPr>
      </p:sp>
      <p:sp>
        <p:nvSpPr>
          <p:cNvPr id="20" name="Text 18"/>
          <p:cNvSpPr txBox="1"/>
          <p:nvPr/>
        </p:nvSpPr>
        <p:spPr>
          <a:xfrm>
            <a:off x="6967728" y="2276856"/>
            <a:ext cx="566928" cy="292608"/>
          </a:xfrm>
          <a:prstGeom prst="rect">
            <a:avLst/>
          </a:prstGeom>
          <a:noFill/>
          <a:ln/>
        </p:spPr>
        <p:txBody>
          <a:bodyPr wrap="square" lIns="0" tIns="0" rIns="0" bIns="0" rtlCol="0" anchor="ctr"/>
          <a:lstStyle/>
          <a:p>
            <a:pPr algn="ctr" indent="0" marL="0">
              <a:buNone/>
            </a:pPr>
            <a:r>
              <a:rPr lang="en-US" sz="900" dirty="0">
                <a:solidFill>
                  <a:srgbClr val="262626"/>
                </a:solidFill>
                <a:latin typeface="Times New Roman" pitchFamily="34" charset="0"/>
                <a:ea typeface="Times New Roman" pitchFamily="34" charset="-122"/>
                <a:cs typeface="Times New Roman" pitchFamily="34" charset="-120"/>
              </a:rPr>
              <a:t>Print</a:t>
            </a:r>
            <a:endParaRPr lang="en-US" sz="900" dirty="0"/>
          </a:p>
        </p:txBody>
      </p:sp>
      <p:sp>
        <p:nvSpPr>
          <p:cNvPr id="21" name="Text 19"/>
          <p:cNvSpPr txBox="1"/>
          <p:nvPr/>
        </p:nvSpPr>
        <p:spPr>
          <a:xfrm>
            <a:off x="7635240" y="2240280"/>
            <a:ext cx="960120" cy="365760"/>
          </a:xfrm>
          <a:prstGeom prst="rect">
            <a:avLst/>
          </a:prstGeom>
          <a:noFill/>
          <a:ln/>
        </p:spPr>
        <p:txBody>
          <a:bodyPr wrap="square" lIns="0" tIns="0" rIns="0" bIns="0" rtlCol="0" anchor="ctr"/>
          <a:lstStyle/>
          <a:p>
            <a:pPr algn="r" indent="0" marL="0">
              <a:buNone/>
            </a:pPr>
            <a:r>
              <a:rPr lang="en-US" sz="900" i="1" dirty="0">
                <a:solidFill>
                  <a:srgbClr val="595959"/>
                </a:solidFill>
                <a:latin typeface="Times New Roman" pitchFamily="34" charset="0"/>
                <a:ea typeface="Times New Roman" pitchFamily="34" charset="-122"/>
                <a:cs typeface="Times New Roman" pitchFamily="34" charset="-120"/>
              </a:rPr>
              <a:t>report.docx</a:t>
            </a:r>
            <a:endParaRPr lang="en-US" sz="900" dirty="0"/>
          </a:p>
        </p:txBody>
      </p:sp>
      <p:sp>
        <p:nvSpPr>
          <p:cNvPr id="22" name="Text 20"/>
          <p:cNvSpPr txBox="1"/>
          <p:nvPr/>
        </p:nvSpPr>
        <p:spPr>
          <a:xfrm>
            <a:off x="5029200" y="2788920"/>
            <a:ext cx="3611880" cy="1554480"/>
          </a:xfrm>
          <a:prstGeom prst="rect">
            <a:avLst/>
          </a:prstGeom>
          <a:noFill/>
          <a:ln/>
        </p:spPr>
        <p:txBody>
          <a:bodyPr wrap="square" lIns="0" tIns="0" rIns="0" bIns="0" rtlCol="0" anchor="ctr"/>
          <a:lstStyle/>
          <a:p>
            <a:pPr algn="l" indent="0" marL="0">
              <a:buNone/>
            </a:pPr>
            <a:r>
              <a:rPr lang="en-US" sz="1050" i="1" dirty="0">
                <a:solidFill>
                  <a:srgbClr val="595959"/>
                </a:solidFill>
                <a:latin typeface="Times New Roman" pitchFamily="34" charset="0"/>
                <a:ea typeface="Times New Roman" pitchFamily="34" charset="-122"/>
                <a:cs typeface="Times New Roman" pitchFamily="34" charset="-120"/>
              </a:rPr>
              <a:t>The same pixels, doing work. Note the constraint this creates: because the title bar is a fixed edge, the Quick Access Toolbar must stay in a fixed place — it is the opposite design choice from the Mini Toolbar, and it suits a different kind of command.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19</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The designer's toolkit, on one slide</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691640"/>
                <a:gridCol w="1600200"/>
                <a:gridCol w="2377440"/>
                <a:gridCol w="2560320"/>
              </a:tblGrid>
              <a:tr h="429768">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Strategy</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Mechanism</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Example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Times New Roman" pitchFamily="34" charset="0"/>
                          <a:ea typeface="Times New Roman" pitchFamily="34" charset="-122"/>
                          <a:cs typeface="Times New Roman" pitchFamily="34" charset="-120"/>
                        </a:rPr>
                        <a:t>What it costs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42976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Enlarge the control</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size ↑</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Ribbon buttons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Screen area</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Bring it to the pointer</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distance ↓</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Mini Toolbar, context menu</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Predictability; must be learnable elsewhere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Anchor it to an edge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size → ∞ on one axis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Taskbar, menu bar, QAT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One of four edges; limited supply</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Anchor it to a corner</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size → ∞ on both axes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Start button, hot corners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Only four exist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Group by approach axis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effective size ↑</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Wide, shallow menu rows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Constrains layout</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29768">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Separate dangerous controls</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distance ↑ deliberately</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Delete placed away from Save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262626"/>
                          </a:solidFill>
                          <a:latin typeface="Times New Roman" pitchFamily="34" charset="0"/>
                          <a:ea typeface="Times New Roman" pitchFamily="34" charset="-122"/>
                          <a:cs typeface="Times New Roman" pitchFamily="34" charset="-120"/>
                        </a:rPr>
                        <a:t>Slower — on purpose</a:t>
                      </a:r>
                      <a:endParaRPr lang="en-US" sz="1050" dirty="0">
                        <a:latin typeface="Times New Roman" charset="0"/>
                        <a:ea typeface="Times New Roman" charset="0"/>
                        <a:cs typeface="Times New Roman"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343400"/>
            <a:ext cx="8229600" cy="274320"/>
          </a:xfrm>
          <a:prstGeom prst="rect">
            <a:avLst/>
          </a:prstGeom>
          <a:noFill/>
          <a:ln/>
        </p:spPr>
        <p:txBody>
          <a:bodyPr wrap="square" lIns="0" tIns="0" rIns="0" bIns="0" rtlCol="0" anchor="ctr"/>
          <a:lstStyle/>
          <a:p>
            <a:pPr algn="l" indent="0" marL="0">
              <a:buNone/>
            </a:pPr>
            <a:r>
              <a:rPr lang="en-US" sz="1100" i="1" dirty="0">
                <a:solidFill>
                  <a:srgbClr val="595959"/>
                </a:solidFill>
                <a:latin typeface="Times New Roman" pitchFamily="34" charset="0"/>
                <a:ea typeface="Times New Roman" pitchFamily="34" charset="-122"/>
                <a:cs typeface="Times New Roman" pitchFamily="34" charset="-120"/>
              </a:rPr>
              <a:t>The last row matters: Fitts' Law also tells you how to make something slow, and sometimes slow is what safety requires.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20</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Where Fitts' Law needs care</a:t>
            </a:r>
            <a:endParaRPr lang="en-US" sz="2800" dirty="0"/>
          </a:p>
        </p:txBody>
      </p:sp>
      <p:sp>
        <p:nvSpPr>
          <p:cNvPr id="5" name="Text 3"/>
          <p:cNvSpPr txBox="1"/>
          <p:nvPr/>
        </p:nvSpPr>
        <p:spPr>
          <a:xfrm>
            <a:off x="502920" y="1143000"/>
            <a:ext cx="5394960" cy="3200400"/>
          </a:xfrm>
          <a:prstGeom prst="rect">
            <a:avLst/>
          </a:prstGeom>
          <a:noFill/>
          <a:ln/>
        </p:spPr>
        <p:txBody>
          <a:bodyPr wrap="square" lIns="0" tIns="0" rIns="0" bIns="0" rtlCol="0" anchor="t"/>
          <a:lstStyle/>
          <a:p>
            <a:pPr marL="152400" indent="-152400">
              <a:lnSpc>
                <a:spcPct val="110000"/>
              </a:lnSpc>
              <a:spcAft>
                <a:spcPts val="800"/>
              </a:spcAft>
              <a:buSzPct val="100000"/>
              <a:buChar char="•"/>
            </a:pPr>
            <a:r>
              <a:rPr lang="en-US" sz="1300" b="1" dirty="0">
                <a:solidFill>
                  <a:srgbClr val="262626"/>
                </a:solidFill>
                <a:latin typeface="Times New Roman" pitchFamily="34" charset="0"/>
                <a:ea typeface="Times New Roman" pitchFamily="34" charset="-122"/>
                <a:cs typeface="Times New Roman" pitchFamily="34" charset="-120"/>
              </a:rPr>
              <a:t>Touchscreens.</a:t>
            </a:r>
            <a:endParaRPr lang="en-US" sz="1300" dirty="0"/>
          </a:p>
          <a:p>
            <a:pPr lvl="1" indent="0" marL="0">
              <a:lnSpc>
                <a:spcPct val="110000"/>
              </a:lnSpc>
              <a:spcAft>
                <a:spcPts val="800"/>
              </a:spcAft>
              <a:buNone/>
            </a:pPr>
            <a:r>
              <a:rPr lang="en-US" sz="1100" dirty="0">
                <a:solidFill>
                  <a:srgbClr val="595959"/>
                </a:solidFill>
                <a:latin typeface="Times New Roman" pitchFamily="34" charset="0"/>
                <a:ea typeface="Times New Roman" pitchFamily="34" charset="-122"/>
                <a:cs typeface="Times New Roman" pitchFamily="34" charset="-120"/>
              </a:rPr>
              <a:t>The finger occludes the target and has no visible cursor, so the corrective phase works differently. Minimum touch-target sizes (roughly 7–9 mm) come from this, not from the formula alone.</a:t>
            </a:r>
            <a:endParaRPr lang="en-US" sz="1300" dirty="0"/>
          </a:p>
          <a:p>
            <a:pPr marL="152400" indent="-152400">
              <a:lnSpc>
                <a:spcPct val="110000"/>
              </a:lnSpc>
              <a:spcAft>
                <a:spcPts val="800"/>
              </a:spcAft>
              <a:buSzPct val="100000"/>
              <a:buChar char="•"/>
            </a:pPr>
            <a:r>
              <a:rPr lang="en-US" sz="1300" b="1" dirty="0">
                <a:solidFill>
                  <a:srgbClr val="262626"/>
                </a:solidFill>
                <a:latin typeface="Times New Roman" pitchFamily="34" charset="0"/>
                <a:ea typeface="Times New Roman" pitchFamily="34" charset="-122"/>
                <a:cs typeface="Times New Roman" pitchFamily="34" charset="-120"/>
              </a:rPr>
              <a:t>Steering, not pointing.</a:t>
            </a:r>
            <a:endParaRPr lang="en-US" sz="1300" dirty="0"/>
          </a:p>
          <a:p>
            <a:pPr lvl="1" indent="0" marL="0">
              <a:lnSpc>
                <a:spcPct val="110000"/>
              </a:lnSpc>
              <a:spcAft>
                <a:spcPts val="800"/>
              </a:spcAft>
              <a:buNone/>
            </a:pPr>
            <a:r>
              <a:rPr lang="en-US" sz="1100" dirty="0">
                <a:solidFill>
                  <a:srgbClr val="595959"/>
                </a:solidFill>
                <a:latin typeface="Times New Roman" pitchFamily="34" charset="0"/>
                <a:ea typeface="Times New Roman" pitchFamily="34" charset="-122"/>
                <a:cs typeface="Times New Roman" pitchFamily="34" charset="-120"/>
              </a:rPr>
              <a:t>Dragging along a narrow corridor — a cascading menu, a slider — follows the Steering Law instead, where the whole path width matters, not just the endpoint.</a:t>
            </a:r>
            <a:endParaRPr lang="en-US" sz="1300" dirty="0"/>
          </a:p>
          <a:p>
            <a:pPr marL="152400" indent="-152400">
              <a:lnSpc>
                <a:spcPct val="110000"/>
              </a:lnSpc>
              <a:spcAft>
                <a:spcPts val="800"/>
              </a:spcAft>
              <a:buSzPct val="100000"/>
              <a:buChar char="•"/>
            </a:pPr>
            <a:r>
              <a:rPr lang="en-US" sz="1300" b="1" dirty="0">
                <a:solidFill>
                  <a:srgbClr val="262626"/>
                </a:solidFill>
                <a:latin typeface="Times New Roman" pitchFamily="34" charset="0"/>
                <a:ea typeface="Times New Roman" pitchFamily="34" charset="-122"/>
                <a:cs typeface="Times New Roman" pitchFamily="34" charset="-120"/>
              </a:rPr>
              <a:t>Multiple candidate targets.</a:t>
            </a:r>
            <a:endParaRPr lang="en-US" sz="1300" dirty="0"/>
          </a:p>
          <a:p>
            <a:pPr lvl="1" indent="0" marL="0">
              <a:lnSpc>
                <a:spcPct val="110000"/>
              </a:lnSpc>
              <a:spcAft>
                <a:spcPts val="800"/>
              </a:spcAft>
              <a:buNone/>
            </a:pPr>
            <a:r>
              <a:rPr lang="en-US" sz="1100" dirty="0">
                <a:solidFill>
                  <a:srgbClr val="595959"/>
                </a:solidFill>
                <a:latin typeface="Times New Roman" pitchFamily="34" charset="0"/>
                <a:ea typeface="Times New Roman" pitchFamily="34" charset="-122"/>
                <a:cs typeface="Times New Roman" pitchFamily="34" charset="-120"/>
              </a:rPr>
              <a:t>In a dense toolbar the risk of hitting the neighbour matters as much as the time to reach the target. Speed and error rate trade off.</a:t>
            </a:r>
            <a:endParaRPr lang="en-US" sz="1300" dirty="0"/>
          </a:p>
          <a:p>
            <a:pPr marL="152400" indent="-152400">
              <a:lnSpc>
                <a:spcPct val="110000"/>
              </a:lnSpc>
              <a:spcAft>
                <a:spcPts val="800"/>
              </a:spcAft>
              <a:buSzPct val="100000"/>
              <a:buChar char="•"/>
            </a:pPr>
            <a:r>
              <a:rPr lang="en-US" sz="1300" b="1" dirty="0">
                <a:solidFill>
                  <a:srgbClr val="262626"/>
                </a:solidFill>
                <a:latin typeface="Times New Roman" pitchFamily="34" charset="0"/>
                <a:ea typeface="Times New Roman" pitchFamily="34" charset="-122"/>
                <a:cs typeface="Times New Roman" pitchFamily="34" charset="-120"/>
              </a:rPr>
              <a:t>Finding versus reaching.</a:t>
            </a:r>
            <a:endParaRPr lang="en-US" sz="1300" dirty="0"/>
          </a:p>
          <a:p>
            <a:pPr lvl="1" indent="0" marL="0">
              <a:lnSpc>
                <a:spcPct val="110000"/>
              </a:lnSpc>
              <a:spcAft>
                <a:spcPts val="800"/>
              </a:spcAft>
              <a:buNone/>
            </a:pPr>
            <a:r>
              <a:rPr lang="en-US" sz="1100" dirty="0">
                <a:solidFill>
                  <a:srgbClr val="595959"/>
                </a:solidFill>
                <a:latin typeface="Times New Roman" pitchFamily="34" charset="0"/>
                <a:ea typeface="Times New Roman" pitchFamily="34" charset="-122"/>
                <a:cs typeface="Times New Roman" pitchFamily="34" charset="-120"/>
              </a:rPr>
              <a:t>Fitts' Law measures the movement, not the search that precedes it. A large button nobody can find is not fast.</a:t>
            </a:r>
            <a:endParaRPr lang="en-US" sz="1300" dirty="0"/>
          </a:p>
        </p:txBody>
      </p:sp>
      <p:sp>
        <p:nvSpPr>
          <p:cNvPr id="6" name="Shape 4"/>
          <p:cNvSpPr/>
          <p:nvPr/>
        </p:nvSpPr>
        <p:spPr>
          <a:xfrm>
            <a:off x="6080760" y="1143000"/>
            <a:ext cx="2560320" cy="2926080"/>
          </a:xfrm>
          <a:prstGeom prst="rect">
            <a:avLst/>
          </a:prstGeom>
          <a:solidFill>
            <a:srgbClr val="F2F2F2"/>
          </a:solidFill>
          <a:ln w="9525">
            <a:solidFill>
              <a:srgbClr val="BFBFBF"/>
            </a:solidFill>
            <a:prstDash val="solid"/>
          </a:ln>
        </p:spPr>
      </p:sp>
      <p:sp>
        <p:nvSpPr>
          <p:cNvPr id="7" name="Text 5"/>
          <p:cNvSpPr txBox="1"/>
          <p:nvPr/>
        </p:nvSpPr>
        <p:spPr>
          <a:xfrm>
            <a:off x="6217920" y="1234440"/>
            <a:ext cx="228600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The honest summary</a:t>
            </a:r>
            <a:endParaRPr lang="en-US" sz="1400" dirty="0"/>
          </a:p>
        </p:txBody>
      </p:sp>
      <p:sp>
        <p:nvSpPr>
          <p:cNvPr id="8" name="Text 6"/>
          <p:cNvSpPr txBox="1"/>
          <p:nvPr/>
        </p:nvSpPr>
        <p:spPr>
          <a:xfrm>
            <a:off x="6217920" y="1581912"/>
            <a:ext cx="2286000" cy="2331720"/>
          </a:xfrm>
          <a:prstGeom prst="rect">
            <a:avLst/>
          </a:prstGeom>
          <a:noFill/>
          <a:ln/>
        </p:spPr>
        <p:txBody>
          <a:bodyPr wrap="square" lIns="0" tIns="0" rIns="0" bIns="0" rtlCol="0" anchor="t"/>
          <a:lstStyle/>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Fitts' Law is a strong, well-replicated account of aimed movement.</a:t>
            </a:r>
            <a:endParaRPr lang="en-US" sz="1100" dirty="0"/>
          </a:p>
          <a:p>
            <a:pPr indent="0" marL="0">
              <a:lnSpc>
                <a:spcPct val="112000"/>
              </a:lnSpc>
              <a:buNone/>
            </a:pP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It is not an account of attention, of search, or of understanding.</a:t>
            </a:r>
            <a:endParaRPr lang="en-US" sz="1100" dirty="0"/>
          </a:p>
          <a:p>
            <a:pPr indent="0" marL="0">
              <a:lnSpc>
                <a:spcPct val="112000"/>
              </a:lnSpc>
              <a:buNone/>
            </a:pPr>
            <a:endParaRPr lang="en-US" sz="1100" dirty="0"/>
          </a:p>
          <a:p>
            <a:pPr indent="0" marL="0">
              <a:lnSpc>
                <a:spcPct val="112000"/>
              </a:lnSpc>
              <a:buNone/>
            </a:pPr>
            <a:r>
              <a:rPr lang="en-US" sz="1100" dirty="0">
                <a:solidFill>
                  <a:srgbClr val="262626"/>
                </a:solidFill>
                <a:latin typeface="Times New Roman" pitchFamily="34" charset="0"/>
                <a:ea typeface="Times New Roman" pitchFamily="34" charset="-122"/>
                <a:cs typeface="Times New Roman" pitchFamily="34" charset="-120"/>
              </a:rPr>
              <a:t>Use it to settle questions about size and placement — and use the rest of Chapter 1 for everything else.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21</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A checklist you can apply this week</a:t>
            </a:r>
            <a:endParaRPr lang="en-US" sz="2800" dirty="0"/>
          </a:p>
        </p:txBody>
      </p:sp>
      <p:sp>
        <p:nvSpPr>
          <p:cNvPr id="5" name="Text 3"/>
          <p:cNvSpPr txBox="1"/>
          <p:nvPr/>
        </p:nvSpPr>
        <p:spPr>
          <a:xfrm>
            <a:off x="548640" y="1143000"/>
            <a:ext cx="8046720" cy="3017520"/>
          </a:xfrm>
          <a:prstGeom prst="rect">
            <a:avLst/>
          </a:prstGeom>
          <a:noFill/>
          <a:ln/>
        </p:spPr>
        <p:txBody>
          <a:bodyPr wrap="square" lIns="0" tIns="0" rIns="0" bIns="0" rtlCol="0" anchor="t"/>
          <a:lstStyle/>
          <a:p>
            <a:pPr marL="152400" indent="-152400">
              <a:lnSpc>
                <a:spcPct val="110000"/>
              </a:lnSpc>
              <a:spcAft>
                <a:spcPts val="1200"/>
              </a:spcAft>
              <a:buSzPct val="100000"/>
              <a:buChar char="•"/>
            </a:pPr>
            <a:r>
              <a:rPr lang="en-US" sz="1350" dirty="0">
                <a:solidFill>
                  <a:srgbClr val="262626"/>
                </a:solidFill>
                <a:latin typeface="Times New Roman" pitchFamily="34" charset="0"/>
                <a:ea typeface="Times New Roman" pitchFamily="34" charset="-122"/>
                <a:cs typeface="Times New Roman" pitchFamily="34" charset="-120"/>
              </a:rPr>
              <a:t>Which three controls does a user of my interface press most often? Are they the three largest or best-placed?</a:t>
            </a:r>
            <a:endParaRPr lang="en-US" sz="1350" dirty="0"/>
          </a:p>
          <a:p>
            <a:pPr marL="152400" indent="-152400">
              <a:lnSpc>
                <a:spcPct val="110000"/>
              </a:lnSpc>
              <a:spcAft>
                <a:spcPts val="1200"/>
              </a:spcAft>
              <a:buSzPct val="100000"/>
              <a:buChar char="•"/>
            </a:pPr>
            <a:r>
              <a:rPr lang="en-US" sz="1350" dirty="0">
                <a:solidFill>
                  <a:srgbClr val="262626"/>
                </a:solidFill>
                <a:latin typeface="Times New Roman" pitchFamily="34" charset="0"/>
                <a:ea typeface="Times New Roman" pitchFamily="34" charset="-122"/>
                <a:cs typeface="Times New Roman" pitchFamily="34" charset="-120"/>
              </a:rPr>
              <a:t>Does any frequently-used control sit one or two pixels away from an edge it could be flush against?</a:t>
            </a:r>
            <a:endParaRPr lang="en-US" sz="1350" dirty="0"/>
          </a:p>
          <a:p>
            <a:pPr marL="152400" indent="-152400">
              <a:lnSpc>
                <a:spcPct val="110000"/>
              </a:lnSpc>
              <a:spcAft>
                <a:spcPts val="1200"/>
              </a:spcAft>
              <a:buSzPct val="100000"/>
              <a:buChar char="•"/>
            </a:pPr>
            <a:r>
              <a:rPr lang="en-US" sz="1350" dirty="0">
                <a:solidFill>
                  <a:srgbClr val="262626"/>
                </a:solidFill>
                <a:latin typeface="Times New Roman" pitchFamily="34" charset="0"/>
                <a:ea typeface="Times New Roman" pitchFamily="34" charset="-122"/>
                <a:cs typeface="Times New Roman" pitchFamily="34" charset="-120"/>
              </a:rPr>
              <a:t>What occupies my four corners? Is it worth a corner?</a:t>
            </a:r>
            <a:endParaRPr lang="en-US" sz="1350" dirty="0"/>
          </a:p>
          <a:p>
            <a:pPr marL="152400" indent="-152400">
              <a:lnSpc>
                <a:spcPct val="110000"/>
              </a:lnSpc>
              <a:spcAft>
                <a:spcPts val="1200"/>
              </a:spcAft>
              <a:buSzPct val="100000"/>
              <a:buChar char="•"/>
            </a:pPr>
            <a:r>
              <a:rPr lang="en-US" sz="1350" dirty="0">
                <a:solidFill>
                  <a:srgbClr val="262626"/>
                </a:solidFill>
                <a:latin typeface="Times New Roman" pitchFamily="34" charset="0"/>
                <a:ea typeface="Times New Roman" pitchFamily="34" charset="-122"/>
                <a:cs typeface="Times New Roman" pitchFamily="34" charset="-120"/>
              </a:rPr>
              <a:t>Is the width of each control measured along the axis the pointer actually approaches from?</a:t>
            </a:r>
            <a:endParaRPr lang="en-US" sz="1350" dirty="0"/>
          </a:p>
          <a:p>
            <a:pPr marL="152400" indent="-152400">
              <a:lnSpc>
                <a:spcPct val="110000"/>
              </a:lnSpc>
              <a:spcAft>
                <a:spcPts val="1200"/>
              </a:spcAft>
              <a:buSzPct val="100000"/>
              <a:buChar char="•"/>
            </a:pPr>
            <a:r>
              <a:rPr lang="en-US" sz="1350" dirty="0">
                <a:solidFill>
                  <a:srgbClr val="262626"/>
                </a:solidFill>
                <a:latin typeface="Times New Roman" pitchFamily="34" charset="0"/>
                <a:ea typeface="Times New Roman" pitchFamily="34" charset="-122"/>
                <a:cs typeface="Times New Roman" pitchFamily="34" charset="-120"/>
              </a:rPr>
              <a:t>Are any two adjacent controls both frequent and irreversible? If so, separate them deliberately.</a:t>
            </a:r>
            <a:endParaRPr lang="en-US" sz="1350" dirty="0"/>
          </a:p>
          <a:p>
            <a:pPr marL="152400" indent="-152400">
              <a:lnSpc>
                <a:spcPct val="110000"/>
              </a:lnSpc>
              <a:spcAft>
                <a:spcPts val="1200"/>
              </a:spcAft>
              <a:buSzPct val="100000"/>
              <a:buChar char="•"/>
            </a:pPr>
            <a:r>
              <a:rPr lang="en-US" sz="1350" dirty="0">
                <a:solidFill>
                  <a:srgbClr val="262626"/>
                </a:solidFill>
                <a:latin typeface="Times New Roman" pitchFamily="34" charset="0"/>
                <a:ea typeface="Times New Roman" pitchFamily="34" charset="-122"/>
                <a:cs typeface="Times New Roman" pitchFamily="34" charset="-120"/>
              </a:rPr>
              <a:t>Where I have moved a control closer to the pointer, is there still a fixed, learnable place to find it?</a:t>
            </a:r>
            <a:endParaRPr lang="en-US" sz="1350" dirty="0"/>
          </a:p>
        </p:txBody>
      </p:sp>
      <p:sp>
        <p:nvSpPr>
          <p:cNvPr id="6" name="Shape 4"/>
          <p:cNvSpPr/>
          <p:nvPr/>
        </p:nvSpPr>
        <p:spPr>
          <a:xfrm>
            <a:off x="548640" y="4160520"/>
            <a:ext cx="8046720" cy="0"/>
          </a:xfrm>
          <a:prstGeom prst="line">
            <a:avLst/>
          </a:prstGeom>
          <a:noFill/>
          <a:ln w="12700">
            <a:solidFill>
              <a:srgbClr val="BFBFBF"/>
            </a:solidFill>
            <a:prstDash val="solid"/>
          </a:ln>
        </p:spPr>
      </p:sp>
      <p:sp>
        <p:nvSpPr>
          <p:cNvPr id="7" name="Text 5"/>
          <p:cNvSpPr txBox="1"/>
          <p:nvPr/>
        </p:nvSpPr>
        <p:spPr>
          <a:xfrm>
            <a:off x="548640" y="4224528"/>
            <a:ext cx="8046720" cy="320040"/>
          </a:xfrm>
          <a:prstGeom prst="rect">
            <a:avLst/>
          </a:prstGeom>
          <a:noFill/>
          <a:ln/>
        </p:spPr>
        <p:txBody>
          <a:bodyPr wrap="square" lIns="0" tIns="0" rIns="0" bIns="0" rtlCol="0" anchor="ctr"/>
          <a:lstStyle/>
          <a:p>
            <a:pPr algn="l" indent="0" marL="0">
              <a:buNone/>
            </a:pPr>
            <a:r>
              <a:rPr lang="en-US" sz="1150" i="1" dirty="0">
                <a:solidFill>
                  <a:srgbClr val="262626"/>
                </a:solidFill>
                <a:latin typeface="Times New Roman" pitchFamily="34" charset="0"/>
                <a:ea typeface="Times New Roman" pitchFamily="34" charset="-122"/>
                <a:cs typeface="Times New Roman" pitchFamily="34" charset="-120"/>
              </a:rPr>
              <a:t>Bring answers for one application you use daily to the lab session — you will measure it.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rgbClr val="8C8C8C"/>
                </a:solidFill>
                <a:latin typeface="Times New Roman" pitchFamily="34" charset="0"/>
                <a:ea typeface="Times New Roman" pitchFamily="34" charset="-122"/>
                <a:cs typeface="Times New Roman" pitchFamily="34" charset="-120"/>
              </a:rPr>
              <a:t>Human–Computer Interaction  ·  Week 1, Lecture 1  ·  Dix et al., Ch. 1 — design thoughts</a:t>
            </a:r>
            <a:endParaRPr lang="en-US" sz="900" dirty="0"/>
          </a:p>
        </p:txBody>
      </p:sp>
      <p:sp>
        <p:nvSpPr>
          <p:cNvPr id="3" name="Text 1"/>
          <p:cNvSpPr txBox="1"/>
          <p:nvPr/>
        </p:nvSpPr>
        <p:spPr>
          <a:xfrm>
            <a:off x="7772400" y="4754880"/>
            <a:ext cx="914400" cy="274320"/>
          </a:xfrm>
          <a:prstGeom prst="rect">
            <a:avLst/>
          </a:prstGeom>
          <a:noFill/>
          <a:ln/>
        </p:spPr>
        <p:txBody>
          <a:bodyPr wrap="square" lIns="0" tIns="0" rIns="0" bIns="0" rtlCol="0" anchor="ctr"/>
          <a:lstStyle/>
          <a:p>
            <a:pPr algn="r" indent="0" marL="0">
              <a:buNone/>
            </a:pPr>
            <a:r>
              <a:rPr lang="en-US" sz="900" dirty="0">
                <a:solidFill>
                  <a:srgbClr val="8C8C8C"/>
                </a:solidFill>
                <a:latin typeface="Times New Roman" pitchFamily="34" charset="0"/>
                <a:ea typeface="Times New Roman" pitchFamily="34" charset="-122"/>
                <a:cs typeface="Times New Roman" pitchFamily="34" charset="-120"/>
              </a:rPr>
              <a:t>22</a:t>
            </a:r>
            <a:endParaRPr lang="en-US" sz="900" dirty="0"/>
          </a:p>
        </p:txBody>
      </p:sp>
      <p:sp>
        <p:nvSpPr>
          <p:cNvPr id="4" name="Text 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rgbClr val="000000"/>
                </a:solidFill>
                <a:latin typeface="Times New Roman" pitchFamily="34" charset="0"/>
                <a:ea typeface="Times New Roman" pitchFamily="34" charset="-122"/>
                <a:cs typeface="Times New Roman" pitchFamily="34" charset="-120"/>
              </a:rPr>
              <a:t>Recap, and where we go next</a:t>
            </a:r>
            <a:endParaRPr lang="en-US" sz="2800" dirty="0"/>
          </a:p>
        </p:txBody>
      </p:sp>
      <p:sp>
        <p:nvSpPr>
          <p:cNvPr id="5" name="Shape 3"/>
          <p:cNvSpPr/>
          <p:nvPr/>
        </p:nvSpPr>
        <p:spPr>
          <a:xfrm>
            <a:off x="502920" y="1143000"/>
            <a:ext cx="3977640" cy="1874520"/>
          </a:xfrm>
          <a:prstGeom prst="rect">
            <a:avLst/>
          </a:prstGeom>
          <a:solidFill>
            <a:srgbClr val="F2F2F2"/>
          </a:solidFill>
          <a:ln w="9525">
            <a:solidFill>
              <a:srgbClr val="BFBFBF"/>
            </a:solidFill>
            <a:prstDash val="solid"/>
          </a:ln>
        </p:spPr>
      </p:sp>
      <p:sp>
        <p:nvSpPr>
          <p:cNvPr id="6" name="Text 4"/>
          <p:cNvSpPr txBox="1"/>
          <p:nvPr/>
        </p:nvSpPr>
        <p:spPr>
          <a:xfrm>
            <a:off x="640080" y="12344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Today</a:t>
            </a:r>
            <a:endParaRPr lang="en-US" sz="1400" dirty="0"/>
          </a:p>
        </p:txBody>
      </p:sp>
      <p:sp>
        <p:nvSpPr>
          <p:cNvPr id="7" name="Text 5"/>
          <p:cNvSpPr txBox="1"/>
          <p:nvPr/>
        </p:nvSpPr>
        <p:spPr>
          <a:xfrm>
            <a:off x="640080" y="1581912"/>
            <a:ext cx="3703320" cy="132588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Movement is ballistic then corrective; the law follows.</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MT = a + b · log₂(D/S + 1).</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Two levers: increase size, reduce distance.</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Edges and corners are free infinite targets.</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Real interfaces pull these levers on purpose.</a:t>
            </a:r>
            <a:endParaRPr lang="en-US" sz="1150" dirty="0"/>
          </a:p>
        </p:txBody>
      </p:sp>
      <p:sp>
        <p:nvSpPr>
          <p:cNvPr id="8" name="Shape 6"/>
          <p:cNvSpPr/>
          <p:nvPr/>
        </p:nvSpPr>
        <p:spPr>
          <a:xfrm>
            <a:off x="4663440" y="1143000"/>
            <a:ext cx="3977640" cy="1874520"/>
          </a:xfrm>
          <a:prstGeom prst="rect">
            <a:avLst/>
          </a:prstGeom>
          <a:solidFill>
            <a:srgbClr val="F2F2F2"/>
          </a:solidFill>
          <a:ln w="9525">
            <a:solidFill>
              <a:srgbClr val="BFBFBF"/>
            </a:solidFill>
            <a:prstDash val="solid"/>
          </a:ln>
        </p:spPr>
      </p:sp>
      <p:sp>
        <p:nvSpPr>
          <p:cNvPr id="9" name="Text 7"/>
          <p:cNvSpPr txBox="1"/>
          <p:nvPr/>
        </p:nvSpPr>
        <p:spPr>
          <a:xfrm>
            <a:off x="4800600" y="1234440"/>
            <a:ext cx="370332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Next lecture</a:t>
            </a:r>
            <a:endParaRPr lang="en-US" sz="1400" dirty="0"/>
          </a:p>
        </p:txBody>
      </p:sp>
      <p:sp>
        <p:nvSpPr>
          <p:cNvPr id="10" name="Text 8"/>
          <p:cNvSpPr txBox="1"/>
          <p:nvPr/>
        </p:nvSpPr>
        <p:spPr>
          <a:xfrm>
            <a:off x="4800600" y="1581912"/>
            <a:ext cx="3703320" cy="132588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The same question, asked of perception and memory.</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Why whitespace makes a block of text faster to read.</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Why an ATM used to keep your card.</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Why swapping two cockpit controls killed pilots.</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The Chapter 1 map, and your semantic-network task.</a:t>
            </a:r>
            <a:endParaRPr lang="en-US" sz="1150" dirty="0"/>
          </a:p>
        </p:txBody>
      </p:sp>
      <p:sp>
        <p:nvSpPr>
          <p:cNvPr id="11" name="Shape 9"/>
          <p:cNvSpPr/>
          <p:nvPr/>
        </p:nvSpPr>
        <p:spPr>
          <a:xfrm>
            <a:off x="502920" y="3200400"/>
            <a:ext cx="8138160" cy="1143000"/>
          </a:xfrm>
          <a:prstGeom prst="rect">
            <a:avLst/>
          </a:prstGeom>
          <a:solidFill>
            <a:srgbClr val="F2F2F2"/>
          </a:solidFill>
          <a:ln w="9525">
            <a:solidFill>
              <a:srgbClr val="BFBFBF"/>
            </a:solidFill>
            <a:prstDash val="solid"/>
          </a:ln>
        </p:spPr>
      </p:sp>
      <p:sp>
        <p:nvSpPr>
          <p:cNvPr id="12" name="Text 10"/>
          <p:cNvSpPr txBox="1"/>
          <p:nvPr/>
        </p:nvSpPr>
        <p:spPr>
          <a:xfrm>
            <a:off x="640080" y="3291840"/>
            <a:ext cx="7863840" cy="320040"/>
          </a:xfrm>
          <a:prstGeom prst="rect">
            <a:avLst/>
          </a:prstGeom>
          <a:noFill/>
          <a:ln/>
        </p:spPr>
        <p:txBody>
          <a:bodyPr wrap="square" lIns="0" tIns="0" rIns="0" bIns="0" rtlCol="0" anchor="ctr"/>
          <a:lstStyle/>
          <a:p>
            <a:pPr indent="0" marL="0">
              <a:buNone/>
            </a:pPr>
            <a:r>
              <a:rPr lang="en-US" sz="1400" b="1" dirty="0">
                <a:solidFill>
                  <a:srgbClr val="000000"/>
                </a:solidFill>
                <a:latin typeface="Times New Roman" pitchFamily="34" charset="0"/>
                <a:ea typeface="Times New Roman" pitchFamily="34" charset="-122"/>
                <a:cs typeface="Times New Roman" pitchFamily="34" charset="-120"/>
              </a:rPr>
              <a:t>To do before the lab</a:t>
            </a:r>
            <a:endParaRPr lang="en-US" sz="1400" dirty="0"/>
          </a:p>
        </p:txBody>
      </p:sp>
      <p:sp>
        <p:nvSpPr>
          <p:cNvPr id="13" name="Text 11"/>
          <p:cNvSpPr txBox="1"/>
          <p:nvPr/>
        </p:nvSpPr>
        <p:spPr>
          <a:xfrm>
            <a:off x="640080" y="3639312"/>
            <a:ext cx="7863840" cy="640080"/>
          </a:xfrm>
          <a:prstGeom prst="rect">
            <a:avLst/>
          </a:prstGeom>
          <a:noFill/>
          <a:ln/>
        </p:spPr>
        <p:txBody>
          <a:bodyPr wrap="square" lIns="0" tIns="0" rIns="0" bIns="0" rtlCol="0" anchor="t"/>
          <a:lstStyle/>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Read: Dix et al., Ch. 1 — the section on movement, including the Fitts' Law worked example.   ·   Skim: Tidwell, Designing Interfaces, the chapter on layout (for next lecture).</a:t>
            </a:r>
            <a:endParaRPr lang="en-US" sz="1150" dirty="0"/>
          </a:p>
          <a:p>
            <a:pPr indent="0" marL="0">
              <a:lnSpc>
                <a:spcPct val="112000"/>
              </a:lnSpc>
              <a:buNone/>
            </a:pPr>
            <a:r>
              <a:rPr lang="en-US" sz="1150" dirty="0">
                <a:solidFill>
                  <a:srgbClr val="262626"/>
                </a:solidFill>
                <a:latin typeface="Times New Roman" pitchFamily="34" charset="0"/>
                <a:ea typeface="Times New Roman" pitchFamily="34" charset="-122"/>
                <a:cs typeface="Times New Roman" pitchFamily="34" charset="-120"/>
              </a:rPr>
              <a:t>Bring: one application you use daily, and your answers to the checklist on the previous slide.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University of Engineering and Technology, Lahore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Human — Design Thoughts (I)</dc:title>
  <dc:subject>Fitts' Law and the motor channel</dc:subject>
  <dc:creator>Aliya Farooq</dc:creator>
  <cp:lastModifiedBy>Aliya Farooq</cp:lastModifiedBy>
  <cp:revision>1</cp:revision>
  <dcterms:created xsi:type="dcterms:W3CDTF">2026-09-15T19:37:11Z</dcterms:created>
  <dcterms:modified xsi:type="dcterms:W3CDTF">2026-09-15T19:37:11Z</dcterms:modified>
</cp:coreProperties>
</file>