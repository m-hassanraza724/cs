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trictFirstAndLastChars="0" saveSubsetFonts="1" autoCompressPictures="0">
  <p:sldMasterIdLst>
    <p:sldMasterId id="2147483648" r:id="rId1"/>
  </p:sldMasterIdLst>
  <p:notesMasterIdLst>
    <p:notesMasterId r:id="rId94"/>
  </p:notesMasterIdLst>
  <p:sldIdLst>
    <p:sldId id="342" r:id="rId2"/>
    <p:sldId id="409" r:id="rId99"/>
    <p:sldId id="344" r:id="rId3"/>
    <p:sldId id="345" r:id="rId4"/>
    <p:sldId id="410" r:id="rId100"/>
    <p:sldId id="343" r:id="rId5"/>
    <p:sldId id="277" r:id="rId6"/>
    <p:sldId id="411" r:id="rId101"/>
    <p:sldId id="412" r:id="rId102"/>
    <p:sldId id="278" r:id="rId7"/>
    <p:sldId id="279" r:id="rId8"/>
    <p:sldId id="346" r:id="rId9"/>
    <p:sldId id="413" r:id="rId103"/>
    <p:sldId id="414" r:id="rId104"/>
    <p:sldId id="347" r:id="rId10"/>
    <p:sldId id="281" r:id="rId11"/>
    <p:sldId id="348" r:id="rId12"/>
    <p:sldId id="349" r:id="rId13"/>
    <p:sldId id="415" r:id="rId105"/>
    <p:sldId id="416" r:id="rId106"/>
    <p:sldId id="383" r:id="rId14"/>
    <p:sldId id="350" r:id="rId15"/>
    <p:sldId id="280" r:id="rId16"/>
    <p:sldId id="289" r:id="rId17"/>
    <p:sldId id="290" r:id="rId18"/>
    <p:sldId id="351" r:id="rId19"/>
    <p:sldId id="417" r:id="rId107"/>
    <p:sldId id="418" r:id="rId108"/>
    <p:sldId id="354" r:id="rId20"/>
    <p:sldId id="285" r:id="rId21"/>
    <p:sldId id="286" r:id="rId22"/>
    <p:sldId id="287" r:id="rId23"/>
    <p:sldId id="288" r:id="rId24"/>
    <p:sldId id="293" r:id="rId25"/>
    <p:sldId id="353" r:id="rId26"/>
    <p:sldId id="352" r:id="rId27"/>
    <p:sldId id="419" r:id="rId109"/>
    <p:sldId id="420" r:id="rId110"/>
    <p:sldId id="384" r:id="rId28"/>
    <p:sldId id="355" r:id="rId29"/>
    <p:sldId id="357" r:id="rId30"/>
    <p:sldId id="359" r:id="rId31"/>
    <p:sldId id="380" r:id="rId32"/>
    <p:sldId id="421" r:id="rId111"/>
    <p:sldId id="422" r:id="rId112"/>
    <p:sldId id="360" r:id="rId33"/>
    <p:sldId id="362" r:id="rId34"/>
    <p:sldId id="364" r:id="rId35"/>
    <p:sldId id="365" r:id="rId36"/>
    <p:sldId id="366" r:id="rId37"/>
    <p:sldId id="367" r:id="rId38"/>
    <p:sldId id="363" r:id="rId39"/>
    <p:sldId id="393" r:id="rId40"/>
    <p:sldId id="423" r:id="rId113"/>
    <p:sldId id="424" r:id="rId114"/>
    <p:sldId id="394" r:id="rId41"/>
    <p:sldId id="381" r:id="rId42"/>
    <p:sldId id="369" r:id="rId43"/>
    <p:sldId id="370" r:id="rId44"/>
    <p:sldId id="371" r:id="rId45"/>
    <p:sldId id="382" r:id="rId46"/>
    <p:sldId id="425" r:id="rId115"/>
    <p:sldId id="426" r:id="rId116"/>
    <p:sldId id="372" r:id="rId47"/>
    <p:sldId id="395" r:id="rId48"/>
    <p:sldId id="373" r:id="rId49"/>
    <p:sldId id="374" r:id="rId50"/>
    <p:sldId id="427" r:id="rId117"/>
    <p:sldId id="428" r:id="rId118"/>
    <p:sldId id="376" r:id="rId51"/>
    <p:sldId id="377" r:id="rId52"/>
    <p:sldId id="429" r:id="rId119"/>
    <p:sldId id="430" r:id="rId120"/>
  </p:sldIdLst>
  <p:sldSz cx="9144000" cy="6858000" type="screen4x3"/>
  <p:notesSz cx="6858000" cy="9144000"/>
  <p:defaultTextStyle>
    <a:defPPr>
      <a:defRPr lang="en-GB"/>
    </a:defPPr>
    <a:lvl1pPr algn="l" rtl="0" eaLnBrk="0" fontAlgn="base" hangingPunct="0">
      <a:spcBef>
        <a:spcPct val="0"/>
      </a:spcBef>
      <a:spcAft>
        <a:spcPct val="0"/>
      </a:spcAft>
      <a:defRPr sz="2400" kern="1200">
        <a:solidFill>
          <a:schemeClr val="tx1"/>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22"/>
    <p:restoredTop sz="90929"/>
  </p:normalViewPr>
  <p:slideViewPr>
    <p:cSldViewPr>
      <p:cViewPr varScale="1">
        <p:scale>
          <a:sx n="123" d="100"/>
          <a:sy n="123" d="100"/>
        </p:scale>
        <p:origin x="1408"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4736"/>
    </p:cViewPr>
  </p:sorterViewPr>
  <p:gridSpacing cx="72008" cy="72008"/>
</p:viewPr>
</file>

<file path=ppt/_rels/presentation.xml.rels><?xml version="1.0" encoding="utf-8"?><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 Type="http://schemas.openxmlformats.org/officeDocument/2006/relationships/slide" Target="slides/slide4.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9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51" Type="http://schemas.openxmlformats.org/officeDocument/2006/relationships/slide" Target="slides/slide50.xml"/><Relationship Id="rId98" Type="http://schemas.openxmlformats.org/officeDocument/2006/relationships/tableStyles" Target="tableStyles.xml"/>  <Relationship Id="rId99" Type="http://schemas.openxmlformats.org/officeDocument/2006/relationships/slide" Target="slides/slide93.xml"/>
  <Relationship Id="rId100" Type="http://schemas.openxmlformats.org/officeDocument/2006/relationships/slide" Target="slides/slide94.xml"/>
  <Relationship Id="rId101" Type="http://schemas.openxmlformats.org/officeDocument/2006/relationships/slide" Target="slides/slide95.xml"/>
  <Relationship Id="rId102" Type="http://schemas.openxmlformats.org/officeDocument/2006/relationships/slide" Target="slides/slide96.xml"/>
  <Relationship Id="rId103" Type="http://schemas.openxmlformats.org/officeDocument/2006/relationships/slide" Target="slides/slide97.xml"/>
  <Relationship Id="rId104" Type="http://schemas.openxmlformats.org/officeDocument/2006/relationships/slide" Target="slides/slide98.xml"/>
  <Relationship Id="rId105" Type="http://schemas.openxmlformats.org/officeDocument/2006/relationships/slide" Target="slides/slide99.xml"/>
  <Relationship Id="rId106" Type="http://schemas.openxmlformats.org/officeDocument/2006/relationships/slide" Target="slides/slide100.xml"/>
  <Relationship Id="rId107" Type="http://schemas.openxmlformats.org/officeDocument/2006/relationships/slide" Target="slides/slide101.xml"/>
  <Relationship Id="rId108" Type="http://schemas.openxmlformats.org/officeDocument/2006/relationships/slide" Target="slides/slide102.xml"/>
  <Relationship Id="rId109" Type="http://schemas.openxmlformats.org/officeDocument/2006/relationships/slide" Target="slides/slide103.xml"/>
  <Relationship Id="rId110" Type="http://schemas.openxmlformats.org/officeDocument/2006/relationships/slide" Target="slides/slide104.xml"/>
  <Relationship Id="rId111" Type="http://schemas.openxmlformats.org/officeDocument/2006/relationships/slide" Target="slides/slide105.xml"/>
  <Relationship Id="rId112" Type="http://schemas.openxmlformats.org/officeDocument/2006/relationships/slide" Target="slides/slide106.xml"/>
  <Relationship Id="rId113" Type="http://schemas.openxmlformats.org/officeDocument/2006/relationships/slide" Target="slides/slide107.xml"/>
  <Relationship Id="rId114" Type="http://schemas.openxmlformats.org/officeDocument/2006/relationships/slide" Target="slides/slide108.xml"/>
  <Relationship Id="rId115" Type="http://schemas.openxmlformats.org/officeDocument/2006/relationships/slide" Target="slides/slide109.xml"/>
  <Relationship Id="rId116" Type="http://schemas.openxmlformats.org/officeDocument/2006/relationships/slide" Target="slides/slide110.xml"/>
  <Relationship Id="rId117" Type="http://schemas.openxmlformats.org/officeDocument/2006/relationships/slide" Target="slides/slide111.xml"/>
  <Relationship Id="rId118" Type="http://schemas.openxmlformats.org/officeDocument/2006/relationships/slide" Target="slides/slide112.xml"/>
  <Relationship Id="rId119" Type="http://schemas.openxmlformats.org/officeDocument/2006/relationships/slide" Target="slides/slide113.xml"/>
  <Relationship Id="rId120" Type="http://schemas.openxmlformats.org/officeDocument/2006/relationships/slide" Target="slides/slide114.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4D09E35C-8BC6-9CCD-D597-B8011301965A}"/>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GB" altLang="en-US"/>
          </a:p>
        </p:txBody>
      </p:sp>
      <p:sp>
        <p:nvSpPr>
          <p:cNvPr id="8195" name="Rectangle 3">
            <a:extLst>
              <a:ext uri="{FF2B5EF4-FFF2-40B4-BE49-F238E27FC236}">
                <a16:creationId xmlns:a16="http://schemas.microsoft.com/office/drawing/2014/main" id="{6345AC56-93C6-9FA8-D9B1-BFF571855565}"/>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GB" altLang="en-US"/>
          </a:p>
        </p:txBody>
      </p:sp>
      <p:sp>
        <p:nvSpPr>
          <p:cNvPr id="8196" name="Rectangle 4">
            <a:extLst>
              <a:ext uri="{FF2B5EF4-FFF2-40B4-BE49-F238E27FC236}">
                <a16:creationId xmlns:a16="http://schemas.microsoft.com/office/drawing/2014/main" id="{34CFC02C-4187-3AEC-CD17-DD0D3018061C}"/>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7" name="Rectangle 5">
            <a:extLst>
              <a:ext uri="{FF2B5EF4-FFF2-40B4-BE49-F238E27FC236}">
                <a16:creationId xmlns:a16="http://schemas.microsoft.com/office/drawing/2014/main" id="{2DE5E29F-D63E-BBE0-DDCD-C6631D5DA5B8}"/>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8198" name="Rectangle 6">
            <a:extLst>
              <a:ext uri="{FF2B5EF4-FFF2-40B4-BE49-F238E27FC236}">
                <a16:creationId xmlns:a16="http://schemas.microsoft.com/office/drawing/2014/main" id="{0F2BF200-8E51-ED05-ECED-234FF9C93A09}"/>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GB" altLang="en-US"/>
          </a:p>
        </p:txBody>
      </p:sp>
      <p:sp>
        <p:nvSpPr>
          <p:cNvPr id="8199" name="Rectangle 7">
            <a:extLst>
              <a:ext uri="{FF2B5EF4-FFF2-40B4-BE49-F238E27FC236}">
                <a16:creationId xmlns:a16="http://schemas.microsoft.com/office/drawing/2014/main" id="{F9C10023-8FAA-D4B9-3258-4FC8F838D907}"/>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A67648EC-9FE6-5740-89BD-C5D960BEABA9}"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charset="0"/>
        <a:ea typeface="+mn-ea"/>
        <a:cs typeface="+mn-cs"/>
      </a:defRPr>
    </a:lvl1pPr>
    <a:lvl2pPr marL="457200" algn="l" rtl="0" fontAlgn="base">
      <a:spcBef>
        <a:spcPct val="30000"/>
      </a:spcBef>
      <a:spcAft>
        <a:spcPct val="0"/>
      </a:spcAft>
      <a:defRPr sz="1200" kern="1200">
        <a:solidFill>
          <a:schemeClr val="tx1"/>
        </a:solidFill>
        <a:latin typeface="Times" charset="0"/>
        <a:ea typeface="+mn-ea"/>
        <a:cs typeface="+mn-cs"/>
      </a:defRPr>
    </a:lvl2pPr>
    <a:lvl3pPr marL="914400" algn="l" rtl="0" fontAlgn="base">
      <a:spcBef>
        <a:spcPct val="30000"/>
      </a:spcBef>
      <a:spcAft>
        <a:spcPct val="0"/>
      </a:spcAft>
      <a:defRPr sz="1200" kern="1200">
        <a:solidFill>
          <a:schemeClr val="tx1"/>
        </a:solidFill>
        <a:latin typeface="Times" charset="0"/>
        <a:ea typeface="+mn-ea"/>
        <a:cs typeface="+mn-cs"/>
      </a:defRPr>
    </a:lvl3pPr>
    <a:lvl4pPr marL="1371600" algn="l" rtl="0" fontAlgn="base">
      <a:spcBef>
        <a:spcPct val="30000"/>
      </a:spcBef>
      <a:spcAft>
        <a:spcPct val="0"/>
      </a:spcAft>
      <a:defRPr sz="1200" kern="1200">
        <a:solidFill>
          <a:schemeClr val="tx1"/>
        </a:solidFill>
        <a:latin typeface="Times" charset="0"/>
        <a:ea typeface="+mn-ea"/>
        <a:cs typeface="+mn-cs"/>
      </a:defRPr>
    </a:lvl4pPr>
    <a:lvl5pPr marL="1828800" algn="l" rtl="0" fontAlgn="base">
      <a:spcBef>
        <a:spcPct val="30000"/>
      </a:spcBef>
      <a:spcAft>
        <a:spcPct val="0"/>
      </a:spcAft>
      <a:defRPr sz="1200" kern="1200">
        <a:solidFill>
          <a:schemeClr val="tx1"/>
        </a:solidFill>
        <a:latin typeface="Times"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F05D22B-89DF-2FB1-2287-68CE3DF25CB7}"/>
              </a:ext>
            </a:extLst>
          </p:cNvPr>
          <p:cNvSpPr>
            <a:spLocks noGrp="1" noChangeArrowheads="1"/>
          </p:cNvSpPr>
          <p:nvPr>
            <p:ph type="sldNum" sz="quarter" idx="5"/>
          </p:nvPr>
        </p:nvSpPr>
        <p:spPr>
          <a:ln/>
        </p:spPr>
        <p:txBody>
          <a:bodyPr/>
          <a:lstStyle/>
          <a:p>
            <a:fld id="{E64B9735-9C68-5145-BF94-4B8081810185}" type="slidenum">
              <a:rPr lang="en-GB" altLang="en-US"/>
              <a:pPr/>
              <a:t>5</a:t>
            </a:fld>
            <a:endParaRPr lang="en-GB" altLang="en-US"/>
          </a:p>
        </p:txBody>
      </p:sp>
      <p:sp>
        <p:nvSpPr>
          <p:cNvPr id="30722" name="Rectangle 2">
            <a:extLst>
              <a:ext uri="{FF2B5EF4-FFF2-40B4-BE49-F238E27FC236}">
                <a16:creationId xmlns:a16="http://schemas.microsoft.com/office/drawing/2014/main" id="{57DF66A3-64FE-2B49-1516-5D53096FAA79}"/>
              </a:ext>
            </a:extLst>
          </p:cNvPr>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0723" name="Rectangle 3">
            <a:extLst>
              <a:ext uri="{FF2B5EF4-FFF2-40B4-BE49-F238E27FC236}">
                <a16:creationId xmlns:a16="http://schemas.microsoft.com/office/drawing/2014/main" id="{71D244F0-48FC-BE0B-7C64-1D8CF8292726}"/>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E8CB0D6-040C-1608-AA86-7BAB4DF9D95A}"/>
              </a:ext>
            </a:extLst>
          </p:cNvPr>
          <p:cNvSpPr>
            <a:spLocks noGrp="1" noChangeArrowheads="1"/>
          </p:cNvSpPr>
          <p:nvPr>
            <p:ph type="sldNum" sz="quarter" idx="5"/>
          </p:nvPr>
        </p:nvSpPr>
        <p:spPr>
          <a:ln/>
        </p:spPr>
        <p:txBody>
          <a:bodyPr/>
          <a:lstStyle/>
          <a:p>
            <a:fld id="{8F4DD80F-B0A3-7944-9404-08C00D8B20C6}" type="slidenum">
              <a:rPr lang="en-GB" altLang="en-US"/>
              <a:pPr/>
              <a:t>6</a:t>
            </a:fld>
            <a:endParaRPr lang="en-GB" altLang="en-US"/>
          </a:p>
        </p:txBody>
      </p:sp>
      <p:sp>
        <p:nvSpPr>
          <p:cNvPr id="32770" name="Rectangle 2">
            <a:extLst>
              <a:ext uri="{FF2B5EF4-FFF2-40B4-BE49-F238E27FC236}">
                <a16:creationId xmlns:a16="http://schemas.microsoft.com/office/drawing/2014/main" id="{7FF7ED5C-7A47-2598-A925-D4281373B1BC}"/>
              </a:ext>
            </a:extLst>
          </p:cNvPr>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2771" name="Rectangle 3">
            <a:extLst>
              <a:ext uri="{FF2B5EF4-FFF2-40B4-BE49-F238E27FC236}">
                <a16:creationId xmlns:a16="http://schemas.microsoft.com/office/drawing/2014/main" id="{6A4F4C19-67A4-8BF1-91AA-BEB1F7CA041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714D9C0-81C4-D764-9B9E-41737E874600}"/>
              </a:ext>
            </a:extLst>
          </p:cNvPr>
          <p:cNvSpPr>
            <a:spLocks noGrp="1" noChangeArrowheads="1"/>
          </p:cNvSpPr>
          <p:nvPr>
            <p:ph type="sldNum" sz="quarter" idx="5"/>
          </p:nvPr>
        </p:nvSpPr>
        <p:spPr>
          <a:ln/>
        </p:spPr>
        <p:txBody>
          <a:bodyPr/>
          <a:lstStyle/>
          <a:p>
            <a:fld id="{CD402FC0-7B6C-2F43-9E73-05DC7D4844E4}" type="slidenum">
              <a:rPr lang="en-GB" altLang="en-US"/>
              <a:pPr/>
              <a:t>7</a:t>
            </a:fld>
            <a:endParaRPr lang="en-GB" altLang="en-US"/>
          </a:p>
        </p:txBody>
      </p:sp>
      <p:sp>
        <p:nvSpPr>
          <p:cNvPr id="34818" name="Rectangle 2">
            <a:extLst>
              <a:ext uri="{FF2B5EF4-FFF2-40B4-BE49-F238E27FC236}">
                <a16:creationId xmlns:a16="http://schemas.microsoft.com/office/drawing/2014/main" id="{A6E1F437-B543-17C3-42B5-8699E4973531}"/>
              </a:ext>
            </a:extLst>
          </p:cNvPr>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4819" name="Rectangle 3">
            <a:extLst>
              <a:ext uri="{FF2B5EF4-FFF2-40B4-BE49-F238E27FC236}">
                <a16:creationId xmlns:a16="http://schemas.microsoft.com/office/drawing/2014/main" id="{D6F71F14-D23C-064E-23CA-438AFA7C8B35}"/>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C25ED4E-AD21-7237-E954-17C3E5467DFE}"/>
              </a:ext>
            </a:extLst>
          </p:cNvPr>
          <p:cNvSpPr>
            <a:spLocks noGrp="1" noChangeArrowheads="1"/>
          </p:cNvSpPr>
          <p:nvPr>
            <p:ph type="sldNum" sz="quarter" idx="5"/>
          </p:nvPr>
        </p:nvSpPr>
        <p:spPr>
          <a:ln/>
        </p:spPr>
        <p:txBody>
          <a:bodyPr/>
          <a:lstStyle/>
          <a:p>
            <a:fld id="{5DE3632F-523C-E945-824E-1B1444CD8F88}" type="slidenum">
              <a:rPr lang="en-GB" altLang="en-US"/>
              <a:pPr/>
              <a:t>20</a:t>
            </a:fld>
            <a:endParaRPr lang="en-GB" altLang="en-US"/>
          </a:p>
        </p:txBody>
      </p:sp>
      <p:sp>
        <p:nvSpPr>
          <p:cNvPr id="41986" name="Rectangle 2">
            <a:extLst>
              <a:ext uri="{FF2B5EF4-FFF2-40B4-BE49-F238E27FC236}">
                <a16:creationId xmlns:a16="http://schemas.microsoft.com/office/drawing/2014/main" id="{0DBF0274-EFA6-741B-155D-9BA3F044C2EF}"/>
              </a:ext>
            </a:extLst>
          </p:cNvPr>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1987" name="Rectangle 3">
            <a:extLst>
              <a:ext uri="{FF2B5EF4-FFF2-40B4-BE49-F238E27FC236}">
                <a16:creationId xmlns:a16="http://schemas.microsoft.com/office/drawing/2014/main" id="{E6DC8A4C-1CAF-EFD7-4E3F-B01E523AB23B}"/>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8D81910-592E-A780-A2DD-595FE4A5E10D}"/>
              </a:ext>
            </a:extLst>
          </p:cNvPr>
          <p:cNvSpPr>
            <a:spLocks noGrp="1" noChangeArrowheads="1"/>
          </p:cNvSpPr>
          <p:nvPr>
            <p:ph type="sldNum" sz="quarter" idx="5"/>
          </p:nvPr>
        </p:nvSpPr>
        <p:spPr>
          <a:ln/>
        </p:spPr>
        <p:txBody>
          <a:bodyPr/>
          <a:lstStyle/>
          <a:p>
            <a:fld id="{AF3217C3-3764-794E-8C54-022F3D334827}" type="slidenum">
              <a:rPr lang="en-GB" altLang="en-US"/>
              <a:pPr/>
              <a:t>33</a:t>
            </a:fld>
            <a:endParaRPr lang="en-GB" altLang="en-US"/>
          </a:p>
        </p:txBody>
      </p:sp>
      <p:sp>
        <p:nvSpPr>
          <p:cNvPr id="125954" name="Rectangle 2">
            <a:extLst>
              <a:ext uri="{FF2B5EF4-FFF2-40B4-BE49-F238E27FC236}">
                <a16:creationId xmlns:a16="http://schemas.microsoft.com/office/drawing/2014/main" id="{C7E5015C-A891-5326-503A-CE9D908BB96E}"/>
              </a:ext>
            </a:extLst>
          </p:cNvPr>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5955" name="Rectangle 3">
            <a:extLst>
              <a:ext uri="{FF2B5EF4-FFF2-40B4-BE49-F238E27FC236}">
                <a16:creationId xmlns:a16="http://schemas.microsoft.com/office/drawing/2014/main" id="{3FD0A673-CAED-DF5A-DB41-B9CDC4FE553E}"/>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BDE8D58-48FB-ED35-686B-B16284AE9E85}"/>
              </a:ext>
            </a:extLst>
          </p:cNvPr>
          <p:cNvSpPr>
            <a:spLocks noGrp="1" noChangeArrowheads="1"/>
          </p:cNvSpPr>
          <p:nvPr>
            <p:ph type="sldNum" sz="quarter" idx="5"/>
          </p:nvPr>
        </p:nvSpPr>
        <p:spPr>
          <a:ln/>
        </p:spPr>
        <p:txBody>
          <a:bodyPr/>
          <a:lstStyle/>
          <a:p>
            <a:fld id="{492BA6E2-167E-9A4B-A689-974C7C3DDAC2}" type="slidenum">
              <a:rPr lang="en-GB" altLang="en-US"/>
              <a:pPr/>
              <a:t>42</a:t>
            </a:fld>
            <a:endParaRPr lang="en-GB" altLang="en-US"/>
          </a:p>
        </p:txBody>
      </p:sp>
      <p:sp>
        <p:nvSpPr>
          <p:cNvPr id="134146" name="Rectangle 2">
            <a:extLst>
              <a:ext uri="{FF2B5EF4-FFF2-40B4-BE49-F238E27FC236}">
                <a16:creationId xmlns:a16="http://schemas.microsoft.com/office/drawing/2014/main" id="{4E7DAD82-487C-525C-A3A2-A0A5C32B6A2D}"/>
              </a:ext>
            </a:extLst>
          </p:cNvPr>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34147" name="Rectangle 3">
            <a:extLst>
              <a:ext uri="{FF2B5EF4-FFF2-40B4-BE49-F238E27FC236}">
                <a16:creationId xmlns:a16="http://schemas.microsoft.com/office/drawing/2014/main" id="{F56FEAE7-6D36-6D45-529B-B1ECB0129E09}"/>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8B513B0-30D0-91B2-3A5A-E14619D4DDA7}"/>
              </a:ext>
            </a:extLst>
          </p:cNvPr>
          <p:cNvSpPr>
            <a:spLocks noGrp="1" noChangeArrowheads="1"/>
          </p:cNvSpPr>
          <p:nvPr>
            <p:ph type="sldNum" sz="quarter" idx="5"/>
          </p:nvPr>
        </p:nvSpPr>
        <p:spPr>
          <a:ln/>
        </p:spPr>
        <p:txBody>
          <a:bodyPr/>
          <a:lstStyle/>
          <a:p>
            <a:fld id="{A0C9E377-A3F7-094A-9C99-F10B54CDD52F}" type="slidenum">
              <a:rPr lang="en-GB" altLang="en-US"/>
              <a:pPr/>
              <a:t>50</a:t>
            </a:fld>
            <a:endParaRPr lang="en-GB" altLang="en-US"/>
          </a:p>
        </p:txBody>
      </p:sp>
      <p:sp>
        <p:nvSpPr>
          <p:cNvPr id="142338" name="Rectangle 2">
            <a:extLst>
              <a:ext uri="{FF2B5EF4-FFF2-40B4-BE49-F238E27FC236}">
                <a16:creationId xmlns:a16="http://schemas.microsoft.com/office/drawing/2014/main" id="{DBEE6FA7-298A-4EEA-BF22-0BA1BD2B6142}"/>
              </a:ext>
            </a:extLst>
          </p:cNvPr>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42339" name="Rectangle 3">
            <a:extLst>
              <a:ext uri="{FF2B5EF4-FFF2-40B4-BE49-F238E27FC236}">
                <a16:creationId xmlns:a16="http://schemas.microsoft.com/office/drawing/2014/main" id="{52B2A8C0-1D90-243E-FE58-855ABD6ABA56}"/>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Spend 30 seconds here. Point at the five badges: every activity slide carries one in the top-left corner.</a:t>
            </a:r>
          </a:p>
          <a:p>
            <a:r>
              <a:rPr lang="en-GB" dirty="0"/>
              <a:t>Today has 11 activities. Two are marked optional (Five days, five fixes; Draw the ATM). Drop those first if the clock runs.</a:t>
            </a:r>
          </a:p>
          <a:p>
            <a:r>
              <a:rPr lang="en-GB" dirty="0"/>
              <a:t>Ground rule: in a POLL everyone votes, even if unsure — a split vote is information, not failure.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THINK-PAIR-SHARE, 3 minutes. Run it straight after the Dix stapler slide.</a:t>
            </a:r>
          </a:p>
          <a:p>
            <a:r>
              <a:rPr lang="en-GB" dirty="0"/>
              <a:t>1 minute alone: write one change that is NOT about the screen. 2 minutes in pairs. Then take 3–4 answers.</a:t>
            </a:r>
          </a:p>
          <a:p>
            <a:r>
              <a:rPr lang="en-GB" dirty="0"/>
              <a:t>Typical answers: submissions bunch up just before midnight; no queue at the office; a time-stamped receipt replaces the register; printing cost disappears; a similarity check changes how students write; the teacher marks on screen; a failed upload at 11:59 is a new kind of disaster.</a:t>
            </a:r>
          </a:p>
          <a:p>
            <a:r>
              <a:rPr lang="en-GB" dirty="0"/>
              <a:t>Land the point: the designers of the LMS did not just design an upload button — they changed when, where and how students work. That is an intervention, and it includes the help pages, the deadline policy and what the teacher says in class.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QUIZ, 2 minutes. Students write G, C or T next to a–f on paper.</a:t>
            </a:r>
          </a:p>
          <a:p>
            <a:r>
              <a:rPr lang="en-GB" dirty="0"/>
              <a:t>Remind them of the Dix slide: goals = purpose (who is it for, why do they want it); constraints = materials, platforms; trade-offs.</a:t>
            </a:r>
          </a:p>
          <a:p>
            <a:r>
              <a:rPr lang="en-GB" dirty="0"/>
              <a:t>Do not reveal yet — next slide has the answers.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ANSWERS. Reveal one line at a time if you like; ask the class first.</a:t>
            </a:r>
          </a:p>
          <a:p>
            <a:r>
              <a:rPr lang="en-GB" dirty="0"/>
              <a:t>a and c are GOALS: purpose (why they want it) and who it is for. b and d are CONSTRAINTS: platform and materials/environment.</a:t>
            </a:r>
          </a:p>
          <a:p>
            <a:r>
              <a:rPr lang="en-GB" dirty="0"/>
              <a:t>e and f are TRADE-OFFS: you cannot have both; the designer chooses and can say why.</a:t>
            </a:r>
          </a:p>
          <a:p>
            <a:r>
              <a:rPr lang="en-GB" dirty="0"/>
              <a:t>If someone argues that "under one minute" is a constraint, accept the debate: a goal can become a requirement that constrains later decisions. What matters is that they can see the tension between lines a and 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POLL, 2 minutes. Read each card aloud; class votes with 1 or 2 fingers; note roughly how many hands for each.</a:t>
            </a:r>
          </a:p>
          <a:p>
            <a:r>
              <a:rPr lang="en-GB" dirty="0"/>
              <a:t>Expect a split on cards 1 and 3 — students often blame the user ("she should have waited").</a:t>
            </a:r>
          </a:p>
          <a:p>
            <a:r>
              <a:rPr lang="en-GB" dirty="0"/>
              <a:t>Do not argue yet; the next slide reveals that all four are design problems with simple design fixes.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ANSWERS. All four are design errors — that is the point of the Dix slide "To err is human".</a:t>
            </a:r>
          </a:p>
          <a:p>
            <a:r>
              <a:rPr lang="en-GB" dirty="0"/>
              <a:t>For each card ask: what did the design make easy that should have been hard (or hard that should have been easy)?</a:t>
            </a:r>
          </a:p>
          <a:p>
            <a:r>
              <a:rPr lang="en-GB" dirty="0"/>
              <a:t>Card 1 links to Week 3 (gulf of evaluation: no feedback). Card 3 is the classic mobile-wallet complaint. Card 4: separation + undo.</a:t>
            </a:r>
          </a:p>
          <a:p>
            <a:r>
              <a:rPr lang="en-GB" dirty="0"/>
              <a:t>If someone defends "user error" for the nurse: we know tired people misread small decimal points — the lintel is not to blame for physics either.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CASE PUZZLE, 3 minutes, pairs. OPTIONAL — first to drop if behind time.</a:t>
            </a:r>
          </a:p>
          <a:p>
            <a:r>
              <a:rPr lang="en-GB" dirty="0"/>
              <a:t>Impact is a made-up 1–5 score of "how many students it hurts and how badly". Cost is developer-days.</a:t>
            </a:r>
          </a:p>
          <a:p>
            <a:r>
              <a:rPr lang="en-GB" dirty="0"/>
              <a:t>Walk round: most pairs pick A, B, C first (cheap!). Ask them what they do with the 2 days left.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ANSWERS. Best plan A + B + D = 5.0 days, impact 12. Check: no other combination within 5 days beats 12 (A+B+C = 10; B+C+D = 11; A+C+D = 9; anything with E is at most 6).</a:t>
            </a:r>
          </a:p>
          <a:p>
            <a:r>
              <a:rPr lang="en-GB" dirty="0"/>
              <a:t>Nice surprise for a CS class: the greedy "best impact per day first" order (A 6.0, C 4.0, B 2.5) stalls at 10 — this is a tiny knapsack problem.</a:t>
            </a:r>
          </a:p>
          <a:p>
            <a:r>
              <a:rPr lang="en-GB" dirty="0"/>
              <a:t>The HCI point: limited time forces a design trade-off. Deciding what to fix is a design decision, and polishing (E) is the easiest way to waste the budget.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LIVE EXERCISE, 5 minutes, groups of 3. Leave the Betty slide in their heads: the template copies its kinds of detail.</a:t>
            </a:r>
          </a:p>
          <a:p>
            <a:r>
              <a:rPr lang="en-GB" dirty="0"/>
              <a:t>Step 1 is a 60-second warm-up. Step 2: insist on specific details (a name, a city, a phone model, a time of day) — "details matter, they make her real".</a:t>
            </a:r>
          </a:p>
          <a:p>
            <a:r>
              <a:rPr lang="en-GB" dirty="0"/>
              <a:t>Push them away from designing for themselves: a parent is older, may prefer Urdu, may share a phone, may be on patchy mobile data.</a:t>
            </a:r>
          </a:p>
          <a:p>
            <a:r>
              <a:rPr lang="en-GB" dirty="0"/>
              <a:t>Step 3 shows what a persona is for: a surrogate user you can ask "what would Khalid think?" when the real one is not in the room.</a:t>
            </a:r>
          </a:p>
          <a:p>
            <a:r>
              <a:rPr lang="en-GB" dirty="0"/>
              <a:t>Collect two personas to read aloud; keep them for the scenario exercise.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ANSWERS / EXAMPLE. Read Khalid aloud, then compare with one or two group personas.</a:t>
            </a:r>
          </a:p>
          <a:p>
            <a:r>
              <a:rPr lang="en-GB" dirty="0"/>
              <a:t>Point out which details did design work: the glasses changed the OTP decision; Urdu reading changes labels; patchy data changes how much the page downloads.</a:t>
            </a:r>
          </a:p>
          <a:p>
            <a:r>
              <a:rPr lang="en-GB" dirty="0"/>
              <a:t>Betty: accept any three of the four bold details. Students often underline "two children" — ask what design decision it changes (only indirectly: she will not stay late).</a:t>
            </a:r>
          </a:p>
          <a:p>
            <a:r>
              <a:rPr lang="en-GB" dirty="0"/>
              <a:t>Persona is fictional but built from what you learned by talking to and watching real users. Personas are not a replacement for that.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LIVE EXERCISE, 5 minutes. Use the persona from the last exercise (or Khalid if a group did not finish).</a:t>
            </a:r>
          </a:p>
          <a:p>
            <a:r>
              <a:rPr lang="en-GB" dirty="0"/>
              <a:t>Part 1, 3 min: insist on what the user SEES, DOES and THINKS — like the movie-player scenario on the Dix slide. Screens can be described in words.</a:t>
            </a:r>
          </a:p>
          <a:p>
            <a:r>
              <a:rPr lang="en-GB" dirty="0"/>
              <a:t>Part 2, 2 min: swap with the neighbour, who must add two "what if" branches. This is the Dix "linearity" slide in action.</a:t>
            </a:r>
          </a:p>
          <a:p>
            <a:r>
              <a:rPr lang="en-GB" dirty="0"/>
              <a:t>Ask two pairs to read the best branch they added. Next slide shows one worked answer.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ANSWERS. Read the scenario; ask "what can he see, what does he do, what is he thinking?" — all three are in it.</a:t>
            </a:r>
          </a:p>
          <a:p>
            <a:r>
              <a:rPr lang="en-GB" dirty="0"/>
              <a:t>The three branches are exactly what one linear story cannot show. Each branch becomes another scenario, or a branch in a network diagram later today.</a:t>
            </a:r>
          </a:p>
          <a:p>
            <a:r>
              <a:rPr lang="en-GB" dirty="0"/>
              <a:t>Notice the scenario also caught a design problem for free: "Rs 0 outstanding" is ambiguous — scenarios explore cognition, not just interaction.</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QUIZ, 2 minutes. Same LMS, four levels from the Dix "levels" slide: widget choice, screen design, navigation design, environment.</a:t>
            </a:r>
          </a:p>
          <a:p>
            <a:r>
              <a:rPr lang="en-GB" dirty="0"/>
              <a:t>Tell them some lines are arguable; they should be ready to defend their letter.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ANSWERS: a W, b S, c N, d E, e S, f N, g E, h W.</a:t>
            </a:r>
          </a:p>
          <a:p>
            <a:r>
              <a:rPr lang="en-GB" dirty="0"/>
              <a:t>Lines d and g are the ones students miss: "environment" means other apps, the OS, the web — Dix’s "wider still" (cut and paste, embedded apps).</a:t>
            </a:r>
          </a:p>
          <a:p>
            <a:r>
              <a:rPr lang="en-GB" dirty="0"/>
              <a:t>Line f: breadcrumbs are navigation even though they sit on one screen — they describe where this screen is in the whole site.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POLL, 1 minute. Read the four labels; count hands for 1, 2, 3, 4 and write the counts on the board.</a:t>
            </a:r>
          </a:p>
          <a:p>
            <a:r>
              <a:rPr lang="en-GB" dirty="0"/>
              <a:t>Do not hint. The split vote IS the result.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ANSWERS. Report the vote count first: usually all four buttons get hands, and Downloads + Treasurer split the room.</a:t>
            </a:r>
          </a:p>
          <a:p>
            <a:r>
              <a:rPr lang="en-GB" dirty="0"/>
              <a:t>Fix 1: say what is inside each button (the sub-text). Fix 2: use the user’s word ("fees"), not the organisation’s ("Treasurer’s Office").</a:t>
            </a:r>
          </a:p>
          <a:p>
            <a:r>
              <a:rPr lang="en-GB" dirty="0"/>
              <a:t>This is "knowing what you can do" and "knowing where you are going" from the four golden rules.</a:t>
            </a:r>
          </a:p>
          <a:p>
            <a:r>
              <a:rPr lang="en-GB" dirty="0"/>
              <a:t>Click on to the Dix slide "beware the big button trap" — it now confirms what they just experienced.</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CASE PUZZLE, 4 minutes, pairs. They fill in the last column for A–E.</a:t>
            </a:r>
          </a:p>
          <a:p>
            <a:r>
              <a:rPr lang="en-GB" dirty="0"/>
              <a:t>Hint if stuck: time = screens visited × (2 s + 0.125 s × items read). For E, the user scans headings first, then one group.</a:t>
            </a:r>
          </a:p>
          <a:p>
            <a:r>
              <a:rPr lang="en-GB" dirty="0"/>
              <a:t>Ask for a show of hands: who thinks the deep menu (A) wins? Who thinks the long list (D) wins?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ANSWERS. A 13.5 s, B 7.5 s, C 6.0 s, D 10.0 s, E 4.0 s.</a:t>
            </a:r>
          </a:p>
          <a:p>
            <a:r>
              <a:rPr lang="en-GB" dirty="0"/>
              <a:t>E: one screen (2 s) + scan the 8 group headings (0.125 × 8 = 1 s) + scan the 8 items in the right group (1 s) = 4 s.</a:t>
            </a:r>
          </a:p>
          <a:p>
            <a:r>
              <a:rPr lang="en-GB" dirty="0"/>
              <a:t>The numbers are a toy model, but the shape matches the menu-breadth research Dix cites: broad and structured beats deep.</a:t>
            </a:r>
          </a:p>
          <a:p>
            <a:r>
              <a:rPr lang="en-GB" dirty="0"/>
              <a:t>Add the error argument: in A the user must guess right six times in a row; one wrong guess means "back, back, back".</a:t>
            </a:r>
          </a:p>
          <a:p>
            <a:r>
              <a:rPr lang="en-GB" dirty="0"/>
              <a:t>Bust the myth on the Dix slide: Miller’s 7 ± 2 is short-term memory, not a rule that menus must have 7 items.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LIVE EXERCISE, 4 minutes, pairs. OPTIONAL if behind time — it can move to the lab.</a:t>
            </a:r>
          </a:p>
          <a:p>
            <a:r>
              <a:rPr lang="en-GB" dirty="0"/>
              <a:t>Boxes are screens (or states of the machine); arrows are labelled with what the user does or what the system decides.</a:t>
            </a:r>
          </a:p>
          <a:p>
            <a:r>
              <a:rPr lang="en-GB" dirty="0"/>
              <a:t>Walk round and look for: a loop for wrong PIN, an exit after 3 tries, a branch for low balance, Cancel.</a:t>
            </a:r>
          </a:p>
          <a:p>
            <a:r>
              <a:rPr lang="en-GB" dirty="0"/>
              <a:t>Week 1 callback: the card must come out BEFORE the cash, otherwise people achieve their goal (cash), feel closure and walk away without the card.</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ANSWERS. One possible diagram — accept any that has the loop, the exit after 3 tries, the low-balance branch and Cancel.</a:t>
            </a:r>
          </a:p>
          <a:p>
            <a:r>
              <a:rPr lang="en-GB" dirty="0"/>
              <a:t>Red boxes are the error branches; green boxes are the "happy ending". Point out the order: card before cash.</a:t>
            </a:r>
          </a:p>
          <a:p>
            <a:r>
              <a:rPr lang="en-GB" dirty="0"/>
              <a:t>Compare with a hierarchy diagram: a hierarchy shows what the parts are; a network shows what leads to what, including branches — "more task oriented".</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EXIT TICKET, 3 minutes. Slips with name/roll number; collect at the door.</a:t>
            </a:r>
          </a:p>
          <a:p>
            <a:r>
              <a:rPr lang="en-GB" dirty="0"/>
              <a:t>Use the results to choose the recap questions at the start of Lecture 2.</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ANSWERS: 1 b, 2 b, 3 b, 4 a, 5 b.</a:t>
            </a:r>
          </a:p>
          <a:p>
            <a:r>
              <a:rPr lang="en-GB" dirty="0"/>
              <a:t>Next lecture: screen design and layout, user action and control, appearance, and prototyping.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69C9C-6312-60D2-5084-F1CC23EB75D2}"/>
              </a:ext>
            </a:extLst>
          </p:cNvPr>
          <p:cNvSpPr>
            <a:spLocks noGrp="1"/>
          </p:cNvSpPr>
          <p:nvPr>
            <p:ph type="ctrTitle"/>
          </p:nvPr>
        </p:nvSpPr>
        <p:spPr>
          <a:xfrm>
            <a:off x="1143000" y="1122363"/>
            <a:ext cx="6858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A6521115-663D-29C6-4809-2660D1E7574F}"/>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E5F627D0-9F6B-85B6-9D3B-8DF37BF9A4C1}"/>
              </a:ext>
            </a:extLst>
          </p:cNvPr>
          <p:cNvSpPr>
            <a:spLocks noGrp="1"/>
          </p:cNvSpPr>
          <p:nvPr>
            <p:ph type="dt" sz="half"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1F562645-BF29-6B22-DA67-7D66B04B9CE5}"/>
              </a:ext>
            </a:extLst>
          </p:cNvPr>
          <p:cNvSpPr>
            <a:spLocks noGrp="1"/>
          </p:cNvSpPr>
          <p:nvPr>
            <p:ph type="ftr" sz="quarte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4DB2D416-50DB-DEA4-AEAB-FAB0A3EEFD7D}"/>
              </a:ext>
            </a:extLst>
          </p:cNvPr>
          <p:cNvSpPr>
            <a:spLocks noGrp="1"/>
          </p:cNvSpPr>
          <p:nvPr>
            <p:ph type="sldNum" sz="quarter" idx="12"/>
          </p:nvPr>
        </p:nvSpPr>
        <p:spPr/>
        <p:txBody>
          <a:bodyPr/>
          <a:lstStyle>
            <a:lvl1pPr>
              <a:defRPr/>
            </a:lvl1pPr>
          </a:lstStyle>
          <a:p>
            <a:fld id="{588FB1D0-F5B2-2445-9DF0-25DEBC595D9B}" type="slidenum">
              <a:rPr lang="en-GB" altLang="en-US"/>
              <a:pPr/>
              <a:t>‹#›</a:t>
            </a:fld>
            <a:endParaRPr lang="en-GB" altLang="en-US"/>
          </a:p>
        </p:txBody>
      </p:sp>
    </p:spTree>
    <p:extLst>
      <p:ext uri="{BB962C8B-B14F-4D97-AF65-F5344CB8AC3E}">
        <p14:creationId xmlns:p14="http://schemas.microsoft.com/office/powerpoint/2010/main" val="1535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D1B17-D0FD-A518-97ED-DC2DF7619FD5}"/>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51A86F1-C14A-1522-36C0-8438936BB64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7345142-C0E2-4AEA-6EE6-4161A40A8D88}"/>
              </a:ext>
            </a:extLst>
          </p:cNvPr>
          <p:cNvSpPr>
            <a:spLocks noGrp="1"/>
          </p:cNvSpPr>
          <p:nvPr>
            <p:ph type="dt" sz="half"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7CC3BEBB-A1CE-A043-7BD6-A9CB23683742}"/>
              </a:ext>
            </a:extLst>
          </p:cNvPr>
          <p:cNvSpPr>
            <a:spLocks noGrp="1"/>
          </p:cNvSpPr>
          <p:nvPr>
            <p:ph type="ftr" sz="quarte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2B118C76-A799-1862-0BC8-F6BDD4184BA4}"/>
              </a:ext>
            </a:extLst>
          </p:cNvPr>
          <p:cNvSpPr>
            <a:spLocks noGrp="1"/>
          </p:cNvSpPr>
          <p:nvPr>
            <p:ph type="sldNum" sz="quarter" idx="12"/>
          </p:nvPr>
        </p:nvSpPr>
        <p:spPr/>
        <p:txBody>
          <a:bodyPr/>
          <a:lstStyle>
            <a:lvl1pPr>
              <a:defRPr/>
            </a:lvl1pPr>
          </a:lstStyle>
          <a:p>
            <a:fld id="{7DD632F6-DE13-A74D-99DC-E5D4859881F7}" type="slidenum">
              <a:rPr lang="en-GB" altLang="en-US"/>
              <a:pPr/>
              <a:t>‹#›</a:t>
            </a:fld>
            <a:endParaRPr lang="en-GB" altLang="en-US"/>
          </a:p>
        </p:txBody>
      </p:sp>
    </p:spTree>
    <p:extLst>
      <p:ext uri="{BB962C8B-B14F-4D97-AF65-F5344CB8AC3E}">
        <p14:creationId xmlns:p14="http://schemas.microsoft.com/office/powerpoint/2010/main" val="1332757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2E94A-A8ED-24E7-5373-1680DE866D88}"/>
              </a:ext>
            </a:extLst>
          </p:cNvPr>
          <p:cNvSpPr>
            <a:spLocks noGrp="1"/>
          </p:cNvSpPr>
          <p:nvPr>
            <p:ph type="title"/>
          </p:nvPr>
        </p:nvSpPr>
        <p:spPr>
          <a:xfrm>
            <a:off x="623888" y="1709738"/>
            <a:ext cx="78867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1EE61E57-0060-52FE-C469-96555CBC74BE}"/>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GB"/>
              <a:t>Click to edit Master text styles</a:t>
            </a:r>
          </a:p>
        </p:txBody>
      </p:sp>
      <p:sp>
        <p:nvSpPr>
          <p:cNvPr id="4" name="Date Placeholder 3">
            <a:extLst>
              <a:ext uri="{FF2B5EF4-FFF2-40B4-BE49-F238E27FC236}">
                <a16:creationId xmlns:a16="http://schemas.microsoft.com/office/drawing/2014/main" id="{7B3D7E2B-6E68-AAB0-CA4A-BBDB6F33E0CF}"/>
              </a:ext>
            </a:extLst>
          </p:cNvPr>
          <p:cNvSpPr>
            <a:spLocks noGrp="1"/>
          </p:cNvSpPr>
          <p:nvPr>
            <p:ph type="dt" sz="half"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D0F0DFCE-E33E-EC23-CA00-C4DD67AA5EE3}"/>
              </a:ext>
            </a:extLst>
          </p:cNvPr>
          <p:cNvSpPr>
            <a:spLocks noGrp="1"/>
          </p:cNvSpPr>
          <p:nvPr>
            <p:ph type="ftr" sz="quarte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912EAFCC-1AAC-6247-0937-FEB32AFA14BB}"/>
              </a:ext>
            </a:extLst>
          </p:cNvPr>
          <p:cNvSpPr>
            <a:spLocks noGrp="1"/>
          </p:cNvSpPr>
          <p:nvPr>
            <p:ph type="sldNum" sz="quarter" idx="12"/>
          </p:nvPr>
        </p:nvSpPr>
        <p:spPr/>
        <p:txBody>
          <a:bodyPr/>
          <a:lstStyle>
            <a:lvl1pPr>
              <a:defRPr/>
            </a:lvl1pPr>
          </a:lstStyle>
          <a:p>
            <a:fld id="{09DBA0B6-AD2F-5E46-9A5F-CA886613887C}" type="slidenum">
              <a:rPr lang="en-GB" altLang="en-US"/>
              <a:pPr/>
              <a:t>‹#›</a:t>
            </a:fld>
            <a:endParaRPr lang="en-GB" altLang="en-US"/>
          </a:p>
        </p:txBody>
      </p:sp>
    </p:spTree>
    <p:extLst>
      <p:ext uri="{BB962C8B-B14F-4D97-AF65-F5344CB8AC3E}">
        <p14:creationId xmlns:p14="http://schemas.microsoft.com/office/powerpoint/2010/main" val="41534039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45042-DF16-98E3-7896-EDC9F3D1E64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D0544568-D3D9-7EF4-62EB-0151D1178C1D}"/>
              </a:ext>
            </a:extLst>
          </p:cNvPr>
          <p:cNvSpPr>
            <a:spLocks noGrp="1"/>
          </p:cNvSpPr>
          <p:nvPr>
            <p:ph sz="half" idx="1"/>
          </p:nvPr>
        </p:nvSpPr>
        <p:spPr>
          <a:xfrm>
            <a:off x="685800" y="1981200"/>
            <a:ext cx="3810000" cy="4114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3AD09149-7339-0163-3A70-032D0084ED1F}"/>
              </a:ext>
            </a:extLst>
          </p:cNvPr>
          <p:cNvSpPr>
            <a:spLocks noGrp="1"/>
          </p:cNvSpPr>
          <p:nvPr>
            <p:ph sz="half" idx="2"/>
          </p:nvPr>
        </p:nvSpPr>
        <p:spPr>
          <a:xfrm>
            <a:off x="4648200" y="1981200"/>
            <a:ext cx="3810000" cy="4114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C0A78510-78D8-80ED-A694-ED54EF295838}"/>
              </a:ext>
            </a:extLst>
          </p:cNvPr>
          <p:cNvSpPr>
            <a:spLocks noGrp="1"/>
          </p:cNvSpPr>
          <p:nvPr>
            <p:ph type="dt" sz="half" idx="10"/>
          </p:nvPr>
        </p:nvSpPr>
        <p:spPr/>
        <p:txBody>
          <a:bodyPr/>
          <a:lstStyle>
            <a:lvl1pPr>
              <a:defRPr/>
            </a:lvl1pPr>
          </a:lstStyle>
          <a:p>
            <a:endParaRPr lang="en-GB" altLang="en-US"/>
          </a:p>
        </p:txBody>
      </p:sp>
      <p:sp>
        <p:nvSpPr>
          <p:cNvPr id="6" name="Footer Placeholder 5">
            <a:extLst>
              <a:ext uri="{FF2B5EF4-FFF2-40B4-BE49-F238E27FC236}">
                <a16:creationId xmlns:a16="http://schemas.microsoft.com/office/drawing/2014/main" id="{6F6F3ADA-8D6A-91E4-BFCD-E76CB18C3F32}"/>
              </a:ext>
            </a:extLst>
          </p:cNvPr>
          <p:cNvSpPr>
            <a:spLocks noGrp="1"/>
          </p:cNvSpPr>
          <p:nvPr>
            <p:ph type="ftr" sz="quarter" idx="11"/>
          </p:nvPr>
        </p:nvSpPr>
        <p:spPr/>
        <p:txBody>
          <a:bodyPr/>
          <a:lstStyle>
            <a:lvl1pPr>
              <a:defRPr/>
            </a:lvl1pPr>
          </a:lstStyle>
          <a:p>
            <a:endParaRPr lang="en-GB" altLang="en-US"/>
          </a:p>
        </p:txBody>
      </p:sp>
      <p:sp>
        <p:nvSpPr>
          <p:cNvPr id="7" name="Slide Number Placeholder 6">
            <a:extLst>
              <a:ext uri="{FF2B5EF4-FFF2-40B4-BE49-F238E27FC236}">
                <a16:creationId xmlns:a16="http://schemas.microsoft.com/office/drawing/2014/main" id="{90CA70BF-E15E-55B7-B721-ADB19C32CF93}"/>
              </a:ext>
            </a:extLst>
          </p:cNvPr>
          <p:cNvSpPr>
            <a:spLocks noGrp="1"/>
          </p:cNvSpPr>
          <p:nvPr>
            <p:ph type="sldNum" sz="quarter" idx="12"/>
          </p:nvPr>
        </p:nvSpPr>
        <p:spPr/>
        <p:txBody>
          <a:bodyPr/>
          <a:lstStyle>
            <a:lvl1pPr>
              <a:defRPr/>
            </a:lvl1pPr>
          </a:lstStyle>
          <a:p>
            <a:fld id="{6B466556-E483-5144-9FFD-2D7405016684}" type="slidenum">
              <a:rPr lang="en-GB" altLang="en-US"/>
              <a:pPr/>
              <a:t>‹#›</a:t>
            </a:fld>
            <a:endParaRPr lang="en-GB" altLang="en-US"/>
          </a:p>
        </p:txBody>
      </p:sp>
    </p:spTree>
    <p:extLst>
      <p:ext uri="{BB962C8B-B14F-4D97-AF65-F5344CB8AC3E}">
        <p14:creationId xmlns:p14="http://schemas.microsoft.com/office/powerpoint/2010/main" val="785283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8D391-23C2-178A-F0EE-F1B38BE83996}"/>
              </a:ext>
            </a:extLst>
          </p:cNvPr>
          <p:cNvSpPr>
            <a:spLocks noGrp="1"/>
          </p:cNvSpPr>
          <p:nvPr>
            <p:ph type="title"/>
          </p:nvPr>
        </p:nvSpPr>
        <p:spPr>
          <a:xfrm>
            <a:off x="630238" y="365125"/>
            <a:ext cx="78867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D97AA386-9641-8E2D-4B32-9A2685C795CA}"/>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7E4C358-3448-25E3-6991-360586B63D09}"/>
              </a:ext>
            </a:extLst>
          </p:cNvPr>
          <p:cNvSpPr>
            <a:spLocks noGrp="1"/>
          </p:cNvSpPr>
          <p:nvPr>
            <p:ph sz="half" idx="2"/>
          </p:nvPr>
        </p:nvSpPr>
        <p:spPr>
          <a:xfrm>
            <a:off x="630238" y="2505075"/>
            <a:ext cx="386873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33941C11-A85C-D80A-BF43-171B03CF8B8A}"/>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35EF9CA-D49D-D86A-6403-B7D28A0CF385}"/>
              </a:ext>
            </a:extLst>
          </p:cNvPr>
          <p:cNvSpPr>
            <a:spLocks noGrp="1"/>
          </p:cNvSpPr>
          <p:nvPr>
            <p:ph sz="quarter" idx="4"/>
          </p:nvPr>
        </p:nvSpPr>
        <p:spPr>
          <a:xfrm>
            <a:off x="4629150" y="2505075"/>
            <a:ext cx="38877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FBE9CBF4-7290-3E4D-7C2C-BF7B11089B70}"/>
              </a:ext>
            </a:extLst>
          </p:cNvPr>
          <p:cNvSpPr>
            <a:spLocks noGrp="1"/>
          </p:cNvSpPr>
          <p:nvPr>
            <p:ph type="dt" sz="half" idx="10"/>
          </p:nvPr>
        </p:nvSpPr>
        <p:spPr/>
        <p:txBody>
          <a:bodyPr/>
          <a:lstStyle>
            <a:lvl1pPr>
              <a:defRPr/>
            </a:lvl1pPr>
          </a:lstStyle>
          <a:p>
            <a:endParaRPr lang="en-GB" altLang="en-US"/>
          </a:p>
        </p:txBody>
      </p:sp>
      <p:sp>
        <p:nvSpPr>
          <p:cNvPr id="8" name="Footer Placeholder 7">
            <a:extLst>
              <a:ext uri="{FF2B5EF4-FFF2-40B4-BE49-F238E27FC236}">
                <a16:creationId xmlns:a16="http://schemas.microsoft.com/office/drawing/2014/main" id="{2D956596-AF6E-40B8-9093-B4C3E9A255ED}"/>
              </a:ext>
            </a:extLst>
          </p:cNvPr>
          <p:cNvSpPr>
            <a:spLocks noGrp="1"/>
          </p:cNvSpPr>
          <p:nvPr>
            <p:ph type="ftr" sz="quarter" idx="11"/>
          </p:nvPr>
        </p:nvSpPr>
        <p:spPr/>
        <p:txBody>
          <a:bodyPr/>
          <a:lstStyle>
            <a:lvl1pPr>
              <a:defRPr/>
            </a:lvl1pPr>
          </a:lstStyle>
          <a:p>
            <a:endParaRPr lang="en-GB" altLang="en-US"/>
          </a:p>
        </p:txBody>
      </p:sp>
      <p:sp>
        <p:nvSpPr>
          <p:cNvPr id="9" name="Slide Number Placeholder 8">
            <a:extLst>
              <a:ext uri="{FF2B5EF4-FFF2-40B4-BE49-F238E27FC236}">
                <a16:creationId xmlns:a16="http://schemas.microsoft.com/office/drawing/2014/main" id="{A038DB91-5937-9E36-D7A8-D8034BB7D9F3}"/>
              </a:ext>
            </a:extLst>
          </p:cNvPr>
          <p:cNvSpPr>
            <a:spLocks noGrp="1"/>
          </p:cNvSpPr>
          <p:nvPr>
            <p:ph type="sldNum" sz="quarter" idx="12"/>
          </p:nvPr>
        </p:nvSpPr>
        <p:spPr/>
        <p:txBody>
          <a:bodyPr/>
          <a:lstStyle>
            <a:lvl1pPr>
              <a:defRPr/>
            </a:lvl1pPr>
          </a:lstStyle>
          <a:p>
            <a:fld id="{154E1960-715F-DE40-B163-ACD72A9BF842}" type="slidenum">
              <a:rPr lang="en-GB" altLang="en-US"/>
              <a:pPr/>
              <a:t>‹#›</a:t>
            </a:fld>
            <a:endParaRPr lang="en-GB" altLang="en-US"/>
          </a:p>
        </p:txBody>
      </p:sp>
    </p:spTree>
    <p:extLst>
      <p:ext uri="{BB962C8B-B14F-4D97-AF65-F5344CB8AC3E}">
        <p14:creationId xmlns:p14="http://schemas.microsoft.com/office/powerpoint/2010/main" val="3853968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2BF61-3E4F-9350-41AE-53B7F56FA24B}"/>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A3DD38F6-786C-338D-E5C4-D959DE0523E4}"/>
              </a:ext>
            </a:extLst>
          </p:cNvPr>
          <p:cNvSpPr>
            <a:spLocks noGrp="1"/>
          </p:cNvSpPr>
          <p:nvPr>
            <p:ph type="dt" sz="half" idx="10"/>
          </p:nvPr>
        </p:nvSpPr>
        <p:spPr/>
        <p:txBody>
          <a:bodyPr/>
          <a:lstStyle>
            <a:lvl1pPr>
              <a:defRPr/>
            </a:lvl1pPr>
          </a:lstStyle>
          <a:p>
            <a:endParaRPr lang="en-GB" altLang="en-US"/>
          </a:p>
        </p:txBody>
      </p:sp>
      <p:sp>
        <p:nvSpPr>
          <p:cNvPr id="4" name="Footer Placeholder 3">
            <a:extLst>
              <a:ext uri="{FF2B5EF4-FFF2-40B4-BE49-F238E27FC236}">
                <a16:creationId xmlns:a16="http://schemas.microsoft.com/office/drawing/2014/main" id="{1AEF7691-C9E6-751D-6272-074229DBC76C}"/>
              </a:ext>
            </a:extLst>
          </p:cNvPr>
          <p:cNvSpPr>
            <a:spLocks noGrp="1"/>
          </p:cNvSpPr>
          <p:nvPr>
            <p:ph type="ftr" sz="quarter" idx="11"/>
          </p:nvPr>
        </p:nvSpPr>
        <p:spPr/>
        <p:txBody>
          <a:bodyPr/>
          <a:lstStyle>
            <a:lvl1pPr>
              <a:defRPr/>
            </a:lvl1pPr>
          </a:lstStyle>
          <a:p>
            <a:endParaRPr lang="en-GB" altLang="en-US"/>
          </a:p>
        </p:txBody>
      </p:sp>
      <p:sp>
        <p:nvSpPr>
          <p:cNvPr id="5" name="Slide Number Placeholder 4">
            <a:extLst>
              <a:ext uri="{FF2B5EF4-FFF2-40B4-BE49-F238E27FC236}">
                <a16:creationId xmlns:a16="http://schemas.microsoft.com/office/drawing/2014/main" id="{CA851416-C65A-CA11-EC9E-CEF6C4AF4DCC}"/>
              </a:ext>
            </a:extLst>
          </p:cNvPr>
          <p:cNvSpPr>
            <a:spLocks noGrp="1"/>
          </p:cNvSpPr>
          <p:nvPr>
            <p:ph type="sldNum" sz="quarter" idx="12"/>
          </p:nvPr>
        </p:nvSpPr>
        <p:spPr/>
        <p:txBody>
          <a:bodyPr/>
          <a:lstStyle>
            <a:lvl1pPr>
              <a:defRPr/>
            </a:lvl1pPr>
          </a:lstStyle>
          <a:p>
            <a:fld id="{C6A1D0A1-D996-F246-85B9-321A7728EDAC}" type="slidenum">
              <a:rPr lang="en-GB" altLang="en-US"/>
              <a:pPr/>
              <a:t>‹#›</a:t>
            </a:fld>
            <a:endParaRPr lang="en-GB" altLang="en-US"/>
          </a:p>
        </p:txBody>
      </p:sp>
    </p:spTree>
    <p:extLst>
      <p:ext uri="{BB962C8B-B14F-4D97-AF65-F5344CB8AC3E}">
        <p14:creationId xmlns:p14="http://schemas.microsoft.com/office/powerpoint/2010/main" val="329690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822889-F739-AB86-DFAB-C127F85A6F50}"/>
              </a:ext>
            </a:extLst>
          </p:cNvPr>
          <p:cNvSpPr>
            <a:spLocks noGrp="1"/>
          </p:cNvSpPr>
          <p:nvPr>
            <p:ph type="dt" sz="half" idx="10"/>
          </p:nvPr>
        </p:nvSpPr>
        <p:spPr/>
        <p:txBody>
          <a:bodyPr/>
          <a:lstStyle>
            <a:lvl1pPr>
              <a:defRPr/>
            </a:lvl1pPr>
          </a:lstStyle>
          <a:p>
            <a:endParaRPr lang="en-GB" altLang="en-US"/>
          </a:p>
        </p:txBody>
      </p:sp>
      <p:sp>
        <p:nvSpPr>
          <p:cNvPr id="3" name="Footer Placeholder 2">
            <a:extLst>
              <a:ext uri="{FF2B5EF4-FFF2-40B4-BE49-F238E27FC236}">
                <a16:creationId xmlns:a16="http://schemas.microsoft.com/office/drawing/2014/main" id="{B8D6B8B2-6DAE-E5EB-F9FC-2FDE410C5160}"/>
              </a:ext>
            </a:extLst>
          </p:cNvPr>
          <p:cNvSpPr>
            <a:spLocks noGrp="1"/>
          </p:cNvSpPr>
          <p:nvPr>
            <p:ph type="ftr" sz="quarter" idx="11"/>
          </p:nvPr>
        </p:nvSpPr>
        <p:spPr/>
        <p:txBody>
          <a:bodyPr/>
          <a:lstStyle>
            <a:lvl1pPr>
              <a:defRPr/>
            </a:lvl1pPr>
          </a:lstStyle>
          <a:p>
            <a:endParaRPr lang="en-GB" altLang="en-US"/>
          </a:p>
        </p:txBody>
      </p:sp>
      <p:sp>
        <p:nvSpPr>
          <p:cNvPr id="4" name="Slide Number Placeholder 3">
            <a:extLst>
              <a:ext uri="{FF2B5EF4-FFF2-40B4-BE49-F238E27FC236}">
                <a16:creationId xmlns:a16="http://schemas.microsoft.com/office/drawing/2014/main" id="{128713D7-373E-F036-5F4F-7638AEAB062F}"/>
              </a:ext>
            </a:extLst>
          </p:cNvPr>
          <p:cNvSpPr>
            <a:spLocks noGrp="1"/>
          </p:cNvSpPr>
          <p:nvPr>
            <p:ph type="sldNum" sz="quarter" idx="12"/>
          </p:nvPr>
        </p:nvSpPr>
        <p:spPr/>
        <p:txBody>
          <a:bodyPr/>
          <a:lstStyle>
            <a:lvl1pPr>
              <a:defRPr/>
            </a:lvl1pPr>
          </a:lstStyle>
          <a:p>
            <a:fld id="{7550D890-B79E-9249-9353-C6A2C556F50D}" type="slidenum">
              <a:rPr lang="en-GB" altLang="en-US"/>
              <a:pPr/>
              <a:t>‹#›</a:t>
            </a:fld>
            <a:endParaRPr lang="en-GB" altLang="en-US"/>
          </a:p>
        </p:txBody>
      </p:sp>
    </p:spTree>
    <p:extLst>
      <p:ext uri="{BB962C8B-B14F-4D97-AF65-F5344CB8AC3E}">
        <p14:creationId xmlns:p14="http://schemas.microsoft.com/office/powerpoint/2010/main" val="4026913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62A33-7F59-FE06-06F4-DC3C4CCFF5C1}"/>
              </a:ext>
            </a:extLst>
          </p:cNvPr>
          <p:cNvSpPr>
            <a:spLocks noGrp="1"/>
          </p:cNvSpPr>
          <p:nvPr>
            <p:ph type="title"/>
          </p:nvPr>
        </p:nvSpPr>
        <p:spPr>
          <a:xfrm>
            <a:off x="630238" y="457200"/>
            <a:ext cx="2949575"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0CE6416A-8899-6516-A393-6EADB7EBD2ED}"/>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6CBC5B29-ED80-5436-B080-3721ADEC2E00}"/>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079A8C6-D825-4A44-5902-AFFFDC221F32}"/>
              </a:ext>
            </a:extLst>
          </p:cNvPr>
          <p:cNvSpPr>
            <a:spLocks noGrp="1"/>
          </p:cNvSpPr>
          <p:nvPr>
            <p:ph type="dt" sz="half" idx="10"/>
          </p:nvPr>
        </p:nvSpPr>
        <p:spPr/>
        <p:txBody>
          <a:bodyPr/>
          <a:lstStyle>
            <a:lvl1pPr>
              <a:defRPr/>
            </a:lvl1pPr>
          </a:lstStyle>
          <a:p>
            <a:endParaRPr lang="en-GB" altLang="en-US"/>
          </a:p>
        </p:txBody>
      </p:sp>
      <p:sp>
        <p:nvSpPr>
          <p:cNvPr id="6" name="Footer Placeholder 5">
            <a:extLst>
              <a:ext uri="{FF2B5EF4-FFF2-40B4-BE49-F238E27FC236}">
                <a16:creationId xmlns:a16="http://schemas.microsoft.com/office/drawing/2014/main" id="{E3497DF6-36C9-BE77-C3AB-A25C9DF60524}"/>
              </a:ext>
            </a:extLst>
          </p:cNvPr>
          <p:cNvSpPr>
            <a:spLocks noGrp="1"/>
          </p:cNvSpPr>
          <p:nvPr>
            <p:ph type="ftr" sz="quarter" idx="11"/>
          </p:nvPr>
        </p:nvSpPr>
        <p:spPr/>
        <p:txBody>
          <a:bodyPr/>
          <a:lstStyle>
            <a:lvl1pPr>
              <a:defRPr/>
            </a:lvl1pPr>
          </a:lstStyle>
          <a:p>
            <a:endParaRPr lang="en-GB" altLang="en-US"/>
          </a:p>
        </p:txBody>
      </p:sp>
      <p:sp>
        <p:nvSpPr>
          <p:cNvPr id="7" name="Slide Number Placeholder 6">
            <a:extLst>
              <a:ext uri="{FF2B5EF4-FFF2-40B4-BE49-F238E27FC236}">
                <a16:creationId xmlns:a16="http://schemas.microsoft.com/office/drawing/2014/main" id="{1DA3085C-E122-6D07-D260-DDA1947E131A}"/>
              </a:ext>
            </a:extLst>
          </p:cNvPr>
          <p:cNvSpPr>
            <a:spLocks noGrp="1"/>
          </p:cNvSpPr>
          <p:nvPr>
            <p:ph type="sldNum" sz="quarter" idx="12"/>
          </p:nvPr>
        </p:nvSpPr>
        <p:spPr/>
        <p:txBody>
          <a:bodyPr/>
          <a:lstStyle>
            <a:lvl1pPr>
              <a:defRPr/>
            </a:lvl1pPr>
          </a:lstStyle>
          <a:p>
            <a:fld id="{F329A71C-A54F-3441-B198-1CA64DC3C0A2}" type="slidenum">
              <a:rPr lang="en-GB" altLang="en-US"/>
              <a:pPr/>
              <a:t>‹#›</a:t>
            </a:fld>
            <a:endParaRPr lang="en-GB" altLang="en-US"/>
          </a:p>
        </p:txBody>
      </p:sp>
    </p:spTree>
    <p:extLst>
      <p:ext uri="{BB962C8B-B14F-4D97-AF65-F5344CB8AC3E}">
        <p14:creationId xmlns:p14="http://schemas.microsoft.com/office/powerpoint/2010/main" val="2492509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84E93-F2E9-E986-0F88-104C84EC5C82}"/>
              </a:ext>
            </a:extLst>
          </p:cNvPr>
          <p:cNvSpPr>
            <a:spLocks noGrp="1"/>
          </p:cNvSpPr>
          <p:nvPr>
            <p:ph type="title"/>
          </p:nvPr>
        </p:nvSpPr>
        <p:spPr>
          <a:xfrm>
            <a:off x="630238" y="457200"/>
            <a:ext cx="2949575"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DEA7B861-B430-E7F1-6B8B-6DD29D7ABD4B}"/>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BE2B395-7BA5-8A52-FC74-2E63E69D7528}"/>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C235698-F9EC-061D-1316-A2FD56B90569}"/>
              </a:ext>
            </a:extLst>
          </p:cNvPr>
          <p:cNvSpPr>
            <a:spLocks noGrp="1"/>
          </p:cNvSpPr>
          <p:nvPr>
            <p:ph type="dt" sz="half" idx="10"/>
          </p:nvPr>
        </p:nvSpPr>
        <p:spPr/>
        <p:txBody>
          <a:bodyPr/>
          <a:lstStyle>
            <a:lvl1pPr>
              <a:defRPr/>
            </a:lvl1pPr>
          </a:lstStyle>
          <a:p>
            <a:endParaRPr lang="en-GB" altLang="en-US"/>
          </a:p>
        </p:txBody>
      </p:sp>
      <p:sp>
        <p:nvSpPr>
          <p:cNvPr id="6" name="Footer Placeholder 5">
            <a:extLst>
              <a:ext uri="{FF2B5EF4-FFF2-40B4-BE49-F238E27FC236}">
                <a16:creationId xmlns:a16="http://schemas.microsoft.com/office/drawing/2014/main" id="{0AA280BB-9C5F-F1FC-B17C-7784A240DAFD}"/>
              </a:ext>
            </a:extLst>
          </p:cNvPr>
          <p:cNvSpPr>
            <a:spLocks noGrp="1"/>
          </p:cNvSpPr>
          <p:nvPr>
            <p:ph type="ftr" sz="quarter" idx="11"/>
          </p:nvPr>
        </p:nvSpPr>
        <p:spPr/>
        <p:txBody>
          <a:bodyPr/>
          <a:lstStyle>
            <a:lvl1pPr>
              <a:defRPr/>
            </a:lvl1pPr>
          </a:lstStyle>
          <a:p>
            <a:endParaRPr lang="en-GB" altLang="en-US"/>
          </a:p>
        </p:txBody>
      </p:sp>
      <p:sp>
        <p:nvSpPr>
          <p:cNvPr id="7" name="Slide Number Placeholder 6">
            <a:extLst>
              <a:ext uri="{FF2B5EF4-FFF2-40B4-BE49-F238E27FC236}">
                <a16:creationId xmlns:a16="http://schemas.microsoft.com/office/drawing/2014/main" id="{1E1F4CF1-A4B5-D494-67CF-A6BF30393F5D}"/>
              </a:ext>
            </a:extLst>
          </p:cNvPr>
          <p:cNvSpPr>
            <a:spLocks noGrp="1"/>
          </p:cNvSpPr>
          <p:nvPr>
            <p:ph type="sldNum" sz="quarter" idx="12"/>
          </p:nvPr>
        </p:nvSpPr>
        <p:spPr/>
        <p:txBody>
          <a:bodyPr/>
          <a:lstStyle>
            <a:lvl1pPr>
              <a:defRPr/>
            </a:lvl1pPr>
          </a:lstStyle>
          <a:p>
            <a:fld id="{3094D23E-3567-7845-ACFE-CA6982B03326}" type="slidenum">
              <a:rPr lang="en-GB" altLang="en-US"/>
              <a:pPr/>
              <a:t>‹#›</a:t>
            </a:fld>
            <a:endParaRPr lang="en-GB" altLang="en-US"/>
          </a:p>
        </p:txBody>
      </p:sp>
    </p:spTree>
    <p:extLst>
      <p:ext uri="{BB962C8B-B14F-4D97-AF65-F5344CB8AC3E}">
        <p14:creationId xmlns:p14="http://schemas.microsoft.com/office/powerpoint/2010/main" val="1436290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75BD5-C35E-32D0-4E23-170625008EC7}"/>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906CBDFB-7B60-F026-42E0-CB09B0C54E0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164EE69-C15E-3799-DAA6-FA2915DE1919}"/>
              </a:ext>
            </a:extLst>
          </p:cNvPr>
          <p:cNvSpPr>
            <a:spLocks noGrp="1"/>
          </p:cNvSpPr>
          <p:nvPr>
            <p:ph type="dt" sz="half"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88B8DD6E-E7CA-3BD7-05CA-FD3999C15C93}"/>
              </a:ext>
            </a:extLst>
          </p:cNvPr>
          <p:cNvSpPr>
            <a:spLocks noGrp="1"/>
          </p:cNvSpPr>
          <p:nvPr>
            <p:ph type="ftr" sz="quarte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0607D9C2-9CD8-62B4-BE26-1BA807A3B1DB}"/>
              </a:ext>
            </a:extLst>
          </p:cNvPr>
          <p:cNvSpPr>
            <a:spLocks noGrp="1"/>
          </p:cNvSpPr>
          <p:nvPr>
            <p:ph type="sldNum" sz="quarter" idx="12"/>
          </p:nvPr>
        </p:nvSpPr>
        <p:spPr/>
        <p:txBody>
          <a:bodyPr/>
          <a:lstStyle>
            <a:lvl1pPr>
              <a:defRPr/>
            </a:lvl1pPr>
          </a:lstStyle>
          <a:p>
            <a:fld id="{BD959538-131D-7F40-8E5C-8C08FF2A5506}" type="slidenum">
              <a:rPr lang="en-GB" altLang="en-US"/>
              <a:pPr/>
              <a:t>‹#›</a:t>
            </a:fld>
            <a:endParaRPr lang="en-GB" altLang="en-US"/>
          </a:p>
        </p:txBody>
      </p:sp>
    </p:spTree>
    <p:extLst>
      <p:ext uri="{BB962C8B-B14F-4D97-AF65-F5344CB8AC3E}">
        <p14:creationId xmlns:p14="http://schemas.microsoft.com/office/powerpoint/2010/main" val="2682367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68BDD2-309D-9967-2DE5-B3FA87FF2B1B}"/>
              </a:ext>
            </a:extLst>
          </p:cNvPr>
          <p:cNvSpPr>
            <a:spLocks noGrp="1"/>
          </p:cNvSpPr>
          <p:nvPr>
            <p:ph type="title" orient="vert"/>
          </p:nvPr>
        </p:nvSpPr>
        <p:spPr>
          <a:xfrm>
            <a:off x="6515100" y="609600"/>
            <a:ext cx="1943100" cy="5486400"/>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4551C942-C352-1087-C763-9AF72D0F552A}"/>
              </a:ext>
            </a:extLst>
          </p:cNvPr>
          <p:cNvSpPr>
            <a:spLocks noGrp="1"/>
          </p:cNvSpPr>
          <p:nvPr>
            <p:ph type="body" orient="vert" idx="1"/>
          </p:nvPr>
        </p:nvSpPr>
        <p:spPr>
          <a:xfrm>
            <a:off x="685800" y="609600"/>
            <a:ext cx="5676900" cy="54864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9751921-9DD3-2063-9FBE-CF53CF709D5F}"/>
              </a:ext>
            </a:extLst>
          </p:cNvPr>
          <p:cNvSpPr>
            <a:spLocks noGrp="1"/>
          </p:cNvSpPr>
          <p:nvPr>
            <p:ph type="dt" sz="half"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9BF1EA2D-4609-AA55-C26E-F95D636D3A30}"/>
              </a:ext>
            </a:extLst>
          </p:cNvPr>
          <p:cNvSpPr>
            <a:spLocks noGrp="1"/>
          </p:cNvSpPr>
          <p:nvPr>
            <p:ph type="ftr" sz="quarte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40E68279-2B84-49F0-96ED-376DAE63DA30}"/>
              </a:ext>
            </a:extLst>
          </p:cNvPr>
          <p:cNvSpPr>
            <a:spLocks noGrp="1"/>
          </p:cNvSpPr>
          <p:nvPr>
            <p:ph type="sldNum" sz="quarter" idx="12"/>
          </p:nvPr>
        </p:nvSpPr>
        <p:spPr/>
        <p:txBody>
          <a:bodyPr/>
          <a:lstStyle>
            <a:lvl1pPr>
              <a:defRPr/>
            </a:lvl1pPr>
          </a:lstStyle>
          <a:p>
            <a:fld id="{F7878436-0371-144E-9AA4-6C37F670847F}" type="slidenum">
              <a:rPr lang="en-GB" altLang="en-US"/>
              <a:pPr/>
              <a:t>‹#›</a:t>
            </a:fld>
            <a:endParaRPr lang="en-GB" altLang="en-US"/>
          </a:p>
        </p:txBody>
      </p:sp>
    </p:spTree>
    <p:extLst>
      <p:ext uri="{BB962C8B-B14F-4D97-AF65-F5344CB8AC3E}">
        <p14:creationId xmlns:p14="http://schemas.microsoft.com/office/powerpoint/2010/main" val="1460190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39" name="Picture 15">
            <a:extLst>
              <a:ext uri="{FF2B5EF4-FFF2-40B4-BE49-F238E27FC236}">
                <a16:creationId xmlns:a16="http://schemas.microsoft.com/office/drawing/2014/main" id="{3FAC396D-0924-C933-3BD4-95A161FB72DF}"/>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9056688" y="1066800"/>
            <a:ext cx="87312"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6" name="Rectangle 2">
            <a:extLst>
              <a:ext uri="{FF2B5EF4-FFF2-40B4-BE49-F238E27FC236}">
                <a16:creationId xmlns:a16="http://schemas.microsoft.com/office/drawing/2014/main" id="{3AFABC4B-BF13-DCF7-5905-91F72E659A98}"/>
              </a:ext>
            </a:extLst>
          </p:cNvPr>
          <p:cNvSpPr>
            <a:spLocks noGrp="1" noChangeArrowheads="1"/>
          </p:cNvSpPr>
          <p:nvPr>
            <p:ph type="title"/>
          </p:nvPr>
        </p:nvSpPr>
        <p:spPr bwMode="auto">
          <a:xfrm>
            <a:off x="685800" y="609600"/>
            <a:ext cx="6858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
        <p:nvSpPr>
          <p:cNvPr id="1027" name="Rectangle 3">
            <a:extLst>
              <a:ext uri="{FF2B5EF4-FFF2-40B4-BE49-F238E27FC236}">
                <a16:creationId xmlns:a16="http://schemas.microsoft.com/office/drawing/2014/main" id="{0FC5565A-177F-F5B4-1E4F-6A8DB73BAABD}"/>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28" name="Rectangle 4">
            <a:extLst>
              <a:ext uri="{FF2B5EF4-FFF2-40B4-BE49-F238E27FC236}">
                <a16:creationId xmlns:a16="http://schemas.microsoft.com/office/drawing/2014/main" id="{19102678-66ED-B746-A789-4D2CF49CAD38}"/>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GB" altLang="en-US"/>
          </a:p>
        </p:txBody>
      </p:sp>
      <p:sp>
        <p:nvSpPr>
          <p:cNvPr id="1029" name="Rectangle 5">
            <a:extLst>
              <a:ext uri="{FF2B5EF4-FFF2-40B4-BE49-F238E27FC236}">
                <a16:creationId xmlns:a16="http://schemas.microsoft.com/office/drawing/2014/main" id="{D20B5247-99A0-8A04-0459-109D9D086855}"/>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GB" altLang="en-US"/>
          </a:p>
        </p:txBody>
      </p:sp>
      <p:sp>
        <p:nvSpPr>
          <p:cNvPr id="1030" name="Rectangle 6">
            <a:extLst>
              <a:ext uri="{FF2B5EF4-FFF2-40B4-BE49-F238E27FC236}">
                <a16:creationId xmlns:a16="http://schemas.microsoft.com/office/drawing/2014/main" id="{7CCFBE3D-6A4C-1089-1B7C-70F5E99D6373}"/>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4BED5B80-1933-D647-B70A-04C5F619B6C3}" type="slidenum">
              <a:rPr lang="en-GB" altLang="en-US"/>
              <a:pPr/>
              <a:t>‹#›</a:t>
            </a:fld>
            <a:endParaRPr lang="en-GB" altLang="en-US"/>
          </a:p>
        </p:txBody>
      </p:sp>
      <p:grpSp>
        <p:nvGrpSpPr>
          <p:cNvPr id="1043" name="Group 19">
            <a:extLst>
              <a:ext uri="{FF2B5EF4-FFF2-40B4-BE49-F238E27FC236}">
                <a16:creationId xmlns:a16="http://schemas.microsoft.com/office/drawing/2014/main" id="{D20A2B6E-2E15-073B-C643-1713978028C7}"/>
              </a:ext>
            </a:extLst>
          </p:cNvPr>
          <p:cNvGrpSpPr>
            <a:grpSpLocks/>
          </p:cNvGrpSpPr>
          <p:nvPr userDrawn="1"/>
        </p:nvGrpSpPr>
        <p:grpSpPr bwMode="auto">
          <a:xfrm>
            <a:off x="0" y="228600"/>
            <a:ext cx="9144000" cy="838200"/>
            <a:chOff x="0" y="192"/>
            <a:chExt cx="5760" cy="528"/>
          </a:xfrm>
        </p:grpSpPr>
        <p:sp>
          <p:nvSpPr>
            <p:cNvPr id="1042" name="Rectangle 18">
              <a:extLst>
                <a:ext uri="{FF2B5EF4-FFF2-40B4-BE49-F238E27FC236}">
                  <a16:creationId xmlns:a16="http://schemas.microsoft.com/office/drawing/2014/main" id="{104FFCE0-B935-9438-0360-C714B2E4C150}"/>
                </a:ext>
              </a:extLst>
            </p:cNvPr>
            <p:cNvSpPr>
              <a:spLocks noChangeArrowheads="1"/>
            </p:cNvSpPr>
            <p:nvPr userDrawn="1"/>
          </p:nvSpPr>
          <p:spPr bwMode="auto">
            <a:xfrm>
              <a:off x="5232" y="528"/>
              <a:ext cx="528" cy="192"/>
            </a:xfrm>
            <a:prstGeom prst="rect">
              <a:avLst/>
            </a:prstGeom>
            <a:solidFill>
              <a:schemeClr val="bg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41" name="Line 17">
              <a:extLst>
                <a:ext uri="{FF2B5EF4-FFF2-40B4-BE49-F238E27FC236}">
                  <a16:creationId xmlns:a16="http://schemas.microsoft.com/office/drawing/2014/main" id="{BC827B3A-566E-3FBF-9973-55F2AF8DB4AA}"/>
                </a:ext>
              </a:extLst>
            </p:cNvPr>
            <p:cNvSpPr>
              <a:spLocks noChangeShapeType="1"/>
            </p:cNvSpPr>
            <p:nvPr userDrawn="1"/>
          </p:nvSpPr>
          <p:spPr bwMode="auto">
            <a:xfrm>
              <a:off x="1872" y="192"/>
              <a:ext cx="2976" cy="0"/>
            </a:xfrm>
            <a:prstGeom prst="line">
              <a:avLst/>
            </a:prstGeom>
            <a:noFill/>
            <a:ln w="127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1040" name="Picture 16">
              <a:extLst>
                <a:ext uri="{FF2B5EF4-FFF2-40B4-BE49-F238E27FC236}">
                  <a16:creationId xmlns:a16="http://schemas.microsoft.com/office/drawing/2014/main" id="{6AD475D3-7BE5-4DED-0A24-1D8D370F3235}"/>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3449" y="192"/>
              <a:ext cx="1063" cy="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7" name="Picture 13">
              <a:extLst>
                <a:ext uri="{FF2B5EF4-FFF2-40B4-BE49-F238E27FC236}">
                  <a16:creationId xmlns:a16="http://schemas.microsoft.com/office/drawing/2014/main" id="{99AA9D89-1D88-FA5F-30F5-B19230562DEB}"/>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0" y="192"/>
              <a:ext cx="2016" cy="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8" name="Picture 14">
              <a:extLst>
                <a:ext uri="{FF2B5EF4-FFF2-40B4-BE49-F238E27FC236}">
                  <a16:creationId xmlns:a16="http://schemas.microsoft.com/office/drawing/2014/main" id="{42688C16-AC91-67EE-EC19-CE061D7A0CD1}"/>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4752" y="192"/>
              <a:ext cx="1008" cy="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spcBef>
          <a:spcPct val="0"/>
        </a:spcBef>
        <a:spcAft>
          <a:spcPct val="0"/>
        </a:spcAft>
        <a:defRPr sz="3600" kern="1200">
          <a:solidFill>
            <a:schemeClr val="tx2"/>
          </a:solidFill>
          <a:latin typeface="Arial" panose="020B0604020202020204" pitchFamily="34" charset="0"/>
          <a:ea typeface="+mj-ea"/>
          <a:cs typeface="Arial" panose="020B0604020202020204" pitchFamily="34" charset="0"/>
        </a:defRPr>
      </a:lvl1pPr>
      <a:lvl2pPr algn="l" rtl="0" fontAlgn="base">
        <a:spcBef>
          <a:spcPct val="0"/>
        </a:spcBef>
        <a:spcAft>
          <a:spcPct val="0"/>
        </a:spcAft>
        <a:defRPr sz="3600">
          <a:solidFill>
            <a:schemeClr val="tx2"/>
          </a:solidFill>
          <a:latin typeface="Comic Sans MS" panose="030F0902030302020204" pitchFamily="66" charset="0"/>
        </a:defRPr>
      </a:lvl2pPr>
      <a:lvl3pPr algn="l" rtl="0" fontAlgn="base">
        <a:spcBef>
          <a:spcPct val="0"/>
        </a:spcBef>
        <a:spcAft>
          <a:spcPct val="0"/>
        </a:spcAft>
        <a:defRPr sz="3600">
          <a:solidFill>
            <a:schemeClr val="tx2"/>
          </a:solidFill>
          <a:latin typeface="Comic Sans MS" panose="030F0902030302020204" pitchFamily="66" charset="0"/>
        </a:defRPr>
      </a:lvl3pPr>
      <a:lvl4pPr algn="l" rtl="0" fontAlgn="base">
        <a:spcBef>
          <a:spcPct val="0"/>
        </a:spcBef>
        <a:spcAft>
          <a:spcPct val="0"/>
        </a:spcAft>
        <a:defRPr sz="3600">
          <a:solidFill>
            <a:schemeClr val="tx2"/>
          </a:solidFill>
          <a:latin typeface="Comic Sans MS" panose="030F0902030302020204" pitchFamily="66" charset="0"/>
        </a:defRPr>
      </a:lvl4pPr>
      <a:lvl5pPr algn="l" rtl="0" fontAlgn="base">
        <a:spcBef>
          <a:spcPct val="0"/>
        </a:spcBef>
        <a:spcAft>
          <a:spcPct val="0"/>
        </a:spcAft>
        <a:defRPr sz="3600">
          <a:solidFill>
            <a:schemeClr val="tx2"/>
          </a:solidFill>
          <a:latin typeface="Comic Sans MS" panose="030F0902030302020204" pitchFamily="66" charset="0"/>
        </a:defRPr>
      </a:lvl5pPr>
      <a:lvl6pPr marL="457200" algn="l" rtl="0" fontAlgn="base">
        <a:spcBef>
          <a:spcPct val="0"/>
        </a:spcBef>
        <a:spcAft>
          <a:spcPct val="0"/>
        </a:spcAft>
        <a:defRPr sz="3600">
          <a:solidFill>
            <a:schemeClr val="tx2"/>
          </a:solidFill>
          <a:latin typeface="Comic Sans MS" panose="030F0902030302020204" pitchFamily="66" charset="0"/>
        </a:defRPr>
      </a:lvl6pPr>
      <a:lvl7pPr marL="914400" algn="l" rtl="0" fontAlgn="base">
        <a:spcBef>
          <a:spcPct val="0"/>
        </a:spcBef>
        <a:spcAft>
          <a:spcPct val="0"/>
        </a:spcAft>
        <a:defRPr sz="3600">
          <a:solidFill>
            <a:schemeClr val="tx2"/>
          </a:solidFill>
          <a:latin typeface="Comic Sans MS" panose="030F0902030302020204" pitchFamily="66" charset="0"/>
        </a:defRPr>
      </a:lvl7pPr>
      <a:lvl8pPr marL="1371600" algn="l" rtl="0" fontAlgn="base">
        <a:spcBef>
          <a:spcPct val="0"/>
        </a:spcBef>
        <a:spcAft>
          <a:spcPct val="0"/>
        </a:spcAft>
        <a:defRPr sz="3600">
          <a:solidFill>
            <a:schemeClr val="tx2"/>
          </a:solidFill>
          <a:latin typeface="Comic Sans MS" panose="030F0902030302020204" pitchFamily="66" charset="0"/>
        </a:defRPr>
      </a:lvl8pPr>
      <a:lvl9pPr marL="1828800" algn="l" rtl="0" fontAlgn="base">
        <a:spcBef>
          <a:spcPct val="0"/>
        </a:spcBef>
        <a:spcAft>
          <a:spcPct val="0"/>
        </a:spcAft>
        <a:defRPr sz="3600">
          <a:solidFill>
            <a:schemeClr val="tx2"/>
          </a:solidFill>
          <a:latin typeface="Comic Sans MS" panose="030F0902030302020204" pitchFamily="66" charset="0"/>
        </a:defRPr>
      </a:lvl9pPr>
    </p:titleStyle>
    <p:bodyStyle>
      <a:lvl1pPr marL="342900" indent="-342900" algn="l" rtl="0" fontAlgn="base">
        <a:spcBef>
          <a:spcPct val="20000"/>
        </a:spcBef>
        <a:spcAft>
          <a:spcPct val="0"/>
        </a:spcAft>
        <a:buChar char="•"/>
        <a:defRPr sz="2800" kern="1200">
          <a:solidFill>
            <a:schemeClr val="tx1"/>
          </a:solidFill>
          <a:latin typeface="+mn-lt"/>
          <a:ea typeface="+mn-ea"/>
          <a:cs typeface="+mn-cs"/>
        </a:defRPr>
      </a:lvl1pPr>
      <a:lvl2pPr marL="742950" indent="-285750" algn="l" rtl="0" fontAlgn="base">
        <a:spcBef>
          <a:spcPct val="20000"/>
        </a:spcBef>
        <a:spcAft>
          <a:spcPct val="0"/>
        </a:spcAft>
        <a:buChar char="–"/>
        <a:defRPr sz="2400" kern="1200">
          <a:solidFill>
            <a:schemeClr val="tx1"/>
          </a:solidFill>
          <a:latin typeface="+mn-lt"/>
          <a:ea typeface="+mn-ea"/>
          <a:cs typeface="+mn-cs"/>
        </a:defRPr>
      </a:lvl2pPr>
      <a:lvl3pPr marL="1143000" indent="-228600" algn="l" rtl="0" fontAlgn="base">
        <a:spcBef>
          <a:spcPct val="20000"/>
        </a:spcBef>
        <a:spcAft>
          <a:spcPct val="0"/>
        </a:spcAft>
        <a:buChar char="•"/>
        <a:defRPr sz="2000" kern="1200">
          <a:solidFill>
            <a:schemeClr val="tx1"/>
          </a:solidFill>
          <a:latin typeface="+mn-lt"/>
          <a:ea typeface="+mn-ea"/>
          <a:cs typeface="+mn-cs"/>
        </a:defRPr>
      </a:lvl3pPr>
      <a:lvl4pPr marL="1600200" indent="-228600" algn="l" rtl="0" fontAlgn="base">
        <a:spcBef>
          <a:spcPct val="20000"/>
        </a:spcBef>
        <a:spcAft>
          <a:spcPct val="0"/>
        </a:spcAft>
        <a:buChar char="–"/>
        <a:defRPr kern="1200">
          <a:solidFill>
            <a:schemeClr val="tx1"/>
          </a:solidFill>
          <a:latin typeface="+mn-lt"/>
          <a:ea typeface="+mn-ea"/>
          <a:cs typeface="+mn-cs"/>
        </a:defRPr>
      </a:lvl4pPr>
      <a:lvl5pPr marL="2057400" indent="-228600" algn="l" rtl="0" fontAlgn="base">
        <a:spcBef>
          <a:spcPct val="20000"/>
        </a:spcBef>
        <a:spcAft>
          <a:spcPct val="0"/>
        </a:spcAft>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8.xml"/></Relationships>
</file>

<file path=ppt/slides/_rels/slide94.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9.xml"/></Relationships>
</file>

<file path=ppt/slides/_rels/slide95.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10.xml"/></Relationships>
</file>

<file path=ppt/slides/_rels/slide96.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11.xml"/></Relationships>
</file>

<file path=ppt/slides/_rels/slide97.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12.xml"/></Relationships>
</file>

<file path=ppt/slides/_rels/slide98.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13.xml"/></Relationships>
</file>

<file path=ppt/slides/_rels/slide99.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14.xml"/></Relationships>
</file>

<file path=ppt/slides/_rels/slide100.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15.xml"/></Relationships>
</file>

<file path=ppt/slides/_rels/slide101.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16.xml"/></Relationships>
</file>

<file path=ppt/slides/_rels/slide102.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17.xml"/></Relationships>
</file>

<file path=ppt/slides/_rels/slide103.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18.xml"/></Relationships>
</file>

<file path=ppt/slides/_rels/slide104.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19.xml"/></Relationships>
</file>

<file path=ppt/slides/_rels/slide105.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20.xml"/></Relationships>
</file>

<file path=ppt/slides/_rels/slide106.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21.xml"/></Relationships>
</file>

<file path=ppt/slides/_rels/slide107.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22.xml"/></Relationships>
</file>

<file path=ppt/slides/_rels/slide108.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23.xml"/></Relationships>
</file>

<file path=ppt/slides/_rels/slide109.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24.xml"/></Relationships>
</file>

<file path=ppt/slides/_rels/slide110.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25.xml"/></Relationships>
</file>

<file path=ppt/slides/_rels/slide111.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26.xml"/></Relationships>
</file>

<file path=ppt/slides/_rels/slide112.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27.xml"/></Relationships>
</file>

<file path=ppt/slides/_rels/slide113.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28.xml"/></Relationships>
</file>

<file path=ppt/slides/_rels/slide114.xml.rels><?xml version="1.0" encoding="UTF-8" standalone="yes"?>
<Relationships xmlns="http://schemas.openxmlformats.org/package/2006/relationships">
  <Relationship Id="rId1" Type="http://schemas.openxmlformats.org/officeDocument/2006/relationships/slideLayout" Target="../slideLayouts/slideLayout6.xml"/>
<Relationship Id="rIdN1"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CA76A7EE-EFB4-86EF-677D-DE2BDF619D43}"/>
              </a:ext>
            </a:extLst>
          </p:cNvPr>
          <p:cNvSpPr>
            <a:spLocks noGrp="1" noChangeArrowheads="1"/>
          </p:cNvSpPr>
          <p:nvPr>
            <p:ph type="ctrTitle"/>
          </p:nvPr>
        </p:nvSpPr>
        <p:spPr>
          <a:xfrm>
            <a:off x="1219200" y="1981200"/>
            <a:ext cx="6629400" cy="1219200"/>
          </a:xfrm>
        </p:spPr>
        <p:txBody>
          <a:bodyPr anchor="ctr"/>
          <a:lstStyle/>
          <a:p>
            <a:pPr>
              <a:spcAft>
                <a:spcPct val="30000"/>
              </a:spcAft>
            </a:pPr>
            <a:r>
              <a:rPr lang="en-GB" altLang="en-US" sz="4000">
                <a:solidFill>
                  <a:srgbClr val="2E005D"/>
                </a:solidFill>
                <a:latin typeface="Verdana" panose="020B0604030504040204" pitchFamily="34" charset="0"/>
              </a:rPr>
              <a:t>chapter 5</a:t>
            </a:r>
            <a:endParaRPr lang="en-GB" altLang="en-US" sz="4000">
              <a:solidFill>
                <a:srgbClr val="2E005D"/>
              </a:solidFill>
            </a:endParaRPr>
          </a:p>
        </p:txBody>
      </p:sp>
      <p:sp>
        <p:nvSpPr>
          <p:cNvPr id="103427" name="Rectangle 3">
            <a:extLst>
              <a:ext uri="{FF2B5EF4-FFF2-40B4-BE49-F238E27FC236}">
                <a16:creationId xmlns:a16="http://schemas.microsoft.com/office/drawing/2014/main" id="{E5CFCF6A-91EF-ED33-F13A-A61E1882B857}"/>
              </a:ext>
            </a:extLst>
          </p:cNvPr>
          <p:cNvSpPr>
            <a:spLocks noGrp="1" noChangeArrowheads="1"/>
          </p:cNvSpPr>
          <p:nvPr>
            <p:ph type="subTitle" idx="1"/>
          </p:nvPr>
        </p:nvSpPr>
        <p:spPr>
          <a:xfrm>
            <a:off x="1371600" y="3352800"/>
            <a:ext cx="6400800" cy="2286000"/>
          </a:xfrm>
        </p:spPr>
        <p:txBody>
          <a:bodyPr/>
          <a:lstStyle/>
          <a:p>
            <a:r>
              <a:rPr lang="en-GB" altLang="en-US" sz="4400" dirty="0">
                <a:latin typeface="Arial" panose="020B0604020202020204" pitchFamily="34" charset="0"/>
                <a:cs typeface="Arial" panose="020B0604020202020204" pitchFamily="34" charset="0"/>
              </a:rPr>
              <a:t>interaction design basics</a:t>
            </a:r>
          </a:p>
        </p:txBody>
      </p:sp>
      <p:grpSp>
        <p:nvGrpSpPr>
          <p:cNvPr id="103428" name="Group 4">
            <a:extLst>
              <a:ext uri="{FF2B5EF4-FFF2-40B4-BE49-F238E27FC236}">
                <a16:creationId xmlns:a16="http://schemas.microsoft.com/office/drawing/2014/main" id="{C0B463BE-53DA-4B9D-E9EE-727033E014EC}"/>
              </a:ext>
            </a:extLst>
          </p:cNvPr>
          <p:cNvGrpSpPr>
            <a:grpSpLocks/>
          </p:cNvGrpSpPr>
          <p:nvPr/>
        </p:nvGrpSpPr>
        <p:grpSpPr bwMode="auto">
          <a:xfrm>
            <a:off x="0" y="0"/>
            <a:ext cx="9144000" cy="6858000"/>
            <a:chOff x="0" y="0"/>
            <a:chExt cx="5760" cy="4320"/>
          </a:xfrm>
        </p:grpSpPr>
        <p:sp>
          <p:nvSpPr>
            <p:cNvPr id="103429" name="Rectangle 5">
              <a:extLst>
                <a:ext uri="{FF2B5EF4-FFF2-40B4-BE49-F238E27FC236}">
                  <a16:creationId xmlns:a16="http://schemas.microsoft.com/office/drawing/2014/main" id="{554952E9-4696-B733-DD1D-0F23012B7F45}"/>
                </a:ext>
              </a:extLst>
            </p:cNvPr>
            <p:cNvSpPr>
              <a:spLocks noChangeArrowheads="1"/>
            </p:cNvSpPr>
            <p:nvPr/>
          </p:nvSpPr>
          <p:spPr bwMode="auto">
            <a:xfrm>
              <a:off x="5136" y="528"/>
              <a:ext cx="624" cy="379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3430" name="Rectangle 6">
              <a:extLst>
                <a:ext uri="{FF2B5EF4-FFF2-40B4-BE49-F238E27FC236}">
                  <a16:creationId xmlns:a16="http://schemas.microsoft.com/office/drawing/2014/main" id="{3FFB2452-6032-EE02-E8A2-1CBEB4BE7857}"/>
                </a:ext>
              </a:extLst>
            </p:cNvPr>
            <p:cNvSpPr>
              <a:spLocks noChangeArrowheads="1"/>
            </p:cNvSpPr>
            <p:nvPr/>
          </p:nvSpPr>
          <p:spPr bwMode="auto">
            <a:xfrm>
              <a:off x="0" y="0"/>
              <a:ext cx="5760" cy="672"/>
            </a:xfrm>
            <a:prstGeom prst="rect">
              <a:avLst/>
            </a:prstGeom>
            <a:solidFill>
              <a:srgbClr val="2E005D"/>
            </a:solidFill>
            <a:ln w="9525">
              <a:solidFill>
                <a:srgbClr val="2E005D"/>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103431" name="Picture 7">
              <a:extLst>
                <a:ext uri="{FF2B5EF4-FFF2-40B4-BE49-F238E27FC236}">
                  <a16:creationId xmlns:a16="http://schemas.microsoft.com/office/drawing/2014/main" id="{A69C8C7E-35F9-830A-8E35-27F30A5B43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2" y="0"/>
              <a:ext cx="3264"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32" name="Picture 8">
              <a:extLst>
                <a:ext uri="{FF2B5EF4-FFF2-40B4-BE49-F238E27FC236}">
                  <a16:creationId xmlns:a16="http://schemas.microsoft.com/office/drawing/2014/main" id="{67FB80DF-6971-6249-29F7-C2EB97E827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 y="0"/>
              <a:ext cx="672"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33" name="Picture 9">
              <a:extLst>
                <a:ext uri="{FF2B5EF4-FFF2-40B4-BE49-F238E27FC236}">
                  <a16:creationId xmlns:a16="http://schemas.microsoft.com/office/drawing/2014/main" id="{2D448AE5-E7F7-06FA-5587-395A2B2E10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672"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34" name="Picture 10">
              <a:extLst>
                <a:ext uri="{FF2B5EF4-FFF2-40B4-BE49-F238E27FC236}">
                  <a16:creationId xmlns:a16="http://schemas.microsoft.com/office/drawing/2014/main" id="{14E0B68E-520C-41CF-A576-ECA6826A9C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80" y="0"/>
              <a:ext cx="176"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35" name="Picture 11">
              <a:extLst>
                <a:ext uri="{FF2B5EF4-FFF2-40B4-BE49-F238E27FC236}">
                  <a16:creationId xmlns:a16="http://schemas.microsoft.com/office/drawing/2014/main" id="{CC2FBA0E-1457-01C5-128C-4CD54DE287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4" y="0"/>
              <a:ext cx="176"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901" name="Shape 901"/>
          <p:cNvSpPr txBox="1"/>
          <p:nvPr/>
        </p:nvSpPr>
        <p:spPr>
          <a:xfrm>
            <a:off x="914400" y="4709160"/>
            <a:ext cx="7315200" cy="822960"/>
          </a:xfrm>
          <a:prstGeom prst="rect">
            <a:avLst/>
          </a:prstGeom>
          <a:noFill/>
          <a:ln>
            <a:noFill/>
          </a:ln>
        </p:spPr>
        <p:txBody>
          <a:bodyPr wrap="square" lIns="18288" tIns="18288" rIns="18288" bIns="18288" anchor="t" rtlCol="0">
            <a:normAutofit/>
          </a:bodyPr>
          <a:lstStyle/>
          <a:p>
            <a:pPr algn="ctr">
              <a:spcAft>
                <a:spcPts val="400"/>
              </a:spcAft>
              <a:buNone/>
            </a:pPr>
            <a:r>
              <a:rPr lang="en-GB" sz="2000" b="1" i="0" dirty="0">
                <a:solidFill>
                  <a:srgbClr val="2D2D8A"/>
                </a:solidFill>
                <a:latin typeface="Arial"/>
                <a:cs typeface="Arial"/>
              </a:rPr>
              <a:t>Week 4 · Lecture 1</a:t>
            </a:r>
            <a:endParaRPr lang="en-GB" sz="2000" dirty="0"/>
          </a:p>
          <a:p>
            <a:pPr algn="ctr">
              <a:buNone/>
            </a:pPr>
            <a:r>
              <a:rPr lang="en-GB" sz="1400" b="0" i="1" dirty="0">
                <a:solidFill>
                  <a:srgbClr val="595959"/>
                </a:solidFill>
                <a:latin typeface="Arial"/>
                <a:cs typeface="Arial"/>
              </a:rPr>
              <a:t>what design is, the process, users, scenarios and navigation</a:t>
            </a:r>
            <a:endParaRPr lang="en-GB"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3697CB7E-DD9D-55EF-E77F-9B03B09B0AAA}"/>
              </a:ext>
            </a:extLst>
          </p:cNvPr>
          <p:cNvSpPr>
            <a:spLocks noGrp="1" noChangeArrowheads="1"/>
          </p:cNvSpPr>
          <p:nvPr>
            <p:ph type="title"/>
          </p:nvPr>
        </p:nvSpPr>
        <p:spPr/>
        <p:txBody>
          <a:bodyPr/>
          <a:lstStyle/>
          <a:p>
            <a:r>
              <a:rPr lang="en-GB" altLang="en-US"/>
              <a:t>interaction design basics</a:t>
            </a:r>
          </a:p>
        </p:txBody>
      </p:sp>
      <p:sp>
        <p:nvSpPr>
          <p:cNvPr id="106499" name="Rectangle 3">
            <a:extLst>
              <a:ext uri="{FF2B5EF4-FFF2-40B4-BE49-F238E27FC236}">
                <a16:creationId xmlns:a16="http://schemas.microsoft.com/office/drawing/2014/main" id="{C87683ED-2048-4660-AA6D-9626FC419E78}"/>
              </a:ext>
            </a:extLst>
          </p:cNvPr>
          <p:cNvSpPr>
            <a:spLocks noGrp="1" noChangeArrowheads="1"/>
          </p:cNvSpPr>
          <p:nvPr>
            <p:ph type="body" idx="1"/>
          </p:nvPr>
        </p:nvSpPr>
        <p:spPr/>
        <p:txBody>
          <a:bodyPr/>
          <a:lstStyle/>
          <a:p>
            <a:pPr>
              <a:lnSpc>
                <a:spcPct val="90000"/>
              </a:lnSpc>
            </a:pPr>
            <a:r>
              <a:rPr lang="en-GB" altLang="en-US" sz="2400"/>
              <a:t>design:</a:t>
            </a:r>
          </a:p>
          <a:p>
            <a:pPr lvl="3">
              <a:lnSpc>
                <a:spcPct val="90000"/>
              </a:lnSpc>
            </a:pPr>
            <a:r>
              <a:rPr lang="en-GB" altLang="en-US" sz="1600"/>
              <a:t>what it is, interventions, goals, constraints</a:t>
            </a:r>
          </a:p>
          <a:p>
            <a:pPr>
              <a:lnSpc>
                <a:spcPct val="90000"/>
              </a:lnSpc>
            </a:pPr>
            <a:r>
              <a:rPr lang="en-GB" altLang="en-US" sz="2400"/>
              <a:t>the design process</a:t>
            </a:r>
          </a:p>
          <a:p>
            <a:pPr lvl="3">
              <a:lnSpc>
                <a:spcPct val="90000"/>
              </a:lnSpc>
            </a:pPr>
            <a:r>
              <a:rPr lang="en-GB" altLang="en-US" sz="1600"/>
              <a:t>what happens when</a:t>
            </a:r>
          </a:p>
          <a:p>
            <a:pPr>
              <a:lnSpc>
                <a:spcPct val="90000"/>
              </a:lnSpc>
            </a:pPr>
            <a:r>
              <a:rPr lang="en-GB" altLang="en-US" sz="2400"/>
              <a:t>users</a:t>
            </a:r>
          </a:p>
          <a:p>
            <a:pPr lvl="3">
              <a:lnSpc>
                <a:spcPct val="90000"/>
              </a:lnSpc>
            </a:pPr>
            <a:r>
              <a:rPr lang="en-GB" altLang="en-US" sz="1600"/>
              <a:t>who they are, what they are like …</a:t>
            </a:r>
          </a:p>
          <a:p>
            <a:pPr>
              <a:lnSpc>
                <a:spcPct val="90000"/>
              </a:lnSpc>
            </a:pPr>
            <a:r>
              <a:rPr lang="en-GB" altLang="en-US" sz="2400"/>
              <a:t>scenarios</a:t>
            </a:r>
          </a:p>
          <a:p>
            <a:pPr lvl="3">
              <a:lnSpc>
                <a:spcPct val="90000"/>
              </a:lnSpc>
            </a:pPr>
            <a:r>
              <a:rPr lang="en-GB" altLang="en-US" sz="1600"/>
              <a:t>rich stories of design</a:t>
            </a:r>
          </a:p>
          <a:p>
            <a:pPr>
              <a:lnSpc>
                <a:spcPct val="90000"/>
              </a:lnSpc>
            </a:pPr>
            <a:r>
              <a:rPr lang="en-GB" altLang="en-US" sz="2400"/>
              <a:t>navigation</a:t>
            </a:r>
          </a:p>
          <a:p>
            <a:pPr lvl="3">
              <a:lnSpc>
                <a:spcPct val="90000"/>
              </a:lnSpc>
            </a:pPr>
            <a:r>
              <a:rPr lang="en-GB" altLang="en-US" sz="1600"/>
              <a:t>finding your way around a system</a:t>
            </a:r>
          </a:p>
          <a:p>
            <a:pPr>
              <a:lnSpc>
                <a:spcPct val="90000"/>
              </a:lnSpc>
            </a:pPr>
            <a:r>
              <a:rPr lang="en-GB" altLang="en-US" sz="2400"/>
              <a:t>iteration and prototypes</a:t>
            </a:r>
          </a:p>
          <a:p>
            <a:pPr lvl="3">
              <a:lnSpc>
                <a:spcPct val="90000"/>
              </a:lnSpc>
            </a:pPr>
            <a:r>
              <a:rPr lang="en-GB" altLang="en-US" sz="1600"/>
              <a:t>never get it right first 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52F9EAFD-D163-DACB-AE66-E5D1773C9D99}"/>
              </a:ext>
            </a:extLst>
          </p:cNvPr>
          <p:cNvSpPr>
            <a:spLocks noGrp="1" noChangeArrowheads="1"/>
          </p:cNvSpPr>
          <p:nvPr>
            <p:ph type="title"/>
          </p:nvPr>
        </p:nvSpPr>
        <p:spPr/>
        <p:txBody>
          <a:bodyPr/>
          <a:lstStyle/>
          <a:p>
            <a:r>
              <a:rPr lang="en-GB" altLang="en-US"/>
              <a:t>interactions and interventions</a:t>
            </a:r>
          </a:p>
        </p:txBody>
      </p:sp>
      <p:sp>
        <p:nvSpPr>
          <p:cNvPr id="107523" name="Rectangle 3">
            <a:extLst>
              <a:ext uri="{FF2B5EF4-FFF2-40B4-BE49-F238E27FC236}">
                <a16:creationId xmlns:a16="http://schemas.microsoft.com/office/drawing/2014/main" id="{DFF0E510-2E1C-224B-A3CE-C9F4582ADC81}"/>
              </a:ext>
            </a:extLst>
          </p:cNvPr>
          <p:cNvSpPr>
            <a:spLocks noGrp="1" noChangeArrowheads="1"/>
          </p:cNvSpPr>
          <p:nvPr>
            <p:ph type="body" idx="1"/>
          </p:nvPr>
        </p:nvSpPr>
        <p:spPr>
          <a:xfrm>
            <a:off x="685800" y="1981200"/>
            <a:ext cx="8077200" cy="4114800"/>
          </a:xfrm>
        </p:spPr>
        <p:txBody>
          <a:bodyPr/>
          <a:lstStyle/>
          <a:p>
            <a:pPr marL="190500" indent="-190500">
              <a:buFontTx/>
              <a:buChar char=" "/>
              <a:tabLst>
                <a:tab pos="2286000" algn="l"/>
              </a:tabLst>
            </a:pPr>
            <a:r>
              <a:rPr lang="en-GB" altLang="en-US"/>
              <a:t>design interactions not just interfaces</a:t>
            </a:r>
          </a:p>
          <a:p>
            <a:pPr marL="565150" lvl="1" indent="-184150">
              <a:buFontTx/>
              <a:buChar char=" "/>
              <a:tabLst>
                <a:tab pos="2286000" algn="l"/>
              </a:tabLst>
            </a:pPr>
            <a:r>
              <a:rPr lang="en-GB" altLang="en-US" sz="2000"/>
              <a:t>not just the immediate interaction</a:t>
            </a:r>
          </a:p>
          <a:p>
            <a:pPr marL="565150" lvl="1" indent="-184150">
              <a:buFontTx/>
              <a:buChar char=" "/>
              <a:tabLst>
                <a:tab pos="2286000" algn="l"/>
              </a:tabLst>
            </a:pPr>
            <a:r>
              <a:rPr lang="en-GB" altLang="en-US" sz="1800"/>
              <a:t>e.g. stapler in office – technology changes interaction style</a:t>
            </a:r>
          </a:p>
          <a:p>
            <a:pPr marL="1238250" lvl="2">
              <a:tabLst>
                <a:tab pos="2286000" algn="l"/>
              </a:tabLst>
            </a:pPr>
            <a:r>
              <a:rPr lang="en-GB" altLang="en-US" sz="1600"/>
              <a:t>manual:	write, print, staple, write, print, staple, …</a:t>
            </a:r>
          </a:p>
          <a:p>
            <a:pPr marL="1238250" lvl="2">
              <a:tabLst>
                <a:tab pos="2286000" algn="l"/>
              </a:tabLst>
            </a:pPr>
            <a:r>
              <a:rPr lang="en-GB" altLang="en-US" sz="1600"/>
              <a:t>electric:	write, print, write, print, …, staple </a:t>
            </a:r>
          </a:p>
          <a:p>
            <a:pPr marL="1238250" lvl="2">
              <a:tabLst>
                <a:tab pos="2286000" algn="l"/>
              </a:tabLst>
            </a:pPr>
            <a:endParaRPr lang="en-GB" altLang="en-US" sz="1800"/>
          </a:p>
          <a:p>
            <a:pPr marL="190500" indent="-190500">
              <a:buFontTx/>
              <a:buChar char=" "/>
              <a:tabLst>
                <a:tab pos="2286000" algn="l"/>
              </a:tabLst>
            </a:pPr>
            <a:r>
              <a:rPr lang="en-GB" altLang="en-US"/>
              <a:t>designing interventions not just artefacts</a:t>
            </a:r>
          </a:p>
          <a:p>
            <a:pPr marL="565150" lvl="1" indent="-184150">
              <a:buFontTx/>
              <a:buChar char=" "/>
              <a:tabLst>
                <a:tab pos="2286000" algn="l"/>
              </a:tabLst>
            </a:pPr>
            <a:r>
              <a:rPr lang="en-GB" altLang="en-US" sz="2000"/>
              <a:t>not just the system, but also …</a:t>
            </a:r>
          </a:p>
          <a:p>
            <a:pPr marL="1238250" lvl="2">
              <a:tabLst>
                <a:tab pos="2286000" algn="l"/>
              </a:tabLst>
            </a:pPr>
            <a:r>
              <a:rPr lang="en-GB" altLang="en-US" sz="1800"/>
              <a:t>documentation, manuals, tutorials</a:t>
            </a:r>
          </a:p>
          <a:p>
            <a:pPr marL="1238250" lvl="2">
              <a:tabLst>
                <a:tab pos="2286000" algn="l"/>
              </a:tabLst>
            </a:pPr>
            <a:r>
              <a:rPr lang="en-GB" altLang="en-US" sz="1800"/>
              <a:t>what we say and do as well as what we make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0F16D38F-A6F8-9224-C8C0-493B39D94458}"/>
              </a:ext>
            </a:extLst>
          </p:cNvPr>
          <p:cNvSpPr>
            <a:spLocks noGrp="1" noChangeArrowheads="1"/>
          </p:cNvSpPr>
          <p:nvPr>
            <p:ph type="ctrTitle"/>
          </p:nvPr>
        </p:nvSpPr>
        <p:spPr>
          <a:xfrm>
            <a:off x="685800" y="2286000"/>
            <a:ext cx="7772400" cy="1143000"/>
          </a:xfrm>
        </p:spPr>
        <p:txBody>
          <a:bodyPr anchor="ctr"/>
          <a:lstStyle/>
          <a:p>
            <a:pPr algn="l"/>
            <a:r>
              <a:rPr lang="en-GB" altLang="en-US" sz="3600"/>
              <a:t>what is design?</a:t>
            </a:r>
          </a:p>
        </p:txBody>
      </p:sp>
      <p:sp>
        <p:nvSpPr>
          <p:cNvPr id="105475" name="Rectangle 3">
            <a:extLst>
              <a:ext uri="{FF2B5EF4-FFF2-40B4-BE49-F238E27FC236}">
                <a16:creationId xmlns:a16="http://schemas.microsoft.com/office/drawing/2014/main" id="{522A968C-6915-E170-12D4-C55F9FD16677}"/>
              </a:ext>
            </a:extLst>
          </p:cNvPr>
          <p:cNvSpPr>
            <a:spLocks noGrp="1" noChangeArrowheads="1"/>
          </p:cNvSpPr>
          <p:nvPr>
            <p:ph type="subTitle" idx="1"/>
          </p:nvPr>
        </p:nvSpPr>
        <p:spPr>
          <a:xfrm>
            <a:off x="1371600" y="3886200"/>
            <a:ext cx="6400800" cy="1752600"/>
          </a:xfrm>
        </p:spPr>
        <p:txBody>
          <a:bodyPr/>
          <a:lstStyle/>
          <a:p>
            <a:endParaRPr lang="en-US" altLang="en-US" sz="2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50C1851E-F011-DF58-E539-A12AE63F0156}"/>
              </a:ext>
            </a:extLst>
          </p:cNvPr>
          <p:cNvSpPr>
            <a:spLocks noGrp="1" noChangeArrowheads="1"/>
          </p:cNvSpPr>
          <p:nvPr>
            <p:ph type="title"/>
          </p:nvPr>
        </p:nvSpPr>
        <p:spPr/>
        <p:txBody>
          <a:bodyPr/>
          <a:lstStyle/>
          <a:p>
            <a:r>
              <a:rPr lang="en-GB" altLang="en-US"/>
              <a:t>what is design?</a:t>
            </a:r>
          </a:p>
        </p:txBody>
      </p:sp>
      <p:sp>
        <p:nvSpPr>
          <p:cNvPr id="29699" name="Rectangle 3">
            <a:extLst>
              <a:ext uri="{FF2B5EF4-FFF2-40B4-BE49-F238E27FC236}">
                <a16:creationId xmlns:a16="http://schemas.microsoft.com/office/drawing/2014/main" id="{EE9A591B-EF7D-6EB7-06FD-C1AA2C00093B}"/>
              </a:ext>
            </a:extLst>
          </p:cNvPr>
          <p:cNvSpPr>
            <a:spLocks noGrp="1" noChangeArrowheads="1"/>
          </p:cNvSpPr>
          <p:nvPr>
            <p:ph type="body" idx="1"/>
          </p:nvPr>
        </p:nvSpPr>
        <p:spPr>
          <a:xfrm>
            <a:off x="685800" y="2209800"/>
            <a:ext cx="7772400" cy="4114800"/>
          </a:xfrm>
        </p:spPr>
        <p:txBody>
          <a:bodyPr/>
          <a:lstStyle/>
          <a:p>
            <a:pPr algn="ctr">
              <a:buFontTx/>
              <a:buNone/>
            </a:pPr>
            <a:r>
              <a:rPr lang="en-GB" altLang="en-US">
                <a:solidFill>
                  <a:srgbClr val="993333"/>
                </a:solidFill>
              </a:rPr>
              <a:t>achieving goals within constraints</a:t>
            </a:r>
          </a:p>
          <a:p>
            <a:pPr lvl="4"/>
            <a:endParaRPr lang="en-GB" altLang="en-US"/>
          </a:p>
          <a:p>
            <a:r>
              <a:rPr lang="en-GB" altLang="en-US"/>
              <a:t> goals - purpose</a:t>
            </a:r>
          </a:p>
          <a:p>
            <a:pPr lvl="1"/>
            <a:r>
              <a:rPr lang="en-GB" altLang="en-US"/>
              <a:t>who is it for, why do they want it </a:t>
            </a:r>
          </a:p>
          <a:p>
            <a:r>
              <a:rPr lang="en-GB" altLang="en-US"/>
              <a:t>constraints</a:t>
            </a:r>
          </a:p>
          <a:p>
            <a:pPr lvl="1"/>
            <a:r>
              <a:rPr lang="en-GB" altLang="en-US"/>
              <a:t>materials, platforms</a:t>
            </a:r>
          </a:p>
          <a:p>
            <a:r>
              <a:rPr lang="en-GB" altLang="en-US"/>
              <a:t>trade-offs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1114DDF4-8839-8176-4896-2FD6FA363D0D}"/>
              </a:ext>
            </a:extLst>
          </p:cNvPr>
          <p:cNvSpPr>
            <a:spLocks noGrp="1" noChangeArrowheads="1"/>
          </p:cNvSpPr>
          <p:nvPr>
            <p:ph type="title"/>
          </p:nvPr>
        </p:nvSpPr>
        <p:spPr/>
        <p:txBody>
          <a:bodyPr/>
          <a:lstStyle/>
          <a:p>
            <a:r>
              <a:rPr lang="en-GB" altLang="en-US"/>
              <a:t>golden rule of design</a:t>
            </a:r>
          </a:p>
        </p:txBody>
      </p:sp>
      <p:sp>
        <p:nvSpPr>
          <p:cNvPr id="31747" name="Rectangle 3">
            <a:extLst>
              <a:ext uri="{FF2B5EF4-FFF2-40B4-BE49-F238E27FC236}">
                <a16:creationId xmlns:a16="http://schemas.microsoft.com/office/drawing/2014/main" id="{3FC5AC34-6ADE-EB97-F598-4D6CDC29A7EF}"/>
              </a:ext>
            </a:extLst>
          </p:cNvPr>
          <p:cNvSpPr>
            <a:spLocks noGrp="1" noChangeArrowheads="1"/>
          </p:cNvSpPr>
          <p:nvPr>
            <p:ph type="body" idx="1"/>
          </p:nvPr>
        </p:nvSpPr>
        <p:spPr>
          <a:xfrm>
            <a:off x="685800" y="2209800"/>
            <a:ext cx="7772400" cy="4114800"/>
          </a:xfrm>
        </p:spPr>
        <p:txBody>
          <a:bodyPr/>
          <a:lstStyle/>
          <a:p>
            <a:pPr algn="ctr">
              <a:buFontTx/>
              <a:buNone/>
            </a:pPr>
            <a:endParaRPr lang="en-GB" altLang="en-US">
              <a:solidFill>
                <a:schemeClr val="accent1"/>
              </a:solidFill>
            </a:endParaRPr>
          </a:p>
          <a:p>
            <a:pPr algn="ctr">
              <a:buFontTx/>
              <a:buNone/>
            </a:pPr>
            <a:r>
              <a:rPr lang="en-GB" altLang="en-US" sz="3600">
                <a:solidFill>
                  <a:srgbClr val="993333"/>
                </a:solidFill>
              </a:rPr>
              <a:t>understand your materials</a:t>
            </a:r>
            <a:endParaRPr lang="en-GB" altLang="en-US"/>
          </a:p>
          <a:p>
            <a:pPr lvl="4"/>
            <a:endParaRPr lang="en-GB" altLang="en-US"/>
          </a:p>
          <a:p>
            <a:endParaRPr lang="en-GB"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D809C31-EB0B-E57A-24D6-F9570351DAFE}"/>
              </a:ext>
            </a:extLst>
          </p:cNvPr>
          <p:cNvSpPr>
            <a:spLocks noGrp="1" noChangeArrowheads="1"/>
          </p:cNvSpPr>
          <p:nvPr>
            <p:ph type="title"/>
          </p:nvPr>
        </p:nvSpPr>
        <p:spPr/>
        <p:txBody>
          <a:bodyPr/>
          <a:lstStyle/>
          <a:p>
            <a:r>
              <a:rPr lang="en-GB" altLang="en-US" sz="2800"/>
              <a:t>for Human–Computer Interaction</a:t>
            </a:r>
            <a:endParaRPr lang="en-GB" altLang="en-US"/>
          </a:p>
        </p:txBody>
      </p:sp>
      <p:sp>
        <p:nvSpPr>
          <p:cNvPr id="33795" name="Rectangle 3">
            <a:extLst>
              <a:ext uri="{FF2B5EF4-FFF2-40B4-BE49-F238E27FC236}">
                <a16:creationId xmlns:a16="http://schemas.microsoft.com/office/drawing/2014/main" id="{03DC0A63-7C23-19B3-C757-6F68A00033F8}"/>
              </a:ext>
            </a:extLst>
          </p:cNvPr>
          <p:cNvSpPr>
            <a:spLocks noGrp="1" noChangeArrowheads="1"/>
          </p:cNvSpPr>
          <p:nvPr>
            <p:ph type="body" idx="1"/>
          </p:nvPr>
        </p:nvSpPr>
        <p:spPr>
          <a:xfrm>
            <a:off x="685800" y="2057400"/>
            <a:ext cx="7772400" cy="4114800"/>
          </a:xfrm>
        </p:spPr>
        <p:txBody>
          <a:bodyPr/>
          <a:lstStyle/>
          <a:p>
            <a:pPr algn="ctr">
              <a:buFontTx/>
              <a:buNone/>
            </a:pPr>
            <a:r>
              <a:rPr lang="en-GB" altLang="en-US" sz="2400">
                <a:solidFill>
                  <a:srgbClr val="993333"/>
                </a:solidFill>
              </a:rPr>
              <a:t>understand your materials</a:t>
            </a:r>
            <a:endParaRPr lang="en-GB" altLang="en-US" sz="2400"/>
          </a:p>
          <a:p>
            <a:pPr lvl="4"/>
            <a:endParaRPr lang="en-GB" altLang="en-US" sz="1600"/>
          </a:p>
          <a:p>
            <a:r>
              <a:rPr lang="en-GB" altLang="en-US" sz="2400"/>
              <a:t>understand computers</a:t>
            </a:r>
          </a:p>
          <a:p>
            <a:pPr lvl="1"/>
            <a:r>
              <a:rPr lang="en-GB" altLang="en-US" sz="2000"/>
              <a:t>limitations, capacities, tools, platforms</a:t>
            </a:r>
          </a:p>
          <a:p>
            <a:r>
              <a:rPr lang="en-GB" altLang="en-US" sz="2400"/>
              <a:t>understand people</a:t>
            </a:r>
          </a:p>
          <a:p>
            <a:pPr lvl="1"/>
            <a:r>
              <a:rPr lang="en-GB" altLang="en-US" sz="2000"/>
              <a:t>psychological, social aspects</a:t>
            </a:r>
          </a:p>
          <a:p>
            <a:pPr lvl="1"/>
            <a:r>
              <a:rPr lang="en-GB" altLang="en-US" sz="2000"/>
              <a:t>human error</a:t>
            </a:r>
          </a:p>
          <a:p>
            <a:r>
              <a:rPr lang="en-GB" altLang="en-US" sz="2400"/>
              <a:t>and their interaction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0D9DF4E0-F975-971F-FAD4-A0D004DDF25B}"/>
              </a:ext>
            </a:extLst>
          </p:cNvPr>
          <p:cNvSpPr>
            <a:spLocks noGrp="1" noChangeArrowheads="1"/>
          </p:cNvSpPr>
          <p:nvPr>
            <p:ph type="title"/>
          </p:nvPr>
        </p:nvSpPr>
        <p:spPr/>
        <p:txBody>
          <a:bodyPr/>
          <a:lstStyle/>
          <a:p>
            <a:r>
              <a:rPr lang="en-GB" altLang="en-US"/>
              <a:t>To err is human</a:t>
            </a:r>
          </a:p>
        </p:txBody>
      </p:sp>
      <p:sp>
        <p:nvSpPr>
          <p:cNvPr id="108547" name="Rectangle 3">
            <a:extLst>
              <a:ext uri="{FF2B5EF4-FFF2-40B4-BE49-F238E27FC236}">
                <a16:creationId xmlns:a16="http://schemas.microsoft.com/office/drawing/2014/main" id="{776F5166-626E-B6AA-2BB9-C3CE125AC63E}"/>
              </a:ext>
            </a:extLst>
          </p:cNvPr>
          <p:cNvSpPr>
            <a:spLocks noGrp="1" noChangeArrowheads="1"/>
          </p:cNvSpPr>
          <p:nvPr>
            <p:ph type="body" idx="1"/>
          </p:nvPr>
        </p:nvSpPr>
        <p:spPr/>
        <p:txBody>
          <a:bodyPr/>
          <a:lstStyle/>
          <a:p>
            <a:pPr>
              <a:lnSpc>
                <a:spcPct val="90000"/>
              </a:lnSpc>
            </a:pPr>
            <a:r>
              <a:rPr lang="en-GB" altLang="en-US" sz="2000"/>
              <a:t>accident reports ..</a:t>
            </a:r>
          </a:p>
          <a:p>
            <a:pPr lvl="1">
              <a:lnSpc>
                <a:spcPct val="90000"/>
              </a:lnSpc>
            </a:pPr>
            <a:r>
              <a:rPr lang="en-GB" altLang="en-US" sz="1800"/>
              <a:t>aircrash, industrial accident, hospital mistake</a:t>
            </a:r>
          </a:p>
          <a:p>
            <a:pPr lvl="1">
              <a:lnSpc>
                <a:spcPct val="90000"/>
              </a:lnSpc>
            </a:pPr>
            <a:r>
              <a:rPr lang="en-GB" altLang="en-US" sz="1800"/>
              <a:t>enquiry … blames … ‘human error’</a:t>
            </a:r>
          </a:p>
          <a:p>
            <a:pPr>
              <a:lnSpc>
                <a:spcPct val="90000"/>
              </a:lnSpc>
            </a:pPr>
            <a:r>
              <a:rPr lang="en-GB" altLang="en-US" sz="2000"/>
              <a:t>but …</a:t>
            </a:r>
          </a:p>
          <a:p>
            <a:pPr lvl="1">
              <a:lnSpc>
                <a:spcPct val="90000"/>
              </a:lnSpc>
            </a:pPr>
            <a:r>
              <a:rPr lang="en-GB" altLang="en-US" sz="1800"/>
              <a:t>concrete lintel breaks because too much weight</a:t>
            </a:r>
          </a:p>
          <a:p>
            <a:pPr lvl="1">
              <a:lnSpc>
                <a:spcPct val="90000"/>
              </a:lnSpc>
            </a:pPr>
            <a:r>
              <a:rPr lang="en-GB" altLang="en-US" sz="1800"/>
              <a:t>blame ‘lintel error’ ?</a:t>
            </a:r>
            <a:br>
              <a:rPr lang="en-GB" altLang="en-US" sz="1800"/>
            </a:br>
            <a:r>
              <a:rPr lang="en-GB" altLang="en-US" sz="1800"/>
              <a:t>… no – design error</a:t>
            </a:r>
            <a:br>
              <a:rPr lang="en-GB" altLang="en-US" sz="1800"/>
            </a:br>
            <a:r>
              <a:rPr lang="en-GB" altLang="en-US" sz="1800"/>
              <a:t>	we know how concrete behaves under stress</a:t>
            </a:r>
          </a:p>
          <a:p>
            <a:pPr>
              <a:lnSpc>
                <a:spcPct val="90000"/>
              </a:lnSpc>
            </a:pPr>
            <a:r>
              <a:rPr lang="en-GB" altLang="en-US" sz="2000"/>
              <a:t>human ‘error’ is normal</a:t>
            </a:r>
          </a:p>
          <a:p>
            <a:pPr lvl="1">
              <a:lnSpc>
                <a:spcPct val="90000"/>
              </a:lnSpc>
            </a:pPr>
            <a:r>
              <a:rPr lang="en-GB" altLang="en-US" sz="1800"/>
              <a:t>we know how users behave under stress</a:t>
            </a:r>
          </a:p>
          <a:p>
            <a:pPr lvl="1">
              <a:lnSpc>
                <a:spcPct val="90000"/>
              </a:lnSpc>
            </a:pPr>
            <a:r>
              <a:rPr lang="en-GB" altLang="en-US" sz="1800"/>
              <a:t>so design for it!</a:t>
            </a:r>
          </a:p>
          <a:p>
            <a:pPr>
              <a:lnSpc>
                <a:spcPct val="90000"/>
              </a:lnSpc>
            </a:pPr>
            <a:r>
              <a:rPr lang="en-GB" altLang="en-US" sz="2000"/>
              <a:t>treat the user at least as well as physical materials!</a:t>
            </a:r>
          </a:p>
          <a:p>
            <a:pPr>
              <a:lnSpc>
                <a:spcPct val="90000"/>
              </a:lnSpc>
            </a:pPr>
            <a:endParaRPr lang="en-GB" altLang="en-US" sz="2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DCFF2C0D-938F-C414-5D47-7E81EC32E2CC}"/>
              </a:ext>
            </a:extLst>
          </p:cNvPr>
          <p:cNvSpPr>
            <a:spLocks noGrp="1" noChangeArrowheads="1"/>
          </p:cNvSpPr>
          <p:nvPr>
            <p:ph type="title"/>
          </p:nvPr>
        </p:nvSpPr>
        <p:spPr/>
        <p:txBody>
          <a:bodyPr/>
          <a:lstStyle/>
          <a:p>
            <a:r>
              <a:rPr lang="en-GB" altLang="en-US"/>
              <a:t>Central message …</a:t>
            </a:r>
          </a:p>
        </p:txBody>
      </p:sp>
      <p:sp>
        <p:nvSpPr>
          <p:cNvPr id="109571" name="Rectangle 3">
            <a:extLst>
              <a:ext uri="{FF2B5EF4-FFF2-40B4-BE49-F238E27FC236}">
                <a16:creationId xmlns:a16="http://schemas.microsoft.com/office/drawing/2014/main" id="{AF8B3452-9937-C03C-485C-48F8B2461E88}"/>
              </a:ext>
            </a:extLst>
          </p:cNvPr>
          <p:cNvSpPr>
            <a:spLocks noGrp="1" noChangeArrowheads="1"/>
          </p:cNvSpPr>
          <p:nvPr>
            <p:ph type="body" idx="1"/>
          </p:nvPr>
        </p:nvSpPr>
        <p:spPr/>
        <p:txBody>
          <a:bodyPr/>
          <a:lstStyle/>
          <a:p>
            <a:pPr marL="190500" indent="-190500"/>
            <a:endParaRPr lang="en-GB" altLang="en-US">
              <a:solidFill>
                <a:srgbClr val="2E005D"/>
              </a:solidFill>
            </a:endParaRPr>
          </a:p>
          <a:p>
            <a:pPr marL="190500" indent="-190500"/>
            <a:endParaRPr lang="en-GB" altLang="en-US">
              <a:solidFill>
                <a:srgbClr val="2E005D"/>
              </a:solidFill>
            </a:endParaRPr>
          </a:p>
          <a:p>
            <a:pPr marL="190500" indent="-190500" algn="ctr">
              <a:buFontTx/>
              <a:buNone/>
            </a:pPr>
            <a:r>
              <a:rPr lang="en-GB" altLang="en-US" sz="9600">
                <a:solidFill>
                  <a:srgbClr val="2E005D"/>
                </a:solidFill>
              </a:rPr>
              <a:t>the user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95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1"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D2716057-4FF1-462D-2520-507FBF87DE3A}"/>
              </a:ext>
            </a:extLst>
          </p:cNvPr>
          <p:cNvSpPr>
            <a:spLocks noChangeArrowheads="1"/>
          </p:cNvSpPr>
          <p:nvPr/>
        </p:nvSpPr>
        <p:spPr bwMode="auto">
          <a:xfrm>
            <a:off x="5029200" y="4038600"/>
            <a:ext cx="1371600" cy="381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67" name="Rectangle 3">
            <a:extLst>
              <a:ext uri="{FF2B5EF4-FFF2-40B4-BE49-F238E27FC236}">
                <a16:creationId xmlns:a16="http://schemas.microsoft.com/office/drawing/2014/main" id="{E7790AA0-7797-2A67-74A1-3822AE1CAAF1}"/>
              </a:ext>
            </a:extLst>
          </p:cNvPr>
          <p:cNvSpPr>
            <a:spLocks noGrp="1" noChangeArrowheads="1"/>
          </p:cNvSpPr>
          <p:nvPr>
            <p:ph type="title"/>
          </p:nvPr>
        </p:nvSpPr>
        <p:spPr/>
        <p:txBody>
          <a:bodyPr/>
          <a:lstStyle/>
          <a:p>
            <a:r>
              <a:rPr lang="en-GB" altLang="en-US"/>
              <a:t>The process of design</a:t>
            </a:r>
          </a:p>
        </p:txBody>
      </p:sp>
      <p:sp>
        <p:nvSpPr>
          <p:cNvPr id="36868" name="AutoShape 4">
            <a:extLst>
              <a:ext uri="{FF2B5EF4-FFF2-40B4-BE49-F238E27FC236}">
                <a16:creationId xmlns:a16="http://schemas.microsoft.com/office/drawing/2014/main" id="{0BBED765-8527-6F34-D13F-5C5B91A0DFD7}"/>
              </a:ext>
            </a:extLst>
          </p:cNvPr>
          <p:cNvSpPr>
            <a:spLocks noChangeArrowheads="1"/>
          </p:cNvSpPr>
          <p:nvPr/>
        </p:nvSpPr>
        <p:spPr bwMode="auto">
          <a:xfrm>
            <a:off x="609600" y="2438400"/>
            <a:ext cx="1371600" cy="762000"/>
          </a:xfrm>
          <a:prstGeom prst="roundRect">
            <a:avLst>
              <a:gd name="adj" fmla="val 16667"/>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latin typeface="Verdana" panose="020B0604030504040204" pitchFamily="34" charset="0"/>
              </a:rPr>
              <a:t>what is</a:t>
            </a:r>
            <a:br>
              <a:rPr lang="en-GB" altLang="en-US" sz="1800">
                <a:latin typeface="Verdana" panose="020B0604030504040204" pitchFamily="34" charset="0"/>
              </a:rPr>
            </a:br>
            <a:r>
              <a:rPr lang="en-GB" altLang="en-US" sz="1800">
                <a:latin typeface="Verdana" panose="020B0604030504040204" pitchFamily="34" charset="0"/>
              </a:rPr>
              <a:t>wanted</a:t>
            </a:r>
          </a:p>
        </p:txBody>
      </p:sp>
      <p:sp>
        <p:nvSpPr>
          <p:cNvPr id="36869" name="AutoShape 5">
            <a:extLst>
              <a:ext uri="{FF2B5EF4-FFF2-40B4-BE49-F238E27FC236}">
                <a16:creationId xmlns:a16="http://schemas.microsoft.com/office/drawing/2014/main" id="{E1E66D0C-946C-79A0-2091-D8C5D07C73FC}"/>
              </a:ext>
            </a:extLst>
          </p:cNvPr>
          <p:cNvSpPr>
            <a:spLocks noChangeArrowheads="1"/>
          </p:cNvSpPr>
          <p:nvPr/>
        </p:nvSpPr>
        <p:spPr bwMode="auto">
          <a:xfrm>
            <a:off x="2819400" y="3048000"/>
            <a:ext cx="1371600" cy="762000"/>
          </a:xfrm>
          <a:prstGeom prst="roundRect">
            <a:avLst>
              <a:gd name="adj" fmla="val 16667"/>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latin typeface="Verdana" panose="020B0604030504040204" pitchFamily="34" charset="0"/>
              </a:rPr>
              <a:t>analysis</a:t>
            </a:r>
          </a:p>
        </p:txBody>
      </p:sp>
      <p:sp>
        <p:nvSpPr>
          <p:cNvPr id="36870" name="AutoShape 6">
            <a:extLst>
              <a:ext uri="{FF2B5EF4-FFF2-40B4-BE49-F238E27FC236}">
                <a16:creationId xmlns:a16="http://schemas.microsoft.com/office/drawing/2014/main" id="{96BFAB4D-948A-D736-C84E-7500D48F3BD0}"/>
              </a:ext>
            </a:extLst>
          </p:cNvPr>
          <p:cNvSpPr>
            <a:spLocks noChangeArrowheads="1"/>
          </p:cNvSpPr>
          <p:nvPr/>
        </p:nvSpPr>
        <p:spPr bwMode="auto">
          <a:xfrm>
            <a:off x="5029200" y="3657600"/>
            <a:ext cx="1371600" cy="762000"/>
          </a:xfrm>
          <a:prstGeom prst="roundRect">
            <a:avLst>
              <a:gd name="adj" fmla="val 16667"/>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latin typeface="Verdana" panose="020B0604030504040204" pitchFamily="34" charset="0"/>
              </a:rPr>
              <a:t>design</a:t>
            </a:r>
          </a:p>
        </p:txBody>
      </p:sp>
      <p:sp>
        <p:nvSpPr>
          <p:cNvPr id="36871" name="AutoShape 7">
            <a:extLst>
              <a:ext uri="{FF2B5EF4-FFF2-40B4-BE49-F238E27FC236}">
                <a16:creationId xmlns:a16="http://schemas.microsoft.com/office/drawing/2014/main" id="{A613AEFE-4CC2-97D9-2550-2EE5221C03A8}"/>
              </a:ext>
            </a:extLst>
          </p:cNvPr>
          <p:cNvSpPr>
            <a:spLocks noChangeArrowheads="1"/>
          </p:cNvSpPr>
          <p:nvPr/>
        </p:nvSpPr>
        <p:spPr bwMode="auto">
          <a:xfrm>
            <a:off x="7239000" y="4267200"/>
            <a:ext cx="1371600" cy="762000"/>
          </a:xfrm>
          <a:prstGeom prst="roundRect">
            <a:avLst>
              <a:gd name="adj" fmla="val 16667"/>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latin typeface="Verdana" panose="020B0604030504040204" pitchFamily="34" charset="0"/>
              </a:rPr>
              <a:t>implement</a:t>
            </a:r>
          </a:p>
          <a:p>
            <a:pPr algn="ctr"/>
            <a:r>
              <a:rPr lang="en-GB" altLang="en-US" sz="1800">
                <a:latin typeface="Verdana" panose="020B0604030504040204" pitchFamily="34" charset="0"/>
              </a:rPr>
              <a:t>and deploy</a:t>
            </a:r>
          </a:p>
        </p:txBody>
      </p:sp>
      <p:sp>
        <p:nvSpPr>
          <p:cNvPr id="36872" name="AutoShape 8">
            <a:extLst>
              <a:ext uri="{FF2B5EF4-FFF2-40B4-BE49-F238E27FC236}">
                <a16:creationId xmlns:a16="http://schemas.microsoft.com/office/drawing/2014/main" id="{7C345843-1071-6F91-BBDF-AABC5C765608}"/>
              </a:ext>
            </a:extLst>
          </p:cNvPr>
          <p:cNvSpPr>
            <a:spLocks noChangeArrowheads="1"/>
          </p:cNvSpPr>
          <p:nvPr/>
        </p:nvSpPr>
        <p:spPr bwMode="auto">
          <a:xfrm>
            <a:off x="4038600" y="5029200"/>
            <a:ext cx="1524000" cy="457200"/>
          </a:xfrm>
          <a:prstGeom prst="plaque">
            <a:avLst>
              <a:gd name="adj" fmla="val 16667"/>
            </a:avLst>
          </a:prstGeom>
          <a:solidFill>
            <a:srgbClr val="E1B8B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latin typeface="Verdana" panose="020B0604030504040204" pitchFamily="34" charset="0"/>
              </a:rPr>
              <a:t>prototype</a:t>
            </a:r>
          </a:p>
        </p:txBody>
      </p:sp>
      <p:cxnSp>
        <p:nvCxnSpPr>
          <p:cNvPr id="36873" name="AutoShape 9">
            <a:extLst>
              <a:ext uri="{FF2B5EF4-FFF2-40B4-BE49-F238E27FC236}">
                <a16:creationId xmlns:a16="http://schemas.microsoft.com/office/drawing/2014/main" id="{304DBE0E-44EB-37D9-9259-A7EC898E77DF}"/>
              </a:ext>
            </a:extLst>
          </p:cNvPr>
          <p:cNvCxnSpPr>
            <a:cxnSpLocks noChangeShapeType="1"/>
            <a:stCxn id="36868" idx="3"/>
            <a:endCxn id="36869" idx="1"/>
          </p:cNvCxnSpPr>
          <p:nvPr/>
        </p:nvCxnSpPr>
        <p:spPr bwMode="auto">
          <a:xfrm>
            <a:off x="1981200" y="2819400"/>
            <a:ext cx="838200" cy="609600"/>
          </a:xfrm>
          <a:prstGeom prst="curvedConnector3">
            <a:avLst>
              <a:gd name="adj1" fmla="val 50000"/>
            </a:avLst>
          </a:prstGeom>
          <a:noFill/>
          <a:ln w="28575">
            <a:solidFill>
              <a:srgbClr val="9933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874" name="AutoShape 10">
            <a:extLst>
              <a:ext uri="{FF2B5EF4-FFF2-40B4-BE49-F238E27FC236}">
                <a16:creationId xmlns:a16="http://schemas.microsoft.com/office/drawing/2014/main" id="{5BE8E59B-0D71-7015-D4B1-6479B1E67BEB}"/>
              </a:ext>
            </a:extLst>
          </p:cNvPr>
          <p:cNvCxnSpPr>
            <a:cxnSpLocks noChangeShapeType="1"/>
            <a:stCxn id="36870" idx="3"/>
            <a:endCxn id="36871" idx="1"/>
          </p:cNvCxnSpPr>
          <p:nvPr/>
        </p:nvCxnSpPr>
        <p:spPr bwMode="auto">
          <a:xfrm>
            <a:off x="6400800" y="4038600"/>
            <a:ext cx="838200" cy="609600"/>
          </a:xfrm>
          <a:prstGeom prst="curvedConnector3">
            <a:avLst>
              <a:gd name="adj1" fmla="val 50000"/>
            </a:avLst>
          </a:prstGeom>
          <a:noFill/>
          <a:ln w="28575">
            <a:solidFill>
              <a:srgbClr val="9933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875" name="AutoShape 11">
            <a:extLst>
              <a:ext uri="{FF2B5EF4-FFF2-40B4-BE49-F238E27FC236}">
                <a16:creationId xmlns:a16="http://schemas.microsoft.com/office/drawing/2014/main" id="{ED61EA8C-9C84-0259-8AF6-12913DC8647F}"/>
              </a:ext>
            </a:extLst>
          </p:cNvPr>
          <p:cNvCxnSpPr>
            <a:cxnSpLocks noChangeShapeType="1"/>
            <a:stCxn id="36869" idx="3"/>
            <a:endCxn id="36870" idx="1"/>
          </p:cNvCxnSpPr>
          <p:nvPr/>
        </p:nvCxnSpPr>
        <p:spPr bwMode="auto">
          <a:xfrm>
            <a:off x="4191000" y="3429000"/>
            <a:ext cx="838200" cy="609600"/>
          </a:xfrm>
          <a:prstGeom prst="curvedConnector3">
            <a:avLst>
              <a:gd name="adj1" fmla="val 50000"/>
            </a:avLst>
          </a:prstGeom>
          <a:noFill/>
          <a:ln w="28575">
            <a:solidFill>
              <a:srgbClr val="9933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876" name="AutoShape 12">
            <a:extLst>
              <a:ext uri="{FF2B5EF4-FFF2-40B4-BE49-F238E27FC236}">
                <a16:creationId xmlns:a16="http://schemas.microsoft.com/office/drawing/2014/main" id="{062E71DB-3F07-9972-3E5F-3D1830CD936D}"/>
              </a:ext>
            </a:extLst>
          </p:cNvPr>
          <p:cNvCxnSpPr>
            <a:cxnSpLocks noChangeShapeType="1"/>
            <a:stCxn id="36866" idx="3"/>
            <a:endCxn id="36872" idx="3"/>
          </p:cNvCxnSpPr>
          <p:nvPr/>
        </p:nvCxnSpPr>
        <p:spPr bwMode="auto">
          <a:xfrm flipH="1">
            <a:off x="5562600" y="4229100"/>
            <a:ext cx="838200" cy="1028700"/>
          </a:xfrm>
          <a:prstGeom prst="curvedConnector3">
            <a:avLst>
              <a:gd name="adj1" fmla="val -27273"/>
            </a:avLst>
          </a:prstGeom>
          <a:noFill/>
          <a:ln w="28575">
            <a:solidFill>
              <a:srgbClr val="9933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877" name="AutoShape 13">
            <a:extLst>
              <a:ext uri="{FF2B5EF4-FFF2-40B4-BE49-F238E27FC236}">
                <a16:creationId xmlns:a16="http://schemas.microsoft.com/office/drawing/2014/main" id="{AE227422-40FE-3601-BB4E-5645B3533D93}"/>
              </a:ext>
            </a:extLst>
          </p:cNvPr>
          <p:cNvCxnSpPr>
            <a:cxnSpLocks noChangeShapeType="1"/>
            <a:stCxn id="36872" idx="1"/>
            <a:endCxn id="36869" idx="2"/>
          </p:cNvCxnSpPr>
          <p:nvPr/>
        </p:nvCxnSpPr>
        <p:spPr bwMode="auto">
          <a:xfrm rot="10800000">
            <a:off x="3505200" y="3810000"/>
            <a:ext cx="533400" cy="1447800"/>
          </a:xfrm>
          <a:prstGeom prst="curvedConnector2">
            <a:avLst/>
          </a:prstGeom>
          <a:noFill/>
          <a:ln w="28575">
            <a:solidFill>
              <a:srgbClr val="9933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6878" name="Group 14">
            <a:extLst>
              <a:ext uri="{FF2B5EF4-FFF2-40B4-BE49-F238E27FC236}">
                <a16:creationId xmlns:a16="http://schemas.microsoft.com/office/drawing/2014/main" id="{DA8BD111-1A9A-CAC7-40B9-27E272621B5F}"/>
              </a:ext>
            </a:extLst>
          </p:cNvPr>
          <p:cNvGrpSpPr>
            <a:grpSpLocks/>
          </p:cNvGrpSpPr>
          <p:nvPr/>
        </p:nvGrpSpPr>
        <p:grpSpPr bwMode="auto">
          <a:xfrm>
            <a:off x="381000" y="2286000"/>
            <a:ext cx="8601075" cy="3897313"/>
            <a:chOff x="240" y="1440"/>
            <a:chExt cx="5418" cy="2455"/>
          </a:xfrm>
        </p:grpSpPr>
        <p:sp>
          <p:nvSpPr>
            <p:cNvPr id="36879" name="Text Box 15">
              <a:extLst>
                <a:ext uri="{FF2B5EF4-FFF2-40B4-BE49-F238E27FC236}">
                  <a16:creationId xmlns:a16="http://schemas.microsoft.com/office/drawing/2014/main" id="{ABEECCC5-302C-7B8B-0D54-9F3A0064AA59}"/>
                </a:ext>
              </a:extLst>
            </p:cNvPr>
            <p:cNvSpPr txBox="1">
              <a:spLocks noChangeArrowheads="1"/>
            </p:cNvSpPr>
            <p:nvPr/>
          </p:nvSpPr>
          <p:spPr bwMode="auto">
            <a:xfrm>
              <a:off x="240" y="2064"/>
              <a:ext cx="1213" cy="1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sz="1800">
                  <a:latin typeface="Verdana" panose="020B0604030504040204" pitchFamily="34" charset="0"/>
                </a:rPr>
                <a:t>interviews</a:t>
              </a:r>
            </a:p>
            <a:p>
              <a:pPr algn="ctr"/>
              <a:r>
                <a:rPr lang="en-GB" altLang="en-US" sz="1800">
                  <a:latin typeface="Verdana" panose="020B0604030504040204" pitchFamily="34" charset="0"/>
                </a:rPr>
                <a:t>ethnography</a:t>
              </a:r>
            </a:p>
            <a:p>
              <a:pPr algn="ctr"/>
              <a:endParaRPr lang="en-GB" altLang="en-US" sz="1800">
                <a:latin typeface="Verdana" panose="020B0604030504040204" pitchFamily="34" charset="0"/>
              </a:endParaRPr>
            </a:p>
            <a:p>
              <a:pPr algn="ctr"/>
              <a:r>
                <a:rPr lang="en-GB" altLang="en-US" sz="1800">
                  <a:solidFill>
                    <a:srgbClr val="993333"/>
                  </a:solidFill>
                  <a:latin typeface="Verdana" panose="020B0604030504040204" pitchFamily="34" charset="0"/>
                </a:rPr>
                <a:t>what is there</a:t>
              </a:r>
            </a:p>
            <a:p>
              <a:pPr algn="ctr"/>
              <a:r>
                <a:rPr lang="en-GB" altLang="en-US" sz="1800">
                  <a:solidFill>
                    <a:srgbClr val="993333"/>
                  </a:solidFill>
                  <a:latin typeface="Verdana" panose="020B0604030504040204" pitchFamily="34" charset="0"/>
                </a:rPr>
                <a:t>vs.</a:t>
              </a:r>
            </a:p>
            <a:p>
              <a:pPr algn="ctr"/>
              <a:r>
                <a:rPr lang="en-GB" altLang="en-US" sz="1800">
                  <a:solidFill>
                    <a:srgbClr val="993333"/>
                  </a:solidFill>
                  <a:latin typeface="Verdana" panose="020B0604030504040204" pitchFamily="34" charset="0"/>
                </a:rPr>
                <a:t>what is wanted</a:t>
              </a:r>
              <a:endParaRPr lang="en-GB" altLang="en-US" sz="1800">
                <a:latin typeface="Verdana" panose="020B0604030504040204" pitchFamily="34" charset="0"/>
              </a:endParaRPr>
            </a:p>
          </p:txBody>
        </p:sp>
        <p:sp>
          <p:nvSpPr>
            <p:cNvPr id="36880" name="Text Box 16">
              <a:extLst>
                <a:ext uri="{FF2B5EF4-FFF2-40B4-BE49-F238E27FC236}">
                  <a16:creationId xmlns:a16="http://schemas.microsoft.com/office/drawing/2014/main" id="{0A83246D-7A60-07CD-08A7-93456D24BEAF}"/>
                </a:ext>
              </a:extLst>
            </p:cNvPr>
            <p:cNvSpPr txBox="1">
              <a:spLocks noChangeArrowheads="1"/>
            </p:cNvSpPr>
            <p:nvPr/>
          </p:nvSpPr>
          <p:spPr bwMode="auto">
            <a:xfrm>
              <a:off x="3168" y="1728"/>
              <a:ext cx="845"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sz="1800">
                  <a:latin typeface="Verdana" panose="020B0604030504040204" pitchFamily="34" charset="0"/>
                </a:rPr>
                <a:t>guidelines</a:t>
              </a:r>
            </a:p>
            <a:p>
              <a:pPr algn="ctr"/>
              <a:r>
                <a:rPr lang="en-GB" altLang="en-US" sz="1800">
                  <a:latin typeface="Verdana" panose="020B0604030504040204" pitchFamily="34" charset="0"/>
                </a:rPr>
                <a:t>principles</a:t>
              </a:r>
            </a:p>
          </p:txBody>
        </p:sp>
        <p:sp>
          <p:nvSpPr>
            <p:cNvPr id="36881" name="Text Box 17">
              <a:extLst>
                <a:ext uri="{FF2B5EF4-FFF2-40B4-BE49-F238E27FC236}">
                  <a16:creationId xmlns:a16="http://schemas.microsoft.com/office/drawing/2014/main" id="{8410E671-C62E-81E0-F986-7A2379B146E8}"/>
                </a:ext>
              </a:extLst>
            </p:cNvPr>
            <p:cNvSpPr txBox="1">
              <a:spLocks noChangeArrowheads="1"/>
            </p:cNvSpPr>
            <p:nvPr/>
          </p:nvSpPr>
          <p:spPr bwMode="auto">
            <a:xfrm>
              <a:off x="2448" y="2688"/>
              <a:ext cx="787"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sz="1800">
                  <a:latin typeface="Verdana" panose="020B0604030504040204" pitchFamily="34" charset="0"/>
                </a:rPr>
                <a:t>dialogue</a:t>
              </a:r>
              <a:br>
                <a:rPr lang="en-GB" altLang="en-US" sz="1800">
                  <a:latin typeface="Verdana" panose="020B0604030504040204" pitchFamily="34" charset="0"/>
                </a:rPr>
              </a:br>
              <a:r>
                <a:rPr lang="en-GB" altLang="en-US" sz="1800">
                  <a:latin typeface="Verdana" panose="020B0604030504040204" pitchFamily="34" charset="0"/>
                </a:rPr>
                <a:t>notations</a:t>
              </a:r>
            </a:p>
          </p:txBody>
        </p:sp>
        <p:sp>
          <p:nvSpPr>
            <p:cNvPr id="36882" name="Text Box 18">
              <a:extLst>
                <a:ext uri="{FF2B5EF4-FFF2-40B4-BE49-F238E27FC236}">
                  <a16:creationId xmlns:a16="http://schemas.microsoft.com/office/drawing/2014/main" id="{431D4BA3-FB66-CA63-06D6-D80435A3BF78}"/>
                </a:ext>
              </a:extLst>
            </p:cNvPr>
            <p:cNvSpPr txBox="1">
              <a:spLocks noChangeArrowheads="1"/>
            </p:cNvSpPr>
            <p:nvPr/>
          </p:nvSpPr>
          <p:spPr bwMode="auto">
            <a:xfrm>
              <a:off x="4079" y="2016"/>
              <a:ext cx="1009"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sz="1800">
                  <a:latin typeface="Verdana" panose="020B0604030504040204" pitchFamily="34" charset="0"/>
                </a:rPr>
                <a:t>precise</a:t>
              </a:r>
              <a:br>
                <a:rPr lang="en-GB" altLang="en-US" sz="1800">
                  <a:latin typeface="Verdana" panose="020B0604030504040204" pitchFamily="34" charset="0"/>
                </a:rPr>
              </a:br>
              <a:r>
                <a:rPr lang="en-GB" altLang="en-US" sz="1800">
                  <a:latin typeface="Verdana" panose="020B0604030504040204" pitchFamily="34" charset="0"/>
                </a:rPr>
                <a:t>specification</a:t>
              </a:r>
            </a:p>
          </p:txBody>
        </p:sp>
        <p:sp>
          <p:nvSpPr>
            <p:cNvPr id="36883" name="Text Box 19">
              <a:extLst>
                <a:ext uri="{FF2B5EF4-FFF2-40B4-BE49-F238E27FC236}">
                  <a16:creationId xmlns:a16="http://schemas.microsoft.com/office/drawing/2014/main" id="{E8EE88F0-6DA6-FB5D-5B76-BE2C908E63C9}"/>
                </a:ext>
              </a:extLst>
            </p:cNvPr>
            <p:cNvSpPr txBox="1">
              <a:spLocks noChangeArrowheads="1"/>
            </p:cNvSpPr>
            <p:nvPr/>
          </p:nvSpPr>
          <p:spPr bwMode="auto">
            <a:xfrm>
              <a:off x="4464" y="3312"/>
              <a:ext cx="1194" cy="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sz="1800">
                  <a:latin typeface="Verdana" panose="020B0604030504040204" pitchFamily="34" charset="0"/>
                </a:rPr>
                <a:t>architectures</a:t>
              </a:r>
            </a:p>
            <a:p>
              <a:pPr algn="ctr"/>
              <a:r>
                <a:rPr lang="en-GB" altLang="en-US" sz="1800">
                  <a:latin typeface="Verdana" panose="020B0604030504040204" pitchFamily="34" charset="0"/>
                </a:rPr>
                <a:t>documentation</a:t>
              </a:r>
            </a:p>
            <a:p>
              <a:pPr algn="ctr"/>
              <a:r>
                <a:rPr lang="en-GB" altLang="en-US" sz="1800">
                  <a:latin typeface="Verdana" panose="020B0604030504040204" pitchFamily="34" charset="0"/>
                </a:rPr>
                <a:t>help</a:t>
              </a:r>
            </a:p>
          </p:txBody>
        </p:sp>
        <p:sp>
          <p:nvSpPr>
            <p:cNvPr id="36884" name="Text Box 20">
              <a:extLst>
                <a:ext uri="{FF2B5EF4-FFF2-40B4-BE49-F238E27FC236}">
                  <a16:creationId xmlns:a16="http://schemas.microsoft.com/office/drawing/2014/main" id="{ADA55627-D4BB-34EC-F52C-11582E5D0CE7}"/>
                </a:ext>
              </a:extLst>
            </p:cNvPr>
            <p:cNvSpPr txBox="1">
              <a:spLocks noChangeArrowheads="1"/>
            </p:cNvSpPr>
            <p:nvPr/>
          </p:nvSpPr>
          <p:spPr bwMode="auto">
            <a:xfrm>
              <a:off x="1536" y="3120"/>
              <a:ext cx="865"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sz="1800">
                  <a:latin typeface="Verdana" panose="020B0604030504040204" pitchFamily="34" charset="0"/>
                </a:rPr>
                <a:t>evaluation</a:t>
              </a:r>
            </a:p>
            <a:p>
              <a:pPr algn="ctr"/>
              <a:r>
                <a:rPr lang="en-GB" altLang="en-US" sz="1800">
                  <a:latin typeface="Verdana" panose="020B0604030504040204" pitchFamily="34" charset="0"/>
                </a:rPr>
                <a:t>heuristics</a:t>
              </a:r>
            </a:p>
          </p:txBody>
        </p:sp>
        <p:sp>
          <p:nvSpPr>
            <p:cNvPr id="36885" name="Text Box 21">
              <a:extLst>
                <a:ext uri="{FF2B5EF4-FFF2-40B4-BE49-F238E27FC236}">
                  <a16:creationId xmlns:a16="http://schemas.microsoft.com/office/drawing/2014/main" id="{034BB286-C479-D8D4-40B2-041A6C254630}"/>
                </a:ext>
              </a:extLst>
            </p:cNvPr>
            <p:cNvSpPr txBox="1">
              <a:spLocks noChangeArrowheads="1"/>
            </p:cNvSpPr>
            <p:nvPr/>
          </p:nvSpPr>
          <p:spPr bwMode="auto">
            <a:xfrm>
              <a:off x="1448" y="1440"/>
              <a:ext cx="1048"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sz="1800">
                  <a:latin typeface="Verdana" panose="020B0604030504040204" pitchFamily="34" charset="0"/>
                </a:rPr>
                <a:t>scenarios</a:t>
              </a:r>
              <a:br>
                <a:rPr lang="en-GB" altLang="en-US" sz="1800">
                  <a:latin typeface="Verdana" panose="020B0604030504040204" pitchFamily="34" charset="0"/>
                </a:rPr>
              </a:br>
              <a:r>
                <a:rPr lang="en-GB" altLang="en-US" sz="1800">
                  <a:latin typeface="Verdana" panose="020B0604030504040204" pitchFamily="34" charset="0"/>
                </a:rPr>
                <a:t>task analysis</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68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2991A45E-7539-BBDB-68F3-7869A1C7862C}"/>
              </a:ext>
            </a:extLst>
          </p:cNvPr>
          <p:cNvSpPr>
            <a:spLocks noGrp="1" noChangeArrowheads="1"/>
          </p:cNvSpPr>
          <p:nvPr>
            <p:ph type="title"/>
          </p:nvPr>
        </p:nvSpPr>
        <p:spPr/>
        <p:txBody>
          <a:bodyPr/>
          <a:lstStyle/>
          <a:p>
            <a:r>
              <a:rPr lang="en-GB" altLang="en-US"/>
              <a:t>Steps …</a:t>
            </a:r>
          </a:p>
        </p:txBody>
      </p:sp>
      <p:sp>
        <p:nvSpPr>
          <p:cNvPr id="110595" name="Rectangle 3">
            <a:extLst>
              <a:ext uri="{FF2B5EF4-FFF2-40B4-BE49-F238E27FC236}">
                <a16:creationId xmlns:a16="http://schemas.microsoft.com/office/drawing/2014/main" id="{C519D294-5FDF-D18A-042D-41B91666E9BD}"/>
              </a:ext>
            </a:extLst>
          </p:cNvPr>
          <p:cNvSpPr>
            <a:spLocks noGrp="1" noChangeArrowheads="1"/>
          </p:cNvSpPr>
          <p:nvPr>
            <p:ph type="body" idx="1"/>
          </p:nvPr>
        </p:nvSpPr>
        <p:spPr/>
        <p:txBody>
          <a:bodyPr/>
          <a:lstStyle/>
          <a:p>
            <a:r>
              <a:rPr lang="en-GB" altLang="en-US" sz="2400"/>
              <a:t>requirements</a:t>
            </a:r>
          </a:p>
          <a:p>
            <a:pPr lvl="1"/>
            <a:r>
              <a:rPr lang="en-GB" altLang="en-US" sz="2000"/>
              <a:t>what is there and what is wanted …</a:t>
            </a:r>
          </a:p>
          <a:p>
            <a:r>
              <a:rPr lang="en-GB" altLang="en-US" sz="2400"/>
              <a:t>analysis</a:t>
            </a:r>
          </a:p>
          <a:p>
            <a:pPr lvl="1"/>
            <a:r>
              <a:rPr lang="en-GB" altLang="en-US" sz="2000"/>
              <a:t>ordering and understanding</a:t>
            </a:r>
          </a:p>
          <a:p>
            <a:r>
              <a:rPr lang="en-GB" altLang="en-US" sz="2400"/>
              <a:t>design</a:t>
            </a:r>
          </a:p>
          <a:p>
            <a:pPr lvl="1"/>
            <a:r>
              <a:rPr lang="en-GB" altLang="en-US" sz="2000"/>
              <a:t>what to do and how to decide</a:t>
            </a:r>
          </a:p>
          <a:p>
            <a:r>
              <a:rPr lang="en-GB" altLang="en-US" sz="2400"/>
              <a:t>iteration and prototyping</a:t>
            </a:r>
          </a:p>
          <a:p>
            <a:pPr lvl="1"/>
            <a:r>
              <a:rPr lang="en-GB" altLang="en-US" sz="2000"/>
              <a:t>getting it right … and finding what is really needed!</a:t>
            </a:r>
          </a:p>
          <a:p>
            <a:r>
              <a:rPr lang="en-GB" altLang="en-US" sz="2400"/>
              <a:t>implementation and deployment</a:t>
            </a:r>
          </a:p>
          <a:p>
            <a:pPr lvl="1"/>
            <a:r>
              <a:rPr lang="en-GB" altLang="en-US" sz="2000"/>
              <a:t>making it and getting it out there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3F667A5B-6E95-7C7C-F1AF-BC043D427C1B}"/>
              </a:ext>
            </a:extLst>
          </p:cNvPr>
          <p:cNvSpPr>
            <a:spLocks noGrp="1" noChangeArrowheads="1"/>
          </p:cNvSpPr>
          <p:nvPr>
            <p:ph type="title"/>
          </p:nvPr>
        </p:nvSpPr>
        <p:spPr/>
        <p:txBody>
          <a:bodyPr/>
          <a:lstStyle/>
          <a:p>
            <a:r>
              <a:rPr lang="en-GB" altLang="en-US"/>
              <a:t>… but how can I do it all ! !</a:t>
            </a:r>
          </a:p>
        </p:txBody>
      </p:sp>
      <p:sp>
        <p:nvSpPr>
          <p:cNvPr id="111619" name="Rectangle 3">
            <a:extLst>
              <a:ext uri="{FF2B5EF4-FFF2-40B4-BE49-F238E27FC236}">
                <a16:creationId xmlns:a16="http://schemas.microsoft.com/office/drawing/2014/main" id="{EF5E5535-B8F8-06CB-1B90-95A0F7BB84A1}"/>
              </a:ext>
            </a:extLst>
          </p:cNvPr>
          <p:cNvSpPr>
            <a:spLocks noGrp="1" noChangeArrowheads="1"/>
          </p:cNvSpPr>
          <p:nvPr>
            <p:ph type="body" idx="1"/>
          </p:nvPr>
        </p:nvSpPr>
        <p:spPr/>
        <p:txBody>
          <a:bodyPr/>
          <a:lstStyle/>
          <a:p>
            <a:r>
              <a:rPr lang="en-GB" altLang="en-US" sz="2400"/>
              <a:t>limited time  </a:t>
            </a:r>
            <a:r>
              <a:rPr lang="en-GB" altLang="en-US" sz="2400">
                <a:sym typeface="Symbol" pitchFamily="2" charset="2"/>
              </a:rPr>
              <a:t></a:t>
            </a:r>
            <a:r>
              <a:rPr lang="en-GB" altLang="en-US" sz="2400"/>
              <a:t>  design trade-off</a:t>
            </a:r>
          </a:p>
          <a:p>
            <a:endParaRPr lang="en-GB" altLang="en-US" sz="2400"/>
          </a:p>
          <a:p>
            <a:r>
              <a:rPr lang="en-GB" altLang="en-US" sz="2400"/>
              <a:t>usability?</a:t>
            </a:r>
          </a:p>
          <a:p>
            <a:pPr lvl="1"/>
            <a:r>
              <a:rPr lang="en-GB" altLang="en-US" sz="2000"/>
              <a:t>finding problems and fixing them?</a:t>
            </a:r>
          </a:p>
          <a:p>
            <a:pPr lvl="1"/>
            <a:r>
              <a:rPr lang="en-GB" altLang="en-US" sz="2000"/>
              <a:t>deciding what to fix?</a:t>
            </a:r>
          </a:p>
          <a:p>
            <a:endParaRPr lang="en-GB" altLang="en-US" sz="2400"/>
          </a:p>
          <a:p>
            <a:r>
              <a:rPr lang="en-GB" altLang="en-US" sz="2400"/>
              <a:t>a perfect system is badly designed</a:t>
            </a:r>
          </a:p>
          <a:p>
            <a:pPr lvl="1"/>
            <a:r>
              <a:rPr lang="en-GB" altLang="en-US" sz="2000"/>
              <a:t>too good </a:t>
            </a:r>
            <a:r>
              <a:rPr lang="en-GB" altLang="en-US" sz="2000">
                <a:sym typeface="Symbol" pitchFamily="2" charset="2"/>
              </a:rPr>
              <a:t></a:t>
            </a:r>
            <a:r>
              <a:rPr lang="en-GB" altLang="en-US" sz="2000"/>
              <a:t> too much effort in design</a:t>
            </a:r>
          </a:p>
        </p:txBody>
      </p:sp>
      <p:sp>
        <p:nvSpPr>
          <p:cNvPr id="111620" name="Text Box 4">
            <a:extLst>
              <a:ext uri="{FF2B5EF4-FFF2-40B4-BE49-F238E27FC236}">
                <a16:creationId xmlns:a16="http://schemas.microsoft.com/office/drawing/2014/main" id="{131B1ED2-3C84-3EB4-2E68-4E05054B91F7}"/>
              </a:ext>
            </a:extLst>
          </p:cNvPr>
          <p:cNvSpPr txBox="1">
            <a:spLocks noChangeArrowheads="1"/>
          </p:cNvSpPr>
          <p:nvPr/>
        </p:nvSpPr>
        <p:spPr bwMode="auto">
          <a:xfrm>
            <a:off x="4343400" y="3581400"/>
            <a:ext cx="600075" cy="641350"/>
          </a:xfrm>
          <a:prstGeom prst="rect">
            <a:avLst/>
          </a:prstGeom>
          <a:noFill/>
          <a:ln>
            <a:noFill/>
          </a:ln>
          <a:effectLst/>
          <a:extLst>
            <a:ext uri="{909E8E84-426E-40DD-AFC4-6F175D3DCCD1}">
              <a14:hiddenFill xmlns:a14="http://schemas.microsoft.com/office/drawing/2010/main">
                <a:solidFill>
                  <a:srgbClr val="00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3600">
                <a:solidFill>
                  <a:srgbClr val="009900"/>
                </a:solidFill>
                <a:sym typeface="Monotype Sorts" pitchFamily="2" charset="2"/>
              </a:rPr>
              <a:t></a:t>
            </a:r>
            <a:endParaRPr lang="en-GB" altLang="en-US" sz="3600">
              <a:solidFill>
                <a:srgbClr val="009900"/>
              </a:solidFill>
            </a:endParaRPr>
          </a:p>
        </p:txBody>
      </p:sp>
      <p:sp>
        <p:nvSpPr>
          <p:cNvPr id="111621" name="Text Box 5">
            <a:extLst>
              <a:ext uri="{FF2B5EF4-FFF2-40B4-BE49-F238E27FC236}">
                <a16:creationId xmlns:a16="http://schemas.microsoft.com/office/drawing/2014/main" id="{BE4F4C2C-B4DF-A946-D23E-DC5A39ADCBED}"/>
              </a:ext>
            </a:extLst>
          </p:cNvPr>
          <p:cNvSpPr txBox="1">
            <a:spLocks noChangeArrowheads="1"/>
          </p:cNvSpPr>
          <p:nvPr/>
        </p:nvSpPr>
        <p:spPr bwMode="auto">
          <a:xfrm>
            <a:off x="5943600" y="3200400"/>
            <a:ext cx="6000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3600">
                <a:solidFill>
                  <a:srgbClr val="CC0000"/>
                </a:solidFill>
                <a:sym typeface="Monotype Sorts" pitchFamily="2" charset="2"/>
              </a:rPr>
              <a:t></a:t>
            </a:r>
            <a:endParaRPr lang="en-GB" altLang="en-US" sz="3600">
              <a:solidFill>
                <a:srgbClr val="CC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162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16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0" grpId="0" build="p" autoUpdateAnimBg="0"/>
      <p:bldP spid="111621"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Oval 2">
            <a:extLst>
              <a:ext uri="{FF2B5EF4-FFF2-40B4-BE49-F238E27FC236}">
                <a16:creationId xmlns:a16="http://schemas.microsoft.com/office/drawing/2014/main" id="{E11980A6-9459-4DB9-F02D-B089EFD02A2E}"/>
              </a:ext>
            </a:extLst>
          </p:cNvPr>
          <p:cNvSpPr>
            <a:spLocks noChangeArrowheads="1"/>
          </p:cNvSpPr>
          <p:nvPr/>
        </p:nvSpPr>
        <p:spPr bwMode="auto">
          <a:xfrm>
            <a:off x="4267200" y="3048000"/>
            <a:ext cx="533400" cy="533400"/>
          </a:xfrm>
          <a:prstGeom prst="ellipse">
            <a:avLst/>
          </a:prstGeom>
          <a:solidFill>
            <a:srgbClr val="ED181E"/>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717AD8D8-F5A2-A0E5-C839-3FB6DFA57246}"/>
              </a:ext>
            </a:extLst>
          </p:cNvPr>
          <p:cNvSpPr>
            <a:spLocks noGrp="1" noChangeArrowheads="1"/>
          </p:cNvSpPr>
          <p:nvPr>
            <p:ph type="ctrTitle"/>
          </p:nvPr>
        </p:nvSpPr>
        <p:spPr>
          <a:xfrm>
            <a:off x="685800" y="2286000"/>
            <a:ext cx="7772400" cy="1143000"/>
          </a:xfrm>
        </p:spPr>
        <p:txBody>
          <a:bodyPr anchor="ctr"/>
          <a:lstStyle/>
          <a:p>
            <a:r>
              <a:rPr lang="en-GB" altLang="en-US" sz="3600"/>
              <a:t>user focus</a:t>
            </a:r>
          </a:p>
        </p:txBody>
      </p:sp>
      <p:sp>
        <p:nvSpPr>
          <p:cNvPr id="112643" name="Rectangle 3">
            <a:extLst>
              <a:ext uri="{FF2B5EF4-FFF2-40B4-BE49-F238E27FC236}">
                <a16:creationId xmlns:a16="http://schemas.microsoft.com/office/drawing/2014/main" id="{7C769681-4E40-D328-7DBF-24ADE6C86DE9}"/>
              </a:ext>
            </a:extLst>
          </p:cNvPr>
          <p:cNvSpPr>
            <a:spLocks noGrp="1" noChangeArrowheads="1"/>
          </p:cNvSpPr>
          <p:nvPr>
            <p:ph type="subTitle" idx="1"/>
          </p:nvPr>
        </p:nvSpPr>
        <p:spPr>
          <a:xfrm>
            <a:off x="1371600" y="3886200"/>
            <a:ext cx="6400800" cy="1752600"/>
          </a:xfrm>
        </p:spPr>
        <p:txBody>
          <a:bodyPr/>
          <a:lstStyle/>
          <a:p>
            <a:r>
              <a:rPr lang="en-GB" altLang="en-US" sz="2800"/>
              <a:t>know your user</a:t>
            </a:r>
          </a:p>
          <a:p>
            <a:r>
              <a:rPr lang="en-GB" altLang="en-US" sz="2800"/>
              <a:t>personae</a:t>
            </a:r>
          </a:p>
          <a:p>
            <a:r>
              <a:rPr lang="en-GB" altLang="en-US" sz="2800"/>
              <a:t>cultural probes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9A5E659B-25AF-EDDB-BF67-A27AA8148A91}"/>
              </a:ext>
            </a:extLst>
          </p:cNvPr>
          <p:cNvSpPr>
            <a:spLocks noGrp="1" noChangeArrowheads="1"/>
          </p:cNvSpPr>
          <p:nvPr>
            <p:ph type="title"/>
          </p:nvPr>
        </p:nvSpPr>
        <p:spPr/>
        <p:txBody>
          <a:bodyPr/>
          <a:lstStyle/>
          <a:p>
            <a:r>
              <a:rPr lang="en-US" altLang="en-US">
                <a:solidFill>
                  <a:schemeClr val="tx1"/>
                </a:solidFill>
              </a:rPr>
              <a:t>know your user</a:t>
            </a:r>
          </a:p>
        </p:txBody>
      </p:sp>
      <p:sp>
        <p:nvSpPr>
          <p:cNvPr id="35843" name="Rectangle 3">
            <a:extLst>
              <a:ext uri="{FF2B5EF4-FFF2-40B4-BE49-F238E27FC236}">
                <a16:creationId xmlns:a16="http://schemas.microsoft.com/office/drawing/2014/main" id="{8CAB5BB3-3C4D-042D-B9E2-BE971C308FBB}"/>
              </a:ext>
            </a:extLst>
          </p:cNvPr>
          <p:cNvSpPr>
            <a:spLocks noGrp="1" noChangeArrowheads="1"/>
          </p:cNvSpPr>
          <p:nvPr>
            <p:ph type="body" idx="1"/>
          </p:nvPr>
        </p:nvSpPr>
        <p:spPr/>
        <p:txBody>
          <a:bodyPr/>
          <a:lstStyle/>
          <a:p>
            <a:pPr marL="1517650"/>
            <a:endParaRPr lang="en-US" altLang="en-US" sz="900"/>
          </a:p>
          <a:p>
            <a:pPr marL="1517650"/>
            <a:r>
              <a:rPr lang="en-US" altLang="en-US"/>
              <a:t>who are they?</a:t>
            </a:r>
          </a:p>
          <a:p>
            <a:pPr marL="1517650"/>
            <a:r>
              <a:rPr lang="en-US" altLang="en-US"/>
              <a:t>probably </a:t>
            </a:r>
            <a:r>
              <a:rPr lang="en-US" altLang="en-US" u="sng"/>
              <a:t>not</a:t>
            </a:r>
            <a:r>
              <a:rPr lang="en-US" altLang="en-US"/>
              <a:t> like you!</a:t>
            </a:r>
          </a:p>
          <a:p>
            <a:pPr marL="1517650"/>
            <a:r>
              <a:rPr lang="en-US" altLang="en-US"/>
              <a:t>talk to them</a:t>
            </a:r>
          </a:p>
          <a:p>
            <a:pPr marL="1517650"/>
            <a:r>
              <a:rPr lang="en-US" altLang="en-US"/>
              <a:t>watch them</a:t>
            </a:r>
          </a:p>
          <a:p>
            <a:pPr marL="1517650"/>
            <a:r>
              <a:rPr lang="en-US" altLang="en-US"/>
              <a:t>use your imagination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BE8D4BED-DA50-FC96-44FC-A09E43DEFBD6}"/>
              </a:ext>
            </a:extLst>
          </p:cNvPr>
          <p:cNvSpPr>
            <a:spLocks noGrp="1" noChangeArrowheads="1"/>
          </p:cNvSpPr>
          <p:nvPr>
            <p:ph type="title"/>
          </p:nvPr>
        </p:nvSpPr>
        <p:spPr/>
        <p:txBody>
          <a:bodyPr/>
          <a:lstStyle/>
          <a:p>
            <a:r>
              <a:rPr lang="en-GB" altLang="en-US"/>
              <a:t>persona</a:t>
            </a:r>
          </a:p>
        </p:txBody>
      </p:sp>
      <p:sp>
        <p:nvSpPr>
          <p:cNvPr id="46083" name="Rectangle 3">
            <a:extLst>
              <a:ext uri="{FF2B5EF4-FFF2-40B4-BE49-F238E27FC236}">
                <a16:creationId xmlns:a16="http://schemas.microsoft.com/office/drawing/2014/main" id="{04C5E0A5-0494-641A-153A-A42B0E0F0531}"/>
              </a:ext>
            </a:extLst>
          </p:cNvPr>
          <p:cNvSpPr>
            <a:spLocks noGrp="1" noChangeArrowheads="1"/>
          </p:cNvSpPr>
          <p:nvPr>
            <p:ph type="body" idx="1"/>
          </p:nvPr>
        </p:nvSpPr>
        <p:spPr/>
        <p:txBody>
          <a:bodyPr/>
          <a:lstStyle/>
          <a:p>
            <a:r>
              <a:rPr lang="en-GB" altLang="en-US"/>
              <a:t>description of an ‘example’ user</a:t>
            </a:r>
          </a:p>
          <a:p>
            <a:pPr lvl="1"/>
            <a:r>
              <a:rPr lang="en-GB" altLang="en-US"/>
              <a:t>not necessarily a real person</a:t>
            </a:r>
          </a:p>
          <a:p>
            <a:r>
              <a:rPr lang="en-GB" altLang="en-US"/>
              <a:t>use as surrogate user</a:t>
            </a:r>
          </a:p>
          <a:p>
            <a:pPr lvl="1"/>
            <a:r>
              <a:rPr lang="en-GB" altLang="en-US"/>
              <a:t>what would Betty think</a:t>
            </a:r>
          </a:p>
          <a:p>
            <a:r>
              <a:rPr lang="en-GB" altLang="en-US"/>
              <a:t>details matter</a:t>
            </a:r>
          </a:p>
          <a:p>
            <a:pPr lvl="1"/>
            <a:r>
              <a:rPr lang="en-GB" altLang="en-US"/>
              <a:t>makes her ‘real’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C9542BF0-133B-DDFF-0F78-85CD7608DB88}"/>
              </a:ext>
            </a:extLst>
          </p:cNvPr>
          <p:cNvSpPr>
            <a:spLocks noGrp="1" noChangeArrowheads="1"/>
          </p:cNvSpPr>
          <p:nvPr>
            <p:ph type="title"/>
          </p:nvPr>
        </p:nvSpPr>
        <p:spPr/>
        <p:txBody>
          <a:bodyPr/>
          <a:lstStyle/>
          <a:p>
            <a:r>
              <a:rPr lang="en-GB" altLang="en-US"/>
              <a:t>example persona</a:t>
            </a:r>
          </a:p>
        </p:txBody>
      </p:sp>
      <p:sp>
        <p:nvSpPr>
          <p:cNvPr id="47107" name="Rectangle 3">
            <a:extLst>
              <a:ext uri="{FF2B5EF4-FFF2-40B4-BE49-F238E27FC236}">
                <a16:creationId xmlns:a16="http://schemas.microsoft.com/office/drawing/2014/main" id="{FA96A095-59B6-FDFB-2E49-769B031D987C}"/>
              </a:ext>
            </a:extLst>
          </p:cNvPr>
          <p:cNvSpPr>
            <a:spLocks noGrp="1" noChangeArrowheads="1"/>
          </p:cNvSpPr>
          <p:nvPr>
            <p:ph type="body" idx="1"/>
          </p:nvPr>
        </p:nvSpPr>
        <p:spPr/>
        <p:txBody>
          <a:bodyPr/>
          <a:lstStyle/>
          <a:p>
            <a:pPr marL="0" indent="0">
              <a:buFontTx/>
              <a:buNone/>
            </a:pPr>
            <a:r>
              <a:rPr lang="en-US" altLang="en-US" sz="1800"/>
              <a:t>Betty is 37 years old,  She has been Warehouse Manager for five years and worked for Simpkins Brothers Engineering for twelve years.  She didn’t go to university, but has studied in her evenings for a business diploma.  She has two children aged 15 and 7 and does not like to work late.  She did part of an introductory in-house computer course some years ago, but it was interrupted when she was promoted and could no longer afford to take the time.  Her vision is perfect, but her right-hand movement is slightly restricted following an industrial accident 3 years ago.  She is enthusiastic about her work and is happy to delegate responsibility and take suggestions from her staff.  However, she does feel threatened by the introduction of yet another new computer system (the third in her time at SBE). </a:t>
            </a:r>
            <a:endParaRPr lang="en-GB" altLang="en-US" sz="1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66183E9E-074F-AE6F-94D3-1A906854C564}"/>
              </a:ext>
            </a:extLst>
          </p:cNvPr>
          <p:cNvSpPr>
            <a:spLocks noGrp="1" noChangeArrowheads="1"/>
          </p:cNvSpPr>
          <p:nvPr>
            <p:ph type="title"/>
          </p:nvPr>
        </p:nvSpPr>
        <p:spPr/>
        <p:txBody>
          <a:bodyPr/>
          <a:lstStyle/>
          <a:p>
            <a:r>
              <a:rPr lang="en-GB" altLang="en-US"/>
              <a:t>cultural probes</a:t>
            </a:r>
          </a:p>
        </p:txBody>
      </p:sp>
      <p:sp>
        <p:nvSpPr>
          <p:cNvPr id="113667" name="Rectangle 3">
            <a:extLst>
              <a:ext uri="{FF2B5EF4-FFF2-40B4-BE49-F238E27FC236}">
                <a16:creationId xmlns:a16="http://schemas.microsoft.com/office/drawing/2014/main" id="{941DE1BC-93EF-A422-C356-E916502B91BE}"/>
              </a:ext>
            </a:extLst>
          </p:cNvPr>
          <p:cNvSpPr>
            <a:spLocks noGrp="1" noChangeArrowheads="1"/>
          </p:cNvSpPr>
          <p:nvPr>
            <p:ph type="body" idx="1"/>
          </p:nvPr>
        </p:nvSpPr>
        <p:spPr/>
        <p:txBody>
          <a:bodyPr/>
          <a:lstStyle/>
          <a:p>
            <a:r>
              <a:rPr lang="en-GB" altLang="en-US" sz="2000"/>
              <a:t>direct observation</a:t>
            </a:r>
          </a:p>
          <a:p>
            <a:pPr lvl="1"/>
            <a:r>
              <a:rPr lang="en-GB" altLang="en-US" sz="1800"/>
              <a:t>sometimes hard</a:t>
            </a:r>
          </a:p>
          <a:p>
            <a:pPr lvl="2"/>
            <a:r>
              <a:rPr lang="en-GB" altLang="en-US" sz="1600"/>
              <a:t>in the home</a:t>
            </a:r>
          </a:p>
          <a:p>
            <a:pPr lvl="2"/>
            <a:r>
              <a:rPr lang="en-GB" altLang="en-US" sz="1600"/>
              <a:t>psychiatric patients, …</a:t>
            </a:r>
          </a:p>
          <a:p>
            <a:endParaRPr lang="en-GB" altLang="en-US" sz="900"/>
          </a:p>
          <a:p>
            <a:r>
              <a:rPr lang="en-GB" altLang="en-US" sz="2000"/>
              <a:t>probe packs</a:t>
            </a:r>
          </a:p>
          <a:p>
            <a:pPr lvl="1"/>
            <a:r>
              <a:rPr lang="en-GB" altLang="en-US" sz="1800"/>
              <a:t>items to prompt responses</a:t>
            </a:r>
          </a:p>
          <a:p>
            <a:pPr lvl="2"/>
            <a:r>
              <a:rPr lang="en-GB" altLang="en-US" sz="1600"/>
              <a:t>e.g. glass to listen at wall, camera, postcard</a:t>
            </a:r>
          </a:p>
          <a:p>
            <a:pPr lvl="1"/>
            <a:r>
              <a:rPr lang="en-GB" altLang="en-US" sz="1800"/>
              <a:t>given to people to open in their own environment</a:t>
            </a:r>
            <a:br>
              <a:rPr lang="en-GB" altLang="en-US" sz="1800"/>
            </a:br>
            <a:r>
              <a:rPr lang="en-GB" altLang="en-US" sz="1800"/>
              <a:t>they record what is meaningful </a:t>
            </a:r>
            <a:r>
              <a:rPr lang="en-GB" altLang="en-US" sz="1800" i="1"/>
              <a:t>to them</a:t>
            </a:r>
            <a:endParaRPr lang="en-GB" altLang="en-US" sz="1800"/>
          </a:p>
          <a:p>
            <a:endParaRPr lang="en-GB" altLang="en-US" sz="1000"/>
          </a:p>
          <a:p>
            <a:r>
              <a:rPr lang="en-GB" altLang="en-US" sz="2000"/>
              <a:t>used to …</a:t>
            </a:r>
          </a:p>
          <a:p>
            <a:pPr lvl="1"/>
            <a:r>
              <a:rPr lang="en-GB" altLang="en-US" sz="1800"/>
              <a:t>inform interviews, prompt ideas, enculture designers</a:t>
            </a:r>
          </a:p>
        </p:txBody>
      </p:sp>
      <p:pic>
        <p:nvPicPr>
          <p:cNvPr id="113668" name="Picture 4">
            <a:extLst>
              <a:ext uri="{FF2B5EF4-FFF2-40B4-BE49-F238E27FC236}">
                <a16:creationId xmlns:a16="http://schemas.microsoft.com/office/drawing/2014/main" id="{C5DA418A-23CE-8740-A8B2-57BBC3513E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63" y="609600"/>
            <a:ext cx="452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3669" name="Picture 5">
            <a:extLst>
              <a:ext uri="{FF2B5EF4-FFF2-40B4-BE49-F238E27FC236}">
                <a16:creationId xmlns:a16="http://schemas.microsoft.com/office/drawing/2014/main" id="{D4913881-FDDD-DFFD-4DD9-59546CACDD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1219200"/>
            <a:ext cx="3586163" cy="26892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A83603F6-4C18-84FC-3B5D-0F07CCFEB98F}"/>
              </a:ext>
            </a:extLst>
          </p:cNvPr>
          <p:cNvSpPr>
            <a:spLocks noGrp="1" noChangeArrowheads="1"/>
          </p:cNvSpPr>
          <p:nvPr>
            <p:ph type="ctrTitle"/>
          </p:nvPr>
        </p:nvSpPr>
        <p:spPr>
          <a:xfrm>
            <a:off x="685800" y="2286000"/>
            <a:ext cx="7772400" cy="1143000"/>
          </a:xfrm>
        </p:spPr>
        <p:txBody>
          <a:bodyPr anchor="ctr"/>
          <a:lstStyle/>
          <a:p>
            <a:r>
              <a:rPr lang="en-GB" altLang="en-US" sz="3600"/>
              <a:t>scenarios</a:t>
            </a:r>
          </a:p>
        </p:txBody>
      </p:sp>
      <p:sp>
        <p:nvSpPr>
          <p:cNvPr id="116739" name="Rectangle 3">
            <a:extLst>
              <a:ext uri="{FF2B5EF4-FFF2-40B4-BE49-F238E27FC236}">
                <a16:creationId xmlns:a16="http://schemas.microsoft.com/office/drawing/2014/main" id="{25391A15-5BD7-B87D-638D-3F6763B814CF}"/>
              </a:ext>
            </a:extLst>
          </p:cNvPr>
          <p:cNvSpPr>
            <a:spLocks noGrp="1" noChangeArrowheads="1"/>
          </p:cNvSpPr>
          <p:nvPr>
            <p:ph type="subTitle" idx="1"/>
          </p:nvPr>
        </p:nvSpPr>
        <p:spPr>
          <a:xfrm>
            <a:off x="1371600" y="3886200"/>
            <a:ext cx="6400800" cy="1752600"/>
          </a:xfrm>
        </p:spPr>
        <p:txBody>
          <a:bodyPr/>
          <a:lstStyle/>
          <a:p>
            <a:r>
              <a:rPr lang="en-GB" altLang="en-US" sz="2800"/>
              <a:t>stories for design</a:t>
            </a:r>
          </a:p>
          <a:p>
            <a:r>
              <a:rPr lang="en-GB" altLang="en-US" sz="2800"/>
              <a:t>use and reuse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F757742A-27E9-BE84-8A33-1F45ECCBF002}"/>
              </a:ext>
            </a:extLst>
          </p:cNvPr>
          <p:cNvSpPr>
            <a:spLocks noGrp="1" noChangeArrowheads="1"/>
          </p:cNvSpPr>
          <p:nvPr>
            <p:ph type="title"/>
          </p:nvPr>
        </p:nvSpPr>
        <p:spPr/>
        <p:txBody>
          <a:bodyPr/>
          <a:lstStyle/>
          <a:p>
            <a:r>
              <a:rPr lang="en-GB" altLang="en-US"/>
              <a:t>scenarios</a:t>
            </a:r>
          </a:p>
        </p:txBody>
      </p:sp>
      <p:sp>
        <p:nvSpPr>
          <p:cNvPr id="40963" name="Rectangle 3">
            <a:extLst>
              <a:ext uri="{FF2B5EF4-FFF2-40B4-BE49-F238E27FC236}">
                <a16:creationId xmlns:a16="http://schemas.microsoft.com/office/drawing/2014/main" id="{7799DE41-63B1-3638-BE8D-A1F902F08F38}"/>
              </a:ext>
            </a:extLst>
          </p:cNvPr>
          <p:cNvSpPr>
            <a:spLocks noGrp="1" noChangeArrowheads="1"/>
          </p:cNvSpPr>
          <p:nvPr>
            <p:ph type="body" idx="1"/>
          </p:nvPr>
        </p:nvSpPr>
        <p:spPr>
          <a:xfrm>
            <a:off x="685800" y="2209800"/>
            <a:ext cx="7772400" cy="4114800"/>
          </a:xfrm>
        </p:spPr>
        <p:txBody>
          <a:bodyPr/>
          <a:lstStyle/>
          <a:p>
            <a:r>
              <a:rPr lang="en-GB" altLang="en-US"/>
              <a:t>stories for design</a:t>
            </a:r>
          </a:p>
          <a:p>
            <a:pPr lvl="1"/>
            <a:r>
              <a:rPr lang="en-GB" altLang="en-US"/>
              <a:t>communicate with others</a:t>
            </a:r>
          </a:p>
          <a:p>
            <a:pPr lvl="1"/>
            <a:r>
              <a:rPr lang="en-GB" altLang="en-US"/>
              <a:t>validate other models</a:t>
            </a:r>
          </a:p>
          <a:p>
            <a:pPr lvl="1"/>
            <a:r>
              <a:rPr lang="en-GB" altLang="en-US"/>
              <a:t>understand dynamics</a:t>
            </a:r>
          </a:p>
          <a:p>
            <a:pPr>
              <a:spcBef>
                <a:spcPct val="50000"/>
              </a:spcBef>
            </a:pPr>
            <a:r>
              <a:rPr lang="en-GB" altLang="en-US"/>
              <a:t>linearity</a:t>
            </a:r>
          </a:p>
          <a:p>
            <a:pPr lvl="1"/>
            <a:r>
              <a:rPr lang="en-GB" altLang="en-US"/>
              <a:t>time is linear - our lives are linear</a:t>
            </a:r>
          </a:p>
          <a:p>
            <a:pPr lvl="1"/>
            <a:r>
              <a:rPr lang="en-GB" altLang="en-US"/>
              <a:t>but don’t show alternatives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AA39A472-3236-395F-E0F1-DDCEFD02261D}"/>
              </a:ext>
            </a:extLst>
          </p:cNvPr>
          <p:cNvSpPr>
            <a:spLocks noGrp="1" noChangeArrowheads="1"/>
          </p:cNvSpPr>
          <p:nvPr>
            <p:ph type="title"/>
          </p:nvPr>
        </p:nvSpPr>
        <p:spPr/>
        <p:txBody>
          <a:bodyPr/>
          <a:lstStyle/>
          <a:p>
            <a:r>
              <a:rPr lang="en-US" altLang="en-US">
                <a:solidFill>
                  <a:schemeClr val="tx1"/>
                </a:solidFill>
              </a:rPr>
              <a:t>scenarios …</a:t>
            </a:r>
            <a:endParaRPr lang="en-US" altLang="en-US"/>
          </a:p>
        </p:txBody>
      </p:sp>
      <p:sp>
        <p:nvSpPr>
          <p:cNvPr id="43011" name="Rectangle 3">
            <a:extLst>
              <a:ext uri="{FF2B5EF4-FFF2-40B4-BE49-F238E27FC236}">
                <a16:creationId xmlns:a16="http://schemas.microsoft.com/office/drawing/2014/main" id="{B7638A37-6135-37C6-9C30-A674AE4E1350}"/>
              </a:ext>
            </a:extLst>
          </p:cNvPr>
          <p:cNvSpPr>
            <a:spLocks noGrp="1" noChangeArrowheads="1"/>
          </p:cNvSpPr>
          <p:nvPr>
            <p:ph type="body" idx="1"/>
          </p:nvPr>
        </p:nvSpPr>
        <p:spPr/>
        <p:txBody>
          <a:bodyPr/>
          <a:lstStyle/>
          <a:p>
            <a:r>
              <a:rPr lang="en-US" altLang="en-US" sz="2400"/>
              <a:t>what will users want to do?</a:t>
            </a:r>
          </a:p>
          <a:p>
            <a:endParaRPr lang="en-US" altLang="en-US" sz="1200"/>
          </a:p>
          <a:p>
            <a:r>
              <a:rPr lang="en-US" altLang="en-US" sz="2400"/>
              <a:t>step-by-step walkthrough</a:t>
            </a:r>
          </a:p>
          <a:p>
            <a:pPr lvl="1"/>
            <a:r>
              <a:rPr lang="en-US" altLang="en-US" sz="2000"/>
              <a:t>what can they see (sketches, screen shots)</a:t>
            </a:r>
          </a:p>
          <a:p>
            <a:pPr lvl="1"/>
            <a:r>
              <a:rPr lang="en-US" altLang="en-US" sz="2000"/>
              <a:t>what do they do (keyboard, mouse etc.)</a:t>
            </a:r>
          </a:p>
          <a:p>
            <a:pPr lvl="1"/>
            <a:r>
              <a:rPr lang="en-US" altLang="en-US" sz="2000"/>
              <a:t>what are they thinking?</a:t>
            </a:r>
          </a:p>
          <a:p>
            <a:pPr lvl="1"/>
            <a:endParaRPr lang="en-US" altLang="en-US" sz="1000"/>
          </a:p>
          <a:p>
            <a:r>
              <a:rPr lang="en-US" altLang="en-US" sz="2400"/>
              <a:t>use and reuse throughout design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1EC28CCB-8DC1-A838-3B38-C46D450AA708}"/>
              </a:ext>
            </a:extLst>
          </p:cNvPr>
          <p:cNvSpPr>
            <a:spLocks noGrp="1" noChangeArrowheads="1"/>
          </p:cNvSpPr>
          <p:nvPr>
            <p:ph type="title"/>
          </p:nvPr>
        </p:nvSpPr>
        <p:spPr/>
        <p:txBody>
          <a:bodyPr/>
          <a:lstStyle/>
          <a:p>
            <a:r>
              <a:rPr lang="en-GB" altLang="en-US"/>
              <a:t>scenario – movie player</a:t>
            </a:r>
          </a:p>
        </p:txBody>
      </p:sp>
      <p:sp>
        <p:nvSpPr>
          <p:cNvPr id="44035" name="Rectangle 3">
            <a:extLst>
              <a:ext uri="{FF2B5EF4-FFF2-40B4-BE49-F238E27FC236}">
                <a16:creationId xmlns:a16="http://schemas.microsoft.com/office/drawing/2014/main" id="{9E0C2AD6-A406-A66C-3A67-169A1A53D969}"/>
              </a:ext>
            </a:extLst>
          </p:cNvPr>
          <p:cNvSpPr>
            <a:spLocks noGrp="1" noChangeArrowheads="1"/>
          </p:cNvSpPr>
          <p:nvPr>
            <p:ph type="body" idx="1"/>
          </p:nvPr>
        </p:nvSpPr>
        <p:spPr>
          <a:xfrm>
            <a:off x="685800" y="1981200"/>
            <a:ext cx="7696200" cy="4419600"/>
          </a:xfrm>
        </p:spPr>
        <p:txBody>
          <a:bodyPr/>
          <a:lstStyle/>
          <a:p>
            <a:pPr marL="0" indent="0">
              <a:lnSpc>
                <a:spcPct val="90000"/>
              </a:lnSpc>
              <a:spcAft>
                <a:spcPts val="600"/>
              </a:spcAft>
              <a:buFontTx/>
              <a:buNone/>
            </a:pPr>
            <a:r>
              <a:rPr lang="en-US" altLang="en-US" sz="1800"/>
              <a:t>Brian would like to see the new film “Moments of Significance” and wants to invite Alison, but he knows she doesn’t like “arty” films.  He decides to take a look at it to see if she would like it and so connects to one of the movie sharing networks.  He uses his work machine as it has a higher bandwidth connection, but feels a bit guilty.  He knows he will be getting an illegal copy of the film, but decides it is OK as he is intending to go to the cinema to watch it.  After it downloads to his machine he takes out his new personal movie player.  He presses the ‘menu’ button and on the small LCD screen he scrolls using the arrow keys to ‘bluetooth connect’ and presses the select button.  On his computer the movie download program now has an icon showing that it has recognised a compatible device and he drags the icon of the film over the icon for the player.  On the player the LCD screen says “downloading now”, a percent done indicator and small whirling icon. …  …  …</a:t>
            </a:r>
            <a:endParaRPr lang="en-GB" altLang="en-US" sz="1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742AEAB-8495-AD03-082F-47E73F0F4C9E}"/>
              </a:ext>
            </a:extLst>
          </p:cNvPr>
          <p:cNvSpPr>
            <a:spLocks noGrp="1" noChangeArrowheads="1"/>
          </p:cNvSpPr>
          <p:nvPr>
            <p:ph type="title"/>
          </p:nvPr>
        </p:nvSpPr>
        <p:spPr/>
        <p:txBody>
          <a:bodyPr/>
          <a:lstStyle/>
          <a:p>
            <a:r>
              <a:rPr lang="en-GB" altLang="en-US"/>
              <a:t>also play act …</a:t>
            </a:r>
          </a:p>
        </p:txBody>
      </p:sp>
      <p:sp>
        <p:nvSpPr>
          <p:cNvPr id="45059" name="Rectangle 3">
            <a:extLst>
              <a:ext uri="{FF2B5EF4-FFF2-40B4-BE49-F238E27FC236}">
                <a16:creationId xmlns:a16="http://schemas.microsoft.com/office/drawing/2014/main" id="{822079DD-7FCD-E9C8-437B-77CCAC38DA6B}"/>
              </a:ext>
            </a:extLst>
          </p:cNvPr>
          <p:cNvSpPr>
            <a:spLocks noGrp="1" noChangeArrowheads="1"/>
          </p:cNvSpPr>
          <p:nvPr>
            <p:ph type="body" idx="1"/>
          </p:nvPr>
        </p:nvSpPr>
        <p:spPr/>
        <p:txBody>
          <a:bodyPr/>
          <a:lstStyle/>
          <a:p>
            <a:r>
              <a:rPr lang="en-GB" altLang="en-US" sz="2400"/>
              <a:t>mock up device</a:t>
            </a:r>
          </a:p>
          <a:p>
            <a:r>
              <a:rPr lang="en-GB" altLang="en-US" sz="2400"/>
              <a:t>pretend you are doing it</a:t>
            </a:r>
          </a:p>
          <a:p>
            <a:r>
              <a:rPr lang="en-GB" altLang="en-US" sz="2400"/>
              <a:t>internet-connected swiss army knife …</a:t>
            </a:r>
          </a:p>
          <a:p>
            <a:endParaRPr lang="en-GB" altLang="en-US" sz="2400"/>
          </a:p>
          <a:p>
            <a:pPr>
              <a:buFontTx/>
              <a:buNone/>
            </a:pPr>
            <a:r>
              <a:rPr lang="en-GB" altLang="en-US" sz="2400"/>
              <a:t>			</a:t>
            </a:r>
          </a:p>
        </p:txBody>
      </p:sp>
      <p:grpSp>
        <p:nvGrpSpPr>
          <p:cNvPr id="45069" name="Group 13">
            <a:extLst>
              <a:ext uri="{FF2B5EF4-FFF2-40B4-BE49-F238E27FC236}">
                <a16:creationId xmlns:a16="http://schemas.microsoft.com/office/drawing/2014/main" id="{9D6756EA-4B86-8AD7-05A0-F9CC18B862D5}"/>
              </a:ext>
            </a:extLst>
          </p:cNvPr>
          <p:cNvGrpSpPr>
            <a:grpSpLocks/>
          </p:cNvGrpSpPr>
          <p:nvPr/>
        </p:nvGrpSpPr>
        <p:grpSpPr bwMode="auto">
          <a:xfrm>
            <a:off x="609600" y="3505200"/>
            <a:ext cx="4381500" cy="3124200"/>
            <a:chOff x="384" y="2208"/>
            <a:chExt cx="2760" cy="1968"/>
          </a:xfrm>
        </p:grpSpPr>
        <p:pic>
          <p:nvPicPr>
            <p:cNvPr id="45063" name="Picture 7">
              <a:extLst>
                <a:ext uri="{FF2B5EF4-FFF2-40B4-BE49-F238E27FC236}">
                  <a16:creationId xmlns:a16="http://schemas.microsoft.com/office/drawing/2014/main" id="{F0496CA5-F4C9-1512-FED8-3EEE69CA38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2" y="2208"/>
              <a:ext cx="2232" cy="1584"/>
            </a:xfrm>
            <a:prstGeom prst="rect">
              <a:avLst/>
            </a:prstGeom>
            <a:noFill/>
            <a:extLst>
              <a:ext uri="{909E8E84-426E-40DD-AFC4-6F175D3DCCD1}">
                <a14:hiddenFill xmlns:a14="http://schemas.microsoft.com/office/drawing/2010/main">
                  <a:solidFill>
                    <a:srgbClr val="FFFFFF"/>
                  </a:solidFill>
                </a14:hiddenFill>
              </a:ext>
            </a:extLst>
          </p:spPr>
        </p:pic>
        <p:sp>
          <p:nvSpPr>
            <p:cNvPr id="45065" name="Text Box 9">
              <a:extLst>
                <a:ext uri="{FF2B5EF4-FFF2-40B4-BE49-F238E27FC236}">
                  <a16:creationId xmlns:a16="http://schemas.microsoft.com/office/drawing/2014/main" id="{B4B9F392-5409-6B29-FEAD-B6296AD8346D}"/>
                </a:ext>
              </a:extLst>
            </p:cNvPr>
            <p:cNvSpPr txBox="1">
              <a:spLocks noChangeArrowheads="1"/>
            </p:cNvSpPr>
            <p:nvPr/>
          </p:nvSpPr>
          <p:spPr bwMode="auto">
            <a:xfrm>
              <a:off x="384" y="3827"/>
              <a:ext cx="201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000">
                  <a:latin typeface="Verdana" panose="020B0604030504040204" pitchFamily="34" charset="0"/>
                </a:rPr>
                <a:t>use toothpick as stylus </a:t>
              </a:r>
            </a:p>
          </p:txBody>
        </p:sp>
        <p:sp>
          <p:nvSpPr>
            <p:cNvPr id="45067" name="AutoShape 11">
              <a:extLst>
                <a:ext uri="{FF2B5EF4-FFF2-40B4-BE49-F238E27FC236}">
                  <a16:creationId xmlns:a16="http://schemas.microsoft.com/office/drawing/2014/main" id="{1B366E15-7640-6469-9974-9B28FECDD0D6}"/>
                </a:ext>
              </a:extLst>
            </p:cNvPr>
            <p:cNvSpPr>
              <a:spLocks noChangeArrowheads="1"/>
            </p:cNvSpPr>
            <p:nvPr/>
          </p:nvSpPr>
          <p:spPr bwMode="auto">
            <a:xfrm>
              <a:off x="2352" y="3936"/>
              <a:ext cx="240" cy="240"/>
            </a:xfrm>
            <a:prstGeom prst="smileyFace">
              <a:avLst>
                <a:gd name="adj" fmla="val 4653"/>
              </a:avLst>
            </a:prstGeom>
            <a:solidFill>
              <a:schemeClr val="folHlink"/>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45070" name="Group 14">
            <a:extLst>
              <a:ext uri="{FF2B5EF4-FFF2-40B4-BE49-F238E27FC236}">
                <a16:creationId xmlns:a16="http://schemas.microsoft.com/office/drawing/2014/main" id="{68E15402-A5AA-F149-AC06-351A643275F9}"/>
              </a:ext>
            </a:extLst>
          </p:cNvPr>
          <p:cNvGrpSpPr>
            <a:grpSpLocks/>
          </p:cNvGrpSpPr>
          <p:nvPr/>
        </p:nvGrpSpPr>
        <p:grpSpPr bwMode="auto">
          <a:xfrm>
            <a:off x="4572000" y="3581400"/>
            <a:ext cx="4419600" cy="2946400"/>
            <a:chOff x="2880" y="2256"/>
            <a:chExt cx="2784" cy="1856"/>
          </a:xfrm>
        </p:grpSpPr>
        <p:pic>
          <p:nvPicPr>
            <p:cNvPr id="45064" name="Picture 8">
              <a:extLst>
                <a:ext uri="{FF2B5EF4-FFF2-40B4-BE49-F238E27FC236}">
                  <a16:creationId xmlns:a16="http://schemas.microsoft.com/office/drawing/2014/main" id="{0D726FEC-9D14-CFAE-8FC3-516DF958B0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0" y="2544"/>
              <a:ext cx="1968" cy="1568"/>
            </a:xfrm>
            <a:prstGeom prst="rect">
              <a:avLst/>
            </a:prstGeom>
            <a:noFill/>
            <a:extLst>
              <a:ext uri="{909E8E84-426E-40DD-AFC4-6F175D3DCCD1}">
                <a14:hiddenFill xmlns:a14="http://schemas.microsoft.com/office/drawing/2010/main">
                  <a:solidFill>
                    <a:srgbClr val="FFFFFF"/>
                  </a:solidFill>
                </a14:hiddenFill>
              </a:ext>
            </a:extLst>
          </p:spPr>
        </p:pic>
        <p:sp>
          <p:nvSpPr>
            <p:cNvPr id="45066" name="Text Box 10">
              <a:extLst>
                <a:ext uri="{FF2B5EF4-FFF2-40B4-BE49-F238E27FC236}">
                  <a16:creationId xmlns:a16="http://schemas.microsoft.com/office/drawing/2014/main" id="{D509CBB7-DFC4-B12B-22CF-D4783ADAF88E}"/>
                </a:ext>
              </a:extLst>
            </p:cNvPr>
            <p:cNvSpPr txBox="1">
              <a:spLocks noChangeArrowheads="1"/>
            </p:cNvSpPr>
            <p:nvPr/>
          </p:nvSpPr>
          <p:spPr bwMode="auto">
            <a:xfrm>
              <a:off x="3456" y="2256"/>
              <a:ext cx="220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000">
                  <a:latin typeface="Verdana" panose="020B0604030504040204" pitchFamily="34" charset="0"/>
                </a:rPr>
                <a:t>but where is that thumb? </a:t>
              </a:r>
            </a:p>
          </p:txBody>
        </p:sp>
        <p:sp>
          <p:nvSpPr>
            <p:cNvPr id="45068" name="AutoShape 12">
              <a:extLst>
                <a:ext uri="{FF2B5EF4-FFF2-40B4-BE49-F238E27FC236}">
                  <a16:creationId xmlns:a16="http://schemas.microsoft.com/office/drawing/2014/main" id="{77264289-FDF7-CB77-4C57-8A3BC20E7D9E}"/>
                </a:ext>
              </a:extLst>
            </p:cNvPr>
            <p:cNvSpPr>
              <a:spLocks noChangeArrowheads="1"/>
            </p:cNvSpPr>
            <p:nvPr/>
          </p:nvSpPr>
          <p:spPr bwMode="auto">
            <a:xfrm>
              <a:off x="5376" y="2496"/>
              <a:ext cx="240" cy="240"/>
            </a:xfrm>
            <a:prstGeom prst="smileyFace">
              <a:avLst>
                <a:gd name="adj" fmla="val -4653"/>
              </a:avLst>
            </a:prstGeom>
            <a:solidFill>
              <a:srgbClr val="FF0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506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50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6BCC30FC-7D5B-AE68-3F60-A043A7DD801C}"/>
              </a:ext>
            </a:extLst>
          </p:cNvPr>
          <p:cNvSpPr>
            <a:spLocks noGrp="1" noChangeArrowheads="1"/>
          </p:cNvSpPr>
          <p:nvPr>
            <p:ph type="title"/>
          </p:nvPr>
        </p:nvSpPr>
        <p:spPr/>
        <p:txBody>
          <a:bodyPr/>
          <a:lstStyle/>
          <a:p>
            <a:r>
              <a:rPr lang="en-GB" altLang="en-US"/>
              <a:t>… explore the depths</a:t>
            </a:r>
          </a:p>
        </p:txBody>
      </p:sp>
      <p:sp>
        <p:nvSpPr>
          <p:cNvPr id="50179" name="Rectangle 3">
            <a:extLst>
              <a:ext uri="{FF2B5EF4-FFF2-40B4-BE49-F238E27FC236}">
                <a16:creationId xmlns:a16="http://schemas.microsoft.com/office/drawing/2014/main" id="{21051663-5F14-EB47-3D00-8E497B30641E}"/>
              </a:ext>
            </a:extLst>
          </p:cNvPr>
          <p:cNvSpPr>
            <a:spLocks noGrp="1" noChangeArrowheads="1"/>
          </p:cNvSpPr>
          <p:nvPr>
            <p:ph type="body" idx="1"/>
          </p:nvPr>
        </p:nvSpPr>
        <p:spPr/>
        <p:txBody>
          <a:bodyPr/>
          <a:lstStyle/>
          <a:p>
            <a:r>
              <a:rPr lang="en-GB" altLang="en-US"/>
              <a:t>explore interaction</a:t>
            </a:r>
          </a:p>
          <a:p>
            <a:pPr lvl="1"/>
            <a:r>
              <a:rPr lang="en-GB" altLang="en-US"/>
              <a:t>what happens when</a:t>
            </a:r>
          </a:p>
          <a:p>
            <a:pPr lvl="4"/>
            <a:endParaRPr lang="en-GB" altLang="en-US"/>
          </a:p>
          <a:p>
            <a:r>
              <a:rPr lang="en-GB" altLang="en-US"/>
              <a:t>explore cognition</a:t>
            </a:r>
          </a:p>
          <a:p>
            <a:pPr lvl="1"/>
            <a:r>
              <a:rPr lang="en-GB" altLang="en-US"/>
              <a:t>what are the users thinking</a:t>
            </a:r>
          </a:p>
          <a:p>
            <a:pPr lvl="4"/>
            <a:endParaRPr lang="en-GB" altLang="en-US"/>
          </a:p>
          <a:p>
            <a:r>
              <a:rPr lang="en-GB" altLang="en-US"/>
              <a:t>explore architecture</a:t>
            </a:r>
          </a:p>
          <a:p>
            <a:pPr lvl="1"/>
            <a:r>
              <a:rPr lang="en-GB" altLang="en-US"/>
              <a:t>what is happening inside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47BD80C4-9AB9-BFB1-675D-F65C2BC6BE04}"/>
              </a:ext>
            </a:extLst>
          </p:cNvPr>
          <p:cNvSpPr>
            <a:spLocks noGrp="1" noChangeArrowheads="1"/>
          </p:cNvSpPr>
          <p:nvPr>
            <p:ph type="title"/>
          </p:nvPr>
        </p:nvSpPr>
        <p:spPr/>
        <p:txBody>
          <a:bodyPr/>
          <a:lstStyle/>
          <a:p>
            <a:r>
              <a:rPr lang="en-GB" altLang="en-US"/>
              <a:t>use scenarios to ..</a:t>
            </a:r>
          </a:p>
        </p:txBody>
      </p:sp>
      <p:sp>
        <p:nvSpPr>
          <p:cNvPr id="115715" name="Rectangle 3">
            <a:extLst>
              <a:ext uri="{FF2B5EF4-FFF2-40B4-BE49-F238E27FC236}">
                <a16:creationId xmlns:a16="http://schemas.microsoft.com/office/drawing/2014/main" id="{BA2108E2-EC61-B130-B381-35C5EF3C7B52}"/>
              </a:ext>
            </a:extLst>
          </p:cNvPr>
          <p:cNvSpPr>
            <a:spLocks noGrp="1" noChangeArrowheads="1"/>
          </p:cNvSpPr>
          <p:nvPr>
            <p:ph type="body" idx="1"/>
          </p:nvPr>
        </p:nvSpPr>
        <p:spPr/>
        <p:txBody>
          <a:bodyPr/>
          <a:lstStyle/>
          <a:p>
            <a:r>
              <a:rPr lang="en-GB" altLang="en-US"/>
              <a:t>communicate with others</a:t>
            </a:r>
          </a:p>
          <a:p>
            <a:pPr lvl="1"/>
            <a:r>
              <a:rPr lang="en-GB" altLang="en-US"/>
              <a:t>designers, clients, users</a:t>
            </a:r>
          </a:p>
          <a:p>
            <a:endParaRPr lang="en-GB" altLang="en-US" sz="1200"/>
          </a:p>
          <a:p>
            <a:r>
              <a:rPr lang="en-GB" altLang="en-US"/>
              <a:t>validate other models</a:t>
            </a:r>
          </a:p>
          <a:p>
            <a:pPr lvl="1"/>
            <a:r>
              <a:rPr lang="en-GB" altLang="en-US"/>
              <a:t>‘play’ it against other models</a:t>
            </a:r>
          </a:p>
          <a:p>
            <a:endParaRPr lang="en-GB" altLang="en-US" sz="1200"/>
          </a:p>
          <a:p>
            <a:r>
              <a:rPr lang="en-GB" altLang="en-US"/>
              <a:t>express dynamics</a:t>
            </a:r>
          </a:p>
          <a:p>
            <a:pPr lvl="1"/>
            <a:r>
              <a:rPr lang="en-GB" altLang="en-US"/>
              <a:t>screenshots – appearance</a:t>
            </a:r>
          </a:p>
          <a:p>
            <a:pPr lvl="1"/>
            <a:r>
              <a:rPr lang="en-GB" altLang="en-US"/>
              <a:t>scenario – behaviour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0073D871-4F64-2C6D-EFD0-42E3B3E04FE2}"/>
              </a:ext>
            </a:extLst>
          </p:cNvPr>
          <p:cNvSpPr>
            <a:spLocks noGrp="1" noChangeArrowheads="1"/>
          </p:cNvSpPr>
          <p:nvPr>
            <p:ph type="title"/>
          </p:nvPr>
        </p:nvSpPr>
        <p:spPr/>
        <p:txBody>
          <a:bodyPr/>
          <a:lstStyle/>
          <a:p>
            <a:r>
              <a:rPr lang="en-US" altLang="en-US"/>
              <a:t>linearity</a:t>
            </a:r>
            <a:endParaRPr lang="en-US" altLang="en-US" sz="4800"/>
          </a:p>
        </p:txBody>
      </p:sp>
      <p:sp>
        <p:nvSpPr>
          <p:cNvPr id="114691" name="Rectangle 3">
            <a:extLst>
              <a:ext uri="{FF2B5EF4-FFF2-40B4-BE49-F238E27FC236}">
                <a16:creationId xmlns:a16="http://schemas.microsoft.com/office/drawing/2014/main" id="{85804FCD-62A0-49A5-0720-7EB5D1FD4894}"/>
              </a:ext>
            </a:extLst>
          </p:cNvPr>
          <p:cNvSpPr>
            <a:spLocks noGrp="1" noChangeArrowheads="1"/>
          </p:cNvSpPr>
          <p:nvPr>
            <p:ph type="body" idx="1"/>
          </p:nvPr>
        </p:nvSpPr>
        <p:spPr/>
        <p:txBody>
          <a:bodyPr/>
          <a:lstStyle/>
          <a:p>
            <a:pPr>
              <a:lnSpc>
                <a:spcPct val="90000"/>
              </a:lnSpc>
              <a:buFontTx/>
              <a:buNone/>
            </a:pPr>
            <a:r>
              <a:rPr lang="en-US" altLang="en-US" sz="2400"/>
              <a:t>Scenarios – one linear path through system</a:t>
            </a:r>
          </a:p>
          <a:p>
            <a:pPr>
              <a:lnSpc>
                <a:spcPct val="90000"/>
              </a:lnSpc>
              <a:buFontTx/>
              <a:buNone/>
            </a:pPr>
            <a:endParaRPr lang="en-US" altLang="en-US" sz="1400"/>
          </a:p>
          <a:p>
            <a:pPr>
              <a:lnSpc>
                <a:spcPct val="90000"/>
              </a:lnSpc>
              <a:buFontTx/>
              <a:buNone/>
            </a:pPr>
            <a:r>
              <a:rPr lang="en-US" altLang="en-US" sz="2400"/>
              <a:t>Pros:</a:t>
            </a:r>
          </a:p>
          <a:p>
            <a:pPr lvl="1">
              <a:lnSpc>
                <a:spcPct val="90000"/>
              </a:lnSpc>
              <a:spcBef>
                <a:spcPct val="0"/>
              </a:spcBef>
            </a:pPr>
            <a:r>
              <a:rPr lang="en-US" altLang="en-US" sz="1800"/>
              <a:t>life and time are linear</a:t>
            </a:r>
          </a:p>
          <a:p>
            <a:pPr lvl="1">
              <a:lnSpc>
                <a:spcPct val="90000"/>
              </a:lnSpc>
              <a:spcBef>
                <a:spcPct val="0"/>
              </a:spcBef>
            </a:pPr>
            <a:r>
              <a:rPr lang="en-US" altLang="en-US" sz="1800"/>
              <a:t>easy to understand (stories and narrative are natural)</a:t>
            </a:r>
          </a:p>
          <a:p>
            <a:pPr lvl="1">
              <a:lnSpc>
                <a:spcPct val="90000"/>
              </a:lnSpc>
              <a:spcBef>
                <a:spcPct val="0"/>
              </a:spcBef>
            </a:pPr>
            <a:r>
              <a:rPr lang="en-US" altLang="en-US" sz="1800"/>
              <a:t>concrete (errors less likely)</a:t>
            </a:r>
          </a:p>
          <a:p>
            <a:pPr>
              <a:lnSpc>
                <a:spcPct val="90000"/>
              </a:lnSpc>
              <a:buFontTx/>
              <a:buNone/>
            </a:pPr>
            <a:r>
              <a:rPr lang="en-US" altLang="en-US" sz="2400"/>
              <a:t>Cons:</a:t>
            </a:r>
          </a:p>
          <a:p>
            <a:pPr lvl="1">
              <a:lnSpc>
                <a:spcPct val="90000"/>
              </a:lnSpc>
              <a:spcBef>
                <a:spcPct val="0"/>
              </a:spcBef>
            </a:pPr>
            <a:r>
              <a:rPr lang="en-US" altLang="en-US" sz="1800"/>
              <a:t>no choice,  no branches,  no special conditions</a:t>
            </a:r>
          </a:p>
          <a:p>
            <a:pPr lvl="1">
              <a:lnSpc>
                <a:spcPct val="90000"/>
              </a:lnSpc>
              <a:spcBef>
                <a:spcPct val="0"/>
              </a:spcBef>
            </a:pPr>
            <a:r>
              <a:rPr lang="en-US" altLang="en-US" sz="2000"/>
              <a:t>miss the unintended</a:t>
            </a:r>
          </a:p>
          <a:p>
            <a:pPr>
              <a:lnSpc>
                <a:spcPct val="90000"/>
              </a:lnSpc>
            </a:pPr>
            <a:endParaRPr lang="en-US" altLang="en-US" sz="1400"/>
          </a:p>
          <a:p>
            <a:pPr>
              <a:lnSpc>
                <a:spcPct val="90000"/>
              </a:lnSpc>
            </a:pPr>
            <a:r>
              <a:rPr lang="en-US" altLang="en-US" sz="2400"/>
              <a:t>So:</a:t>
            </a:r>
          </a:p>
          <a:p>
            <a:pPr lvl="1">
              <a:lnSpc>
                <a:spcPct val="90000"/>
              </a:lnSpc>
              <a:spcBef>
                <a:spcPct val="0"/>
              </a:spcBef>
            </a:pPr>
            <a:r>
              <a:rPr lang="en-US" altLang="en-US" sz="1800"/>
              <a:t>use several scenarios</a:t>
            </a:r>
          </a:p>
          <a:p>
            <a:pPr lvl="1">
              <a:lnSpc>
                <a:spcPct val="90000"/>
              </a:lnSpc>
              <a:spcBef>
                <a:spcPct val="0"/>
              </a:spcBef>
            </a:pPr>
            <a:r>
              <a:rPr lang="en-US" altLang="en-US" sz="1800"/>
              <a:t>use several methods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Oval 2">
            <a:extLst>
              <a:ext uri="{FF2B5EF4-FFF2-40B4-BE49-F238E27FC236}">
                <a16:creationId xmlns:a16="http://schemas.microsoft.com/office/drawing/2014/main" id="{1A4C7082-DAEF-2290-96DF-B85DC8F3256E}"/>
              </a:ext>
            </a:extLst>
          </p:cNvPr>
          <p:cNvSpPr>
            <a:spLocks noChangeArrowheads="1"/>
          </p:cNvSpPr>
          <p:nvPr/>
        </p:nvSpPr>
        <p:spPr bwMode="auto">
          <a:xfrm>
            <a:off x="4267200" y="3048000"/>
            <a:ext cx="533400" cy="533400"/>
          </a:xfrm>
          <a:prstGeom prst="ellipse">
            <a:avLst/>
          </a:prstGeom>
          <a:solidFill>
            <a:srgbClr val="ED181E"/>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32866124-07E2-78DE-6FB5-775B2313365D}"/>
              </a:ext>
            </a:extLst>
          </p:cNvPr>
          <p:cNvSpPr>
            <a:spLocks noGrp="1" noChangeArrowheads="1"/>
          </p:cNvSpPr>
          <p:nvPr>
            <p:ph type="ctrTitle"/>
          </p:nvPr>
        </p:nvSpPr>
        <p:spPr>
          <a:xfrm>
            <a:off x="685800" y="2286000"/>
            <a:ext cx="7772400" cy="1143000"/>
          </a:xfrm>
        </p:spPr>
        <p:txBody>
          <a:bodyPr anchor="ctr"/>
          <a:lstStyle/>
          <a:p>
            <a:r>
              <a:rPr lang="en-GB" altLang="en-US" sz="3600"/>
              <a:t>navigation design</a:t>
            </a:r>
          </a:p>
        </p:txBody>
      </p:sp>
      <p:sp>
        <p:nvSpPr>
          <p:cNvPr id="117763" name="Rectangle 3">
            <a:extLst>
              <a:ext uri="{FF2B5EF4-FFF2-40B4-BE49-F238E27FC236}">
                <a16:creationId xmlns:a16="http://schemas.microsoft.com/office/drawing/2014/main" id="{C7B5BD90-E77F-957F-58E9-D35A186D1698}"/>
              </a:ext>
            </a:extLst>
          </p:cNvPr>
          <p:cNvSpPr>
            <a:spLocks noGrp="1" noChangeArrowheads="1"/>
          </p:cNvSpPr>
          <p:nvPr>
            <p:ph type="subTitle" idx="1"/>
          </p:nvPr>
        </p:nvSpPr>
        <p:spPr>
          <a:xfrm>
            <a:off x="1371600" y="3886200"/>
            <a:ext cx="6400800" cy="1752600"/>
          </a:xfrm>
        </p:spPr>
        <p:txBody>
          <a:bodyPr/>
          <a:lstStyle/>
          <a:p>
            <a:r>
              <a:rPr lang="en-GB" altLang="en-US" sz="2800"/>
              <a:t>local structure – single screen</a:t>
            </a:r>
          </a:p>
          <a:p>
            <a:r>
              <a:rPr lang="en-GB" altLang="en-US" sz="2800"/>
              <a:t>global structure – whole site </a:t>
            </a:r>
          </a:p>
        </p:txBody>
      </p:sp>
      <p:grpSp>
        <p:nvGrpSpPr>
          <p:cNvPr id="117764" name="Group 4">
            <a:extLst>
              <a:ext uri="{FF2B5EF4-FFF2-40B4-BE49-F238E27FC236}">
                <a16:creationId xmlns:a16="http://schemas.microsoft.com/office/drawing/2014/main" id="{653A41E1-B490-4474-9026-A27967294144}"/>
              </a:ext>
            </a:extLst>
          </p:cNvPr>
          <p:cNvGrpSpPr>
            <a:grpSpLocks/>
          </p:cNvGrpSpPr>
          <p:nvPr/>
        </p:nvGrpSpPr>
        <p:grpSpPr bwMode="auto">
          <a:xfrm>
            <a:off x="381000" y="1143000"/>
            <a:ext cx="2986088" cy="1217613"/>
            <a:chOff x="566" y="1056"/>
            <a:chExt cx="4474" cy="1824"/>
          </a:xfrm>
        </p:grpSpPr>
        <p:sp>
          <p:nvSpPr>
            <p:cNvPr id="117765" name="AutoShape 5">
              <a:extLst>
                <a:ext uri="{FF2B5EF4-FFF2-40B4-BE49-F238E27FC236}">
                  <a16:creationId xmlns:a16="http://schemas.microsoft.com/office/drawing/2014/main" id="{A71E1889-E80F-30A2-895D-038C5F027565}"/>
                </a:ext>
              </a:extLst>
            </p:cNvPr>
            <p:cNvSpPr>
              <a:spLocks noChangeArrowheads="1"/>
            </p:cNvSpPr>
            <p:nvPr/>
          </p:nvSpPr>
          <p:spPr bwMode="auto">
            <a:xfrm>
              <a:off x="4320" y="2208"/>
              <a:ext cx="720" cy="624"/>
            </a:xfrm>
            <a:prstGeom prst="irregularSeal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7766" name="Text Box 6">
              <a:extLst>
                <a:ext uri="{FF2B5EF4-FFF2-40B4-BE49-F238E27FC236}">
                  <a16:creationId xmlns:a16="http://schemas.microsoft.com/office/drawing/2014/main" id="{FF92D1D4-17E4-64A1-F4EF-211E252D76C9}"/>
                </a:ext>
              </a:extLst>
            </p:cNvPr>
            <p:cNvSpPr txBox="1">
              <a:spLocks noChangeArrowheads="1"/>
            </p:cNvSpPr>
            <p:nvPr/>
          </p:nvSpPr>
          <p:spPr bwMode="auto">
            <a:xfrm>
              <a:off x="4599" y="2095"/>
              <a:ext cx="276"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1000">
                <a:latin typeface="Times New Roman" panose="02020603050405020304" pitchFamily="18" charset="0"/>
              </a:endParaRPr>
            </a:p>
          </p:txBody>
        </p:sp>
        <p:sp>
          <p:nvSpPr>
            <p:cNvPr id="117767" name="Text Box 7">
              <a:extLst>
                <a:ext uri="{FF2B5EF4-FFF2-40B4-BE49-F238E27FC236}">
                  <a16:creationId xmlns:a16="http://schemas.microsoft.com/office/drawing/2014/main" id="{90A1DC80-6347-65F0-197A-623D266CA137}"/>
                </a:ext>
              </a:extLst>
            </p:cNvPr>
            <p:cNvSpPr txBox="1">
              <a:spLocks noChangeArrowheads="1"/>
            </p:cNvSpPr>
            <p:nvPr/>
          </p:nvSpPr>
          <p:spPr bwMode="auto">
            <a:xfrm>
              <a:off x="566" y="2433"/>
              <a:ext cx="604"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000">
                  <a:latin typeface="Times New Roman" panose="02020603050405020304" pitchFamily="18" charset="0"/>
                </a:rPr>
                <a:t>start</a:t>
              </a:r>
            </a:p>
          </p:txBody>
        </p:sp>
        <p:sp>
          <p:nvSpPr>
            <p:cNvPr id="117768" name="AutoShape 8">
              <a:extLst>
                <a:ext uri="{FF2B5EF4-FFF2-40B4-BE49-F238E27FC236}">
                  <a16:creationId xmlns:a16="http://schemas.microsoft.com/office/drawing/2014/main" id="{94D3DF5C-764D-B11C-F072-E6B3642249AB}"/>
                </a:ext>
              </a:extLst>
            </p:cNvPr>
            <p:cNvSpPr>
              <a:spLocks noChangeArrowheads="1"/>
            </p:cNvSpPr>
            <p:nvPr/>
          </p:nvSpPr>
          <p:spPr bwMode="auto">
            <a:xfrm>
              <a:off x="720" y="2496"/>
              <a:ext cx="384" cy="384"/>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7769" name="Freeform 9">
              <a:extLst>
                <a:ext uri="{FF2B5EF4-FFF2-40B4-BE49-F238E27FC236}">
                  <a16:creationId xmlns:a16="http://schemas.microsoft.com/office/drawing/2014/main" id="{951B9A3A-92C9-138A-B334-CACE9883EFF0}"/>
                </a:ext>
              </a:extLst>
            </p:cNvPr>
            <p:cNvSpPr>
              <a:spLocks/>
            </p:cNvSpPr>
            <p:nvPr/>
          </p:nvSpPr>
          <p:spPr bwMode="auto">
            <a:xfrm>
              <a:off x="1056" y="1272"/>
              <a:ext cx="3456" cy="1320"/>
            </a:xfrm>
            <a:custGeom>
              <a:avLst/>
              <a:gdLst>
                <a:gd name="T0" fmla="*/ 0 w 3456"/>
                <a:gd name="T1" fmla="*/ 1320 h 1320"/>
                <a:gd name="T2" fmla="*/ 672 w 3456"/>
                <a:gd name="T3" fmla="*/ 840 h 1320"/>
                <a:gd name="T4" fmla="*/ 1104 w 3456"/>
                <a:gd name="T5" fmla="*/ 1176 h 1320"/>
                <a:gd name="T6" fmla="*/ 1680 w 3456"/>
                <a:gd name="T7" fmla="*/ 984 h 1320"/>
                <a:gd name="T8" fmla="*/ 1824 w 3456"/>
                <a:gd name="T9" fmla="*/ 408 h 1320"/>
                <a:gd name="T10" fmla="*/ 1296 w 3456"/>
                <a:gd name="T11" fmla="*/ 360 h 1320"/>
                <a:gd name="T12" fmla="*/ 1584 w 3456"/>
                <a:gd name="T13" fmla="*/ 24 h 1320"/>
                <a:gd name="T14" fmla="*/ 2112 w 3456"/>
                <a:gd name="T15" fmla="*/ 216 h 1320"/>
                <a:gd name="T16" fmla="*/ 2736 w 3456"/>
                <a:gd name="T17" fmla="*/ 264 h 1320"/>
                <a:gd name="T18" fmla="*/ 2736 w 3456"/>
                <a:gd name="T19" fmla="*/ 792 h 1320"/>
                <a:gd name="T20" fmla="*/ 3120 w 3456"/>
                <a:gd name="T21" fmla="*/ 792 h 1320"/>
                <a:gd name="T22" fmla="*/ 3456 w 3456"/>
                <a:gd name="T23" fmla="*/ 1080 h 1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56" h="1320">
                  <a:moveTo>
                    <a:pt x="0" y="1320"/>
                  </a:moveTo>
                  <a:cubicBezTo>
                    <a:pt x="244" y="1092"/>
                    <a:pt x="488" y="864"/>
                    <a:pt x="672" y="840"/>
                  </a:cubicBezTo>
                  <a:cubicBezTo>
                    <a:pt x="856" y="816"/>
                    <a:pt x="936" y="1152"/>
                    <a:pt x="1104" y="1176"/>
                  </a:cubicBezTo>
                  <a:cubicBezTo>
                    <a:pt x="1272" y="1200"/>
                    <a:pt x="1560" y="1112"/>
                    <a:pt x="1680" y="984"/>
                  </a:cubicBezTo>
                  <a:cubicBezTo>
                    <a:pt x="1800" y="856"/>
                    <a:pt x="1888" y="512"/>
                    <a:pt x="1824" y="408"/>
                  </a:cubicBezTo>
                  <a:cubicBezTo>
                    <a:pt x="1760" y="304"/>
                    <a:pt x="1336" y="424"/>
                    <a:pt x="1296" y="360"/>
                  </a:cubicBezTo>
                  <a:cubicBezTo>
                    <a:pt x="1256" y="296"/>
                    <a:pt x="1448" y="48"/>
                    <a:pt x="1584" y="24"/>
                  </a:cubicBezTo>
                  <a:cubicBezTo>
                    <a:pt x="1720" y="0"/>
                    <a:pt x="1920" y="176"/>
                    <a:pt x="2112" y="216"/>
                  </a:cubicBezTo>
                  <a:cubicBezTo>
                    <a:pt x="2304" y="256"/>
                    <a:pt x="2632" y="168"/>
                    <a:pt x="2736" y="264"/>
                  </a:cubicBezTo>
                  <a:cubicBezTo>
                    <a:pt x="2840" y="360"/>
                    <a:pt x="2672" y="704"/>
                    <a:pt x="2736" y="792"/>
                  </a:cubicBezTo>
                  <a:cubicBezTo>
                    <a:pt x="2800" y="880"/>
                    <a:pt x="3000" y="744"/>
                    <a:pt x="3120" y="792"/>
                  </a:cubicBezTo>
                  <a:cubicBezTo>
                    <a:pt x="3240" y="840"/>
                    <a:pt x="3400" y="1032"/>
                    <a:pt x="3456" y="108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17770" name="Oval 10">
              <a:extLst>
                <a:ext uri="{FF2B5EF4-FFF2-40B4-BE49-F238E27FC236}">
                  <a16:creationId xmlns:a16="http://schemas.microsoft.com/office/drawing/2014/main" id="{D731893D-26FA-6C06-66D3-C20BEEE90228}"/>
                </a:ext>
              </a:extLst>
            </p:cNvPr>
            <p:cNvSpPr>
              <a:spLocks noChangeArrowheads="1"/>
            </p:cNvSpPr>
            <p:nvPr/>
          </p:nvSpPr>
          <p:spPr bwMode="auto">
            <a:xfrm>
              <a:off x="2112" y="1056"/>
              <a:ext cx="1248" cy="816"/>
            </a:xfrm>
            <a:prstGeom prst="ellipse">
              <a:avLst/>
            </a:prstGeom>
            <a:noFill/>
            <a:ln w="762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117771" name="Group 11">
            <a:extLst>
              <a:ext uri="{FF2B5EF4-FFF2-40B4-BE49-F238E27FC236}">
                <a16:creationId xmlns:a16="http://schemas.microsoft.com/office/drawing/2014/main" id="{070F9595-AE57-6A2D-A6D2-A4BE24C66C96}"/>
              </a:ext>
            </a:extLst>
          </p:cNvPr>
          <p:cNvGrpSpPr>
            <a:grpSpLocks/>
          </p:cNvGrpSpPr>
          <p:nvPr/>
        </p:nvGrpSpPr>
        <p:grpSpPr bwMode="auto">
          <a:xfrm>
            <a:off x="6400800" y="1295400"/>
            <a:ext cx="2362200" cy="1635125"/>
            <a:chOff x="576" y="1200"/>
            <a:chExt cx="4608" cy="2736"/>
          </a:xfrm>
        </p:grpSpPr>
        <p:grpSp>
          <p:nvGrpSpPr>
            <p:cNvPr id="117772" name="Group 12">
              <a:extLst>
                <a:ext uri="{FF2B5EF4-FFF2-40B4-BE49-F238E27FC236}">
                  <a16:creationId xmlns:a16="http://schemas.microsoft.com/office/drawing/2014/main" id="{5B869B49-6126-49CD-2437-111C398BABE0}"/>
                </a:ext>
              </a:extLst>
            </p:cNvPr>
            <p:cNvGrpSpPr>
              <a:grpSpLocks/>
            </p:cNvGrpSpPr>
            <p:nvPr/>
          </p:nvGrpSpPr>
          <p:grpSpPr bwMode="auto">
            <a:xfrm>
              <a:off x="576" y="1200"/>
              <a:ext cx="4608" cy="2736"/>
              <a:chOff x="576" y="1200"/>
              <a:chExt cx="4608" cy="2736"/>
            </a:xfrm>
          </p:grpSpPr>
          <p:grpSp>
            <p:nvGrpSpPr>
              <p:cNvPr id="117773" name="Group 13">
                <a:extLst>
                  <a:ext uri="{FF2B5EF4-FFF2-40B4-BE49-F238E27FC236}">
                    <a16:creationId xmlns:a16="http://schemas.microsoft.com/office/drawing/2014/main" id="{935DD6C0-82C9-631F-474E-0D20313356B3}"/>
                  </a:ext>
                </a:extLst>
              </p:cNvPr>
              <p:cNvGrpSpPr>
                <a:grpSpLocks/>
              </p:cNvGrpSpPr>
              <p:nvPr/>
            </p:nvGrpSpPr>
            <p:grpSpPr bwMode="auto">
              <a:xfrm>
                <a:off x="576" y="1200"/>
                <a:ext cx="4608" cy="2736"/>
                <a:chOff x="576" y="1200"/>
                <a:chExt cx="4608" cy="2736"/>
              </a:xfrm>
            </p:grpSpPr>
            <p:sp>
              <p:nvSpPr>
                <p:cNvPr id="117774" name="AutoShape 14">
                  <a:extLst>
                    <a:ext uri="{FF2B5EF4-FFF2-40B4-BE49-F238E27FC236}">
                      <a16:creationId xmlns:a16="http://schemas.microsoft.com/office/drawing/2014/main" id="{F0679ED1-16C5-D243-E30C-AEE8E7C10998}"/>
                    </a:ext>
                  </a:extLst>
                </p:cNvPr>
                <p:cNvSpPr>
                  <a:spLocks noChangeArrowheads="1"/>
                </p:cNvSpPr>
                <p:nvPr/>
              </p:nvSpPr>
              <p:spPr bwMode="auto">
                <a:xfrm>
                  <a:off x="2208" y="1200"/>
                  <a:ext cx="1152" cy="62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800">
                      <a:latin typeface="Times New Roman" panose="02020603050405020304" pitchFamily="18" charset="0"/>
                    </a:rPr>
                    <a:t>the systems</a:t>
                  </a:r>
                </a:p>
              </p:txBody>
            </p:sp>
            <p:sp>
              <p:nvSpPr>
                <p:cNvPr id="117775" name="AutoShape 15">
                  <a:extLst>
                    <a:ext uri="{FF2B5EF4-FFF2-40B4-BE49-F238E27FC236}">
                      <a16:creationId xmlns:a16="http://schemas.microsoft.com/office/drawing/2014/main" id="{97F9E40A-627A-3D66-0217-08BD4912A1B1}"/>
                    </a:ext>
                  </a:extLst>
                </p:cNvPr>
                <p:cNvSpPr>
                  <a:spLocks noChangeArrowheads="1"/>
                </p:cNvSpPr>
                <p:nvPr/>
              </p:nvSpPr>
              <p:spPr bwMode="auto">
                <a:xfrm>
                  <a:off x="576" y="2208"/>
                  <a:ext cx="1152" cy="62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800">
                      <a:latin typeface="Times New Roman" panose="02020603050405020304" pitchFamily="18" charset="0"/>
                    </a:rPr>
                    <a:t>info and help</a:t>
                  </a:r>
                </a:p>
              </p:txBody>
            </p:sp>
            <p:sp>
              <p:nvSpPr>
                <p:cNvPr id="117776" name="AutoShape 16">
                  <a:extLst>
                    <a:ext uri="{FF2B5EF4-FFF2-40B4-BE49-F238E27FC236}">
                      <a16:creationId xmlns:a16="http://schemas.microsoft.com/office/drawing/2014/main" id="{B5065465-99CD-0B2B-B3FE-5A3792305915}"/>
                    </a:ext>
                  </a:extLst>
                </p:cNvPr>
                <p:cNvSpPr>
                  <a:spLocks noChangeArrowheads="1"/>
                </p:cNvSpPr>
                <p:nvPr/>
              </p:nvSpPr>
              <p:spPr bwMode="auto">
                <a:xfrm>
                  <a:off x="2208" y="2208"/>
                  <a:ext cx="1152" cy="62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800">
                      <a:latin typeface="Times New Roman" panose="02020603050405020304" pitchFamily="18" charset="0"/>
                    </a:rPr>
                    <a:t>management</a:t>
                  </a:r>
                </a:p>
              </p:txBody>
            </p:sp>
            <p:sp>
              <p:nvSpPr>
                <p:cNvPr id="117777" name="AutoShape 17">
                  <a:extLst>
                    <a:ext uri="{FF2B5EF4-FFF2-40B4-BE49-F238E27FC236}">
                      <a16:creationId xmlns:a16="http://schemas.microsoft.com/office/drawing/2014/main" id="{E8A92600-C9F1-4233-E622-8C527F53083D}"/>
                    </a:ext>
                  </a:extLst>
                </p:cNvPr>
                <p:cNvSpPr>
                  <a:spLocks noChangeArrowheads="1"/>
                </p:cNvSpPr>
                <p:nvPr/>
              </p:nvSpPr>
              <p:spPr bwMode="auto">
                <a:xfrm>
                  <a:off x="4032" y="2208"/>
                  <a:ext cx="1152" cy="62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800">
                      <a:latin typeface="Times New Roman" panose="02020603050405020304" pitchFamily="18" charset="0"/>
                    </a:rPr>
                    <a:t>messages</a:t>
                  </a:r>
                </a:p>
              </p:txBody>
            </p:sp>
            <p:sp>
              <p:nvSpPr>
                <p:cNvPr id="117778" name="AutoShape 18">
                  <a:extLst>
                    <a:ext uri="{FF2B5EF4-FFF2-40B4-BE49-F238E27FC236}">
                      <a16:creationId xmlns:a16="http://schemas.microsoft.com/office/drawing/2014/main" id="{63B7B24A-9835-53C8-97F0-F93495D29B4B}"/>
                    </a:ext>
                  </a:extLst>
                </p:cNvPr>
                <p:cNvSpPr>
                  <a:spLocks noChangeArrowheads="1"/>
                </p:cNvSpPr>
                <p:nvPr/>
              </p:nvSpPr>
              <p:spPr bwMode="auto">
                <a:xfrm>
                  <a:off x="1584" y="3312"/>
                  <a:ext cx="1152" cy="62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800">
                      <a:latin typeface="Times New Roman" panose="02020603050405020304" pitchFamily="18" charset="0"/>
                    </a:rPr>
                    <a:t>add user</a:t>
                  </a:r>
                </a:p>
              </p:txBody>
            </p:sp>
            <p:sp>
              <p:nvSpPr>
                <p:cNvPr id="117779" name="AutoShape 19">
                  <a:extLst>
                    <a:ext uri="{FF2B5EF4-FFF2-40B4-BE49-F238E27FC236}">
                      <a16:creationId xmlns:a16="http://schemas.microsoft.com/office/drawing/2014/main" id="{C23A81D9-CAA6-7B10-2F2D-D6320D01FFD4}"/>
                    </a:ext>
                  </a:extLst>
                </p:cNvPr>
                <p:cNvSpPr>
                  <a:spLocks noChangeArrowheads="1"/>
                </p:cNvSpPr>
                <p:nvPr/>
              </p:nvSpPr>
              <p:spPr bwMode="auto">
                <a:xfrm>
                  <a:off x="2928" y="3312"/>
                  <a:ext cx="1152" cy="62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800">
                      <a:latin typeface="Times New Roman" panose="02020603050405020304" pitchFamily="18" charset="0"/>
                    </a:rPr>
                    <a:t>remove user</a:t>
                  </a:r>
                </a:p>
              </p:txBody>
            </p:sp>
          </p:grpSp>
          <p:cxnSp>
            <p:nvCxnSpPr>
              <p:cNvPr id="117780" name="AutoShape 20">
                <a:extLst>
                  <a:ext uri="{FF2B5EF4-FFF2-40B4-BE49-F238E27FC236}">
                    <a16:creationId xmlns:a16="http://schemas.microsoft.com/office/drawing/2014/main" id="{C337A33F-128A-37AD-7945-530AC1CB5FF5}"/>
                  </a:ext>
                </a:extLst>
              </p:cNvPr>
              <p:cNvCxnSpPr>
                <a:cxnSpLocks noChangeShapeType="1"/>
                <a:stCxn id="117774" idx="2"/>
                <a:endCxn id="117775" idx="0"/>
              </p:cNvCxnSpPr>
              <p:nvPr/>
            </p:nvCxnSpPr>
            <p:spPr bwMode="auto">
              <a:xfrm rot="5400000">
                <a:off x="1776" y="1200"/>
                <a:ext cx="384" cy="1632"/>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781" name="AutoShape 21">
                <a:extLst>
                  <a:ext uri="{FF2B5EF4-FFF2-40B4-BE49-F238E27FC236}">
                    <a16:creationId xmlns:a16="http://schemas.microsoft.com/office/drawing/2014/main" id="{926181CD-1121-C18A-6274-FDF833642159}"/>
                  </a:ext>
                </a:extLst>
              </p:cNvPr>
              <p:cNvCxnSpPr>
                <a:cxnSpLocks noChangeShapeType="1"/>
                <a:stCxn id="117774" idx="2"/>
                <a:endCxn id="117777" idx="0"/>
              </p:cNvCxnSpPr>
              <p:nvPr/>
            </p:nvCxnSpPr>
            <p:spPr bwMode="auto">
              <a:xfrm rot="16200000" flipH="1">
                <a:off x="3504" y="1104"/>
                <a:ext cx="384" cy="1824"/>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782" name="AutoShape 22">
                <a:extLst>
                  <a:ext uri="{FF2B5EF4-FFF2-40B4-BE49-F238E27FC236}">
                    <a16:creationId xmlns:a16="http://schemas.microsoft.com/office/drawing/2014/main" id="{98305688-AE46-F332-3AC1-F7E32812696C}"/>
                  </a:ext>
                </a:extLst>
              </p:cNvPr>
              <p:cNvCxnSpPr>
                <a:cxnSpLocks noChangeShapeType="1"/>
                <a:stCxn id="117774" idx="2"/>
                <a:endCxn id="117776" idx="0"/>
              </p:cNvCxnSpPr>
              <p:nvPr/>
            </p:nvCxnSpPr>
            <p:spPr bwMode="auto">
              <a:xfrm rot="5400000">
                <a:off x="2592" y="2016"/>
                <a:ext cx="384"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17783" name="AutoShape 23">
              <a:extLst>
                <a:ext uri="{FF2B5EF4-FFF2-40B4-BE49-F238E27FC236}">
                  <a16:creationId xmlns:a16="http://schemas.microsoft.com/office/drawing/2014/main" id="{BA85E874-48B6-DD6E-9AC8-6D82D68C2B06}"/>
                </a:ext>
              </a:extLst>
            </p:cNvPr>
            <p:cNvCxnSpPr>
              <a:cxnSpLocks noChangeShapeType="1"/>
              <a:stCxn id="117776" idx="2"/>
              <a:endCxn id="117778" idx="0"/>
            </p:cNvCxnSpPr>
            <p:nvPr/>
          </p:nvCxnSpPr>
          <p:spPr bwMode="auto">
            <a:xfrm rot="5400000">
              <a:off x="2232" y="2760"/>
              <a:ext cx="480" cy="624"/>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784" name="AutoShape 24">
              <a:extLst>
                <a:ext uri="{FF2B5EF4-FFF2-40B4-BE49-F238E27FC236}">
                  <a16:creationId xmlns:a16="http://schemas.microsoft.com/office/drawing/2014/main" id="{72726581-E818-FFA0-08C6-DA4CCFBA4C39}"/>
                </a:ext>
              </a:extLst>
            </p:cNvPr>
            <p:cNvCxnSpPr>
              <a:cxnSpLocks noChangeShapeType="1"/>
              <a:stCxn id="117776" idx="2"/>
              <a:endCxn id="117779" idx="0"/>
            </p:cNvCxnSpPr>
            <p:nvPr/>
          </p:nvCxnSpPr>
          <p:spPr bwMode="auto">
            <a:xfrm rot="16200000" flipH="1">
              <a:off x="2904" y="2712"/>
              <a:ext cx="480" cy="720"/>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17785" name="Group 25">
            <a:extLst>
              <a:ext uri="{FF2B5EF4-FFF2-40B4-BE49-F238E27FC236}">
                <a16:creationId xmlns:a16="http://schemas.microsoft.com/office/drawing/2014/main" id="{B7C98988-40E7-88D3-E61F-74F2B0A387DA}"/>
              </a:ext>
            </a:extLst>
          </p:cNvPr>
          <p:cNvGrpSpPr>
            <a:grpSpLocks/>
          </p:cNvGrpSpPr>
          <p:nvPr/>
        </p:nvGrpSpPr>
        <p:grpSpPr bwMode="auto">
          <a:xfrm>
            <a:off x="533400" y="5340350"/>
            <a:ext cx="2438400" cy="984250"/>
            <a:chOff x="672" y="1968"/>
            <a:chExt cx="3840" cy="1344"/>
          </a:xfrm>
        </p:grpSpPr>
        <p:sp>
          <p:nvSpPr>
            <p:cNvPr id="117786" name="AutoShape 26">
              <a:extLst>
                <a:ext uri="{FF2B5EF4-FFF2-40B4-BE49-F238E27FC236}">
                  <a16:creationId xmlns:a16="http://schemas.microsoft.com/office/drawing/2014/main" id="{CF2F1A60-98C1-78A4-6A42-F96E69D7F1FD}"/>
                </a:ext>
              </a:extLst>
            </p:cNvPr>
            <p:cNvSpPr>
              <a:spLocks noChangeArrowheads="1"/>
            </p:cNvSpPr>
            <p:nvPr/>
          </p:nvSpPr>
          <p:spPr bwMode="auto">
            <a:xfrm>
              <a:off x="672" y="1968"/>
              <a:ext cx="912" cy="48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000">
                  <a:latin typeface="Times New Roman" panose="02020603050405020304" pitchFamily="18" charset="0"/>
                </a:rPr>
                <a:t>main</a:t>
              </a:r>
            </a:p>
            <a:p>
              <a:pPr algn="ctr"/>
              <a:r>
                <a:rPr lang="en-US" altLang="en-US" sz="1000">
                  <a:latin typeface="Times New Roman" panose="02020603050405020304" pitchFamily="18" charset="0"/>
                </a:rPr>
                <a:t>screen</a:t>
              </a:r>
            </a:p>
          </p:txBody>
        </p:sp>
        <p:sp>
          <p:nvSpPr>
            <p:cNvPr id="117787" name="AutoShape 27">
              <a:extLst>
                <a:ext uri="{FF2B5EF4-FFF2-40B4-BE49-F238E27FC236}">
                  <a16:creationId xmlns:a16="http://schemas.microsoft.com/office/drawing/2014/main" id="{1EAAB121-3D56-8486-7B4A-C6F4904FE4D1}"/>
                </a:ext>
              </a:extLst>
            </p:cNvPr>
            <p:cNvSpPr>
              <a:spLocks noChangeArrowheads="1"/>
            </p:cNvSpPr>
            <p:nvPr/>
          </p:nvSpPr>
          <p:spPr bwMode="auto">
            <a:xfrm>
              <a:off x="2208" y="1968"/>
              <a:ext cx="912" cy="48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000">
                  <a:latin typeface="Times New Roman" panose="02020603050405020304" pitchFamily="18" charset="0"/>
                </a:rPr>
                <a:t>remove</a:t>
              </a:r>
            </a:p>
            <a:p>
              <a:pPr algn="ctr"/>
              <a:r>
                <a:rPr lang="en-US" altLang="en-US" sz="1000">
                  <a:latin typeface="Times New Roman" panose="02020603050405020304" pitchFamily="18" charset="0"/>
                </a:rPr>
                <a:t>user</a:t>
              </a:r>
            </a:p>
          </p:txBody>
        </p:sp>
        <p:sp>
          <p:nvSpPr>
            <p:cNvPr id="117788" name="AutoShape 28">
              <a:extLst>
                <a:ext uri="{FF2B5EF4-FFF2-40B4-BE49-F238E27FC236}">
                  <a16:creationId xmlns:a16="http://schemas.microsoft.com/office/drawing/2014/main" id="{68D0A79A-7560-6ACE-E07A-CDEDF4A1BBA2}"/>
                </a:ext>
              </a:extLst>
            </p:cNvPr>
            <p:cNvSpPr>
              <a:spLocks noChangeArrowheads="1"/>
            </p:cNvSpPr>
            <p:nvPr/>
          </p:nvSpPr>
          <p:spPr bwMode="auto">
            <a:xfrm>
              <a:off x="3600" y="1968"/>
              <a:ext cx="912" cy="48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000">
                  <a:latin typeface="Times New Roman" panose="02020603050405020304" pitchFamily="18" charset="0"/>
                </a:rPr>
                <a:t>confirm</a:t>
              </a:r>
            </a:p>
          </p:txBody>
        </p:sp>
        <p:sp>
          <p:nvSpPr>
            <p:cNvPr id="117789" name="AutoShape 29">
              <a:extLst>
                <a:ext uri="{FF2B5EF4-FFF2-40B4-BE49-F238E27FC236}">
                  <a16:creationId xmlns:a16="http://schemas.microsoft.com/office/drawing/2014/main" id="{2ADD6243-1CB1-7CDF-5548-2B82074A5BF8}"/>
                </a:ext>
              </a:extLst>
            </p:cNvPr>
            <p:cNvSpPr>
              <a:spLocks noChangeArrowheads="1"/>
            </p:cNvSpPr>
            <p:nvPr/>
          </p:nvSpPr>
          <p:spPr bwMode="auto">
            <a:xfrm>
              <a:off x="2208" y="2832"/>
              <a:ext cx="912" cy="48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000">
                  <a:latin typeface="Times New Roman" panose="02020603050405020304" pitchFamily="18" charset="0"/>
                </a:rPr>
                <a:t>add user</a:t>
              </a:r>
            </a:p>
          </p:txBody>
        </p:sp>
        <p:cxnSp>
          <p:nvCxnSpPr>
            <p:cNvPr id="117790" name="AutoShape 30">
              <a:extLst>
                <a:ext uri="{FF2B5EF4-FFF2-40B4-BE49-F238E27FC236}">
                  <a16:creationId xmlns:a16="http://schemas.microsoft.com/office/drawing/2014/main" id="{2A0EEACE-08C3-720F-B34E-493CFCA30C21}"/>
                </a:ext>
              </a:extLst>
            </p:cNvPr>
            <p:cNvCxnSpPr>
              <a:cxnSpLocks noChangeShapeType="1"/>
              <a:stCxn id="117786" idx="3"/>
              <a:endCxn id="117787" idx="1"/>
            </p:cNvCxnSpPr>
            <p:nvPr/>
          </p:nvCxnSpPr>
          <p:spPr bwMode="auto">
            <a:xfrm>
              <a:off x="1584" y="2208"/>
              <a:ext cx="624"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791" name="AutoShape 31">
              <a:extLst>
                <a:ext uri="{FF2B5EF4-FFF2-40B4-BE49-F238E27FC236}">
                  <a16:creationId xmlns:a16="http://schemas.microsoft.com/office/drawing/2014/main" id="{69A2D50F-0255-96F5-ABD5-FEE08C28E3F7}"/>
                </a:ext>
              </a:extLst>
            </p:cNvPr>
            <p:cNvCxnSpPr>
              <a:cxnSpLocks noChangeShapeType="1"/>
              <a:stCxn id="117786" idx="3"/>
              <a:endCxn id="117789" idx="1"/>
            </p:cNvCxnSpPr>
            <p:nvPr/>
          </p:nvCxnSpPr>
          <p:spPr bwMode="auto">
            <a:xfrm>
              <a:off x="1584" y="2208"/>
              <a:ext cx="624" cy="864"/>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792" name="AutoShape 32">
              <a:extLst>
                <a:ext uri="{FF2B5EF4-FFF2-40B4-BE49-F238E27FC236}">
                  <a16:creationId xmlns:a16="http://schemas.microsoft.com/office/drawing/2014/main" id="{D31403FB-9DA8-88DD-54E5-523DF301B47B}"/>
                </a:ext>
              </a:extLst>
            </p:cNvPr>
            <p:cNvCxnSpPr>
              <a:cxnSpLocks noChangeShapeType="1"/>
              <a:stCxn id="117787" idx="3"/>
              <a:endCxn id="117788" idx="1"/>
            </p:cNvCxnSpPr>
            <p:nvPr/>
          </p:nvCxnSpPr>
          <p:spPr bwMode="auto">
            <a:xfrm>
              <a:off x="3120" y="2208"/>
              <a:ext cx="480"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793" name="AutoShape 33">
              <a:extLst>
                <a:ext uri="{FF2B5EF4-FFF2-40B4-BE49-F238E27FC236}">
                  <a16:creationId xmlns:a16="http://schemas.microsoft.com/office/drawing/2014/main" id="{FE94D636-9A18-5A32-39BE-01B2460F8130}"/>
                </a:ext>
              </a:extLst>
            </p:cNvPr>
            <p:cNvCxnSpPr>
              <a:cxnSpLocks noChangeShapeType="1"/>
              <a:stCxn id="117788" idx="3"/>
              <a:endCxn id="117786" idx="0"/>
            </p:cNvCxnSpPr>
            <p:nvPr/>
          </p:nvCxnSpPr>
          <p:spPr bwMode="auto">
            <a:xfrm flipH="1" flipV="1">
              <a:off x="1128" y="1968"/>
              <a:ext cx="3384" cy="240"/>
            </a:xfrm>
            <a:prstGeom prst="bentConnector4">
              <a:avLst>
                <a:gd name="adj1" fmla="val -4255"/>
                <a:gd name="adj2" fmla="val 16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794" name="AutoShape 34">
              <a:extLst>
                <a:ext uri="{FF2B5EF4-FFF2-40B4-BE49-F238E27FC236}">
                  <a16:creationId xmlns:a16="http://schemas.microsoft.com/office/drawing/2014/main" id="{FE8094D4-C4C8-2FED-917F-03AB153964F7}"/>
                </a:ext>
              </a:extLst>
            </p:cNvPr>
            <p:cNvCxnSpPr>
              <a:cxnSpLocks noChangeShapeType="1"/>
              <a:stCxn id="117789" idx="3"/>
              <a:endCxn id="117786" idx="2"/>
            </p:cNvCxnSpPr>
            <p:nvPr/>
          </p:nvCxnSpPr>
          <p:spPr bwMode="auto">
            <a:xfrm flipH="1" flipV="1">
              <a:off x="1128" y="2448"/>
              <a:ext cx="1992" cy="624"/>
            </a:xfrm>
            <a:prstGeom prst="bentConnector4">
              <a:avLst>
                <a:gd name="adj1" fmla="val -7227"/>
                <a:gd name="adj2" fmla="val -78046"/>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4FA2F655-668D-B85F-BAD5-85D887BA1E9D}"/>
              </a:ext>
            </a:extLst>
          </p:cNvPr>
          <p:cNvSpPr>
            <a:spLocks noGrp="1" noChangeArrowheads="1"/>
          </p:cNvSpPr>
          <p:nvPr>
            <p:ph type="title"/>
          </p:nvPr>
        </p:nvSpPr>
        <p:spPr/>
        <p:txBody>
          <a:bodyPr/>
          <a:lstStyle/>
          <a:p>
            <a:r>
              <a:rPr lang="en-US" altLang="en-US"/>
              <a:t>levels</a:t>
            </a:r>
          </a:p>
        </p:txBody>
      </p:sp>
      <p:sp>
        <p:nvSpPr>
          <p:cNvPr id="119811" name="Rectangle 3">
            <a:extLst>
              <a:ext uri="{FF2B5EF4-FFF2-40B4-BE49-F238E27FC236}">
                <a16:creationId xmlns:a16="http://schemas.microsoft.com/office/drawing/2014/main" id="{0068F887-7824-F003-674A-F2FE7EA92C9E}"/>
              </a:ext>
            </a:extLst>
          </p:cNvPr>
          <p:cNvSpPr>
            <a:spLocks noGrp="1" noChangeArrowheads="1"/>
          </p:cNvSpPr>
          <p:nvPr>
            <p:ph type="body" idx="1"/>
          </p:nvPr>
        </p:nvSpPr>
        <p:spPr/>
        <p:txBody>
          <a:bodyPr/>
          <a:lstStyle/>
          <a:p>
            <a:r>
              <a:rPr lang="en-US" altLang="en-US"/>
              <a:t>widget choice</a:t>
            </a:r>
          </a:p>
          <a:p>
            <a:pPr lvl="1"/>
            <a:r>
              <a:rPr lang="en-US" altLang="en-US"/>
              <a:t>menus, buttons etc.</a:t>
            </a:r>
          </a:p>
          <a:p>
            <a:r>
              <a:rPr lang="en-US" altLang="en-US"/>
              <a:t>screen design</a:t>
            </a:r>
          </a:p>
          <a:p>
            <a:r>
              <a:rPr lang="en-US" altLang="en-US"/>
              <a:t>application navigation design</a:t>
            </a:r>
          </a:p>
          <a:p>
            <a:r>
              <a:rPr lang="en-US" altLang="en-US"/>
              <a:t>environment </a:t>
            </a:r>
          </a:p>
          <a:p>
            <a:pPr lvl="1"/>
            <a:r>
              <a:rPr lang="en-US" altLang="en-US"/>
              <a:t>other apps, O/S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C734834E-67ED-A67C-9525-1331918373F5}"/>
              </a:ext>
            </a:extLst>
          </p:cNvPr>
          <p:cNvSpPr>
            <a:spLocks noGrp="1" noChangeArrowheads="1"/>
          </p:cNvSpPr>
          <p:nvPr>
            <p:ph type="title"/>
          </p:nvPr>
        </p:nvSpPr>
        <p:spPr/>
        <p:txBody>
          <a:bodyPr/>
          <a:lstStyle/>
          <a:p>
            <a:r>
              <a:rPr lang="en-US" altLang="en-US"/>
              <a:t>the web …</a:t>
            </a:r>
          </a:p>
        </p:txBody>
      </p:sp>
      <p:sp>
        <p:nvSpPr>
          <p:cNvPr id="121859" name="Rectangle 3">
            <a:extLst>
              <a:ext uri="{FF2B5EF4-FFF2-40B4-BE49-F238E27FC236}">
                <a16:creationId xmlns:a16="http://schemas.microsoft.com/office/drawing/2014/main" id="{2F8CF468-F16F-2D2C-7D67-A4D95A6F813E}"/>
              </a:ext>
            </a:extLst>
          </p:cNvPr>
          <p:cNvSpPr>
            <a:spLocks noGrp="1" noChangeArrowheads="1"/>
          </p:cNvSpPr>
          <p:nvPr>
            <p:ph type="body" idx="1"/>
          </p:nvPr>
        </p:nvSpPr>
        <p:spPr>
          <a:xfrm>
            <a:off x="685800" y="1981200"/>
            <a:ext cx="3886200" cy="4114800"/>
          </a:xfrm>
        </p:spPr>
        <p:txBody>
          <a:bodyPr/>
          <a:lstStyle/>
          <a:p>
            <a:r>
              <a:rPr lang="en-US" altLang="en-US">
                <a:solidFill>
                  <a:schemeClr val="bg2"/>
                </a:solidFill>
              </a:rPr>
              <a:t>widget choice</a:t>
            </a:r>
          </a:p>
          <a:p>
            <a:pPr lvl="1"/>
            <a:endParaRPr lang="en-US" altLang="en-US" sz="1800">
              <a:solidFill>
                <a:schemeClr val="bg2"/>
              </a:solidFill>
              <a:latin typeface="Courier New" panose="02070309020205020404" pitchFamily="49" charset="0"/>
            </a:endParaRPr>
          </a:p>
          <a:p>
            <a:r>
              <a:rPr lang="en-US" altLang="en-US">
                <a:solidFill>
                  <a:schemeClr val="bg2"/>
                </a:solidFill>
              </a:rPr>
              <a:t>screen design</a:t>
            </a:r>
          </a:p>
          <a:p>
            <a:r>
              <a:rPr lang="en-US" altLang="en-US">
                <a:solidFill>
                  <a:schemeClr val="bg2"/>
                </a:solidFill>
              </a:rPr>
              <a:t>navigation design</a:t>
            </a:r>
          </a:p>
          <a:p>
            <a:r>
              <a:rPr lang="en-US" altLang="en-US">
                <a:solidFill>
                  <a:schemeClr val="bg2"/>
                </a:solidFill>
              </a:rPr>
              <a:t>environment </a:t>
            </a:r>
          </a:p>
        </p:txBody>
      </p:sp>
      <p:sp>
        <p:nvSpPr>
          <p:cNvPr id="121860" name="Rectangle 4">
            <a:extLst>
              <a:ext uri="{FF2B5EF4-FFF2-40B4-BE49-F238E27FC236}">
                <a16:creationId xmlns:a16="http://schemas.microsoft.com/office/drawing/2014/main" id="{93B33738-81E7-051B-43E1-172EB379A462}"/>
              </a:ext>
            </a:extLst>
          </p:cNvPr>
          <p:cNvSpPr>
            <a:spLocks noChangeArrowheads="1"/>
          </p:cNvSpPr>
          <p:nvPr/>
        </p:nvSpPr>
        <p:spPr bwMode="auto">
          <a:xfrm>
            <a:off x="4724400" y="1981200"/>
            <a:ext cx="3886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a:solidFill>
                  <a:schemeClr val="tx1"/>
                </a:solidFill>
                <a:latin typeface="Verdana" panose="020B0604030504040204" pitchFamily="34" charset="0"/>
              </a:defRPr>
            </a:lvl4pPr>
            <a:lvl5pPr marL="2057400" indent="-228600">
              <a:spcBef>
                <a:spcPct val="20000"/>
              </a:spcBef>
              <a:buChar char="»"/>
              <a:defRPr>
                <a:solidFill>
                  <a:schemeClr val="tx1"/>
                </a:solidFill>
                <a:latin typeface="Verdana" panose="020B0604030504040204" pitchFamily="34" charset="0"/>
              </a:defRPr>
            </a:lvl5pPr>
            <a:lvl6pPr marL="2514600" indent="-228600" fontAlgn="base">
              <a:spcBef>
                <a:spcPct val="20000"/>
              </a:spcBef>
              <a:spcAft>
                <a:spcPct val="0"/>
              </a:spcAft>
              <a:buChar char="»"/>
              <a:defRPr>
                <a:solidFill>
                  <a:schemeClr val="tx1"/>
                </a:solidFill>
                <a:latin typeface="Verdana" panose="020B0604030504040204" pitchFamily="34" charset="0"/>
              </a:defRPr>
            </a:lvl6pPr>
            <a:lvl7pPr marL="2971800" indent="-228600" fontAlgn="base">
              <a:spcBef>
                <a:spcPct val="20000"/>
              </a:spcBef>
              <a:spcAft>
                <a:spcPct val="0"/>
              </a:spcAft>
              <a:buChar char="»"/>
              <a:defRPr>
                <a:solidFill>
                  <a:schemeClr val="tx1"/>
                </a:solidFill>
                <a:latin typeface="Verdana" panose="020B0604030504040204" pitchFamily="34" charset="0"/>
              </a:defRPr>
            </a:lvl7pPr>
            <a:lvl8pPr marL="3429000" indent="-228600" fontAlgn="base">
              <a:spcBef>
                <a:spcPct val="20000"/>
              </a:spcBef>
              <a:spcAft>
                <a:spcPct val="0"/>
              </a:spcAft>
              <a:buChar char="»"/>
              <a:defRPr>
                <a:solidFill>
                  <a:schemeClr val="tx1"/>
                </a:solidFill>
                <a:latin typeface="Verdana" panose="020B0604030504040204" pitchFamily="34" charset="0"/>
              </a:defRPr>
            </a:lvl8pPr>
            <a:lvl9pPr marL="3886200" indent="-228600" fontAlgn="base">
              <a:spcBef>
                <a:spcPct val="20000"/>
              </a:spcBef>
              <a:spcAft>
                <a:spcPct val="0"/>
              </a:spcAft>
              <a:buChar char="»"/>
              <a:defRPr>
                <a:solidFill>
                  <a:schemeClr val="tx1"/>
                </a:solidFill>
                <a:latin typeface="Verdana" panose="020B0604030504040204" pitchFamily="34" charset="0"/>
              </a:defRPr>
            </a:lvl9pPr>
          </a:lstStyle>
          <a:p>
            <a:pPr eaLnBrk="1" hangingPunct="1"/>
            <a:r>
              <a:rPr lang="en-US" altLang="en-US"/>
              <a:t>elements and tags</a:t>
            </a:r>
          </a:p>
          <a:p>
            <a:pPr lvl="1" eaLnBrk="1" hangingPunct="1"/>
            <a:r>
              <a:rPr lang="en-US" altLang="en-US" sz="1800">
                <a:latin typeface="Courier New" panose="02070309020205020404" pitchFamily="49" charset="0"/>
              </a:rPr>
              <a:t>&lt;a href=“...”&gt;</a:t>
            </a:r>
            <a:endParaRPr lang="en-US" altLang="en-US"/>
          </a:p>
          <a:p>
            <a:pPr eaLnBrk="1" hangingPunct="1"/>
            <a:r>
              <a:rPr lang="en-US" altLang="en-US"/>
              <a:t>page design</a:t>
            </a:r>
          </a:p>
          <a:p>
            <a:pPr eaLnBrk="1" hangingPunct="1"/>
            <a:r>
              <a:rPr lang="en-US" altLang="en-US"/>
              <a:t>site structure</a:t>
            </a:r>
          </a:p>
          <a:p>
            <a:pPr eaLnBrk="1" hangingPunct="1"/>
            <a:r>
              <a:rPr lang="en-US" altLang="en-US"/>
              <a:t>the web, browser,</a:t>
            </a:r>
            <a:br>
              <a:rPr lang="en-US" altLang="en-US"/>
            </a:br>
            <a:r>
              <a:rPr lang="en-US" altLang="en-US"/>
              <a:t>external links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7AD69564-F27A-3F32-93FB-54DBCE39D8C6}"/>
              </a:ext>
            </a:extLst>
          </p:cNvPr>
          <p:cNvSpPr>
            <a:spLocks noGrp="1" noChangeArrowheads="1"/>
          </p:cNvSpPr>
          <p:nvPr>
            <p:ph type="title"/>
          </p:nvPr>
        </p:nvSpPr>
        <p:spPr/>
        <p:txBody>
          <a:bodyPr/>
          <a:lstStyle/>
          <a:p>
            <a:r>
              <a:rPr lang="en-US" altLang="en-US"/>
              <a:t>physical devices</a:t>
            </a:r>
          </a:p>
        </p:txBody>
      </p:sp>
      <p:sp>
        <p:nvSpPr>
          <p:cNvPr id="146435" name="Rectangle 3">
            <a:extLst>
              <a:ext uri="{FF2B5EF4-FFF2-40B4-BE49-F238E27FC236}">
                <a16:creationId xmlns:a16="http://schemas.microsoft.com/office/drawing/2014/main" id="{D604EB83-AD87-C90F-2DFC-52D08D5DED7D}"/>
              </a:ext>
            </a:extLst>
          </p:cNvPr>
          <p:cNvSpPr>
            <a:spLocks noGrp="1" noChangeArrowheads="1"/>
          </p:cNvSpPr>
          <p:nvPr>
            <p:ph type="body" idx="1"/>
          </p:nvPr>
        </p:nvSpPr>
        <p:spPr>
          <a:xfrm>
            <a:off x="685800" y="1981200"/>
            <a:ext cx="3886200" cy="4114800"/>
          </a:xfrm>
        </p:spPr>
        <p:txBody>
          <a:bodyPr/>
          <a:lstStyle/>
          <a:p>
            <a:r>
              <a:rPr lang="en-US" altLang="en-US">
                <a:solidFill>
                  <a:schemeClr val="bg2"/>
                </a:solidFill>
              </a:rPr>
              <a:t>widget choice</a:t>
            </a:r>
          </a:p>
          <a:p>
            <a:pPr lvl="1"/>
            <a:endParaRPr lang="en-US" altLang="en-US" sz="1800">
              <a:solidFill>
                <a:schemeClr val="bg2"/>
              </a:solidFill>
              <a:latin typeface="Courier New" panose="02070309020205020404" pitchFamily="49" charset="0"/>
            </a:endParaRPr>
          </a:p>
          <a:p>
            <a:r>
              <a:rPr lang="en-US" altLang="en-US">
                <a:solidFill>
                  <a:schemeClr val="bg2"/>
                </a:solidFill>
              </a:rPr>
              <a:t>screen design</a:t>
            </a:r>
          </a:p>
          <a:p>
            <a:r>
              <a:rPr lang="en-US" altLang="en-US">
                <a:solidFill>
                  <a:schemeClr val="bg2"/>
                </a:solidFill>
              </a:rPr>
              <a:t>navigation design</a:t>
            </a:r>
          </a:p>
          <a:p>
            <a:r>
              <a:rPr lang="en-US" altLang="en-US">
                <a:solidFill>
                  <a:schemeClr val="bg2"/>
                </a:solidFill>
              </a:rPr>
              <a:t>environment </a:t>
            </a:r>
          </a:p>
        </p:txBody>
      </p:sp>
      <p:sp>
        <p:nvSpPr>
          <p:cNvPr id="146436" name="Rectangle 4">
            <a:extLst>
              <a:ext uri="{FF2B5EF4-FFF2-40B4-BE49-F238E27FC236}">
                <a16:creationId xmlns:a16="http://schemas.microsoft.com/office/drawing/2014/main" id="{846C3FB8-B655-11A0-3A6C-40EE0D054A85}"/>
              </a:ext>
            </a:extLst>
          </p:cNvPr>
          <p:cNvSpPr>
            <a:spLocks noChangeArrowheads="1"/>
          </p:cNvSpPr>
          <p:nvPr/>
        </p:nvSpPr>
        <p:spPr bwMode="auto">
          <a:xfrm>
            <a:off x="4724400" y="1981200"/>
            <a:ext cx="3886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a:solidFill>
                  <a:schemeClr val="tx1"/>
                </a:solidFill>
                <a:latin typeface="Verdana" panose="020B0604030504040204" pitchFamily="34" charset="0"/>
              </a:defRPr>
            </a:lvl4pPr>
            <a:lvl5pPr marL="2057400" indent="-228600">
              <a:spcBef>
                <a:spcPct val="20000"/>
              </a:spcBef>
              <a:buChar char="»"/>
              <a:defRPr>
                <a:solidFill>
                  <a:schemeClr val="tx1"/>
                </a:solidFill>
                <a:latin typeface="Verdana" panose="020B0604030504040204" pitchFamily="34" charset="0"/>
              </a:defRPr>
            </a:lvl5pPr>
            <a:lvl6pPr marL="2514600" indent="-228600" fontAlgn="base">
              <a:spcBef>
                <a:spcPct val="20000"/>
              </a:spcBef>
              <a:spcAft>
                <a:spcPct val="0"/>
              </a:spcAft>
              <a:buChar char="»"/>
              <a:defRPr>
                <a:solidFill>
                  <a:schemeClr val="tx1"/>
                </a:solidFill>
                <a:latin typeface="Verdana" panose="020B0604030504040204" pitchFamily="34" charset="0"/>
              </a:defRPr>
            </a:lvl6pPr>
            <a:lvl7pPr marL="2971800" indent="-228600" fontAlgn="base">
              <a:spcBef>
                <a:spcPct val="20000"/>
              </a:spcBef>
              <a:spcAft>
                <a:spcPct val="0"/>
              </a:spcAft>
              <a:buChar char="»"/>
              <a:defRPr>
                <a:solidFill>
                  <a:schemeClr val="tx1"/>
                </a:solidFill>
                <a:latin typeface="Verdana" panose="020B0604030504040204" pitchFamily="34" charset="0"/>
              </a:defRPr>
            </a:lvl7pPr>
            <a:lvl8pPr marL="3429000" indent="-228600" fontAlgn="base">
              <a:spcBef>
                <a:spcPct val="20000"/>
              </a:spcBef>
              <a:spcAft>
                <a:spcPct val="0"/>
              </a:spcAft>
              <a:buChar char="»"/>
              <a:defRPr>
                <a:solidFill>
                  <a:schemeClr val="tx1"/>
                </a:solidFill>
                <a:latin typeface="Verdana" panose="020B0604030504040204" pitchFamily="34" charset="0"/>
              </a:defRPr>
            </a:lvl8pPr>
            <a:lvl9pPr marL="3886200" indent="-228600" fontAlgn="base">
              <a:spcBef>
                <a:spcPct val="20000"/>
              </a:spcBef>
              <a:spcAft>
                <a:spcPct val="0"/>
              </a:spcAft>
              <a:buChar char="»"/>
              <a:defRPr>
                <a:solidFill>
                  <a:schemeClr val="tx1"/>
                </a:solidFill>
                <a:latin typeface="Verdana" panose="020B0604030504040204" pitchFamily="34" charset="0"/>
              </a:defRPr>
            </a:lvl9pPr>
          </a:lstStyle>
          <a:p>
            <a:pPr eaLnBrk="1" hangingPunct="1"/>
            <a:r>
              <a:rPr lang="en-US" altLang="en-US"/>
              <a:t>controls</a:t>
            </a:r>
          </a:p>
          <a:p>
            <a:pPr lvl="1" eaLnBrk="1" hangingPunct="1"/>
            <a:r>
              <a:rPr lang="en-US" altLang="en-US" sz="1800">
                <a:latin typeface="Courier New" panose="02070309020205020404" pitchFamily="49" charset="0"/>
              </a:rPr>
              <a:t>buttons, knobs, dials</a:t>
            </a:r>
            <a:endParaRPr lang="en-US" altLang="en-US"/>
          </a:p>
          <a:p>
            <a:pPr eaLnBrk="1" hangingPunct="1"/>
            <a:r>
              <a:rPr lang="en-US" altLang="en-US"/>
              <a:t>physical layout</a:t>
            </a:r>
          </a:p>
          <a:p>
            <a:pPr eaLnBrk="1" hangingPunct="1"/>
            <a:r>
              <a:rPr lang="en-US" altLang="en-US"/>
              <a:t>modes of device</a:t>
            </a:r>
          </a:p>
          <a:p>
            <a:pPr eaLnBrk="1" hangingPunct="1"/>
            <a:r>
              <a:rPr lang="en-US" altLang="en-US"/>
              <a:t>the real world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2B8D6552-4AC1-F51F-46D6-C79FDB6882D7}"/>
              </a:ext>
            </a:extLst>
          </p:cNvPr>
          <p:cNvSpPr>
            <a:spLocks noGrp="1" noChangeArrowheads="1"/>
          </p:cNvSpPr>
          <p:nvPr>
            <p:ph type="title"/>
          </p:nvPr>
        </p:nvSpPr>
        <p:spPr/>
        <p:txBody>
          <a:bodyPr/>
          <a:lstStyle/>
          <a:p>
            <a:r>
              <a:rPr lang="en-US" altLang="en-US"/>
              <a:t>think about structure</a:t>
            </a:r>
          </a:p>
        </p:txBody>
      </p:sp>
      <p:sp>
        <p:nvSpPr>
          <p:cNvPr id="122883" name="Rectangle 3">
            <a:extLst>
              <a:ext uri="{FF2B5EF4-FFF2-40B4-BE49-F238E27FC236}">
                <a16:creationId xmlns:a16="http://schemas.microsoft.com/office/drawing/2014/main" id="{8CF0F0BA-0737-BF33-B3FD-F90FCFF52BBD}"/>
              </a:ext>
            </a:extLst>
          </p:cNvPr>
          <p:cNvSpPr>
            <a:spLocks noGrp="1" noChangeArrowheads="1"/>
          </p:cNvSpPr>
          <p:nvPr>
            <p:ph type="body" idx="1"/>
          </p:nvPr>
        </p:nvSpPr>
        <p:spPr/>
        <p:txBody>
          <a:bodyPr/>
          <a:lstStyle/>
          <a:p>
            <a:pPr>
              <a:lnSpc>
                <a:spcPct val="90000"/>
              </a:lnSpc>
            </a:pPr>
            <a:r>
              <a:rPr lang="en-US" altLang="en-US"/>
              <a:t>within a screen</a:t>
            </a:r>
          </a:p>
          <a:p>
            <a:pPr lvl="1">
              <a:lnSpc>
                <a:spcPct val="90000"/>
              </a:lnSpc>
              <a:spcBef>
                <a:spcPct val="0"/>
              </a:spcBef>
            </a:pPr>
            <a:r>
              <a:rPr lang="en-US" altLang="en-US"/>
              <a:t>later ...</a:t>
            </a:r>
          </a:p>
          <a:p>
            <a:pPr>
              <a:lnSpc>
                <a:spcPct val="90000"/>
              </a:lnSpc>
            </a:pPr>
            <a:r>
              <a:rPr lang="en-US" altLang="en-US"/>
              <a:t>local</a:t>
            </a:r>
          </a:p>
          <a:p>
            <a:pPr lvl="1">
              <a:lnSpc>
                <a:spcPct val="90000"/>
              </a:lnSpc>
              <a:spcBef>
                <a:spcPct val="0"/>
              </a:spcBef>
            </a:pPr>
            <a:r>
              <a:rPr lang="en-US" altLang="en-US"/>
              <a:t>looking from this screen out</a:t>
            </a:r>
          </a:p>
          <a:p>
            <a:pPr>
              <a:lnSpc>
                <a:spcPct val="90000"/>
              </a:lnSpc>
            </a:pPr>
            <a:r>
              <a:rPr lang="en-US" altLang="en-US"/>
              <a:t>global</a:t>
            </a:r>
          </a:p>
          <a:p>
            <a:pPr lvl="1">
              <a:lnSpc>
                <a:spcPct val="90000"/>
              </a:lnSpc>
              <a:spcBef>
                <a:spcPct val="0"/>
              </a:spcBef>
            </a:pPr>
            <a:r>
              <a:rPr lang="en-US" altLang="en-US"/>
              <a:t>structure of site, movement between screens</a:t>
            </a:r>
          </a:p>
          <a:p>
            <a:pPr>
              <a:lnSpc>
                <a:spcPct val="90000"/>
              </a:lnSpc>
            </a:pPr>
            <a:r>
              <a:rPr lang="en-US" altLang="en-US"/>
              <a:t>wider still</a:t>
            </a:r>
          </a:p>
          <a:p>
            <a:pPr lvl="1">
              <a:lnSpc>
                <a:spcPct val="90000"/>
              </a:lnSpc>
              <a:spcBef>
                <a:spcPct val="0"/>
              </a:spcBef>
            </a:pPr>
            <a:r>
              <a:rPr lang="en-US" altLang="en-US"/>
              <a:t>relationship with other applications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137FE0FB-C1EB-6D2F-265C-9CBA034E8B7E}"/>
              </a:ext>
            </a:extLst>
          </p:cNvPr>
          <p:cNvSpPr>
            <a:spLocks noGrp="1" noChangeArrowheads="1"/>
          </p:cNvSpPr>
          <p:nvPr>
            <p:ph type="ctrTitle"/>
          </p:nvPr>
        </p:nvSpPr>
        <p:spPr>
          <a:xfrm>
            <a:off x="685800" y="1752600"/>
            <a:ext cx="7772400" cy="1143000"/>
          </a:xfrm>
        </p:spPr>
        <p:txBody>
          <a:bodyPr anchor="ctr"/>
          <a:lstStyle/>
          <a:p>
            <a:pPr algn="l"/>
            <a:r>
              <a:rPr lang="en-US" altLang="en-US" sz="4800"/>
              <a:t>local</a:t>
            </a:r>
            <a:endParaRPr lang="en-US" altLang="en-US" sz="3600"/>
          </a:p>
        </p:txBody>
      </p:sp>
      <p:sp>
        <p:nvSpPr>
          <p:cNvPr id="124931" name="Rectangle 3">
            <a:extLst>
              <a:ext uri="{FF2B5EF4-FFF2-40B4-BE49-F238E27FC236}">
                <a16:creationId xmlns:a16="http://schemas.microsoft.com/office/drawing/2014/main" id="{4A93FE08-1CCA-57EF-88D6-C4BF54EA284F}"/>
              </a:ext>
            </a:extLst>
          </p:cNvPr>
          <p:cNvSpPr>
            <a:spLocks noGrp="1" noChangeArrowheads="1"/>
          </p:cNvSpPr>
          <p:nvPr>
            <p:ph type="subTitle" idx="1"/>
          </p:nvPr>
        </p:nvSpPr>
        <p:spPr>
          <a:xfrm>
            <a:off x="1371600" y="3886200"/>
            <a:ext cx="6400800" cy="1752600"/>
          </a:xfrm>
        </p:spPr>
        <p:txBody>
          <a:bodyPr/>
          <a:lstStyle/>
          <a:p>
            <a:r>
              <a:rPr lang="en-US" altLang="en-US" sz="2800"/>
              <a:t>from one screen looking out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7F9C06E6-A5BE-924B-2532-0B2E33532C57}"/>
              </a:ext>
            </a:extLst>
          </p:cNvPr>
          <p:cNvSpPr>
            <a:spLocks noGrp="1" noChangeArrowheads="1"/>
          </p:cNvSpPr>
          <p:nvPr>
            <p:ph type="title"/>
          </p:nvPr>
        </p:nvSpPr>
        <p:spPr/>
        <p:txBody>
          <a:bodyPr/>
          <a:lstStyle/>
          <a:p>
            <a:r>
              <a:rPr lang="en-US" altLang="en-US"/>
              <a:t>goal seeking</a:t>
            </a:r>
          </a:p>
        </p:txBody>
      </p:sp>
      <p:sp>
        <p:nvSpPr>
          <p:cNvPr id="128003" name="AutoShape 3">
            <a:extLst>
              <a:ext uri="{FF2B5EF4-FFF2-40B4-BE49-F238E27FC236}">
                <a16:creationId xmlns:a16="http://schemas.microsoft.com/office/drawing/2014/main" id="{B987F337-3E5B-392B-B86E-F0441253390D}"/>
              </a:ext>
            </a:extLst>
          </p:cNvPr>
          <p:cNvSpPr>
            <a:spLocks noChangeArrowheads="1"/>
          </p:cNvSpPr>
          <p:nvPr/>
        </p:nvSpPr>
        <p:spPr bwMode="auto">
          <a:xfrm>
            <a:off x="6858000" y="3505200"/>
            <a:ext cx="1143000" cy="990600"/>
          </a:xfrm>
          <a:prstGeom prst="irregularSeal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8004" name="Text Box 4">
            <a:extLst>
              <a:ext uri="{FF2B5EF4-FFF2-40B4-BE49-F238E27FC236}">
                <a16:creationId xmlns:a16="http://schemas.microsoft.com/office/drawing/2014/main" id="{0A4D87EB-879C-9A1A-B448-57C28EE4FA5A}"/>
              </a:ext>
            </a:extLst>
          </p:cNvPr>
          <p:cNvSpPr txBox="1">
            <a:spLocks noChangeArrowheads="1"/>
          </p:cNvSpPr>
          <p:nvPr/>
        </p:nvSpPr>
        <p:spPr bwMode="auto">
          <a:xfrm>
            <a:off x="7299325" y="2686050"/>
            <a:ext cx="8842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latin typeface="Times New Roman" panose="02020603050405020304" pitchFamily="18" charset="0"/>
              </a:rPr>
              <a:t>goal</a:t>
            </a:r>
            <a:endParaRPr lang="en-US" altLang="en-US">
              <a:latin typeface="Times New Roman" panose="02020603050405020304" pitchFamily="18" charset="0"/>
            </a:endParaRPr>
          </a:p>
        </p:txBody>
      </p:sp>
      <p:sp>
        <p:nvSpPr>
          <p:cNvPr id="128005" name="Text Box 5">
            <a:extLst>
              <a:ext uri="{FF2B5EF4-FFF2-40B4-BE49-F238E27FC236}">
                <a16:creationId xmlns:a16="http://schemas.microsoft.com/office/drawing/2014/main" id="{3DAB29DA-B42B-D09E-A044-A91EFC451EDD}"/>
              </a:ext>
            </a:extLst>
          </p:cNvPr>
          <p:cNvSpPr txBox="1">
            <a:spLocks noChangeArrowheads="1"/>
          </p:cNvSpPr>
          <p:nvPr/>
        </p:nvSpPr>
        <p:spPr bwMode="auto">
          <a:xfrm>
            <a:off x="898525" y="3219450"/>
            <a:ext cx="8842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latin typeface="Times New Roman" panose="02020603050405020304" pitchFamily="18" charset="0"/>
              </a:rPr>
              <a:t>start</a:t>
            </a:r>
            <a:endParaRPr lang="en-US" altLang="en-US">
              <a:latin typeface="Times New Roman" panose="02020603050405020304" pitchFamily="18" charset="0"/>
            </a:endParaRPr>
          </a:p>
        </p:txBody>
      </p:sp>
      <p:sp>
        <p:nvSpPr>
          <p:cNvPr id="128006" name="AutoShape 6">
            <a:extLst>
              <a:ext uri="{FF2B5EF4-FFF2-40B4-BE49-F238E27FC236}">
                <a16:creationId xmlns:a16="http://schemas.microsoft.com/office/drawing/2014/main" id="{0688E033-9A09-B036-06C0-29B277B1152F}"/>
              </a:ext>
            </a:extLst>
          </p:cNvPr>
          <p:cNvSpPr>
            <a:spLocks noChangeArrowheads="1"/>
          </p:cNvSpPr>
          <p:nvPr/>
        </p:nvSpPr>
        <p:spPr bwMode="auto">
          <a:xfrm>
            <a:off x="1143000" y="3962400"/>
            <a:ext cx="609600" cy="60960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07EE597F-8714-7CC5-45CE-79CDF709681B}"/>
              </a:ext>
            </a:extLst>
          </p:cNvPr>
          <p:cNvSpPr>
            <a:spLocks noGrp="1" noChangeArrowheads="1"/>
          </p:cNvSpPr>
          <p:nvPr>
            <p:ph type="title"/>
          </p:nvPr>
        </p:nvSpPr>
        <p:spPr/>
        <p:txBody>
          <a:bodyPr/>
          <a:lstStyle/>
          <a:p>
            <a:r>
              <a:rPr lang="en-US" altLang="en-US"/>
              <a:t>goal seeking</a:t>
            </a:r>
          </a:p>
        </p:txBody>
      </p:sp>
      <p:sp>
        <p:nvSpPr>
          <p:cNvPr id="129027" name="Text Box 3">
            <a:extLst>
              <a:ext uri="{FF2B5EF4-FFF2-40B4-BE49-F238E27FC236}">
                <a16:creationId xmlns:a16="http://schemas.microsoft.com/office/drawing/2014/main" id="{8A042A8B-FB79-1FFF-A85E-E5D2957837A2}"/>
              </a:ext>
            </a:extLst>
          </p:cNvPr>
          <p:cNvSpPr txBox="1">
            <a:spLocks noChangeArrowheads="1"/>
          </p:cNvSpPr>
          <p:nvPr/>
        </p:nvSpPr>
        <p:spPr bwMode="auto">
          <a:xfrm>
            <a:off x="898525" y="3219450"/>
            <a:ext cx="8842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latin typeface="Times New Roman" panose="02020603050405020304" pitchFamily="18" charset="0"/>
              </a:rPr>
              <a:t>start</a:t>
            </a:r>
            <a:endParaRPr lang="en-US" altLang="en-US">
              <a:latin typeface="Times New Roman" panose="02020603050405020304" pitchFamily="18" charset="0"/>
            </a:endParaRPr>
          </a:p>
        </p:txBody>
      </p:sp>
      <p:sp>
        <p:nvSpPr>
          <p:cNvPr id="129028" name="AutoShape 4">
            <a:extLst>
              <a:ext uri="{FF2B5EF4-FFF2-40B4-BE49-F238E27FC236}">
                <a16:creationId xmlns:a16="http://schemas.microsoft.com/office/drawing/2014/main" id="{F4784981-0B38-E2E7-6242-73F9919B249A}"/>
              </a:ext>
            </a:extLst>
          </p:cNvPr>
          <p:cNvSpPr>
            <a:spLocks noChangeArrowheads="1"/>
          </p:cNvSpPr>
          <p:nvPr/>
        </p:nvSpPr>
        <p:spPr bwMode="auto">
          <a:xfrm>
            <a:off x="1143000" y="3962400"/>
            <a:ext cx="609600" cy="60960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9029" name="Freeform 5">
            <a:extLst>
              <a:ext uri="{FF2B5EF4-FFF2-40B4-BE49-F238E27FC236}">
                <a16:creationId xmlns:a16="http://schemas.microsoft.com/office/drawing/2014/main" id="{16375BA6-3244-90CD-04D8-896BD3ECDF86}"/>
              </a:ext>
            </a:extLst>
          </p:cNvPr>
          <p:cNvSpPr>
            <a:spLocks/>
          </p:cNvSpPr>
          <p:nvPr/>
        </p:nvSpPr>
        <p:spPr bwMode="auto">
          <a:xfrm>
            <a:off x="1676400" y="2019300"/>
            <a:ext cx="5486400" cy="2095500"/>
          </a:xfrm>
          <a:custGeom>
            <a:avLst/>
            <a:gdLst>
              <a:gd name="T0" fmla="*/ 0 w 3456"/>
              <a:gd name="T1" fmla="*/ 1320 h 1320"/>
              <a:gd name="T2" fmla="*/ 672 w 3456"/>
              <a:gd name="T3" fmla="*/ 840 h 1320"/>
              <a:gd name="T4" fmla="*/ 1104 w 3456"/>
              <a:gd name="T5" fmla="*/ 1176 h 1320"/>
              <a:gd name="T6" fmla="*/ 1680 w 3456"/>
              <a:gd name="T7" fmla="*/ 984 h 1320"/>
              <a:gd name="T8" fmla="*/ 1824 w 3456"/>
              <a:gd name="T9" fmla="*/ 408 h 1320"/>
              <a:gd name="T10" fmla="*/ 1296 w 3456"/>
              <a:gd name="T11" fmla="*/ 360 h 1320"/>
              <a:gd name="T12" fmla="*/ 1584 w 3456"/>
              <a:gd name="T13" fmla="*/ 24 h 1320"/>
              <a:gd name="T14" fmla="*/ 2112 w 3456"/>
              <a:gd name="T15" fmla="*/ 216 h 1320"/>
              <a:gd name="T16" fmla="*/ 2736 w 3456"/>
              <a:gd name="T17" fmla="*/ 264 h 1320"/>
              <a:gd name="T18" fmla="*/ 2736 w 3456"/>
              <a:gd name="T19" fmla="*/ 792 h 1320"/>
              <a:gd name="T20" fmla="*/ 3120 w 3456"/>
              <a:gd name="T21" fmla="*/ 792 h 1320"/>
              <a:gd name="T22" fmla="*/ 3456 w 3456"/>
              <a:gd name="T23" fmla="*/ 1080 h 1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56" h="1320">
                <a:moveTo>
                  <a:pt x="0" y="1320"/>
                </a:moveTo>
                <a:cubicBezTo>
                  <a:pt x="244" y="1092"/>
                  <a:pt x="488" y="864"/>
                  <a:pt x="672" y="840"/>
                </a:cubicBezTo>
                <a:cubicBezTo>
                  <a:pt x="856" y="816"/>
                  <a:pt x="936" y="1152"/>
                  <a:pt x="1104" y="1176"/>
                </a:cubicBezTo>
                <a:cubicBezTo>
                  <a:pt x="1272" y="1200"/>
                  <a:pt x="1560" y="1112"/>
                  <a:pt x="1680" y="984"/>
                </a:cubicBezTo>
                <a:cubicBezTo>
                  <a:pt x="1800" y="856"/>
                  <a:pt x="1888" y="512"/>
                  <a:pt x="1824" y="408"/>
                </a:cubicBezTo>
                <a:cubicBezTo>
                  <a:pt x="1760" y="304"/>
                  <a:pt x="1336" y="424"/>
                  <a:pt x="1296" y="360"/>
                </a:cubicBezTo>
                <a:cubicBezTo>
                  <a:pt x="1256" y="296"/>
                  <a:pt x="1448" y="48"/>
                  <a:pt x="1584" y="24"/>
                </a:cubicBezTo>
                <a:cubicBezTo>
                  <a:pt x="1720" y="0"/>
                  <a:pt x="1920" y="176"/>
                  <a:pt x="2112" y="216"/>
                </a:cubicBezTo>
                <a:cubicBezTo>
                  <a:pt x="2304" y="256"/>
                  <a:pt x="2632" y="168"/>
                  <a:pt x="2736" y="264"/>
                </a:cubicBezTo>
                <a:cubicBezTo>
                  <a:pt x="2840" y="360"/>
                  <a:pt x="2672" y="704"/>
                  <a:pt x="2736" y="792"/>
                </a:cubicBezTo>
                <a:cubicBezTo>
                  <a:pt x="2800" y="880"/>
                  <a:pt x="3000" y="744"/>
                  <a:pt x="3120" y="792"/>
                </a:cubicBezTo>
                <a:cubicBezTo>
                  <a:pt x="3240" y="840"/>
                  <a:pt x="3400" y="1032"/>
                  <a:pt x="3456" y="108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9030" name="Rectangle 6">
            <a:extLst>
              <a:ext uri="{FF2B5EF4-FFF2-40B4-BE49-F238E27FC236}">
                <a16:creationId xmlns:a16="http://schemas.microsoft.com/office/drawing/2014/main" id="{70E27EBF-E892-C8CF-6D45-70C153ECD41A}"/>
              </a:ext>
            </a:extLst>
          </p:cNvPr>
          <p:cNvSpPr>
            <a:spLocks noChangeArrowheads="1"/>
          </p:cNvSpPr>
          <p:nvPr/>
        </p:nvSpPr>
        <p:spPr bwMode="auto">
          <a:xfrm>
            <a:off x="4724400" y="1752600"/>
            <a:ext cx="2743200" cy="30480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9031" name="AutoShape 7">
            <a:extLst>
              <a:ext uri="{FF2B5EF4-FFF2-40B4-BE49-F238E27FC236}">
                <a16:creationId xmlns:a16="http://schemas.microsoft.com/office/drawing/2014/main" id="{D63A965E-C3C2-53EA-438B-0D05BF55CB55}"/>
              </a:ext>
            </a:extLst>
          </p:cNvPr>
          <p:cNvSpPr>
            <a:spLocks noChangeArrowheads="1"/>
          </p:cNvSpPr>
          <p:nvPr/>
        </p:nvSpPr>
        <p:spPr bwMode="auto">
          <a:xfrm>
            <a:off x="6858000" y="3505200"/>
            <a:ext cx="1143000" cy="990600"/>
          </a:xfrm>
          <a:prstGeom prst="irregularSeal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9032" name="Text Box 8">
            <a:extLst>
              <a:ext uri="{FF2B5EF4-FFF2-40B4-BE49-F238E27FC236}">
                <a16:creationId xmlns:a16="http://schemas.microsoft.com/office/drawing/2014/main" id="{573B22F0-43B4-C0AA-E18D-04FF69E2CBB2}"/>
              </a:ext>
            </a:extLst>
          </p:cNvPr>
          <p:cNvSpPr txBox="1">
            <a:spLocks noChangeArrowheads="1"/>
          </p:cNvSpPr>
          <p:nvPr/>
        </p:nvSpPr>
        <p:spPr bwMode="auto">
          <a:xfrm>
            <a:off x="7299325" y="2686050"/>
            <a:ext cx="8842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latin typeface="Times New Roman" panose="02020603050405020304" pitchFamily="18" charset="0"/>
              </a:rPr>
              <a:t>goal</a:t>
            </a:r>
            <a:endParaRPr lang="en-US" altLang="en-US">
              <a:latin typeface="Times New Roman" panose="02020603050405020304" pitchFamily="18" charset="0"/>
            </a:endParaRPr>
          </a:p>
        </p:txBody>
      </p:sp>
      <p:sp>
        <p:nvSpPr>
          <p:cNvPr id="129033" name="Rectangle 9">
            <a:extLst>
              <a:ext uri="{FF2B5EF4-FFF2-40B4-BE49-F238E27FC236}">
                <a16:creationId xmlns:a16="http://schemas.microsoft.com/office/drawing/2014/main" id="{D7E30938-C56B-E48C-8CF3-D7A0BE6FA146}"/>
              </a:ext>
            </a:extLst>
          </p:cNvPr>
          <p:cNvSpPr>
            <a:spLocks noChangeArrowheads="1"/>
          </p:cNvSpPr>
          <p:nvPr/>
        </p:nvSpPr>
        <p:spPr bwMode="auto">
          <a:xfrm>
            <a:off x="3352800" y="1676400"/>
            <a:ext cx="2133600" cy="16764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9034" name="Text Box 10">
            <a:extLst>
              <a:ext uri="{FF2B5EF4-FFF2-40B4-BE49-F238E27FC236}">
                <a16:creationId xmlns:a16="http://schemas.microsoft.com/office/drawing/2014/main" id="{3BA34C99-13EE-E11E-801F-B51D3C39744D}"/>
              </a:ext>
            </a:extLst>
          </p:cNvPr>
          <p:cNvSpPr txBox="1">
            <a:spLocks noChangeArrowheads="1"/>
          </p:cNvSpPr>
          <p:nvPr/>
        </p:nvSpPr>
        <p:spPr bwMode="auto">
          <a:xfrm>
            <a:off x="2209800" y="5016500"/>
            <a:ext cx="60071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Verdana" panose="020B0604030504040204" pitchFamily="34" charset="0"/>
              </a:rPr>
              <a:t>progress with local knowledge only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FFDF4350-2C02-4548-4115-361CA6BBC464}"/>
              </a:ext>
            </a:extLst>
          </p:cNvPr>
          <p:cNvSpPr>
            <a:spLocks noGrp="1" noChangeArrowheads="1"/>
          </p:cNvSpPr>
          <p:nvPr>
            <p:ph type="title"/>
          </p:nvPr>
        </p:nvSpPr>
        <p:spPr/>
        <p:txBody>
          <a:bodyPr/>
          <a:lstStyle/>
          <a:p>
            <a:r>
              <a:rPr lang="en-US" altLang="en-US"/>
              <a:t>goal seeking</a:t>
            </a:r>
          </a:p>
        </p:txBody>
      </p:sp>
      <p:sp>
        <p:nvSpPr>
          <p:cNvPr id="130051" name="AutoShape 3">
            <a:extLst>
              <a:ext uri="{FF2B5EF4-FFF2-40B4-BE49-F238E27FC236}">
                <a16:creationId xmlns:a16="http://schemas.microsoft.com/office/drawing/2014/main" id="{26E1664A-C1E0-C3A3-1B33-224CEF0894AC}"/>
              </a:ext>
            </a:extLst>
          </p:cNvPr>
          <p:cNvSpPr>
            <a:spLocks noChangeArrowheads="1"/>
          </p:cNvSpPr>
          <p:nvPr/>
        </p:nvSpPr>
        <p:spPr bwMode="auto">
          <a:xfrm>
            <a:off x="6858000" y="3505200"/>
            <a:ext cx="1143000" cy="990600"/>
          </a:xfrm>
          <a:prstGeom prst="irregularSeal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30052" name="Text Box 4">
            <a:extLst>
              <a:ext uri="{FF2B5EF4-FFF2-40B4-BE49-F238E27FC236}">
                <a16:creationId xmlns:a16="http://schemas.microsoft.com/office/drawing/2014/main" id="{4FCCE819-5524-B13D-B25B-B1FA643A36B4}"/>
              </a:ext>
            </a:extLst>
          </p:cNvPr>
          <p:cNvSpPr txBox="1">
            <a:spLocks noChangeArrowheads="1"/>
          </p:cNvSpPr>
          <p:nvPr/>
        </p:nvSpPr>
        <p:spPr bwMode="auto">
          <a:xfrm>
            <a:off x="7299325" y="2686050"/>
            <a:ext cx="8842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latin typeface="Times New Roman" panose="02020603050405020304" pitchFamily="18" charset="0"/>
              </a:rPr>
              <a:t>goal</a:t>
            </a:r>
            <a:endParaRPr lang="en-US" altLang="en-US">
              <a:latin typeface="Times New Roman" panose="02020603050405020304" pitchFamily="18" charset="0"/>
            </a:endParaRPr>
          </a:p>
        </p:txBody>
      </p:sp>
      <p:sp>
        <p:nvSpPr>
          <p:cNvPr id="130053" name="Text Box 5">
            <a:extLst>
              <a:ext uri="{FF2B5EF4-FFF2-40B4-BE49-F238E27FC236}">
                <a16:creationId xmlns:a16="http://schemas.microsoft.com/office/drawing/2014/main" id="{55BB7B0E-2226-CB4D-6919-A2BEC2E46B4D}"/>
              </a:ext>
            </a:extLst>
          </p:cNvPr>
          <p:cNvSpPr txBox="1">
            <a:spLocks noChangeArrowheads="1"/>
          </p:cNvSpPr>
          <p:nvPr/>
        </p:nvSpPr>
        <p:spPr bwMode="auto">
          <a:xfrm>
            <a:off x="898525" y="3219450"/>
            <a:ext cx="8842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latin typeface="Times New Roman" panose="02020603050405020304" pitchFamily="18" charset="0"/>
              </a:rPr>
              <a:t>start</a:t>
            </a:r>
            <a:endParaRPr lang="en-US" altLang="en-US">
              <a:latin typeface="Times New Roman" panose="02020603050405020304" pitchFamily="18" charset="0"/>
            </a:endParaRPr>
          </a:p>
        </p:txBody>
      </p:sp>
      <p:sp>
        <p:nvSpPr>
          <p:cNvPr id="130054" name="AutoShape 6">
            <a:extLst>
              <a:ext uri="{FF2B5EF4-FFF2-40B4-BE49-F238E27FC236}">
                <a16:creationId xmlns:a16="http://schemas.microsoft.com/office/drawing/2014/main" id="{FB173394-04CB-EBAF-769A-450D28DEAAC1}"/>
              </a:ext>
            </a:extLst>
          </p:cNvPr>
          <p:cNvSpPr>
            <a:spLocks noChangeArrowheads="1"/>
          </p:cNvSpPr>
          <p:nvPr/>
        </p:nvSpPr>
        <p:spPr bwMode="auto">
          <a:xfrm>
            <a:off x="1143000" y="3962400"/>
            <a:ext cx="609600" cy="60960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30055" name="Freeform 7">
            <a:extLst>
              <a:ext uri="{FF2B5EF4-FFF2-40B4-BE49-F238E27FC236}">
                <a16:creationId xmlns:a16="http://schemas.microsoft.com/office/drawing/2014/main" id="{9371D30E-87F8-35CE-B66D-29262561190E}"/>
              </a:ext>
            </a:extLst>
          </p:cNvPr>
          <p:cNvSpPr>
            <a:spLocks/>
          </p:cNvSpPr>
          <p:nvPr/>
        </p:nvSpPr>
        <p:spPr bwMode="auto">
          <a:xfrm>
            <a:off x="1676400" y="2019300"/>
            <a:ext cx="5486400" cy="2095500"/>
          </a:xfrm>
          <a:custGeom>
            <a:avLst/>
            <a:gdLst>
              <a:gd name="T0" fmla="*/ 0 w 3456"/>
              <a:gd name="T1" fmla="*/ 1320 h 1320"/>
              <a:gd name="T2" fmla="*/ 672 w 3456"/>
              <a:gd name="T3" fmla="*/ 840 h 1320"/>
              <a:gd name="T4" fmla="*/ 1104 w 3456"/>
              <a:gd name="T5" fmla="*/ 1176 h 1320"/>
              <a:gd name="T6" fmla="*/ 1680 w 3456"/>
              <a:gd name="T7" fmla="*/ 984 h 1320"/>
              <a:gd name="T8" fmla="*/ 1824 w 3456"/>
              <a:gd name="T9" fmla="*/ 408 h 1320"/>
              <a:gd name="T10" fmla="*/ 1296 w 3456"/>
              <a:gd name="T11" fmla="*/ 360 h 1320"/>
              <a:gd name="T12" fmla="*/ 1584 w 3456"/>
              <a:gd name="T13" fmla="*/ 24 h 1320"/>
              <a:gd name="T14" fmla="*/ 2112 w 3456"/>
              <a:gd name="T15" fmla="*/ 216 h 1320"/>
              <a:gd name="T16" fmla="*/ 2736 w 3456"/>
              <a:gd name="T17" fmla="*/ 264 h 1320"/>
              <a:gd name="T18" fmla="*/ 2736 w 3456"/>
              <a:gd name="T19" fmla="*/ 792 h 1320"/>
              <a:gd name="T20" fmla="*/ 3120 w 3456"/>
              <a:gd name="T21" fmla="*/ 792 h 1320"/>
              <a:gd name="T22" fmla="*/ 3456 w 3456"/>
              <a:gd name="T23" fmla="*/ 1080 h 1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56" h="1320">
                <a:moveTo>
                  <a:pt x="0" y="1320"/>
                </a:moveTo>
                <a:cubicBezTo>
                  <a:pt x="244" y="1092"/>
                  <a:pt x="488" y="864"/>
                  <a:pt x="672" y="840"/>
                </a:cubicBezTo>
                <a:cubicBezTo>
                  <a:pt x="856" y="816"/>
                  <a:pt x="936" y="1152"/>
                  <a:pt x="1104" y="1176"/>
                </a:cubicBezTo>
                <a:cubicBezTo>
                  <a:pt x="1272" y="1200"/>
                  <a:pt x="1560" y="1112"/>
                  <a:pt x="1680" y="984"/>
                </a:cubicBezTo>
                <a:cubicBezTo>
                  <a:pt x="1800" y="856"/>
                  <a:pt x="1888" y="512"/>
                  <a:pt x="1824" y="408"/>
                </a:cubicBezTo>
                <a:cubicBezTo>
                  <a:pt x="1760" y="304"/>
                  <a:pt x="1336" y="424"/>
                  <a:pt x="1296" y="360"/>
                </a:cubicBezTo>
                <a:cubicBezTo>
                  <a:pt x="1256" y="296"/>
                  <a:pt x="1448" y="48"/>
                  <a:pt x="1584" y="24"/>
                </a:cubicBezTo>
                <a:cubicBezTo>
                  <a:pt x="1720" y="0"/>
                  <a:pt x="1920" y="176"/>
                  <a:pt x="2112" y="216"/>
                </a:cubicBezTo>
                <a:cubicBezTo>
                  <a:pt x="2304" y="256"/>
                  <a:pt x="2632" y="168"/>
                  <a:pt x="2736" y="264"/>
                </a:cubicBezTo>
                <a:cubicBezTo>
                  <a:pt x="2840" y="360"/>
                  <a:pt x="2672" y="704"/>
                  <a:pt x="2736" y="792"/>
                </a:cubicBezTo>
                <a:cubicBezTo>
                  <a:pt x="2800" y="880"/>
                  <a:pt x="3000" y="744"/>
                  <a:pt x="3120" y="792"/>
                </a:cubicBezTo>
                <a:cubicBezTo>
                  <a:pt x="3240" y="840"/>
                  <a:pt x="3400" y="1032"/>
                  <a:pt x="3456" y="108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30056" name="Text Box 8">
            <a:extLst>
              <a:ext uri="{FF2B5EF4-FFF2-40B4-BE49-F238E27FC236}">
                <a16:creationId xmlns:a16="http://schemas.microsoft.com/office/drawing/2014/main" id="{A68AAAC5-1A10-C460-EA91-9790C011CF39}"/>
              </a:ext>
            </a:extLst>
          </p:cNvPr>
          <p:cNvSpPr txBox="1">
            <a:spLocks noChangeArrowheads="1"/>
          </p:cNvSpPr>
          <p:nvPr/>
        </p:nvSpPr>
        <p:spPr bwMode="auto">
          <a:xfrm>
            <a:off x="2209800" y="5016500"/>
            <a:ext cx="513715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Verdana" panose="020B0604030504040204" pitchFamily="34" charset="0"/>
              </a:rPr>
              <a:t>        …   but can get to the goal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2672D806-A4D7-152C-4983-C3B936520C73}"/>
              </a:ext>
            </a:extLst>
          </p:cNvPr>
          <p:cNvSpPr>
            <a:spLocks noGrp="1" noChangeArrowheads="1"/>
          </p:cNvSpPr>
          <p:nvPr>
            <p:ph type="title"/>
          </p:nvPr>
        </p:nvSpPr>
        <p:spPr/>
        <p:txBody>
          <a:bodyPr/>
          <a:lstStyle/>
          <a:p>
            <a:r>
              <a:rPr lang="en-US" altLang="en-US"/>
              <a:t>goal seeking</a:t>
            </a:r>
          </a:p>
        </p:txBody>
      </p:sp>
      <p:sp>
        <p:nvSpPr>
          <p:cNvPr id="131075" name="Text Box 3">
            <a:extLst>
              <a:ext uri="{FF2B5EF4-FFF2-40B4-BE49-F238E27FC236}">
                <a16:creationId xmlns:a16="http://schemas.microsoft.com/office/drawing/2014/main" id="{DBE8F811-ADE3-DD0E-15A2-64A287B8F439}"/>
              </a:ext>
            </a:extLst>
          </p:cNvPr>
          <p:cNvSpPr txBox="1">
            <a:spLocks noChangeArrowheads="1"/>
          </p:cNvSpPr>
          <p:nvPr/>
        </p:nvSpPr>
        <p:spPr bwMode="auto">
          <a:xfrm>
            <a:off x="2209800" y="5016500"/>
            <a:ext cx="512445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Verdana" panose="020B0604030504040204" pitchFamily="34" charset="0"/>
              </a:rPr>
              <a:t>        …   try to avoid these bits!</a:t>
            </a:r>
          </a:p>
        </p:txBody>
      </p:sp>
      <p:grpSp>
        <p:nvGrpSpPr>
          <p:cNvPr id="131076" name="Group 4">
            <a:extLst>
              <a:ext uri="{FF2B5EF4-FFF2-40B4-BE49-F238E27FC236}">
                <a16:creationId xmlns:a16="http://schemas.microsoft.com/office/drawing/2014/main" id="{E365DADE-7E3B-9DDD-D372-B5F3E627C50B}"/>
              </a:ext>
            </a:extLst>
          </p:cNvPr>
          <p:cNvGrpSpPr>
            <a:grpSpLocks/>
          </p:cNvGrpSpPr>
          <p:nvPr/>
        </p:nvGrpSpPr>
        <p:grpSpPr bwMode="auto">
          <a:xfrm>
            <a:off x="898525" y="1676400"/>
            <a:ext cx="7285038" cy="2895600"/>
            <a:chOff x="566" y="1056"/>
            <a:chExt cx="4589" cy="1824"/>
          </a:xfrm>
        </p:grpSpPr>
        <p:sp>
          <p:nvSpPr>
            <p:cNvPr id="131077" name="AutoShape 5">
              <a:extLst>
                <a:ext uri="{FF2B5EF4-FFF2-40B4-BE49-F238E27FC236}">
                  <a16:creationId xmlns:a16="http://schemas.microsoft.com/office/drawing/2014/main" id="{B1418966-D92F-2BD5-1489-2005F61CE78D}"/>
                </a:ext>
              </a:extLst>
            </p:cNvPr>
            <p:cNvSpPr>
              <a:spLocks noChangeArrowheads="1"/>
            </p:cNvSpPr>
            <p:nvPr/>
          </p:nvSpPr>
          <p:spPr bwMode="auto">
            <a:xfrm>
              <a:off x="4320" y="2208"/>
              <a:ext cx="720" cy="624"/>
            </a:xfrm>
            <a:prstGeom prst="irregularSeal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31078" name="Text Box 6">
              <a:extLst>
                <a:ext uri="{FF2B5EF4-FFF2-40B4-BE49-F238E27FC236}">
                  <a16:creationId xmlns:a16="http://schemas.microsoft.com/office/drawing/2014/main" id="{C09D26FB-77E3-6F10-4F87-A07D6C119FDE}"/>
                </a:ext>
              </a:extLst>
            </p:cNvPr>
            <p:cNvSpPr txBox="1">
              <a:spLocks noChangeArrowheads="1"/>
            </p:cNvSpPr>
            <p:nvPr/>
          </p:nvSpPr>
          <p:spPr bwMode="auto">
            <a:xfrm>
              <a:off x="4598" y="1692"/>
              <a:ext cx="55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latin typeface="Times New Roman" panose="02020603050405020304" pitchFamily="18" charset="0"/>
                </a:rPr>
                <a:t>goal</a:t>
              </a:r>
              <a:endParaRPr lang="en-US" altLang="en-US">
                <a:latin typeface="Times New Roman" panose="02020603050405020304" pitchFamily="18" charset="0"/>
              </a:endParaRPr>
            </a:p>
          </p:txBody>
        </p:sp>
        <p:sp>
          <p:nvSpPr>
            <p:cNvPr id="131079" name="Text Box 7">
              <a:extLst>
                <a:ext uri="{FF2B5EF4-FFF2-40B4-BE49-F238E27FC236}">
                  <a16:creationId xmlns:a16="http://schemas.microsoft.com/office/drawing/2014/main" id="{05A5E842-283F-C16D-1C08-EFCD98AB0A37}"/>
                </a:ext>
              </a:extLst>
            </p:cNvPr>
            <p:cNvSpPr txBox="1">
              <a:spLocks noChangeArrowheads="1"/>
            </p:cNvSpPr>
            <p:nvPr/>
          </p:nvSpPr>
          <p:spPr bwMode="auto">
            <a:xfrm>
              <a:off x="566" y="2028"/>
              <a:ext cx="55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latin typeface="Times New Roman" panose="02020603050405020304" pitchFamily="18" charset="0"/>
                </a:rPr>
                <a:t>start</a:t>
              </a:r>
              <a:endParaRPr lang="en-US" altLang="en-US">
                <a:latin typeface="Times New Roman" panose="02020603050405020304" pitchFamily="18" charset="0"/>
              </a:endParaRPr>
            </a:p>
          </p:txBody>
        </p:sp>
        <p:sp>
          <p:nvSpPr>
            <p:cNvPr id="131080" name="AutoShape 8">
              <a:extLst>
                <a:ext uri="{FF2B5EF4-FFF2-40B4-BE49-F238E27FC236}">
                  <a16:creationId xmlns:a16="http://schemas.microsoft.com/office/drawing/2014/main" id="{1B297F10-A176-BDFD-AC36-1EF75FE0416B}"/>
                </a:ext>
              </a:extLst>
            </p:cNvPr>
            <p:cNvSpPr>
              <a:spLocks noChangeArrowheads="1"/>
            </p:cNvSpPr>
            <p:nvPr/>
          </p:nvSpPr>
          <p:spPr bwMode="auto">
            <a:xfrm>
              <a:off x="720" y="2496"/>
              <a:ext cx="384" cy="384"/>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31081" name="Freeform 9">
              <a:extLst>
                <a:ext uri="{FF2B5EF4-FFF2-40B4-BE49-F238E27FC236}">
                  <a16:creationId xmlns:a16="http://schemas.microsoft.com/office/drawing/2014/main" id="{38A0A909-78E7-5448-E06E-51E2AEE4CCFB}"/>
                </a:ext>
              </a:extLst>
            </p:cNvPr>
            <p:cNvSpPr>
              <a:spLocks/>
            </p:cNvSpPr>
            <p:nvPr/>
          </p:nvSpPr>
          <p:spPr bwMode="auto">
            <a:xfrm>
              <a:off x="1056" y="1272"/>
              <a:ext cx="3456" cy="1320"/>
            </a:xfrm>
            <a:custGeom>
              <a:avLst/>
              <a:gdLst>
                <a:gd name="T0" fmla="*/ 0 w 3456"/>
                <a:gd name="T1" fmla="*/ 1320 h 1320"/>
                <a:gd name="T2" fmla="*/ 672 w 3456"/>
                <a:gd name="T3" fmla="*/ 840 h 1320"/>
                <a:gd name="T4" fmla="*/ 1104 w 3456"/>
                <a:gd name="T5" fmla="*/ 1176 h 1320"/>
                <a:gd name="T6" fmla="*/ 1680 w 3456"/>
                <a:gd name="T7" fmla="*/ 984 h 1320"/>
                <a:gd name="T8" fmla="*/ 1824 w 3456"/>
                <a:gd name="T9" fmla="*/ 408 h 1320"/>
                <a:gd name="T10" fmla="*/ 1296 w 3456"/>
                <a:gd name="T11" fmla="*/ 360 h 1320"/>
                <a:gd name="T12" fmla="*/ 1584 w 3456"/>
                <a:gd name="T13" fmla="*/ 24 h 1320"/>
                <a:gd name="T14" fmla="*/ 2112 w 3456"/>
                <a:gd name="T15" fmla="*/ 216 h 1320"/>
                <a:gd name="T16" fmla="*/ 2736 w 3456"/>
                <a:gd name="T17" fmla="*/ 264 h 1320"/>
                <a:gd name="T18" fmla="*/ 2736 w 3456"/>
                <a:gd name="T19" fmla="*/ 792 h 1320"/>
                <a:gd name="T20" fmla="*/ 3120 w 3456"/>
                <a:gd name="T21" fmla="*/ 792 h 1320"/>
                <a:gd name="T22" fmla="*/ 3456 w 3456"/>
                <a:gd name="T23" fmla="*/ 1080 h 1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56" h="1320">
                  <a:moveTo>
                    <a:pt x="0" y="1320"/>
                  </a:moveTo>
                  <a:cubicBezTo>
                    <a:pt x="244" y="1092"/>
                    <a:pt x="488" y="864"/>
                    <a:pt x="672" y="840"/>
                  </a:cubicBezTo>
                  <a:cubicBezTo>
                    <a:pt x="856" y="816"/>
                    <a:pt x="936" y="1152"/>
                    <a:pt x="1104" y="1176"/>
                  </a:cubicBezTo>
                  <a:cubicBezTo>
                    <a:pt x="1272" y="1200"/>
                    <a:pt x="1560" y="1112"/>
                    <a:pt x="1680" y="984"/>
                  </a:cubicBezTo>
                  <a:cubicBezTo>
                    <a:pt x="1800" y="856"/>
                    <a:pt x="1888" y="512"/>
                    <a:pt x="1824" y="408"/>
                  </a:cubicBezTo>
                  <a:cubicBezTo>
                    <a:pt x="1760" y="304"/>
                    <a:pt x="1336" y="424"/>
                    <a:pt x="1296" y="360"/>
                  </a:cubicBezTo>
                  <a:cubicBezTo>
                    <a:pt x="1256" y="296"/>
                    <a:pt x="1448" y="48"/>
                    <a:pt x="1584" y="24"/>
                  </a:cubicBezTo>
                  <a:cubicBezTo>
                    <a:pt x="1720" y="0"/>
                    <a:pt x="1920" y="176"/>
                    <a:pt x="2112" y="216"/>
                  </a:cubicBezTo>
                  <a:cubicBezTo>
                    <a:pt x="2304" y="256"/>
                    <a:pt x="2632" y="168"/>
                    <a:pt x="2736" y="264"/>
                  </a:cubicBezTo>
                  <a:cubicBezTo>
                    <a:pt x="2840" y="360"/>
                    <a:pt x="2672" y="704"/>
                    <a:pt x="2736" y="792"/>
                  </a:cubicBezTo>
                  <a:cubicBezTo>
                    <a:pt x="2800" y="880"/>
                    <a:pt x="3000" y="744"/>
                    <a:pt x="3120" y="792"/>
                  </a:cubicBezTo>
                  <a:cubicBezTo>
                    <a:pt x="3240" y="840"/>
                    <a:pt x="3400" y="1032"/>
                    <a:pt x="3456" y="108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31082" name="Oval 10">
              <a:extLst>
                <a:ext uri="{FF2B5EF4-FFF2-40B4-BE49-F238E27FC236}">
                  <a16:creationId xmlns:a16="http://schemas.microsoft.com/office/drawing/2014/main" id="{A56034FA-2C9B-3EE2-31FE-105326BB22C8}"/>
                </a:ext>
              </a:extLst>
            </p:cNvPr>
            <p:cNvSpPr>
              <a:spLocks noChangeArrowheads="1"/>
            </p:cNvSpPr>
            <p:nvPr/>
          </p:nvSpPr>
          <p:spPr bwMode="auto">
            <a:xfrm>
              <a:off x="2112" y="1056"/>
              <a:ext cx="1248" cy="816"/>
            </a:xfrm>
            <a:prstGeom prst="ellipse">
              <a:avLst/>
            </a:prstGeom>
            <a:noFill/>
            <a:ln w="762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58596F62-E44C-C404-65DF-36B8AB6D89D2}"/>
              </a:ext>
            </a:extLst>
          </p:cNvPr>
          <p:cNvSpPr>
            <a:spLocks noGrp="1" noChangeArrowheads="1"/>
          </p:cNvSpPr>
          <p:nvPr>
            <p:ph type="title"/>
          </p:nvPr>
        </p:nvSpPr>
        <p:spPr/>
        <p:txBody>
          <a:bodyPr/>
          <a:lstStyle/>
          <a:p>
            <a:r>
              <a:rPr lang="en-US" altLang="en-US"/>
              <a:t>four golden rules</a:t>
            </a:r>
          </a:p>
        </p:txBody>
      </p:sp>
      <p:sp>
        <p:nvSpPr>
          <p:cNvPr id="126979" name="Rectangle 3">
            <a:extLst>
              <a:ext uri="{FF2B5EF4-FFF2-40B4-BE49-F238E27FC236}">
                <a16:creationId xmlns:a16="http://schemas.microsoft.com/office/drawing/2014/main" id="{EB6AE6B7-58BB-A4A4-AE0E-D0C82B8DD9F6}"/>
              </a:ext>
            </a:extLst>
          </p:cNvPr>
          <p:cNvSpPr>
            <a:spLocks noGrp="1" noChangeArrowheads="1"/>
          </p:cNvSpPr>
          <p:nvPr>
            <p:ph type="body" idx="1"/>
          </p:nvPr>
        </p:nvSpPr>
        <p:spPr/>
        <p:txBody>
          <a:bodyPr/>
          <a:lstStyle/>
          <a:p>
            <a:r>
              <a:rPr lang="en-GB" altLang="en-US"/>
              <a:t>knowing where you are</a:t>
            </a:r>
          </a:p>
          <a:p>
            <a:r>
              <a:rPr lang="en-GB" altLang="en-US"/>
              <a:t>knowing what you can do</a:t>
            </a:r>
          </a:p>
          <a:p>
            <a:r>
              <a:rPr lang="en-GB" altLang="en-US"/>
              <a:t>knowing where  you are going</a:t>
            </a:r>
          </a:p>
          <a:p>
            <a:pPr lvl="1"/>
            <a:r>
              <a:rPr lang="en-US" altLang="en-US"/>
              <a:t>or what will happen</a:t>
            </a:r>
          </a:p>
          <a:p>
            <a:r>
              <a:rPr lang="en-GB" altLang="en-US"/>
              <a:t>knowing where you’ve been</a:t>
            </a:r>
          </a:p>
          <a:p>
            <a:pPr lvl="1"/>
            <a:r>
              <a:rPr lang="en-GB" altLang="en-US"/>
              <a:t>or what you’ve done</a:t>
            </a:r>
          </a:p>
          <a:p>
            <a:pPr lvl="1"/>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A5299A7E-CD52-BC78-12D9-10907605483F}"/>
              </a:ext>
            </a:extLst>
          </p:cNvPr>
          <p:cNvSpPr>
            <a:spLocks noGrp="1" noChangeArrowheads="1"/>
          </p:cNvSpPr>
          <p:nvPr>
            <p:ph type="title"/>
          </p:nvPr>
        </p:nvSpPr>
        <p:spPr/>
        <p:txBody>
          <a:bodyPr/>
          <a:lstStyle/>
          <a:p>
            <a:r>
              <a:rPr lang="en-GB" altLang="en-US"/>
              <a:t>where you are – breadcrumbs</a:t>
            </a:r>
          </a:p>
        </p:txBody>
      </p:sp>
      <p:sp>
        <p:nvSpPr>
          <p:cNvPr id="159747" name="Rectangle 3">
            <a:extLst>
              <a:ext uri="{FF2B5EF4-FFF2-40B4-BE49-F238E27FC236}">
                <a16:creationId xmlns:a16="http://schemas.microsoft.com/office/drawing/2014/main" id="{DAA980CC-C413-8AAB-3219-FD342032CBD6}"/>
              </a:ext>
            </a:extLst>
          </p:cNvPr>
          <p:cNvSpPr>
            <a:spLocks noGrp="1" noChangeArrowheads="1"/>
          </p:cNvSpPr>
          <p:nvPr>
            <p:ph type="body" idx="1"/>
          </p:nvPr>
        </p:nvSpPr>
        <p:spPr/>
        <p:txBody>
          <a:bodyPr/>
          <a:lstStyle/>
          <a:p>
            <a:pPr>
              <a:buFontTx/>
              <a:buChar char=" "/>
            </a:pPr>
            <a:endParaRPr lang="en-GB" altLang="en-US" sz="1200"/>
          </a:p>
          <a:p>
            <a:pPr>
              <a:buFontTx/>
              <a:buChar char=" "/>
            </a:pPr>
            <a:r>
              <a:rPr lang="en-GB" altLang="en-US" sz="2400"/>
              <a:t>shows path through web site hierarchy</a:t>
            </a:r>
          </a:p>
        </p:txBody>
      </p:sp>
      <p:pic>
        <p:nvPicPr>
          <p:cNvPr id="159748" name="Picture 4">
            <a:extLst>
              <a:ext uri="{FF2B5EF4-FFF2-40B4-BE49-F238E27FC236}">
                <a16:creationId xmlns:a16="http://schemas.microsoft.com/office/drawing/2014/main" id="{55FD6FB7-EBF8-156E-A45A-419037E435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3886200"/>
            <a:ext cx="7138988" cy="2197100"/>
          </a:xfrm>
          <a:prstGeom prst="rect">
            <a:avLst/>
          </a:prstGeom>
          <a:noFill/>
          <a:extLst>
            <a:ext uri="{909E8E84-426E-40DD-AFC4-6F175D3DCCD1}">
              <a14:hiddenFill xmlns:a14="http://schemas.microsoft.com/office/drawing/2010/main">
                <a:solidFill>
                  <a:srgbClr val="FFFFFF"/>
                </a:solidFill>
              </a14:hiddenFill>
            </a:ext>
          </a:extLst>
        </p:spPr>
      </p:pic>
      <p:grpSp>
        <p:nvGrpSpPr>
          <p:cNvPr id="159762" name="Group 18">
            <a:extLst>
              <a:ext uri="{FF2B5EF4-FFF2-40B4-BE49-F238E27FC236}">
                <a16:creationId xmlns:a16="http://schemas.microsoft.com/office/drawing/2014/main" id="{7B1F690C-CCA5-BB6A-AF4C-92D6C4D5BCF5}"/>
              </a:ext>
            </a:extLst>
          </p:cNvPr>
          <p:cNvGrpSpPr>
            <a:grpSpLocks/>
          </p:cNvGrpSpPr>
          <p:nvPr/>
        </p:nvGrpSpPr>
        <p:grpSpPr bwMode="auto">
          <a:xfrm>
            <a:off x="457200" y="3352800"/>
            <a:ext cx="1600200" cy="762000"/>
            <a:chOff x="288" y="2112"/>
            <a:chExt cx="1008" cy="480"/>
          </a:xfrm>
        </p:grpSpPr>
        <p:sp>
          <p:nvSpPr>
            <p:cNvPr id="159749" name="Text Box 5">
              <a:extLst>
                <a:ext uri="{FF2B5EF4-FFF2-40B4-BE49-F238E27FC236}">
                  <a16:creationId xmlns:a16="http://schemas.microsoft.com/office/drawing/2014/main" id="{B48446FF-5BF5-5667-07E4-F71517F210AC}"/>
                </a:ext>
              </a:extLst>
            </p:cNvPr>
            <p:cNvSpPr txBox="1">
              <a:spLocks noChangeArrowheads="1"/>
            </p:cNvSpPr>
            <p:nvPr/>
          </p:nvSpPr>
          <p:spPr bwMode="auto">
            <a:xfrm>
              <a:off x="288" y="2112"/>
              <a:ext cx="70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000">
                  <a:solidFill>
                    <a:srgbClr val="2E005D"/>
                  </a:solidFill>
                  <a:latin typeface="Arial" panose="020B0604020202020204" pitchFamily="34" charset="0"/>
                </a:rPr>
                <a:t>web site</a:t>
              </a:r>
            </a:p>
          </p:txBody>
        </p:sp>
        <p:sp>
          <p:nvSpPr>
            <p:cNvPr id="159754" name="Line 10">
              <a:extLst>
                <a:ext uri="{FF2B5EF4-FFF2-40B4-BE49-F238E27FC236}">
                  <a16:creationId xmlns:a16="http://schemas.microsoft.com/office/drawing/2014/main" id="{C333F423-F93A-0250-16EF-689B73F012B2}"/>
                </a:ext>
              </a:extLst>
            </p:cNvPr>
            <p:cNvSpPr>
              <a:spLocks noChangeShapeType="1"/>
            </p:cNvSpPr>
            <p:nvPr/>
          </p:nvSpPr>
          <p:spPr bwMode="auto">
            <a:xfrm>
              <a:off x="864" y="2352"/>
              <a:ext cx="432" cy="240"/>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159763" name="Group 19">
            <a:extLst>
              <a:ext uri="{FF2B5EF4-FFF2-40B4-BE49-F238E27FC236}">
                <a16:creationId xmlns:a16="http://schemas.microsoft.com/office/drawing/2014/main" id="{86685682-C377-268F-E3A4-4BE05C2452D3}"/>
              </a:ext>
            </a:extLst>
          </p:cNvPr>
          <p:cNvGrpSpPr>
            <a:grpSpLocks/>
          </p:cNvGrpSpPr>
          <p:nvPr/>
        </p:nvGrpSpPr>
        <p:grpSpPr bwMode="auto">
          <a:xfrm>
            <a:off x="1752600" y="2971800"/>
            <a:ext cx="2173288" cy="1066800"/>
            <a:chOff x="1104" y="1872"/>
            <a:chExt cx="1369" cy="672"/>
          </a:xfrm>
        </p:grpSpPr>
        <p:sp>
          <p:nvSpPr>
            <p:cNvPr id="159750" name="Text Box 6">
              <a:extLst>
                <a:ext uri="{FF2B5EF4-FFF2-40B4-BE49-F238E27FC236}">
                  <a16:creationId xmlns:a16="http://schemas.microsoft.com/office/drawing/2014/main" id="{64CA610E-900A-44D5-6636-71DB7368F405}"/>
                </a:ext>
              </a:extLst>
            </p:cNvPr>
            <p:cNvSpPr txBox="1">
              <a:spLocks noChangeArrowheads="1"/>
            </p:cNvSpPr>
            <p:nvPr/>
          </p:nvSpPr>
          <p:spPr bwMode="auto">
            <a:xfrm>
              <a:off x="1104" y="1872"/>
              <a:ext cx="136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000">
                  <a:solidFill>
                    <a:srgbClr val="2E005D"/>
                  </a:solidFill>
                  <a:latin typeface="Arial" panose="020B0604020202020204" pitchFamily="34" charset="0"/>
                </a:rPr>
                <a:t>top level category</a:t>
              </a:r>
            </a:p>
          </p:txBody>
        </p:sp>
        <p:sp>
          <p:nvSpPr>
            <p:cNvPr id="159756" name="Line 12">
              <a:extLst>
                <a:ext uri="{FF2B5EF4-FFF2-40B4-BE49-F238E27FC236}">
                  <a16:creationId xmlns:a16="http://schemas.microsoft.com/office/drawing/2014/main" id="{330C8955-467E-2439-29DD-1D6E48483974}"/>
                </a:ext>
              </a:extLst>
            </p:cNvPr>
            <p:cNvSpPr>
              <a:spLocks noChangeShapeType="1"/>
            </p:cNvSpPr>
            <p:nvPr/>
          </p:nvSpPr>
          <p:spPr bwMode="auto">
            <a:xfrm>
              <a:off x="1824" y="2112"/>
              <a:ext cx="336" cy="432"/>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159764" name="Group 20">
            <a:extLst>
              <a:ext uri="{FF2B5EF4-FFF2-40B4-BE49-F238E27FC236}">
                <a16:creationId xmlns:a16="http://schemas.microsoft.com/office/drawing/2014/main" id="{74574602-FA03-9667-4162-49DA03D26108}"/>
              </a:ext>
            </a:extLst>
          </p:cNvPr>
          <p:cNvGrpSpPr>
            <a:grpSpLocks/>
          </p:cNvGrpSpPr>
          <p:nvPr/>
        </p:nvGrpSpPr>
        <p:grpSpPr bwMode="auto">
          <a:xfrm>
            <a:off x="4191000" y="3048000"/>
            <a:ext cx="1651000" cy="990600"/>
            <a:chOff x="2640" y="1920"/>
            <a:chExt cx="1040" cy="624"/>
          </a:xfrm>
        </p:grpSpPr>
        <p:sp>
          <p:nvSpPr>
            <p:cNvPr id="159751" name="Text Box 7">
              <a:extLst>
                <a:ext uri="{FF2B5EF4-FFF2-40B4-BE49-F238E27FC236}">
                  <a16:creationId xmlns:a16="http://schemas.microsoft.com/office/drawing/2014/main" id="{E73E1F46-8063-A985-0B1E-D5B3144D1478}"/>
                </a:ext>
              </a:extLst>
            </p:cNvPr>
            <p:cNvSpPr txBox="1">
              <a:spLocks noChangeArrowheads="1"/>
            </p:cNvSpPr>
            <p:nvPr/>
          </p:nvSpPr>
          <p:spPr bwMode="auto">
            <a:xfrm>
              <a:off x="2640" y="1920"/>
              <a:ext cx="10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000">
                  <a:solidFill>
                    <a:srgbClr val="2E005D"/>
                  </a:solidFill>
                  <a:latin typeface="Arial" panose="020B0604020202020204" pitchFamily="34" charset="0"/>
                </a:rPr>
                <a:t>sub-category</a:t>
              </a:r>
            </a:p>
          </p:txBody>
        </p:sp>
        <p:sp>
          <p:nvSpPr>
            <p:cNvPr id="159757" name="Line 13">
              <a:extLst>
                <a:ext uri="{FF2B5EF4-FFF2-40B4-BE49-F238E27FC236}">
                  <a16:creationId xmlns:a16="http://schemas.microsoft.com/office/drawing/2014/main" id="{E7843A60-8967-989D-1FCC-464343455E0C}"/>
                </a:ext>
              </a:extLst>
            </p:cNvPr>
            <p:cNvSpPr>
              <a:spLocks noChangeShapeType="1"/>
            </p:cNvSpPr>
            <p:nvPr/>
          </p:nvSpPr>
          <p:spPr bwMode="auto">
            <a:xfrm flipH="1">
              <a:off x="2832" y="2208"/>
              <a:ext cx="240" cy="336"/>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159765" name="Group 21">
            <a:extLst>
              <a:ext uri="{FF2B5EF4-FFF2-40B4-BE49-F238E27FC236}">
                <a16:creationId xmlns:a16="http://schemas.microsoft.com/office/drawing/2014/main" id="{1B082600-BC1C-63BF-35EC-423DEE73BBAA}"/>
              </a:ext>
            </a:extLst>
          </p:cNvPr>
          <p:cNvGrpSpPr>
            <a:grpSpLocks/>
          </p:cNvGrpSpPr>
          <p:nvPr/>
        </p:nvGrpSpPr>
        <p:grpSpPr bwMode="auto">
          <a:xfrm>
            <a:off x="5257800" y="3352800"/>
            <a:ext cx="2052638" cy="762000"/>
            <a:chOff x="3312" y="2112"/>
            <a:chExt cx="1293" cy="480"/>
          </a:xfrm>
        </p:grpSpPr>
        <p:sp>
          <p:nvSpPr>
            <p:cNvPr id="159752" name="Text Box 8">
              <a:extLst>
                <a:ext uri="{FF2B5EF4-FFF2-40B4-BE49-F238E27FC236}">
                  <a16:creationId xmlns:a16="http://schemas.microsoft.com/office/drawing/2014/main" id="{36746D9E-DD0C-8859-8FE6-E7B4D1571C95}"/>
                </a:ext>
              </a:extLst>
            </p:cNvPr>
            <p:cNvSpPr txBox="1">
              <a:spLocks noChangeArrowheads="1"/>
            </p:cNvSpPr>
            <p:nvPr/>
          </p:nvSpPr>
          <p:spPr bwMode="auto">
            <a:xfrm>
              <a:off x="3840" y="2112"/>
              <a:ext cx="76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000">
                  <a:solidFill>
                    <a:srgbClr val="2E005D"/>
                  </a:solidFill>
                  <a:latin typeface="Arial" panose="020B0604020202020204" pitchFamily="34" charset="0"/>
                </a:rPr>
                <a:t>this page</a:t>
              </a:r>
            </a:p>
          </p:txBody>
        </p:sp>
        <p:sp>
          <p:nvSpPr>
            <p:cNvPr id="159758" name="Line 14">
              <a:extLst>
                <a:ext uri="{FF2B5EF4-FFF2-40B4-BE49-F238E27FC236}">
                  <a16:creationId xmlns:a16="http://schemas.microsoft.com/office/drawing/2014/main" id="{91C56A6A-D622-F7C4-5591-B43C66A44BDC}"/>
                </a:ext>
              </a:extLst>
            </p:cNvPr>
            <p:cNvSpPr>
              <a:spLocks noChangeShapeType="1"/>
            </p:cNvSpPr>
            <p:nvPr/>
          </p:nvSpPr>
          <p:spPr bwMode="auto">
            <a:xfrm flipH="1">
              <a:off x="3312" y="2304"/>
              <a:ext cx="528" cy="288"/>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159767" name="Group 23">
            <a:extLst>
              <a:ext uri="{FF2B5EF4-FFF2-40B4-BE49-F238E27FC236}">
                <a16:creationId xmlns:a16="http://schemas.microsoft.com/office/drawing/2014/main" id="{17B5C7B3-9683-EEF3-E25A-AD3589EED6E3}"/>
              </a:ext>
            </a:extLst>
          </p:cNvPr>
          <p:cNvGrpSpPr>
            <a:grpSpLocks/>
          </p:cNvGrpSpPr>
          <p:nvPr/>
        </p:nvGrpSpPr>
        <p:grpSpPr bwMode="auto">
          <a:xfrm>
            <a:off x="304800" y="4343400"/>
            <a:ext cx="4419600" cy="1997075"/>
            <a:chOff x="192" y="2736"/>
            <a:chExt cx="2784" cy="1258"/>
          </a:xfrm>
        </p:grpSpPr>
        <p:sp>
          <p:nvSpPr>
            <p:cNvPr id="159759" name="AutoShape 15">
              <a:extLst>
                <a:ext uri="{FF2B5EF4-FFF2-40B4-BE49-F238E27FC236}">
                  <a16:creationId xmlns:a16="http://schemas.microsoft.com/office/drawing/2014/main" id="{0D65B3E9-1C9A-CD35-506B-BA5D3CA5EFA9}"/>
                </a:ext>
              </a:extLst>
            </p:cNvPr>
            <p:cNvSpPr>
              <a:spLocks/>
            </p:cNvSpPr>
            <p:nvPr/>
          </p:nvSpPr>
          <p:spPr bwMode="auto">
            <a:xfrm rot="-5400000">
              <a:off x="2040" y="1896"/>
              <a:ext cx="96" cy="1776"/>
            </a:xfrm>
            <a:prstGeom prst="leftBrace">
              <a:avLst>
                <a:gd name="adj1" fmla="val 92500"/>
                <a:gd name="adj2" fmla="val 49444"/>
              </a:avLst>
            </a:prstGeom>
            <a:noFill/>
            <a:ln w="381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159766" name="Group 22">
              <a:extLst>
                <a:ext uri="{FF2B5EF4-FFF2-40B4-BE49-F238E27FC236}">
                  <a16:creationId xmlns:a16="http://schemas.microsoft.com/office/drawing/2014/main" id="{61A38DAF-2DB3-CC05-A761-F53C357402A5}"/>
                </a:ext>
              </a:extLst>
            </p:cNvPr>
            <p:cNvGrpSpPr>
              <a:grpSpLocks/>
            </p:cNvGrpSpPr>
            <p:nvPr/>
          </p:nvGrpSpPr>
          <p:grpSpPr bwMode="auto">
            <a:xfrm>
              <a:off x="192" y="2832"/>
              <a:ext cx="1824" cy="1162"/>
              <a:chOff x="192" y="2832"/>
              <a:chExt cx="1824" cy="1162"/>
            </a:xfrm>
          </p:grpSpPr>
          <p:sp>
            <p:nvSpPr>
              <p:cNvPr id="159760" name="Text Box 16">
                <a:extLst>
                  <a:ext uri="{FF2B5EF4-FFF2-40B4-BE49-F238E27FC236}">
                    <a16:creationId xmlns:a16="http://schemas.microsoft.com/office/drawing/2014/main" id="{DE6D282E-24A1-4F0F-B5A2-E309624A682C}"/>
                  </a:ext>
                </a:extLst>
              </p:cNvPr>
              <p:cNvSpPr txBox="1">
                <a:spLocks noChangeArrowheads="1"/>
              </p:cNvSpPr>
              <p:nvPr/>
            </p:nvSpPr>
            <p:spPr bwMode="auto">
              <a:xfrm>
                <a:off x="192" y="3360"/>
                <a:ext cx="738"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sz="2000">
                    <a:solidFill>
                      <a:srgbClr val="2E005D"/>
                    </a:solidFill>
                    <a:latin typeface="Arial" panose="020B0604020202020204" pitchFamily="34" charset="0"/>
                  </a:rPr>
                  <a:t>live links</a:t>
                </a:r>
              </a:p>
              <a:p>
                <a:pPr algn="ctr"/>
                <a:r>
                  <a:rPr lang="en-GB" altLang="en-US" sz="2000">
                    <a:solidFill>
                      <a:srgbClr val="2E005D"/>
                    </a:solidFill>
                    <a:latin typeface="Arial" panose="020B0604020202020204" pitchFamily="34" charset="0"/>
                  </a:rPr>
                  <a:t>to higher</a:t>
                </a:r>
              </a:p>
              <a:p>
                <a:pPr algn="ctr"/>
                <a:r>
                  <a:rPr lang="en-GB" altLang="en-US" sz="2000">
                    <a:solidFill>
                      <a:srgbClr val="2E005D"/>
                    </a:solidFill>
                    <a:latin typeface="Arial" panose="020B0604020202020204" pitchFamily="34" charset="0"/>
                  </a:rPr>
                  <a:t>levels</a:t>
                </a:r>
              </a:p>
            </p:txBody>
          </p:sp>
          <p:sp>
            <p:nvSpPr>
              <p:cNvPr id="159761" name="Line 17">
                <a:extLst>
                  <a:ext uri="{FF2B5EF4-FFF2-40B4-BE49-F238E27FC236}">
                    <a16:creationId xmlns:a16="http://schemas.microsoft.com/office/drawing/2014/main" id="{89E22E98-FF1F-EF19-456F-F08F5B9CB69B}"/>
                  </a:ext>
                </a:extLst>
              </p:cNvPr>
              <p:cNvSpPr>
                <a:spLocks noChangeShapeType="1"/>
              </p:cNvSpPr>
              <p:nvPr/>
            </p:nvSpPr>
            <p:spPr bwMode="auto">
              <a:xfrm flipV="1">
                <a:off x="912" y="2832"/>
                <a:ext cx="1104" cy="720"/>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5976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5976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5976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5976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597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a:extLst>
              <a:ext uri="{FF2B5EF4-FFF2-40B4-BE49-F238E27FC236}">
                <a16:creationId xmlns:a16="http://schemas.microsoft.com/office/drawing/2014/main" id="{EF2469FD-3DF8-F5A1-81A0-02BE16E4D1A2}"/>
              </a:ext>
            </a:extLst>
          </p:cNvPr>
          <p:cNvSpPr>
            <a:spLocks noGrp="1" noChangeArrowheads="1"/>
          </p:cNvSpPr>
          <p:nvPr>
            <p:ph type="title"/>
          </p:nvPr>
        </p:nvSpPr>
        <p:spPr/>
        <p:txBody>
          <a:bodyPr/>
          <a:lstStyle/>
          <a:p>
            <a:r>
              <a:rPr lang="en-US" altLang="en-US"/>
              <a:t>beware the big button trap</a:t>
            </a:r>
            <a:endParaRPr lang="en-GB" altLang="en-US"/>
          </a:p>
        </p:txBody>
      </p:sp>
      <p:sp>
        <p:nvSpPr>
          <p:cNvPr id="160771" name="Rectangle 3">
            <a:extLst>
              <a:ext uri="{FF2B5EF4-FFF2-40B4-BE49-F238E27FC236}">
                <a16:creationId xmlns:a16="http://schemas.microsoft.com/office/drawing/2014/main" id="{B08DC898-3329-75A1-490D-21CBBFA7CFEF}"/>
              </a:ext>
            </a:extLst>
          </p:cNvPr>
          <p:cNvSpPr>
            <a:spLocks noGrp="1" noChangeArrowheads="1"/>
          </p:cNvSpPr>
          <p:nvPr>
            <p:ph type="body" idx="1"/>
          </p:nvPr>
        </p:nvSpPr>
        <p:spPr>
          <a:xfrm>
            <a:off x="685800" y="5181600"/>
            <a:ext cx="7772400" cy="914400"/>
          </a:xfrm>
        </p:spPr>
        <p:txBody>
          <a:bodyPr/>
          <a:lstStyle/>
          <a:p>
            <a:pPr>
              <a:lnSpc>
                <a:spcPct val="90000"/>
              </a:lnSpc>
            </a:pPr>
            <a:r>
              <a:rPr lang="en-GB" altLang="en-US"/>
              <a:t>where do they go?</a:t>
            </a:r>
          </a:p>
          <a:p>
            <a:pPr lvl="1">
              <a:lnSpc>
                <a:spcPct val="90000"/>
              </a:lnSpc>
            </a:pPr>
            <a:r>
              <a:rPr lang="en-GB" altLang="en-US"/>
              <a:t>lots of room for extra text!</a:t>
            </a:r>
          </a:p>
        </p:txBody>
      </p:sp>
      <p:grpSp>
        <p:nvGrpSpPr>
          <p:cNvPr id="160774" name="Group 6">
            <a:extLst>
              <a:ext uri="{FF2B5EF4-FFF2-40B4-BE49-F238E27FC236}">
                <a16:creationId xmlns:a16="http://schemas.microsoft.com/office/drawing/2014/main" id="{01248ED7-8932-1CB6-0776-0126286D45EE}"/>
              </a:ext>
            </a:extLst>
          </p:cNvPr>
          <p:cNvGrpSpPr>
            <a:grpSpLocks/>
          </p:cNvGrpSpPr>
          <p:nvPr/>
        </p:nvGrpSpPr>
        <p:grpSpPr bwMode="auto">
          <a:xfrm>
            <a:off x="2019300" y="1790700"/>
            <a:ext cx="5143500" cy="3162300"/>
            <a:chOff x="984" y="1296"/>
            <a:chExt cx="3240" cy="1992"/>
          </a:xfrm>
        </p:grpSpPr>
        <p:sp>
          <p:nvSpPr>
            <p:cNvPr id="160775" name="AutoShape 7">
              <a:extLst>
                <a:ext uri="{FF2B5EF4-FFF2-40B4-BE49-F238E27FC236}">
                  <a16:creationId xmlns:a16="http://schemas.microsoft.com/office/drawing/2014/main" id="{A554C764-C92B-DD2C-1AB2-F76CE76AC6D1}"/>
                </a:ext>
              </a:extLst>
            </p:cNvPr>
            <p:cNvSpPr>
              <a:spLocks noChangeArrowheads="1"/>
            </p:cNvSpPr>
            <p:nvPr/>
          </p:nvSpPr>
          <p:spPr bwMode="auto">
            <a:xfrm>
              <a:off x="984" y="1296"/>
              <a:ext cx="1392" cy="864"/>
            </a:xfrm>
            <a:prstGeom prst="bevel">
              <a:avLst>
                <a:gd name="adj" fmla="val 12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Times New Roman" panose="02020603050405020304" pitchFamily="18" charset="0"/>
                </a:rPr>
                <a:t>things</a:t>
              </a:r>
            </a:p>
          </p:txBody>
        </p:sp>
        <p:sp>
          <p:nvSpPr>
            <p:cNvPr id="160776" name="AutoShape 8">
              <a:extLst>
                <a:ext uri="{FF2B5EF4-FFF2-40B4-BE49-F238E27FC236}">
                  <a16:creationId xmlns:a16="http://schemas.microsoft.com/office/drawing/2014/main" id="{9F7C173C-7B14-64D2-6A02-C1BA92754FF0}"/>
                </a:ext>
              </a:extLst>
            </p:cNvPr>
            <p:cNvSpPr>
              <a:spLocks noChangeArrowheads="1"/>
            </p:cNvSpPr>
            <p:nvPr/>
          </p:nvSpPr>
          <p:spPr bwMode="auto">
            <a:xfrm>
              <a:off x="2832" y="2424"/>
              <a:ext cx="1392" cy="864"/>
            </a:xfrm>
            <a:prstGeom prst="bevel">
              <a:avLst>
                <a:gd name="adj" fmla="val 12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Times New Roman" panose="02020603050405020304" pitchFamily="18" charset="0"/>
                </a:rPr>
                <a:t>the thing from</a:t>
              </a:r>
            </a:p>
            <a:p>
              <a:pPr algn="ctr"/>
              <a:r>
                <a:rPr lang="en-US" altLang="en-US">
                  <a:latin typeface="Times New Roman" panose="02020603050405020304" pitchFamily="18" charset="0"/>
                </a:rPr>
                <a:t>outer space</a:t>
              </a:r>
            </a:p>
          </p:txBody>
        </p:sp>
        <p:sp>
          <p:nvSpPr>
            <p:cNvPr id="160777" name="AutoShape 9">
              <a:extLst>
                <a:ext uri="{FF2B5EF4-FFF2-40B4-BE49-F238E27FC236}">
                  <a16:creationId xmlns:a16="http://schemas.microsoft.com/office/drawing/2014/main" id="{F951F001-97F2-40D4-4CF7-6199166C3403}"/>
                </a:ext>
              </a:extLst>
            </p:cNvPr>
            <p:cNvSpPr>
              <a:spLocks noChangeArrowheads="1"/>
            </p:cNvSpPr>
            <p:nvPr/>
          </p:nvSpPr>
          <p:spPr bwMode="auto">
            <a:xfrm>
              <a:off x="984" y="2424"/>
              <a:ext cx="1392" cy="864"/>
            </a:xfrm>
            <a:prstGeom prst="bevel">
              <a:avLst>
                <a:gd name="adj" fmla="val 12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Times New Roman" panose="02020603050405020304" pitchFamily="18" charset="0"/>
                </a:rPr>
                <a:t>more things</a:t>
              </a:r>
            </a:p>
          </p:txBody>
        </p:sp>
        <p:sp>
          <p:nvSpPr>
            <p:cNvPr id="160778" name="AutoShape 10">
              <a:extLst>
                <a:ext uri="{FF2B5EF4-FFF2-40B4-BE49-F238E27FC236}">
                  <a16:creationId xmlns:a16="http://schemas.microsoft.com/office/drawing/2014/main" id="{A97183A9-A997-9D24-0BBE-EF9C556E5B6D}"/>
                </a:ext>
              </a:extLst>
            </p:cNvPr>
            <p:cNvSpPr>
              <a:spLocks noChangeArrowheads="1"/>
            </p:cNvSpPr>
            <p:nvPr/>
          </p:nvSpPr>
          <p:spPr bwMode="auto">
            <a:xfrm>
              <a:off x="2832" y="1296"/>
              <a:ext cx="1392" cy="864"/>
            </a:xfrm>
            <a:prstGeom prst="bevel">
              <a:avLst>
                <a:gd name="adj" fmla="val 12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Times New Roman" panose="02020603050405020304" pitchFamily="18" charset="0"/>
                </a:rPr>
                <a:t>other things</a:t>
              </a:r>
            </a:p>
          </p:txBody>
        </p:sp>
      </p:grpSp>
      <p:pic>
        <p:nvPicPr>
          <p:cNvPr id="160779" name="Picture 11">
            <a:extLst>
              <a:ext uri="{FF2B5EF4-FFF2-40B4-BE49-F238E27FC236}">
                <a16:creationId xmlns:a16="http://schemas.microsoft.com/office/drawing/2014/main" id="{7DCD79D2-3C6F-802A-8C05-BD836BDDB3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63" y="609600"/>
            <a:ext cx="452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BB723FC7-1C70-9FFC-718F-619EEF0F592E}"/>
              </a:ext>
            </a:extLst>
          </p:cNvPr>
          <p:cNvSpPr>
            <a:spLocks noGrp="1" noChangeArrowheads="1"/>
          </p:cNvSpPr>
          <p:nvPr>
            <p:ph type="title"/>
          </p:nvPr>
        </p:nvSpPr>
        <p:spPr/>
        <p:txBody>
          <a:bodyPr/>
          <a:lstStyle/>
          <a:p>
            <a:r>
              <a:rPr lang="en-GB" altLang="en-US"/>
              <a:t>modes</a:t>
            </a:r>
          </a:p>
        </p:txBody>
      </p:sp>
      <p:sp>
        <p:nvSpPr>
          <p:cNvPr id="147459" name="Rectangle 3">
            <a:extLst>
              <a:ext uri="{FF2B5EF4-FFF2-40B4-BE49-F238E27FC236}">
                <a16:creationId xmlns:a16="http://schemas.microsoft.com/office/drawing/2014/main" id="{FA05B16C-C5D3-AD30-2B45-DE4D7B02F497}"/>
              </a:ext>
            </a:extLst>
          </p:cNvPr>
          <p:cNvSpPr>
            <a:spLocks noGrp="1" noChangeArrowheads="1"/>
          </p:cNvSpPr>
          <p:nvPr>
            <p:ph type="body" idx="1"/>
          </p:nvPr>
        </p:nvSpPr>
        <p:spPr/>
        <p:txBody>
          <a:bodyPr/>
          <a:lstStyle/>
          <a:p>
            <a:pPr>
              <a:lnSpc>
                <a:spcPct val="90000"/>
              </a:lnSpc>
            </a:pPr>
            <a:r>
              <a:rPr lang="en-GB" altLang="en-US"/>
              <a:t>lock to prevent accidental use …</a:t>
            </a:r>
          </a:p>
          <a:p>
            <a:pPr lvl="1">
              <a:lnSpc>
                <a:spcPct val="90000"/>
              </a:lnSpc>
            </a:pPr>
            <a:r>
              <a:rPr lang="en-GB" altLang="en-US"/>
              <a:t>remove lock - ‘c’ + ‘yes’ to confirm</a:t>
            </a:r>
          </a:p>
          <a:p>
            <a:pPr lvl="1">
              <a:lnSpc>
                <a:spcPct val="90000"/>
              </a:lnSpc>
            </a:pPr>
            <a:r>
              <a:rPr lang="en-GB" altLang="en-US"/>
              <a:t>frequent practiced action</a:t>
            </a:r>
          </a:p>
          <a:p>
            <a:pPr>
              <a:lnSpc>
                <a:spcPct val="90000"/>
              </a:lnSpc>
            </a:pPr>
            <a:r>
              <a:rPr lang="en-GB" altLang="en-US"/>
              <a:t>if lock forgotten</a:t>
            </a:r>
          </a:p>
          <a:p>
            <a:pPr lvl="1">
              <a:lnSpc>
                <a:spcPct val="90000"/>
              </a:lnSpc>
            </a:pPr>
            <a:r>
              <a:rPr lang="en-GB" altLang="en-US"/>
              <a:t>in pocket ‘yes’ gets pressed</a:t>
            </a:r>
          </a:p>
          <a:p>
            <a:pPr lvl="1">
              <a:lnSpc>
                <a:spcPct val="90000"/>
              </a:lnSpc>
            </a:pPr>
            <a:r>
              <a:rPr lang="en-GB" altLang="en-US"/>
              <a:t>goes to phone book</a:t>
            </a:r>
          </a:p>
          <a:p>
            <a:pPr lvl="1">
              <a:lnSpc>
                <a:spcPct val="90000"/>
              </a:lnSpc>
            </a:pPr>
            <a:r>
              <a:rPr lang="en-GB" altLang="en-US"/>
              <a:t>in phone book …</a:t>
            </a:r>
            <a:br>
              <a:rPr lang="en-GB" altLang="en-US"/>
            </a:br>
            <a:r>
              <a:rPr lang="en-GB" altLang="en-US"/>
              <a:t>  ‘c’ – delete entry</a:t>
            </a:r>
            <a:br>
              <a:rPr lang="en-GB" altLang="en-US"/>
            </a:br>
            <a:r>
              <a:rPr lang="en-GB" altLang="en-US"/>
              <a:t>  ‘yes’ – confirm</a:t>
            </a:r>
            <a:br>
              <a:rPr lang="en-GB" altLang="en-US"/>
            </a:br>
            <a:r>
              <a:rPr lang="en-GB" altLang="en-US"/>
              <a:t>… oops !</a:t>
            </a:r>
          </a:p>
        </p:txBody>
      </p:sp>
      <p:pic>
        <p:nvPicPr>
          <p:cNvPr id="147461" name="Picture 5">
            <a:extLst>
              <a:ext uri="{FF2B5EF4-FFF2-40B4-BE49-F238E27FC236}">
                <a16:creationId xmlns:a16="http://schemas.microsoft.com/office/drawing/2014/main" id="{00AD8942-91FD-E550-6C37-52572D895D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63" y="609600"/>
            <a:ext cx="452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7462" name="Picture 6">
            <a:extLst>
              <a:ext uri="{FF2B5EF4-FFF2-40B4-BE49-F238E27FC236}">
                <a16:creationId xmlns:a16="http://schemas.microsoft.com/office/drawing/2014/main" id="{19EB2963-B549-22D4-6DEC-BADDB3D3E7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4394200"/>
            <a:ext cx="3665538" cy="2139950"/>
          </a:xfrm>
          <a:prstGeom prst="rect">
            <a:avLst/>
          </a:prstGeom>
          <a:noFill/>
          <a:extLst>
            <a:ext uri="{909E8E84-426E-40DD-AFC4-6F175D3DCCD1}">
              <a14:hiddenFill xmlns:a14="http://schemas.microsoft.com/office/drawing/2010/main">
                <a:solidFill>
                  <a:srgbClr val="FFFFFF"/>
                </a:solidFill>
              </a14:hiddenFill>
            </a:ext>
          </a:extLst>
        </p:spPr>
      </p:pic>
      <p:grpSp>
        <p:nvGrpSpPr>
          <p:cNvPr id="147469" name="Group 13">
            <a:extLst>
              <a:ext uri="{FF2B5EF4-FFF2-40B4-BE49-F238E27FC236}">
                <a16:creationId xmlns:a16="http://schemas.microsoft.com/office/drawing/2014/main" id="{4A8884D1-5F8B-EDCA-2DDB-93F6BCC4485B}"/>
              </a:ext>
            </a:extLst>
          </p:cNvPr>
          <p:cNvGrpSpPr>
            <a:grpSpLocks/>
          </p:cNvGrpSpPr>
          <p:nvPr/>
        </p:nvGrpSpPr>
        <p:grpSpPr bwMode="auto">
          <a:xfrm>
            <a:off x="5360988" y="4810125"/>
            <a:ext cx="3074987" cy="1577975"/>
            <a:chOff x="3552" y="3120"/>
            <a:chExt cx="1776" cy="912"/>
          </a:xfrm>
        </p:grpSpPr>
        <p:sp>
          <p:nvSpPr>
            <p:cNvPr id="147463" name="Oval 7">
              <a:extLst>
                <a:ext uri="{FF2B5EF4-FFF2-40B4-BE49-F238E27FC236}">
                  <a16:creationId xmlns:a16="http://schemas.microsoft.com/office/drawing/2014/main" id="{2D6972F0-848E-EFD8-7FD9-684040648668}"/>
                </a:ext>
              </a:extLst>
            </p:cNvPr>
            <p:cNvSpPr>
              <a:spLocks noChangeArrowheads="1"/>
            </p:cNvSpPr>
            <p:nvPr/>
          </p:nvSpPr>
          <p:spPr bwMode="auto">
            <a:xfrm>
              <a:off x="4704" y="3456"/>
              <a:ext cx="624" cy="576"/>
            </a:xfrm>
            <a:prstGeom prst="ellipse">
              <a:avLst/>
            </a:prstGeom>
            <a:noFill/>
            <a:ln w="571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7464" name="Oval 8">
              <a:extLst>
                <a:ext uri="{FF2B5EF4-FFF2-40B4-BE49-F238E27FC236}">
                  <a16:creationId xmlns:a16="http://schemas.microsoft.com/office/drawing/2014/main" id="{AEFF9213-0E0F-C153-D2EE-414E03F9F412}"/>
                </a:ext>
              </a:extLst>
            </p:cNvPr>
            <p:cNvSpPr>
              <a:spLocks noChangeArrowheads="1"/>
            </p:cNvSpPr>
            <p:nvPr/>
          </p:nvSpPr>
          <p:spPr bwMode="auto">
            <a:xfrm>
              <a:off x="3552" y="3120"/>
              <a:ext cx="720" cy="624"/>
            </a:xfrm>
            <a:prstGeom prst="ellipse">
              <a:avLst/>
            </a:prstGeom>
            <a:noFill/>
            <a:ln w="571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7465" name="Arc 9">
              <a:extLst>
                <a:ext uri="{FF2B5EF4-FFF2-40B4-BE49-F238E27FC236}">
                  <a16:creationId xmlns:a16="http://schemas.microsoft.com/office/drawing/2014/main" id="{2C690633-B0F7-0724-6EA0-063612D768E1}"/>
                </a:ext>
              </a:extLst>
            </p:cNvPr>
            <p:cNvSpPr>
              <a:spLocks/>
            </p:cNvSpPr>
            <p:nvPr/>
          </p:nvSpPr>
          <p:spPr bwMode="auto">
            <a:xfrm>
              <a:off x="4560" y="3120"/>
              <a:ext cx="432" cy="768"/>
            </a:xfrm>
            <a:custGeom>
              <a:avLst/>
              <a:gdLst>
                <a:gd name="G0" fmla="+- 0 0 0"/>
                <a:gd name="G1" fmla="+- 21599 0 0"/>
                <a:gd name="G2" fmla="+- 21600 0 0"/>
                <a:gd name="T0" fmla="*/ 196 w 17599"/>
                <a:gd name="T1" fmla="*/ 0 h 21599"/>
                <a:gd name="T2" fmla="*/ 17599 w 17599"/>
                <a:gd name="T3" fmla="*/ 9077 h 21599"/>
                <a:gd name="T4" fmla="*/ 0 w 17599"/>
                <a:gd name="T5" fmla="*/ 21599 h 21599"/>
              </a:gdLst>
              <a:ahLst/>
              <a:cxnLst>
                <a:cxn ang="0">
                  <a:pos x="T0" y="T1"/>
                </a:cxn>
                <a:cxn ang="0">
                  <a:pos x="T2" y="T3"/>
                </a:cxn>
                <a:cxn ang="0">
                  <a:pos x="T4" y="T5"/>
                </a:cxn>
              </a:cxnLst>
              <a:rect l="0" t="0" r="r" b="b"/>
              <a:pathLst>
                <a:path w="17599" h="21599" fill="none" extrusionOk="0">
                  <a:moveTo>
                    <a:pt x="196" y="-1"/>
                  </a:moveTo>
                  <a:cubicBezTo>
                    <a:pt x="7116" y="62"/>
                    <a:pt x="13587" y="3437"/>
                    <a:pt x="17599" y="9076"/>
                  </a:cubicBezTo>
                </a:path>
                <a:path w="17599" h="21599" stroke="0" extrusionOk="0">
                  <a:moveTo>
                    <a:pt x="196" y="-1"/>
                  </a:moveTo>
                  <a:cubicBezTo>
                    <a:pt x="7116" y="62"/>
                    <a:pt x="13587" y="3437"/>
                    <a:pt x="17599" y="9076"/>
                  </a:cubicBezTo>
                  <a:lnTo>
                    <a:pt x="0" y="21599"/>
                  </a:lnTo>
                  <a:close/>
                </a:path>
              </a:pathLst>
            </a:custGeom>
            <a:noFill/>
            <a:ln w="571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7466" name="Arc 10">
              <a:extLst>
                <a:ext uri="{FF2B5EF4-FFF2-40B4-BE49-F238E27FC236}">
                  <a16:creationId xmlns:a16="http://schemas.microsoft.com/office/drawing/2014/main" id="{90392004-9905-4E15-B106-5E529C58DCBE}"/>
                </a:ext>
              </a:extLst>
            </p:cNvPr>
            <p:cNvSpPr>
              <a:spLocks/>
            </p:cNvSpPr>
            <p:nvPr/>
          </p:nvSpPr>
          <p:spPr bwMode="auto">
            <a:xfrm flipH="1">
              <a:off x="4196" y="3120"/>
              <a:ext cx="412" cy="412"/>
            </a:xfrm>
            <a:custGeom>
              <a:avLst/>
              <a:gdLst>
                <a:gd name="G0" fmla="+- 567 0 0"/>
                <a:gd name="G1" fmla="+- 21600 0 0"/>
                <a:gd name="G2" fmla="+- 21600 0 0"/>
                <a:gd name="T0" fmla="*/ 0 w 15946"/>
                <a:gd name="T1" fmla="*/ 8 h 21600"/>
                <a:gd name="T2" fmla="*/ 15946 w 15946"/>
                <a:gd name="T3" fmla="*/ 6434 h 21600"/>
                <a:gd name="T4" fmla="*/ 567 w 15946"/>
                <a:gd name="T5" fmla="*/ 21600 h 21600"/>
              </a:gdLst>
              <a:ahLst/>
              <a:cxnLst>
                <a:cxn ang="0">
                  <a:pos x="T0" y="T1"/>
                </a:cxn>
                <a:cxn ang="0">
                  <a:pos x="T2" y="T3"/>
                </a:cxn>
                <a:cxn ang="0">
                  <a:pos x="T4" y="T5"/>
                </a:cxn>
              </a:cxnLst>
              <a:rect l="0" t="0" r="r" b="b"/>
              <a:pathLst>
                <a:path w="15946" h="21600" fill="none" extrusionOk="0">
                  <a:moveTo>
                    <a:pt x="-1" y="7"/>
                  </a:moveTo>
                  <a:cubicBezTo>
                    <a:pt x="188" y="2"/>
                    <a:pt x="377" y="0"/>
                    <a:pt x="567" y="0"/>
                  </a:cubicBezTo>
                  <a:cubicBezTo>
                    <a:pt x="6347" y="0"/>
                    <a:pt x="11887" y="2317"/>
                    <a:pt x="15946" y="6433"/>
                  </a:cubicBezTo>
                </a:path>
                <a:path w="15946" h="21600" stroke="0" extrusionOk="0">
                  <a:moveTo>
                    <a:pt x="-1" y="7"/>
                  </a:moveTo>
                  <a:cubicBezTo>
                    <a:pt x="188" y="2"/>
                    <a:pt x="377" y="0"/>
                    <a:pt x="567" y="0"/>
                  </a:cubicBezTo>
                  <a:cubicBezTo>
                    <a:pt x="6347" y="0"/>
                    <a:pt x="11887" y="2317"/>
                    <a:pt x="15946" y="6433"/>
                  </a:cubicBezTo>
                  <a:lnTo>
                    <a:pt x="567" y="21600"/>
                  </a:lnTo>
                  <a:close/>
                </a:path>
              </a:pathLst>
            </a:custGeom>
            <a:noFill/>
            <a:ln w="57150">
              <a:solidFill>
                <a:srgbClr val="FF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147471" name="AutoShape 15">
            <a:extLst>
              <a:ext uri="{FF2B5EF4-FFF2-40B4-BE49-F238E27FC236}">
                <a16:creationId xmlns:a16="http://schemas.microsoft.com/office/drawing/2014/main" id="{FB52FACD-6E64-0A94-442C-190F4E1F6A33}"/>
              </a:ext>
            </a:extLst>
          </p:cNvPr>
          <p:cNvSpPr>
            <a:spLocks noChangeArrowheads="1"/>
          </p:cNvSpPr>
          <p:nvPr/>
        </p:nvSpPr>
        <p:spPr bwMode="auto">
          <a:xfrm>
            <a:off x="3048000" y="5867400"/>
            <a:ext cx="609600" cy="609600"/>
          </a:xfrm>
          <a:prstGeom prst="smileyFace">
            <a:avLst>
              <a:gd name="adj" fmla="val -4653"/>
            </a:avLst>
          </a:prstGeom>
          <a:solidFill>
            <a:srgbClr val="FF0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4746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474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A688ABAB-405D-FDAD-C611-E34F586DD5EF}"/>
              </a:ext>
            </a:extLst>
          </p:cNvPr>
          <p:cNvSpPr>
            <a:spLocks noGrp="1" noChangeArrowheads="1"/>
          </p:cNvSpPr>
          <p:nvPr>
            <p:ph type="ctrTitle"/>
          </p:nvPr>
        </p:nvSpPr>
        <p:spPr>
          <a:xfrm>
            <a:off x="609600" y="1524000"/>
            <a:ext cx="7772400" cy="1143000"/>
          </a:xfrm>
        </p:spPr>
        <p:txBody>
          <a:bodyPr anchor="ctr"/>
          <a:lstStyle/>
          <a:p>
            <a:pPr algn="l"/>
            <a:r>
              <a:rPr lang="en-US" altLang="en-US" sz="4800"/>
              <a:t>global</a:t>
            </a:r>
            <a:endParaRPr lang="en-US" altLang="en-US" sz="3600"/>
          </a:p>
        </p:txBody>
      </p:sp>
      <p:sp>
        <p:nvSpPr>
          <p:cNvPr id="133123" name="Rectangle 3">
            <a:extLst>
              <a:ext uri="{FF2B5EF4-FFF2-40B4-BE49-F238E27FC236}">
                <a16:creationId xmlns:a16="http://schemas.microsoft.com/office/drawing/2014/main" id="{9A0C40DA-93D6-F65E-8C7C-E99F898DB734}"/>
              </a:ext>
            </a:extLst>
          </p:cNvPr>
          <p:cNvSpPr>
            <a:spLocks noGrp="1" noChangeArrowheads="1"/>
          </p:cNvSpPr>
          <p:nvPr>
            <p:ph type="subTitle" idx="1"/>
          </p:nvPr>
        </p:nvSpPr>
        <p:spPr>
          <a:xfrm>
            <a:off x="1371600" y="3352800"/>
            <a:ext cx="6400800" cy="1752600"/>
          </a:xfrm>
        </p:spPr>
        <p:txBody>
          <a:bodyPr/>
          <a:lstStyle/>
          <a:p>
            <a:r>
              <a:rPr lang="en-US" altLang="en-US" sz="2800"/>
              <a:t>between screens</a:t>
            </a:r>
          </a:p>
          <a:p>
            <a:r>
              <a:rPr lang="en-US" altLang="en-US" sz="2800"/>
              <a:t>within the application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4252AF69-94A4-75B6-5CE5-D64D60635C34}"/>
              </a:ext>
            </a:extLst>
          </p:cNvPr>
          <p:cNvSpPr>
            <a:spLocks noGrp="1" noChangeArrowheads="1"/>
          </p:cNvSpPr>
          <p:nvPr>
            <p:ph type="title"/>
          </p:nvPr>
        </p:nvSpPr>
        <p:spPr/>
        <p:txBody>
          <a:bodyPr/>
          <a:lstStyle/>
          <a:p>
            <a:r>
              <a:rPr lang="en-US" altLang="en-US"/>
              <a:t>hierarchical diagrams </a:t>
            </a:r>
          </a:p>
        </p:txBody>
      </p:sp>
      <p:sp>
        <p:nvSpPr>
          <p:cNvPr id="135171" name="Rectangle 3">
            <a:extLst>
              <a:ext uri="{FF2B5EF4-FFF2-40B4-BE49-F238E27FC236}">
                <a16:creationId xmlns:a16="http://schemas.microsoft.com/office/drawing/2014/main" id="{AA6887FB-264D-4D3E-40B8-18E10A6ECD13}"/>
              </a:ext>
            </a:extLst>
          </p:cNvPr>
          <p:cNvSpPr>
            <a:spLocks noGrp="1" noChangeArrowheads="1"/>
          </p:cNvSpPr>
          <p:nvPr>
            <p:ph type="body" idx="1"/>
          </p:nvPr>
        </p:nvSpPr>
        <p:spPr/>
        <p:txBody>
          <a:bodyPr/>
          <a:lstStyle/>
          <a:p>
            <a:endParaRPr lang="en-US" altLang="en-US"/>
          </a:p>
        </p:txBody>
      </p:sp>
      <p:grpSp>
        <p:nvGrpSpPr>
          <p:cNvPr id="135172" name="Group 4">
            <a:extLst>
              <a:ext uri="{FF2B5EF4-FFF2-40B4-BE49-F238E27FC236}">
                <a16:creationId xmlns:a16="http://schemas.microsoft.com/office/drawing/2014/main" id="{5AB74BFC-4103-5829-8453-76881D60C342}"/>
              </a:ext>
            </a:extLst>
          </p:cNvPr>
          <p:cNvGrpSpPr>
            <a:grpSpLocks/>
          </p:cNvGrpSpPr>
          <p:nvPr/>
        </p:nvGrpSpPr>
        <p:grpSpPr bwMode="auto">
          <a:xfrm>
            <a:off x="914400" y="1905000"/>
            <a:ext cx="7315200" cy="4343400"/>
            <a:chOff x="576" y="1200"/>
            <a:chExt cx="4608" cy="2736"/>
          </a:xfrm>
        </p:grpSpPr>
        <p:grpSp>
          <p:nvGrpSpPr>
            <p:cNvPr id="135173" name="Group 5">
              <a:extLst>
                <a:ext uri="{FF2B5EF4-FFF2-40B4-BE49-F238E27FC236}">
                  <a16:creationId xmlns:a16="http://schemas.microsoft.com/office/drawing/2014/main" id="{7B4857B2-D3B9-1414-CC63-6C8E2F987113}"/>
                </a:ext>
              </a:extLst>
            </p:cNvPr>
            <p:cNvGrpSpPr>
              <a:grpSpLocks/>
            </p:cNvGrpSpPr>
            <p:nvPr/>
          </p:nvGrpSpPr>
          <p:grpSpPr bwMode="auto">
            <a:xfrm>
              <a:off x="576" y="1200"/>
              <a:ext cx="4608" cy="2736"/>
              <a:chOff x="576" y="1200"/>
              <a:chExt cx="4608" cy="2736"/>
            </a:xfrm>
          </p:grpSpPr>
          <p:grpSp>
            <p:nvGrpSpPr>
              <p:cNvPr id="135174" name="Group 6">
                <a:extLst>
                  <a:ext uri="{FF2B5EF4-FFF2-40B4-BE49-F238E27FC236}">
                    <a16:creationId xmlns:a16="http://schemas.microsoft.com/office/drawing/2014/main" id="{D95373BE-E8E0-7D99-4C15-EBBFB1C092C9}"/>
                  </a:ext>
                </a:extLst>
              </p:cNvPr>
              <p:cNvGrpSpPr>
                <a:grpSpLocks/>
              </p:cNvGrpSpPr>
              <p:nvPr/>
            </p:nvGrpSpPr>
            <p:grpSpPr bwMode="auto">
              <a:xfrm>
                <a:off x="576" y="1200"/>
                <a:ext cx="4608" cy="2736"/>
                <a:chOff x="576" y="1200"/>
                <a:chExt cx="4608" cy="2736"/>
              </a:xfrm>
            </p:grpSpPr>
            <p:sp>
              <p:nvSpPr>
                <p:cNvPr id="135175" name="AutoShape 7">
                  <a:extLst>
                    <a:ext uri="{FF2B5EF4-FFF2-40B4-BE49-F238E27FC236}">
                      <a16:creationId xmlns:a16="http://schemas.microsoft.com/office/drawing/2014/main" id="{DE45CE27-7376-B972-C0C3-5426AF1317EA}"/>
                    </a:ext>
                  </a:extLst>
                </p:cNvPr>
                <p:cNvSpPr>
                  <a:spLocks noChangeArrowheads="1"/>
                </p:cNvSpPr>
                <p:nvPr/>
              </p:nvSpPr>
              <p:spPr bwMode="auto">
                <a:xfrm>
                  <a:off x="2208" y="1200"/>
                  <a:ext cx="1152" cy="62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Times New Roman" panose="02020603050405020304" pitchFamily="18" charset="0"/>
                    </a:rPr>
                    <a:t>the system</a:t>
                  </a:r>
                </a:p>
              </p:txBody>
            </p:sp>
            <p:sp>
              <p:nvSpPr>
                <p:cNvPr id="135176" name="AutoShape 8">
                  <a:extLst>
                    <a:ext uri="{FF2B5EF4-FFF2-40B4-BE49-F238E27FC236}">
                      <a16:creationId xmlns:a16="http://schemas.microsoft.com/office/drawing/2014/main" id="{4344D5AF-E163-041D-1742-A55A9CEBABD1}"/>
                    </a:ext>
                  </a:extLst>
                </p:cNvPr>
                <p:cNvSpPr>
                  <a:spLocks noChangeArrowheads="1"/>
                </p:cNvSpPr>
                <p:nvPr/>
              </p:nvSpPr>
              <p:spPr bwMode="auto">
                <a:xfrm>
                  <a:off x="576" y="2208"/>
                  <a:ext cx="1152" cy="62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Times New Roman" panose="02020603050405020304" pitchFamily="18" charset="0"/>
                    </a:rPr>
                    <a:t>info and help</a:t>
                  </a:r>
                </a:p>
              </p:txBody>
            </p:sp>
            <p:sp>
              <p:nvSpPr>
                <p:cNvPr id="135177" name="AutoShape 9">
                  <a:extLst>
                    <a:ext uri="{FF2B5EF4-FFF2-40B4-BE49-F238E27FC236}">
                      <a16:creationId xmlns:a16="http://schemas.microsoft.com/office/drawing/2014/main" id="{C332F011-FCDE-5EEB-1C6E-A8BF89CFB57A}"/>
                    </a:ext>
                  </a:extLst>
                </p:cNvPr>
                <p:cNvSpPr>
                  <a:spLocks noChangeArrowheads="1"/>
                </p:cNvSpPr>
                <p:nvPr/>
              </p:nvSpPr>
              <p:spPr bwMode="auto">
                <a:xfrm>
                  <a:off x="2208" y="2208"/>
                  <a:ext cx="1152" cy="62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Times New Roman" panose="02020603050405020304" pitchFamily="18" charset="0"/>
                    </a:rPr>
                    <a:t>management</a:t>
                  </a:r>
                </a:p>
              </p:txBody>
            </p:sp>
            <p:sp>
              <p:nvSpPr>
                <p:cNvPr id="135178" name="AutoShape 10">
                  <a:extLst>
                    <a:ext uri="{FF2B5EF4-FFF2-40B4-BE49-F238E27FC236}">
                      <a16:creationId xmlns:a16="http://schemas.microsoft.com/office/drawing/2014/main" id="{A5E07140-F2CB-E1FB-5B1A-AFD1F4CEC8EB}"/>
                    </a:ext>
                  </a:extLst>
                </p:cNvPr>
                <p:cNvSpPr>
                  <a:spLocks noChangeArrowheads="1"/>
                </p:cNvSpPr>
                <p:nvPr/>
              </p:nvSpPr>
              <p:spPr bwMode="auto">
                <a:xfrm>
                  <a:off x="4032" y="2208"/>
                  <a:ext cx="1152" cy="62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Times New Roman" panose="02020603050405020304" pitchFamily="18" charset="0"/>
                    </a:rPr>
                    <a:t>messages</a:t>
                  </a:r>
                </a:p>
              </p:txBody>
            </p:sp>
            <p:sp>
              <p:nvSpPr>
                <p:cNvPr id="135179" name="AutoShape 11">
                  <a:extLst>
                    <a:ext uri="{FF2B5EF4-FFF2-40B4-BE49-F238E27FC236}">
                      <a16:creationId xmlns:a16="http://schemas.microsoft.com/office/drawing/2014/main" id="{BE82DE5D-7795-BE19-E443-7E5819FB00D8}"/>
                    </a:ext>
                  </a:extLst>
                </p:cNvPr>
                <p:cNvSpPr>
                  <a:spLocks noChangeArrowheads="1"/>
                </p:cNvSpPr>
                <p:nvPr/>
              </p:nvSpPr>
              <p:spPr bwMode="auto">
                <a:xfrm>
                  <a:off x="1584" y="3312"/>
                  <a:ext cx="1152" cy="62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Times New Roman" panose="02020603050405020304" pitchFamily="18" charset="0"/>
                    </a:rPr>
                    <a:t>add user</a:t>
                  </a:r>
                </a:p>
              </p:txBody>
            </p:sp>
            <p:sp>
              <p:nvSpPr>
                <p:cNvPr id="135180" name="AutoShape 12">
                  <a:extLst>
                    <a:ext uri="{FF2B5EF4-FFF2-40B4-BE49-F238E27FC236}">
                      <a16:creationId xmlns:a16="http://schemas.microsoft.com/office/drawing/2014/main" id="{F32265C2-B399-7502-8605-CF89413BA908}"/>
                    </a:ext>
                  </a:extLst>
                </p:cNvPr>
                <p:cNvSpPr>
                  <a:spLocks noChangeArrowheads="1"/>
                </p:cNvSpPr>
                <p:nvPr/>
              </p:nvSpPr>
              <p:spPr bwMode="auto">
                <a:xfrm>
                  <a:off x="2928" y="3312"/>
                  <a:ext cx="1152" cy="62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Times New Roman" panose="02020603050405020304" pitchFamily="18" charset="0"/>
                    </a:rPr>
                    <a:t>remove user</a:t>
                  </a:r>
                </a:p>
              </p:txBody>
            </p:sp>
          </p:grpSp>
          <p:cxnSp>
            <p:nvCxnSpPr>
              <p:cNvPr id="135181" name="AutoShape 13">
                <a:extLst>
                  <a:ext uri="{FF2B5EF4-FFF2-40B4-BE49-F238E27FC236}">
                    <a16:creationId xmlns:a16="http://schemas.microsoft.com/office/drawing/2014/main" id="{2AFCA3D0-CDBE-BD8A-0A28-0B4D128C470E}"/>
                  </a:ext>
                </a:extLst>
              </p:cNvPr>
              <p:cNvCxnSpPr>
                <a:cxnSpLocks noChangeShapeType="1"/>
                <a:stCxn id="135175" idx="2"/>
                <a:endCxn id="135176" idx="0"/>
              </p:cNvCxnSpPr>
              <p:nvPr/>
            </p:nvCxnSpPr>
            <p:spPr bwMode="auto">
              <a:xfrm rot="5400000">
                <a:off x="1776" y="1200"/>
                <a:ext cx="384" cy="1632"/>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182" name="AutoShape 14">
                <a:extLst>
                  <a:ext uri="{FF2B5EF4-FFF2-40B4-BE49-F238E27FC236}">
                    <a16:creationId xmlns:a16="http://schemas.microsoft.com/office/drawing/2014/main" id="{0A299307-C5A4-691B-A969-ED59D9CCAD69}"/>
                  </a:ext>
                </a:extLst>
              </p:cNvPr>
              <p:cNvCxnSpPr>
                <a:cxnSpLocks noChangeShapeType="1"/>
                <a:stCxn id="135175" idx="2"/>
                <a:endCxn id="135178" idx="0"/>
              </p:cNvCxnSpPr>
              <p:nvPr/>
            </p:nvCxnSpPr>
            <p:spPr bwMode="auto">
              <a:xfrm rot="16200000" flipH="1">
                <a:off x="3504" y="1104"/>
                <a:ext cx="384" cy="1824"/>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183" name="AutoShape 15">
                <a:extLst>
                  <a:ext uri="{FF2B5EF4-FFF2-40B4-BE49-F238E27FC236}">
                    <a16:creationId xmlns:a16="http://schemas.microsoft.com/office/drawing/2014/main" id="{288349C8-C162-87B2-9EA3-198D664F7BFA}"/>
                  </a:ext>
                </a:extLst>
              </p:cNvPr>
              <p:cNvCxnSpPr>
                <a:cxnSpLocks noChangeShapeType="1"/>
                <a:stCxn id="135175" idx="2"/>
                <a:endCxn id="135177" idx="0"/>
              </p:cNvCxnSpPr>
              <p:nvPr/>
            </p:nvCxnSpPr>
            <p:spPr bwMode="auto">
              <a:xfrm rot="5400000">
                <a:off x="2592" y="2016"/>
                <a:ext cx="384"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35184" name="AutoShape 16">
              <a:extLst>
                <a:ext uri="{FF2B5EF4-FFF2-40B4-BE49-F238E27FC236}">
                  <a16:creationId xmlns:a16="http://schemas.microsoft.com/office/drawing/2014/main" id="{FA0A370A-5188-E682-4AAC-CA80F180CD0D}"/>
                </a:ext>
              </a:extLst>
            </p:cNvPr>
            <p:cNvCxnSpPr>
              <a:cxnSpLocks noChangeShapeType="1"/>
              <a:stCxn id="135177" idx="2"/>
              <a:endCxn id="135179" idx="0"/>
            </p:cNvCxnSpPr>
            <p:nvPr/>
          </p:nvCxnSpPr>
          <p:spPr bwMode="auto">
            <a:xfrm rot="5400000">
              <a:off x="2232" y="2760"/>
              <a:ext cx="480" cy="624"/>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185" name="AutoShape 17">
              <a:extLst>
                <a:ext uri="{FF2B5EF4-FFF2-40B4-BE49-F238E27FC236}">
                  <a16:creationId xmlns:a16="http://schemas.microsoft.com/office/drawing/2014/main" id="{DDFB6570-C3F2-CFED-3DEC-0A4C22521626}"/>
                </a:ext>
              </a:extLst>
            </p:cNvPr>
            <p:cNvCxnSpPr>
              <a:cxnSpLocks noChangeShapeType="1"/>
              <a:stCxn id="135177" idx="2"/>
              <a:endCxn id="135180" idx="0"/>
            </p:cNvCxnSpPr>
            <p:nvPr/>
          </p:nvCxnSpPr>
          <p:spPr bwMode="auto">
            <a:xfrm rot="16200000" flipH="1">
              <a:off x="2904" y="2712"/>
              <a:ext cx="480" cy="720"/>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AF5AEA24-322E-B7CD-BBBB-9B377CBA57DE}"/>
              </a:ext>
            </a:extLst>
          </p:cNvPr>
          <p:cNvSpPr>
            <a:spLocks noGrp="1" noChangeArrowheads="1"/>
          </p:cNvSpPr>
          <p:nvPr>
            <p:ph type="title"/>
          </p:nvPr>
        </p:nvSpPr>
        <p:spPr/>
        <p:txBody>
          <a:bodyPr/>
          <a:lstStyle/>
          <a:p>
            <a:r>
              <a:rPr lang="en-US" altLang="en-US"/>
              <a:t>hierarchical diagrams ctd.</a:t>
            </a:r>
          </a:p>
        </p:txBody>
      </p:sp>
      <p:sp>
        <p:nvSpPr>
          <p:cNvPr id="136195" name="Rectangle 3">
            <a:extLst>
              <a:ext uri="{FF2B5EF4-FFF2-40B4-BE49-F238E27FC236}">
                <a16:creationId xmlns:a16="http://schemas.microsoft.com/office/drawing/2014/main" id="{699EFD7B-65A3-C6FD-AB02-BDED0414BDAB}"/>
              </a:ext>
            </a:extLst>
          </p:cNvPr>
          <p:cNvSpPr>
            <a:spLocks noGrp="1" noChangeArrowheads="1"/>
          </p:cNvSpPr>
          <p:nvPr>
            <p:ph type="body" idx="1"/>
          </p:nvPr>
        </p:nvSpPr>
        <p:spPr/>
        <p:txBody>
          <a:bodyPr/>
          <a:lstStyle/>
          <a:p>
            <a:r>
              <a:rPr lang="en-US" altLang="en-US"/>
              <a:t>parts of application</a:t>
            </a:r>
          </a:p>
          <a:p>
            <a:pPr lvl="1"/>
            <a:r>
              <a:rPr lang="en-US" altLang="en-US"/>
              <a:t>screens or groups of screens</a:t>
            </a:r>
          </a:p>
          <a:p>
            <a:pPr lvl="1"/>
            <a:endParaRPr lang="en-US" altLang="en-US"/>
          </a:p>
          <a:p>
            <a:r>
              <a:rPr lang="en-US" altLang="en-US"/>
              <a:t>typically functional separation</a:t>
            </a:r>
          </a:p>
        </p:txBody>
      </p:sp>
      <p:grpSp>
        <p:nvGrpSpPr>
          <p:cNvPr id="136196" name="Group 4">
            <a:extLst>
              <a:ext uri="{FF2B5EF4-FFF2-40B4-BE49-F238E27FC236}">
                <a16:creationId xmlns:a16="http://schemas.microsoft.com/office/drawing/2014/main" id="{D1484A5D-D7B3-F823-D422-0D085747CAE9}"/>
              </a:ext>
            </a:extLst>
          </p:cNvPr>
          <p:cNvGrpSpPr>
            <a:grpSpLocks/>
          </p:cNvGrpSpPr>
          <p:nvPr/>
        </p:nvGrpSpPr>
        <p:grpSpPr bwMode="auto">
          <a:xfrm>
            <a:off x="5715000" y="3886200"/>
            <a:ext cx="2971800" cy="2057400"/>
            <a:chOff x="576" y="1200"/>
            <a:chExt cx="4608" cy="2736"/>
          </a:xfrm>
        </p:grpSpPr>
        <p:grpSp>
          <p:nvGrpSpPr>
            <p:cNvPr id="136197" name="Group 5">
              <a:extLst>
                <a:ext uri="{FF2B5EF4-FFF2-40B4-BE49-F238E27FC236}">
                  <a16:creationId xmlns:a16="http://schemas.microsoft.com/office/drawing/2014/main" id="{9D609308-AB20-A9A0-8912-F30EE86FAA86}"/>
                </a:ext>
              </a:extLst>
            </p:cNvPr>
            <p:cNvGrpSpPr>
              <a:grpSpLocks/>
            </p:cNvGrpSpPr>
            <p:nvPr/>
          </p:nvGrpSpPr>
          <p:grpSpPr bwMode="auto">
            <a:xfrm>
              <a:off x="576" y="1200"/>
              <a:ext cx="4608" cy="2736"/>
              <a:chOff x="576" y="1200"/>
              <a:chExt cx="4608" cy="2736"/>
            </a:xfrm>
          </p:grpSpPr>
          <p:grpSp>
            <p:nvGrpSpPr>
              <p:cNvPr id="136198" name="Group 6">
                <a:extLst>
                  <a:ext uri="{FF2B5EF4-FFF2-40B4-BE49-F238E27FC236}">
                    <a16:creationId xmlns:a16="http://schemas.microsoft.com/office/drawing/2014/main" id="{7878C650-647C-A516-AE53-2FFB03ECCAB1}"/>
                  </a:ext>
                </a:extLst>
              </p:cNvPr>
              <p:cNvGrpSpPr>
                <a:grpSpLocks/>
              </p:cNvGrpSpPr>
              <p:nvPr/>
            </p:nvGrpSpPr>
            <p:grpSpPr bwMode="auto">
              <a:xfrm>
                <a:off x="576" y="1200"/>
                <a:ext cx="4608" cy="2736"/>
                <a:chOff x="576" y="1200"/>
                <a:chExt cx="4608" cy="2736"/>
              </a:xfrm>
            </p:grpSpPr>
            <p:sp>
              <p:nvSpPr>
                <p:cNvPr id="136199" name="AutoShape 7">
                  <a:extLst>
                    <a:ext uri="{FF2B5EF4-FFF2-40B4-BE49-F238E27FC236}">
                      <a16:creationId xmlns:a16="http://schemas.microsoft.com/office/drawing/2014/main" id="{FAF5D3EA-E823-BC77-C562-AC4F53B11BB1}"/>
                    </a:ext>
                  </a:extLst>
                </p:cNvPr>
                <p:cNvSpPr>
                  <a:spLocks noChangeArrowheads="1"/>
                </p:cNvSpPr>
                <p:nvPr/>
              </p:nvSpPr>
              <p:spPr bwMode="auto">
                <a:xfrm>
                  <a:off x="2208" y="1200"/>
                  <a:ext cx="1152" cy="62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800">
                      <a:latin typeface="Times New Roman" panose="02020603050405020304" pitchFamily="18" charset="0"/>
                    </a:rPr>
                    <a:t>the systems</a:t>
                  </a:r>
                </a:p>
              </p:txBody>
            </p:sp>
            <p:sp>
              <p:nvSpPr>
                <p:cNvPr id="136200" name="AutoShape 8">
                  <a:extLst>
                    <a:ext uri="{FF2B5EF4-FFF2-40B4-BE49-F238E27FC236}">
                      <a16:creationId xmlns:a16="http://schemas.microsoft.com/office/drawing/2014/main" id="{690A50F4-4D6E-E9B0-C569-8B4A8C58B1E8}"/>
                    </a:ext>
                  </a:extLst>
                </p:cNvPr>
                <p:cNvSpPr>
                  <a:spLocks noChangeArrowheads="1"/>
                </p:cNvSpPr>
                <p:nvPr/>
              </p:nvSpPr>
              <p:spPr bwMode="auto">
                <a:xfrm>
                  <a:off x="576" y="2208"/>
                  <a:ext cx="1152" cy="62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800">
                      <a:latin typeface="Times New Roman" panose="02020603050405020304" pitchFamily="18" charset="0"/>
                    </a:rPr>
                    <a:t>info and help</a:t>
                  </a:r>
                </a:p>
              </p:txBody>
            </p:sp>
            <p:sp>
              <p:nvSpPr>
                <p:cNvPr id="136201" name="AutoShape 9">
                  <a:extLst>
                    <a:ext uri="{FF2B5EF4-FFF2-40B4-BE49-F238E27FC236}">
                      <a16:creationId xmlns:a16="http://schemas.microsoft.com/office/drawing/2014/main" id="{6FDFE1F0-916C-0117-C7EC-C27B6A17E232}"/>
                    </a:ext>
                  </a:extLst>
                </p:cNvPr>
                <p:cNvSpPr>
                  <a:spLocks noChangeArrowheads="1"/>
                </p:cNvSpPr>
                <p:nvPr/>
              </p:nvSpPr>
              <p:spPr bwMode="auto">
                <a:xfrm>
                  <a:off x="2208" y="2208"/>
                  <a:ext cx="1152" cy="62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800">
                      <a:latin typeface="Times New Roman" panose="02020603050405020304" pitchFamily="18" charset="0"/>
                    </a:rPr>
                    <a:t>management</a:t>
                  </a:r>
                </a:p>
              </p:txBody>
            </p:sp>
            <p:sp>
              <p:nvSpPr>
                <p:cNvPr id="136202" name="AutoShape 10">
                  <a:extLst>
                    <a:ext uri="{FF2B5EF4-FFF2-40B4-BE49-F238E27FC236}">
                      <a16:creationId xmlns:a16="http://schemas.microsoft.com/office/drawing/2014/main" id="{495983D6-D96E-DBFC-5CB7-3C8317C80BA8}"/>
                    </a:ext>
                  </a:extLst>
                </p:cNvPr>
                <p:cNvSpPr>
                  <a:spLocks noChangeArrowheads="1"/>
                </p:cNvSpPr>
                <p:nvPr/>
              </p:nvSpPr>
              <p:spPr bwMode="auto">
                <a:xfrm>
                  <a:off x="4032" y="2208"/>
                  <a:ext cx="1152" cy="62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800">
                      <a:latin typeface="Times New Roman" panose="02020603050405020304" pitchFamily="18" charset="0"/>
                    </a:rPr>
                    <a:t>messages</a:t>
                  </a:r>
                </a:p>
              </p:txBody>
            </p:sp>
            <p:sp>
              <p:nvSpPr>
                <p:cNvPr id="136203" name="AutoShape 11">
                  <a:extLst>
                    <a:ext uri="{FF2B5EF4-FFF2-40B4-BE49-F238E27FC236}">
                      <a16:creationId xmlns:a16="http://schemas.microsoft.com/office/drawing/2014/main" id="{AC772395-E016-117A-6446-BEF06B8ECC26}"/>
                    </a:ext>
                  </a:extLst>
                </p:cNvPr>
                <p:cNvSpPr>
                  <a:spLocks noChangeArrowheads="1"/>
                </p:cNvSpPr>
                <p:nvPr/>
              </p:nvSpPr>
              <p:spPr bwMode="auto">
                <a:xfrm>
                  <a:off x="1584" y="3312"/>
                  <a:ext cx="1152" cy="62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800">
                      <a:latin typeface="Times New Roman" panose="02020603050405020304" pitchFamily="18" charset="0"/>
                    </a:rPr>
                    <a:t>add user</a:t>
                  </a:r>
                </a:p>
              </p:txBody>
            </p:sp>
            <p:sp>
              <p:nvSpPr>
                <p:cNvPr id="136204" name="AutoShape 12">
                  <a:extLst>
                    <a:ext uri="{FF2B5EF4-FFF2-40B4-BE49-F238E27FC236}">
                      <a16:creationId xmlns:a16="http://schemas.microsoft.com/office/drawing/2014/main" id="{D97CF08B-CD5C-9312-33A9-6571B56D1CCF}"/>
                    </a:ext>
                  </a:extLst>
                </p:cNvPr>
                <p:cNvSpPr>
                  <a:spLocks noChangeArrowheads="1"/>
                </p:cNvSpPr>
                <p:nvPr/>
              </p:nvSpPr>
              <p:spPr bwMode="auto">
                <a:xfrm>
                  <a:off x="2928" y="3312"/>
                  <a:ext cx="1152" cy="62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800">
                      <a:latin typeface="Times New Roman" panose="02020603050405020304" pitchFamily="18" charset="0"/>
                    </a:rPr>
                    <a:t>remove user</a:t>
                  </a:r>
                </a:p>
              </p:txBody>
            </p:sp>
          </p:grpSp>
          <p:cxnSp>
            <p:nvCxnSpPr>
              <p:cNvPr id="136205" name="AutoShape 13">
                <a:extLst>
                  <a:ext uri="{FF2B5EF4-FFF2-40B4-BE49-F238E27FC236}">
                    <a16:creationId xmlns:a16="http://schemas.microsoft.com/office/drawing/2014/main" id="{9701906D-8378-4C88-1709-7EE5BB0BFF2C}"/>
                  </a:ext>
                </a:extLst>
              </p:cNvPr>
              <p:cNvCxnSpPr>
                <a:cxnSpLocks noChangeShapeType="1"/>
                <a:stCxn id="136199" idx="2"/>
                <a:endCxn id="136200" idx="0"/>
              </p:cNvCxnSpPr>
              <p:nvPr/>
            </p:nvCxnSpPr>
            <p:spPr bwMode="auto">
              <a:xfrm rot="5400000">
                <a:off x="1776" y="1200"/>
                <a:ext cx="384" cy="1632"/>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206" name="AutoShape 14">
                <a:extLst>
                  <a:ext uri="{FF2B5EF4-FFF2-40B4-BE49-F238E27FC236}">
                    <a16:creationId xmlns:a16="http://schemas.microsoft.com/office/drawing/2014/main" id="{9E415265-3619-4933-C19D-609B1C8E3E4D}"/>
                  </a:ext>
                </a:extLst>
              </p:cNvPr>
              <p:cNvCxnSpPr>
                <a:cxnSpLocks noChangeShapeType="1"/>
                <a:stCxn id="136199" idx="2"/>
                <a:endCxn id="136202" idx="0"/>
              </p:cNvCxnSpPr>
              <p:nvPr/>
            </p:nvCxnSpPr>
            <p:spPr bwMode="auto">
              <a:xfrm rot="16200000" flipH="1">
                <a:off x="3504" y="1104"/>
                <a:ext cx="384" cy="1824"/>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207" name="AutoShape 15">
                <a:extLst>
                  <a:ext uri="{FF2B5EF4-FFF2-40B4-BE49-F238E27FC236}">
                    <a16:creationId xmlns:a16="http://schemas.microsoft.com/office/drawing/2014/main" id="{85DD552E-42AD-AF37-AA87-E632CB68C113}"/>
                  </a:ext>
                </a:extLst>
              </p:cNvPr>
              <p:cNvCxnSpPr>
                <a:cxnSpLocks noChangeShapeType="1"/>
                <a:stCxn id="136199" idx="2"/>
                <a:endCxn id="136201" idx="0"/>
              </p:cNvCxnSpPr>
              <p:nvPr/>
            </p:nvCxnSpPr>
            <p:spPr bwMode="auto">
              <a:xfrm rot="5400000">
                <a:off x="2592" y="2016"/>
                <a:ext cx="384"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36208" name="AutoShape 16">
              <a:extLst>
                <a:ext uri="{FF2B5EF4-FFF2-40B4-BE49-F238E27FC236}">
                  <a16:creationId xmlns:a16="http://schemas.microsoft.com/office/drawing/2014/main" id="{0D68A883-E22B-AFB0-732C-A5DBB7571E78}"/>
                </a:ext>
              </a:extLst>
            </p:cNvPr>
            <p:cNvCxnSpPr>
              <a:cxnSpLocks noChangeShapeType="1"/>
              <a:stCxn id="136201" idx="2"/>
              <a:endCxn id="136203" idx="0"/>
            </p:cNvCxnSpPr>
            <p:nvPr/>
          </p:nvCxnSpPr>
          <p:spPr bwMode="auto">
            <a:xfrm rot="5400000">
              <a:off x="2232" y="2760"/>
              <a:ext cx="480" cy="624"/>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209" name="AutoShape 17">
              <a:extLst>
                <a:ext uri="{FF2B5EF4-FFF2-40B4-BE49-F238E27FC236}">
                  <a16:creationId xmlns:a16="http://schemas.microsoft.com/office/drawing/2014/main" id="{5FFEA9C3-DDF2-54BC-4AE7-D2484949D672}"/>
                </a:ext>
              </a:extLst>
            </p:cNvPr>
            <p:cNvCxnSpPr>
              <a:cxnSpLocks noChangeShapeType="1"/>
              <a:stCxn id="136201" idx="2"/>
              <a:endCxn id="136204" idx="0"/>
            </p:cNvCxnSpPr>
            <p:nvPr/>
          </p:nvCxnSpPr>
          <p:spPr bwMode="auto">
            <a:xfrm rot="16200000" flipH="1">
              <a:off x="2904" y="2712"/>
              <a:ext cx="480" cy="720"/>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C2C05EF8-F69B-605B-DD0D-69436C03A6A1}"/>
              </a:ext>
            </a:extLst>
          </p:cNvPr>
          <p:cNvSpPr>
            <a:spLocks noGrp="1" noChangeArrowheads="1"/>
          </p:cNvSpPr>
          <p:nvPr>
            <p:ph type="title"/>
          </p:nvPr>
        </p:nvSpPr>
        <p:spPr/>
        <p:txBody>
          <a:bodyPr/>
          <a:lstStyle/>
          <a:p>
            <a:r>
              <a:rPr lang="en-GB" altLang="en-US"/>
              <a:t>navigating hierarchies</a:t>
            </a:r>
          </a:p>
        </p:txBody>
      </p:sp>
      <p:sp>
        <p:nvSpPr>
          <p:cNvPr id="148483" name="Rectangle 3">
            <a:extLst>
              <a:ext uri="{FF2B5EF4-FFF2-40B4-BE49-F238E27FC236}">
                <a16:creationId xmlns:a16="http://schemas.microsoft.com/office/drawing/2014/main" id="{FF29E788-7DC8-5271-2A3D-C10159592244}"/>
              </a:ext>
            </a:extLst>
          </p:cNvPr>
          <p:cNvSpPr>
            <a:spLocks noGrp="1" noChangeArrowheads="1"/>
          </p:cNvSpPr>
          <p:nvPr>
            <p:ph type="body" idx="1"/>
          </p:nvPr>
        </p:nvSpPr>
        <p:spPr/>
        <p:txBody>
          <a:bodyPr/>
          <a:lstStyle/>
          <a:p>
            <a:r>
              <a:rPr lang="en-GB" altLang="en-US"/>
              <a:t>deep is difficult!</a:t>
            </a:r>
          </a:p>
          <a:p>
            <a:endParaRPr lang="en-GB" altLang="en-US"/>
          </a:p>
          <a:p>
            <a:r>
              <a:rPr lang="en-GB" altLang="en-US"/>
              <a:t>misuse of Miller’s 7 ± 2</a:t>
            </a:r>
          </a:p>
          <a:p>
            <a:pPr lvl="1"/>
            <a:r>
              <a:rPr lang="en-GB" altLang="en-US"/>
              <a:t>short term memory, not menu size</a:t>
            </a:r>
          </a:p>
          <a:p>
            <a:pPr lvl="1"/>
            <a:endParaRPr lang="en-GB" altLang="en-US"/>
          </a:p>
          <a:p>
            <a:r>
              <a:rPr lang="en-GB" altLang="en-US"/>
              <a:t>optimal?</a:t>
            </a:r>
          </a:p>
          <a:p>
            <a:pPr lvl="1"/>
            <a:r>
              <a:rPr lang="en-GB" altLang="en-US"/>
              <a:t>many items on each screen</a:t>
            </a:r>
          </a:p>
          <a:p>
            <a:pPr lvl="1"/>
            <a:r>
              <a:rPr lang="en-GB" altLang="en-US"/>
              <a:t>but structured within screen</a:t>
            </a:r>
          </a:p>
        </p:txBody>
      </p:sp>
      <p:sp>
        <p:nvSpPr>
          <p:cNvPr id="148484" name="Text Box 4">
            <a:extLst>
              <a:ext uri="{FF2B5EF4-FFF2-40B4-BE49-F238E27FC236}">
                <a16:creationId xmlns:a16="http://schemas.microsoft.com/office/drawing/2014/main" id="{C79B2FDC-2900-878C-5E95-60CB1E148E91}"/>
              </a:ext>
            </a:extLst>
          </p:cNvPr>
          <p:cNvSpPr txBox="1">
            <a:spLocks noChangeArrowheads="1"/>
          </p:cNvSpPr>
          <p:nvPr/>
        </p:nvSpPr>
        <p:spPr bwMode="auto">
          <a:xfrm>
            <a:off x="5791200" y="6324600"/>
            <a:ext cx="2911475" cy="309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1400">
                <a:latin typeface="Verdana" panose="020B0604030504040204" pitchFamily="34" charset="0"/>
              </a:rPr>
              <a:t>see /e3/online/menu-breadth/</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a:extLst>
              <a:ext uri="{FF2B5EF4-FFF2-40B4-BE49-F238E27FC236}">
                <a16:creationId xmlns:a16="http://schemas.microsoft.com/office/drawing/2014/main" id="{652A6C72-C306-0FE3-0FA7-6EC0E2789C6E}"/>
              </a:ext>
            </a:extLst>
          </p:cNvPr>
          <p:cNvSpPr>
            <a:spLocks noGrp="1" noChangeArrowheads="1"/>
          </p:cNvSpPr>
          <p:nvPr>
            <p:ph type="title"/>
          </p:nvPr>
        </p:nvSpPr>
        <p:spPr/>
        <p:txBody>
          <a:bodyPr/>
          <a:lstStyle/>
          <a:p>
            <a:r>
              <a:rPr lang="en-US" altLang="en-US"/>
              <a:t>think about dialogue</a:t>
            </a:r>
          </a:p>
        </p:txBody>
      </p:sp>
      <p:sp>
        <p:nvSpPr>
          <p:cNvPr id="137219" name="Rectangle 3">
            <a:extLst>
              <a:ext uri="{FF2B5EF4-FFF2-40B4-BE49-F238E27FC236}">
                <a16:creationId xmlns:a16="http://schemas.microsoft.com/office/drawing/2014/main" id="{4C22009B-ED59-85D1-53DE-2D2C4F06E5F2}"/>
              </a:ext>
            </a:extLst>
          </p:cNvPr>
          <p:cNvSpPr>
            <a:spLocks noGrp="1" noChangeArrowheads="1"/>
          </p:cNvSpPr>
          <p:nvPr>
            <p:ph type="body" idx="1"/>
          </p:nvPr>
        </p:nvSpPr>
        <p:spPr/>
        <p:txBody>
          <a:bodyPr/>
          <a:lstStyle/>
          <a:p>
            <a:pPr algn="ctr">
              <a:buFontTx/>
              <a:buNone/>
            </a:pPr>
            <a:r>
              <a:rPr lang="en-US" altLang="en-US"/>
              <a:t>what does it mean in UI design?</a:t>
            </a:r>
          </a:p>
        </p:txBody>
      </p:sp>
      <p:sp>
        <p:nvSpPr>
          <p:cNvPr id="137220" name="Rectangle 4">
            <a:extLst>
              <a:ext uri="{FF2B5EF4-FFF2-40B4-BE49-F238E27FC236}">
                <a16:creationId xmlns:a16="http://schemas.microsoft.com/office/drawing/2014/main" id="{62E107E8-BC32-560E-C254-A657BBFD719A}"/>
              </a:ext>
            </a:extLst>
          </p:cNvPr>
          <p:cNvSpPr>
            <a:spLocks noChangeArrowheads="1"/>
          </p:cNvSpPr>
          <p:nvPr/>
        </p:nvSpPr>
        <p:spPr bwMode="auto">
          <a:xfrm>
            <a:off x="990600" y="3200400"/>
            <a:ext cx="7315200" cy="2438400"/>
          </a:xfrm>
          <a:prstGeom prst="rect">
            <a:avLst/>
          </a:prstGeom>
          <a:noFill/>
          <a:ln w="762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a:solidFill>
                  <a:schemeClr val="tx1"/>
                </a:solidFill>
                <a:latin typeface="Verdana" panose="020B0604030504040204" pitchFamily="34" charset="0"/>
              </a:defRPr>
            </a:lvl4pPr>
            <a:lvl5pPr marL="2057400" indent="-228600">
              <a:spcBef>
                <a:spcPct val="20000"/>
              </a:spcBef>
              <a:buChar char="»"/>
              <a:defRPr>
                <a:solidFill>
                  <a:schemeClr val="tx1"/>
                </a:solidFill>
                <a:latin typeface="Verdana" panose="020B0604030504040204" pitchFamily="34" charset="0"/>
              </a:defRPr>
            </a:lvl5pPr>
            <a:lvl6pPr marL="2514600" indent="-228600" fontAlgn="base">
              <a:spcBef>
                <a:spcPct val="20000"/>
              </a:spcBef>
              <a:spcAft>
                <a:spcPct val="0"/>
              </a:spcAft>
              <a:buChar char="»"/>
              <a:defRPr>
                <a:solidFill>
                  <a:schemeClr val="tx1"/>
                </a:solidFill>
                <a:latin typeface="Verdana" panose="020B0604030504040204" pitchFamily="34" charset="0"/>
              </a:defRPr>
            </a:lvl6pPr>
            <a:lvl7pPr marL="2971800" indent="-228600" fontAlgn="base">
              <a:spcBef>
                <a:spcPct val="20000"/>
              </a:spcBef>
              <a:spcAft>
                <a:spcPct val="0"/>
              </a:spcAft>
              <a:buChar char="»"/>
              <a:defRPr>
                <a:solidFill>
                  <a:schemeClr val="tx1"/>
                </a:solidFill>
                <a:latin typeface="Verdana" panose="020B0604030504040204" pitchFamily="34" charset="0"/>
              </a:defRPr>
            </a:lvl7pPr>
            <a:lvl8pPr marL="3429000" indent="-228600" fontAlgn="base">
              <a:spcBef>
                <a:spcPct val="20000"/>
              </a:spcBef>
              <a:spcAft>
                <a:spcPct val="0"/>
              </a:spcAft>
              <a:buChar char="»"/>
              <a:defRPr>
                <a:solidFill>
                  <a:schemeClr val="tx1"/>
                </a:solidFill>
                <a:latin typeface="Verdana" panose="020B0604030504040204" pitchFamily="34" charset="0"/>
              </a:defRPr>
            </a:lvl8pPr>
            <a:lvl9pPr marL="3886200" indent="-228600" fontAlgn="base">
              <a:spcBef>
                <a:spcPct val="20000"/>
              </a:spcBef>
              <a:spcAft>
                <a:spcPct val="0"/>
              </a:spcAft>
              <a:buChar char="»"/>
              <a:defRPr>
                <a:solidFill>
                  <a:schemeClr val="tx1"/>
                </a:solidFill>
                <a:latin typeface="Verdana" panose="020B0604030504040204" pitchFamily="34" charset="0"/>
              </a:defRPr>
            </a:lvl9pPr>
          </a:lstStyle>
          <a:p>
            <a:pPr eaLnBrk="1" hangingPunct="1">
              <a:buFontTx/>
              <a:buNone/>
            </a:pPr>
            <a:r>
              <a:rPr lang="en-US" altLang="en-US" sz="2000"/>
              <a:t>Minister:  do you </a:t>
            </a:r>
            <a:r>
              <a:rPr lang="en-US" altLang="en-US" sz="2000" i="1"/>
              <a:t>name</a:t>
            </a:r>
            <a:r>
              <a:rPr lang="en-US" altLang="en-US" sz="2000"/>
              <a:t> take this woman …</a:t>
            </a:r>
          </a:p>
          <a:p>
            <a:pPr eaLnBrk="1" hangingPunct="1">
              <a:buFontTx/>
              <a:buNone/>
            </a:pPr>
            <a:r>
              <a:rPr lang="en-US" altLang="en-US" sz="2000"/>
              <a:t>Man:   I do</a:t>
            </a:r>
          </a:p>
          <a:p>
            <a:pPr eaLnBrk="1" hangingPunct="1">
              <a:buFontTx/>
              <a:buNone/>
            </a:pPr>
            <a:r>
              <a:rPr lang="en-US" altLang="en-US" sz="2000"/>
              <a:t>Minister: do you </a:t>
            </a:r>
            <a:r>
              <a:rPr lang="en-US" altLang="en-US" sz="2000" i="1"/>
              <a:t>name</a:t>
            </a:r>
            <a:r>
              <a:rPr lang="en-US" altLang="en-US" sz="2000"/>
              <a:t> take this man …</a:t>
            </a:r>
          </a:p>
          <a:p>
            <a:pPr eaLnBrk="1" hangingPunct="1">
              <a:buFontTx/>
              <a:buNone/>
            </a:pPr>
            <a:r>
              <a:rPr lang="en-US" altLang="en-US" sz="2000"/>
              <a:t>Woman:  I do</a:t>
            </a:r>
          </a:p>
          <a:p>
            <a:pPr eaLnBrk="1" hangingPunct="1">
              <a:buFontTx/>
              <a:buNone/>
            </a:pPr>
            <a:r>
              <a:rPr lang="en-US" altLang="en-US" sz="2000"/>
              <a:t>Minister:  I now pronounce you man and wife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72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0" grpId="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5C89CC27-B664-7ED5-D6F7-96DC347F837E}"/>
              </a:ext>
            </a:extLst>
          </p:cNvPr>
          <p:cNvSpPr>
            <a:spLocks noGrp="1" noChangeArrowheads="1"/>
          </p:cNvSpPr>
          <p:nvPr>
            <p:ph type="title"/>
          </p:nvPr>
        </p:nvSpPr>
        <p:spPr/>
        <p:txBody>
          <a:bodyPr/>
          <a:lstStyle/>
          <a:p>
            <a:r>
              <a:rPr lang="en-US" altLang="en-US"/>
              <a:t>think about dialogue</a:t>
            </a:r>
          </a:p>
        </p:txBody>
      </p:sp>
      <p:sp>
        <p:nvSpPr>
          <p:cNvPr id="161795" name="Rectangle 3">
            <a:extLst>
              <a:ext uri="{FF2B5EF4-FFF2-40B4-BE49-F238E27FC236}">
                <a16:creationId xmlns:a16="http://schemas.microsoft.com/office/drawing/2014/main" id="{8FF0E2C3-B5C8-1778-9EC9-D5E6651CCE68}"/>
              </a:ext>
            </a:extLst>
          </p:cNvPr>
          <p:cNvSpPr>
            <a:spLocks noGrp="1" noChangeArrowheads="1"/>
          </p:cNvSpPr>
          <p:nvPr>
            <p:ph type="body" idx="1"/>
          </p:nvPr>
        </p:nvSpPr>
        <p:spPr/>
        <p:txBody>
          <a:bodyPr/>
          <a:lstStyle/>
          <a:p>
            <a:pPr algn="ctr">
              <a:buFontTx/>
              <a:buNone/>
            </a:pPr>
            <a:r>
              <a:rPr lang="en-US" altLang="en-US"/>
              <a:t>what does it mean in UI design?</a:t>
            </a:r>
          </a:p>
          <a:p>
            <a:pPr algn="ctr">
              <a:buFontTx/>
              <a:buNone/>
            </a:pPr>
            <a:endParaRPr lang="en-US" altLang="en-US"/>
          </a:p>
          <a:p>
            <a:pPr algn="ctr">
              <a:buFontTx/>
              <a:buNone/>
            </a:pPr>
            <a:endParaRPr lang="en-US" altLang="en-US"/>
          </a:p>
          <a:p>
            <a:pPr lvl="1">
              <a:buFont typeface="Times" charset="0"/>
              <a:buChar char="•"/>
            </a:pPr>
            <a:r>
              <a:rPr lang="en-US" altLang="en-US"/>
              <a:t>marriage service</a:t>
            </a:r>
          </a:p>
          <a:p>
            <a:pPr lvl="2"/>
            <a:r>
              <a:rPr lang="en-US" altLang="en-US"/>
              <a:t>general flow,  generic – blanks for names</a:t>
            </a:r>
          </a:p>
          <a:p>
            <a:pPr lvl="2"/>
            <a:r>
              <a:rPr lang="en-US" altLang="en-US"/>
              <a:t>pattern of interaction between people</a:t>
            </a:r>
          </a:p>
          <a:p>
            <a:pPr lvl="1">
              <a:buFont typeface="Times" charset="0"/>
              <a:buChar char="•"/>
            </a:pPr>
            <a:r>
              <a:rPr lang="en-US" altLang="en-US"/>
              <a:t>computer dialogue</a:t>
            </a:r>
          </a:p>
          <a:p>
            <a:pPr lvl="2"/>
            <a:r>
              <a:rPr lang="en-US" altLang="en-US"/>
              <a:t>pattern of interaction between users and system</a:t>
            </a:r>
          </a:p>
          <a:p>
            <a:pPr lvl="2"/>
            <a:r>
              <a:rPr lang="en-US" altLang="en-US"/>
              <a:t>but details differ each time</a:t>
            </a:r>
          </a:p>
        </p:txBody>
      </p:sp>
      <p:sp>
        <p:nvSpPr>
          <p:cNvPr id="161796" name="Rectangle 4">
            <a:extLst>
              <a:ext uri="{FF2B5EF4-FFF2-40B4-BE49-F238E27FC236}">
                <a16:creationId xmlns:a16="http://schemas.microsoft.com/office/drawing/2014/main" id="{AD30C513-6F9A-5A62-45E9-EBD932E1C0E9}"/>
              </a:ext>
            </a:extLst>
          </p:cNvPr>
          <p:cNvSpPr>
            <a:spLocks noChangeArrowheads="1"/>
          </p:cNvSpPr>
          <p:nvPr/>
        </p:nvSpPr>
        <p:spPr bwMode="auto">
          <a:xfrm>
            <a:off x="990600" y="2743200"/>
            <a:ext cx="7315200" cy="533400"/>
          </a:xfrm>
          <a:prstGeom prst="rect">
            <a:avLst/>
          </a:prstGeom>
          <a:noFill/>
          <a:ln w="762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2800">
                <a:solidFill>
                  <a:schemeClr val="tx1"/>
                </a:solidFill>
                <a:latin typeface="Verdana" panose="020B0604030504040204" pitchFamily="34" charset="0"/>
              </a:defRPr>
            </a:lvl1pPr>
            <a:lvl2pPr marL="742950" indent="-285750">
              <a:spcBef>
                <a:spcPct val="20000"/>
              </a:spcBef>
              <a:buChar char="–"/>
              <a:defRPr sz="2400">
                <a:solidFill>
                  <a:schemeClr val="tx1"/>
                </a:solidFill>
                <a:latin typeface="Verdana" panose="020B0604030504040204" pitchFamily="34" charset="0"/>
              </a:defRPr>
            </a:lvl2pPr>
            <a:lvl3pPr marL="1143000" indent="-228600">
              <a:spcBef>
                <a:spcPct val="20000"/>
              </a:spcBef>
              <a:buChar char="•"/>
              <a:defRPr sz="2000">
                <a:solidFill>
                  <a:schemeClr val="tx1"/>
                </a:solidFill>
                <a:latin typeface="Verdana" panose="020B0604030504040204" pitchFamily="34" charset="0"/>
              </a:defRPr>
            </a:lvl3pPr>
            <a:lvl4pPr marL="1600200" indent="-228600">
              <a:spcBef>
                <a:spcPct val="20000"/>
              </a:spcBef>
              <a:buChar char="–"/>
              <a:defRPr>
                <a:solidFill>
                  <a:schemeClr val="tx1"/>
                </a:solidFill>
                <a:latin typeface="Verdana" panose="020B0604030504040204" pitchFamily="34" charset="0"/>
              </a:defRPr>
            </a:lvl4pPr>
            <a:lvl5pPr marL="2057400" indent="-228600">
              <a:spcBef>
                <a:spcPct val="20000"/>
              </a:spcBef>
              <a:buChar char="»"/>
              <a:defRPr>
                <a:solidFill>
                  <a:schemeClr val="tx1"/>
                </a:solidFill>
                <a:latin typeface="Verdana" panose="020B0604030504040204" pitchFamily="34" charset="0"/>
              </a:defRPr>
            </a:lvl5pPr>
            <a:lvl6pPr marL="2514600" indent="-228600" fontAlgn="base">
              <a:spcBef>
                <a:spcPct val="20000"/>
              </a:spcBef>
              <a:spcAft>
                <a:spcPct val="0"/>
              </a:spcAft>
              <a:buChar char="»"/>
              <a:defRPr>
                <a:solidFill>
                  <a:schemeClr val="tx1"/>
                </a:solidFill>
                <a:latin typeface="Verdana" panose="020B0604030504040204" pitchFamily="34" charset="0"/>
              </a:defRPr>
            </a:lvl6pPr>
            <a:lvl7pPr marL="2971800" indent="-228600" fontAlgn="base">
              <a:spcBef>
                <a:spcPct val="20000"/>
              </a:spcBef>
              <a:spcAft>
                <a:spcPct val="0"/>
              </a:spcAft>
              <a:buChar char="»"/>
              <a:defRPr>
                <a:solidFill>
                  <a:schemeClr val="tx1"/>
                </a:solidFill>
                <a:latin typeface="Verdana" panose="020B0604030504040204" pitchFamily="34" charset="0"/>
              </a:defRPr>
            </a:lvl7pPr>
            <a:lvl8pPr marL="3429000" indent="-228600" fontAlgn="base">
              <a:spcBef>
                <a:spcPct val="20000"/>
              </a:spcBef>
              <a:spcAft>
                <a:spcPct val="0"/>
              </a:spcAft>
              <a:buChar char="»"/>
              <a:defRPr>
                <a:solidFill>
                  <a:schemeClr val="tx1"/>
                </a:solidFill>
                <a:latin typeface="Verdana" panose="020B0604030504040204" pitchFamily="34" charset="0"/>
              </a:defRPr>
            </a:lvl8pPr>
            <a:lvl9pPr marL="3886200" indent="-228600" fontAlgn="base">
              <a:spcBef>
                <a:spcPct val="20000"/>
              </a:spcBef>
              <a:spcAft>
                <a:spcPct val="0"/>
              </a:spcAft>
              <a:buChar char="»"/>
              <a:defRPr>
                <a:solidFill>
                  <a:schemeClr val="tx1"/>
                </a:solidFill>
                <a:latin typeface="Verdana" panose="020B0604030504040204" pitchFamily="34" charset="0"/>
              </a:defRPr>
            </a:lvl9pPr>
          </a:lstStyle>
          <a:p>
            <a:pPr eaLnBrk="1" hangingPunct="1">
              <a:buFontTx/>
              <a:buNone/>
            </a:pPr>
            <a:r>
              <a:rPr lang="en-US" altLang="en-US" sz="2000"/>
              <a:t>Minister:  do you </a:t>
            </a:r>
            <a:r>
              <a:rPr lang="en-US" altLang="en-US" sz="2000" i="1"/>
              <a:t>name</a:t>
            </a:r>
            <a:r>
              <a:rPr lang="en-US" altLang="en-US" sz="2000"/>
              <a:t> take this woman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17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6" grpId="0" animBg="1"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a:extLst>
              <a:ext uri="{FF2B5EF4-FFF2-40B4-BE49-F238E27FC236}">
                <a16:creationId xmlns:a16="http://schemas.microsoft.com/office/drawing/2014/main" id="{EB987B44-5503-143E-208C-656149301E33}"/>
              </a:ext>
            </a:extLst>
          </p:cNvPr>
          <p:cNvSpPr>
            <a:spLocks noGrp="1" noChangeArrowheads="1"/>
          </p:cNvSpPr>
          <p:nvPr>
            <p:ph type="title"/>
          </p:nvPr>
        </p:nvSpPr>
        <p:spPr/>
        <p:txBody>
          <a:bodyPr/>
          <a:lstStyle/>
          <a:p>
            <a:r>
              <a:rPr lang="en-US" altLang="en-US"/>
              <a:t>network diagrams</a:t>
            </a:r>
          </a:p>
        </p:txBody>
      </p:sp>
      <p:sp>
        <p:nvSpPr>
          <p:cNvPr id="138243" name="Rectangle 3">
            <a:extLst>
              <a:ext uri="{FF2B5EF4-FFF2-40B4-BE49-F238E27FC236}">
                <a16:creationId xmlns:a16="http://schemas.microsoft.com/office/drawing/2014/main" id="{E361B148-FDC8-55E0-1446-84AF2447A626}"/>
              </a:ext>
            </a:extLst>
          </p:cNvPr>
          <p:cNvSpPr>
            <a:spLocks noGrp="1" noChangeArrowheads="1"/>
          </p:cNvSpPr>
          <p:nvPr>
            <p:ph type="body" idx="1"/>
          </p:nvPr>
        </p:nvSpPr>
        <p:spPr>
          <a:xfrm>
            <a:off x="685800" y="5257800"/>
            <a:ext cx="7772400" cy="838200"/>
          </a:xfrm>
        </p:spPr>
        <p:txBody>
          <a:bodyPr/>
          <a:lstStyle/>
          <a:p>
            <a:r>
              <a:rPr lang="en-GB" altLang="en-US"/>
              <a:t>show different paths through system</a:t>
            </a:r>
          </a:p>
        </p:txBody>
      </p:sp>
      <p:grpSp>
        <p:nvGrpSpPr>
          <p:cNvPr id="138244" name="Group 4">
            <a:extLst>
              <a:ext uri="{FF2B5EF4-FFF2-40B4-BE49-F238E27FC236}">
                <a16:creationId xmlns:a16="http://schemas.microsoft.com/office/drawing/2014/main" id="{9430DFDE-E640-777F-6AA1-1AF6D4F20018}"/>
              </a:ext>
            </a:extLst>
          </p:cNvPr>
          <p:cNvGrpSpPr>
            <a:grpSpLocks/>
          </p:cNvGrpSpPr>
          <p:nvPr/>
        </p:nvGrpSpPr>
        <p:grpSpPr bwMode="auto">
          <a:xfrm>
            <a:off x="1066800" y="2286000"/>
            <a:ext cx="6096000" cy="2133600"/>
            <a:chOff x="672" y="1968"/>
            <a:chExt cx="3840" cy="1344"/>
          </a:xfrm>
        </p:grpSpPr>
        <p:sp>
          <p:nvSpPr>
            <p:cNvPr id="138245" name="AutoShape 5">
              <a:extLst>
                <a:ext uri="{FF2B5EF4-FFF2-40B4-BE49-F238E27FC236}">
                  <a16:creationId xmlns:a16="http://schemas.microsoft.com/office/drawing/2014/main" id="{330DB99F-7B65-DF12-4D27-0EA0D6520839}"/>
                </a:ext>
              </a:extLst>
            </p:cNvPr>
            <p:cNvSpPr>
              <a:spLocks noChangeArrowheads="1"/>
            </p:cNvSpPr>
            <p:nvPr/>
          </p:nvSpPr>
          <p:spPr bwMode="auto">
            <a:xfrm>
              <a:off x="672" y="1968"/>
              <a:ext cx="912" cy="48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Times New Roman" panose="02020603050405020304" pitchFamily="18" charset="0"/>
                </a:rPr>
                <a:t>main</a:t>
              </a:r>
            </a:p>
            <a:p>
              <a:pPr algn="ctr"/>
              <a:r>
                <a:rPr lang="en-US" altLang="en-US">
                  <a:latin typeface="Times New Roman" panose="02020603050405020304" pitchFamily="18" charset="0"/>
                </a:rPr>
                <a:t>screen</a:t>
              </a:r>
            </a:p>
          </p:txBody>
        </p:sp>
        <p:sp>
          <p:nvSpPr>
            <p:cNvPr id="138246" name="AutoShape 6">
              <a:extLst>
                <a:ext uri="{FF2B5EF4-FFF2-40B4-BE49-F238E27FC236}">
                  <a16:creationId xmlns:a16="http://schemas.microsoft.com/office/drawing/2014/main" id="{B6744CCF-717E-BD44-B9CE-68070ADD40CF}"/>
                </a:ext>
              </a:extLst>
            </p:cNvPr>
            <p:cNvSpPr>
              <a:spLocks noChangeArrowheads="1"/>
            </p:cNvSpPr>
            <p:nvPr/>
          </p:nvSpPr>
          <p:spPr bwMode="auto">
            <a:xfrm>
              <a:off x="2208" y="1968"/>
              <a:ext cx="912" cy="48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Times New Roman" panose="02020603050405020304" pitchFamily="18" charset="0"/>
                </a:rPr>
                <a:t>remove</a:t>
              </a:r>
            </a:p>
            <a:p>
              <a:pPr algn="ctr"/>
              <a:r>
                <a:rPr lang="en-US" altLang="en-US">
                  <a:latin typeface="Times New Roman" panose="02020603050405020304" pitchFamily="18" charset="0"/>
                </a:rPr>
                <a:t>user</a:t>
              </a:r>
            </a:p>
          </p:txBody>
        </p:sp>
        <p:sp>
          <p:nvSpPr>
            <p:cNvPr id="138247" name="AutoShape 7">
              <a:extLst>
                <a:ext uri="{FF2B5EF4-FFF2-40B4-BE49-F238E27FC236}">
                  <a16:creationId xmlns:a16="http://schemas.microsoft.com/office/drawing/2014/main" id="{E652B699-6EE0-FE63-FF6D-514CF8F019AF}"/>
                </a:ext>
              </a:extLst>
            </p:cNvPr>
            <p:cNvSpPr>
              <a:spLocks noChangeArrowheads="1"/>
            </p:cNvSpPr>
            <p:nvPr/>
          </p:nvSpPr>
          <p:spPr bwMode="auto">
            <a:xfrm>
              <a:off x="3600" y="1968"/>
              <a:ext cx="912" cy="48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Times New Roman" panose="02020603050405020304" pitchFamily="18" charset="0"/>
                </a:rPr>
                <a:t>confirm</a:t>
              </a:r>
            </a:p>
          </p:txBody>
        </p:sp>
        <p:sp>
          <p:nvSpPr>
            <p:cNvPr id="138248" name="AutoShape 8">
              <a:extLst>
                <a:ext uri="{FF2B5EF4-FFF2-40B4-BE49-F238E27FC236}">
                  <a16:creationId xmlns:a16="http://schemas.microsoft.com/office/drawing/2014/main" id="{914B30C0-BC70-7331-CD33-1C60FBF892D8}"/>
                </a:ext>
              </a:extLst>
            </p:cNvPr>
            <p:cNvSpPr>
              <a:spLocks noChangeArrowheads="1"/>
            </p:cNvSpPr>
            <p:nvPr/>
          </p:nvSpPr>
          <p:spPr bwMode="auto">
            <a:xfrm>
              <a:off x="2208" y="2832"/>
              <a:ext cx="912" cy="48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Times New Roman" panose="02020603050405020304" pitchFamily="18" charset="0"/>
                </a:rPr>
                <a:t>add user</a:t>
              </a:r>
            </a:p>
          </p:txBody>
        </p:sp>
        <p:cxnSp>
          <p:nvCxnSpPr>
            <p:cNvPr id="138249" name="AutoShape 9">
              <a:extLst>
                <a:ext uri="{FF2B5EF4-FFF2-40B4-BE49-F238E27FC236}">
                  <a16:creationId xmlns:a16="http://schemas.microsoft.com/office/drawing/2014/main" id="{502F3381-D71A-74DB-12FC-09DBA86AED1C}"/>
                </a:ext>
              </a:extLst>
            </p:cNvPr>
            <p:cNvCxnSpPr>
              <a:cxnSpLocks noChangeShapeType="1"/>
              <a:stCxn id="138245" idx="3"/>
              <a:endCxn id="138246" idx="1"/>
            </p:cNvCxnSpPr>
            <p:nvPr/>
          </p:nvCxnSpPr>
          <p:spPr bwMode="auto">
            <a:xfrm>
              <a:off x="1584" y="2208"/>
              <a:ext cx="624"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250" name="AutoShape 10">
              <a:extLst>
                <a:ext uri="{FF2B5EF4-FFF2-40B4-BE49-F238E27FC236}">
                  <a16:creationId xmlns:a16="http://schemas.microsoft.com/office/drawing/2014/main" id="{F15DBB7B-2832-AE13-DAE9-5FED35C499DD}"/>
                </a:ext>
              </a:extLst>
            </p:cNvPr>
            <p:cNvCxnSpPr>
              <a:cxnSpLocks noChangeShapeType="1"/>
              <a:stCxn id="138245" idx="3"/>
              <a:endCxn id="138248" idx="1"/>
            </p:cNvCxnSpPr>
            <p:nvPr/>
          </p:nvCxnSpPr>
          <p:spPr bwMode="auto">
            <a:xfrm>
              <a:off x="1584" y="2208"/>
              <a:ext cx="624" cy="864"/>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251" name="AutoShape 11">
              <a:extLst>
                <a:ext uri="{FF2B5EF4-FFF2-40B4-BE49-F238E27FC236}">
                  <a16:creationId xmlns:a16="http://schemas.microsoft.com/office/drawing/2014/main" id="{2D827257-D9F6-B3DF-668D-E770FF12C61A}"/>
                </a:ext>
              </a:extLst>
            </p:cNvPr>
            <p:cNvCxnSpPr>
              <a:cxnSpLocks noChangeShapeType="1"/>
              <a:stCxn id="138246" idx="3"/>
              <a:endCxn id="138247" idx="1"/>
            </p:cNvCxnSpPr>
            <p:nvPr/>
          </p:nvCxnSpPr>
          <p:spPr bwMode="auto">
            <a:xfrm>
              <a:off x="3120" y="2208"/>
              <a:ext cx="480"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252" name="AutoShape 12">
              <a:extLst>
                <a:ext uri="{FF2B5EF4-FFF2-40B4-BE49-F238E27FC236}">
                  <a16:creationId xmlns:a16="http://schemas.microsoft.com/office/drawing/2014/main" id="{FA592B21-BB68-225C-9BD1-8F885DE38B03}"/>
                </a:ext>
              </a:extLst>
            </p:cNvPr>
            <p:cNvCxnSpPr>
              <a:cxnSpLocks noChangeShapeType="1"/>
              <a:stCxn id="138247" idx="3"/>
              <a:endCxn id="138245" idx="0"/>
            </p:cNvCxnSpPr>
            <p:nvPr/>
          </p:nvCxnSpPr>
          <p:spPr bwMode="auto">
            <a:xfrm flipH="1" flipV="1">
              <a:off x="1128" y="1968"/>
              <a:ext cx="3384" cy="240"/>
            </a:xfrm>
            <a:prstGeom prst="bentConnector4">
              <a:avLst>
                <a:gd name="adj1" fmla="val -4255"/>
                <a:gd name="adj2" fmla="val 16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253" name="AutoShape 13">
              <a:extLst>
                <a:ext uri="{FF2B5EF4-FFF2-40B4-BE49-F238E27FC236}">
                  <a16:creationId xmlns:a16="http://schemas.microsoft.com/office/drawing/2014/main" id="{D0A468EA-BB9A-5732-41DE-47D18FB95292}"/>
                </a:ext>
              </a:extLst>
            </p:cNvPr>
            <p:cNvCxnSpPr>
              <a:cxnSpLocks noChangeShapeType="1"/>
              <a:stCxn id="138248" idx="3"/>
              <a:endCxn id="138245" idx="2"/>
            </p:cNvCxnSpPr>
            <p:nvPr/>
          </p:nvCxnSpPr>
          <p:spPr bwMode="auto">
            <a:xfrm flipH="1" flipV="1">
              <a:off x="1128" y="2448"/>
              <a:ext cx="1992" cy="624"/>
            </a:xfrm>
            <a:prstGeom prst="bentConnector4">
              <a:avLst>
                <a:gd name="adj1" fmla="val -7227"/>
                <a:gd name="adj2" fmla="val -78046"/>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B6DB1D2B-2BCF-5AB1-E4C4-7CA94F11B6E5}"/>
              </a:ext>
            </a:extLst>
          </p:cNvPr>
          <p:cNvSpPr>
            <a:spLocks noGrp="1" noChangeArrowheads="1"/>
          </p:cNvSpPr>
          <p:nvPr>
            <p:ph type="title"/>
          </p:nvPr>
        </p:nvSpPr>
        <p:spPr/>
        <p:txBody>
          <a:bodyPr/>
          <a:lstStyle/>
          <a:p>
            <a:r>
              <a:rPr lang="en-US" altLang="en-US"/>
              <a:t>network diagrams ctd.</a:t>
            </a:r>
          </a:p>
        </p:txBody>
      </p:sp>
      <p:sp>
        <p:nvSpPr>
          <p:cNvPr id="139267" name="Rectangle 3">
            <a:extLst>
              <a:ext uri="{FF2B5EF4-FFF2-40B4-BE49-F238E27FC236}">
                <a16:creationId xmlns:a16="http://schemas.microsoft.com/office/drawing/2014/main" id="{5265139C-D3BD-42CE-0876-F3E21F3216BC}"/>
              </a:ext>
            </a:extLst>
          </p:cNvPr>
          <p:cNvSpPr>
            <a:spLocks noGrp="1" noChangeArrowheads="1"/>
          </p:cNvSpPr>
          <p:nvPr>
            <p:ph type="body" idx="1"/>
          </p:nvPr>
        </p:nvSpPr>
        <p:spPr/>
        <p:txBody>
          <a:bodyPr/>
          <a:lstStyle/>
          <a:p>
            <a:r>
              <a:rPr lang="en-US" altLang="en-US"/>
              <a:t>what leads to what</a:t>
            </a:r>
          </a:p>
          <a:p>
            <a:r>
              <a:rPr lang="en-US" altLang="en-US"/>
              <a:t>what happens when</a:t>
            </a:r>
          </a:p>
          <a:p>
            <a:r>
              <a:rPr lang="en-US" altLang="en-US"/>
              <a:t>including branches</a:t>
            </a:r>
          </a:p>
          <a:p>
            <a:pPr lvl="4"/>
            <a:endParaRPr lang="en-US" altLang="en-US" sz="1000"/>
          </a:p>
          <a:p>
            <a:r>
              <a:rPr lang="en-US" altLang="en-US"/>
              <a:t>more task oriented then hierarchy</a:t>
            </a:r>
          </a:p>
        </p:txBody>
      </p:sp>
      <p:grpSp>
        <p:nvGrpSpPr>
          <p:cNvPr id="139268" name="Group 4">
            <a:extLst>
              <a:ext uri="{FF2B5EF4-FFF2-40B4-BE49-F238E27FC236}">
                <a16:creationId xmlns:a16="http://schemas.microsoft.com/office/drawing/2014/main" id="{F3A252B3-AF4F-5317-E660-F12B29CEF4FD}"/>
              </a:ext>
            </a:extLst>
          </p:cNvPr>
          <p:cNvGrpSpPr>
            <a:grpSpLocks/>
          </p:cNvGrpSpPr>
          <p:nvPr/>
        </p:nvGrpSpPr>
        <p:grpSpPr bwMode="auto">
          <a:xfrm>
            <a:off x="4648200" y="4648200"/>
            <a:ext cx="3962400" cy="1600200"/>
            <a:chOff x="672" y="1968"/>
            <a:chExt cx="3840" cy="1344"/>
          </a:xfrm>
        </p:grpSpPr>
        <p:sp>
          <p:nvSpPr>
            <p:cNvPr id="139269" name="AutoShape 5">
              <a:extLst>
                <a:ext uri="{FF2B5EF4-FFF2-40B4-BE49-F238E27FC236}">
                  <a16:creationId xmlns:a16="http://schemas.microsoft.com/office/drawing/2014/main" id="{A56A64E9-FDBF-37B2-BF58-CAF89A658847}"/>
                </a:ext>
              </a:extLst>
            </p:cNvPr>
            <p:cNvSpPr>
              <a:spLocks noChangeArrowheads="1"/>
            </p:cNvSpPr>
            <p:nvPr/>
          </p:nvSpPr>
          <p:spPr bwMode="auto">
            <a:xfrm>
              <a:off x="672" y="1968"/>
              <a:ext cx="912" cy="48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000">
                  <a:latin typeface="Times New Roman" panose="02020603050405020304" pitchFamily="18" charset="0"/>
                </a:rPr>
                <a:t>main</a:t>
              </a:r>
            </a:p>
            <a:p>
              <a:pPr algn="ctr"/>
              <a:r>
                <a:rPr lang="en-US" altLang="en-US" sz="1000">
                  <a:latin typeface="Times New Roman" panose="02020603050405020304" pitchFamily="18" charset="0"/>
                </a:rPr>
                <a:t>screen</a:t>
              </a:r>
            </a:p>
          </p:txBody>
        </p:sp>
        <p:sp>
          <p:nvSpPr>
            <p:cNvPr id="139270" name="AutoShape 6">
              <a:extLst>
                <a:ext uri="{FF2B5EF4-FFF2-40B4-BE49-F238E27FC236}">
                  <a16:creationId xmlns:a16="http://schemas.microsoft.com/office/drawing/2014/main" id="{A964F33B-22BD-7424-1DA5-1CCE3CB7FD3F}"/>
                </a:ext>
              </a:extLst>
            </p:cNvPr>
            <p:cNvSpPr>
              <a:spLocks noChangeArrowheads="1"/>
            </p:cNvSpPr>
            <p:nvPr/>
          </p:nvSpPr>
          <p:spPr bwMode="auto">
            <a:xfrm>
              <a:off x="2208" y="1968"/>
              <a:ext cx="912" cy="48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000">
                  <a:latin typeface="Times New Roman" panose="02020603050405020304" pitchFamily="18" charset="0"/>
                </a:rPr>
                <a:t>remove</a:t>
              </a:r>
            </a:p>
            <a:p>
              <a:pPr algn="ctr"/>
              <a:r>
                <a:rPr lang="en-US" altLang="en-US" sz="1000">
                  <a:latin typeface="Times New Roman" panose="02020603050405020304" pitchFamily="18" charset="0"/>
                </a:rPr>
                <a:t>user</a:t>
              </a:r>
            </a:p>
          </p:txBody>
        </p:sp>
        <p:sp>
          <p:nvSpPr>
            <p:cNvPr id="139271" name="AutoShape 7">
              <a:extLst>
                <a:ext uri="{FF2B5EF4-FFF2-40B4-BE49-F238E27FC236}">
                  <a16:creationId xmlns:a16="http://schemas.microsoft.com/office/drawing/2014/main" id="{CF4B93AE-0599-517B-258F-3E645C766236}"/>
                </a:ext>
              </a:extLst>
            </p:cNvPr>
            <p:cNvSpPr>
              <a:spLocks noChangeArrowheads="1"/>
            </p:cNvSpPr>
            <p:nvPr/>
          </p:nvSpPr>
          <p:spPr bwMode="auto">
            <a:xfrm>
              <a:off x="3600" y="1968"/>
              <a:ext cx="912" cy="48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000">
                  <a:latin typeface="Times New Roman" panose="02020603050405020304" pitchFamily="18" charset="0"/>
                </a:rPr>
                <a:t>confirm</a:t>
              </a:r>
            </a:p>
          </p:txBody>
        </p:sp>
        <p:sp>
          <p:nvSpPr>
            <p:cNvPr id="139272" name="AutoShape 8">
              <a:extLst>
                <a:ext uri="{FF2B5EF4-FFF2-40B4-BE49-F238E27FC236}">
                  <a16:creationId xmlns:a16="http://schemas.microsoft.com/office/drawing/2014/main" id="{FD79BABE-DACB-3832-E1D2-E2229FCD73E8}"/>
                </a:ext>
              </a:extLst>
            </p:cNvPr>
            <p:cNvSpPr>
              <a:spLocks noChangeArrowheads="1"/>
            </p:cNvSpPr>
            <p:nvPr/>
          </p:nvSpPr>
          <p:spPr bwMode="auto">
            <a:xfrm>
              <a:off x="2208" y="2832"/>
              <a:ext cx="912" cy="48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000">
                  <a:latin typeface="Times New Roman" panose="02020603050405020304" pitchFamily="18" charset="0"/>
                </a:rPr>
                <a:t>add user</a:t>
              </a:r>
            </a:p>
          </p:txBody>
        </p:sp>
        <p:cxnSp>
          <p:nvCxnSpPr>
            <p:cNvPr id="139273" name="AutoShape 9">
              <a:extLst>
                <a:ext uri="{FF2B5EF4-FFF2-40B4-BE49-F238E27FC236}">
                  <a16:creationId xmlns:a16="http://schemas.microsoft.com/office/drawing/2014/main" id="{F086AEC5-F89E-473C-54B3-1E49E23976B6}"/>
                </a:ext>
              </a:extLst>
            </p:cNvPr>
            <p:cNvCxnSpPr>
              <a:cxnSpLocks noChangeShapeType="1"/>
              <a:stCxn id="139269" idx="3"/>
              <a:endCxn id="139270" idx="1"/>
            </p:cNvCxnSpPr>
            <p:nvPr/>
          </p:nvCxnSpPr>
          <p:spPr bwMode="auto">
            <a:xfrm>
              <a:off x="1584" y="2208"/>
              <a:ext cx="624"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9274" name="AutoShape 10">
              <a:extLst>
                <a:ext uri="{FF2B5EF4-FFF2-40B4-BE49-F238E27FC236}">
                  <a16:creationId xmlns:a16="http://schemas.microsoft.com/office/drawing/2014/main" id="{974B39F5-4824-C83B-39A2-D13CA8A95DEE}"/>
                </a:ext>
              </a:extLst>
            </p:cNvPr>
            <p:cNvCxnSpPr>
              <a:cxnSpLocks noChangeShapeType="1"/>
              <a:stCxn id="139269" idx="3"/>
              <a:endCxn id="139272" idx="1"/>
            </p:cNvCxnSpPr>
            <p:nvPr/>
          </p:nvCxnSpPr>
          <p:spPr bwMode="auto">
            <a:xfrm>
              <a:off x="1584" y="2208"/>
              <a:ext cx="624" cy="864"/>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9275" name="AutoShape 11">
              <a:extLst>
                <a:ext uri="{FF2B5EF4-FFF2-40B4-BE49-F238E27FC236}">
                  <a16:creationId xmlns:a16="http://schemas.microsoft.com/office/drawing/2014/main" id="{2CC063CF-5296-F967-38A8-A81354860E2F}"/>
                </a:ext>
              </a:extLst>
            </p:cNvPr>
            <p:cNvCxnSpPr>
              <a:cxnSpLocks noChangeShapeType="1"/>
              <a:stCxn id="139270" idx="3"/>
              <a:endCxn id="139271" idx="1"/>
            </p:cNvCxnSpPr>
            <p:nvPr/>
          </p:nvCxnSpPr>
          <p:spPr bwMode="auto">
            <a:xfrm>
              <a:off x="3120" y="2208"/>
              <a:ext cx="480"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9276" name="AutoShape 12">
              <a:extLst>
                <a:ext uri="{FF2B5EF4-FFF2-40B4-BE49-F238E27FC236}">
                  <a16:creationId xmlns:a16="http://schemas.microsoft.com/office/drawing/2014/main" id="{B1F067C3-54EC-27C9-ABAE-01C634FC73DD}"/>
                </a:ext>
              </a:extLst>
            </p:cNvPr>
            <p:cNvCxnSpPr>
              <a:cxnSpLocks noChangeShapeType="1"/>
              <a:stCxn id="139271" idx="3"/>
              <a:endCxn id="139269" idx="0"/>
            </p:cNvCxnSpPr>
            <p:nvPr/>
          </p:nvCxnSpPr>
          <p:spPr bwMode="auto">
            <a:xfrm flipH="1" flipV="1">
              <a:off x="1128" y="1968"/>
              <a:ext cx="3384" cy="240"/>
            </a:xfrm>
            <a:prstGeom prst="bentConnector4">
              <a:avLst>
                <a:gd name="adj1" fmla="val -4255"/>
                <a:gd name="adj2" fmla="val 16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9277" name="AutoShape 13">
              <a:extLst>
                <a:ext uri="{FF2B5EF4-FFF2-40B4-BE49-F238E27FC236}">
                  <a16:creationId xmlns:a16="http://schemas.microsoft.com/office/drawing/2014/main" id="{B486B1F8-BA92-E612-196C-195FBC1E7EA4}"/>
                </a:ext>
              </a:extLst>
            </p:cNvPr>
            <p:cNvCxnSpPr>
              <a:cxnSpLocks noChangeShapeType="1"/>
              <a:stCxn id="139272" idx="3"/>
              <a:endCxn id="139269" idx="2"/>
            </p:cNvCxnSpPr>
            <p:nvPr/>
          </p:nvCxnSpPr>
          <p:spPr bwMode="auto">
            <a:xfrm flipH="1" flipV="1">
              <a:off x="1128" y="2448"/>
              <a:ext cx="1992" cy="624"/>
            </a:xfrm>
            <a:prstGeom prst="bentConnector4">
              <a:avLst>
                <a:gd name="adj1" fmla="val -7227"/>
                <a:gd name="adj2" fmla="val -78046"/>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a:extLst>
              <a:ext uri="{FF2B5EF4-FFF2-40B4-BE49-F238E27FC236}">
                <a16:creationId xmlns:a16="http://schemas.microsoft.com/office/drawing/2014/main" id="{C3E430B0-25CE-803B-2678-17A9FE981932}"/>
              </a:ext>
            </a:extLst>
          </p:cNvPr>
          <p:cNvSpPr>
            <a:spLocks noGrp="1" noChangeArrowheads="1"/>
          </p:cNvSpPr>
          <p:nvPr>
            <p:ph type="ctrTitle"/>
          </p:nvPr>
        </p:nvSpPr>
        <p:spPr>
          <a:xfrm>
            <a:off x="685800" y="1295400"/>
            <a:ext cx="7772400" cy="1143000"/>
          </a:xfrm>
        </p:spPr>
        <p:txBody>
          <a:bodyPr anchor="ctr"/>
          <a:lstStyle/>
          <a:p>
            <a:pPr algn="l"/>
            <a:r>
              <a:rPr lang="en-US" altLang="en-US" sz="4800"/>
              <a:t>wider still</a:t>
            </a:r>
            <a:endParaRPr lang="en-US" altLang="en-US" sz="3600"/>
          </a:p>
        </p:txBody>
      </p:sp>
      <p:sp>
        <p:nvSpPr>
          <p:cNvPr id="141315" name="Rectangle 3">
            <a:extLst>
              <a:ext uri="{FF2B5EF4-FFF2-40B4-BE49-F238E27FC236}">
                <a16:creationId xmlns:a16="http://schemas.microsoft.com/office/drawing/2014/main" id="{3F2EC23E-C846-1DF1-CDC2-70A1CD2471AB}"/>
              </a:ext>
            </a:extLst>
          </p:cNvPr>
          <p:cNvSpPr>
            <a:spLocks noGrp="1" noChangeArrowheads="1"/>
          </p:cNvSpPr>
          <p:nvPr>
            <p:ph type="subTitle" idx="1"/>
          </p:nvPr>
        </p:nvSpPr>
        <p:spPr>
          <a:xfrm>
            <a:off x="1371600" y="3352800"/>
            <a:ext cx="6400800" cy="1752600"/>
          </a:xfrm>
        </p:spPr>
        <p:txBody>
          <a:bodyPr/>
          <a:lstStyle/>
          <a:p>
            <a:r>
              <a:rPr lang="en-US" altLang="en-US" sz="2800"/>
              <a:t>between applications</a:t>
            </a:r>
          </a:p>
          <a:p>
            <a:r>
              <a:rPr lang="en-US" altLang="en-US" sz="2800"/>
              <a:t>and beyond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C67475F4-5E87-64F8-E2C6-7A1699F734C2}"/>
              </a:ext>
            </a:extLst>
          </p:cNvPr>
          <p:cNvSpPr>
            <a:spLocks noGrp="1" noChangeArrowheads="1"/>
          </p:cNvSpPr>
          <p:nvPr>
            <p:ph type="title"/>
          </p:nvPr>
        </p:nvSpPr>
        <p:spPr/>
        <p:txBody>
          <a:bodyPr/>
          <a:lstStyle/>
          <a:p>
            <a:r>
              <a:rPr lang="en-US" altLang="en-US"/>
              <a:t>wider still …</a:t>
            </a:r>
          </a:p>
        </p:txBody>
      </p:sp>
      <p:sp>
        <p:nvSpPr>
          <p:cNvPr id="143363" name="Rectangle 3">
            <a:extLst>
              <a:ext uri="{FF2B5EF4-FFF2-40B4-BE49-F238E27FC236}">
                <a16:creationId xmlns:a16="http://schemas.microsoft.com/office/drawing/2014/main" id="{DD8ED81D-2FD9-D93F-47AE-7698C6B9E6C1}"/>
              </a:ext>
            </a:extLst>
          </p:cNvPr>
          <p:cNvSpPr>
            <a:spLocks noGrp="1" noChangeArrowheads="1"/>
          </p:cNvSpPr>
          <p:nvPr>
            <p:ph type="body" idx="1"/>
          </p:nvPr>
        </p:nvSpPr>
        <p:spPr/>
        <p:txBody>
          <a:bodyPr/>
          <a:lstStyle/>
          <a:p>
            <a:r>
              <a:rPr lang="en-US" altLang="en-US"/>
              <a:t>style issues:</a:t>
            </a:r>
          </a:p>
          <a:p>
            <a:pPr lvl="1"/>
            <a:r>
              <a:rPr lang="en-US" altLang="en-US"/>
              <a:t>platform standards,  consistency</a:t>
            </a:r>
          </a:p>
          <a:p>
            <a:r>
              <a:rPr lang="en-US" altLang="en-US"/>
              <a:t>functional issues</a:t>
            </a:r>
          </a:p>
          <a:p>
            <a:pPr lvl="1"/>
            <a:r>
              <a:rPr lang="en-US" altLang="en-US"/>
              <a:t>cut and paste</a:t>
            </a:r>
          </a:p>
          <a:p>
            <a:r>
              <a:rPr lang="en-US" altLang="en-US"/>
              <a:t>navigation issues</a:t>
            </a:r>
          </a:p>
          <a:p>
            <a:pPr lvl="1"/>
            <a:r>
              <a:rPr lang="en-US" altLang="en-US"/>
              <a:t>embedded applications</a:t>
            </a:r>
          </a:p>
          <a:p>
            <a:pPr lvl="1"/>
            <a:r>
              <a:rPr lang="en-US" altLang="en-US"/>
              <a:t>links to other apps  … the web</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How today’s lecture works</a:t>
            </a:r>
          </a:p>
        </p:txBody>
      </p:sp>
      <p:sp>
        <p:nvSpPr>
          <p:cNvPr id="11" name="Shape 11"/>
          <p:cNvSpPr/>
          <p:nvPr/>
        </p:nvSpPr>
        <p:spPr>
          <a:xfrm>
            <a:off x="548640" y="1810512"/>
            <a:ext cx="1824228" cy="310896"/>
          </a:xfrm>
          <a:prstGeom prst="roundRect">
            <a:avLst>
              <a:gd name="adj" fmla="val 50000"/>
            </a:avLst>
          </a:prstGeom>
          <a:solidFill>
            <a:srgbClr val="2D2D8A"/>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HOW TODAY WORKS</a:t>
            </a:r>
            <a:endParaRPr lang="en-GB" sz="1100" dirty="0"/>
          </a:p>
        </p:txBody>
      </p:sp>
      <p:sp>
        <p:nvSpPr>
          <p:cNvPr id="12" name="Shape 12"/>
          <p:cNvSpPr txBox="1"/>
          <p:nvPr/>
        </p:nvSpPr>
        <p:spPr>
          <a:xfrm>
            <a:off x="2482596" y="1810512"/>
            <a:ext cx="5655564" cy="310896"/>
          </a:xfrm>
          <a:prstGeom prst="rect">
            <a:avLst/>
          </a:prstGeom>
          <a:noFill/>
          <a:ln>
            <a:noFill/>
          </a:ln>
        </p:spPr>
        <p:txBody>
          <a:bodyPr wrap="square" lIns="18288" tIns="18288" rIns="18288" bIns="18288" anchor="ctr" rtlCol="0">
            <a:noAutofit/>
          </a:bodyPr>
          <a:lstStyle/>
          <a:p>
            <a:pPr algn="l">
              <a:buNone/>
            </a:pPr>
            <a:r>
              <a:rPr lang="en-GB" sz="1200" b="0" i="1" dirty="0">
                <a:solidFill>
                  <a:srgbClr val="595959"/>
                </a:solidFill>
                <a:latin typeface="Arial"/>
                <a:cs typeface="Arial"/>
              </a:rPr>
              <a:t>look for these badges in the top-left of a slide</a:t>
            </a:r>
            <a:endParaRPr lang="en-GB" sz="1200" dirty="0"/>
          </a:p>
        </p:txBody>
      </p:sp>
      <p:sp>
        <p:nvSpPr>
          <p:cNvPr id="13" name="Shape 13"/>
          <p:cNvSpPr/>
          <p:nvPr/>
        </p:nvSpPr>
        <p:spPr>
          <a:xfrm>
            <a:off x="548640" y="2331720"/>
            <a:ext cx="2011680" cy="329184"/>
          </a:xfrm>
          <a:prstGeom prst="roundRect">
            <a:avLst>
              <a:gd name="adj" fmla="val 50000"/>
            </a:avLst>
          </a:prstGeom>
          <a:solidFill>
            <a:srgbClr val="00726F"/>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POLL</a:t>
            </a:r>
            <a:endParaRPr lang="en-GB" sz="1100" dirty="0"/>
          </a:p>
        </p:txBody>
      </p:sp>
      <p:sp>
        <p:nvSpPr>
          <p:cNvPr id="14" name="Shape 14"/>
          <p:cNvSpPr txBox="1"/>
          <p:nvPr/>
        </p:nvSpPr>
        <p:spPr>
          <a:xfrm>
            <a:off x="2743200" y="2267712"/>
            <a:ext cx="5394960" cy="457200"/>
          </a:xfrm>
          <a:prstGeom prst="rect">
            <a:avLst/>
          </a:prstGeom>
          <a:noFill/>
          <a:ln>
            <a:noFill/>
          </a:ln>
        </p:spPr>
        <p:txBody>
          <a:bodyPr wrap="square" lIns="18288" tIns="18288" rIns="18288" bIns="18288" anchor="ctr" rtlCol="0">
            <a:noAutofit/>
          </a:bodyPr>
          <a:lstStyle/>
          <a:p>
            <a:pPr algn="l">
              <a:buNone/>
            </a:pPr>
            <a:r>
              <a:rPr lang="en-GB" sz="1400" b="0" i="0" dirty="0">
                <a:solidFill>
                  <a:srgbClr val="1A1A1A"/>
                </a:solidFill>
                <a:latin typeface="Arial"/>
                <a:cs typeface="Arial"/>
              </a:rPr>
              <a:t>Vote with your hands (1 or 2 fingers) — everyone answers, no one is wrong.</a:t>
            </a:r>
            <a:endParaRPr lang="en-GB" sz="1400" dirty="0"/>
          </a:p>
        </p:txBody>
      </p:sp>
      <p:sp>
        <p:nvSpPr>
          <p:cNvPr id="15" name="Shape 15"/>
          <p:cNvSpPr/>
          <p:nvPr/>
        </p:nvSpPr>
        <p:spPr>
          <a:xfrm>
            <a:off x="548640" y="2880360"/>
            <a:ext cx="2011680" cy="329184"/>
          </a:xfrm>
          <a:prstGeom prst="roundRect">
            <a:avLst>
              <a:gd name="adj" fmla="val 50000"/>
            </a:avLst>
          </a:prstGeom>
          <a:solidFill>
            <a:srgbClr val="333399"/>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QUIZ</a:t>
            </a:r>
            <a:endParaRPr lang="en-GB" sz="1100" dirty="0"/>
          </a:p>
        </p:txBody>
      </p:sp>
      <p:sp>
        <p:nvSpPr>
          <p:cNvPr id="16" name="Shape 16"/>
          <p:cNvSpPr txBox="1"/>
          <p:nvPr/>
        </p:nvSpPr>
        <p:spPr>
          <a:xfrm>
            <a:off x="2743200" y="2816352"/>
            <a:ext cx="5394960" cy="457200"/>
          </a:xfrm>
          <a:prstGeom prst="rect">
            <a:avLst/>
          </a:prstGeom>
          <a:noFill/>
          <a:ln>
            <a:noFill/>
          </a:ln>
        </p:spPr>
        <p:txBody>
          <a:bodyPr wrap="square" lIns="18288" tIns="18288" rIns="18288" bIns="18288" anchor="ctr" rtlCol="0">
            <a:noAutofit/>
          </a:bodyPr>
          <a:lstStyle/>
          <a:p>
            <a:pPr algn="l">
              <a:buNone/>
            </a:pPr>
            <a:r>
              <a:rPr lang="en-GB" sz="1400" b="0" i="0" dirty="0">
                <a:solidFill>
                  <a:srgbClr val="1A1A1A"/>
                </a:solidFill>
                <a:latin typeface="Arial"/>
                <a:cs typeface="Arial"/>
              </a:rPr>
              <a:t>Answer on paper first; the next slide reveals the answer.</a:t>
            </a:r>
            <a:endParaRPr lang="en-GB" sz="1400" dirty="0"/>
          </a:p>
        </p:txBody>
      </p:sp>
      <p:sp>
        <p:nvSpPr>
          <p:cNvPr id="17" name="Shape 17"/>
          <p:cNvSpPr/>
          <p:nvPr/>
        </p:nvSpPr>
        <p:spPr>
          <a:xfrm>
            <a:off x="548640" y="3429000"/>
            <a:ext cx="2011680" cy="329184"/>
          </a:xfrm>
          <a:prstGeom prst="roundRect">
            <a:avLst>
              <a:gd name="adj" fmla="val 50000"/>
            </a:avLst>
          </a:prstGeom>
          <a:solidFill>
            <a:srgbClr val="4E7A12"/>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THINK-PAIR-SHARE</a:t>
            </a:r>
            <a:endParaRPr lang="en-GB" sz="1100" dirty="0"/>
          </a:p>
        </p:txBody>
      </p:sp>
      <p:sp>
        <p:nvSpPr>
          <p:cNvPr id="18" name="Shape 18"/>
          <p:cNvSpPr txBox="1"/>
          <p:nvPr/>
        </p:nvSpPr>
        <p:spPr>
          <a:xfrm>
            <a:off x="2743200" y="3364992"/>
            <a:ext cx="5394960" cy="457200"/>
          </a:xfrm>
          <a:prstGeom prst="rect">
            <a:avLst/>
          </a:prstGeom>
          <a:noFill/>
          <a:ln>
            <a:noFill/>
          </a:ln>
        </p:spPr>
        <p:txBody>
          <a:bodyPr wrap="square" lIns="18288" tIns="18288" rIns="18288" bIns="18288" anchor="ctr" rtlCol="0">
            <a:noAutofit/>
          </a:bodyPr>
          <a:lstStyle/>
          <a:p>
            <a:pPr algn="l">
              <a:buNone/>
            </a:pPr>
            <a:r>
              <a:rPr lang="en-GB" sz="1400" b="0" i="0" dirty="0">
                <a:solidFill>
                  <a:srgbClr val="1A1A1A"/>
                </a:solidFill>
                <a:latin typeface="Arial"/>
                <a:cs typeface="Arial"/>
              </a:rPr>
              <a:t>1 min alone → 2 min with your neighbour → a few pairs share.</a:t>
            </a:r>
            <a:endParaRPr lang="en-GB" sz="1400" dirty="0"/>
          </a:p>
        </p:txBody>
      </p:sp>
      <p:sp>
        <p:nvSpPr>
          <p:cNvPr id="19" name="Shape 19"/>
          <p:cNvSpPr/>
          <p:nvPr/>
        </p:nvSpPr>
        <p:spPr>
          <a:xfrm>
            <a:off x="548640" y="3977640"/>
            <a:ext cx="2011680" cy="329184"/>
          </a:xfrm>
          <a:prstGeom prst="roundRect">
            <a:avLst>
              <a:gd name="adj" fmla="val 50000"/>
            </a:avLst>
          </a:prstGeom>
          <a:solidFill>
            <a:srgbClr val="B03A2E"/>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LIVE EXERCISE</a:t>
            </a:r>
            <a:endParaRPr lang="en-GB" sz="1100" dirty="0"/>
          </a:p>
        </p:txBody>
      </p:sp>
      <p:sp>
        <p:nvSpPr>
          <p:cNvPr id="20" name="Shape 20"/>
          <p:cNvSpPr txBox="1"/>
          <p:nvPr/>
        </p:nvSpPr>
        <p:spPr>
          <a:xfrm>
            <a:off x="2743200" y="3913632"/>
            <a:ext cx="5394960" cy="457200"/>
          </a:xfrm>
          <a:prstGeom prst="rect">
            <a:avLst/>
          </a:prstGeom>
          <a:noFill/>
          <a:ln>
            <a:noFill/>
          </a:ln>
        </p:spPr>
        <p:txBody>
          <a:bodyPr wrap="square" lIns="18288" tIns="18288" rIns="18288" bIns="18288" anchor="ctr" rtlCol="0">
            <a:noAutofit/>
          </a:bodyPr>
          <a:lstStyle/>
          <a:p>
            <a:pPr algn="l">
              <a:buNone/>
            </a:pPr>
            <a:r>
              <a:rPr lang="en-GB" sz="1400" b="0" i="0" dirty="0">
                <a:solidFill>
                  <a:srgbClr val="1A1A1A"/>
                </a:solidFill>
                <a:latin typeface="Arial"/>
                <a:cs typeface="Arial"/>
              </a:rPr>
              <a:t>Do it now, in class, with paper, your phone or the room around you.</a:t>
            </a:r>
            <a:endParaRPr lang="en-GB" sz="1400" dirty="0"/>
          </a:p>
        </p:txBody>
      </p:sp>
      <p:sp>
        <p:nvSpPr>
          <p:cNvPr id="21" name="Shape 21"/>
          <p:cNvSpPr/>
          <p:nvPr/>
        </p:nvSpPr>
        <p:spPr>
          <a:xfrm>
            <a:off x="548640" y="4526280"/>
            <a:ext cx="2011680" cy="329184"/>
          </a:xfrm>
          <a:prstGeom prst="roundRect">
            <a:avLst>
              <a:gd name="adj" fmla="val 50000"/>
            </a:avLst>
          </a:prstGeom>
          <a:solidFill>
            <a:srgbClr val="8A5A00"/>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CASE PUZZLE</a:t>
            </a:r>
            <a:endParaRPr lang="en-GB" sz="1100" dirty="0"/>
          </a:p>
        </p:txBody>
      </p:sp>
      <p:sp>
        <p:nvSpPr>
          <p:cNvPr id="22" name="Shape 22"/>
          <p:cNvSpPr txBox="1"/>
          <p:nvPr/>
        </p:nvSpPr>
        <p:spPr>
          <a:xfrm>
            <a:off x="2743200" y="4462272"/>
            <a:ext cx="5394960" cy="457200"/>
          </a:xfrm>
          <a:prstGeom prst="rect">
            <a:avLst/>
          </a:prstGeom>
          <a:noFill/>
          <a:ln>
            <a:noFill/>
          </a:ln>
        </p:spPr>
        <p:txBody>
          <a:bodyPr wrap="square" lIns="18288" tIns="18288" rIns="18288" bIns="18288" anchor="ctr" rtlCol="0">
            <a:noAutofit/>
          </a:bodyPr>
          <a:lstStyle/>
          <a:p>
            <a:pPr algn="l">
              <a:buNone/>
            </a:pPr>
            <a:r>
              <a:rPr lang="en-GB" sz="1400" b="0" i="0" dirty="0">
                <a:solidFill>
                  <a:srgbClr val="1A1A1A"/>
                </a:solidFill>
                <a:latin typeface="Arial"/>
                <a:cs typeface="Arial"/>
              </a:rPr>
              <a:t>A real system you use; apply today’s idea to it in small groups.</a:t>
            </a:r>
            <a:endParaRPr lang="en-GB" sz="1400" dirty="0"/>
          </a:p>
        </p:txBody>
      </p:sp>
      <p:sp>
        <p:nvSpPr>
          <p:cNvPr id="23" name="Shape 23"/>
          <p:cNvSpPr/>
          <p:nvPr/>
        </p:nvSpPr>
        <p:spPr>
          <a:xfrm>
            <a:off x="548640" y="5166360"/>
            <a:ext cx="7589520" cy="868680"/>
          </a:xfrm>
          <a:prstGeom prst="roundRect">
            <a:avLst>
              <a:gd name="adj" fmla="val 8000"/>
            </a:avLst>
          </a:prstGeom>
          <a:solidFill>
            <a:srgbClr val="F3F8F9"/>
          </a:solidFill>
          <a:ln w="12700">
            <a:solidFill>
              <a:srgbClr val="9DB8BC"/>
            </a:solidFill>
          </a:ln>
        </p:spPr>
        <p:txBody>
          <a:bodyPr wrap="square" lIns="137160" tIns="137160" rIns="137160" bIns="137160" anchor="ctr" rtlCol="0">
            <a:noAutofit/>
          </a:bodyPr>
          <a:lstStyle/>
          <a:p>
            <a:pPr algn="l">
              <a:buNone/>
            </a:pPr>
            <a:r>
              <a:rPr lang="en-GB" sz="1200" b="1" i="0" dirty="0">
                <a:solidFill>
                  <a:srgbClr val="2D2D8A"/>
                </a:solidFill>
                <a:latin typeface="Arial"/>
                <a:cs typeface="Arial"/>
              </a:rPr>
              <a:t xml:space="preserve">Today: </a:t>
            </a:r>
            <a:r>
              <a:rPr lang="en-GB" sz="1200" b="0" i="0" dirty="0">
                <a:solidFill>
                  <a:srgbClr val="1A1A1A"/>
                </a:solidFill>
                <a:latin typeface="Arial"/>
                <a:cs typeface="Arial"/>
              </a:rPr>
              <a:t>what design is → the process → knowing your user → scenarios → navigation design, with 11 short activities (~35 min; two are optional)</a:t>
            </a:r>
            <a:endParaRPr lang="en-GB" sz="1200" dirty="0"/>
          </a:p>
          <a:p>
            <a:pPr algn="l">
              <a:spcBef>
                <a:spcPts val="300"/>
              </a:spcBef>
              <a:buNone/>
            </a:pPr>
            <a:r>
              <a:rPr lang="en-GB" sz="1200" b="1" i="0" dirty="0">
                <a:solidFill>
                  <a:srgbClr val="2D2D8A"/>
                </a:solidFill>
                <a:latin typeface="Arial"/>
                <a:cs typeface="Arial"/>
              </a:rPr>
              <a:t xml:space="preserve">Have ready: </a:t>
            </a:r>
            <a:r>
              <a:rPr lang="en-GB" sz="1200" b="0" i="0" dirty="0">
                <a:solidFill>
                  <a:srgbClr val="1A1A1A"/>
                </a:solidFill>
                <a:latin typeface="Arial"/>
                <a:cs typeface="Arial"/>
              </a:rPr>
              <a:t>a sheet of paper, a pen and your phone (for the exercises, not for WhatsApp)</a:t>
            </a:r>
            <a:endParaRPr lang="en-GB" sz="12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Warm-up: the stapler moment</a:t>
            </a:r>
          </a:p>
        </p:txBody>
      </p:sp>
      <p:sp>
        <p:nvSpPr>
          <p:cNvPr id="11" name="Shape 11"/>
          <p:cNvSpPr/>
          <p:nvPr/>
        </p:nvSpPr>
        <p:spPr>
          <a:xfrm>
            <a:off x="548640" y="1810512"/>
            <a:ext cx="1920240" cy="310896"/>
          </a:xfrm>
          <a:prstGeom prst="roundRect">
            <a:avLst>
              <a:gd name="adj" fmla="val 50000"/>
            </a:avLst>
          </a:prstGeom>
          <a:solidFill>
            <a:srgbClr val="4E7A12"/>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THINK-PAIR-SHARE</a:t>
            </a:r>
            <a:endParaRPr lang="en-GB" sz="1100" dirty="0"/>
          </a:p>
        </p:txBody>
      </p:sp>
      <p:sp>
        <p:nvSpPr>
          <p:cNvPr id="12" name="Shape 12"/>
          <p:cNvSpPr txBox="1"/>
          <p:nvPr/>
        </p:nvSpPr>
        <p:spPr>
          <a:xfrm>
            <a:off x="2578608" y="1810512"/>
            <a:ext cx="5559552" cy="310896"/>
          </a:xfrm>
          <a:prstGeom prst="rect">
            <a:avLst/>
          </a:prstGeom>
          <a:noFill/>
          <a:ln>
            <a:noFill/>
          </a:ln>
        </p:spPr>
        <p:txBody>
          <a:bodyPr wrap="square" lIns="18288" tIns="18288" rIns="18288" bIns="18288" anchor="ctr" rtlCol="0">
            <a:noAutofit/>
          </a:bodyPr>
          <a:lstStyle/>
          <a:p>
            <a:pPr algn="l">
              <a:buNone/>
            </a:pPr>
            <a:r>
              <a:rPr lang="en-GB" sz="1200" b="0" i="1" dirty="0">
                <a:solidFill>
                  <a:srgbClr val="595959"/>
                </a:solidFill>
                <a:latin typeface="Arial"/>
                <a:cs typeface="Arial"/>
              </a:rPr>
              <a:t>3 min · alone, then with your neighbour</a:t>
            </a:r>
            <a:endParaRPr lang="en-GB" sz="1200" dirty="0"/>
          </a:p>
        </p:txBody>
      </p:sp>
      <p:sp>
        <p:nvSpPr>
          <p:cNvPr id="13" name="Shape 13"/>
          <p:cNvSpPr txBox="1"/>
          <p:nvPr/>
        </p:nvSpPr>
        <p:spPr>
          <a:xfrm>
            <a:off x="548640" y="2240280"/>
            <a:ext cx="7589520" cy="566928"/>
          </a:xfrm>
          <a:prstGeom prst="rect">
            <a:avLst/>
          </a:prstGeom>
          <a:noFill/>
          <a:ln>
            <a:noFill/>
          </a:ln>
        </p:spPr>
        <p:txBody>
          <a:bodyPr wrap="square" lIns="18288" tIns="18288" rIns="18288" bIns="18288" anchor="t" rtlCol="0">
            <a:noAutofit/>
          </a:bodyPr>
          <a:lstStyle/>
          <a:p>
            <a:pPr algn="l">
              <a:buNone/>
            </a:pPr>
            <a:r>
              <a:rPr lang="en-GB" sz="1600" b="1" i="0" dirty="0">
                <a:solidFill>
                  <a:srgbClr val="2D2D8A"/>
                </a:solidFill>
                <a:latin typeface="Arial"/>
                <a:cs typeface="Arial"/>
              </a:rPr>
              <a:t>Same job, new technology. What changed in the whole interaction — not just the screen?</a:t>
            </a:r>
            <a:endParaRPr lang="en-GB" sz="1600" dirty="0"/>
          </a:p>
        </p:txBody>
      </p:sp>
      <p:sp>
        <p:nvSpPr>
          <p:cNvPr id="14" name="Shape 14"/>
          <p:cNvSpPr txBox="1"/>
          <p:nvPr/>
        </p:nvSpPr>
        <p:spPr>
          <a:xfrm>
            <a:off x="548640" y="2971800"/>
            <a:ext cx="1188720" cy="457200"/>
          </a:xfrm>
          <a:prstGeom prst="rect">
            <a:avLst/>
          </a:prstGeom>
          <a:noFill/>
          <a:ln>
            <a:noFill/>
          </a:ln>
        </p:spPr>
        <p:txBody>
          <a:bodyPr wrap="square" lIns="18288" tIns="18288" rIns="18288" bIns="18288" anchor="ctr" rtlCol="0">
            <a:noAutofit/>
          </a:bodyPr>
          <a:lstStyle/>
          <a:p>
            <a:pPr algn="l">
              <a:buNone/>
            </a:pPr>
            <a:r>
              <a:rPr lang="en-GB" sz="1200" b="1" i="0" dirty="0">
                <a:solidFill>
                  <a:srgbClr val="2D2D8A"/>
                </a:solidFill>
                <a:latin typeface="Arial"/>
                <a:cs typeface="Arial"/>
              </a:rPr>
              <a:t>Then: paper</a:t>
            </a:r>
            <a:endParaRPr lang="en-GB" sz="1200" dirty="0"/>
          </a:p>
        </p:txBody>
      </p:sp>
      <p:sp>
        <p:nvSpPr>
          <p:cNvPr id="15" name="Shape 15"/>
          <p:cNvSpPr/>
          <p:nvPr/>
        </p:nvSpPr>
        <p:spPr>
          <a:xfrm>
            <a:off x="1828800" y="2971800"/>
            <a:ext cx="868680" cy="457200"/>
          </a:xfrm>
          <a:prstGeom prst="roundRect">
            <a:avLst>
              <a:gd name="adj" fmla="val 8000"/>
            </a:avLst>
          </a:prstGeom>
          <a:solidFill>
            <a:srgbClr val="F3F8F9"/>
          </a:solidFill>
          <a:ln w="12700">
            <a:solidFill>
              <a:srgbClr val="9DB8BC"/>
            </a:solidFill>
          </a:ln>
        </p:spPr>
        <p:txBody>
          <a:bodyPr wrap="square" lIns="36576" tIns="36576" rIns="36576" bIns="36576" anchor="ctr" rtlCol="0">
            <a:noAutofit/>
          </a:bodyPr>
          <a:lstStyle/>
          <a:p>
            <a:pPr algn="ctr">
              <a:buNone/>
            </a:pPr>
            <a:r>
              <a:rPr lang="en-GB" sz="1000" b="0" i="0" dirty="0">
                <a:solidFill>
                  <a:srgbClr val="1A1A1A"/>
                </a:solidFill>
                <a:latin typeface="Arial"/>
                <a:cs typeface="Arial"/>
              </a:rPr>
              <a:t>write</a:t>
            </a:r>
            <a:endParaRPr lang="en-GB" sz="1000" dirty="0"/>
          </a:p>
        </p:txBody>
      </p:sp>
      <p:cxnSp>
        <p:nvCxnSpPr>
          <p:cNvPr id="16" name="Connector 16"/>
          <p:cNvCxnSpPr/>
          <p:nvPr/>
        </p:nvCxnSpPr>
        <p:spPr>
          <a:xfrm>
            <a:off x="2715768" y="3200400"/>
            <a:ext cx="146304" cy="0"/>
          </a:xfrm>
          <a:prstGeom prst="line">
            <a:avLst/>
          </a:prstGeom>
          <a:ln w="15875">
            <a:solidFill>
              <a:srgbClr val="595959"/>
            </a:solidFill>
            <a:tailEnd type="triangle" w="med" len="med"/>
          </a:ln>
        </p:spPr>
      </p:cxnSp>
      <p:sp>
        <p:nvSpPr>
          <p:cNvPr id="17" name="Shape 17"/>
          <p:cNvSpPr/>
          <p:nvPr/>
        </p:nvSpPr>
        <p:spPr>
          <a:xfrm>
            <a:off x="2880360" y="2971800"/>
            <a:ext cx="868680" cy="457200"/>
          </a:xfrm>
          <a:prstGeom prst="roundRect">
            <a:avLst>
              <a:gd name="adj" fmla="val 8000"/>
            </a:avLst>
          </a:prstGeom>
          <a:solidFill>
            <a:srgbClr val="F3F8F9"/>
          </a:solidFill>
          <a:ln w="12700">
            <a:solidFill>
              <a:srgbClr val="9DB8BC"/>
            </a:solidFill>
          </a:ln>
        </p:spPr>
        <p:txBody>
          <a:bodyPr wrap="square" lIns="36576" tIns="36576" rIns="36576" bIns="36576" anchor="ctr" rtlCol="0">
            <a:noAutofit/>
          </a:bodyPr>
          <a:lstStyle/>
          <a:p>
            <a:pPr algn="ctr">
              <a:buNone/>
            </a:pPr>
            <a:r>
              <a:rPr lang="en-GB" sz="1000" b="0" i="0" dirty="0">
                <a:solidFill>
                  <a:srgbClr val="1A1A1A"/>
                </a:solidFill>
                <a:latin typeface="Arial"/>
                <a:cs typeface="Arial"/>
              </a:rPr>
              <a:t>print</a:t>
            </a:r>
            <a:endParaRPr lang="en-GB" sz="1000" dirty="0"/>
          </a:p>
        </p:txBody>
      </p:sp>
      <p:cxnSp>
        <p:nvCxnSpPr>
          <p:cNvPr id="18" name="Connector 18"/>
          <p:cNvCxnSpPr/>
          <p:nvPr/>
        </p:nvCxnSpPr>
        <p:spPr>
          <a:xfrm>
            <a:off x="3767328" y="3200400"/>
            <a:ext cx="146304" cy="0"/>
          </a:xfrm>
          <a:prstGeom prst="line">
            <a:avLst/>
          </a:prstGeom>
          <a:ln w="15875">
            <a:solidFill>
              <a:srgbClr val="595959"/>
            </a:solidFill>
            <a:tailEnd type="triangle" w="med" len="med"/>
          </a:ln>
        </p:spPr>
      </p:cxnSp>
      <p:sp>
        <p:nvSpPr>
          <p:cNvPr id="19" name="Shape 19"/>
          <p:cNvSpPr/>
          <p:nvPr/>
        </p:nvSpPr>
        <p:spPr>
          <a:xfrm>
            <a:off x="3931920" y="2971800"/>
            <a:ext cx="868680" cy="457200"/>
          </a:xfrm>
          <a:prstGeom prst="roundRect">
            <a:avLst>
              <a:gd name="adj" fmla="val 8000"/>
            </a:avLst>
          </a:prstGeom>
          <a:solidFill>
            <a:srgbClr val="F3F8F9"/>
          </a:solidFill>
          <a:ln w="12700">
            <a:solidFill>
              <a:srgbClr val="9DB8BC"/>
            </a:solidFill>
          </a:ln>
        </p:spPr>
        <p:txBody>
          <a:bodyPr wrap="square" lIns="36576" tIns="36576" rIns="36576" bIns="36576" anchor="ctr" rtlCol="0">
            <a:noAutofit/>
          </a:bodyPr>
          <a:lstStyle/>
          <a:p>
            <a:pPr algn="ctr">
              <a:buNone/>
            </a:pPr>
            <a:r>
              <a:rPr lang="en-GB" sz="1000" b="0" i="0" dirty="0">
                <a:solidFill>
                  <a:srgbClr val="1A1A1A"/>
                </a:solidFill>
                <a:latin typeface="Arial"/>
                <a:cs typeface="Arial"/>
              </a:rPr>
              <a:t>staple</a:t>
            </a:r>
            <a:endParaRPr lang="en-GB" sz="1000" dirty="0"/>
          </a:p>
        </p:txBody>
      </p:sp>
      <p:cxnSp>
        <p:nvCxnSpPr>
          <p:cNvPr id="20" name="Connector 20"/>
          <p:cNvCxnSpPr/>
          <p:nvPr/>
        </p:nvCxnSpPr>
        <p:spPr>
          <a:xfrm>
            <a:off x="4818888" y="3200400"/>
            <a:ext cx="146304" cy="0"/>
          </a:xfrm>
          <a:prstGeom prst="line">
            <a:avLst/>
          </a:prstGeom>
          <a:ln w="15875">
            <a:solidFill>
              <a:srgbClr val="595959"/>
            </a:solidFill>
            <a:tailEnd type="triangle" w="med" len="med"/>
          </a:ln>
        </p:spPr>
      </p:cxnSp>
      <p:sp>
        <p:nvSpPr>
          <p:cNvPr id="21" name="Shape 21"/>
          <p:cNvSpPr/>
          <p:nvPr/>
        </p:nvSpPr>
        <p:spPr>
          <a:xfrm>
            <a:off x="4983480" y="2971800"/>
            <a:ext cx="868680" cy="457200"/>
          </a:xfrm>
          <a:prstGeom prst="roundRect">
            <a:avLst>
              <a:gd name="adj" fmla="val 8000"/>
            </a:avLst>
          </a:prstGeom>
          <a:solidFill>
            <a:srgbClr val="F3F8F9"/>
          </a:solidFill>
          <a:ln w="12700">
            <a:solidFill>
              <a:srgbClr val="9DB8BC"/>
            </a:solidFill>
          </a:ln>
        </p:spPr>
        <p:txBody>
          <a:bodyPr wrap="square" lIns="36576" tIns="36576" rIns="36576" bIns="36576" anchor="ctr" rtlCol="0">
            <a:noAutofit/>
          </a:bodyPr>
          <a:lstStyle/>
          <a:p>
            <a:pPr algn="ctr">
              <a:buNone/>
            </a:pPr>
            <a:r>
              <a:rPr lang="en-GB" sz="1000" b="0" i="0" dirty="0">
                <a:solidFill>
                  <a:srgbClr val="1A1A1A"/>
                </a:solidFill>
                <a:latin typeface="Arial"/>
                <a:cs typeface="Arial"/>
              </a:rPr>
              <a:t>walk to the department</a:t>
            </a:r>
            <a:endParaRPr lang="en-GB" sz="1000" dirty="0"/>
          </a:p>
        </p:txBody>
      </p:sp>
      <p:cxnSp>
        <p:nvCxnSpPr>
          <p:cNvPr id="22" name="Connector 22"/>
          <p:cNvCxnSpPr/>
          <p:nvPr/>
        </p:nvCxnSpPr>
        <p:spPr>
          <a:xfrm>
            <a:off x="5870448" y="3200400"/>
            <a:ext cx="146304" cy="0"/>
          </a:xfrm>
          <a:prstGeom prst="line">
            <a:avLst/>
          </a:prstGeom>
          <a:ln w="15875">
            <a:solidFill>
              <a:srgbClr val="595959"/>
            </a:solidFill>
            <a:tailEnd type="triangle" w="med" len="med"/>
          </a:ln>
        </p:spPr>
      </p:cxnSp>
      <p:sp>
        <p:nvSpPr>
          <p:cNvPr id="23" name="Shape 23"/>
          <p:cNvSpPr/>
          <p:nvPr/>
        </p:nvSpPr>
        <p:spPr>
          <a:xfrm>
            <a:off x="6035040" y="2971800"/>
            <a:ext cx="868680" cy="457200"/>
          </a:xfrm>
          <a:prstGeom prst="roundRect">
            <a:avLst>
              <a:gd name="adj" fmla="val 8000"/>
            </a:avLst>
          </a:prstGeom>
          <a:solidFill>
            <a:srgbClr val="F3F8F9"/>
          </a:solidFill>
          <a:ln w="12700">
            <a:solidFill>
              <a:srgbClr val="9DB8BC"/>
            </a:solidFill>
          </a:ln>
        </p:spPr>
        <p:txBody>
          <a:bodyPr wrap="square" lIns="36576" tIns="36576" rIns="36576" bIns="36576" anchor="ctr" rtlCol="0">
            <a:noAutofit/>
          </a:bodyPr>
          <a:lstStyle/>
          <a:p>
            <a:pPr algn="ctr">
              <a:buNone/>
            </a:pPr>
            <a:r>
              <a:rPr lang="en-GB" sz="1000" b="0" i="0" dirty="0">
                <a:solidFill>
                  <a:srgbClr val="1A1A1A"/>
                </a:solidFill>
                <a:latin typeface="Arial"/>
                <a:cs typeface="Arial"/>
              </a:rPr>
              <a:t>sign the register</a:t>
            </a:r>
            <a:endParaRPr lang="en-GB" sz="1000" dirty="0"/>
          </a:p>
        </p:txBody>
      </p:sp>
      <p:cxnSp>
        <p:nvCxnSpPr>
          <p:cNvPr id="24" name="Connector 24"/>
          <p:cNvCxnSpPr/>
          <p:nvPr/>
        </p:nvCxnSpPr>
        <p:spPr>
          <a:xfrm>
            <a:off x="6922008" y="3200400"/>
            <a:ext cx="146304" cy="0"/>
          </a:xfrm>
          <a:prstGeom prst="line">
            <a:avLst/>
          </a:prstGeom>
          <a:ln w="15875">
            <a:solidFill>
              <a:srgbClr val="595959"/>
            </a:solidFill>
            <a:tailEnd type="triangle" w="med" len="med"/>
          </a:ln>
        </p:spPr>
      </p:cxnSp>
      <p:sp>
        <p:nvSpPr>
          <p:cNvPr id="25" name="Shape 25"/>
          <p:cNvSpPr/>
          <p:nvPr/>
        </p:nvSpPr>
        <p:spPr>
          <a:xfrm>
            <a:off x="7086600" y="2971800"/>
            <a:ext cx="868680" cy="457200"/>
          </a:xfrm>
          <a:prstGeom prst="roundRect">
            <a:avLst>
              <a:gd name="adj" fmla="val 8000"/>
            </a:avLst>
          </a:prstGeom>
          <a:solidFill>
            <a:srgbClr val="F3F8F9"/>
          </a:solidFill>
          <a:ln w="12700">
            <a:solidFill>
              <a:srgbClr val="9DB8BC"/>
            </a:solidFill>
          </a:ln>
        </p:spPr>
        <p:txBody>
          <a:bodyPr wrap="square" lIns="36576" tIns="36576" rIns="36576" bIns="36576" anchor="ctr" rtlCol="0">
            <a:noAutofit/>
          </a:bodyPr>
          <a:lstStyle/>
          <a:p>
            <a:pPr algn="ctr">
              <a:buNone/>
            </a:pPr>
            <a:r>
              <a:rPr lang="en-GB" sz="1000" b="0" i="0" dirty="0">
                <a:solidFill>
                  <a:srgbClr val="1A1A1A"/>
                </a:solidFill>
                <a:latin typeface="Arial"/>
                <a:cs typeface="Arial"/>
              </a:rPr>
              <a:t>wait a week</a:t>
            </a:r>
            <a:endParaRPr lang="en-GB" sz="1000" dirty="0"/>
          </a:p>
        </p:txBody>
      </p:sp>
      <p:sp>
        <p:nvSpPr>
          <p:cNvPr id="26" name="Shape 26"/>
          <p:cNvSpPr txBox="1"/>
          <p:nvPr/>
        </p:nvSpPr>
        <p:spPr>
          <a:xfrm>
            <a:off x="548640" y="3630168"/>
            <a:ext cx="1188720" cy="457200"/>
          </a:xfrm>
          <a:prstGeom prst="rect">
            <a:avLst/>
          </a:prstGeom>
          <a:noFill/>
          <a:ln>
            <a:noFill/>
          </a:ln>
        </p:spPr>
        <p:txBody>
          <a:bodyPr wrap="square" lIns="18288" tIns="18288" rIns="18288" bIns="18288" anchor="ctr" rtlCol="0">
            <a:noAutofit/>
          </a:bodyPr>
          <a:lstStyle/>
          <a:p>
            <a:pPr algn="l">
              <a:buNone/>
            </a:pPr>
            <a:r>
              <a:rPr lang="en-GB" sz="1200" b="1" i="0" dirty="0">
                <a:solidFill>
                  <a:srgbClr val="2D2D8A"/>
                </a:solidFill>
                <a:latin typeface="Arial"/>
                <a:cs typeface="Arial"/>
              </a:rPr>
              <a:t>Now: LMS</a:t>
            </a:r>
            <a:endParaRPr lang="en-GB" sz="1200" dirty="0"/>
          </a:p>
        </p:txBody>
      </p:sp>
      <p:sp>
        <p:nvSpPr>
          <p:cNvPr id="27" name="Shape 27"/>
          <p:cNvSpPr/>
          <p:nvPr/>
        </p:nvSpPr>
        <p:spPr>
          <a:xfrm>
            <a:off x="1828800" y="3630168"/>
            <a:ext cx="868680" cy="457200"/>
          </a:xfrm>
          <a:prstGeom prst="roundRect">
            <a:avLst>
              <a:gd name="adj" fmla="val 8000"/>
            </a:avLst>
          </a:prstGeom>
          <a:solidFill>
            <a:srgbClr val="F3F8F9"/>
          </a:solidFill>
          <a:ln w="12700">
            <a:solidFill>
              <a:srgbClr val="9DB8BC"/>
            </a:solidFill>
          </a:ln>
        </p:spPr>
        <p:txBody>
          <a:bodyPr wrap="square" lIns="36576" tIns="36576" rIns="36576" bIns="36576" anchor="ctr" rtlCol="0">
            <a:noAutofit/>
          </a:bodyPr>
          <a:lstStyle/>
          <a:p>
            <a:pPr algn="ctr">
              <a:buNone/>
            </a:pPr>
            <a:r>
              <a:rPr lang="en-GB" sz="1000" b="0" i="0" dirty="0">
                <a:solidFill>
                  <a:srgbClr val="1A1A1A"/>
                </a:solidFill>
                <a:latin typeface="Arial"/>
                <a:cs typeface="Arial"/>
              </a:rPr>
              <a:t>write</a:t>
            </a:r>
            <a:endParaRPr lang="en-GB" sz="1000" dirty="0"/>
          </a:p>
        </p:txBody>
      </p:sp>
      <p:cxnSp>
        <p:nvCxnSpPr>
          <p:cNvPr id="28" name="Connector 28"/>
          <p:cNvCxnSpPr/>
          <p:nvPr/>
        </p:nvCxnSpPr>
        <p:spPr>
          <a:xfrm>
            <a:off x="2715768" y="3858768"/>
            <a:ext cx="146304" cy="0"/>
          </a:xfrm>
          <a:prstGeom prst="line">
            <a:avLst/>
          </a:prstGeom>
          <a:ln w="15875">
            <a:solidFill>
              <a:srgbClr val="595959"/>
            </a:solidFill>
            <a:tailEnd type="triangle" w="med" len="med"/>
          </a:ln>
        </p:spPr>
      </p:cxnSp>
      <p:sp>
        <p:nvSpPr>
          <p:cNvPr id="29" name="Shape 29"/>
          <p:cNvSpPr/>
          <p:nvPr/>
        </p:nvSpPr>
        <p:spPr>
          <a:xfrm>
            <a:off x="2880360" y="3630168"/>
            <a:ext cx="868680" cy="457200"/>
          </a:xfrm>
          <a:prstGeom prst="roundRect">
            <a:avLst>
              <a:gd name="adj" fmla="val 8000"/>
            </a:avLst>
          </a:prstGeom>
          <a:solidFill>
            <a:srgbClr val="F3F8F9"/>
          </a:solidFill>
          <a:ln w="12700">
            <a:solidFill>
              <a:srgbClr val="9DB8BC"/>
            </a:solidFill>
          </a:ln>
        </p:spPr>
        <p:txBody>
          <a:bodyPr wrap="square" lIns="36576" tIns="36576" rIns="36576" bIns="36576" anchor="ctr" rtlCol="0">
            <a:noAutofit/>
          </a:bodyPr>
          <a:lstStyle/>
          <a:p>
            <a:pPr algn="ctr">
              <a:buNone/>
            </a:pPr>
            <a:r>
              <a:rPr lang="en-GB" sz="1000" b="0" i="0" dirty="0">
                <a:solidFill>
                  <a:srgbClr val="1A1A1A"/>
                </a:solidFill>
                <a:latin typeface="Arial"/>
                <a:cs typeface="Arial"/>
              </a:rPr>
              <a:t>export PDF</a:t>
            </a:r>
            <a:endParaRPr lang="en-GB" sz="1000" dirty="0"/>
          </a:p>
        </p:txBody>
      </p:sp>
      <p:cxnSp>
        <p:nvCxnSpPr>
          <p:cNvPr id="30" name="Connector 30"/>
          <p:cNvCxnSpPr/>
          <p:nvPr/>
        </p:nvCxnSpPr>
        <p:spPr>
          <a:xfrm>
            <a:off x="3767328" y="3858768"/>
            <a:ext cx="146304" cy="0"/>
          </a:xfrm>
          <a:prstGeom prst="line">
            <a:avLst/>
          </a:prstGeom>
          <a:ln w="15875">
            <a:solidFill>
              <a:srgbClr val="595959"/>
            </a:solidFill>
            <a:tailEnd type="triangle" w="med" len="med"/>
          </a:ln>
        </p:spPr>
      </p:cxnSp>
      <p:sp>
        <p:nvSpPr>
          <p:cNvPr id="31" name="Shape 31"/>
          <p:cNvSpPr/>
          <p:nvPr/>
        </p:nvSpPr>
        <p:spPr>
          <a:xfrm>
            <a:off x="3931920" y="3630168"/>
            <a:ext cx="868680" cy="457200"/>
          </a:xfrm>
          <a:prstGeom prst="roundRect">
            <a:avLst>
              <a:gd name="adj" fmla="val 8000"/>
            </a:avLst>
          </a:prstGeom>
          <a:solidFill>
            <a:srgbClr val="F3F8F9"/>
          </a:solidFill>
          <a:ln w="12700">
            <a:solidFill>
              <a:srgbClr val="9DB8BC"/>
            </a:solidFill>
          </a:ln>
        </p:spPr>
        <p:txBody>
          <a:bodyPr wrap="square" lIns="36576" tIns="36576" rIns="36576" bIns="36576" anchor="ctr" rtlCol="0">
            <a:noAutofit/>
          </a:bodyPr>
          <a:lstStyle/>
          <a:p>
            <a:pPr algn="ctr">
              <a:buNone/>
            </a:pPr>
            <a:r>
              <a:rPr lang="en-GB" sz="1000" b="0" i="0" dirty="0">
                <a:solidFill>
                  <a:srgbClr val="1A1A1A"/>
                </a:solidFill>
                <a:latin typeface="Arial"/>
                <a:cs typeface="Arial"/>
              </a:rPr>
              <a:t>upload at 11:58 pm</a:t>
            </a:r>
            <a:endParaRPr lang="en-GB" sz="1000" dirty="0"/>
          </a:p>
        </p:txBody>
      </p:sp>
      <p:cxnSp>
        <p:nvCxnSpPr>
          <p:cNvPr id="32" name="Connector 32"/>
          <p:cNvCxnSpPr/>
          <p:nvPr/>
        </p:nvCxnSpPr>
        <p:spPr>
          <a:xfrm>
            <a:off x="4818888" y="3858768"/>
            <a:ext cx="146304" cy="0"/>
          </a:xfrm>
          <a:prstGeom prst="line">
            <a:avLst/>
          </a:prstGeom>
          <a:ln w="15875">
            <a:solidFill>
              <a:srgbClr val="595959"/>
            </a:solidFill>
            <a:tailEnd type="triangle" w="med" len="med"/>
          </a:ln>
        </p:spPr>
      </p:cxnSp>
      <p:sp>
        <p:nvSpPr>
          <p:cNvPr id="33" name="Shape 33"/>
          <p:cNvSpPr/>
          <p:nvPr/>
        </p:nvSpPr>
        <p:spPr>
          <a:xfrm>
            <a:off x="4983480" y="3630168"/>
            <a:ext cx="868680" cy="457200"/>
          </a:xfrm>
          <a:prstGeom prst="roundRect">
            <a:avLst>
              <a:gd name="adj" fmla="val 8000"/>
            </a:avLst>
          </a:prstGeom>
          <a:solidFill>
            <a:srgbClr val="F3F8F9"/>
          </a:solidFill>
          <a:ln w="12700">
            <a:solidFill>
              <a:srgbClr val="9DB8BC"/>
            </a:solidFill>
          </a:ln>
        </p:spPr>
        <p:txBody>
          <a:bodyPr wrap="square" lIns="36576" tIns="36576" rIns="36576" bIns="36576" anchor="ctr" rtlCol="0">
            <a:noAutofit/>
          </a:bodyPr>
          <a:lstStyle/>
          <a:p>
            <a:pPr algn="ctr">
              <a:buNone/>
            </a:pPr>
            <a:r>
              <a:rPr lang="en-GB" sz="1000" b="0" i="0" dirty="0">
                <a:solidFill>
                  <a:srgbClr val="1A1A1A"/>
                </a:solidFill>
                <a:latin typeface="Arial"/>
                <a:cs typeface="Arial"/>
              </a:rPr>
              <a:t>similarity score</a:t>
            </a:r>
            <a:endParaRPr lang="en-GB" sz="1000" dirty="0"/>
          </a:p>
        </p:txBody>
      </p:sp>
      <p:cxnSp>
        <p:nvCxnSpPr>
          <p:cNvPr id="34" name="Connector 34"/>
          <p:cNvCxnSpPr/>
          <p:nvPr/>
        </p:nvCxnSpPr>
        <p:spPr>
          <a:xfrm>
            <a:off x="5870448" y="3858768"/>
            <a:ext cx="146304" cy="0"/>
          </a:xfrm>
          <a:prstGeom prst="line">
            <a:avLst/>
          </a:prstGeom>
          <a:ln w="15875">
            <a:solidFill>
              <a:srgbClr val="595959"/>
            </a:solidFill>
            <a:tailEnd type="triangle" w="med" len="med"/>
          </a:ln>
        </p:spPr>
      </p:cxnSp>
      <p:sp>
        <p:nvSpPr>
          <p:cNvPr id="35" name="Shape 35"/>
          <p:cNvSpPr/>
          <p:nvPr/>
        </p:nvSpPr>
        <p:spPr>
          <a:xfrm>
            <a:off x="6035040" y="3630168"/>
            <a:ext cx="868680" cy="457200"/>
          </a:xfrm>
          <a:prstGeom prst="roundRect">
            <a:avLst>
              <a:gd name="adj" fmla="val 8000"/>
            </a:avLst>
          </a:prstGeom>
          <a:solidFill>
            <a:srgbClr val="F3F8F9"/>
          </a:solidFill>
          <a:ln w="12700">
            <a:solidFill>
              <a:srgbClr val="9DB8BC"/>
            </a:solidFill>
          </a:ln>
        </p:spPr>
        <p:txBody>
          <a:bodyPr wrap="square" lIns="36576" tIns="36576" rIns="36576" bIns="36576" anchor="ctr" rtlCol="0">
            <a:noAutofit/>
          </a:bodyPr>
          <a:lstStyle/>
          <a:p>
            <a:pPr algn="ctr">
              <a:buNone/>
            </a:pPr>
            <a:r>
              <a:rPr lang="en-GB" sz="1000" b="0" i="0" dirty="0">
                <a:solidFill>
                  <a:srgbClr val="1A1A1A"/>
                </a:solidFill>
                <a:latin typeface="Arial"/>
                <a:cs typeface="Arial"/>
              </a:rPr>
              <a:t>marks appear online</a:t>
            </a:r>
            <a:endParaRPr lang="en-GB" sz="1000" dirty="0"/>
          </a:p>
        </p:txBody>
      </p:sp>
      <p:sp>
        <p:nvSpPr>
          <p:cNvPr id="36" name="Shape 36"/>
          <p:cNvSpPr/>
          <p:nvPr/>
        </p:nvSpPr>
        <p:spPr>
          <a:xfrm>
            <a:off x="548640" y="4407408"/>
            <a:ext cx="2395728" cy="1188720"/>
          </a:xfrm>
          <a:prstGeom prst="roundRect">
            <a:avLst>
              <a:gd name="adj" fmla="val 8000"/>
            </a:avLst>
          </a:prstGeom>
          <a:solidFill>
            <a:srgbClr val="F3F8F9"/>
          </a:solidFill>
          <a:ln w="12700">
            <a:solidFill>
              <a:srgbClr val="9DB8BC"/>
            </a:solidFill>
          </a:ln>
        </p:spPr>
        <p:txBody>
          <a:bodyPr wrap="square" lIns="91440" tIns="91440" rIns="91440" bIns="91440" anchor="t" rtlCol="0">
            <a:noAutofit/>
          </a:bodyPr>
          <a:lstStyle/>
          <a:p>
            <a:pPr algn="l">
              <a:buNone/>
            </a:pPr>
            <a:r>
              <a:rPr lang="en-GB" sz="1100" b="1" i="0" dirty="0">
                <a:solidFill>
                  <a:srgbClr val="2D2D8A"/>
                </a:solidFill>
                <a:latin typeface="Arial"/>
                <a:cs typeface="Arial"/>
              </a:rPr>
              <a:t>1 min — write</a:t>
            </a:r>
            <a:endParaRPr lang="en-GB" sz="1100" dirty="0"/>
          </a:p>
          <a:p>
            <a:pPr algn="l">
              <a:spcBef>
                <a:spcPts val="300"/>
              </a:spcBef>
              <a:buNone/>
            </a:pPr>
            <a:r>
              <a:rPr lang="en-GB" sz="1100" b="0" i="0" dirty="0">
                <a:solidFill>
                  <a:srgbClr val="1A1A1A"/>
                </a:solidFill>
                <a:latin typeface="Arial"/>
                <a:cs typeface="Arial"/>
              </a:rPr>
              <a:t>One thing that changed besides the screen: when, where, who, how often, what can now go wrong?</a:t>
            </a:r>
            <a:endParaRPr lang="en-GB" sz="1100" dirty="0"/>
          </a:p>
        </p:txBody>
      </p:sp>
      <p:cxnSp>
        <p:nvCxnSpPr>
          <p:cNvPr id="37" name="Connector 37"/>
          <p:cNvCxnSpPr/>
          <p:nvPr/>
        </p:nvCxnSpPr>
        <p:spPr>
          <a:xfrm>
            <a:off x="2962656" y="5001768"/>
            <a:ext cx="146304" cy="0"/>
          </a:xfrm>
          <a:prstGeom prst="line">
            <a:avLst/>
          </a:prstGeom>
          <a:ln w="15875">
            <a:solidFill>
              <a:srgbClr val="595959"/>
            </a:solidFill>
            <a:tailEnd type="triangle" w="med" len="med"/>
          </a:ln>
        </p:spPr>
      </p:cxnSp>
      <p:sp>
        <p:nvSpPr>
          <p:cNvPr id="38" name="Shape 38"/>
          <p:cNvSpPr/>
          <p:nvPr/>
        </p:nvSpPr>
        <p:spPr>
          <a:xfrm>
            <a:off x="3145536" y="4407408"/>
            <a:ext cx="2395728" cy="1188720"/>
          </a:xfrm>
          <a:prstGeom prst="roundRect">
            <a:avLst>
              <a:gd name="adj" fmla="val 8000"/>
            </a:avLst>
          </a:prstGeom>
          <a:solidFill>
            <a:srgbClr val="F3F8F9"/>
          </a:solidFill>
          <a:ln w="12700">
            <a:solidFill>
              <a:srgbClr val="9DB8BC"/>
            </a:solidFill>
          </a:ln>
        </p:spPr>
        <p:txBody>
          <a:bodyPr wrap="square" lIns="91440" tIns="91440" rIns="91440" bIns="91440" anchor="t" rtlCol="0">
            <a:noAutofit/>
          </a:bodyPr>
          <a:lstStyle/>
          <a:p>
            <a:pPr algn="l">
              <a:buNone/>
            </a:pPr>
            <a:r>
              <a:rPr lang="en-GB" sz="1100" b="1" i="0" dirty="0">
                <a:solidFill>
                  <a:srgbClr val="2D2D8A"/>
                </a:solidFill>
                <a:latin typeface="Arial"/>
                <a:cs typeface="Arial"/>
              </a:rPr>
              <a:t>2 min — pair</a:t>
            </a:r>
            <a:endParaRPr lang="en-GB" sz="1100" dirty="0"/>
          </a:p>
          <a:p>
            <a:pPr algn="l">
              <a:spcBef>
                <a:spcPts val="300"/>
              </a:spcBef>
              <a:buNone/>
            </a:pPr>
            <a:r>
              <a:rPr lang="en-GB" sz="1100" b="0" i="0" dirty="0">
                <a:solidFill>
                  <a:srgbClr val="1A1A1A"/>
                </a:solidFill>
                <a:latin typeface="Arial"/>
                <a:cs typeface="Arial"/>
              </a:rPr>
              <a:t>Tell your neighbour. Is it better for the student? For the teacher? For the department office?</a:t>
            </a:r>
            <a:endParaRPr lang="en-GB" sz="1100" dirty="0"/>
          </a:p>
        </p:txBody>
      </p:sp>
      <p:cxnSp>
        <p:nvCxnSpPr>
          <p:cNvPr id="39" name="Connector 39"/>
          <p:cNvCxnSpPr/>
          <p:nvPr/>
        </p:nvCxnSpPr>
        <p:spPr>
          <a:xfrm>
            <a:off x="5559552" y="5001768"/>
            <a:ext cx="146304" cy="0"/>
          </a:xfrm>
          <a:prstGeom prst="line">
            <a:avLst/>
          </a:prstGeom>
          <a:ln w="15875">
            <a:solidFill>
              <a:srgbClr val="595959"/>
            </a:solidFill>
            <a:tailEnd type="triangle" w="med" len="med"/>
          </a:ln>
        </p:spPr>
      </p:cxnSp>
      <p:sp>
        <p:nvSpPr>
          <p:cNvPr id="40" name="Shape 40"/>
          <p:cNvSpPr/>
          <p:nvPr/>
        </p:nvSpPr>
        <p:spPr>
          <a:xfrm>
            <a:off x="5742432" y="4407408"/>
            <a:ext cx="2395728" cy="1188720"/>
          </a:xfrm>
          <a:prstGeom prst="roundRect">
            <a:avLst>
              <a:gd name="adj" fmla="val 8000"/>
            </a:avLst>
          </a:prstGeom>
          <a:solidFill>
            <a:srgbClr val="F3F8F9"/>
          </a:solidFill>
          <a:ln w="12700">
            <a:solidFill>
              <a:srgbClr val="9DB8BC"/>
            </a:solidFill>
          </a:ln>
        </p:spPr>
        <p:txBody>
          <a:bodyPr wrap="square" lIns="91440" tIns="91440" rIns="91440" bIns="91440" anchor="t" rtlCol="0">
            <a:noAutofit/>
          </a:bodyPr>
          <a:lstStyle/>
          <a:p>
            <a:pPr algn="l">
              <a:buNone/>
            </a:pPr>
            <a:r>
              <a:rPr lang="en-GB" sz="1100" b="1" i="0" dirty="0">
                <a:solidFill>
                  <a:srgbClr val="2D2D8A"/>
                </a:solidFill>
                <a:latin typeface="Arial"/>
                <a:cs typeface="Arial"/>
              </a:rPr>
              <a:t>Keep it!</a:t>
            </a:r>
            <a:endParaRPr lang="en-GB" sz="1100" dirty="0"/>
          </a:p>
          <a:p>
            <a:pPr algn="l">
              <a:spcBef>
                <a:spcPts val="300"/>
              </a:spcBef>
              <a:buNone/>
            </a:pPr>
            <a:r>
              <a:rPr lang="en-GB" sz="1100" b="0" i="0" dirty="0">
                <a:solidFill>
                  <a:srgbClr val="1A1A1A"/>
                </a:solidFill>
                <a:latin typeface="Arial"/>
                <a:cs typeface="Arial"/>
              </a:rPr>
              <a:t>Dix has a word for what changed: the intervention. Hold your example for the next slides.</a:t>
            </a:r>
            <a:endParaRPr lang="en-GB" sz="1100" dirty="0"/>
          </a:p>
        </p:txBody>
      </p:sp>
      <p:sp>
        <p:nvSpPr>
          <p:cNvPr id="41" name="Shape 41"/>
          <p:cNvSpPr txBox="1"/>
          <p:nvPr/>
        </p:nvSpPr>
        <p:spPr>
          <a:xfrm>
            <a:off x="548640" y="5760720"/>
            <a:ext cx="7589520" cy="457200"/>
          </a:xfrm>
          <a:prstGeom prst="rect">
            <a:avLst/>
          </a:prstGeom>
          <a:noFill/>
          <a:ln>
            <a:noFill/>
          </a:ln>
        </p:spPr>
        <p:txBody>
          <a:bodyPr wrap="square" lIns="18288" tIns="18288" rIns="18288" bIns="18288" anchor="t" rtlCol="0">
            <a:noAutofit/>
          </a:bodyPr>
          <a:lstStyle/>
          <a:p>
            <a:pPr algn="l">
              <a:buNone/>
            </a:pPr>
            <a:r>
              <a:rPr lang="en-GB" sz="1200" b="0" i="1" dirty="0">
                <a:solidFill>
                  <a:srgbClr val="595959"/>
                </a:solidFill>
                <a:latin typeface="Arial"/>
                <a:cs typeface="Arial"/>
              </a:rPr>
              <a:t>Dix’s stapler: the electric stapler changed the rhythm of office work (print, print, print … staple). New technology redesigns the task, not just the button.</a:t>
            </a:r>
            <a:endParaRPr lang="en-GB" sz="12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Goal, constraint or trade-off?</a:t>
            </a:r>
          </a:p>
        </p:txBody>
      </p:sp>
      <p:sp>
        <p:nvSpPr>
          <p:cNvPr id="11" name="Shape 11"/>
          <p:cNvSpPr/>
          <p:nvPr/>
        </p:nvSpPr>
        <p:spPr>
          <a:xfrm>
            <a:off x="548640" y="1810512"/>
            <a:ext cx="868680" cy="310896"/>
          </a:xfrm>
          <a:prstGeom prst="roundRect">
            <a:avLst>
              <a:gd name="adj" fmla="val 50000"/>
            </a:avLst>
          </a:prstGeom>
          <a:solidFill>
            <a:srgbClr val="333399"/>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QUIZ</a:t>
            </a:r>
            <a:endParaRPr lang="en-GB" sz="1100" dirty="0"/>
          </a:p>
        </p:txBody>
      </p:sp>
      <p:sp>
        <p:nvSpPr>
          <p:cNvPr id="12" name="Shape 12"/>
          <p:cNvSpPr txBox="1"/>
          <p:nvPr/>
        </p:nvSpPr>
        <p:spPr>
          <a:xfrm>
            <a:off x="1527048" y="1810512"/>
            <a:ext cx="6611112" cy="310896"/>
          </a:xfrm>
          <a:prstGeom prst="rect">
            <a:avLst/>
          </a:prstGeom>
          <a:noFill/>
          <a:ln>
            <a:noFill/>
          </a:ln>
        </p:spPr>
        <p:txBody>
          <a:bodyPr wrap="square" lIns="18288" tIns="18288" rIns="18288" bIns="18288" anchor="ctr" rtlCol="0">
            <a:noAutofit/>
          </a:bodyPr>
          <a:lstStyle/>
          <a:p>
            <a:pPr algn="l">
              <a:buNone/>
            </a:pPr>
            <a:r>
              <a:rPr lang="en-GB" sz="1200" b="0" i="1" dirty="0">
                <a:solidFill>
                  <a:srgbClr val="595959"/>
                </a:solidFill>
                <a:latin typeface="Arial"/>
                <a:cs typeface="Arial"/>
              </a:rPr>
              <a:t>2 min · write G, C or T for each line</a:t>
            </a:r>
            <a:endParaRPr lang="en-GB" sz="1200" dirty="0"/>
          </a:p>
        </p:txBody>
      </p:sp>
      <p:sp>
        <p:nvSpPr>
          <p:cNvPr id="13" name="Shape 13"/>
          <p:cNvSpPr/>
          <p:nvPr/>
        </p:nvSpPr>
        <p:spPr>
          <a:xfrm>
            <a:off x="548640" y="2240280"/>
            <a:ext cx="7589520" cy="457200"/>
          </a:xfrm>
          <a:prstGeom prst="roundRect">
            <a:avLst>
              <a:gd name="adj" fmla="val 8000"/>
            </a:avLst>
          </a:prstGeom>
          <a:solidFill>
            <a:srgbClr val="F3F8F9"/>
          </a:solidFill>
          <a:ln w="12700">
            <a:solidFill>
              <a:srgbClr val="9DB8BC"/>
            </a:solidFill>
          </a:ln>
        </p:spPr>
        <p:txBody>
          <a:bodyPr wrap="square" lIns="137160" tIns="137160" rIns="137160" bIns="137160" anchor="ctr" rtlCol="0">
            <a:noAutofit/>
          </a:bodyPr>
          <a:lstStyle/>
          <a:p>
            <a:pPr algn="l">
              <a:buNone/>
            </a:pPr>
            <a:r>
              <a:rPr lang="en-GB" sz="1500" b="1" i="0" dirty="0">
                <a:solidFill>
                  <a:srgbClr val="2D2D8A"/>
                </a:solidFill>
                <a:latin typeface="Arial"/>
                <a:cs typeface="Arial"/>
              </a:rPr>
              <a:t xml:space="preserve">Scenario: </a:t>
            </a:r>
            <a:r>
              <a:rPr lang="en-GB" sz="1500" b="0" i="0" dirty="0">
                <a:solidFill>
                  <a:srgbClr val="1A1A1A"/>
                </a:solidFill>
                <a:latin typeface="Arial"/>
                <a:cs typeface="Arial"/>
              </a:rPr>
              <a:t>a self-order kiosk for the UET cafeteria</a:t>
            </a:r>
            <a:endParaRPr lang="en-GB" sz="1500" dirty="0"/>
          </a:p>
        </p:txBody>
      </p:sp>
      <p:sp>
        <p:nvSpPr>
          <p:cNvPr id="14" name="Shape 14"/>
          <p:cNvSpPr/>
          <p:nvPr/>
        </p:nvSpPr>
        <p:spPr>
          <a:xfrm>
            <a:off x="548640" y="2898648"/>
            <a:ext cx="329184" cy="329184"/>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a</a:t>
            </a:r>
            <a:endParaRPr lang="en-GB" sz="1100" dirty="0"/>
          </a:p>
        </p:txBody>
      </p:sp>
      <p:sp>
        <p:nvSpPr>
          <p:cNvPr id="15" name="Shape 15"/>
          <p:cNvSpPr/>
          <p:nvPr/>
        </p:nvSpPr>
        <p:spPr>
          <a:xfrm>
            <a:off x="987552" y="2852928"/>
            <a:ext cx="5349240" cy="420624"/>
          </a:xfrm>
          <a:prstGeom prst="rect">
            <a:avLst/>
          </a:prstGeom>
          <a:solidFill>
            <a:srgbClr val="FFFFFF"/>
          </a:solidFill>
          <a:ln w="12700">
            <a:solidFill>
              <a:srgbClr val="9DB8BC"/>
            </a:solidFill>
          </a:ln>
        </p:spPr>
        <p:txBody>
          <a:bodyPr wrap="square" lIns="91440" tIns="91440" rIns="91440" bIns="91440" anchor="ctr" rtlCol="0">
            <a:noAutofit/>
          </a:bodyPr>
          <a:lstStyle/>
          <a:p>
            <a:pPr algn="l">
              <a:buNone/>
            </a:pPr>
            <a:r>
              <a:rPr lang="en-GB" sz="1150" b="0" i="0" dirty="0">
                <a:solidFill>
                  <a:srgbClr val="1A1A1A"/>
                </a:solidFill>
                <a:latin typeface="Arial"/>
                <a:cs typeface="Arial"/>
              </a:rPr>
              <a:t>Students between classes want to order lunch in under one minute</a:t>
            </a:r>
            <a:endParaRPr lang="en-GB" sz="1150" dirty="0"/>
          </a:p>
        </p:txBody>
      </p:sp>
      <p:sp>
        <p:nvSpPr>
          <p:cNvPr id="16" name="Shape 16"/>
          <p:cNvSpPr/>
          <p:nvPr/>
        </p:nvSpPr>
        <p:spPr>
          <a:xfrm>
            <a:off x="6473952" y="2889504"/>
            <a:ext cx="1664208" cy="347472"/>
          </a:xfrm>
          <a:prstGeom prst="roundRect">
            <a:avLst>
              <a:gd name="adj" fmla="val 50000"/>
            </a:avLst>
          </a:prstGeom>
          <a:noFill/>
          <a:ln w="12700">
            <a:solidFill>
              <a:srgbClr val="9DB8BC"/>
            </a:solidFill>
            <a:prstDash val="dash"/>
          </a:ln>
        </p:spPr>
        <p:txBody>
          <a:bodyPr wrap="square" lIns="36576" tIns="36576" rIns="36576" bIns="36576" anchor="ctr" rtlCol="0">
            <a:noAutofit/>
          </a:bodyPr>
          <a:lstStyle/>
          <a:p>
            <a:pPr algn="ctr">
              <a:buNone/>
            </a:pPr>
            <a:r>
              <a:rPr lang="en-GB" sz="1100" b="0" i="0" dirty="0">
                <a:solidFill>
                  <a:srgbClr val="595959"/>
                </a:solidFill>
                <a:latin typeface="Arial"/>
                <a:cs typeface="Arial"/>
              </a:rPr>
              <a:t>G  /  C  /  T</a:t>
            </a:r>
            <a:endParaRPr lang="en-GB" sz="1100" dirty="0"/>
          </a:p>
        </p:txBody>
      </p:sp>
      <p:sp>
        <p:nvSpPr>
          <p:cNvPr id="17" name="Shape 17"/>
          <p:cNvSpPr/>
          <p:nvPr/>
        </p:nvSpPr>
        <p:spPr>
          <a:xfrm>
            <a:off x="548640" y="3410712"/>
            <a:ext cx="329184" cy="329184"/>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b</a:t>
            </a:r>
            <a:endParaRPr lang="en-GB" sz="1100" dirty="0"/>
          </a:p>
        </p:txBody>
      </p:sp>
      <p:sp>
        <p:nvSpPr>
          <p:cNvPr id="18" name="Shape 18"/>
          <p:cNvSpPr/>
          <p:nvPr/>
        </p:nvSpPr>
        <p:spPr>
          <a:xfrm>
            <a:off x="987552" y="3364992"/>
            <a:ext cx="5349240" cy="420624"/>
          </a:xfrm>
          <a:prstGeom prst="rect">
            <a:avLst/>
          </a:prstGeom>
          <a:solidFill>
            <a:srgbClr val="FFFFFF"/>
          </a:solidFill>
          <a:ln w="12700">
            <a:solidFill>
              <a:srgbClr val="9DB8BC"/>
            </a:solidFill>
          </a:ln>
        </p:spPr>
        <p:txBody>
          <a:bodyPr wrap="square" lIns="91440" tIns="91440" rIns="91440" bIns="91440" anchor="ctr" rtlCol="0">
            <a:noAutofit/>
          </a:bodyPr>
          <a:lstStyle/>
          <a:p>
            <a:pPr algn="l">
              <a:buNone/>
            </a:pPr>
            <a:r>
              <a:rPr lang="en-GB" sz="1150" b="0" i="0" dirty="0">
                <a:solidFill>
                  <a:srgbClr val="1A1A1A"/>
                </a:solidFill>
                <a:latin typeface="Arial"/>
                <a:cs typeface="Arial"/>
              </a:rPr>
              <a:t>It must run on the cafeteria’s existing 10-inch Android tablet</a:t>
            </a:r>
            <a:endParaRPr lang="en-GB" sz="1150" dirty="0"/>
          </a:p>
        </p:txBody>
      </p:sp>
      <p:sp>
        <p:nvSpPr>
          <p:cNvPr id="19" name="Shape 19"/>
          <p:cNvSpPr/>
          <p:nvPr/>
        </p:nvSpPr>
        <p:spPr>
          <a:xfrm>
            <a:off x="6473952" y="3401568"/>
            <a:ext cx="1664208" cy="347472"/>
          </a:xfrm>
          <a:prstGeom prst="roundRect">
            <a:avLst>
              <a:gd name="adj" fmla="val 50000"/>
            </a:avLst>
          </a:prstGeom>
          <a:noFill/>
          <a:ln w="12700">
            <a:solidFill>
              <a:srgbClr val="9DB8BC"/>
            </a:solidFill>
            <a:prstDash val="dash"/>
          </a:ln>
        </p:spPr>
        <p:txBody>
          <a:bodyPr wrap="square" lIns="36576" tIns="36576" rIns="36576" bIns="36576" anchor="ctr" rtlCol="0">
            <a:noAutofit/>
          </a:bodyPr>
          <a:lstStyle/>
          <a:p>
            <a:pPr algn="ctr">
              <a:buNone/>
            </a:pPr>
            <a:r>
              <a:rPr lang="en-GB" sz="1100" b="0" i="0" dirty="0">
                <a:solidFill>
                  <a:srgbClr val="595959"/>
                </a:solidFill>
                <a:latin typeface="Arial"/>
                <a:cs typeface="Arial"/>
              </a:rPr>
              <a:t>G  /  C  /  T</a:t>
            </a:r>
            <a:endParaRPr lang="en-GB" sz="1100" dirty="0"/>
          </a:p>
        </p:txBody>
      </p:sp>
      <p:sp>
        <p:nvSpPr>
          <p:cNvPr id="20" name="Shape 20"/>
          <p:cNvSpPr/>
          <p:nvPr/>
        </p:nvSpPr>
        <p:spPr>
          <a:xfrm>
            <a:off x="548640" y="3922776"/>
            <a:ext cx="329184" cy="329184"/>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c</a:t>
            </a:r>
            <a:endParaRPr lang="en-GB" sz="1100" dirty="0"/>
          </a:p>
        </p:txBody>
      </p:sp>
      <p:sp>
        <p:nvSpPr>
          <p:cNvPr id="21" name="Shape 21"/>
          <p:cNvSpPr/>
          <p:nvPr/>
        </p:nvSpPr>
        <p:spPr>
          <a:xfrm>
            <a:off x="987552" y="3877056"/>
            <a:ext cx="5349240" cy="420624"/>
          </a:xfrm>
          <a:prstGeom prst="rect">
            <a:avLst/>
          </a:prstGeom>
          <a:solidFill>
            <a:srgbClr val="FFFFFF"/>
          </a:solidFill>
          <a:ln w="12700">
            <a:solidFill>
              <a:srgbClr val="9DB8BC"/>
            </a:solidFill>
          </a:ln>
        </p:spPr>
        <p:txBody>
          <a:bodyPr wrap="square" lIns="91440" tIns="91440" rIns="91440" bIns="91440" anchor="ctr" rtlCol="0">
            <a:noAutofit/>
          </a:bodyPr>
          <a:lstStyle/>
          <a:p>
            <a:pPr algn="l">
              <a:buNone/>
            </a:pPr>
            <a:r>
              <a:rPr lang="en-GB" sz="1150" b="0" i="0" dirty="0">
                <a:solidFill>
                  <a:srgbClr val="1A1A1A"/>
                </a:solidFill>
                <a:latin typeface="Arial"/>
                <a:cs typeface="Arial"/>
              </a:rPr>
              <a:t>Users: students, staff and visiting parents — some have never used a kiosk</a:t>
            </a:r>
            <a:endParaRPr lang="en-GB" sz="1150" dirty="0"/>
          </a:p>
        </p:txBody>
      </p:sp>
      <p:sp>
        <p:nvSpPr>
          <p:cNvPr id="22" name="Shape 22"/>
          <p:cNvSpPr/>
          <p:nvPr/>
        </p:nvSpPr>
        <p:spPr>
          <a:xfrm>
            <a:off x="6473952" y="3913632"/>
            <a:ext cx="1664208" cy="347472"/>
          </a:xfrm>
          <a:prstGeom prst="roundRect">
            <a:avLst>
              <a:gd name="adj" fmla="val 50000"/>
            </a:avLst>
          </a:prstGeom>
          <a:noFill/>
          <a:ln w="12700">
            <a:solidFill>
              <a:srgbClr val="9DB8BC"/>
            </a:solidFill>
            <a:prstDash val="dash"/>
          </a:ln>
        </p:spPr>
        <p:txBody>
          <a:bodyPr wrap="square" lIns="36576" tIns="36576" rIns="36576" bIns="36576" anchor="ctr" rtlCol="0">
            <a:noAutofit/>
          </a:bodyPr>
          <a:lstStyle/>
          <a:p>
            <a:pPr algn="ctr">
              <a:buNone/>
            </a:pPr>
            <a:r>
              <a:rPr lang="en-GB" sz="1100" b="0" i="0" dirty="0">
                <a:solidFill>
                  <a:srgbClr val="595959"/>
                </a:solidFill>
                <a:latin typeface="Arial"/>
                <a:cs typeface="Arial"/>
              </a:rPr>
              <a:t>G  /  C  /  T</a:t>
            </a:r>
            <a:endParaRPr lang="en-GB" sz="1100" dirty="0"/>
          </a:p>
        </p:txBody>
      </p:sp>
      <p:sp>
        <p:nvSpPr>
          <p:cNvPr id="23" name="Shape 23"/>
          <p:cNvSpPr/>
          <p:nvPr/>
        </p:nvSpPr>
        <p:spPr>
          <a:xfrm>
            <a:off x="548640" y="4434840"/>
            <a:ext cx="329184" cy="329184"/>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d</a:t>
            </a:r>
            <a:endParaRPr lang="en-GB" sz="1100" dirty="0"/>
          </a:p>
        </p:txBody>
      </p:sp>
      <p:sp>
        <p:nvSpPr>
          <p:cNvPr id="24" name="Shape 24"/>
          <p:cNvSpPr/>
          <p:nvPr/>
        </p:nvSpPr>
        <p:spPr>
          <a:xfrm>
            <a:off x="987552" y="4389120"/>
            <a:ext cx="5349240" cy="420624"/>
          </a:xfrm>
          <a:prstGeom prst="rect">
            <a:avLst/>
          </a:prstGeom>
          <a:solidFill>
            <a:srgbClr val="FFFFFF"/>
          </a:solidFill>
          <a:ln w="12700">
            <a:solidFill>
              <a:srgbClr val="9DB8BC"/>
            </a:solidFill>
          </a:ln>
        </p:spPr>
        <p:txBody>
          <a:bodyPr wrap="square" lIns="91440" tIns="91440" rIns="91440" bIns="91440" anchor="ctr" rtlCol="0">
            <a:noAutofit/>
          </a:bodyPr>
          <a:lstStyle/>
          <a:p>
            <a:pPr algn="l">
              <a:buNone/>
            </a:pPr>
            <a:r>
              <a:rPr lang="en-GB" sz="1150" b="0" i="0" dirty="0">
                <a:solidFill>
                  <a:srgbClr val="1A1A1A"/>
                </a:solidFill>
                <a:latin typeface="Arial"/>
                <a:cs typeface="Arial"/>
              </a:rPr>
              <a:t>No keyboard; greasy fingers; afternoon sun on the screen</a:t>
            </a:r>
            <a:endParaRPr lang="en-GB" sz="1150" dirty="0"/>
          </a:p>
        </p:txBody>
      </p:sp>
      <p:sp>
        <p:nvSpPr>
          <p:cNvPr id="25" name="Shape 25"/>
          <p:cNvSpPr/>
          <p:nvPr/>
        </p:nvSpPr>
        <p:spPr>
          <a:xfrm>
            <a:off x="6473952" y="4425696"/>
            <a:ext cx="1664208" cy="347472"/>
          </a:xfrm>
          <a:prstGeom prst="roundRect">
            <a:avLst>
              <a:gd name="adj" fmla="val 50000"/>
            </a:avLst>
          </a:prstGeom>
          <a:noFill/>
          <a:ln w="12700">
            <a:solidFill>
              <a:srgbClr val="9DB8BC"/>
            </a:solidFill>
            <a:prstDash val="dash"/>
          </a:ln>
        </p:spPr>
        <p:txBody>
          <a:bodyPr wrap="square" lIns="36576" tIns="36576" rIns="36576" bIns="36576" anchor="ctr" rtlCol="0">
            <a:noAutofit/>
          </a:bodyPr>
          <a:lstStyle/>
          <a:p>
            <a:pPr algn="ctr">
              <a:buNone/>
            </a:pPr>
            <a:r>
              <a:rPr lang="en-GB" sz="1100" b="0" i="0" dirty="0">
                <a:solidFill>
                  <a:srgbClr val="595959"/>
                </a:solidFill>
                <a:latin typeface="Arial"/>
                <a:cs typeface="Arial"/>
              </a:rPr>
              <a:t>G  /  C  /  T</a:t>
            </a:r>
            <a:endParaRPr lang="en-GB" sz="1100" dirty="0"/>
          </a:p>
        </p:txBody>
      </p:sp>
      <p:sp>
        <p:nvSpPr>
          <p:cNvPr id="26" name="Shape 26"/>
          <p:cNvSpPr/>
          <p:nvPr/>
        </p:nvSpPr>
        <p:spPr>
          <a:xfrm>
            <a:off x="548640" y="4946904"/>
            <a:ext cx="329184" cy="329184"/>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e</a:t>
            </a:r>
            <a:endParaRPr lang="en-GB" sz="1100" dirty="0"/>
          </a:p>
        </p:txBody>
      </p:sp>
      <p:sp>
        <p:nvSpPr>
          <p:cNvPr id="27" name="Shape 27"/>
          <p:cNvSpPr/>
          <p:nvPr/>
        </p:nvSpPr>
        <p:spPr>
          <a:xfrm>
            <a:off x="987552" y="4901184"/>
            <a:ext cx="5349240" cy="420624"/>
          </a:xfrm>
          <a:prstGeom prst="rect">
            <a:avLst/>
          </a:prstGeom>
          <a:solidFill>
            <a:srgbClr val="FFFFFF"/>
          </a:solidFill>
          <a:ln w="12700">
            <a:solidFill>
              <a:srgbClr val="9DB8BC"/>
            </a:solidFill>
          </a:ln>
        </p:spPr>
        <p:txBody>
          <a:bodyPr wrap="square" lIns="91440" tIns="91440" rIns="91440" bIns="91440" anchor="ctr" rtlCol="0">
            <a:noAutofit/>
          </a:bodyPr>
          <a:lstStyle/>
          <a:p>
            <a:pPr algn="l">
              <a:buNone/>
            </a:pPr>
            <a:r>
              <a:rPr lang="en-GB" sz="1150" b="0" i="0" dirty="0">
                <a:solidFill>
                  <a:srgbClr val="1A1A1A"/>
                </a:solidFill>
                <a:latin typeface="Arial"/>
                <a:cs typeface="Arial"/>
              </a:rPr>
              <a:t>Big photo buttons are fast, but only 8 fit — the menu has 40 items</a:t>
            </a:r>
            <a:endParaRPr lang="en-GB" sz="1150" dirty="0"/>
          </a:p>
        </p:txBody>
      </p:sp>
      <p:sp>
        <p:nvSpPr>
          <p:cNvPr id="28" name="Shape 28"/>
          <p:cNvSpPr/>
          <p:nvPr/>
        </p:nvSpPr>
        <p:spPr>
          <a:xfrm>
            <a:off x="6473952" y="4937760"/>
            <a:ext cx="1664208" cy="347472"/>
          </a:xfrm>
          <a:prstGeom prst="roundRect">
            <a:avLst>
              <a:gd name="adj" fmla="val 50000"/>
            </a:avLst>
          </a:prstGeom>
          <a:noFill/>
          <a:ln w="12700">
            <a:solidFill>
              <a:srgbClr val="9DB8BC"/>
            </a:solidFill>
            <a:prstDash val="dash"/>
          </a:ln>
        </p:spPr>
        <p:txBody>
          <a:bodyPr wrap="square" lIns="36576" tIns="36576" rIns="36576" bIns="36576" anchor="ctr" rtlCol="0">
            <a:noAutofit/>
          </a:bodyPr>
          <a:lstStyle/>
          <a:p>
            <a:pPr algn="ctr">
              <a:buNone/>
            </a:pPr>
            <a:r>
              <a:rPr lang="en-GB" sz="1100" b="0" i="0" dirty="0">
                <a:solidFill>
                  <a:srgbClr val="595959"/>
                </a:solidFill>
                <a:latin typeface="Arial"/>
                <a:cs typeface="Arial"/>
              </a:rPr>
              <a:t>G  /  C  /  T</a:t>
            </a:r>
            <a:endParaRPr lang="en-GB" sz="1100" dirty="0"/>
          </a:p>
        </p:txBody>
      </p:sp>
      <p:sp>
        <p:nvSpPr>
          <p:cNvPr id="29" name="Shape 29"/>
          <p:cNvSpPr/>
          <p:nvPr/>
        </p:nvSpPr>
        <p:spPr>
          <a:xfrm>
            <a:off x="548640" y="5458968"/>
            <a:ext cx="329184" cy="329184"/>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f</a:t>
            </a:r>
            <a:endParaRPr lang="en-GB" sz="1100" dirty="0"/>
          </a:p>
        </p:txBody>
      </p:sp>
      <p:sp>
        <p:nvSpPr>
          <p:cNvPr id="30" name="Shape 30"/>
          <p:cNvSpPr/>
          <p:nvPr/>
        </p:nvSpPr>
        <p:spPr>
          <a:xfrm>
            <a:off x="987552" y="5413248"/>
            <a:ext cx="5349240" cy="420624"/>
          </a:xfrm>
          <a:prstGeom prst="rect">
            <a:avLst/>
          </a:prstGeom>
          <a:solidFill>
            <a:srgbClr val="FFFFFF"/>
          </a:solidFill>
          <a:ln w="12700">
            <a:solidFill>
              <a:srgbClr val="9DB8BC"/>
            </a:solidFill>
          </a:ln>
        </p:spPr>
        <p:txBody>
          <a:bodyPr wrap="square" lIns="91440" tIns="91440" rIns="91440" bIns="91440" anchor="ctr" rtlCol="0">
            <a:noAutofit/>
          </a:bodyPr>
          <a:lstStyle/>
          <a:p>
            <a:pPr algn="l">
              <a:buNone/>
            </a:pPr>
            <a:r>
              <a:rPr lang="en-GB" sz="1150" b="0" i="0" dirty="0">
                <a:solidFill>
                  <a:srgbClr val="1A1A1A"/>
                </a:solidFill>
                <a:latin typeface="Arial"/>
                <a:cs typeface="Arial"/>
              </a:rPr>
              <a:t>Accepting cards is friendlier, but the card reader doubles the cost</a:t>
            </a:r>
            <a:endParaRPr lang="en-GB" sz="1150" dirty="0"/>
          </a:p>
        </p:txBody>
      </p:sp>
      <p:sp>
        <p:nvSpPr>
          <p:cNvPr id="31" name="Shape 31"/>
          <p:cNvSpPr/>
          <p:nvPr/>
        </p:nvSpPr>
        <p:spPr>
          <a:xfrm>
            <a:off x="6473952" y="5449824"/>
            <a:ext cx="1664208" cy="347472"/>
          </a:xfrm>
          <a:prstGeom prst="roundRect">
            <a:avLst>
              <a:gd name="adj" fmla="val 50000"/>
            </a:avLst>
          </a:prstGeom>
          <a:noFill/>
          <a:ln w="12700">
            <a:solidFill>
              <a:srgbClr val="9DB8BC"/>
            </a:solidFill>
            <a:prstDash val="dash"/>
          </a:ln>
        </p:spPr>
        <p:txBody>
          <a:bodyPr wrap="square" lIns="36576" tIns="36576" rIns="36576" bIns="36576" anchor="ctr" rtlCol="0">
            <a:noAutofit/>
          </a:bodyPr>
          <a:lstStyle/>
          <a:p>
            <a:pPr algn="ctr">
              <a:buNone/>
            </a:pPr>
            <a:r>
              <a:rPr lang="en-GB" sz="1100" b="0" i="0" dirty="0">
                <a:solidFill>
                  <a:srgbClr val="595959"/>
                </a:solidFill>
                <a:latin typeface="Arial"/>
                <a:cs typeface="Arial"/>
              </a:rPr>
              <a:t>G  /  C  /  T</a:t>
            </a:r>
            <a:endParaRPr lang="en-GB" sz="1100" dirty="0"/>
          </a:p>
        </p:txBody>
      </p:sp>
      <p:sp>
        <p:nvSpPr>
          <p:cNvPr id="32" name="Shape 32"/>
          <p:cNvSpPr txBox="1"/>
          <p:nvPr/>
        </p:nvSpPr>
        <p:spPr>
          <a:xfrm>
            <a:off x="548640" y="5943600"/>
            <a:ext cx="7589520" cy="457200"/>
          </a:xfrm>
          <a:prstGeom prst="rect">
            <a:avLst/>
          </a:prstGeom>
          <a:noFill/>
          <a:ln>
            <a:noFill/>
          </a:ln>
        </p:spPr>
        <p:txBody>
          <a:bodyPr wrap="square" lIns="18288" tIns="18288" rIns="18288" bIns="18288" anchor="t" rtlCol="0">
            <a:noAutofit/>
          </a:bodyPr>
          <a:lstStyle/>
          <a:p>
            <a:pPr algn="l">
              <a:buNone/>
            </a:pPr>
            <a:r>
              <a:rPr lang="en-GB" sz="1200" b="0" i="1" dirty="0">
                <a:solidFill>
                  <a:srgbClr val="595959"/>
                </a:solidFill>
                <a:latin typeface="Arial"/>
                <a:cs typeface="Arial"/>
              </a:rPr>
              <a:t>G = goal (who is it for, why do they want it) · C = constraint (materials, platforms) · T = trade-off</a:t>
            </a:r>
            <a:endParaRPr lang="en-GB" sz="12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Goal, constraint or trade-off?</a:t>
            </a:r>
          </a:p>
        </p:txBody>
      </p:sp>
      <p:sp>
        <p:nvSpPr>
          <p:cNvPr id="11" name="Shape 11"/>
          <p:cNvSpPr/>
          <p:nvPr/>
        </p:nvSpPr>
        <p:spPr>
          <a:xfrm>
            <a:off x="548640" y="1810512"/>
            <a:ext cx="1056132" cy="310896"/>
          </a:xfrm>
          <a:prstGeom prst="roundRect">
            <a:avLst>
              <a:gd name="adj" fmla="val 50000"/>
            </a:avLst>
          </a:prstGeom>
          <a:solidFill>
            <a:srgbClr val="404040"/>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ANSWERS</a:t>
            </a:r>
            <a:endParaRPr lang="en-GB" sz="1100" dirty="0"/>
          </a:p>
        </p:txBody>
      </p:sp>
      <p:sp>
        <p:nvSpPr>
          <p:cNvPr id="12" name="Shape 12"/>
          <p:cNvSpPr txBox="1"/>
          <p:nvPr/>
        </p:nvSpPr>
        <p:spPr>
          <a:xfrm>
            <a:off x="1714500" y="1810512"/>
            <a:ext cx="6423660" cy="310896"/>
          </a:xfrm>
          <a:prstGeom prst="rect">
            <a:avLst/>
          </a:prstGeom>
          <a:noFill/>
          <a:ln>
            <a:noFill/>
          </a:ln>
        </p:spPr>
        <p:txBody>
          <a:bodyPr wrap="square" lIns="18288" tIns="18288" rIns="18288" bIns="18288" anchor="ctr" rtlCol="0">
            <a:noAutofit/>
          </a:bodyPr>
          <a:lstStyle/>
          <a:p>
            <a:pPr algn="l">
              <a:buNone/>
            </a:pPr>
            <a:r>
              <a:rPr lang="en-GB" sz="1200" b="0" i="1" dirty="0">
                <a:solidFill>
                  <a:srgbClr val="595959"/>
                </a:solidFill>
                <a:latin typeface="Arial"/>
                <a:cs typeface="Arial"/>
              </a:rPr>
              <a:t>goal, constraint or trade-off?</a:t>
            </a:r>
            <a:endParaRPr lang="en-GB" sz="1200" dirty="0"/>
          </a:p>
        </p:txBody>
      </p:sp>
      <p:sp>
        <p:nvSpPr>
          <p:cNvPr id="13" name="Shape 13"/>
          <p:cNvSpPr/>
          <p:nvPr/>
        </p:nvSpPr>
        <p:spPr>
          <a:xfrm>
            <a:off x="548640" y="2240280"/>
            <a:ext cx="7589520" cy="457200"/>
          </a:xfrm>
          <a:prstGeom prst="roundRect">
            <a:avLst>
              <a:gd name="adj" fmla="val 8000"/>
            </a:avLst>
          </a:prstGeom>
          <a:solidFill>
            <a:srgbClr val="F3F8F9"/>
          </a:solidFill>
          <a:ln w="12700">
            <a:solidFill>
              <a:srgbClr val="9DB8BC"/>
            </a:solidFill>
          </a:ln>
        </p:spPr>
        <p:txBody>
          <a:bodyPr wrap="square" lIns="137160" tIns="137160" rIns="137160" bIns="137160" anchor="ctr" rtlCol="0">
            <a:noAutofit/>
          </a:bodyPr>
          <a:lstStyle/>
          <a:p>
            <a:pPr algn="l">
              <a:buNone/>
            </a:pPr>
            <a:r>
              <a:rPr lang="en-GB" sz="1500" b="1" i="0" dirty="0">
                <a:solidFill>
                  <a:srgbClr val="2D2D8A"/>
                </a:solidFill>
                <a:latin typeface="Arial"/>
                <a:cs typeface="Arial"/>
              </a:rPr>
              <a:t xml:space="preserve">Scenario: </a:t>
            </a:r>
            <a:r>
              <a:rPr lang="en-GB" sz="1500" b="0" i="0" dirty="0">
                <a:solidFill>
                  <a:srgbClr val="1A1A1A"/>
                </a:solidFill>
                <a:latin typeface="Arial"/>
                <a:cs typeface="Arial"/>
              </a:rPr>
              <a:t>a self-order kiosk for the UET cafeteria</a:t>
            </a:r>
            <a:endParaRPr lang="en-GB" sz="1500" dirty="0"/>
          </a:p>
        </p:txBody>
      </p:sp>
      <p:sp>
        <p:nvSpPr>
          <p:cNvPr id="14" name="Shape 14"/>
          <p:cNvSpPr/>
          <p:nvPr/>
        </p:nvSpPr>
        <p:spPr>
          <a:xfrm>
            <a:off x="548640" y="2898648"/>
            <a:ext cx="329184" cy="329184"/>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a</a:t>
            </a:r>
            <a:endParaRPr lang="en-GB" sz="1100" dirty="0"/>
          </a:p>
        </p:txBody>
      </p:sp>
      <p:sp>
        <p:nvSpPr>
          <p:cNvPr id="15" name="Shape 15"/>
          <p:cNvSpPr/>
          <p:nvPr/>
        </p:nvSpPr>
        <p:spPr>
          <a:xfrm>
            <a:off x="987552" y="2852928"/>
            <a:ext cx="5349240" cy="420624"/>
          </a:xfrm>
          <a:prstGeom prst="rect">
            <a:avLst/>
          </a:prstGeom>
          <a:solidFill>
            <a:srgbClr val="FFFFFF"/>
          </a:solidFill>
          <a:ln w="12700">
            <a:solidFill>
              <a:srgbClr val="9DB8BC"/>
            </a:solidFill>
          </a:ln>
        </p:spPr>
        <p:txBody>
          <a:bodyPr wrap="square" lIns="91440" tIns="91440" rIns="91440" bIns="91440" anchor="ctr" rtlCol="0">
            <a:noAutofit/>
          </a:bodyPr>
          <a:lstStyle/>
          <a:p>
            <a:pPr algn="l">
              <a:buNone/>
            </a:pPr>
            <a:r>
              <a:rPr lang="en-GB" sz="1150" b="0" i="0" dirty="0">
                <a:solidFill>
                  <a:srgbClr val="1A1A1A"/>
                </a:solidFill>
                <a:latin typeface="Arial"/>
                <a:cs typeface="Arial"/>
              </a:rPr>
              <a:t>Students between classes want to order lunch in under one minute</a:t>
            </a:r>
            <a:endParaRPr lang="en-GB" sz="1150" dirty="0"/>
          </a:p>
        </p:txBody>
      </p:sp>
      <p:sp>
        <p:nvSpPr>
          <p:cNvPr id="16" name="Shape 16"/>
          <p:cNvSpPr/>
          <p:nvPr/>
        </p:nvSpPr>
        <p:spPr>
          <a:xfrm>
            <a:off x="6473952" y="2889504"/>
            <a:ext cx="1664208" cy="347472"/>
          </a:xfrm>
          <a:prstGeom prst="roundRect">
            <a:avLst>
              <a:gd name="adj" fmla="val 50000"/>
            </a:avLst>
          </a:prstGeom>
          <a:solidFill>
            <a:srgbClr val="333399"/>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GOAL</a:t>
            </a:r>
            <a:endParaRPr lang="en-GB" sz="1100" dirty="0"/>
          </a:p>
        </p:txBody>
      </p:sp>
      <p:sp>
        <p:nvSpPr>
          <p:cNvPr id="17" name="Shape 17"/>
          <p:cNvSpPr/>
          <p:nvPr/>
        </p:nvSpPr>
        <p:spPr>
          <a:xfrm>
            <a:off x="548640" y="3410712"/>
            <a:ext cx="329184" cy="329184"/>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b</a:t>
            </a:r>
            <a:endParaRPr lang="en-GB" sz="1100" dirty="0"/>
          </a:p>
        </p:txBody>
      </p:sp>
      <p:sp>
        <p:nvSpPr>
          <p:cNvPr id="18" name="Shape 18"/>
          <p:cNvSpPr/>
          <p:nvPr/>
        </p:nvSpPr>
        <p:spPr>
          <a:xfrm>
            <a:off x="987552" y="3364992"/>
            <a:ext cx="5349240" cy="420624"/>
          </a:xfrm>
          <a:prstGeom prst="rect">
            <a:avLst/>
          </a:prstGeom>
          <a:solidFill>
            <a:srgbClr val="FFFFFF"/>
          </a:solidFill>
          <a:ln w="12700">
            <a:solidFill>
              <a:srgbClr val="9DB8BC"/>
            </a:solidFill>
          </a:ln>
        </p:spPr>
        <p:txBody>
          <a:bodyPr wrap="square" lIns="91440" tIns="91440" rIns="91440" bIns="91440" anchor="ctr" rtlCol="0">
            <a:noAutofit/>
          </a:bodyPr>
          <a:lstStyle/>
          <a:p>
            <a:pPr algn="l">
              <a:buNone/>
            </a:pPr>
            <a:r>
              <a:rPr lang="en-GB" sz="1150" b="0" i="0" dirty="0">
                <a:solidFill>
                  <a:srgbClr val="1A1A1A"/>
                </a:solidFill>
                <a:latin typeface="Arial"/>
                <a:cs typeface="Arial"/>
              </a:rPr>
              <a:t>It must run on the cafeteria’s existing 10-inch Android tablet</a:t>
            </a:r>
            <a:endParaRPr lang="en-GB" sz="1150" dirty="0"/>
          </a:p>
        </p:txBody>
      </p:sp>
      <p:sp>
        <p:nvSpPr>
          <p:cNvPr id="19" name="Shape 19"/>
          <p:cNvSpPr/>
          <p:nvPr/>
        </p:nvSpPr>
        <p:spPr>
          <a:xfrm>
            <a:off x="6473952" y="3401568"/>
            <a:ext cx="1664208" cy="347472"/>
          </a:xfrm>
          <a:prstGeom prst="roundRect">
            <a:avLst>
              <a:gd name="adj" fmla="val 50000"/>
            </a:avLst>
          </a:prstGeom>
          <a:solidFill>
            <a:srgbClr val="00726F"/>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CONSTRAINT</a:t>
            </a:r>
            <a:endParaRPr lang="en-GB" sz="1100" dirty="0"/>
          </a:p>
        </p:txBody>
      </p:sp>
      <p:sp>
        <p:nvSpPr>
          <p:cNvPr id="20" name="Shape 20"/>
          <p:cNvSpPr/>
          <p:nvPr/>
        </p:nvSpPr>
        <p:spPr>
          <a:xfrm>
            <a:off x="548640" y="3922776"/>
            <a:ext cx="329184" cy="329184"/>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c</a:t>
            </a:r>
            <a:endParaRPr lang="en-GB" sz="1100" dirty="0"/>
          </a:p>
        </p:txBody>
      </p:sp>
      <p:sp>
        <p:nvSpPr>
          <p:cNvPr id="21" name="Shape 21"/>
          <p:cNvSpPr/>
          <p:nvPr/>
        </p:nvSpPr>
        <p:spPr>
          <a:xfrm>
            <a:off x="987552" y="3877056"/>
            <a:ext cx="5349240" cy="420624"/>
          </a:xfrm>
          <a:prstGeom prst="rect">
            <a:avLst/>
          </a:prstGeom>
          <a:solidFill>
            <a:srgbClr val="FFFFFF"/>
          </a:solidFill>
          <a:ln w="12700">
            <a:solidFill>
              <a:srgbClr val="9DB8BC"/>
            </a:solidFill>
          </a:ln>
        </p:spPr>
        <p:txBody>
          <a:bodyPr wrap="square" lIns="91440" tIns="91440" rIns="91440" bIns="91440" anchor="ctr" rtlCol="0">
            <a:noAutofit/>
          </a:bodyPr>
          <a:lstStyle/>
          <a:p>
            <a:pPr algn="l">
              <a:buNone/>
            </a:pPr>
            <a:r>
              <a:rPr lang="en-GB" sz="1150" b="0" i="0" dirty="0">
                <a:solidFill>
                  <a:srgbClr val="1A1A1A"/>
                </a:solidFill>
                <a:latin typeface="Arial"/>
                <a:cs typeface="Arial"/>
              </a:rPr>
              <a:t>Users: students, staff and visiting parents — some have never used a kiosk</a:t>
            </a:r>
            <a:endParaRPr lang="en-GB" sz="1150" dirty="0"/>
          </a:p>
        </p:txBody>
      </p:sp>
      <p:sp>
        <p:nvSpPr>
          <p:cNvPr id="22" name="Shape 22"/>
          <p:cNvSpPr/>
          <p:nvPr/>
        </p:nvSpPr>
        <p:spPr>
          <a:xfrm>
            <a:off x="6473952" y="3913632"/>
            <a:ext cx="1664208" cy="347472"/>
          </a:xfrm>
          <a:prstGeom prst="roundRect">
            <a:avLst>
              <a:gd name="adj" fmla="val 50000"/>
            </a:avLst>
          </a:prstGeom>
          <a:solidFill>
            <a:srgbClr val="333399"/>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GOAL</a:t>
            </a:r>
            <a:endParaRPr lang="en-GB" sz="1100" dirty="0"/>
          </a:p>
        </p:txBody>
      </p:sp>
      <p:sp>
        <p:nvSpPr>
          <p:cNvPr id="23" name="Shape 23"/>
          <p:cNvSpPr/>
          <p:nvPr/>
        </p:nvSpPr>
        <p:spPr>
          <a:xfrm>
            <a:off x="548640" y="4434840"/>
            <a:ext cx="329184" cy="329184"/>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d</a:t>
            </a:r>
            <a:endParaRPr lang="en-GB" sz="1100" dirty="0"/>
          </a:p>
        </p:txBody>
      </p:sp>
      <p:sp>
        <p:nvSpPr>
          <p:cNvPr id="24" name="Shape 24"/>
          <p:cNvSpPr/>
          <p:nvPr/>
        </p:nvSpPr>
        <p:spPr>
          <a:xfrm>
            <a:off x="987552" y="4389120"/>
            <a:ext cx="5349240" cy="420624"/>
          </a:xfrm>
          <a:prstGeom prst="rect">
            <a:avLst/>
          </a:prstGeom>
          <a:solidFill>
            <a:srgbClr val="FFFFFF"/>
          </a:solidFill>
          <a:ln w="12700">
            <a:solidFill>
              <a:srgbClr val="9DB8BC"/>
            </a:solidFill>
          </a:ln>
        </p:spPr>
        <p:txBody>
          <a:bodyPr wrap="square" lIns="91440" tIns="91440" rIns="91440" bIns="91440" anchor="ctr" rtlCol="0">
            <a:noAutofit/>
          </a:bodyPr>
          <a:lstStyle/>
          <a:p>
            <a:pPr algn="l">
              <a:buNone/>
            </a:pPr>
            <a:r>
              <a:rPr lang="en-GB" sz="1150" b="0" i="0" dirty="0">
                <a:solidFill>
                  <a:srgbClr val="1A1A1A"/>
                </a:solidFill>
                <a:latin typeface="Arial"/>
                <a:cs typeface="Arial"/>
              </a:rPr>
              <a:t>No keyboard; greasy fingers; afternoon sun on the screen</a:t>
            </a:r>
            <a:endParaRPr lang="en-GB" sz="1150" dirty="0"/>
          </a:p>
        </p:txBody>
      </p:sp>
      <p:sp>
        <p:nvSpPr>
          <p:cNvPr id="25" name="Shape 25"/>
          <p:cNvSpPr/>
          <p:nvPr/>
        </p:nvSpPr>
        <p:spPr>
          <a:xfrm>
            <a:off x="6473952" y="4425696"/>
            <a:ext cx="1664208" cy="347472"/>
          </a:xfrm>
          <a:prstGeom prst="roundRect">
            <a:avLst>
              <a:gd name="adj" fmla="val 50000"/>
            </a:avLst>
          </a:prstGeom>
          <a:solidFill>
            <a:srgbClr val="00726F"/>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CONSTRAINT</a:t>
            </a:r>
            <a:endParaRPr lang="en-GB" sz="1100" dirty="0"/>
          </a:p>
        </p:txBody>
      </p:sp>
      <p:sp>
        <p:nvSpPr>
          <p:cNvPr id="26" name="Shape 26"/>
          <p:cNvSpPr/>
          <p:nvPr/>
        </p:nvSpPr>
        <p:spPr>
          <a:xfrm>
            <a:off x="548640" y="4946904"/>
            <a:ext cx="329184" cy="329184"/>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e</a:t>
            </a:r>
            <a:endParaRPr lang="en-GB" sz="1100" dirty="0"/>
          </a:p>
        </p:txBody>
      </p:sp>
      <p:sp>
        <p:nvSpPr>
          <p:cNvPr id="27" name="Shape 27"/>
          <p:cNvSpPr/>
          <p:nvPr/>
        </p:nvSpPr>
        <p:spPr>
          <a:xfrm>
            <a:off x="987552" y="4901184"/>
            <a:ext cx="5349240" cy="420624"/>
          </a:xfrm>
          <a:prstGeom prst="rect">
            <a:avLst/>
          </a:prstGeom>
          <a:solidFill>
            <a:srgbClr val="FFFFFF"/>
          </a:solidFill>
          <a:ln w="12700">
            <a:solidFill>
              <a:srgbClr val="9DB8BC"/>
            </a:solidFill>
          </a:ln>
        </p:spPr>
        <p:txBody>
          <a:bodyPr wrap="square" lIns="91440" tIns="91440" rIns="91440" bIns="91440" anchor="ctr" rtlCol="0">
            <a:noAutofit/>
          </a:bodyPr>
          <a:lstStyle/>
          <a:p>
            <a:pPr algn="l">
              <a:buNone/>
            </a:pPr>
            <a:r>
              <a:rPr lang="en-GB" sz="1150" b="0" i="0" dirty="0">
                <a:solidFill>
                  <a:srgbClr val="1A1A1A"/>
                </a:solidFill>
                <a:latin typeface="Arial"/>
                <a:cs typeface="Arial"/>
              </a:rPr>
              <a:t>Big photo buttons are fast, but only 8 fit — the menu has 40 items</a:t>
            </a:r>
            <a:endParaRPr lang="en-GB" sz="1150" dirty="0"/>
          </a:p>
        </p:txBody>
      </p:sp>
      <p:sp>
        <p:nvSpPr>
          <p:cNvPr id="28" name="Shape 28"/>
          <p:cNvSpPr/>
          <p:nvPr/>
        </p:nvSpPr>
        <p:spPr>
          <a:xfrm>
            <a:off x="6473952" y="4937760"/>
            <a:ext cx="1664208" cy="347472"/>
          </a:xfrm>
          <a:prstGeom prst="roundRect">
            <a:avLst>
              <a:gd name="adj" fmla="val 50000"/>
            </a:avLst>
          </a:prstGeom>
          <a:solidFill>
            <a:srgbClr val="8A5A00"/>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TRADE-OFF</a:t>
            </a:r>
            <a:endParaRPr lang="en-GB" sz="1100" dirty="0"/>
          </a:p>
        </p:txBody>
      </p:sp>
      <p:sp>
        <p:nvSpPr>
          <p:cNvPr id="29" name="Shape 29"/>
          <p:cNvSpPr/>
          <p:nvPr/>
        </p:nvSpPr>
        <p:spPr>
          <a:xfrm>
            <a:off x="548640" y="5458968"/>
            <a:ext cx="329184" cy="329184"/>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f</a:t>
            </a:r>
            <a:endParaRPr lang="en-GB" sz="1100" dirty="0"/>
          </a:p>
        </p:txBody>
      </p:sp>
      <p:sp>
        <p:nvSpPr>
          <p:cNvPr id="30" name="Shape 30"/>
          <p:cNvSpPr/>
          <p:nvPr/>
        </p:nvSpPr>
        <p:spPr>
          <a:xfrm>
            <a:off x="987552" y="5413248"/>
            <a:ext cx="5349240" cy="420624"/>
          </a:xfrm>
          <a:prstGeom prst="rect">
            <a:avLst/>
          </a:prstGeom>
          <a:solidFill>
            <a:srgbClr val="FFFFFF"/>
          </a:solidFill>
          <a:ln w="12700">
            <a:solidFill>
              <a:srgbClr val="9DB8BC"/>
            </a:solidFill>
          </a:ln>
        </p:spPr>
        <p:txBody>
          <a:bodyPr wrap="square" lIns="91440" tIns="91440" rIns="91440" bIns="91440" anchor="ctr" rtlCol="0">
            <a:noAutofit/>
          </a:bodyPr>
          <a:lstStyle/>
          <a:p>
            <a:pPr algn="l">
              <a:buNone/>
            </a:pPr>
            <a:r>
              <a:rPr lang="en-GB" sz="1150" b="0" i="0" dirty="0">
                <a:solidFill>
                  <a:srgbClr val="1A1A1A"/>
                </a:solidFill>
                <a:latin typeface="Arial"/>
                <a:cs typeface="Arial"/>
              </a:rPr>
              <a:t>Accepting cards is friendlier, but the card reader doubles the cost</a:t>
            </a:r>
            <a:endParaRPr lang="en-GB" sz="1150" dirty="0"/>
          </a:p>
        </p:txBody>
      </p:sp>
      <p:sp>
        <p:nvSpPr>
          <p:cNvPr id="31" name="Shape 31"/>
          <p:cNvSpPr/>
          <p:nvPr/>
        </p:nvSpPr>
        <p:spPr>
          <a:xfrm>
            <a:off x="6473952" y="5449824"/>
            <a:ext cx="1664208" cy="347472"/>
          </a:xfrm>
          <a:prstGeom prst="roundRect">
            <a:avLst>
              <a:gd name="adj" fmla="val 50000"/>
            </a:avLst>
          </a:prstGeom>
          <a:solidFill>
            <a:srgbClr val="8A5A00"/>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TRADE-OFF</a:t>
            </a:r>
            <a:endParaRPr lang="en-GB" sz="1100" dirty="0"/>
          </a:p>
        </p:txBody>
      </p:sp>
      <p:sp>
        <p:nvSpPr>
          <p:cNvPr id="32" name="Shape 32"/>
          <p:cNvSpPr txBox="1"/>
          <p:nvPr/>
        </p:nvSpPr>
        <p:spPr>
          <a:xfrm>
            <a:off x="548640" y="5943600"/>
            <a:ext cx="7589520" cy="457200"/>
          </a:xfrm>
          <a:prstGeom prst="rect">
            <a:avLst/>
          </a:prstGeom>
          <a:noFill/>
          <a:ln>
            <a:noFill/>
          </a:ln>
        </p:spPr>
        <p:txBody>
          <a:bodyPr wrap="square" lIns="18288" tIns="18288" rIns="18288" bIns="18288" anchor="t" rtlCol="0">
            <a:noAutofit/>
          </a:bodyPr>
          <a:lstStyle/>
          <a:p>
            <a:pPr algn="l">
              <a:buNone/>
            </a:pPr>
            <a:r>
              <a:rPr lang="en-GB" sz="1200" b="0" i="1" dirty="0">
                <a:solidFill>
                  <a:srgbClr val="595959"/>
                </a:solidFill>
                <a:latin typeface="Arial"/>
                <a:cs typeface="Arial"/>
              </a:rPr>
              <a:t>Design = achieving goals within constraints. The interesting decisions are the trade-offs. Keep this kiosk in mind — we prototype it on paper in Lecture 2.</a:t>
            </a:r>
            <a:endParaRPr lang="en-GB" sz="12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User error or design error?</a:t>
            </a:r>
          </a:p>
        </p:txBody>
      </p:sp>
      <p:sp>
        <p:nvSpPr>
          <p:cNvPr id="11" name="Shape 11"/>
          <p:cNvSpPr/>
          <p:nvPr/>
        </p:nvSpPr>
        <p:spPr>
          <a:xfrm>
            <a:off x="548640" y="1810512"/>
            <a:ext cx="868680" cy="310896"/>
          </a:xfrm>
          <a:prstGeom prst="roundRect">
            <a:avLst>
              <a:gd name="adj" fmla="val 50000"/>
            </a:avLst>
          </a:prstGeom>
          <a:solidFill>
            <a:srgbClr val="00726F"/>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POLL</a:t>
            </a:r>
            <a:endParaRPr lang="en-GB" sz="1100" dirty="0"/>
          </a:p>
        </p:txBody>
      </p:sp>
      <p:sp>
        <p:nvSpPr>
          <p:cNvPr id="12" name="Shape 12"/>
          <p:cNvSpPr txBox="1"/>
          <p:nvPr/>
        </p:nvSpPr>
        <p:spPr>
          <a:xfrm>
            <a:off x="1527048" y="1810512"/>
            <a:ext cx="6611112" cy="310896"/>
          </a:xfrm>
          <a:prstGeom prst="rect">
            <a:avLst/>
          </a:prstGeom>
          <a:noFill/>
          <a:ln>
            <a:noFill/>
          </a:ln>
        </p:spPr>
        <p:txBody>
          <a:bodyPr wrap="square" lIns="18288" tIns="18288" rIns="18288" bIns="18288" anchor="ctr" rtlCol="0">
            <a:noAutofit/>
          </a:bodyPr>
          <a:lstStyle/>
          <a:p>
            <a:pPr algn="l">
              <a:buNone/>
            </a:pPr>
            <a:r>
              <a:rPr lang="en-GB" sz="1200" b="0" i="1" dirty="0">
                <a:solidFill>
                  <a:srgbClr val="595959"/>
                </a:solidFill>
                <a:latin typeface="Arial"/>
                <a:cs typeface="Arial"/>
              </a:rPr>
              <a:t>1 finger = user error · 2 fingers = design error</a:t>
            </a:r>
            <a:endParaRPr lang="en-GB" sz="1200" dirty="0"/>
          </a:p>
        </p:txBody>
      </p:sp>
      <p:sp>
        <p:nvSpPr>
          <p:cNvPr id="13" name="Shape 13"/>
          <p:cNvSpPr/>
          <p:nvPr/>
        </p:nvSpPr>
        <p:spPr>
          <a:xfrm>
            <a:off x="548640" y="2286000"/>
            <a:ext cx="3749040" cy="1554480"/>
          </a:xfrm>
          <a:prstGeom prst="roundRect">
            <a:avLst>
              <a:gd name="adj" fmla="val 8000"/>
            </a:avLst>
          </a:prstGeom>
          <a:solidFill>
            <a:srgbClr val="F3F8F9"/>
          </a:solidFill>
          <a:ln w="12700">
            <a:solidFill>
              <a:srgbClr val="9DB8BC"/>
            </a:solidFill>
          </a:ln>
        </p:spPr>
        <p:txBody>
          <a:bodyPr wrap="square" lIns="91440" tIns="91440" rIns="91440" bIns="91440" anchor="t" rtlCol="0">
            <a:noAutofit/>
          </a:bodyPr>
          <a:lstStyle/>
          <a:p>
            <a:endParaRPr lang="en-GB" sz="1200" dirty="0"/>
          </a:p>
        </p:txBody>
      </p:sp>
      <p:sp>
        <p:nvSpPr>
          <p:cNvPr id="14" name="Shape 14"/>
          <p:cNvSpPr/>
          <p:nvPr/>
        </p:nvSpPr>
        <p:spPr>
          <a:xfrm>
            <a:off x="658368" y="2414016"/>
            <a:ext cx="310896" cy="310896"/>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1</a:t>
            </a:r>
            <a:endParaRPr lang="en-GB" sz="1100" dirty="0"/>
          </a:p>
        </p:txBody>
      </p:sp>
      <p:sp>
        <p:nvSpPr>
          <p:cNvPr id="15" name="Shape 15"/>
          <p:cNvSpPr txBox="1"/>
          <p:nvPr/>
        </p:nvSpPr>
        <p:spPr>
          <a:xfrm>
            <a:off x="1051560" y="2359152"/>
            <a:ext cx="3154680" cy="868680"/>
          </a:xfrm>
          <a:prstGeom prst="rect">
            <a:avLst/>
          </a:prstGeom>
          <a:noFill/>
          <a:ln>
            <a:noFill/>
          </a:ln>
        </p:spPr>
        <p:txBody>
          <a:bodyPr wrap="square" lIns="18288" tIns="18288" rIns="18288" bIns="18288" anchor="t" rtlCol="0">
            <a:noAutofit/>
          </a:bodyPr>
          <a:lstStyle/>
          <a:p>
            <a:pPr algn="l">
              <a:buNone/>
            </a:pPr>
            <a:r>
              <a:rPr lang="en-GB" sz="1150" b="0" i="0" dirty="0">
                <a:solidFill>
                  <a:srgbClr val="1A1A1A"/>
                </a:solidFill>
                <a:latin typeface="Arial"/>
                <a:cs typeface="Arial"/>
              </a:rPr>
              <a:t>A student pays the semester fee twice: the ‘Pay’ button showed nothing for 10 seconds, so she pressed it again.</a:t>
            </a:r>
            <a:endParaRPr lang="en-GB" sz="1150" dirty="0"/>
          </a:p>
        </p:txBody>
      </p:sp>
      <p:sp>
        <p:nvSpPr>
          <p:cNvPr id="16" name="Shape 16"/>
          <p:cNvSpPr/>
          <p:nvPr/>
        </p:nvSpPr>
        <p:spPr>
          <a:xfrm>
            <a:off x="1051560" y="3364992"/>
            <a:ext cx="1371600" cy="310896"/>
          </a:xfrm>
          <a:prstGeom prst="roundRect">
            <a:avLst>
              <a:gd name="adj" fmla="val 50000"/>
            </a:avLst>
          </a:prstGeom>
          <a:noFill/>
          <a:ln w="12700">
            <a:solidFill>
              <a:srgbClr val="333399"/>
            </a:solidFill>
          </a:ln>
        </p:spPr>
        <p:txBody>
          <a:bodyPr wrap="square" lIns="36576" tIns="36576" rIns="36576" bIns="36576" anchor="ctr" rtlCol="0">
            <a:noAutofit/>
          </a:bodyPr>
          <a:lstStyle/>
          <a:p>
            <a:pPr algn="ctr">
              <a:buNone/>
            </a:pPr>
            <a:r>
              <a:rPr lang="en-GB" sz="1100" b="0" i="0" dirty="0">
                <a:solidFill>
                  <a:srgbClr val="333399"/>
                </a:solidFill>
                <a:latin typeface="Arial"/>
                <a:cs typeface="Arial"/>
              </a:rPr>
              <a:t>1  User</a:t>
            </a:r>
            <a:endParaRPr lang="en-GB" sz="1100" dirty="0"/>
          </a:p>
        </p:txBody>
      </p:sp>
      <p:sp>
        <p:nvSpPr>
          <p:cNvPr id="17" name="Shape 17"/>
          <p:cNvSpPr/>
          <p:nvPr/>
        </p:nvSpPr>
        <p:spPr>
          <a:xfrm>
            <a:off x="2560320" y="3364992"/>
            <a:ext cx="1371600" cy="310896"/>
          </a:xfrm>
          <a:prstGeom prst="roundRect">
            <a:avLst>
              <a:gd name="adj" fmla="val 50000"/>
            </a:avLst>
          </a:prstGeom>
          <a:noFill/>
          <a:ln w="12700">
            <a:solidFill>
              <a:srgbClr val="4E7A12"/>
            </a:solidFill>
          </a:ln>
        </p:spPr>
        <p:txBody>
          <a:bodyPr wrap="square" lIns="36576" tIns="36576" rIns="36576" bIns="36576" anchor="ctr" rtlCol="0">
            <a:noAutofit/>
          </a:bodyPr>
          <a:lstStyle/>
          <a:p>
            <a:pPr algn="ctr">
              <a:buNone/>
            </a:pPr>
            <a:r>
              <a:rPr lang="en-GB" sz="1100" b="0" i="0" dirty="0">
                <a:solidFill>
                  <a:srgbClr val="4E7A12"/>
                </a:solidFill>
                <a:latin typeface="Arial"/>
                <a:cs typeface="Arial"/>
              </a:rPr>
              <a:t>2  Design</a:t>
            </a:r>
            <a:endParaRPr lang="en-GB" sz="1100" dirty="0"/>
          </a:p>
        </p:txBody>
      </p:sp>
      <p:sp>
        <p:nvSpPr>
          <p:cNvPr id="18" name="Shape 18"/>
          <p:cNvSpPr/>
          <p:nvPr/>
        </p:nvSpPr>
        <p:spPr>
          <a:xfrm>
            <a:off x="4389120" y="2286000"/>
            <a:ext cx="3749040" cy="1554480"/>
          </a:xfrm>
          <a:prstGeom prst="roundRect">
            <a:avLst>
              <a:gd name="adj" fmla="val 8000"/>
            </a:avLst>
          </a:prstGeom>
          <a:solidFill>
            <a:srgbClr val="F3F8F9"/>
          </a:solidFill>
          <a:ln w="12700">
            <a:solidFill>
              <a:srgbClr val="9DB8BC"/>
            </a:solidFill>
          </a:ln>
        </p:spPr>
        <p:txBody>
          <a:bodyPr wrap="square" lIns="91440" tIns="91440" rIns="91440" bIns="91440" anchor="t" rtlCol="0">
            <a:noAutofit/>
          </a:bodyPr>
          <a:lstStyle/>
          <a:p>
            <a:endParaRPr lang="en-GB" sz="1200" dirty="0"/>
          </a:p>
        </p:txBody>
      </p:sp>
      <p:sp>
        <p:nvSpPr>
          <p:cNvPr id="19" name="Shape 19"/>
          <p:cNvSpPr/>
          <p:nvPr/>
        </p:nvSpPr>
        <p:spPr>
          <a:xfrm>
            <a:off x="4498848" y="2414016"/>
            <a:ext cx="310896" cy="310896"/>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2</a:t>
            </a:r>
            <a:endParaRPr lang="en-GB" sz="1100" dirty="0"/>
          </a:p>
        </p:txBody>
      </p:sp>
      <p:sp>
        <p:nvSpPr>
          <p:cNvPr id="20" name="Shape 20"/>
          <p:cNvSpPr txBox="1"/>
          <p:nvPr/>
        </p:nvSpPr>
        <p:spPr>
          <a:xfrm>
            <a:off x="4892040" y="2359152"/>
            <a:ext cx="3154680" cy="868680"/>
          </a:xfrm>
          <a:prstGeom prst="rect">
            <a:avLst/>
          </a:prstGeom>
          <a:noFill/>
          <a:ln>
            <a:noFill/>
          </a:ln>
        </p:spPr>
        <p:txBody>
          <a:bodyPr wrap="square" lIns="18288" tIns="18288" rIns="18288" bIns="18288" anchor="t" rtlCol="0">
            <a:noAutofit/>
          </a:bodyPr>
          <a:lstStyle/>
          <a:p>
            <a:pPr algn="l">
              <a:buNone/>
            </a:pPr>
            <a:r>
              <a:rPr lang="en-GB" sz="1150" b="0" i="0" dirty="0">
                <a:solidFill>
                  <a:srgbClr val="1A1A1A"/>
                </a:solidFill>
                <a:latin typeface="Arial"/>
                <a:cs typeface="Arial"/>
              </a:rPr>
              <a:t>A nurse sets 10 ml/h instead of 1.0 ml/h: the decimal point on the pump keypad is tiny and easy to miss.</a:t>
            </a:r>
            <a:endParaRPr lang="en-GB" sz="1150" dirty="0"/>
          </a:p>
        </p:txBody>
      </p:sp>
      <p:sp>
        <p:nvSpPr>
          <p:cNvPr id="21" name="Shape 21"/>
          <p:cNvSpPr/>
          <p:nvPr/>
        </p:nvSpPr>
        <p:spPr>
          <a:xfrm>
            <a:off x="4892040" y="3364992"/>
            <a:ext cx="1371600" cy="310896"/>
          </a:xfrm>
          <a:prstGeom prst="roundRect">
            <a:avLst>
              <a:gd name="adj" fmla="val 50000"/>
            </a:avLst>
          </a:prstGeom>
          <a:noFill/>
          <a:ln w="12700">
            <a:solidFill>
              <a:srgbClr val="333399"/>
            </a:solidFill>
          </a:ln>
        </p:spPr>
        <p:txBody>
          <a:bodyPr wrap="square" lIns="36576" tIns="36576" rIns="36576" bIns="36576" anchor="ctr" rtlCol="0">
            <a:noAutofit/>
          </a:bodyPr>
          <a:lstStyle/>
          <a:p>
            <a:pPr algn="ctr">
              <a:buNone/>
            </a:pPr>
            <a:r>
              <a:rPr lang="en-GB" sz="1100" b="0" i="0" dirty="0">
                <a:solidFill>
                  <a:srgbClr val="333399"/>
                </a:solidFill>
                <a:latin typeface="Arial"/>
                <a:cs typeface="Arial"/>
              </a:rPr>
              <a:t>1  User</a:t>
            </a:r>
            <a:endParaRPr lang="en-GB" sz="1100" dirty="0"/>
          </a:p>
        </p:txBody>
      </p:sp>
      <p:sp>
        <p:nvSpPr>
          <p:cNvPr id="22" name="Shape 22"/>
          <p:cNvSpPr/>
          <p:nvPr/>
        </p:nvSpPr>
        <p:spPr>
          <a:xfrm>
            <a:off x="6400800" y="3364992"/>
            <a:ext cx="1371600" cy="310896"/>
          </a:xfrm>
          <a:prstGeom prst="roundRect">
            <a:avLst>
              <a:gd name="adj" fmla="val 50000"/>
            </a:avLst>
          </a:prstGeom>
          <a:noFill/>
          <a:ln w="12700">
            <a:solidFill>
              <a:srgbClr val="4E7A12"/>
            </a:solidFill>
          </a:ln>
        </p:spPr>
        <p:txBody>
          <a:bodyPr wrap="square" lIns="36576" tIns="36576" rIns="36576" bIns="36576" anchor="ctr" rtlCol="0">
            <a:noAutofit/>
          </a:bodyPr>
          <a:lstStyle/>
          <a:p>
            <a:pPr algn="ctr">
              <a:buNone/>
            </a:pPr>
            <a:r>
              <a:rPr lang="en-GB" sz="1100" b="0" i="0" dirty="0">
                <a:solidFill>
                  <a:srgbClr val="4E7A12"/>
                </a:solidFill>
                <a:latin typeface="Arial"/>
                <a:cs typeface="Arial"/>
              </a:rPr>
              <a:t>2  Design</a:t>
            </a:r>
            <a:endParaRPr lang="en-GB" sz="1100" dirty="0"/>
          </a:p>
        </p:txBody>
      </p:sp>
      <p:sp>
        <p:nvSpPr>
          <p:cNvPr id="23" name="Shape 23"/>
          <p:cNvSpPr/>
          <p:nvPr/>
        </p:nvSpPr>
        <p:spPr>
          <a:xfrm>
            <a:off x="548640" y="3959352"/>
            <a:ext cx="3749040" cy="1554480"/>
          </a:xfrm>
          <a:prstGeom prst="roundRect">
            <a:avLst>
              <a:gd name="adj" fmla="val 8000"/>
            </a:avLst>
          </a:prstGeom>
          <a:solidFill>
            <a:srgbClr val="F3F8F9"/>
          </a:solidFill>
          <a:ln w="12700">
            <a:solidFill>
              <a:srgbClr val="9DB8BC"/>
            </a:solidFill>
          </a:ln>
        </p:spPr>
        <p:txBody>
          <a:bodyPr wrap="square" lIns="91440" tIns="91440" rIns="91440" bIns="91440" anchor="t" rtlCol="0">
            <a:noAutofit/>
          </a:bodyPr>
          <a:lstStyle/>
          <a:p>
            <a:endParaRPr lang="en-GB" sz="1200" dirty="0"/>
          </a:p>
        </p:txBody>
      </p:sp>
      <p:sp>
        <p:nvSpPr>
          <p:cNvPr id="24" name="Shape 24"/>
          <p:cNvSpPr/>
          <p:nvPr/>
        </p:nvSpPr>
        <p:spPr>
          <a:xfrm>
            <a:off x="658368" y="4087368"/>
            <a:ext cx="310896" cy="310896"/>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3</a:t>
            </a:r>
            <a:endParaRPr lang="en-GB" sz="1100" dirty="0"/>
          </a:p>
        </p:txBody>
      </p:sp>
      <p:sp>
        <p:nvSpPr>
          <p:cNvPr id="25" name="Shape 25"/>
          <p:cNvSpPr txBox="1"/>
          <p:nvPr/>
        </p:nvSpPr>
        <p:spPr>
          <a:xfrm>
            <a:off x="1051560" y="4032504"/>
            <a:ext cx="3154680" cy="868680"/>
          </a:xfrm>
          <a:prstGeom prst="rect">
            <a:avLst/>
          </a:prstGeom>
          <a:noFill/>
          <a:ln>
            <a:noFill/>
          </a:ln>
        </p:spPr>
        <p:txBody>
          <a:bodyPr wrap="square" lIns="18288" tIns="18288" rIns="18288" bIns="18288" anchor="t" rtlCol="0">
            <a:noAutofit/>
          </a:bodyPr>
          <a:lstStyle/>
          <a:p>
            <a:pPr algn="l">
              <a:buNone/>
            </a:pPr>
            <a:r>
              <a:rPr lang="en-GB" sz="1150" b="0" i="0" dirty="0">
                <a:solidFill>
                  <a:srgbClr val="1A1A1A"/>
                </a:solidFill>
                <a:latin typeface="Arial"/>
                <a:cs typeface="Arial"/>
              </a:rPr>
              <a:t>You send Rs 5,000 to a wrong number: the app never shows the receiver’s name before you confirm.</a:t>
            </a:r>
            <a:endParaRPr lang="en-GB" sz="1150" dirty="0"/>
          </a:p>
        </p:txBody>
      </p:sp>
      <p:sp>
        <p:nvSpPr>
          <p:cNvPr id="26" name="Shape 26"/>
          <p:cNvSpPr/>
          <p:nvPr/>
        </p:nvSpPr>
        <p:spPr>
          <a:xfrm>
            <a:off x="1051560" y="5038344"/>
            <a:ext cx="1371600" cy="310896"/>
          </a:xfrm>
          <a:prstGeom prst="roundRect">
            <a:avLst>
              <a:gd name="adj" fmla="val 50000"/>
            </a:avLst>
          </a:prstGeom>
          <a:noFill/>
          <a:ln w="12700">
            <a:solidFill>
              <a:srgbClr val="333399"/>
            </a:solidFill>
          </a:ln>
        </p:spPr>
        <p:txBody>
          <a:bodyPr wrap="square" lIns="36576" tIns="36576" rIns="36576" bIns="36576" anchor="ctr" rtlCol="0">
            <a:noAutofit/>
          </a:bodyPr>
          <a:lstStyle/>
          <a:p>
            <a:pPr algn="ctr">
              <a:buNone/>
            </a:pPr>
            <a:r>
              <a:rPr lang="en-GB" sz="1100" b="0" i="0" dirty="0">
                <a:solidFill>
                  <a:srgbClr val="333399"/>
                </a:solidFill>
                <a:latin typeface="Arial"/>
                <a:cs typeface="Arial"/>
              </a:rPr>
              <a:t>1  User</a:t>
            </a:r>
            <a:endParaRPr lang="en-GB" sz="1100" dirty="0"/>
          </a:p>
        </p:txBody>
      </p:sp>
      <p:sp>
        <p:nvSpPr>
          <p:cNvPr id="27" name="Shape 27"/>
          <p:cNvSpPr/>
          <p:nvPr/>
        </p:nvSpPr>
        <p:spPr>
          <a:xfrm>
            <a:off x="2560320" y="5038344"/>
            <a:ext cx="1371600" cy="310896"/>
          </a:xfrm>
          <a:prstGeom prst="roundRect">
            <a:avLst>
              <a:gd name="adj" fmla="val 50000"/>
            </a:avLst>
          </a:prstGeom>
          <a:noFill/>
          <a:ln w="12700">
            <a:solidFill>
              <a:srgbClr val="4E7A12"/>
            </a:solidFill>
          </a:ln>
        </p:spPr>
        <p:txBody>
          <a:bodyPr wrap="square" lIns="36576" tIns="36576" rIns="36576" bIns="36576" anchor="ctr" rtlCol="0">
            <a:noAutofit/>
          </a:bodyPr>
          <a:lstStyle/>
          <a:p>
            <a:pPr algn="ctr">
              <a:buNone/>
            </a:pPr>
            <a:r>
              <a:rPr lang="en-GB" sz="1100" b="0" i="0" dirty="0">
                <a:solidFill>
                  <a:srgbClr val="4E7A12"/>
                </a:solidFill>
                <a:latin typeface="Arial"/>
                <a:cs typeface="Arial"/>
              </a:rPr>
              <a:t>2  Design</a:t>
            </a:r>
            <a:endParaRPr lang="en-GB" sz="1100" dirty="0"/>
          </a:p>
        </p:txBody>
      </p:sp>
      <p:sp>
        <p:nvSpPr>
          <p:cNvPr id="28" name="Shape 28"/>
          <p:cNvSpPr/>
          <p:nvPr/>
        </p:nvSpPr>
        <p:spPr>
          <a:xfrm>
            <a:off x="4389120" y="3959352"/>
            <a:ext cx="3749040" cy="1554480"/>
          </a:xfrm>
          <a:prstGeom prst="roundRect">
            <a:avLst>
              <a:gd name="adj" fmla="val 8000"/>
            </a:avLst>
          </a:prstGeom>
          <a:solidFill>
            <a:srgbClr val="F3F8F9"/>
          </a:solidFill>
          <a:ln w="12700">
            <a:solidFill>
              <a:srgbClr val="9DB8BC"/>
            </a:solidFill>
          </a:ln>
        </p:spPr>
        <p:txBody>
          <a:bodyPr wrap="square" lIns="91440" tIns="91440" rIns="91440" bIns="91440" anchor="t" rtlCol="0">
            <a:noAutofit/>
          </a:bodyPr>
          <a:lstStyle/>
          <a:p>
            <a:endParaRPr lang="en-GB" sz="1200" dirty="0"/>
          </a:p>
        </p:txBody>
      </p:sp>
      <p:sp>
        <p:nvSpPr>
          <p:cNvPr id="29" name="Shape 29"/>
          <p:cNvSpPr/>
          <p:nvPr/>
        </p:nvSpPr>
        <p:spPr>
          <a:xfrm>
            <a:off x="4498848" y="4087368"/>
            <a:ext cx="310896" cy="310896"/>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4</a:t>
            </a:r>
            <a:endParaRPr lang="en-GB" sz="1100" dirty="0"/>
          </a:p>
        </p:txBody>
      </p:sp>
      <p:sp>
        <p:nvSpPr>
          <p:cNvPr id="30" name="Shape 30"/>
          <p:cNvSpPr txBox="1"/>
          <p:nvPr/>
        </p:nvSpPr>
        <p:spPr>
          <a:xfrm>
            <a:off x="4892040" y="4032504"/>
            <a:ext cx="3154680" cy="868680"/>
          </a:xfrm>
          <a:prstGeom prst="rect">
            <a:avLst/>
          </a:prstGeom>
          <a:noFill/>
          <a:ln>
            <a:noFill/>
          </a:ln>
        </p:spPr>
        <p:txBody>
          <a:bodyPr wrap="square" lIns="18288" tIns="18288" rIns="18288" bIns="18288" anchor="t" rtlCol="0">
            <a:noAutofit/>
          </a:bodyPr>
          <a:lstStyle/>
          <a:p>
            <a:pPr algn="l">
              <a:buNone/>
            </a:pPr>
            <a:r>
              <a:rPr lang="en-GB" sz="1150" b="0" i="0" dirty="0">
                <a:solidFill>
                  <a:srgbClr val="1A1A1A"/>
                </a:solidFill>
                <a:latin typeface="Arial"/>
                <a:cs typeface="Arial"/>
              </a:rPr>
              <a:t>A clerk deletes the whole results sheet: ‘Delete row’ and ‘Delete sheet’ sit side by side with the same icon.</a:t>
            </a:r>
            <a:endParaRPr lang="en-GB" sz="1150" dirty="0"/>
          </a:p>
        </p:txBody>
      </p:sp>
      <p:sp>
        <p:nvSpPr>
          <p:cNvPr id="31" name="Shape 31"/>
          <p:cNvSpPr/>
          <p:nvPr/>
        </p:nvSpPr>
        <p:spPr>
          <a:xfrm>
            <a:off x="4892040" y="5038344"/>
            <a:ext cx="1371600" cy="310896"/>
          </a:xfrm>
          <a:prstGeom prst="roundRect">
            <a:avLst>
              <a:gd name="adj" fmla="val 50000"/>
            </a:avLst>
          </a:prstGeom>
          <a:noFill/>
          <a:ln w="12700">
            <a:solidFill>
              <a:srgbClr val="333399"/>
            </a:solidFill>
          </a:ln>
        </p:spPr>
        <p:txBody>
          <a:bodyPr wrap="square" lIns="36576" tIns="36576" rIns="36576" bIns="36576" anchor="ctr" rtlCol="0">
            <a:noAutofit/>
          </a:bodyPr>
          <a:lstStyle/>
          <a:p>
            <a:pPr algn="ctr">
              <a:buNone/>
            </a:pPr>
            <a:r>
              <a:rPr lang="en-GB" sz="1100" b="0" i="0" dirty="0">
                <a:solidFill>
                  <a:srgbClr val="333399"/>
                </a:solidFill>
                <a:latin typeface="Arial"/>
                <a:cs typeface="Arial"/>
              </a:rPr>
              <a:t>1  User</a:t>
            </a:r>
            <a:endParaRPr lang="en-GB" sz="1100" dirty="0"/>
          </a:p>
        </p:txBody>
      </p:sp>
      <p:sp>
        <p:nvSpPr>
          <p:cNvPr id="32" name="Shape 32"/>
          <p:cNvSpPr/>
          <p:nvPr/>
        </p:nvSpPr>
        <p:spPr>
          <a:xfrm>
            <a:off x="6400800" y="5038344"/>
            <a:ext cx="1371600" cy="310896"/>
          </a:xfrm>
          <a:prstGeom prst="roundRect">
            <a:avLst>
              <a:gd name="adj" fmla="val 50000"/>
            </a:avLst>
          </a:prstGeom>
          <a:noFill/>
          <a:ln w="12700">
            <a:solidFill>
              <a:srgbClr val="4E7A12"/>
            </a:solidFill>
          </a:ln>
        </p:spPr>
        <p:txBody>
          <a:bodyPr wrap="square" lIns="36576" tIns="36576" rIns="36576" bIns="36576" anchor="ctr" rtlCol="0">
            <a:noAutofit/>
          </a:bodyPr>
          <a:lstStyle/>
          <a:p>
            <a:pPr algn="ctr">
              <a:buNone/>
            </a:pPr>
            <a:r>
              <a:rPr lang="en-GB" sz="1100" b="0" i="0" dirty="0">
                <a:solidFill>
                  <a:srgbClr val="4E7A12"/>
                </a:solidFill>
                <a:latin typeface="Arial"/>
                <a:cs typeface="Arial"/>
              </a:rPr>
              <a:t>2  Design</a:t>
            </a:r>
            <a:endParaRPr lang="en-GB" sz="1100" dirty="0"/>
          </a:p>
        </p:txBody>
      </p:sp>
      <p:sp>
        <p:nvSpPr>
          <p:cNvPr id="33" name="Shape 33"/>
          <p:cNvSpPr txBox="1"/>
          <p:nvPr/>
        </p:nvSpPr>
        <p:spPr>
          <a:xfrm>
            <a:off x="548640" y="5669280"/>
            <a:ext cx="7589520" cy="457200"/>
          </a:xfrm>
          <a:prstGeom prst="rect">
            <a:avLst/>
          </a:prstGeom>
          <a:noFill/>
          <a:ln>
            <a:noFill/>
          </a:ln>
        </p:spPr>
        <p:txBody>
          <a:bodyPr wrap="square" lIns="18288" tIns="18288" rIns="18288" bIns="18288" anchor="t" rtlCol="0">
            <a:noAutofit/>
          </a:bodyPr>
          <a:lstStyle/>
          <a:p>
            <a:pPr algn="l">
              <a:buNone/>
            </a:pPr>
            <a:r>
              <a:rPr lang="en-GB" sz="1200" b="0" i="1" dirty="0">
                <a:solidFill>
                  <a:srgbClr val="595959"/>
                </a:solidFill>
                <a:latin typeface="Arial"/>
                <a:cs typeface="Arial"/>
              </a:rPr>
              <a:t>Vote on each card in turn. Nobody is wrong in a poll — a split vote is useful.</a:t>
            </a:r>
            <a:endParaRPr lang="en-GB" sz="12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User error or design error?</a:t>
            </a:r>
          </a:p>
        </p:txBody>
      </p:sp>
      <p:sp>
        <p:nvSpPr>
          <p:cNvPr id="11" name="Shape 11"/>
          <p:cNvSpPr/>
          <p:nvPr/>
        </p:nvSpPr>
        <p:spPr>
          <a:xfrm>
            <a:off x="548640" y="1810512"/>
            <a:ext cx="1056132" cy="310896"/>
          </a:xfrm>
          <a:prstGeom prst="roundRect">
            <a:avLst>
              <a:gd name="adj" fmla="val 50000"/>
            </a:avLst>
          </a:prstGeom>
          <a:solidFill>
            <a:srgbClr val="404040"/>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ANSWERS</a:t>
            </a:r>
            <a:endParaRPr lang="en-GB" sz="1100" dirty="0"/>
          </a:p>
        </p:txBody>
      </p:sp>
      <p:sp>
        <p:nvSpPr>
          <p:cNvPr id="12" name="Shape 12"/>
          <p:cNvSpPr txBox="1"/>
          <p:nvPr/>
        </p:nvSpPr>
        <p:spPr>
          <a:xfrm>
            <a:off x="1714500" y="1810512"/>
            <a:ext cx="6423660" cy="310896"/>
          </a:xfrm>
          <a:prstGeom prst="rect">
            <a:avLst/>
          </a:prstGeom>
          <a:noFill/>
          <a:ln>
            <a:noFill/>
          </a:ln>
        </p:spPr>
        <p:txBody>
          <a:bodyPr wrap="square" lIns="18288" tIns="18288" rIns="18288" bIns="18288" anchor="ctr" rtlCol="0">
            <a:noAutofit/>
          </a:bodyPr>
          <a:lstStyle/>
          <a:p>
            <a:pPr algn="l">
              <a:buNone/>
            </a:pPr>
            <a:r>
              <a:rPr lang="en-GB" sz="1200" b="0" i="1" dirty="0">
                <a:solidFill>
                  <a:srgbClr val="595959"/>
                </a:solidFill>
                <a:latin typeface="Arial"/>
                <a:cs typeface="Arial"/>
              </a:rPr>
              <a:t>and how a designer would design for it</a:t>
            </a:r>
            <a:endParaRPr lang="en-GB" sz="1200" dirty="0"/>
          </a:p>
        </p:txBody>
      </p:sp>
      <p:sp>
        <p:nvSpPr>
          <p:cNvPr id="13" name="Shape 13"/>
          <p:cNvSpPr/>
          <p:nvPr/>
        </p:nvSpPr>
        <p:spPr>
          <a:xfrm>
            <a:off x="548640" y="2286000"/>
            <a:ext cx="3749040" cy="1554480"/>
          </a:xfrm>
          <a:prstGeom prst="roundRect">
            <a:avLst>
              <a:gd name="adj" fmla="val 8000"/>
            </a:avLst>
          </a:prstGeom>
          <a:solidFill>
            <a:srgbClr val="F3F8F9"/>
          </a:solidFill>
          <a:ln w="12700">
            <a:solidFill>
              <a:srgbClr val="9DB8BC"/>
            </a:solidFill>
          </a:ln>
        </p:spPr>
        <p:txBody>
          <a:bodyPr wrap="square" lIns="91440" tIns="91440" rIns="91440" bIns="91440" anchor="t" rtlCol="0">
            <a:noAutofit/>
          </a:bodyPr>
          <a:lstStyle/>
          <a:p>
            <a:endParaRPr lang="en-GB" sz="1200" dirty="0"/>
          </a:p>
        </p:txBody>
      </p:sp>
      <p:sp>
        <p:nvSpPr>
          <p:cNvPr id="14" name="Shape 14"/>
          <p:cNvSpPr/>
          <p:nvPr/>
        </p:nvSpPr>
        <p:spPr>
          <a:xfrm>
            <a:off x="658368" y="2414016"/>
            <a:ext cx="310896" cy="310896"/>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1</a:t>
            </a:r>
            <a:endParaRPr lang="en-GB" sz="1100" dirty="0"/>
          </a:p>
        </p:txBody>
      </p:sp>
      <p:sp>
        <p:nvSpPr>
          <p:cNvPr id="15" name="Shape 15"/>
          <p:cNvSpPr txBox="1"/>
          <p:nvPr/>
        </p:nvSpPr>
        <p:spPr>
          <a:xfrm>
            <a:off x="1051560" y="2359152"/>
            <a:ext cx="3154680" cy="621792"/>
          </a:xfrm>
          <a:prstGeom prst="rect">
            <a:avLst/>
          </a:prstGeom>
          <a:noFill/>
          <a:ln>
            <a:noFill/>
          </a:ln>
        </p:spPr>
        <p:txBody>
          <a:bodyPr wrap="square" lIns="18288" tIns="18288" rIns="18288" bIns="18288" anchor="t" rtlCol="0">
            <a:noAutofit/>
          </a:bodyPr>
          <a:lstStyle/>
          <a:p>
            <a:pPr algn="l">
              <a:buNone/>
            </a:pPr>
            <a:r>
              <a:rPr lang="en-GB" sz="1000" b="0" i="0" dirty="0">
                <a:solidFill>
                  <a:srgbClr val="595959"/>
                </a:solidFill>
                <a:latin typeface="Arial"/>
                <a:cs typeface="Arial"/>
              </a:rPr>
              <a:t>A student pays the semester fee twice: the ‘Pay’ button showed nothing for 10 seconds, so she pressed it again.</a:t>
            </a:r>
            <a:endParaRPr lang="en-GB" sz="1000" dirty="0"/>
          </a:p>
        </p:txBody>
      </p:sp>
      <p:sp>
        <p:nvSpPr>
          <p:cNvPr id="16" name="Shape 16"/>
          <p:cNvSpPr/>
          <p:nvPr/>
        </p:nvSpPr>
        <p:spPr>
          <a:xfrm>
            <a:off x="1051560" y="3035808"/>
            <a:ext cx="1371600" cy="274320"/>
          </a:xfrm>
          <a:prstGeom prst="roundRect">
            <a:avLst>
              <a:gd name="adj" fmla="val 50000"/>
            </a:avLst>
          </a:prstGeom>
          <a:solidFill>
            <a:srgbClr val="B03A2E"/>
          </a:solidFill>
          <a:ln>
            <a:noFill/>
          </a:ln>
        </p:spPr>
        <p:txBody>
          <a:bodyPr wrap="square" lIns="27432" tIns="27432" rIns="27432" bIns="27432" anchor="ctr" rtlCol="0">
            <a:noAutofit/>
          </a:bodyPr>
          <a:lstStyle/>
          <a:p>
            <a:pPr algn="ctr">
              <a:buNone/>
            </a:pPr>
            <a:r>
              <a:rPr lang="en-GB" sz="950" b="1" i="0" dirty="0">
                <a:solidFill>
                  <a:srgbClr val="FFFFFF"/>
                </a:solidFill>
                <a:latin typeface="Arial"/>
                <a:cs typeface="Arial"/>
              </a:rPr>
              <a:t>DESIGN ERROR</a:t>
            </a:r>
            <a:endParaRPr lang="en-GB" sz="950" dirty="0"/>
          </a:p>
        </p:txBody>
      </p:sp>
      <p:sp>
        <p:nvSpPr>
          <p:cNvPr id="17" name="Shape 17"/>
          <p:cNvSpPr txBox="1"/>
          <p:nvPr/>
        </p:nvSpPr>
        <p:spPr>
          <a:xfrm>
            <a:off x="685800" y="3337560"/>
            <a:ext cx="3520440" cy="475488"/>
          </a:xfrm>
          <a:prstGeom prst="rect">
            <a:avLst/>
          </a:prstGeom>
          <a:noFill/>
          <a:ln>
            <a:noFill/>
          </a:ln>
        </p:spPr>
        <p:txBody>
          <a:bodyPr wrap="square" lIns="18288" tIns="18288" rIns="18288" bIns="18288" anchor="t" rtlCol="0">
            <a:noAutofit/>
          </a:bodyPr>
          <a:lstStyle/>
          <a:p>
            <a:pPr algn="l">
              <a:buNone/>
            </a:pPr>
            <a:r>
              <a:rPr lang="en-GB" sz="1000" b="1" i="0" dirty="0">
                <a:solidFill>
                  <a:srgbClr val="4E7A12"/>
                </a:solidFill>
                <a:latin typeface="Arial"/>
                <a:cs typeface="Arial"/>
              </a:rPr>
              <a:t xml:space="preserve">Design for it: </a:t>
            </a:r>
            <a:r>
              <a:rPr lang="en-GB" sz="1000" b="0" i="0" dirty="0">
                <a:solidFill>
                  <a:srgbClr val="1A1A1A"/>
                </a:solidFill>
                <a:latin typeface="Arial"/>
                <a:cs typeface="Arial"/>
              </a:rPr>
              <a:t>Grey out the button and show “Processing…”; one challan can only be paid once.</a:t>
            </a:r>
            <a:endParaRPr lang="en-GB" sz="1000" dirty="0"/>
          </a:p>
        </p:txBody>
      </p:sp>
      <p:sp>
        <p:nvSpPr>
          <p:cNvPr id="18" name="Shape 18"/>
          <p:cNvSpPr/>
          <p:nvPr/>
        </p:nvSpPr>
        <p:spPr>
          <a:xfrm>
            <a:off x="4389120" y="2286000"/>
            <a:ext cx="3749040" cy="1554480"/>
          </a:xfrm>
          <a:prstGeom prst="roundRect">
            <a:avLst>
              <a:gd name="adj" fmla="val 8000"/>
            </a:avLst>
          </a:prstGeom>
          <a:solidFill>
            <a:srgbClr val="F3F8F9"/>
          </a:solidFill>
          <a:ln w="12700">
            <a:solidFill>
              <a:srgbClr val="9DB8BC"/>
            </a:solidFill>
          </a:ln>
        </p:spPr>
        <p:txBody>
          <a:bodyPr wrap="square" lIns="91440" tIns="91440" rIns="91440" bIns="91440" anchor="t" rtlCol="0">
            <a:noAutofit/>
          </a:bodyPr>
          <a:lstStyle/>
          <a:p>
            <a:endParaRPr lang="en-GB" sz="1200" dirty="0"/>
          </a:p>
        </p:txBody>
      </p:sp>
      <p:sp>
        <p:nvSpPr>
          <p:cNvPr id="19" name="Shape 19"/>
          <p:cNvSpPr/>
          <p:nvPr/>
        </p:nvSpPr>
        <p:spPr>
          <a:xfrm>
            <a:off x="4498848" y="2414016"/>
            <a:ext cx="310896" cy="310896"/>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2</a:t>
            </a:r>
            <a:endParaRPr lang="en-GB" sz="1100" dirty="0"/>
          </a:p>
        </p:txBody>
      </p:sp>
      <p:sp>
        <p:nvSpPr>
          <p:cNvPr id="20" name="Shape 20"/>
          <p:cNvSpPr txBox="1"/>
          <p:nvPr/>
        </p:nvSpPr>
        <p:spPr>
          <a:xfrm>
            <a:off x="4892040" y="2359152"/>
            <a:ext cx="3154680" cy="621792"/>
          </a:xfrm>
          <a:prstGeom prst="rect">
            <a:avLst/>
          </a:prstGeom>
          <a:noFill/>
          <a:ln>
            <a:noFill/>
          </a:ln>
        </p:spPr>
        <p:txBody>
          <a:bodyPr wrap="square" lIns="18288" tIns="18288" rIns="18288" bIns="18288" anchor="t" rtlCol="0">
            <a:noAutofit/>
          </a:bodyPr>
          <a:lstStyle/>
          <a:p>
            <a:pPr algn="l">
              <a:buNone/>
            </a:pPr>
            <a:r>
              <a:rPr lang="en-GB" sz="1000" b="0" i="0" dirty="0">
                <a:solidFill>
                  <a:srgbClr val="595959"/>
                </a:solidFill>
                <a:latin typeface="Arial"/>
                <a:cs typeface="Arial"/>
              </a:rPr>
              <a:t>A nurse sets 10 ml/h instead of 1.0 ml/h: the decimal point on the pump keypad is tiny and easy to miss.</a:t>
            </a:r>
            <a:endParaRPr lang="en-GB" sz="1000" dirty="0"/>
          </a:p>
        </p:txBody>
      </p:sp>
      <p:sp>
        <p:nvSpPr>
          <p:cNvPr id="21" name="Shape 21"/>
          <p:cNvSpPr/>
          <p:nvPr/>
        </p:nvSpPr>
        <p:spPr>
          <a:xfrm>
            <a:off x="4892040" y="3035808"/>
            <a:ext cx="1371600" cy="274320"/>
          </a:xfrm>
          <a:prstGeom prst="roundRect">
            <a:avLst>
              <a:gd name="adj" fmla="val 50000"/>
            </a:avLst>
          </a:prstGeom>
          <a:solidFill>
            <a:srgbClr val="B03A2E"/>
          </a:solidFill>
          <a:ln>
            <a:noFill/>
          </a:ln>
        </p:spPr>
        <p:txBody>
          <a:bodyPr wrap="square" lIns="27432" tIns="27432" rIns="27432" bIns="27432" anchor="ctr" rtlCol="0">
            <a:noAutofit/>
          </a:bodyPr>
          <a:lstStyle/>
          <a:p>
            <a:pPr algn="ctr">
              <a:buNone/>
            </a:pPr>
            <a:r>
              <a:rPr lang="en-GB" sz="950" b="1" i="0" dirty="0">
                <a:solidFill>
                  <a:srgbClr val="FFFFFF"/>
                </a:solidFill>
                <a:latin typeface="Arial"/>
                <a:cs typeface="Arial"/>
              </a:rPr>
              <a:t>DESIGN ERROR</a:t>
            </a:r>
            <a:endParaRPr lang="en-GB" sz="950" dirty="0"/>
          </a:p>
        </p:txBody>
      </p:sp>
      <p:sp>
        <p:nvSpPr>
          <p:cNvPr id="22" name="Shape 22"/>
          <p:cNvSpPr txBox="1"/>
          <p:nvPr/>
        </p:nvSpPr>
        <p:spPr>
          <a:xfrm>
            <a:off x="4526280" y="3337560"/>
            <a:ext cx="3520440" cy="475488"/>
          </a:xfrm>
          <a:prstGeom prst="rect">
            <a:avLst/>
          </a:prstGeom>
          <a:noFill/>
          <a:ln>
            <a:noFill/>
          </a:ln>
        </p:spPr>
        <p:txBody>
          <a:bodyPr wrap="square" lIns="18288" tIns="18288" rIns="18288" bIns="18288" anchor="t" rtlCol="0">
            <a:noAutofit/>
          </a:bodyPr>
          <a:lstStyle/>
          <a:p>
            <a:pPr algn="l">
              <a:buNone/>
            </a:pPr>
            <a:r>
              <a:rPr lang="en-GB" sz="1000" b="1" i="0" dirty="0">
                <a:solidFill>
                  <a:srgbClr val="4E7A12"/>
                </a:solidFill>
                <a:latin typeface="Arial"/>
                <a:cs typeface="Arial"/>
              </a:rPr>
              <a:t xml:space="preserve">Design for it: </a:t>
            </a:r>
            <a:r>
              <a:rPr lang="en-GB" sz="1000" b="0" i="0" dirty="0">
                <a:solidFill>
                  <a:srgbClr val="1A1A1A"/>
                </a:solidFill>
                <a:latin typeface="Arial"/>
                <a:cs typeface="Arial"/>
              </a:rPr>
              <a:t>Show the value large, with units; ask to confirm anything 10× the usual dose.</a:t>
            </a:r>
            <a:endParaRPr lang="en-GB" sz="1000" dirty="0"/>
          </a:p>
        </p:txBody>
      </p:sp>
      <p:sp>
        <p:nvSpPr>
          <p:cNvPr id="23" name="Shape 23"/>
          <p:cNvSpPr/>
          <p:nvPr/>
        </p:nvSpPr>
        <p:spPr>
          <a:xfrm>
            <a:off x="548640" y="3959352"/>
            <a:ext cx="3749040" cy="1554480"/>
          </a:xfrm>
          <a:prstGeom prst="roundRect">
            <a:avLst>
              <a:gd name="adj" fmla="val 8000"/>
            </a:avLst>
          </a:prstGeom>
          <a:solidFill>
            <a:srgbClr val="F3F8F9"/>
          </a:solidFill>
          <a:ln w="12700">
            <a:solidFill>
              <a:srgbClr val="9DB8BC"/>
            </a:solidFill>
          </a:ln>
        </p:spPr>
        <p:txBody>
          <a:bodyPr wrap="square" lIns="91440" tIns="91440" rIns="91440" bIns="91440" anchor="t" rtlCol="0">
            <a:noAutofit/>
          </a:bodyPr>
          <a:lstStyle/>
          <a:p>
            <a:endParaRPr lang="en-GB" sz="1200" dirty="0"/>
          </a:p>
        </p:txBody>
      </p:sp>
      <p:sp>
        <p:nvSpPr>
          <p:cNvPr id="24" name="Shape 24"/>
          <p:cNvSpPr/>
          <p:nvPr/>
        </p:nvSpPr>
        <p:spPr>
          <a:xfrm>
            <a:off x="658368" y="4087368"/>
            <a:ext cx="310896" cy="310896"/>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3</a:t>
            </a:r>
            <a:endParaRPr lang="en-GB" sz="1100" dirty="0"/>
          </a:p>
        </p:txBody>
      </p:sp>
      <p:sp>
        <p:nvSpPr>
          <p:cNvPr id="25" name="Shape 25"/>
          <p:cNvSpPr txBox="1"/>
          <p:nvPr/>
        </p:nvSpPr>
        <p:spPr>
          <a:xfrm>
            <a:off x="1051560" y="4032504"/>
            <a:ext cx="3154680" cy="621792"/>
          </a:xfrm>
          <a:prstGeom prst="rect">
            <a:avLst/>
          </a:prstGeom>
          <a:noFill/>
          <a:ln>
            <a:noFill/>
          </a:ln>
        </p:spPr>
        <p:txBody>
          <a:bodyPr wrap="square" lIns="18288" tIns="18288" rIns="18288" bIns="18288" anchor="t" rtlCol="0">
            <a:noAutofit/>
          </a:bodyPr>
          <a:lstStyle/>
          <a:p>
            <a:pPr algn="l">
              <a:buNone/>
            </a:pPr>
            <a:r>
              <a:rPr lang="en-GB" sz="1000" b="0" i="0" dirty="0">
                <a:solidFill>
                  <a:srgbClr val="595959"/>
                </a:solidFill>
                <a:latin typeface="Arial"/>
                <a:cs typeface="Arial"/>
              </a:rPr>
              <a:t>You send Rs 5,000 to a wrong number: the app never shows the receiver’s name before you confirm.</a:t>
            </a:r>
            <a:endParaRPr lang="en-GB" sz="1000" dirty="0"/>
          </a:p>
        </p:txBody>
      </p:sp>
      <p:sp>
        <p:nvSpPr>
          <p:cNvPr id="26" name="Shape 26"/>
          <p:cNvSpPr/>
          <p:nvPr/>
        </p:nvSpPr>
        <p:spPr>
          <a:xfrm>
            <a:off x="1051560" y="4709160"/>
            <a:ext cx="1371600" cy="274320"/>
          </a:xfrm>
          <a:prstGeom prst="roundRect">
            <a:avLst>
              <a:gd name="adj" fmla="val 50000"/>
            </a:avLst>
          </a:prstGeom>
          <a:solidFill>
            <a:srgbClr val="B03A2E"/>
          </a:solidFill>
          <a:ln>
            <a:noFill/>
          </a:ln>
        </p:spPr>
        <p:txBody>
          <a:bodyPr wrap="square" lIns="27432" tIns="27432" rIns="27432" bIns="27432" anchor="ctr" rtlCol="0">
            <a:noAutofit/>
          </a:bodyPr>
          <a:lstStyle/>
          <a:p>
            <a:pPr algn="ctr">
              <a:buNone/>
            </a:pPr>
            <a:r>
              <a:rPr lang="en-GB" sz="950" b="1" i="0" dirty="0">
                <a:solidFill>
                  <a:srgbClr val="FFFFFF"/>
                </a:solidFill>
                <a:latin typeface="Arial"/>
                <a:cs typeface="Arial"/>
              </a:rPr>
              <a:t>DESIGN ERROR</a:t>
            </a:r>
            <a:endParaRPr lang="en-GB" sz="950" dirty="0"/>
          </a:p>
        </p:txBody>
      </p:sp>
      <p:sp>
        <p:nvSpPr>
          <p:cNvPr id="27" name="Shape 27"/>
          <p:cNvSpPr txBox="1"/>
          <p:nvPr/>
        </p:nvSpPr>
        <p:spPr>
          <a:xfrm>
            <a:off x="685800" y="5010912"/>
            <a:ext cx="3520440" cy="475488"/>
          </a:xfrm>
          <a:prstGeom prst="rect">
            <a:avLst/>
          </a:prstGeom>
          <a:noFill/>
          <a:ln>
            <a:noFill/>
          </a:ln>
        </p:spPr>
        <p:txBody>
          <a:bodyPr wrap="square" lIns="18288" tIns="18288" rIns="18288" bIns="18288" anchor="t" rtlCol="0">
            <a:noAutofit/>
          </a:bodyPr>
          <a:lstStyle/>
          <a:p>
            <a:pPr algn="l">
              <a:buNone/>
            </a:pPr>
            <a:r>
              <a:rPr lang="en-GB" sz="1000" b="1" i="0" dirty="0">
                <a:solidFill>
                  <a:srgbClr val="4E7A12"/>
                </a:solidFill>
                <a:latin typeface="Arial"/>
                <a:cs typeface="Arial"/>
              </a:rPr>
              <a:t xml:space="preserve">Design for it: </a:t>
            </a:r>
            <a:r>
              <a:rPr lang="en-GB" sz="1000" b="0" i="0" dirty="0">
                <a:solidFill>
                  <a:srgbClr val="1A1A1A"/>
                </a:solidFill>
                <a:latin typeface="Arial"/>
                <a:cs typeface="Arial"/>
              </a:rPr>
              <a:t>Show “Send Rs 5,000 to M. Ali?” with the registered name before the PIN.</a:t>
            </a:r>
            <a:endParaRPr lang="en-GB" sz="1000" dirty="0"/>
          </a:p>
        </p:txBody>
      </p:sp>
      <p:sp>
        <p:nvSpPr>
          <p:cNvPr id="28" name="Shape 28"/>
          <p:cNvSpPr/>
          <p:nvPr/>
        </p:nvSpPr>
        <p:spPr>
          <a:xfrm>
            <a:off x="4389120" y="3959352"/>
            <a:ext cx="3749040" cy="1554480"/>
          </a:xfrm>
          <a:prstGeom prst="roundRect">
            <a:avLst>
              <a:gd name="adj" fmla="val 8000"/>
            </a:avLst>
          </a:prstGeom>
          <a:solidFill>
            <a:srgbClr val="F3F8F9"/>
          </a:solidFill>
          <a:ln w="12700">
            <a:solidFill>
              <a:srgbClr val="9DB8BC"/>
            </a:solidFill>
          </a:ln>
        </p:spPr>
        <p:txBody>
          <a:bodyPr wrap="square" lIns="91440" tIns="91440" rIns="91440" bIns="91440" anchor="t" rtlCol="0">
            <a:noAutofit/>
          </a:bodyPr>
          <a:lstStyle/>
          <a:p>
            <a:endParaRPr lang="en-GB" sz="1200" dirty="0"/>
          </a:p>
        </p:txBody>
      </p:sp>
      <p:sp>
        <p:nvSpPr>
          <p:cNvPr id="29" name="Shape 29"/>
          <p:cNvSpPr/>
          <p:nvPr/>
        </p:nvSpPr>
        <p:spPr>
          <a:xfrm>
            <a:off x="4498848" y="4087368"/>
            <a:ext cx="310896" cy="310896"/>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4</a:t>
            </a:r>
            <a:endParaRPr lang="en-GB" sz="1100" dirty="0"/>
          </a:p>
        </p:txBody>
      </p:sp>
      <p:sp>
        <p:nvSpPr>
          <p:cNvPr id="30" name="Shape 30"/>
          <p:cNvSpPr txBox="1"/>
          <p:nvPr/>
        </p:nvSpPr>
        <p:spPr>
          <a:xfrm>
            <a:off x="4892040" y="4032504"/>
            <a:ext cx="3154680" cy="621792"/>
          </a:xfrm>
          <a:prstGeom prst="rect">
            <a:avLst/>
          </a:prstGeom>
          <a:noFill/>
          <a:ln>
            <a:noFill/>
          </a:ln>
        </p:spPr>
        <p:txBody>
          <a:bodyPr wrap="square" lIns="18288" tIns="18288" rIns="18288" bIns="18288" anchor="t" rtlCol="0">
            <a:noAutofit/>
          </a:bodyPr>
          <a:lstStyle/>
          <a:p>
            <a:pPr algn="l">
              <a:buNone/>
            </a:pPr>
            <a:r>
              <a:rPr lang="en-GB" sz="1000" b="0" i="0" dirty="0">
                <a:solidFill>
                  <a:srgbClr val="595959"/>
                </a:solidFill>
                <a:latin typeface="Arial"/>
                <a:cs typeface="Arial"/>
              </a:rPr>
              <a:t>A clerk deletes the whole results sheet: ‘Delete row’ and ‘Delete sheet’ sit side by side with the same icon.</a:t>
            </a:r>
            <a:endParaRPr lang="en-GB" sz="1000" dirty="0"/>
          </a:p>
        </p:txBody>
      </p:sp>
      <p:sp>
        <p:nvSpPr>
          <p:cNvPr id="31" name="Shape 31"/>
          <p:cNvSpPr/>
          <p:nvPr/>
        </p:nvSpPr>
        <p:spPr>
          <a:xfrm>
            <a:off x="4892040" y="4709160"/>
            <a:ext cx="1371600" cy="274320"/>
          </a:xfrm>
          <a:prstGeom prst="roundRect">
            <a:avLst>
              <a:gd name="adj" fmla="val 50000"/>
            </a:avLst>
          </a:prstGeom>
          <a:solidFill>
            <a:srgbClr val="B03A2E"/>
          </a:solidFill>
          <a:ln>
            <a:noFill/>
          </a:ln>
        </p:spPr>
        <p:txBody>
          <a:bodyPr wrap="square" lIns="27432" tIns="27432" rIns="27432" bIns="27432" anchor="ctr" rtlCol="0">
            <a:noAutofit/>
          </a:bodyPr>
          <a:lstStyle/>
          <a:p>
            <a:pPr algn="ctr">
              <a:buNone/>
            </a:pPr>
            <a:r>
              <a:rPr lang="en-GB" sz="950" b="1" i="0" dirty="0">
                <a:solidFill>
                  <a:srgbClr val="FFFFFF"/>
                </a:solidFill>
                <a:latin typeface="Arial"/>
                <a:cs typeface="Arial"/>
              </a:rPr>
              <a:t>DESIGN ERROR</a:t>
            </a:r>
            <a:endParaRPr lang="en-GB" sz="950" dirty="0"/>
          </a:p>
        </p:txBody>
      </p:sp>
      <p:sp>
        <p:nvSpPr>
          <p:cNvPr id="32" name="Shape 32"/>
          <p:cNvSpPr txBox="1"/>
          <p:nvPr/>
        </p:nvSpPr>
        <p:spPr>
          <a:xfrm>
            <a:off x="4526280" y="5010912"/>
            <a:ext cx="3520440" cy="475488"/>
          </a:xfrm>
          <a:prstGeom prst="rect">
            <a:avLst/>
          </a:prstGeom>
          <a:noFill/>
          <a:ln>
            <a:noFill/>
          </a:ln>
        </p:spPr>
        <p:txBody>
          <a:bodyPr wrap="square" lIns="18288" tIns="18288" rIns="18288" bIns="18288" anchor="t" rtlCol="0">
            <a:noAutofit/>
          </a:bodyPr>
          <a:lstStyle/>
          <a:p>
            <a:pPr algn="l">
              <a:buNone/>
            </a:pPr>
            <a:r>
              <a:rPr lang="en-GB" sz="1000" b="1" i="0" dirty="0">
                <a:solidFill>
                  <a:srgbClr val="4E7A12"/>
                </a:solidFill>
                <a:latin typeface="Arial"/>
                <a:cs typeface="Arial"/>
              </a:rPr>
              <a:t xml:space="preserve">Design for it: </a:t>
            </a:r>
            <a:r>
              <a:rPr lang="en-GB" sz="1000" b="0" i="0" dirty="0">
                <a:solidFill>
                  <a:srgbClr val="1A1A1A"/>
                </a:solidFill>
                <a:latin typeface="Arial"/>
                <a:cs typeface="Arial"/>
              </a:rPr>
              <a:t>Separate them, use different icons, confirm destructive actions and offer Undo.</a:t>
            </a:r>
            <a:endParaRPr lang="en-GB" sz="1000" dirty="0"/>
          </a:p>
        </p:txBody>
      </p:sp>
      <p:sp>
        <p:nvSpPr>
          <p:cNvPr id="33" name="Shape 33"/>
          <p:cNvSpPr txBox="1"/>
          <p:nvPr/>
        </p:nvSpPr>
        <p:spPr>
          <a:xfrm>
            <a:off x="548640" y="5669280"/>
            <a:ext cx="7589520" cy="457200"/>
          </a:xfrm>
          <a:prstGeom prst="rect">
            <a:avLst/>
          </a:prstGeom>
          <a:noFill/>
          <a:ln>
            <a:noFill/>
          </a:ln>
        </p:spPr>
        <p:txBody>
          <a:bodyPr wrap="square" lIns="18288" tIns="18288" rIns="18288" bIns="18288" anchor="t" rtlCol="0">
            <a:noAutofit/>
          </a:bodyPr>
          <a:lstStyle/>
          <a:p>
            <a:pPr algn="l">
              <a:buNone/>
            </a:pPr>
            <a:r>
              <a:rPr lang="en-GB" sz="1200" b="0" i="1" dirty="0">
                <a:solidFill>
                  <a:srgbClr val="595959"/>
                </a:solidFill>
                <a:latin typeface="Arial"/>
                <a:cs typeface="Arial"/>
              </a:rPr>
              <a:t>Human ‘error’ is normal. We know how people behave under stress, so design for it — treat the user at least as well as concrete.</a:t>
            </a:r>
            <a:endParaRPr lang="en-GB" sz="12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Five days, five fixes</a:t>
            </a:r>
          </a:p>
        </p:txBody>
      </p:sp>
      <p:sp>
        <p:nvSpPr>
          <p:cNvPr id="11" name="Shape 11"/>
          <p:cNvSpPr/>
          <p:nvPr/>
        </p:nvSpPr>
        <p:spPr>
          <a:xfrm>
            <a:off x="548640" y="1810512"/>
            <a:ext cx="1440180" cy="310896"/>
          </a:xfrm>
          <a:prstGeom prst="roundRect">
            <a:avLst>
              <a:gd name="adj" fmla="val 50000"/>
            </a:avLst>
          </a:prstGeom>
          <a:solidFill>
            <a:srgbClr val="8A5A00"/>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CASE PUZZLE</a:t>
            </a:r>
            <a:endParaRPr lang="en-GB" sz="1100" dirty="0"/>
          </a:p>
        </p:txBody>
      </p:sp>
      <p:sp>
        <p:nvSpPr>
          <p:cNvPr id="12" name="Shape 12"/>
          <p:cNvSpPr txBox="1"/>
          <p:nvPr/>
        </p:nvSpPr>
        <p:spPr>
          <a:xfrm>
            <a:off x="2098548" y="1810512"/>
            <a:ext cx="6039612" cy="310896"/>
          </a:xfrm>
          <a:prstGeom prst="rect">
            <a:avLst/>
          </a:prstGeom>
          <a:noFill/>
          <a:ln>
            <a:noFill/>
          </a:ln>
        </p:spPr>
        <p:txBody>
          <a:bodyPr wrap="square" lIns="18288" tIns="18288" rIns="18288" bIns="18288" anchor="ctr" rtlCol="0">
            <a:noAutofit/>
          </a:bodyPr>
          <a:lstStyle/>
          <a:p>
            <a:pPr algn="l">
              <a:buNone/>
            </a:pPr>
            <a:r>
              <a:rPr lang="en-GB" sz="1200" b="0" i="1" dirty="0">
                <a:solidFill>
                  <a:srgbClr val="595959"/>
                </a:solidFill>
                <a:latin typeface="Arial"/>
                <a:cs typeface="Arial"/>
              </a:rPr>
              <a:t>3 min · pairs · optional if short of time</a:t>
            </a:r>
            <a:endParaRPr lang="en-GB" sz="1200" dirty="0"/>
          </a:p>
        </p:txBody>
      </p:sp>
      <p:sp>
        <p:nvSpPr>
          <p:cNvPr id="13" name="Shape 13"/>
          <p:cNvSpPr txBox="1"/>
          <p:nvPr/>
        </p:nvSpPr>
        <p:spPr>
          <a:xfrm>
            <a:off x="548640" y="2240280"/>
            <a:ext cx="7589520" cy="566928"/>
          </a:xfrm>
          <a:prstGeom prst="rect">
            <a:avLst/>
          </a:prstGeom>
          <a:noFill/>
          <a:ln>
            <a:noFill/>
          </a:ln>
        </p:spPr>
        <p:txBody>
          <a:bodyPr wrap="square" lIns="18288" tIns="18288" rIns="18288" bIns="18288" anchor="t" rtlCol="0">
            <a:noAutofit/>
          </a:bodyPr>
          <a:lstStyle/>
          <a:p>
            <a:pPr algn="l">
              <a:buNone/>
            </a:pPr>
            <a:r>
              <a:rPr lang="en-GB" sz="1600" b="1" i="0" dirty="0">
                <a:solidFill>
                  <a:srgbClr val="2D2D8A"/>
                </a:solidFill>
                <a:latin typeface="Arial"/>
                <a:cs typeface="Arial"/>
              </a:rPr>
              <a:t>Testing the student portal found five problems. You have 5 developer-days. Which do you fix?</a:t>
            </a:r>
            <a:endParaRPr lang="en-GB" sz="1600" dirty="0"/>
          </a:p>
        </p:txBody>
      </p:sp>
      <p:sp>
        <p:nvSpPr>
          <p:cNvPr id="14" name="Shape 14"/>
          <p:cNvSpPr/>
          <p:nvPr/>
        </p:nvSpPr>
        <p:spPr>
          <a:xfrm>
            <a:off x="548640" y="2944368"/>
            <a:ext cx="411480" cy="347472"/>
          </a:xfrm>
          <a:prstGeom prst="rect">
            <a:avLst/>
          </a:prstGeom>
          <a:solidFill>
            <a:srgbClr val="333399"/>
          </a:solidFill>
          <a:ln w="12700">
            <a:solidFill>
              <a:srgbClr val="FFFFFF"/>
            </a:solidFill>
          </a:ln>
        </p:spPr>
        <p:txBody>
          <a:bodyPr wrap="square" lIns="54864" tIns="54864" rIns="54864" bIns="54864" anchor="ctr" rtlCol="0">
            <a:noAutofit/>
          </a:bodyPr>
          <a:lstStyle/>
          <a:p>
            <a:pPr algn="ctr">
              <a:buNone/>
            </a:pPr>
            <a:r>
              <a:rPr lang="en-GB" sz="1100" b="1" i="0" dirty="0">
                <a:solidFill>
                  <a:srgbClr val="FFFFFF"/>
                </a:solidFill>
                <a:latin typeface="Arial"/>
                <a:cs typeface="Arial"/>
              </a:rPr>
              <a:t/>
            </a:r>
            <a:endParaRPr lang="en-GB" sz="1100" dirty="0"/>
          </a:p>
        </p:txBody>
      </p:sp>
      <p:sp>
        <p:nvSpPr>
          <p:cNvPr id="15" name="Shape 15"/>
          <p:cNvSpPr/>
          <p:nvPr/>
        </p:nvSpPr>
        <p:spPr>
          <a:xfrm>
            <a:off x="960120" y="2944368"/>
            <a:ext cx="4572000" cy="347472"/>
          </a:xfrm>
          <a:prstGeom prst="rect">
            <a:avLst/>
          </a:prstGeom>
          <a:solidFill>
            <a:srgbClr val="333399"/>
          </a:solidFill>
          <a:ln w="12700">
            <a:solidFill>
              <a:srgbClr val="FFFFFF"/>
            </a:solidFill>
          </a:ln>
        </p:spPr>
        <p:txBody>
          <a:bodyPr wrap="square" lIns="54864" tIns="54864" rIns="54864" bIns="54864" anchor="ctr" rtlCol="0">
            <a:noAutofit/>
          </a:bodyPr>
          <a:lstStyle/>
          <a:p>
            <a:pPr algn="l">
              <a:buNone/>
            </a:pPr>
            <a:r>
              <a:rPr lang="en-GB" sz="1100" b="1" i="0" dirty="0">
                <a:solidFill>
                  <a:srgbClr val="FFFFFF"/>
                </a:solidFill>
                <a:latin typeface="Arial"/>
                <a:cs typeface="Arial"/>
              </a:rPr>
              <a:t>Problem found in testing</a:t>
            </a:r>
            <a:endParaRPr lang="en-GB" sz="1100" dirty="0"/>
          </a:p>
        </p:txBody>
      </p:sp>
      <p:sp>
        <p:nvSpPr>
          <p:cNvPr id="16" name="Shape 16"/>
          <p:cNvSpPr/>
          <p:nvPr/>
        </p:nvSpPr>
        <p:spPr>
          <a:xfrm>
            <a:off x="5532120" y="2944368"/>
            <a:ext cx="1097280" cy="347472"/>
          </a:xfrm>
          <a:prstGeom prst="rect">
            <a:avLst/>
          </a:prstGeom>
          <a:solidFill>
            <a:srgbClr val="333399"/>
          </a:solidFill>
          <a:ln w="12700">
            <a:solidFill>
              <a:srgbClr val="FFFFFF"/>
            </a:solidFill>
          </a:ln>
        </p:spPr>
        <p:txBody>
          <a:bodyPr wrap="square" lIns="54864" tIns="54864" rIns="54864" bIns="54864" anchor="ctr" rtlCol="0">
            <a:noAutofit/>
          </a:bodyPr>
          <a:lstStyle/>
          <a:p>
            <a:pPr algn="ctr">
              <a:buNone/>
            </a:pPr>
            <a:r>
              <a:rPr lang="en-GB" sz="1100" b="1" i="0" dirty="0">
                <a:solidFill>
                  <a:srgbClr val="FFFFFF"/>
                </a:solidFill>
                <a:latin typeface="Arial"/>
                <a:cs typeface="Arial"/>
              </a:rPr>
              <a:t>Cost (days)</a:t>
            </a:r>
            <a:endParaRPr lang="en-GB" sz="1100" dirty="0"/>
          </a:p>
        </p:txBody>
      </p:sp>
      <p:sp>
        <p:nvSpPr>
          <p:cNvPr id="17" name="Shape 17"/>
          <p:cNvSpPr/>
          <p:nvPr/>
        </p:nvSpPr>
        <p:spPr>
          <a:xfrm>
            <a:off x="6629400" y="2944368"/>
            <a:ext cx="1508760" cy="347472"/>
          </a:xfrm>
          <a:prstGeom prst="rect">
            <a:avLst/>
          </a:prstGeom>
          <a:solidFill>
            <a:srgbClr val="333399"/>
          </a:solidFill>
          <a:ln w="12700">
            <a:solidFill>
              <a:srgbClr val="FFFFFF"/>
            </a:solidFill>
          </a:ln>
        </p:spPr>
        <p:txBody>
          <a:bodyPr wrap="square" lIns="54864" tIns="54864" rIns="54864" bIns="54864" anchor="ctr" rtlCol="0">
            <a:noAutofit/>
          </a:bodyPr>
          <a:lstStyle/>
          <a:p>
            <a:pPr algn="ctr">
              <a:buNone/>
            </a:pPr>
            <a:r>
              <a:rPr lang="en-GB" sz="1100" b="1" i="0" dirty="0">
                <a:solidFill>
                  <a:srgbClr val="FFFFFF"/>
                </a:solidFill>
                <a:latin typeface="Arial"/>
                <a:cs typeface="Arial"/>
              </a:rPr>
              <a:t>Impact (1–5)</a:t>
            </a:r>
            <a:endParaRPr lang="en-GB" sz="1100" dirty="0"/>
          </a:p>
        </p:txBody>
      </p:sp>
      <p:sp>
        <p:nvSpPr>
          <p:cNvPr id="18" name="Shape 18"/>
          <p:cNvSpPr/>
          <p:nvPr/>
        </p:nvSpPr>
        <p:spPr>
          <a:xfrm>
            <a:off x="548640" y="3291840"/>
            <a:ext cx="41148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50" b="1" i="0" dirty="0">
                <a:solidFill>
                  <a:srgbClr val="2D2D8A"/>
                </a:solidFill>
                <a:latin typeface="Arial"/>
                <a:cs typeface="Arial"/>
              </a:rPr>
              <a:t>A</a:t>
            </a:r>
            <a:endParaRPr lang="en-GB" sz="1150" dirty="0"/>
          </a:p>
        </p:txBody>
      </p:sp>
      <p:sp>
        <p:nvSpPr>
          <p:cNvPr id="19" name="Shape 19"/>
          <p:cNvSpPr/>
          <p:nvPr/>
        </p:nvSpPr>
        <p:spPr>
          <a:xfrm>
            <a:off x="960120" y="3291840"/>
            <a:ext cx="457200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l">
              <a:buNone/>
            </a:pPr>
            <a:r>
              <a:rPr lang="en-GB" sz="1150" b="0" i="0" dirty="0">
                <a:solidFill>
                  <a:srgbClr val="1A1A1A"/>
                </a:solidFill>
                <a:latin typeface="Arial"/>
                <a:cs typeface="Arial"/>
              </a:rPr>
              <a:t>Login page doesn’t warn when Caps Lock is on</a:t>
            </a:r>
            <a:endParaRPr lang="en-GB" sz="1150" dirty="0"/>
          </a:p>
        </p:txBody>
      </p:sp>
      <p:sp>
        <p:nvSpPr>
          <p:cNvPr id="20" name="Shape 20"/>
          <p:cNvSpPr/>
          <p:nvPr/>
        </p:nvSpPr>
        <p:spPr>
          <a:xfrm>
            <a:off x="5532120" y="3291840"/>
            <a:ext cx="109728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0.5</a:t>
            </a:r>
            <a:endParaRPr lang="en-GB" sz="1150" dirty="0"/>
          </a:p>
        </p:txBody>
      </p:sp>
      <p:sp>
        <p:nvSpPr>
          <p:cNvPr id="21" name="Shape 21"/>
          <p:cNvSpPr/>
          <p:nvPr/>
        </p:nvSpPr>
        <p:spPr>
          <a:xfrm>
            <a:off x="6629400" y="3291840"/>
            <a:ext cx="150876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3</a:t>
            </a:r>
            <a:endParaRPr lang="en-GB" sz="1150" dirty="0"/>
          </a:p>
        </p:txBody>
      </p:sp>
      <p:sp>
        <p:nvSpPr>
          <p:cNvPr id="22" name="Shape 22"/>
          <p:cNvSpPr/>
          <p:nvPr/>
        </p:nvSpPr>
        <p:spPr>
          <a:xfrm>
            <a:off x="548640" y="3694176"/>
            <a:ext cx="41148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50" b="1" i="0" dirty="0">
                <a:solidFill>
                  <a:srgbClr val="2D2D8A"/>
                </a:solidFill>
                <a:latin typeface="Arial"/>
                <a:cs typeface="Arial"/>
              </a:rPr>
              <a:t>B</a:t>
            </a:r>
            <a:endParaRPr lang="en-GB" sz="1150" dirty="0"/>
          </a:p>
        </p:txBody>
      </p:sp>
      <p:sp>
        <p:nvSpPr>
          <p:cNvPr id="23" name="Shape 23"/>
          <p:cNvSpPr/>
          <p:nvPr/>
        </p:nvSpPr>
        <p:spPr>
          <a:xfrm>
            <a:off x="960120" y="3694176"/>
            <a:ext cx="457200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l">
              <a:buNone/>
            </a:pPr>
            <a:r>
              <a:rPr lang="en-GB" sz="1150" b="0" i="0" dirty="0">
                <a:solidFill>
                  <a:srgbClr val="1A1A1A"/>
                </a:solidFill>
                <a:latin typeface="Arial"/>
                <a:cs typeface="Arial"/>
              </a:rPr>
              <a:t>Fee-challan PDF won’t open on phones</a:t>
            </a:r>
            <a:endParaRPr lang="en-GB" sz="1150" dirty="0"/>
          </a:p>
        </p:txBody>
      </p:sp>
      <p:sp>
        <p:nvSpPr>
          <p:cNvPr id="24" name="Shape 24"/>
          <p:cNvSpPr/>
          <p:nvPr/>
        </p:nvSpPr>
        <p:spPr>
          <a:xfrm>
            <a:off x="5532120" y="3694176"/>
            <a:ext cx="109728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2.0</a:t>
            </a:r>
            <a:endParaRPr lang="en-GB" sz="1150" dirty="0"/>
          </a:p>
        </p:txBody>
      </p:sp>
      <p:sp>
        <p:nvSpPr>
          <p:cNvPr id="25" name="Shape 25"/>
          <p:cNvSpPr/>
          <p:nvPr/>
        </p:nvSpPr>
        <p:spPr>
          <a:xfrm>
            <a:off x="6629400" y="3694176"/>
            <a:ext cx="150876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5</a:t>
            </a:r>
            <a:endParaRPr lang="en-GB" sz="1150" dirty="0"/>
          </a:p>
        </p:txBody>
      </p:sp>
      <p:sp>
        <p:nvSpPr>
          <p:cNvPr id="26" name="Shape 26"/>
          <p:cNvSpPr/>
          <p:nvPr/>
        </p:nvSpPr>
        <p:spPr>
          <a:xfrm>
            <a:off x="548640" y="4096512"/>
            <a:ext cx="41148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50" b="1" i="0" dirty="0">
                <a:solidFill>
                  <a:srgbClr val="2D2D8A"/>
                </a:solidFill>
                <a:latin typeface="Arial"/>
                <a:cs typeface="Arial"/>
              </a:rPr>
              <a:t>C</a:t>
            </a:r>
            <a:endParaRPr lang="en-GB" sz="1150" dirty="0"/>
          </a:p>
        </p:txBody>
      </p:sp>
      <p:sp>
        <p:nvSpPr>
          <p:cNvPr id="27" name="Shape 27"/>
          <p:cNvSpPr/>
          <p:nvPr/>
        </p:nvSpPr>
        <p:spPr>
          <a:xfrm>
            <a:off x="960120" y="4096512"/>
            <a:ext cx="457200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l">
              <a:buNone/>
            </a:pPr>
            <a:r>
              <a:rPr lang="en-GB" sz="1150" b="0" i="0" dirty="0">
                <a:solidFill>
                  <a:srgbClr val="1A1A1A"/>
                </a:solidFill>
                <a:latin typeface="Arial"/>
                <a:cs typeface="Arial"/>
              </a:rPr>
              <a:t>Pass / fail shown only by red vs green</a:t>
            </a:r>
            <a:endParaRPr lang="en-GB" sz="1150" dirty="0"/>
          </a:p>
        </p:txBody>
      </p:sp>
      <p:sp>
        <p:nvSpPr>
          <p:cNvPr id="28" name="Shape 28"/>
          <p:cNvSpPr/>
          <p:nvPr/>
        </p:nvSpPr>
        <p:spPr>
          <a:xfrm>
            <a:off x="5532120" y="4096512"/>
            <a:ext cx="109728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0.5</a:t>
            </a:r>
            <a:endParaRPr lang="en-GB" sz="1150" dirty="0"/>
          </a:p>
        </p:txBody>
      </p:sp>
      <p:sp>
        <p:nvSpPr>
          <p:cNvPr id="29" name="Shape 29"/>
          <p:cNvSpPr/>
          <p:nvPr/>
        </p:nvSpPr>
        <p:spPr>
          <a:xfrm>
            <a:off x="6629400" y="4096512"/>
            <a:ext cx="150876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2</a:t>
            </a:r>
            <a:endParaRPr lang="en-GB" sz="1150" dirty="0"/>
          </a:p>
        </p:txBody>
      </p:sp>
      <p:sp>
        <p:nvSpPr>
          <p:cNvPr id="30" name="Shape 30"/>
          <p:cNvSpPr/>
          <p:nvPr/>
        </p:nvSpPr>
        <p:spPr>
          <a:xfrm>
            <a:off x="548640" y="4498848"/>
            <a:ext cx="41148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50" b="1" i="0" dirty="0">
                <a:solidFill>
                  <a:srgbClr val="2D2D8A"/>
                </a:solidFill>
                <a:latin typeface="Arial"/>
                <a:cs typeface="Arial"/>
              </a:rPr>
              <a:t>D</a:t>
            </a:r>
            <a:endParaRPr lang="en-GB" sz="1150" dirty="0"/>
          </a:p>
        </p:txBody>
      </p:sp>
      <p:sp>
        <p:nvSpPr>
          <p:cNvPr id="31" name="Shape 31"/>
          <p:cNvSpPr/>
          <p:nvPr/>
        </p:nvSpPr>
        <p:spPr>
          <a:xfrm>
            <a:off x="960120" y="4498848"/>
            <a:ext cx="457200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l">
              <a:buNone/>
            </a:pPr>
            <a:r>
              <a:rPr lang="en-GB" sz="1150" b="0" i="0" dirty="0">
                <a:solidFill>
                  <a:srgbClr val="1A1A1A"/>
                </a:solidFill>
                <a:latin typeface="Arial"/>
                <a:cs typeface="Arial"/>
              </a:rPr>
              <a:t>Course registration times out after 5 min and loses all choices</a:t>
            </a:r>
            <a:endParaRPr lang="en-GB" sz="1150" dirty="0"/>
          </a:p>
        </p:txBody>
      </p:sp>
      <p:sp>
        <p:nvSpPr>
          <p:cNvPr id="32" name="Shape 32"/>
          <p:cNvSpPr/>
          <p:nvPr/>
        </p:nvSpPr>
        <p:spPr>
          <a:xfrm>
            <a:off x="5532120" y="4498848"/>
            <a:ext cx="109728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2.5</a:t>
            </a:r>
            <a:endParaRPr lang="en-GB" sz="1150" dirty="0"/>
          </a:p>
        </p:txBody>
      </p:sp>
      <p:sp>
        <p:nvSpPr>
          <p:cNvPr id="33" name="Shape 33"/>
          <p:cNvSpPr/>
          <p:nvPr/>
        </p:nvSpPr>
        <p:spPr>
          <a:xfrm>
            <a:off x="6629400" y="4498848"/>
            <a:ext cx="150876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4</a:t>
            </a:r>
            <a:endParaRPr lang="en-GB" sz="1150" dirty="0"/>
          </a:p>
        </p:txBody>
      </p:sp>
      <p:sp>
        <p:nvSpPr>
          <p:cNvPr id="34" name="Shape 34"/>
          <p:cNvSpPr/>
          <p:nvPr/>
        </p:nvSpPr>
        <p:spPr>
          <a:xfrm>
            <a:off x="548640" y="4901184"/>
            <a:ext cx="41148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50" b="1" i="0" dirty="0">
                <a:solidFill>
                  <a:srgbClr val="2D2D8A"/>
                </a:solidFill>
                <a:latin typeface="Arial"/>
                <a:cs typeface="Arial"/>
              </a:rPr>
              <a:t>E</a:t>
            </a:r>
            <a:endParaRPr lang="en-GB" sz="1150" dirty="0"/>
          </a:p>
        </p:txBody>
      </p:sp>
      <p:sp>
        <p:nvSpPr>
          <p:cNvPr id="35" name="Shape 35"/>
          <p:cNvSpPr/>
          <p:nvPr/>
        </p:nvSpPr>
        <p:spPr>
          <a:xfrm>
            <a:off x="960120" y="4901184"/>
            <a:ext cx="457200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l">
              <a:buNone/>
            </a:pPr>
            <a:r>
              <a:rPr lang="en-GB" sz="1150" b="0" i="0" dirty="0">
                <a:solidFill>
                  <a:srgbClr val="1A1A1A"/>
                </a:solidFill>
                <a:latin typeface="Arial"/>
                <a:cs typeface="Arial"/>
              </a:rPr>
              <a:t>Redesign the whole dashboard with animations</a:t>
            </a:r>
            <a:endParaRPr lang="en-GB" sz="1150" dirty="0"/>
          </a:p>
        </p:txBody>
      </p:sp>
      <p:sp>
        <p:nvSpPr>
          <p:cNvPr id="36" name="Shape 36"/>
          <p:cNvSpPr/>
          <p:nvPr/>
        </p:nvSpPr>
        <p:spPr>
          <a:xfrm>
            <a:off x="5532120" y="4901184"/>
            <a:ext cx="109728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4.0</a:t>
            </a:r>
            <a:endParaRPr lang="en-GB" sz="1150" dirty="0"/>
          </a:p>
        </p:txBody>
      </p:sp>
      <p:sp>
        <p:nvSpPr>
          <p:cNvPr id="37" name="Shape 37"/>
          <p:cNvSpPr/>
          <p:nvPr/>
        </p:nvSpPr>
        <p:spPr>
          <a:xfrm>
            <a:off x="6629400" y="4901184"/>
            <a:ext cx="150876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1</a:t>
            </a:r>
            <a:endParaRPr lang="en-GB" sz="1150" dirty="0"/>
          </a:p>
        </p:txBody>
      </p:sp>
      <p:sp>
        <p:nvSpPr>
          <p:cNvPr id="38" name="Shape 38"/>
          <p:cNvSpPr/>
          <p:nvPr/>
        </p:nvSpPr>
        <p:spPr>
          <a:xfrm>
            <a:off x="548640" y="5440680"/>
            <a:ext cx="7589520" cy="548640"/>
          </a:xfrm>
          <a:prstGeom prst="roundRect">
            <a:avLst>
              <a:gd name="adj" fmla="val 8000"/>
            </a:avLst>
          </a:prstGeom>
          <a:solidFill>
            <a:srgbClr val="F3F8F9"/>
          </a:solidFill>
          <a:ln w="12700">
            <a:solidFill>
              <a:srgbClr val="9DB8BC"/>
            </a:solidFill>
          </a:ln>
        </p:spPr>
        <p:txBody>
          <a:bodyPr wrap="square" lIns="109728" tIns="109728" rIns="109728" bIns="109728" anchor="ctr" rtlCol="0">
            <a:noAutofit/>
          </a:bodyPr>
          <a:lstStyle/>
          <a:p>
            <a:pPr algn="l">
              <a:buNone/>
            </a:pPr>
            <a:r>
              <a:rPr lang="en-GB" sz="1200" b="1" i="0" dirty="0">
                <a:solidFill>
                  <a:srgbClr val="2D2D8A"/>
                </a:solidFill>
                <a:latin typeface="Arial"/>
                <a:cs typeface="Arial"/>
              </a:rPr>
              <a:t xml:space="preserve">Rule: </a:t>
            </a:r>
            <a:r>
              <a:rPr lang="en-GB" sz="1200" b="0" i="0" dirty="0">
                <a:solidFill>
                  <a:srgbClr val="1A1A1A"/>
                </a:solidFill>
                <a:latin typeface="Arial"/>
                <a:cs typeface="Arial"/>
              </a:rPr>
              <a:t>total cost ≤ 5.0 days. Maximise total impact. Write your letters and your total.</a:t>
            </a:r>
            <a:endParaRPr lang="en-GB" sz="12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Five days, five fixes</a:t>
            </a:r>
          </a:p>
        </p:txBody>
      </p:sp>
      <p:sp>
        <p:nvSpPr>
          <p:cNvPr id="11" name="Shape 11"/>
          <p:cNvSpPr/>
          <p:nvPr/>
        </p:nvSpPr>
        <p:spPr>
          <a:xfrm>
            <a:off x="548640" y="1810512"/>
            <a:ext cx="1056132" cy="310896"/>
          </a:xfrm>
          <a:prstGeom prst="roundRect">
            <a:avLst>
              <a:gd name="adj" fmla="val 50000"/>
            </a:avLst>
          </a:prstGeom>
          <a:solidFill>
            <a:srgbClr val="404040"/>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ANSWERS</a:t>
            </a:r>
            <a:endParaRPr lang="en-GB" sz="1100" dirty="0"/>
          </a:p>
        </p:txBody>
      </p:sp>
      <p:sp>
        <p:nvSpPr>
          <p:cNvPr id="12" name="Shape 12"/>
          <p:cNvSpPr txBox="1"/>
          <p:nvPr/>
        </p:nvSpPr>
        <p:spPr>
          <a:xfrm>
            <a:off x="1714500" y="1810512"/>
            <a:ext cx="6423660" cy="310896"/>
          </a:xfrm>
          <a:prstGeom prst="rect">
            <a:avLst/>
          </a:prstGeom>
          <a:noFill/>
          <a:ln>
            <a:noFill/>
          </a:ln>
        </p:spPr>
        <p:txBody>
          <a:bodyPr wrap="square" lIns="18288" tIns="18288" rIns="18288" bIns="18288" anchor="ctr" rtlCol="0">
            <a:noAutofit/>
          </a:bodyPr>
          <a:lstStyle/>
          <a:p>
            <a:pPr algn="l">
              <a:buNone/>
            </a:pPr>
            <a:r>
              <a:rPr lang="en-GB" sz="1200" b="0" i="1" dirty="0">
                <a:solidFill>
                  <a:srgbClr val="595959"/>
                </a:solidFill>
                <a:latin typeface="Arial"/>
                <a:cs typeface="Arial"/>
              </a:rPr>
              <a:t>cost ≤ 5.0 days, maximum impact</a:t>
            </a:r>
            <a:endParaRPr lang="en-GB" sz="1200" dirty="0"/>
          </a:p>
        </p:txBody>
      </p:sp>
      <p:sp>
        <p:nvSpPr>
          <p:cNvPr id="13" name="Shape 13"/>
          <p:cNvSpPr txBox="1"/>
          <p:nvPr/>
        </p:nvSpPr>
        <p:spPr>
          <a:xfrm>
            <a:off x="548640" y="2240280"/>
            <a:ext cx="7589520" cy="566928"/>
          </a:xfrm>
          <a:prstGeom prst="rect">
            <a:avLst/>
          </a:prstGeom>
          <a:noFill/>
          <a:ln>
            <a:noFill/>
          </a:ln>
        </p:spPr>
        <p:txBody>
          <a:bodyPr wrap="square" lIns="18288" tIns="18288" rIns="18288" bIns="18288" anchor="t" rtlCol="0">
            <a:noAutofit/>
          </a:bodyPr>
          <a:lstStyle/>
          <a:p>
            <a:pPr algn="l">
              <a:buNone/>
            </a:pPr>
            <a:r>
              <a:rPr lang="en-GB" sz="1600" b="1" i="0" dirty="0">
                <a:solidFill>
                  <a:srgbClr val="2D2D8A"/>
                </a:solidFill>
                <a:latin typeface="Arial"/>
                <a:cs typeface="Arial"/>
              </a:rPr>
              <a:t>Testing the student portal found five problems. You have 5 developer-days. Which do you fix?</a:t>
            </a:r>
            <a:endParaRPr lang="en-GB" sz="1600" dirty="0"/>
          </a:p>
        </p:txBody>
      </p:sp>
      <p:sp>
        <p:nvSpPr>
          <p:cNvPr id="14" name="Shape 14"/>
          <p:cNvSpPr/>
          <p:nvPr/>
        </p:nvSpPr>
        <p:spPr>
          <a:xfrm>
            <a:off x="548640" y="2944368"/>
            <a:ext cx="411480" cy="347472"/>
          </a:xfrm>
          <a:prstGeom prst="rect">
            <a:avLst/>
          </a:prstGeom>
          <a:solidFill>
            <a:srgbClr val="333399"/>
          </a:solidFill>
          <a:ln w="12700">
            <a:solidFill>
              <a:srgbClr val="FFFFFF"/>
            </a:solidFill>
          </a:ln>
        </p:spPr>
        <p:txBody>
          <a:bodyPr wrap="square" lIns="54864" tIns="54864" rIns="54864" bIns="54864" anchor="ctr" rtlCol="0">
            <a:noAutofit/>
          </a:bodyPr>
          <a:lstStyle/>
          <a:p>
            <a:pPr algn="ctr">
              <a:buNone/>
            </a:pPr>
            <a:r>
              <a:rPr lang="en-GB" sz="1100" b="1" i="0" dirty="0">
                <a:solidFill>
                  <a:srgbClr val="FFFFFF"/>
                </a:solidFill>
                <a:latin typeface="Arial"/>
                <a:cs typeface="Arial"/>
              </a:rPr>
              <a:t/>
            </a:r>
            <a:endParaRPr lang="en-GB" sz="1100" dirty="0"/>
          </a:p>
        </p:txBody>
      </p:sp>
      <p:sp>
        <p:nvSpPr>
          <p:cNvPr id="15" name="Shape 15"/>
          <p:cNvSpPr/>
          <p:nvPr/>
        </p:nvSpPr>
        <p:spPr>
          <a:xfrm>
            <a:off x="960120" y="2944368"/>
            <a:ext cx="3931920" cy="347472"/>
          </a:xfrm>
          <a:prstGeom prst="rect">
            <a:avLst/>
          </a:prstGeom>
          <a:solidFill>
            <a:srgbClr val="333399"/>
          </a:solidFill>
          <a:ln w="12700">
            <a:solidFill>
              <a:srgbClr val="FFFFFF"/>
            </a:solidFill>
          </a:ln>
        </p:spPr>
        <p:txBody>
          <a:bodyPr wrap="square" lIns="54864" tIns="54864" rIns="54864" bIns="54864" anchor="ctr" rtlCol="0">
            <a:noAutofit/>
          </a:bodyPr>
          <a:lstStyle/>
          <a:p>
            <a:pPr algn="l">
              <a:buNone/>
            </a:pPr>
            <a:r>
              <a:rPr lang="en-GB" sz="1100" b="1" i="0" dirty="0">
                <a:solidFill>
                  <a:srgbClr val="FFFFFF"/>
                </a:solidFill>
                <a:latin typeface="Arial"/>
                <a:cs typeface="Arial"/>
              </a:rPr>
              <a:t>Problem found in testing</a:t>
            </a:r>
            <a:endParaRPr lang="en-GB" sz="1100" dirty="0"/>
          </a:p>
        </p:txBody>
      </p:sp>
      <p:sp>
        <p:nvSpPr>
          <p:cNvPr id="16" name="Shape 16"/>
          <p:cNvSpPr/>
          <p:nvPr/>
        </p:nvSpPr>
        <p:spPr>
          <a:xfrm>
            <a:off x="4892040" y="2944368"/>
            <a:ext cx="914400" cy="347472"/>
          </a:xfrm>
          <a:prstGeom prst="rect">
            <a:avLst/>
          </a:prstGeom>
          <a:solidFill>
            <a:srgbClr val="333399"/>
          </a:solidFill>
          <a:ln w="12700">
            <a:solidFill>
              <a:srgbClr val="FFFFFF"/>
            </a:solidFill>
          </a:ln>
        </p:spPr>
        <p:txBody>
          <a:bodyPr wrap="square" lIns="54864" tIns="54864" rIns="54864" bIns="54864" anchor="ctr" rtlCol="0">
            <a:noAutofit/>
          </a:bodyPr>
          <a:lstStyle/>
          <a:p>
            <a:pPr algn="ctr">
              <a:buNone/>
            </a:pPr>
            <a:r>
              <a:rPr lang="en-GB" sz="1100" b="1" i="0" dirty="0">
                <a:solidFill>
                  <a:srgbClr val="FFFFFF"/>
                </a:solidFill>
                <a:latin typeface="Arial"/>
                <a:cs typeface="Arial"/>
              </a:rPr>
              <a:t>Days</a:t>
            </a:r>
            <a:endParaRPr lang="en-GB" sz="1100" dirty="0"/>
          </a:p>
        </p:txBody>
      </p:sp>
      <p:sp>
        <p:nvSpPr>
          <p:cNvPr id="17" name="Shape 17"/>
          <p:cNvSpPr/>
          <p:nvPr/>
        </p:nvSpPr>
        <p:spPr>
          <a:xfrm>
            <a:off x="5806440" y="2944368"/>
            <a:ext cx="1097280" cy="347472"/>
          </a:xfrm>
          <a:prstGeom prst="rect">
            <a:avLst/>
          </a:prstGeom>
          <a:solidFill>
            <a:srgbClr val="333399"/>
          </a:solidFill>
          <a:ln w="12700">
            <a:solidFill>
              <a:srgbClr val="FFFFFF"/>
            </a:solidFill>
          </a:ln>
        </p:spPr>
        <p:txBody>
          <a:bodyPr wrap="square" lIns="54864" tIns="54864" rIns="54864" bIns="54864" anchor="ctr" rtlCol="0">
            <a:noAutofit/>
          </a:bodyPr>
          <a:lstStyle/>
          <a:p>
            <a:pPr algn="ctr">
              <a:buNone/>
            </a:pPr>
            <a:r>
              <a:rPr lang="en-GB" sz="1100" b="1" i="0" dirty="0">
                <a:solidFill>
                  <a:srgbClr val="FFFFFF"/>
                </a:solidFill>
                <a:latin typeface="Arial"/>
                <a:cs typeface="Arial"/>
              </a:rPr>
              <a:t>Impact</a:t>
            </a:r>
            <a:endParaRPr lang="en-GB" sz="1100" dirty="0"/>
          </a:p>
        </p:txBody>
      </p:sp>
      <p:sp>
        <p:nvSpPr>
          <p:cNvPr id="18" name="Shape 18"/>
          <p:cNvSpPr/>
          <p:nvPr/>
        </p:nvSpPr>
        <p:spPr>
          <a:xfrm>
            <a:off x="6903720" y="2944368"/>
            <a:ext cx="1234440" cy="347472"/>
          </a:xfrm>
          <a:prstGeom prst="rect">
            <a:avLst/>
          </a:prstGeom>
          <a:solidFill>
            <a:srgbClr val="333399"/>
          </a:solidFill>
          <a:ln w="12700">
            <a:solidFill>
              <a:srgbClr val="FFFFFF"/>
            </a:solidFill>
          </a:ln>
        </p:spPr>
        <p:txBody>
          <a:bodyPr wrap="square" lIns="54864" tIns="54864" rIns="54864" bIns="54864" anchor="ctr" rtlCol="0">
            <a:noAutofit/>
          </a:bodyPr>
          <a:lstStyle/>
          <a:p>
            <a:pPr algn="ctr">
              <a:buNone/>
            </a:pPr>
            <a:r>
              <a:rPr lang="en-GB" sz="1100" b="1" i="0" dirty="0">
                <a:solidFill>
                  <a:srgbClr val="FFFFFF"/>
                </a:solidFill>
                <a:latin typeface="Arial"/>
                <a:cs typeface="Arial"/>
              </a:rPr>
              <a:t>Impact / day</a:t>
            </a:r>
            <a:endParaRPr lang="en-GB" sz="1100" dirty="0"/>
          </a:p>
        </p:txBody>
      </p:sp>
      <p:sp>
        <p:nvSpPr>
          <p:cNvPr id="19" name="Shape 19"/>
          <p:cNvSpPr/>
          <p:nvPr/>
        </p:nvSpPr>
        <p:spPr>
          <a:xfrm>
            <a:off x="548640" y="3291840"/>
            <a:ext cx="411480" cy="402336"/>
          </a:xfrm>
          <a:prstGeom prst="rect">
            <a:avLst/>
          </a:prstGeom>
          <a:solidFill>
            <a:srgbClr val="E6EFD9"/>
          </a:solidFill>
          <a:ln w="12700">
            <a:solidFill>
              <a:srgbClr val="9DB8BC"/>
            </a:solidFill>
          </a:ln>
        </p:spPr>
        <p:txBody>
          <a:bodyPr wrap="square" lIns="54864" tIns="54864" rIns="54864" bIns="54864" anchor="ctr" rtlCol="0">
            <a:noAutofit/>
          </a:bodyPr>
          <a:lstStyle/>
          <a:p>
            <a:pPr algn="ctr">
              <a:buNone/>
            </a:pPr>
            <a:r>
              <a:rPr lang="en-GB" sz="1150" b="1" i="0" dirty="0">
                <a:solidFill>
                  <a:srgbClr val="2D2D8A"/>
                </a:solidFill>
                <a:latin typeface="Arial"/>
                <a:cs typeface="Arial"/>
              </a:rPr>
              <a:t>A</a:t>
            </a:r>
            <a:endParaRPr lang="en-GB" sz="1150" dirty="0"/>
          </a:p>
        </p:txBody>
      </p:sp>
      <p:sp>
        <p:nvSpPr>
          <p:cNvPr id="20" name="Shape 20"/>
          <p:cNvSpPr/>
          <p:nvPr/>
        </p:nvSpPr>
        <p:spPr>
          <a:xfrm>
            <a:off x="960120" y="3291840"/>
            <a:ext cx="3931920" cy="402336"/>
          </a:xfrm>
          <a:prstGeom prst="rect">
            <a:avLst/>
          </a:prstGeom>
          <a:solidFill>
            <a:srgbClr val="E6EFD9"/>
          </a:solidFill>
          <a:ln w="12700">
            <a:solidFill>
              <a:srgbClr val="9DB8BC"/>
            </a:solidFill>
          </a:ln>
        </p:spPr>
        <p:txBody>
          <a:bodyPr wrap="square" lIns="54864" tIns="54864" rIns="54864" bIns="54864" anchor="ctr" rtlCol="0">
            <a:noAutofit/>
          </a:bodyPr>
          <a:lstStyle/>
          <a:p>
            <a:pPr algn="l">
              <a:buNone/>
            </a:pPr>
            <a:r>
              <a:rPr lang="en-GB" sz="1150" b="0" i="0" dirty="0">
                <a:solidFill>
                  <a:srgbClr val="1A1A1A"/>
                </a:solidFill>
                <a:latin typeface="Arial"/>
                <a:cs typeface="Arial"/>
              </a:rPr>
              <a:t>Login page doesn’t warn when Caps Lock is on</a:t>
            </a:r>
            <a:endParaRPr lang="en-GB" sz="1150" dirty="0"/>
          </a:p>
        </p:txBody>
      </p:sp>
      <p:sp>
        <p:nvSpPr>
          <p:cNvPr id="21" name="Shape 21"/>
          <p:cNvSpPr/>
          <p:nvPr/>
        </p:nvSpPr>
        <p:spPr>
          <a:xfrm>
            <a:off x="4892040" y="3291840"/>
            <a:ext cx="914400" cy="402336"/>
          </a:xfrm>
          <a:prstGeom prst="rect">
            <a:avLst/>
          </a:prstGeom>
          <a:solidFill>
            <a:srgbClr val="E6EFD9"/>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0.5</a:t>
            </a:r>
            <a:endParaRPr lang="en-GB" sz="1150" dirty="0"/>
          </a:p>
        </p:txBody>
      </p:sp>
      <p:sp>
        <p:nvSpPr>
          <p:cNvPr id="22" name="Shape 22"/>
          <p:cNvSpPr/>
          <p:nvPr/>
        </p:nvSpPr>
        <p:spPr>
          <a:xfrm>
            <a:off x="5806440" y="3291840"/>
            <a:ext cx="1097280" cy="402336"/>
          </a:xfrm>
          <a:prstGeom prst="rect">
            <a:avLst/>
          </a:prstGeom>
          <a:solidFill>
            <a:srgbClr val="E6EFD9"/>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3</a:t>
            </a:r>
            <a:endParaRPr lang="en-GB" sz="1150" dirty="0"/>
          </a:p>
        </p:txBody>
      </p:sp>
      <p:sp>
        <p:nvSpPr>
          <p:cNvPr id="23" name="Shape 23"/>
          <p:cNvSpPr/>
          <p:nvPr/>
        </p:nvSpPr>
        <p:spPr>
          <a:xfrm>
            <a:off x="6903720" y="3291840"/>
            <a:ext cx="1234440" cy="402336"/>
          </a:xfrm>
          <a:prstGeom prst="rect">
            <a:avLst/>
          </a:prstGeom>
          <a:solidFill>
            <a:srgbClr val="E6EFD9"/>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6.0</a:t>
            </a:r>
            <a:endParaRPr lang="en-GB" sz="1150" dirty="0"/>
          </a:p>
        </p:txBody>
      </p:sp>
      <p:sp>
        <p:nvSpPr>
          <p:cNvPr id="24" name="Shape 24"/>
          <p:cNvSpPr/>
          <p:nvPr/>
        </p:nvSpPr>
        <p:spPr>
          <a:xfrm>
            <a:off x="548640" y="3694176"/>
            <a:ext cx="411480" cy="402336"/>
          </a:xfrm>
          <a:prstGeom prst="rect">
            <a:avLst/>
          </a:prstGeom>
          <a:solidFill>
            <a:srgbClr val="E6EFD9"/>
          </a:solidFill>
          <a:ln w="12700">
            <a:solidFill>
              <a:srgbClr val="9DB8BC"/>
            </a:solidFill>
          </a:ln>
        </p:spPr>
        <p:txBody>
          <a:bodyPr wrap="square" lIns="54864" tIns="54864" rIns="54864" bIns="54864" anchor="ctr" rtlCol="0">
            <a:noAutofit/>
          </a:bodyPr>
          <a:lstStyle/>
          <a:p>
            <a:pPr algn="ctr">
              <a:buNone/>
            </a:pPr>
            <a:r>
              <a:rPr lang="en-GB" sz="1150" b="1" i="0" dirty="0">
                <a:solidFill>
                  <a:srgbClr val="2D2D8A"/>
                </a:solidFill>
                <a:latin typeface="Arial"/>
                <a:cs typeface="Arial"/>
              </a:rPr>
              <a:t>B</a:t>
            </a:r>
            <a:endParaRPr lang="en-GB" sz="1150" dirty="0"/>
          </a:p>
        </p:txBody>
      </p:sp>
      <p:sp>
        <p:nvSpPr>
          <p:cNvPr id="25" name="Shape 25"/>
          <p:cNvSpPr/>
          <p:nvPr/>
        </p:nvSpPr>
        <p:spPr>
          <a:xfrm>
            <a:off x="960120" y="3694176"/>
            <a:ext cx="3931920" cy="402336"/>
          </a:xfrm>
          <a:prstGeom prst="rect">
            <a:avLst/>
          </a:prstGeom>
          <a:solidFill>
            <a:srgbClr val="E6EFD9"/>
          </a:solidFill>
          <a:ln w="12700">
            <a:solidFill>
              <a:srgbClr val="9DB8BC"/>
            </a:solidFill>
          </a:ln>
        </p:spPr>
        <p:txBody>
          <a:bodyPr wrap="square" lIns="54864" tIns="54864" rIns="54864" bIns="54864" anchor="ctr" rtlCol="0">
            <a:noAutofit/>
          </a:bodyPr>
          <a:lstStyle/>
          <a:p>
            <a:pPr algn="l">
              <a:buNone/>
            </a:pPr>
            <a:r>
              <a:rPr lang="en-GB" sz="1150" b="0" i="0" dirty="0">
                <a:solidFill>
                  <a:srgbClr val="1A1A1A"/>
                </a:solidFill>
                <a:latin typeface="Arial"/>
                <a:cs typeface="Arial"/>
              </a:rPr>
              <a:t>Fee-challan PDF won’t open on phones</a:t>
            </a:r>
            <a:endParaRPr lang="en-GB" sz="1150" dirty="0"/>
          </a:p>
        </p:txBody>
      </p:sp>
      <p:sp>
        <p:nvSpPr>
          <p:cNvPr id="26" name="Shape 26"/>
          <p:cNvSpPr/>
          <p:nvPr/>
        </p:nvSpPr>
        <p:spPr>
          <a:xfrm>
            <a:off x="4892040" y="3694176"/>
            <a:ext cx="914400" cy="402336"/>
          </a:xfrm>
          <a:prstGeom prst="rect">
            <a:avLst/>
          </a:prstGeom>
          <a:solidFill>
            <a:srgbClr val="E6EFD9"/>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2.0</a:t>
            </a:r>
            <a:endParaRPr lang="en-GB" sz="1150" dirty="0"/>
          </a:p>
        </p:txBody>
      </p:sp>
      <p:sp>
        <p:nvSpPr>
          <p:cNvPr id="27" name="Shape 27"/>
          <p:cNvSpPr/>
          <p:nvPr/>
        </p:nvSpPr>
        <p:spPr>
          <a:xfrm>
            <a:off x="5806440" y="3694176"/>
            <a:ext cx="1097280" cy="402336"/>
          </a:xfrm>
          <a:prstGeom prst="rect">
            <a:avLst/>
          </a:prstGeom>
          <a:solidFill>
            <a:srgbClr val="E6EFD9"/>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5</a:t>
            </a:r>
            <a:endParaRPr lang="en-GB" sz="1150" dirty="0"/>
          </a:p>
        </p:txBody>
      </p:sp>
      <p:sp>
        <p:nvSpPr>
          <p:cNvPr id="28" name="Shape 28"/>
          <p:cNvSpPr/>
          <p:nvPr/>
        </p:nvSpPr>
        <p:spPr>
          <a:xfrm>
            <a:off x="6903720" y="3694176"/>
            <a:ext cx="1234440" cy="402336"/>
          </a:xfrm>
          <a:prstGeom prst="rect">
            <a:avLst/>
          </a:prstGeom>
          <a:solidFill>
            <a:srgbClr val="E6EFD9"/>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2.5</a:t>
            </a:r>
            <a:endParaRPr lang="en-GB" sz="1150" dirty="0"/>
          </a:p>
        </p:txBody>
      </p:sp>
      <p:sp>
        <p:nvSpPr>
          <p:cNvPr id="29" name="Shape 29"/>
          <p:cNvSpPr/>
          <p:nvPr/>
        </p:nvSpPr>
        <p:spPr>
          <a:xfrm>
            <a:off x="548640" y="4096512"/>
            <a:ext cx="41148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50" b="1" i="0" dirty="0">
                <a:solidFill>
                  <a:srgbClr val="2D2D8A"/>
                </a:solidFill>
                <a:latin typeface="Arial"/>
                <a:cs typeface="Arial"/>
              </a:rPr>
              <a:t>C</a:t>
            </a:r>
            <a:endParaRPr lang="en-GB" sz="1150" dirty="0"/>
          </a:p>
        </p:txBody>
      </p:sp>
      <p:sp>
        <p:nvSpPr>
          <p:cNvPr id="30" name="Shape 30"/>
          <p:cNvSpPr/>
          <p:nvPr/>
        </p:nvSpPr>
        <p:spPr>
          <a:xfrm>
            <a:off x="960120" y="4096512"/>
            <a:ext cx="393192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l">
              <a:buNone/>
            </a:pPr>
            <a:r>
              <a:rPr lang="en-GB" sz="1150" b="0" i="0" dirty="0">
                <a:solidFill>
                  <a:srgbClr val="1A1A1A"/>
                </a:solidFill>
                <a:latin typeface="Arial"/>
                <a:cs typeface="Arial"/>
              </a:rPr>
              <a:t>Pass / fail shown only by red vs green</a:t>
            </a:r>
            <a:endParaRPr lang="en-GB" sz="1150" dirty="0"/>
          </a:p>
        </p:txBody>
      </p:sp>
      <p:sp>
        <p:nvSpPr>
          <p:cNvPr id="31" name="Shape 31"/>
          <p:cNvSpPr/>
          <p:nvPr/>
        </p:nvSpPr>
        <p:spPr>
          <a:xfrm>
            <a:off x="4892040" y="4096512"/>
            <a:ext cx="91440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0.5</a:t>
            </a:r>
            <a:endParaRPr lang="en-GB" sz="1150" dirty="0"/>
          </a:p>
        </p:txBody>
      </p:sp>
      <p:sp>
        <p:nvSpPr>
          <p:cNvPr id="32" name="Shape 32"/>
          <p:cNvSpPr/>
          <p:nvPr/>
        </p:nvSpPr>
        <p:spPr>
          <a:xfrm>
            <a:off x="5806440" y="4096512"/>
            <a:ext cx="109728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2</a:t>
            </a:r>
            <a:endParaRPr lang="en-GB" sz="1150" dirty="0"/>
          </a:p>
        </p:txBody>
      </p:sp>
      <p:sp>
        <p:nvSpPr>
          <p:cNvPr id="33" name="Shape 33"/>
          <p:cNvSpPr/>
          <p:nvPr/>
        </p:nvSpPr>
        <p:spPr>
          <a:xfrm>
            <a:off x="6903720" y="4096512"/>
            <a:ext cx="1234440" cy="402336"/>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4.0</a:t>
            </a:r>
            <a:endParaRPr lang="en-GB" sz="1150" dirty="0"/>
          </a:p>
        </p:txBody>
      </p:sp>
      <p:sp>
        <p:nvSpPr>
          <p:cNvPr id="34" name="Shape 34"/>
          <p:cNvSpPr/>
          <p:nvPr/>
        </p:nvSpPr>
        <p:spPr>
          <a:xfrm>
            <a:off x="548640" y="4498848"/>
            <a:ext cx="411480" cy="402336"/>
          </a:xfrm>
          <a:prstGeom prst="rect">
            <a:avLst/>
          </a:prstGeom>
          <a:solidFill>
            <a:srgbClr val="E6EFD9"/>
          </a:solidFill>
          <a:ln w="12700">
            <a:solidFill>
              <a:srgbClr val="9DB8BC"/>
            </a:solidFill>
          </a:ln>
        </p:spPr>
        <p:txBody>
          <a:bodyPr wrap="square" lIns="54864" tIns="54864" rIns="54864" bIns="54864" anchor="ctr" rtlCol="0">
            <a:noAutofit/>
          </a:bodyPr>
          <a:lstStyle/>
          <a:p>
            <a:pPr algn="ctr">
              <a:buNone/>
            </a:pPr>
            <a:r>
              <a:rPr lang="en-GB" sz="1150" b="1" i="0" dirty="0">
                <a:solidFill>
                  <a:srgbClr val="2D2D8A"/>
                </a:solidFill>
                <a:latin typeface="Arial"/>
                <a:cs typeface="Arial"/>
              </a:rPr>
              <a:t>D</a:t>
            </a:r>
            <a:endParaRPr lang="en-GB" sz="1150" dirty="0"/>
          </a:p>
        </p:txBody>
      </p:sp>
      <p:sp>
        <p:nvSpPr>
          <p:cNvPr id="35" name="Shape 35"/>
          <p:cNvSpPr/>
          <p:nvPr/>
        </p:nvSpPr>
        <p:spPr>
          <a:xfrm>
            <a:off x="960120" y="4498848"/>
            <a:ext cx="3931920" cy="402336"/>
          </a:xfrm>
          <a:prstGeom prst="rect">
            <a:avLst/>
          </a:prstGeom>
          <a:solidFill>
            <a:srgbClr val="E6EFD9"/>
          </a:solidFill>
          <a:ln w="12700">
            <a:solidFill>
              <a:srgbClr val="9DB8BC"/>
            </a:solidFill>
          </a:ln>
        </p:spPr>
        <p:txBody>
          <a:bodyPr wrap="square" lIns="54864" tIns="54864" rIns="54864" bIns="54864" anchor="ctr" rtlCol="0">
            <a:noAutofit/>
          </a:bodyPr>
          <a:lstStyle/>
          <a:p>
            <a:pPr algn="l">
              <a:buNone/>
            </a:pPr>
            <a:r>
              <a:rPr lang="en-GB" sz="1150" b="0" i="0" dirty="0">
                <a:solidFill>
                  <a:srgbClr val="1A1A1A"/>
                </a:solidFill>
                <a:latin typeface="Arial"/>
                <a:cs typeface="Arial"/>
              </a:rPr>
              <a:t>Course registration times out after 5 min and loses all choices</a:t>
            </a:r>
            <a:endParaRPr lang="en-GB" sz="1150" dirty="0"/>
          </a:p>
        </p:txBody>
      </p:sp>
      <p:sp>
        <p:nvSpPr>
          <p:cNvPr id="36" name="Shape 36"/>
          <p:cNvSpPr/>
          <p:nvPr/>
        </p:nvSpPr>
        <p:spPr>
          <a:xfrm>
            <a:off x="4892040" y="4498848"/>
            <a:ext cx="914400" cy="402336"/>
          </a:xfrm>
          <a:prstGeom prst="rect">
            <a:avLst/>
          </a:prstGeom>
          <a:solidFill>
            <a:srgbClr val="E6EFD9"/>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2.5</a:t>
            </a:r>
            <a:endParaRPr lang="en-GB" sz="1150" dirty="0"/>
          </a:p>
        </p:txBody>
      </p:sp>
      <p:sp>
        <p:nvSpPr>
          <p:cNvPr id="37" name="Shape 37"/>
          <p:cNvSpPr/>
          <p:nvPr/>
        </p:nvSpPr>
        <p:spPr>
          <a:xfrm>
            <a:off x="5806440" y="4498848"/>
            <a:ext cx="1097280" cy="402336"/>
          </a:xfrm>
          <a:prstGeom prst="rect">
            <a:avLst/>
          </a:prstGeom>
          <a:solidFill>
            <a:srgbClr val="E6EFD9"/>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4</a:t>
            </a:r>
            <a:endParaRPr lang="en-GB" sz="1150" dirty="0"/>
          </a:p>
        </p:txBody>
      </p:sp>
      <p:sp>
        <p:nvSpPr>
          <p:cNvPr id="38" name="Shape 38"/>
          <p:cNvSpPr/>
          <p:nvPr/>
        </p:nvSpPr>
        <p:spPr>
          <a:xfrm>
            <a:off x="6903720" y="4498848"/>
            <a:ext cx="1234440" cy="402336"/>
          </a:xfrm>
          <a:prstGeom prst="rect">
            <a:avLst/>
          </a:prstGeom>
          <a:solidFill>
            <a:srgbClr val="E6EFD9"/>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1.6</a:t>
            </a:r>
            <a:endParaRPr lang="en-GB" sz="1150" dirty="0"/>
          </a:p>
        </p:txBody>
      </p:sp>
      <p:sp>
        <p:nvSpPr>
          <p:cNvPr id="39" name="Shape 39"/>
          <p:cNvSpPr/>
          <p:nvPr/>
        </p:nvSpPr>
        <p:spPr>
          <a:xfrm>
            <a:off x="548640" y="4901184"/>
            <a:ext cx="411480" cy="402336"/>
          </a:xfrm>
          <a:prstGeom prst="rect">
            <a:avLst/>
          </a:prstGeom>
          <a:solidFill>
            <a:srgbClr val="F6E3E1"/>
          </a:solidFill>
          <a:ln w="12700">
            <a:solidFill>
              <a:srgbClr val="9DB8BC"/>
            </a:solidFill>
          </a:ln>
        </p:spPr>
        <p:txBody>
          <a:bodyPr wrap="square" lIns="54864" tIns="54864" rIns="54864" bIns="54864" anchor="ctr" rtlCol="0">
            <a:noAutofit/>
          </a:bodyPr>
          <a:lstStyle/>
          <a:p>
            <a:pPr algn="ctr">
              <a:buNone/>
            </a:pPr>
            <a:r>
              <a:rPr lang="en-GB" sz="1150" b="1" i="0" dirty="0">
                <a:solidFill>
                  <a:srgbClr val="2D2D8A"/>
                </a:solidFill>
                <a:latin typeface="Arial"/>
                <a:cs typeface="Arial"/>
              </a:rPr>
              <a:t>E</a:t>
            </a:r>
            <a:endParaRPr lang="en-GB" sz="1150" dirty="0"/>
          </a:p>
        </p:txBody>
      </p:sp>
      <p:sp>
        <p:nvSpPr>
          <p:cNvPr id="40" name="Shape 40"/>
          <p:cNvSpPr/>
          <p:nvPr/>
        </p:nvSpPr>
        <p:spPr>
          <a:xfrm>
            <a:off x="960120" y="4901184"/>
            <a:ext cx="3931920" cy="402336"/>
          </a:xfrm>
          <a:prstGeom prst="rect">
            <a:avLst/>
          </a:prstGeom>
          <a:solidFill>
            <a:srgbClr val="F6E3E1"/>
          </a:solidFill>
          <a:ln w="12700">
            <a:solidFill>
              <a:srgbClr val="9DB8BC"/>
            </a:solidFill>
          </a:ln>
        </p:spPr>
        <p:txBody>
          <a:bodyPr wrap="square" lIns="54864" tIns="54864" rIns="54864" bIns="54864" anchor="ctr" rtlCol="0">
            <a:noAutofit/>
          </a:bodyPr>
          <a:lstStyle/>
          <a:p>
            <a:pPr algn="l">
              <a:buNone/>
            </a:pPr>
            <a:r>
              <a:rPr lang="en-GB" sz="1150" b="0" i="0" dirty="0">
                <a:solidFill>
                  <a:srgbClr val="1A1A1A"/>
                </a:solidFill>
                <a:latin typeface="Arial"/>
                <a:cs typeface="Arial"/>
              </a:rPr>
              <a:t>Redesign the whole dashboard with animations</a:t>
            </a:r>
            <a:endParaRPr lang="en-GB" sz="1150" dirty="0"/>
          </a:p>
        </p:txBody>
      </p:sp>
      <p:sp>
        <p:nvSpPr>
          <p:cNvPr id="41" name="Shape 41"/>
          <p:cNvSpPr/>
          <p:nvPr/>
        </p:nvSpPr>
        <p:spPr>
          <a:xfrm>
            <a:off x="4892040" y="4901184"/>
            <a:ext cx="914400" cy="402336"/>
          </a:xfrm>
          <a:prstGeom prst="rect">
            <a:avLst/>
          </a:prstGeom>
          <a:solidFill>
            <a:srgbClr val="F6E3E1"/>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4.0</a:t>
            </a:r>
            <a:endParaRPr lang="en-GB" sz="1150" dirty="0"/>
          </a:p>
        </p:txBody>
      </p:sp>
      <p:sp>
        <p:nvSpPr>
          <p:cNvPr id="42" name="Shape 42"/>
          <p:cNvSpPr/>
          <p:nvPr/>
        </p:nvSpPr>
        <p:spPr>
          <a:xfrm>
            <a:off x="5806440" y="4901184"/>
            <a:ext cx="1097280" cy="402336"/>
          </a:xfrm>
          <a:prstGeom prst="rect">
            <a:avLst/>
          </a:prstGeom>
          <a:solidFill>
            <a:srgbClr val="F6E3E1"/>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1</a:t>
            </a:r>
            <a:endParaRPr lang="en-GB" sz="1150" dirty="0"/>
          </a:p>
        </p:txBody>
      </p:sp>
      <p:sp>
        <p:nvSpPr>
          <p:cNvPr id="43" name="Shape 43"/>
          <p:cNvSpPr/>
          <p:nvPr/>
        </p:nvSpPr>
        <p:spPr>
          <a:xfrm>
            <a:off x="6903720" y="4901184"/>
            <a:ext cx="1234440" cy="402336"/>
          </a:xfrm>
          <a:prstGeom prst="rect">
            <a:avLst/>
          </a:prstGeom>
          <a:solidFill>
            <a:srgbClr val="F6E3E1"/>
          </a:solidFill>
          <a:ln w="12700">
            <a:solidFill>
              <a:srgbClr val="9DB8BC"/>
            </a:solidFill>
          </a:ln>
        </p:spPr>
        <p:txBody>
          <a:bodyPr wrap="square" lIns="54864" tIns="54864" rIns="54864" bIns="54864" anchor="ctr" rtlCol="0">
            <a:noAutofit/>
          </a:bodyPr>
          <a:lstStyle/>
          <a:p>
            <a:pPr algn="ctr">
              <a:buNone/>
            </a:pPr>
            <a:r>
              <a:rPr lang="en-GB" sz="1150" b="0" i="0" dirty="0">
                <a:solidFill>
                  <a:srgbClr val="1A1A1A"/>
                </a:solidFill>
                <a:latin typeface="Arial"/>
                <a:cs typeface="Arial"/>
              </a:rPr>
              <a:t>0.25</a:t>
            </a:r>
            <a:endParaRPr lang="en-GB" sz="1150" dirty="0"/>
          </a:p>
        </p:txBody>
      </p:sp>
      <p:sp>
        <p:nvSpPr>
          <p:cNvPr id="44" name="Shape 44"/>
          <p:cNvSpPr/>
          <p:nvPr/>
        </p:nvSpPr>
        <p:spPr>
          <a:xfrm>
            <a:off x="548640" y="5440680"/>
            <a:ext cx="7589520" cy="868680"/>
          </a:xfrm>
          <a:prstGeom prst="roundRect">
            <a:avLst>
              <a:gd name="adj" fmla="val 8000"/>
            </a:avLst>
          </a:prstGeom>
          <a:solidFill>
            <a:srgbClr val="F3F8F9"/>
          </a:solidFill>
          <a:ln w="12700">
            <a:solidFill>
              <a:srgbClr val="9DB8BC"/>
            </a:solidFill>
          </a:ln>
        </p:spPr>
        <p:txBody>
          <a:bodyPr wrap="square" lIns="109728" tIns="109728" rIns="109728" bIns="109728" anchor="ctr" rtlCol="0">
            <a:noAutofit/>
          </a:bodyPr>
          <a:lstStyle/>
          <a:p>
            <a:pPr algn="l">
              <a:buNone/>
            </a:pPr>
            <a:r>
              <a:rPr lang="en-GB" sz="1100" b="1" i="0" dirty="0">
                <a:solidFill>
                  <a:srgbClr val="4E7A12"/>
                </a:solidFill>
                <a:latin typeface="Arial"/>
                <a:cs typeface="Arial"/>
              </a:rPr>
              <a:t>Best: A + B + D</a:t>
            </a:r>
            <a:r>
              <a:rPr lang="en-GB" sz="1100" b="0" i="0" dirty="0">
                <a:solidFill>
                  <a:srgbClr val="1A1A1A"/>
                </a:solidFill>
                <a:latin typeface="Arial"/>
                <a:cs typeface="Arial"/>
              </a:rPr>
              <a:t xml:space="preserve"> = 0.5 + 2.0 + 2.5 = 5.0 days → impact 3 + 5 + 4 = </a:t>
            </a:r>
            <a:r>
              <a:rPr lang="en-GB" sz="1100" b="1" i="0" dirty="0">
                <a:solidFill>
                  <a:srgbClr val="1A1A1A"/>
                </a:solidFill>
                <a:latin typeface="Arial"/>
                <a:cs typeface="Arial"/>
              </a:rPr>
              <a:t>12</a:t>
            </a:r>
            <a:endParaRPr lang="en-GB" sz="1100" dirty="0"/>
          </a:p>
          <a:p>
            <a:pPr algn="l">
              <a:spcBef>
                <a:spcPts val="200"/>
              </a:spcBef>
              <a:buNone/>
            </a:pPr>
            <a:r>
              <a:rPr lang="en-GB" sz="1100" b="1" i="0" dirty="0">
                <a:solidFill>
                  <a:srgbClr val="1A1A1A"/>
                </a:solidFill>
                <a:latin typeface="Arial"/>
                <a:cs typeface="Arial"/>
              </a:rPr>
              <a:t>“Cheapest first” (A, C, B)</a:t>
            </a:r>
            <a:r>
              <a:rPr lang="en-GB" sz="1100" b="0" i="0" dirty="0">
                <a:solidFill>
                  <a:srgbClr val="1A1A1A"/>
                </a:solidFill>
                <a:latin typeface="Arial"/>
                <a:cs typeface="Arial"/>
              </a:rPr>
              <a:t xml:space="preserve"> = 3.0 days, impact 10 — and D no longer fits in the 2 days left.</a:t>
            </a:r>
            <a:endParaRPr lang="en-GB" sz="1100" dirty="0"/>
          </a:p>
          <a:p>
            <a:pPr algn="l">
              <a:spcBef>
                <a:spcPts val="200"/>
              </a:spcBef>
              <a:buNone/>
            </a:pPr>
            <a:r>
              <a:rPr lang="en-GB" sz="1100" b="1" i="0" dirty="0">
                <a:solidFill>
                  <a:srgbClr val="B03A2E"/>
                </a:solidFill>
                <a:latin typeface="Arial"/>
                <a:cs typeface="Arial"/>
              </a:rPr>
              <a:t>E is the trap:</a:t>
            </a:r>
            <a:r>
              <a:rPr lang="en-GB" sz="1100" b="0" i="0" dirty="0">
                <a:solidFill>
                  <a:srgbClr val="1A1A1A"/>
                </a:solidFill>
                <a:latin typeface="Arial"/>
                <a:cs typeface="Arial"/>
              </a:rPr>
              <a:t xml:space="preserve"> 4 days for 1 point. “A perfect system is badly designed.”</a:t>
            </a:r>
            <a:endParaRPr lang="en-GB" sz="11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Make your own Betty</a:t>
            </a:r>
          </a:p>
        </p:txBody>
      </p:sp>
      <p:sp>
        <p:nvSpPr>
          <p:cNvPr id="11" name="Shape 11"/>
          <p:cNvSpPr/>
          <p:nvPr/>
        </p:nvSpPr>
        <p:spPr>
          <a:xfrm>
            <a:off x="548640" y="1810512"/>
            <a:ext cx="1632204" cy="310896"/>
          </a:xfrm>
          <a:prstGeom prst="roundRect">
            <a:avLst>
              <a:gd name="adj" fmla="val 50000"/>
            </a:avLst>
          </a:prstGeom>
          <a:solidFill>
            <a:srgbClr val="B03A2E"/>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LIVE EXERCISE</a:t>
            </a:r>
            <a:endParaRPr lang="en-GB" sz="1100" dirty="0"/>
          </a:p>
        </p:txBody>
      </p:sp>
      <p:sp>
        <p:nvSpPr>
          <p:cNvPr id="12" name="Shape 12"/>
          <p:cNvSpPr txBox="1"/>
          <p:nvPr/>
        </p:nvSpPr>
        <p:spPr>
          <a:xfrm>
            <a:off x="2290572" y="1810512"/>
            <a:ext cx="5847588" cy="310896"/>
          </a:xfrm>
          <a:prstGeom prst="rect">
            <a:avLst/>
          </a:prstGeom>
          <a:noFill/>
          <a:ln>
            <a:noFill/>
          </a:ln>
        </p:spPr>
        <p:txBody>
          <a:bodyPr wrap="square" lIns="18288" tIns="18288" rIns="18288" bIns="18288" anchor="ctr" rtlCol="0">
            <a:noAutofit/>
          </a:bodyPr>
          <a:lstStyle/>
          <a:p>
            <a:pPr algn="l">
              <a:buNone/>
            </a:pPr>
            <a:r>
              <a:rPr lang="en-GB" sz="1200" b="0" i="1" dirty="0">
                <a:solidFill>
                  <a:srgbClr val="595959"/>
                </a:solidFill>
                <a:latin typeface="Arial"/>
                <a:cs typeface="Arial"/>
              </a:rPr>
              <a:t>5 min · groups of 3 · paper</a:t>
            </a:r>
            <a:endParaRPr lang="en-GB" sz="1200" dirty="0"/>
          </a:p>
        </p:txBody>
      </p:sp>
      <p:sp>
        <p:nvSpPr>
          <p:cNvPr id="13" name="Shape 13"/>
          <p:cNvSpPr/>
          <p:nvPr/>
        </p:nvSpPr>
        <p:spPr>
          <a:xfrm>
            <a:off x="548640" y="2304288"/>
            <a:ext cx="329184" cy="329184"/>
          </a:xfrm>
          <a:prstGeom prst="ellipse">
            <a:avLst/>
          </a:prstGeom>
          <a:solidFill>
            <a:srgbClr val="B03A2E"/>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1</a:t>
            </a:r>
            <a:endParaRPr lang="en-GB" sz="1100" dirty="0"/>
          </a:p>
        </p:txBody>
      </p:sp>
      <p:sp>
        <p:nvSpPr>
          <p:cNvPr id="14" name="Shape 14"/>
          <p:cNvSpPr txBox="1"/>
          <p:nvPr/>
        </p:nvSpPr>
        <p:spPr>
          <a:xfrm>
            <a:off x="987552" y="2240280"/>
            <a:ext cx="7150608" cy="475488"/>
          </a:xfrm>
          <a:prstGeom prst="rect">
            <a:avLst/>
          </a:prstGeom>
          <a:noFill/>
          <a:ln>
            <a:noFill/>
          </a:ln>
        </p:spPr>
        <p:txBody>
          <a:bodyPr wrap="square" lIns="18288" tIns="18288" rIns="18288" bIns="18288" anchor="ctr" rtlCol="0">
            <a:noAutofit/>
          </a:bodyPr>
          <a:lstStyle/>
          <a:p>
            <a:pPr algn="l">
              <a:buNone/>
            </a:pPr>
            <a:r>
              <a:rPr lang="en-GB" sz="1200" b="1" i="0" dirty="0">
                <a:solidFill>
                  <a:srgbClr val="B03A2E"/>
                </a:solidFill>
                <a:latin typeface="Arial"/>
                <a:cs typeface="Arial"/>
              </a:rPr>
              <a:t xml:space="preserve">1 min — </a:t>
            </a:r>
            <a:r>
              <a:rPr lang="en-GB" sz="1200" b="0" i="0" dirty="0">
                <a:solidFill>
                  <a:srgbClr val="1A1A1A"/>
                </a:solidFill>
                <a:latin typeface="Arial"/>
                <a:cs typeface="Arial"/>
              </a:rPr>
              <a:t>Betty check: underline the three details in Betty’s description that would actually change a design.</a:t>
            </a:r>
            <a:endParaRPr lang="en-GB" sz="1200" dirty="0"/>
          </a:p>
        </p:txBody>
      </p:sp>
      <p:sp>
        <p:nvSpPr>
          <p:cNvPr id="15" name="Shape 15"/>
          <p:cNvSpPr/>
          <p:nvPr/>
        </p:nvSpPr>
        <p:spPr>
          <a:xfrm>
            <a:off x="548640" y="2852928"/>
            <a:ext cx="329184" cy="329184"/>
          </a:xfrm>
          <a:prstGeom prst="ellipse">
            <a:avLst/>
          </a:prstGeom>
          <a:solidFill>
            <a:srgbClr val="B03A2E"/>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2</a:t>
            </a:r>
            <a:endParaRPr lang="en-GB" sz="1100" dirty="0"/>
          </a:p>
        </p:txBody>
      </p:sp>
      <p:sp>
        <p:nvSpPr>
          <p:cNvPr id="16" name="Shape 16"/>
          <p:cNvSpPr txBox="1"/>
          <p:nvPr/>
        </p:nvSpPr>
        <p:spPr>
          <a:xfrm>
            <a:off x="987552" y="2788920"/>
            <a:ext cx="7150608" cy="475488"/>
          </a:xfrm>
          <a:prstGeom prst="rect">
            <a:avLst/>
          </a:prstGeom>
          <a:noFill/>
          <a:ln>
            <a:noFill/>
          </a:ln>
        </p:spPr>
        <p:txBody>
          <a:bodyPr wrap="square" lIns="18288" tIns="18288" rIns="18288" bIns="18288" anchor="ctr" rtlCol="0">
            <a:noAutofit/>
          </a:bodyPr>
          <a:lstStyle/>
          <a:p>
            <a:pPr algn="l">
              <a:buNone/>
            </a:pPr>
            <a:r>
              <a:rPr lang="en-GB" sz="1200" b="1" i="0" dirty="0">
                <a:solidFill>
                  <a:srgbClr val="B03A2E"/>
                </a:solidFill>
                <a:latin typeface="Arial"/>
                <a:cs typeface="Arial"/>
              </a:rPr>
              <a:t xml:space="preserve">3 min — </a:t>
            </a:r>
            <a:r>
              <a:rPr lang="en-GB" sz="1200" b="0" i="0" dirty="0">
                <a:solidFill>
                  <a:srgbClr val="1A1A1A"/>
                </a:solidFill>
                <a:latin typeface="Arial"/>
                <a:cs typeface="Arial"/>
              </a:rPr>
              <a:t>Build a persona for a user who is probably not like you: a parent who checks attendance and fee status on the university’s new parents’ portal.</a:t>
            </a:r>
            <a:endParaRPr lang="en-GB" sz="1200" dirty="0"/>
          </a:p>
        </p:txBody>
      </p:sp>
      <p:sp>
        <p:nvSpPr>
          <p:cNvPr id="17" name="Shape 17"/>
          <p:cNvSpPr/>
          <p:nvPr/>
        </p:nvSpPr>
        <p:spPr>
          <a:xfrm>
            <a:off x="987552" y="3401568"/>
            <a:ext cx="7150608" cy="2057400"/>
          </a:xfrm>
          <a:prstGeom prst="roundRect">
            <a:avLst>
              <a:gd name="adj" fmla="val 8000"/>
            </a:avLst>
          </a:prstGeom>
          <a:solidFill>
            <a:srgbClr val="F3F8F9"/>
          </a:solidFill>
          <a:ln w="12700">
            <a:solidFill>
              <a:srgbClr val="9DB8BC"/>
            </a:solidFill>
          </a:ln>
        </p:spPr>
        <p:txBody>
          <a:bodyPr wrap="square" lIns="91440" tIns="91440" rIns="91440" bIns="91440" anchor="t" rtlCol="0">
            <a:noAutofit/>
          </a:bodyPr>
          <a:lstStyle/>
          <a:p>
            <a:endParaRPr lang="en-GB" sz="1200" dirty="0"/>
          </a:p>
        </p:txBody>
      </p:sp>
      <p:sp>
        <p:nvSpPr>
          <p:cNvPr id="18" name="Shape 18"/>
          <p:cNvSpPr/>
          <p:nvPr/>
        </p:nvSpPr>
        <p:spPr>
          <a:xfrm>
            <a:off x="1115568" y="3511296"/>
            <a:ext cx="3383280" cy="402336"/>
          </a:xfrm>
          <a:prstGeom prst="rect">
            <a:avLst/>
          </a:prstGeom>
          <a:solidFill>
            <a:srgbClr val="FFFFFF"/>
          </a:solidFill>
          <a:ln w="12700">
            <a:solidFill>
              <a:srgbClr val="9DB8BC"/>
            </a:solidFill>
          </a:ln>
        </p:spPr>
        <p:txBody>
          <a:bodyPr wrap="square" lIns="73152" tIns="73152" rIns="73152" bIns="73152" anchor="ctr" rtlCol="0">
            <a:noAutofit/>
          </a:bodyPr>
          <a:lstStyle/>
          <a:p>
            <a:pPr algn="l">
              <a:buNone/>
            </a:pPr>
            <a:r>
              <a:rPr lang="en-GB" sz="1100" b="1" i="0" dirty="0">
                <a:solidFill>
                  <a:srgbClr val="2D2D8A"/>
                </a:solidFill>
                <a:latin typeface="Arial"/>
                <a:cs typeface="Arial"/>
              </a:rPr>
              <a:t>Name, age, photo sketch</a:t>
            </a:r>
            <a:r>
              <a:rPr lang="en-GB" sz="1100" b="0" i="0" dirty="0">
                <a:solidFill>
                  <a:srgbClr val="BFBFBF"/>
                </a:solidFill>
                <a:latin typeface="Arial"/>
                <a:cs typeface="Arial"/>
              </a:rPr>
              <a:t xml:space="preserve">  ……………………</a:t>
            </a:r>
            <a:endParaRPr lang="en-GB" sz="1100" dirty="0"/>
          </a:p>
        </p:txBody>
      </p:sp>
      <p:sp>
        <p:nvSpPr>
          <p:cNvPr id="19" name="Shape 19"/>
          <p:cNvSpPr/>
          <p:nvPr/>
        </p:nvSpPr>
        <p:spPr>
          <a:xfrm>
            <a:off x="1115568" y="3986784"/>
            <a:ext cx="3383280" cy="402336"/>
          </a:xfrm>
          <a:prstGeom prst="rect">
            <a:avLst/>
          </a:prstGeom>
          <a:solidFill>
            <a:srgbClr val="FFFFFF"/>
          </a:solidFill>
          <a:ln w="12700">
            <a:solidFill>
              <a:srgbClr val="9DB8BC"/>
            </a:solidFill>
          </a:ln>
        </p:spPr>
        <p:txBody>
          <a:bodyPr wrap="square" lIns="73152" tIns="73152" rIns="73152" bIns="73152" anchor="ctr" rtlCol="0">
            <a:noAutofit/>
          </a:bodyPr>
          <a:lstStyle/>
          <a:p>
            <a:pPr algn="l">
              <a:buNone/>
            </a:pPr>
            <a:r>
              <a:rPr lang="en-GB" sz="1100" b="1" i="0" dirty="0">
                <a:solidFill>
                  <a:srgbClr val="2D2D8A"/>
                </a:solidFill>
                <a:latin typeface="Arial"/>
                <a:cs typeface="Arial"/>
              </a:rPr>
              <a:t>Job and daily routine</a:t>
            </a:r>
            <a:r>
              <a:rPr lang="en-GB" sz="1100" b="0" i="0" dirty="0">
                <a:solidFill>
                  <a:srgbClr val="BFBFBF"/>
                </a:solidFill>
                <a:latin typeface="Arial"/>
                <a:cs typeface="Arial"/>
              </a:rPr>
              <a:t xml:space="preserve">  ……………………</a:t>
            </a:r>
            <a:endParaRPr lang="en-GB" sz="1100" dirty="0"/>
          </a:p>
        </p:txBody>
      </p:sp>
      <p:sp>
        <p:nvSpPr>
          <p:cNvPr id="20" name="Shape 20"/>
          <p:cNvSpPr/>
          <p:nvPr/>
        </p:nvSpPr>
        <p:spPr>
          <a:xfrm>
            <a:off x="1115568" y="4462272"/>
            <a:ext cx="3383280" cy="402336"/>
          </a:xfrm>
          <a:prstGeom prst="rect">
            <a:avLst/>
          </a:prstGeom>
          <a:solidFill>
            <a:srgbClr val="FFFFFF"/>
          </a:solidFill>
          <a:ln w="12700">
            <a:solidFill>
              <a:srgbClr val="9DB8BC"/>
            </a:solidFill>
          </a:ln>
        </p:spPr>
        <p:txBody>
          <a:bodyPr wrap="square" lIns="73152" tIns="73152" rIns="73152" bIns="73152" anchor="ctr" rtlCol="0">
            <a:noAutofit/>
          </a:bodyPr>
          <a:lstStyle/>
          <a:p>
            <a:pPr algn="l">
              <a:buNone/>
            </a:pPr>
            <a:r>
              <a:rPr lang="en-GB" sz="1100" b="1" i="0" dirty="0">
                <a:solidFill>
                  <a:srgbClr val="2D2D8A"/>
                </a:solidFill>
                <a:latin typeface="Arial"/>
                <a:cs typeface="Arial"/>
              </a:rPr>
              <a:t>Phone and connectivity</a:t>
            </a:r>
            <a:r>
              <a:rPr lang="en-GB" sz="1100" b="0" i="0" dirty="0">
                <a:solidFill>
                  <a:srgbClr val="BFBFBF"/>
                </a:solidFill>
                <a:latin typeface="Arial"/>
                <a:cs typeface="Arial"/>
              </a:rPr>
              <a:t xml:space="preserve">  ……………………</a:t>
            </a:r>
            <a:endParaRPr lang="en-GB" sz="1100" dirty="0"/>
          </a:p>
        </p:txBody>
      </p:sp>
      <p:sp>
        <p:nvSpPr>
          <p:cNvPr id="21" name="Shape 21"/>
          <p:cNvSpPr/>
          <p:nvPr/>
        </p:nvSpPr>
        <p:spPr>
          <a:xfrm>
            <a:off x="1115568" y="4937760"/>
            <a:ext cx="3383280" cy="402336"/>
          </a:xfrm>
          <a:prstGeom prst="rect">
            <a:avLst/>
          </a:prstGeom>
          <a:solidFill>
            <a:srgbClr val="FFFFFF"/>
          </a:solidFill>
          <a:ln w="12700">
            <a:solidFill>
              <a:srgbClr val="9DB8BC"/>
            </a:solidFill>
          </a:ln>
        </p:spPr>
        <p:txBody>
          <a:bodyPr wrap="square" lIns="73152" tIns="73152" rIns="73152" bIns="73152" anchor="ctr" rtlCol="0">
            <a:noAutofit/>
          </a:bodyPr>
          <a:lstStyle/>
          <a:p>
            <a:pPr algn="l">
              <a:buNone/>
            </a:pPr>
            <a:r>
              <a:rPr lang="en-GB" sz="1100" b="1" i="0" dirty="0">
                <a:solidFill>
                  <a:srgbClr val="2D2D8A"/>
                </a:solidFill>
                <a:latin typeface="Arial"/>
                <a:cs typeface="Arial"/>
              </a:rPr>
              <a:t>Language and reading</a:t>
            </a:r>
            <a:r>
              <a:rPr lang="en-GB" sz="1100" b="0" i="0" dirty="0">
                <a:solidFill>
                  <a:srgbClr val="BFBFBF"/>
                </a:solidFill>
                <a:latin typeface="Arial"/>
                <a:cs typeface="Arial"/>
              </a:rPr>
              <a:t xml:space="preserve">  ……………………</a:t>
            </a:r>
            <a:endParaRPr lang="en-GB" sz="1100" dirty="0"/>
          </a:p>
        </p:txBody>
      </p:sp>
      <p:sp>
        <p:nvSpPr>
          <p:cNvPr id="22" name="Shape 22"/>
          <p:cNvSpPr/>
          <p:nvPr/>
        </p:nvSpPr>
        <p:spPr>
          <a:xfrm>
            <a:off x="4636008" y="3511296"/>
            <a:ext cx="3383280" cy="402336"/>
          </a:xfrm>
          <a:prstGeom prst="rect">
            <a:avLst/>
          </a:prstGeom>
          <a:solidFill>
            <a:srgbClr val="FFFFFF"/>
          </a:solidFill>
          <a:ln w="12700">
            <a:solidFill>
              <a:srgbClr val="9DB8BC"/>
            </a:solidFill>
          </a:ln>
        </p:spPr>
        <p:txBody>
          <a:bodyPr wrap="square" lIns="73152" tIns="73152" rIns="73152" bIns="73152" anchor="ctr" rtlCol="0">
            <a:noAutofit/>
          </a:bodyPr>
          <a:lstStyle/>
          <a:p>
            <a:pPr algn="l">
              <a:buNone/>
            </a:pPr>
            <a:r>
              <a:rPr lang="en-GB" sz="1100" b="1" i="0" dirty="0">
                <a:solidFill>
                  <a:srgbClr val="2D2D8A"/>
                </a:solidFill>
                <a:latin typeface="Arial"/>
                <a:cs typeface="Arial"/>
              </a:rPr>
              <a:t>Goals with the portal</a:t>
            </a:r>
            <a:r>
              <a:rPr lang="en-GB" sz="1100" b="0" i="0" dirty="0">
                <a:solidFill>
                  <a:srgbClr val="BFBFBF"/>
                </a:solidFill>
                <a:latin typeface="Arial"/>
                <a:cs typeface="Arial"/>
              </a:rPr>
              <a:t xml:space="preserve">  ……………………</a:t>
            </a:r>
            <a:endParaRPr lang="en-GB" sz="1100" dirty="0"/>
          </a:p>
        </p:txBody>
      </p:sp>
      <p:sp>
        <p:nvSpPr>
          <p:cNvPr id="23" name="Shape 23"/>
          <p:cNvSpPr/>
          <p:nvPr/>
        </p:nvSpPr>
        <p:spPr>
          <a:xfrm>
            <a:off x="4636008" y="3986784"/>
            <a:ext cx="3383280" cy="402336"/>
          </a:xfrm>
          <a:prstGeom prst="rect">
            <a:avLst/>
          </a:prstGeom>
          <a:solidFill>
            <a:srgbClr val="FFFFFF"/>
          </a:solidFill>
          <a:ln w="12700">
            <a:solidFill>
              <a:srgbClr val="9DB8BC"/>
            </a:solidFill>
          </a:ln>
        </p:spPr>
        <p:txBody>
          <a:bodyPr wrap="square" lIns="73152" tIns="73152" rIns="73152" bIns="73152" anchor="ctr" rtlCol="0">
            <a:noAutofit/>
          </a:bodyPr>
          <a:lstStyle/>
          <a:p>
            <a:pPr algn="l">
              <a:buNone/>
            </a:pPr>
            <a:r>
              <a:rPr lang="en-GB" sz="1100" b="1" i="0" dirty="0">
                <a:solidFill>
                  <a:srgbClr val="2D2D8A"/>
                </a:solidFill>
                <a:latin typeface="Arial"/>
                <a:cs typeface="Arial"/>
              </a:rPr>
              <a:t>Fears and frustrations</a:t>
            </a:r>
            <a:r>
              <a:rPr lang="en-GB" sz="1100" b="0" i="0" dirty="0">
                <a:solidFill>
                  <a:srgbClr val="BFBFBF"/>
                </a:solidFill>
                <a:latin typeface="Arial"/>
                <a:cs typeface="Arial"/>
              </a:rPr>
              <a:t xml:space="preserve">  ……………………</a:t>
            </a:r>
            <a:endParaRPr lang="en-GB" sz="1100" dirty="0"/>
          </a:p>
        </p:txBody>
      </p:sp>
      <p:sp>
        <p:nvSpPr>
          <p:cNvPr id="24" name="Shape 24"/>
          <p:cNvSpPr/>
          <p:nvPr/>
        </p:nvSpPr>
        <p:spPr>
          <a:xfrm>
            <a:off x="4636008" y="4462272"/>
            <a:ext cx="3383280" cy="402336"/>
          </a:xfrm>
          <a:prstGeom prst="rect">
            <a:avLst/>
          </a:prstGeom>
          <a:solidFill>
            <a:srgbClr val="FFFFFF"/>
          </a:solidFill>
          <a:ln w="12700">
            <a:solidFill>
              <a:srgbClr val="9DB8BC"/>
            </a:solidFill>
          </a:ln>
        </p:spPr>
        <p:txBody>
          <a:bodyPr wrap="square" lIns="73152" tIns="73152" rIns="73152" bIns="73152" anchor="ctr" rtlCol="0">
            <a:noAutofit/>
          </a:bodyPr>
          <a:lstStyle/>
          <a:p>
            <a:pPr algn="l">
              <a:buNone/>
            </a:pPr>
            <a:r>
              <a:rPr lang="en-GB" sz="1100" b="1" i="0" dirty="0">
                <a:solidFill>
                  <a:srgbClr val="2D2D8A"/>
                </a:solidFill>
                <a:latin typeface="Arial"/>
                <a:cs typeface="Arial"/>
              </a:rPr>
              <a:t>Apps they already trust</a:t>
            </a:r>
            <a:r>
              <a:rPr lang="en-GB" sz="1100" b="0" i="0" dirty="0">
                <a:solidFill>
                  <a:srgbClr val="BFBFBF"/>
                </a:solidFill>
                <a:latin typeface="Arial"/>
                <a:cs typeface="Arial"/>
              </a:rPr>
              <a:t xml:space="preserve">  ……………………</a:t>
            </a:r>
            <a:endParaRPr lang="en-GB" sz="1100" dirty="0"/>
          </a:p>
        </p:txBody>
      </p:sp>
      <p:sp>
        <p:nvSpPr>
          <p:cNvPr id="25" name="Shape 25"/>
          <p:cNvSpPr/>
          <p:nvPr/>
        </p:nvSpPr>
        <p:spPr>
          <a:xfrm>
            <a:off x="4636008" y="4937760"/>
            <a:ext cx="3383280" cy="402336"/>
          </a:xfrm>
          <a:prstGeom prst="rect">
            <a:avLst/>
          </a:prstGeom>
          <a:solidFill>
            <a:srgbClr val="FFFFFF"/>
          </a:solidFill>
          <a:ln w="12700">
            <a:solidFill>
              <a:srgbClr val="9DB8BC"/>
            </a:solidFill>
          </a:ln>
        </p:spPr>
        <p:txBody>
          <a:bodyPr wrap="square" lIns="73152" tIns="73152" rIns="73152" bIns="73152" anchor="ctr" rtlCol="0">
            <a:noAutofit/>
          </a:bodyPr>
          <a:lstStyle/>
          <a:p>
            <a:pPr algn="l">
              <a:buNone/>
            </a:pPr>
            <a:r>
              <a:rPr lang="en-GB" sz="1100" b="1" i="0" dirty="0">
                <a:solidFill>
                  <a:srgbClr val="2D2D8A"/>
                </a:solidFill>
                <a:latin typeface="Arial"/>
                <a:cs typeface="Arial"/>
              </a:rPr>
              <a:t>One ‘real’ detail</a:t>
            </a:r>
            <a:r>
              <a:rPr lang="en-GB" sz="1100" b="0" i="0" dirty="0">
                <a:solidFill>
                  <a:srgbClr val="BFBFBF"/>
                </a:solidFill>
                <a:latin typeface="Arial"/>
                <a:cs typeface="Arial"/>
              </a:rPr>
              <a:t xml:space="preserve">  ……………………</a:t>
            </a:r>
            <a:endParaRPr lang="en-GB" sz="1100" dirty="0"/>
          </a:p>
        </p:txBody>
      </p:sp>
      <p:sp>
        <p:nvSpPr>
          <p:cNvPr id="26" name="Shape 26"/>
          <p:cNvSpPr/>
          <p:nvPr/>
        </p:nvSpPr>
        <p:spPr>
          <a:xfrm>
            <a:off x="548640" y="5605272"/>
            <a:ext cx="329184" cy="329184"/>
          </a:xfrm>
          <a:prstGeom prst="ellipse">
            <a:avLst/>
          </a:prstGeom>
          <a:solidFill>
            <a:srgbClr val="B03A2E"/>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3</a:t>
            </a:r>
            <a:endParaRPr lang="en-GB" sz="1100" dirty="0"/>
          </a:p>
        </p:txBody>
      </p:sp>
      <p:sp>
        <p:nvSpPr>
          <p:cNvPr id="27" name="Shape 27"/>
          <p:cNvSpPr txBox="1"/>
          <p:nvPr/>
        </p:nvSpPr>
        <p:spPr>
          <a:xfrm>
            <a:off x="987552" y="5550408"/>
            <a:ext cx="7150608" cy="475488"/>
          </a:xfrm>
          <a:prstGeom prst="rect">
            <a:avLst/>
          </a:prstGeom>
          <a:noFill/>
          <a:ln>
            <a:noFill/>
          </a:ln>
        </p:spPr>
        <p:txBody>
          <a:bodyPr wrap="square" lIns="18288" tIns="18288" rIns="18288" bIns="18288" anchor="ctr" rtlCol="0">
            <a:noAutofit/>
          </a:bodyPr>
          <a:lstStyle/>
          <a:p>
            <a:pPr algn="l">
              <a:buNone/>
            </a:pPr>
            <a:r>
              <a:rPr lang="en-GB" sz="1200" b="1" i="0" dirty="0">
                <a:solidFill>
                  <a:srgbClr val="B03A2E"/>
                </a:solidFill>
                <a:latin typeface="Arial"/>
                <a:cs typeface="Arial"/>
              </a:rPr>
              <a:t xml:space="preserve">1 min — </a:t>
            </a:r>
            <a:r>
              <a:rPr lang="en-GB" sz="1200" b="0" i="0" dirty="0">
                <a:solidFill>
                  <a:srgbClr val="1A1A1A"/>
                </a:solidFill>
                <a:latin typeface="Arial"/>
                <a:cs typeface="Arial"/>
              </a:rPr>
              <a:t>Test one decision: “log in with a one-time SMS code every time.” What would your persona think?</a:t>
            </a:r>
            <a:endParaRPr lang="en-GB" sz="12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Make your own Betty</a:t>
            </a:r>
          </a:p>
        </p:txBody>
      </p:sp>
      <p:sp>
        <p:nvSpPr>
          <p:cNvPr id="11" name="Shape 11"/>
          <p:cNvSpPr/>
          <p:nvPr/>
        </p:nvSpPr>
        <p:spPr>
          <a:xfrm>
            <a:off x="548640" y="1810512"/>
            <a:ext cx="1056132" cy="310896"/>
          </a:xfrm>
          <a:prstGeom prst="roundRect">
            <a:avLst>
              <a:gd name="adj" fmla="val 50000"/>
            </a:avLst>
          </a:prstGeom>
          <a:solidFill>
            <a:srgbClr val="404040"/>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ANSWERS</a:t>
            </a:r>
            <a:endParaRPr lang="en-GB" sz="1100" dirty="0"/>
          </a:p>
        </p:txBody>
      </p:sp>
      <p:sp>
        <p:nvSpPr>
          <p:cNvPr id="12" name="Shape 12"/>
          <p:cNvSpPr txBox="1"/>
          <p:nvPr/>
        </p:nvSpPr>
        <p:spPr>
          <a:xfrm>
            <a:off x="1714500" y="1810512"/>
            <a:ext cx="6423660" cy="310896"/>
          </a:xfrm>
          <a:prstGeom prst="rect">
            <a:avLst/>
          </a:prstGeom>
          <a:noFill/>
          <a:ln>
            <a:noFill/>
          </a:ln>
        </p:spPr>
        <p:txBody>
          <a:bodyPr wrap="square" lIns="18288" tIns="18288" rIns="18288" bIns="18288" anchor="ctr" rtlCol="0">
            <a:noAutofit/>
          </a:bodyPr>
          <a:lstStyle/>
          <a:p>
            <a:pPr algn="l">
              <a:buNone/>
            </a:pPr>
            <a:r>
              <a:rPr lang="en-GB" sz="1200" b="0" i="1" dirty="0">
                <a:solidFill>
                  <a:srgbClr val="595959"/>
                </a:solidFill>
                <a:latin typeface="Arial"/>
                <a:cs typeface="Arial"/>
              </a:rPr>
              <a:t>one group’s persona — yours will differ, and that is fine</a:t>
            </a:r>
            <a:endParaRPr lang="en-GB" sz="1200" dirty="0"/>
          </a:p>
        </p:txBody>
      </p:sp>
      <p:sp>
        <p:nvSpPr>
          <p:cNvPr id="13" name="Shape 13"/>
          <p:cNvSpPr/>
          <p:nvPr/>
        </p:nvSpPr>
        <p:spPr>
          <a:xfrm>
            <a:off x="548640" y="2240280"/>
            <a:ext cx="2971800" cy="3840480"/>
          </a:xfrm>
          <a:prstGeom prst="roundRect">
            <a:avLst>
              <a:gd name="adj" fmla="val 8000"/>
            </a:avLst>
          </a:prstGeom>
          <a:solidFill>
            <a:srgbClr val="F3F8F9"/>
          </a:solidFill>
          <a:ln w="12700">
            <a:solidFill>
              <a:srgbClr val="9DB8BC"/>
            </a:solidFill>
          </a:ln>
        </p:spPr>
        <p:txBody>
          <a:bodyPr wrap="square" lIns="128016" tIns="128016" rIns="128016" bIns="128016" anchor="t" rtlCol="0">
            <a:noAutofit/>
          </a:bodyPr>
          <a:lstStyle/>
          <a:p>
            <a:pPr algn="l">
              <a:buNone/>
            </a:pPr>
            <a:r>
              <a:rPr lang="en-GB" sz="1200" b="1" i="0" dirty="0">
                <a:solidFill>
                  <a:srgbClr val="2D2D8A"/>
                </a:solidFill>
                <a:latin typeface="Arial"/>
                <a:cs typeface="Arial"/>
              </a:rPr>
              <a:t>Betty: details that change the design</a:t>
            </a:r>
            <a:endParaRPr lang="en-GB" sz="1200" dirty="0"/>
          </a:p>
          <a:p>
            <a:pPr algn="l" marL="201168" indent="-182880">
              <a:spcBef>
                <a:spcPts val="500"/>
              </a:spcBef>
              <a:buFont typeface="Arial"/>
              <a:buChar char="•"/>
            </a:pPr>
            <a:r>
              <a:rPr lang="en-GB" sz="1200" b="1" i="0" dirty="0">
                <a:solidFill>
                  <a:srgbClr val="1A1A1A"/>
                </a:solidFill>
                <a:latin typeface="Arial"/>
                <a:cs typeface="Arial"/>
              </a:rPr>
              <a:t>Restricted right-hand movement</a:t>
            </a:r>
            <a:r>
              <a:rPr lang="en-GB" sz="1200" b="0" i="0" dirty="0">
                <a:solidFill>
                  <a:srgbClr val="1A1A1A"/>
                </a:solidFill>
                <a:latin typeface="Arial"/>
                <a:cs typeface="Arial"/>
              </a:rPr>
              <a:t xml:space="preserve"> → avoid precise mouse work; full keyboard support</a:t>
            </a:r>
            <a:endParaRPr lang="en-GB" sz="1200" dirty="0"/>
          </a:p>
          <a:p>
            <a:pPr algn="l" marL="201168" indent="-182880">
              <a:spcBef>
                <a:spcPts val="400"/>
              </a:spcBef>
              <a:buFont typeface="Arial"/>
              <a:buChar char="•"/>
            </a:pPr>
            <a:r>
              <a:rPr lang="en-GB" sz="1200" b="1" i="0" dirty="0">
                <a:solidFill>
                  <a:srgbClr val="1A1A1A"/>
                </a:solidFill>
                <a:latin typeface="Arial"/>
                <a:cs typeface="Arial"/>
              </a:rPr>
              <a:t>Threatened by a third new system</a:t>
            </a:r>
            <a:r>
              <a:rPr lang="en-GB" sz="1200" b="0" i="0" dirty="0">
                <a:solidFill>
                  <a:srgbClr val="1A1A1A"/>
                </a:solidFill>
                <a:latin typeface="Arial"/>
                <a:cs typeface="Arial"/>
              </a:rPr>
              <a:t xml:space="preserve"> → gentle start, familiar words, training</a:t>
            </a:r>
            <a:endParaRPr lang="en-GB" sz="1200" dirty="0"/>
          </a:p>
          <a:p>
            <a:pPr algn="l" marL="201168" indent="-182880">
              <a:spcBef>
                <a:spcPts val="400"/>
              </a:spcBef>
              <a:buFont typeface="Arial"/>
              <a:buChar char="•"/>
            </a:pPr>
            <a:r>
              <a:rPr lang="en-GB" sz="1200" b="1" i="0" dirty="0">
                <a:solidFill>
                  <a:srgbClr val="1A1A1A"/>
                </a:solidFill>
                <a:latin typeface="Arial"/>
                <a:cs typeface="Arial"/>
              </a:rPr>
              <a:t>Interrupted computer course</a:t>
            </a:r>
            <a:r>
              <a:rPr lang="en-GB" sz="1200" b="0" i="0" dirty="0">
                <a:solidFill>
                  <a:srgbClr val="1A1A1A"/>
                </a:solidFill>
                <a:latin typeface="Arial"/>
                <a:cs typeface="Arial"/>
              </a:rPr>
              <a:t xml:space="preserve"> → no jargon; a clear novice path</a:t>
            </a:r>
            <a:endParaRPr lang="en-GB" sz="1200" dirty="0"/>
          </a:p>
          <a:p>
            <a:pPr algn="l" marL="201168" indent="-182880">
              <a:spcBef>
                <a:spcPts val="400"/>
              </a:spcBef>
              <a:buFont typeface="Arial"/>
              <a:buChar char="•"/>
            </a:pPr>
            <a:r>
              <a:rPr lang="en-GB" sz="1200" b="1" i="0" dirty="0">
                <a:solidFill>
                  <a:srgbClr val="1A1A1A"/>
                </a:solidFill>
                <a:latin typeface="Arial"/>
                <a:cs typeface="Arial"/>
              </a:rPr>
              <a:t>Doesn’t like to work late</a:t>
            </a:r>
            <a:r>
              <a:rPr lang="en-GB" sz="1200" b="0" i="0" dirty="0">
                <a:solidFill>
                  <a:srgbClr val="1A1A1A"/>
                </a:solidFill>
                <a:latin typeface="Arial"/>
                <a:cs typeface="Arial"/>
              </a:rPr>
              <a:t xml:space="preserve"> → common tasks must be quick</a:t>
            </a:r>
            <a:endParaRPr lang="en-GB" sz="1200" dirty="0"/>
          </a:p>
          <a:p>
            <a:pPr algn="l">
              <a:spcBef>
                <a:spcPts val="800"/>
              </a:spcBef>
              <a:buNone/>
            </a:pPr>
            <a:r>
              <a:rPr lang="en-GB" sz="1200" b="0" i="1" dirty="0">
                <a:solidFill>
                  <a:srgbClr val="595959"/>
                </a:solidFill>
                <a:latin typeface="Arial"/>
                <a:cs typeface="Arial"/>
              </a:rPr>
              <a:t>Any three of these four. Her age and children are colour, not requirements.</a:t>
            </a:r>
            <a:endParaRPr lang="en-GB" sz="1200" dirty="0"/>
          </a:p>
        </p:txBody>
      </p:sp>
      <p:sp>
        <p:nvSpPr>
          <p:cNvPr id="14" name="Shape 14"/>
          <p:cNvSpPr/>
          <p:nvPr/>
        </p:nvSpPr>
        <p:spPr>
          <a:xfrm>
            <a:off x="3657600" y="2240280"/>
            <a:ext cx="4480560" cy="2971800"/>
          </a:xfrm>
          <a:prstGeom prst="roundRect">
            <a:avLst>
              <a:gd name="adj" fmla="val 8000"/>
            </a:avLst>
          </a:prstGeom>
          <a:solidFill>
            <a:srgbClr val="F3F8F9"/>
          </a:solidFill>
          <a:ln w="12700">
            <a:solidFill>
              <a:srgbClr val="9DB8BC"/>
            </a:solidFill>
          </a:ln>
        </p:spPr>
        <p:txBody>
          <a:bodyPr wrap="square" lIns="128016" tIns="128016" rIns="128016" bIns="128016" anchor="t" rtlCol="0">
            <a:noAutofit/>
          </a:bodyPr>
          <a:lstStyle/>
          <a:p>
            <a:pPr algn="l">
              <a:buNone/>
            </a:pPr>
            <a:r>
              <a:rPr lang="en-GB" sz="1400" b="1" i="0" dirty="0">
                <a:solidFill>
                  <a:srgbClr val="2D2D8A"/>
                </a:solidFill>
                <a:latin typeface="Arial"/>
                <a:cs typeface="Arial"/>
              </a:rPr>
              <a:t>Khalid Mehmood, 51</a:t>
            </a:r>
            <a:endParaRPr lang="en-GB" sz="1150" dirty="0"/>
          </a:p>
          <a:p>
            <a:pPr algn="l">
              <a:spcBef>
                <a:spcPts val="400"/>
              </a:spcBef>
              <a:buNone/>
            </a:pPr>
            <a:r>
              <a:rPr lang="en-GB" sz="1150" b="1" i="0" dirty="0">
                <a:solidFill>
                  <a:srgbClr val="1A1A1A"/>
                </a:solidFill>
                <a:latin typeface="Arial"/>
                <a:cs typeface="Arial"/>
              </a:rPr>
              <a:t xml:space="preserve">Routine: </a:t>
            </a:r>
            <a:r>
              <a:rPr lang="en-GB" sz="1150" b="0" i="0" dirty="0">
                <a:solidFill>
                  <a:srgbClr val="1A1A1A"/>
                </a:solidFill>
                <a:latin typeface="Arial"/>
                <a:cs typeface="Arial"/>
              </a:rPr>
              <a:t>runs a hardware shop in Gujranwala; daughter in 2nd-year Electrical at UET</a:t>
            </a:r>
            <a:endParaRPr lang="en-GB" sz="1150" dirty="0"/>
          </a:p>
          <a:p>
            <a:pPr algn="l">
              <a:spcBef>
                <a:spcPts val="300"/>
              </a:spcBef>
              <a:buNone/>
            </a:pPr>
            <a:r>
              <a:rPr lang="en-GB" sz="1150" b="1" i="0" dirty="0">
                <a:solidFill>
                  <a:srgbClr val="1A1A1A"/>
                </a:solidFill>
                <a:latin typeface="Arial"/>
                <a:cs typeface="Arial"/>
              </a:rPr>
              <a:t xml:space="preserve">Phone: </a:t>
            </a:r>
            <a:r>
              <a:rPr lang="en-GB" sz="1150" b="0" i="0" dirty="0">
                <a:solidFill>
                  <a:srgbClr val="1A1A1A"/>
                </a:solidFill>
                <a:latin typeface="Arial"/>
                <a:cs typeface="Arial"/>
              </a:rPr>
              <a:t>mid-range Android; mobile data drops inside the shop</a:t>
            </a:r>
            <a:endParaRPr lang="en-GB" sz="1150" dirty="0"/>
          </a:p>
          <a:p>
            <a:pPr algn="l">
              <a:spcBef>
                <a:spcPts val="300"/>
              </a:spcBef>
              <a:buNone/>
            </a:pPr>
            <a:r>
              <a:rPr lang="en-GB" sz="1150" b="1" i="0" dirty="0">
                <a:solidFill>
                  <a:srgbClr val="1A1A1A"/>
                </a:solidFill>
                <a:latin typeface="Arial"/>
                <a:cs typeface="Arial"/>
              </a:rPr>
              <a:t xml:space="preserve">Language: </a:t>
            </a:r>
            <a:r>
              <a:rPr lang="en-GB" sz="1150" b="0" i="0" dirty="0">
                <a:solidFill>
                  <a:srgbClr val="1A1A1A"/>
                </a:solidFill>
                <a:latin typeface="Arial"/>
                <a:cs typeface="Arial"/>
              </a:rPr>
              <a:t>reads Urdu easily, English slowly</a:t>
            </a:r>
            <a:endParaRPr lang="en-GB" sz="1150" dirty="0"/>
          </a:p>
          <a:p>
            <a:pPr algn="l">
              <a:spcBef>
                <a:spcPts val="300"/>
              </a:spcBef>
              <a:buNone/>
            </a:pPr>
            <a:r>
              <a:rPr lang="en-GB" sz="1150" b="1" i="0" dirty="0">
                <a:solidFill>
                  <a:srgbClr val="1A1A1A"/>
                </a:solidFill>
                <a:latin typeface="Arial"/>
                <a:cs typeface="Arial"/>
              </a:rPr>
              <a:t xml:space="preserve">Goal: </a:t>
            </a:r>
            <a:r>
              <a:rPr lang="en-GB" sz="1150" b="0" i="0" dirty="0">
                <a:solidFill>
                  <a:srgbClr val="1A1A1A"/>
                </a:solidFill>
                <a:latin typeface="Arial"/>
                <a:cs typeface="Arial"/>
              </a:rPr>
              <a:t>see attendance and fee due date without phoning his daughter</a:t>
            </a:r>
            <a:endParaRPr lang="en-GB" sz="1150" dirty="0"/>
          </a:p>
          <a:p>
            <a:pPr algn="l">
              <a:spcBef>
                <a:spcPts val="300"/>
              </a:spcBef>
              <a:buNone/>
            </a:pPr>
            <a:r>
              <a:rPr lang="en-GB" sz="1150" b="1" i="0" dirty="0">
                <a:solidFill>
                  <a:srgbClr val="1A1A1A"/>
                </a:solidFill>
                <a:latin typeface="Arial"/>
                <a:cs typeface="Arial"/>
              </a:rPr>
              <a:t xml:space="preserve">Fears: </a:t>
            </a:r>
            <a:r>
              <a:rPr lang="en-GB" sz="1150" b="0" i="0" dirty="0">
                <a:solidFill>
                  <a:srgbClr val="1A1A1A"/>
                </a:solidFill>
                <a:latin typeface="Arial"/>
                <a:cs typeface="Arial"/>
              </a:rPr>
              <a:t>forgets passwords; afraid of “pressing the wrong thing” and paying twice</a:t>
            </a:r>
            <a:endParaRPr lang="en-GB" sz="1150" dirty="0"/>
          </a:p>
          <a:p>
            <a:pPr algn="l">
              <a:spcBef>
                <a:spcPts val="300"/>
              </a:spcBef>
              <a:buNone/>
            </a:pPr>
            <a:r>
              <a:rPr lang="en-GB" sz="1150" b="1" i="0" dirty="0">
                <a:solidFill>
                  <a:srgbClr val="1A1A1A"/>
                </a:solidFill>
                <a:latin typeface="Arial"/>
                <a:cs typeface="Arial"/>
              </a:rPr>
              <a:t xml:space="preserve">Real detail: </a:t>
            </a:r>
            <a:r>
              <a:rPr lang="en-GB" sz="1150" b="0" i="0" dirty="0">
                <a:solidFill>
                  <a:srgbClr val="1A1A1A"/>
                </a:solidFill>
                <a:latin typeface="Arial"/>
                <a:cs typeface="Arial"/>
              </a:rPr>
              <a:t>checks his phone at 9 pm after closing; his reading glasses are often left at the counter</a:t>
            </a:r>
            <a:endParaRPr lang="en-GB" sz="1150" dirty="0"/>
          </a:p>
        </p:txBody>
      </p:sp>
      <p:sp>
        <p:nvSpPr>
          <p:cNvPr id="15" name="Shape 15"/>
          <p:cNvSpPr/>
          <p:nvPr/>
        </p:nvSpPr>
        <p:spPr>
          <a:xfrm>
            <a:off x="3657600" y="5321808"/>
            <a:ext cx="4480560" cy="758952"/>
          </a:xfrm>
          <a:prstGeom prst="roundRect">
            <a:avLst>
              <a:gd name="adj" fmla="val 8000"/>
            </a:avLst>
          </a:prstGeom>
          <a:solidFill>
            <a:srgbClr val="E6EFD9"/>
          </a:solidFill>
          <a:ln w="12700">
            <a:solidFill>
              <a:srgbClr val="9DB8BC"/>
            </a:solidFill>
          </a:ln>
        </p:spPr>
        <p:txBody>
          <a:bodyPr wrap="square" lIns="109728" tIns="109728" rIns="109728" bIns="109728" anchor="ctr" rtlCol="0">
            <a:noAutofit/>
          </a:bodyPr>
          <a:lstStyle/>
          <a:p>
            <a:pPr algn="l">
              <a:buNone/>
            </a:pPr>
            <a:r>
              <a:rPr lang="en-GB" sz="1050" b="1" i="0" dirty="0">
                <a:solidFill>
                  <a:srgbClr val="4E7A12"/>
                </a:solidFill>
                <a:latin typeface="Arial"/>
                <a:cs typeface="Arial"/>
              </a:rPr>
              <a:t xml:space="preserve">SMS code test: </a:t>
            </a:r>
            <a:r>
              <a:rPr lang="en-GB" sz="1050" b="0" i="0" dirty="0">
                <a:solidFill>
                  <a:srgbClr val="1A1A1A"/>
                </a:solidFill>
                <a:latin typeface="Arial"/>
                <a:cs typeface="Arial"/>
              </a:rPr>
              <a:t>Khalid likes it — nothing to remember. But a 60-second expiry is too short while he hunts for his glasses: allow 5 minutes and show the code large.</a:t>
            </a:r>
            <a:endParaRPr lang="en-GB"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Write a scenario — then break it</a:t>
            </a:r>
          </a:p>
        </p:txBody>
      </p:sp>
      <p:sp>
        <p:nvSpPr>
          <p:cNvPr id="11" name="Shape 11"/>
          <p:cNvSpPr/>
          <p:nvPr/>
        </p:nvSpPr>
        <p:spPr>
          <a:xfrm>
            <a:off x="548640" y="1810512"/>
            <a:ext cx="1632204" cy="310896"/>
          </a:xfrm>
          <a:prstGeom prst="roundRect">
            <a:avLst>
              <a:gd name="adj" fmla="val 50000"/>
            </a:avLst>
          </a:prstGeom>
          <a:solidFill>
            <a:srgbClr val="B03A2E"/>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LIVE EXERCISE</a:t>
            </a:r>
            <a:endParaRPr lang="en-GB" sz="1100" dirty="0"/>
          </a:p>
        </p:txBody>
      </p:sp>
      <p:sp>
        <p:nvSpPr>
          <p:cNvPr id="12" name="Shape 12"/>
          <p:cNvSpPr txBox="1"/>
          <p:nvPr/>
        </p:nvSpPr>
        <p:spPr>
          <a:xfrm>
            <a:off x="2290572" y="1810512"/>
            <a:ext cx="5847588" cy="310896"/>
          </a:xfrm>
          <a:prstGeom prst="rect">
            <a:avLst/>
          </a:prstGeom>
          <a:noFill/>
          <a:ln>
            <a:noFill/>
          </a:ln>
        </p:spPr>
        <p:txBody>
          <a:bodyPr wrap="square" lIns="18288" tIns="18288" rIns="18288" bIns="18288" anchor="ctr" rtlCol="0">
            <a:noAutofit/>
          </a:bodyPr>
          <a:lstStyle/>
          <a:p>
            <a:pPr algn="l">
              <a:buNone/>
            </a:pPr>
            <a:r>
              <a:rPr lang="en-GB" sz="1200" b="0" i="1" dirty="0">
                <a:solidFill>
                  <a:srgbClr val="595959"/>
                </a:solidFill>
                <a:latin typeface="Arial"/>
                <a:cs typeface="Arial"/>
              </a:rPr>
              <a:t>5 min · alone, then swap with your neighbour</a:t>
            </a:r>
            <a:endParaRPr lang="en-GB" sz="1200" dirty="0"/>
          </a:p>
        </p:txBody>
      </p:sp>
      <p:sp>
        <p:nvSpPr>
          <p:cNvPr id="13" name="Shape 13"/>
          <p:cNvSpPr/>
          <p:nvPr/>
        </p:nvSpPr>
        <p:spPr>
          <a:xfrm>
            <a:off x="548640" y="2240280"/>
            <a:ext cx="3703320" cy="3246120"/>
          </a:xfrm>
          <a:prstGeom prst="roundRect">
            <a:avLst>
              <a:gd name="adj" fmla="val 8000"/>
            </a:avLst>
          </a:prstGeom>
          <a:solidFill>
            <a:srgbClr val="F3F8F9"/>
          </a:solidFill>
          <a:ln w="12700">
            <a:solidFill>
              <a:srgbClr val="9DB8BC"/>
            </a:solidFill>
          </a:ln>
        </p:spPr>
        <p:txBody>
          <a:bodyPr wrap="square" lIns="109728" tIns="109728" rIns="109728" bIns="109728" anchor="t" rtlCol="0">
            <a:noAutofit/>
          </a:bodyPr>
          <a:lstStyle/>
          <a:p>
            <a:endParaRPr lang="en-GB" sz="1200" dirty="0"/>
          </a:p>
        </p:txBody>
      </p:sp>
      <p:sp>
        <p:nvSpPr>
          <p:cNvPr id="14" name="Shape 14"/>
          <p:cNvSpPr txBox="1"/>
          <p:nvPr/>
        </p:nvSpPr>
        <p:spPr>
          <a:xfrm>
            <a:off x="685800" y="2331720"/>
            <a:ext cx="3474720" cy="365760"/>
          </a:xfrm>
          <a:prstGeom prst="rect">
            <a:avLst/>
          </a:prstGeom>
          <a:noFill/>
          <a:ln>
            <a:noFill/>
          </a:ln>
        </p:spPr>
        <p:txBody>
          <a:bodyPr wrap="square" lIns="18288" tIns="18288" rIns="18288" bIns="18288" anchor="t" rtlCol="0">
            <a:noAutofit/>
          </a:bodyPr>
          <a:lstStyle/>
          <a:p>
            <a:pPr algn="l">
              <a:buNone/>
            </a:pPr>
            <a:r>
              <a:rPr lang="en-GB" sz="1400" b="1" i="0" dirty="0">
                <a:solidFill>
                  <a:srgbClr val="B03A2E"/>
                </a:solidFill>
                <a:latin typeface="Arial"/>
                <a:cs typeface="Arial"/>
              </a:rPr>
              <a:t>Part 1 — write it (3 min)</a:t>
            </a:r>
            <a:endParaRPr lang="en-GB" sz="1200" dirty="0"/>
          </a:p>
        </p:txBody>
      </p:sp>
      <p:sp>
        <p:nvSpPr>
          <p:cNvPr id="15" name="Shape 15"/>
          <p:cNvSpPr txBox="1"/>
          <p:nvPr/>
        </p:nvSpPr>
        <p:spPr>
          <a:xfrm>
            <a:off x="685800" y="2724912"/>
            <a:ext cx="3474720" cy="914400"/>
          </a:xfrm>
          <a:prstGeom prst="rect">
            <a:avLst/>
          </a:prstGeom>
          <a:noFill/>
          <a:ln>
            <a:noFill/>
          </a:ln>
        </p:spPr>
        <p:txBody>
          <a:bodyPr wrap="square" lIns="18288" tIns="18288" rIns="18288" bIns="18288" anchor="t" rtlCol="0">
            <a:noAutofit/>
          </a:bodyPr>
          <a:lstStyle/>
          <a:p>
            <a:pPr algn="l">
              <a:buNone/>
            </a:pPr>
            <a:r>
              <a:rPr lang="en-GB" sz="1200" b="0" i="0" dirty="0">
                <a:solidFill>
                  <a:srgbClr val="1A1A1A"/>
                </a:solidFill>
                <a:latin typeface="Arial"/>
                <a:cs typeface="Arial"/>
              </a:rPr>
              <a:t>Write 6–8 lines: your persona checks whether the semester fee has been paid — the night before the due date.</a:t>
            </a:r>
            <a:endParaRPr lang="en-GB" sz="1200" dirty="0"/>
          </a:p>
        </p:txBody>
      </p:sp>
      <p:sp>
        <p:nvSpPr>
          <p:cNvPr id="16" name="Shape 16"/>
          <p:cNvSpPr/>
          <p:nvPr/>
        </p:nvSpPr>
        <p:spPr>
          <a:xfrm>
            <a:off x="822960" y="3749040"/>
            <a:ext cx="3154680" cy="365760"/>
          </a:xfrm>
          <a:prstGeom prst="roundRect">
            <a:avLst>
              <a:gd name="adj" fmla="val 50000"/>
            </a:avLst>
          </a:prstGeom>
          <a:solidFill>
            <a:srgbClr val="FFFFFF"/>
          </a:solidFill>
          <a:ln w="12700">
            <a:solidFill>
              <a:srgbClr val="9DB8BC"/>
            </a:solidFill>
          </a:ln>
        </p:spPr>
        <p:txBody>
          <a:bodyPr wrap="square" lIns="27432" tIns="27432" rIns="27432" bIns="27432" anchor="ctr" rtlCol="0">
            <a:noAutofit/>
          </a:bodyPr>
          <a:lstStyle/>
          <a:p>
            <a:pPr algn="ctr">
              <a:buNone/>
            </a:pPr>
            <a:r>
              <a:rPr lang="en-GB" sz="1200" b="1" i="0" dirty="0">
                <a:solidFill>
                  <a:srgbClr val="2D2D8A"/>
                </a:solidFill>
                <a:latin typeface="Arial"/>
                <a:cs typeface="Arial"/>
              </a:rPr>
              <a:t>What can they see?</a:t>
            </a:r>
            <a:endParaRPr lang="en-GB" sz="1200" dirty="0"/>
          </a:p>
        </p:txBody>
      </p:sp>
      <p:sp>
        <p:nvSpPr>
          <p:cNvPr id="17" name="Shape 17"/>
          <p:cNvSpPr/>
          <p:nvPr/>
        </p:nvSpPr>
        <p:spPr>
          <a:xfrm>
            <a:off x="822960" y="4251960"/>
            <a:ext cx="3154680" cy="365760"/>
          </a:xfrm>
          <a:prstGeom prst="roundRect">
            <a:avLst>
              <a:gd name="adj" fmla="val 50000"/>
            </a:avLst>
          </a:prstGeom>
          <a:solidFill>
            <a:srgbClr val="FFFFFF"/>
          </a:solidFill>
          <a:ln w="12700">
            <a:solidFill>
              <a:srgbClr val="9DB8BC"/>
            </a:solidFill>
          </a:ln>
        </p:spPr>
        <p:txBody>
          <a:bodyPr wrap="square" lIns="27432" tIns="27432" rIns="27432" bIns="27432" anchor="ctr" rtlCol="0">
            <a:noAutofit/>
          </a:bodyPr>
          <a:lstStyle/>
          <a:p>
            <a:pPr algn="ctr">
              <a:buNone/>
            </a:pPr>
            <a:r>
              <a:rPr lang="en-GB" sz="1200" b="1" i="0" dirty="0">
                <a:solidFill>
                  <a:srgbClr val="2D2D8A"/>
                </a:solidFill>
                <a:latin typeface="Arial"/>
                <a:cs typeface="Arial"/>
              </a:rPr>
              <a:t>What do they do?</a:t>
            </a:r>
            <a:endParaRPr lang="en-GB" sz="1200" dirty="0"/>
          </a:p>
        </p:txBody>
      </p:sp>
      <p:sp>
        <p:nvSpPr>
          <p:cNvPr id="18" name="Shape 18"/>
          <p:cNvSpPr/>
          <p:nvPr/>
        </p:nvSpPr>
        <p:spPr>
          <a:xfrm>
            <a:off x="822960" y="4754880"/>
            <a:ext cx="3154680" cy="365760"/>
          </a:xfrm>
          <a:prstGeom prst="roundRect">
            <a:avLst>
              <a:gd name="adj" fmla="val 50000"/>
            </a:avLst>
          </a:prstGeom>
          <a:solidFill>
            <a:srgbClr val="FFFFFF"/>
          </a:solidFill>
          <a:ln w="12700">
            <a:solidFill>
              <a:srgbClr val="9DB8BC"/>
            </a:solidFill>
          </a:ln>
        </p:spPr>
        <p:txBody>
          <a:bodyPr wrap="square" lIns="27432" tIns="27432" rIns="27432" bIns="27432" anchor="ctr" rtlCol="0">
            <a:noAutofit/>
          </a:bodyPr>
          <a:lstStyle/>
          <a:p>
            <a:pPr algn="ctr">
              <a:buNone/>
            </a:pPr>
            <a:r>
              <a:rPr lang="en-GB" sz="1200" b="1" i="0" dirty="0">
                <a:solidFill>
                  <a:srgbClr val="2D2D8A"/>
                </a:solidFill>
                <a:latin typeface="Arial"/>
                <a:cs typeface="Arial"/>
              </a:rPr>
              <a:t>What are they thinking?</a:t>
            </a:r>
            <a:endParaRPr lang="en-GB" sz="1200" dirty="0"/>
          </a:p>
        </p:txBody>
      </p:sp>
      <p:sp>
        <p:nvSpPr>
          <p:cNvPr id="19" name="Shape 19"/>
          <p:cNvSpPr/>
          <p:nvPr/>
        </p:nvSpPr>
        <p:spPr>
          <a:xfrm>
            <a:off x="4434840" y="2240280"/>
            <a:ext cx="3703320" cy="3246120"/>
          </a:xfrm>
          <a:prstGeom prst="roundRect">
            <a:avLst>
              <a:gd name="adj" fmla="val 8000"/>
            </a:avLst>
          </a:prstGeom>
          <a:solidFill>
            <a:srgbClr val="F3F8F9"/>
          </a:solidFill>
          <a:ln w="12700">
            <a:solidFill>
              <a:srgbClr val="9DB8BC"/>
            </a:solidFill>
          </a:ln>
        </p:spPr>
        <p:txBody>
          <a:bodyPr wrap="square" lIns="109728" tIns="109728" rIns="109728" bIns="109728" anchor="t" rtlCol="0">
            <a:noAutofit/>
          </a:bodyPr>
          <a:lstStyle/>
          <a:p>
            <a:endParaRPr lang="en-GB" sz="1200" dirty="0"/>
          </a:p>
        </p:txBody>
      </p:sp>
      <p:sp>
        <p:nvSpPr>
          <p:cNvPr id="20" name="Shape 20"/>
          <p:cNvSpPr txBox="1"/>
          <p:nvPr/>
        </p:nvSpPr>
        <p:spPr>
          <a:xfrm>
            <a:off x="4572000" y="2331720"/>
            <a:ext cx="3474720" cy="365760"/>
          </a:xfrm>
          <a:prstGeom prst="rect">
            <a:avLst/>
          </a:prstGeom>
          <a:noFill/>
          <a:ln>
            <a:noFill/>
          </a:ln>
        </p:spPr>
        <p:txBody>
          <a:bodyPr wrap="square" lIns="18288" tIns="18288" rIns="18288" bIns="18288" anchor="t" rtlCol="0">
            <a:noAutofit/>
          </a:bodyPr>
          <a:lstStyle/>
          <a:p>
            <a:pPr algn="l">
              <a:buNone/>
            </a:pPr>
            <a:r>
              <a:rPr lang="en-GB" sz="1400" b="1" i="0" dirty="0">
                <a:solidFill>
                  <a:srgbClr val="B03A2E"/>
                </a:solidFill>
                <a:latin typeface="Arial"/>
                <a:cs typeface="Arial"/>
              </a:rPr>
              <a:t>Part 2 — break it (2 min)</a:t>
            </a:r>
            <a:endParaRPr lang="en-GB" sz="1200" dirty="0"/>
          </a:p>
        </p:txBody>
      </p:sp>
      <p:sp>
        <p:nvSpPr>
          <p:cNvPr id="21" name="Shape 21"/>
          <p:cNvSpPr txBox="1"/>
          <p:nvPr/>
        </p:nvSpPr>
        <p:spPr>
          <a:xfrm>
            <a:off x="4572000" y="2724912"/>
            <a:ext cx="3474720" cy="914400"/>
          </a:xfrm>
          <a:prstGeom prst="rect">
            <a:avLst/>
          </a:prstGeom>
          <a:noFill/>
          <a:ln>
            <a:noFill/>
          </a:ln>
        </p:spPr>
        <p:txBody>
          <a:bodyPr wrap="square" lIns="18288" tIns="18288" rIns="18288" bIns="18288" anchor="t" rtlCol="0">
            <a:noAutofit/>
          </a:bodyPr>
          <a:lstStyle/>
          <a:p>
            <a:pPr algn="l">
              <a:buNone/>
            </a:pPr>
            <a:r>
              <a:rPr lang="en-GB" sz="1200" b="0" i="0" dirty="0">
                <a:solidFill>
                  <a:srgbClr val="1A1A1A"/>
                </a:solidFill>
                <a:latin typeface="Arial"/>
                <a:cs typeface="Arial"/>
              </a:rPr>
              <a:t>Swap sheets. Add two “what if …?” branches your neighbour’s story missed.</a:t>
            </a:r>
            <a:endParaRPr lang="en-GB" sz="1200" dirty="0"/>
          </a:p>
        </p:txBody>
      </p:sp>
      <p:sp>
        <p:nvSpPr>
          <p:cNvPr id="22" name="Shape 22"/>
          <p:cNvSpPr/>
          <p:nvPr/>
        </p:nvSpPr>
        <p:spPr>
          <a:xfrm>
            <a:off x="4709160" y="3749040"/>
            <a:ext cx="1508760" cy="365760"/>
          </a:xfrm>
          <a:prstGeom prst="roundRect">
            <a:avLst>
              <a:gd name="adj" fmla="val 50000"/>
            </a:avLst>
          </a:prstGeom>
          <a:solidFill>
            <a:srgbClr val="F6E3E1"/>
          </a:solidFill>
          <a:ln>
            <a:noFill/>
          </a:ln>
        </p:spPr>
        <p:txBody>
          <a:bodyPr wrap="square" lIns="27432" tIns="27432" rIns="27432" bIns="27432" anchor="ctr" rtlCol="0">
            <a:noAutofit/>
          </a:bodyPr>
          <a:lstStyle/>
          <a:p>
            <a:pPr algn="ctr">
              <a:buNone/>
            </a:pPr>
            <a:r>
              <a:rPr lang="en-GB" sz="1150" b="1" i="0" dirty="0">
                <a:solidFill>
                  <a:srgbClr val="B03A2E"/>
                </a:solidFill>
                <a:latin typeface="Arial"/>
                <a:cs typeface="Arial"/>
              </a:rPr>
              <a:t>an error</a:t>
            </a:r>
            <a:endParaRPr lang="en-GB" sz="1150" dirty="0"/>
          </a:p>
        </p:txBody>
      </p:sp>
      <p:sp>
        <p:nvSpPr>
          <p:cNvPr id="23" name="Shape 23"/>
          <p:cNvSpPr/>
          <p:nvPr/>
        </p:nvSpPr>
        <p:spPr>
          <a:xfrm>
            <a:off x="6355080" y="3749040"/>
            <a:ext cx="1508760" cy="365760"/>
          </a:xfrm>
          <a:prstGeom prst="roundRect">
            <a:avLst>
              <a:gd name="adj" fmla="val 50000"/>
            </a:avLst>
          </a:prstGeom>
          <a:solidFill>
            <a:srgbClr val="F6E3E1"/>
          </a:solidFill>
          <a:ln>
            <a:noFill/>
          </a:ln>
        </p:spPr>
        <p:txBody>
          <a:bodyPr wrap="square" lIns="27432" tIns="27432" rIns="27432" bIns="27432" anchor="ctr" rtlCol="0">
            <a:noAutofit/>
          </a:bodyPr>
          <a:lstStyle/>
          <a:p>
            <a:pPr algn="ctr">
              <a:buNone/>
            </a:pPr>
            <a:r>
              <a:rPr lang="en-GB" sz="1150" b="1" i="0" dirty="0">
                <a:solidFill>
                  <a:srgbClr val="B03A2E"/>
                </a:solidFill>
                <a:latin typeface="Arial"/>
                <a:cs typeface="Arial"/>
              </a:rPr>
              <a:t>an interruption</a:t>
            </a:r>
            <a:endParaRPr lang="en-GB" sz="1150" dirty="0"/>
          </a:p>
        </p:txBody>
      </p:sp>
      <p:sp>
        <p:nvSpPr>
          <p:cNvPr id="24" name="Shape 24"/>
          <p:cNvSpPr/>
          <p:nvPr/>
        </p:nvSpPr>
        <p:spPr>
          <a:xfrm>
            <a:off x="4709160" y="4251960"/>
            <a:ext cx="1508760" cy="365760"/>
          </a:xfrm>
          <a:prstGeom prst="roundRect">
            <a:avLst>
              <a:gd name="adj" fmla="val 50000"/>
            </a:avLst>
          </a:prstGeom>
          <a:solidFill>
            <a:srgbClr val="F6E3E1"/>
          </a:solidFill>
          <a:ln>
            <a:noFill/>
          </a:ln>
        </p:spPr>
        <p:txBody>
          <a:bodyPr wrap="square" lIns="27432" tIns="27432" rIns="27432" bIns="27432" anchor="ctr" rtlCol="0">
            <a:noAutofit/>
          </a:bodyPr>
          <a:lstStyle/>
          <a:p>
            <a:pPr algn="ctr">
              <a:buNone/>
            </a:pPr>
            <a:r>
              <a:rPr lang="en-GB" sz="1150" b="1" i="0" dirty="0">
                <a:solidFill>
                  <a:srgbClr val="B03A2E"/>
                </a:solidFill>
                <a:latin typeface="Arial"/>
                <a:cs typeface="Arial"/>
              </a:rPr>
              <a:t>a special case</a:t>
            </a:r>
            <a:endParaRPr lang="en-GB" sz="1150" dirty="0"/>
          </a:p>
        </p:txBody>
      </p:sp>
      <p:sp>
        <p:nvSpPr>
          <p:cNvPr id="25" name="Shape 25"/>
          <p:cNvSpPr/>
          <p:nvPr/>
        </p:nvSpPr>
        <p:spPr>
          <a:xfrm>
            <a:off x="6355080" y="4251960"/>
            <a:ext cx="1508760" cy="365760"/>
          </a:xfrm>
          <a:prstGeom prst="roundRect">
            <a:avLst>
              <a:gd name="adj" fmla="val 50000"/>
            </a:avLst>
          </a:prstGeom>
          <a:solidFill>
            <a:srgbClr val="F6E3E1"/>
          </a:solidFill>
          <a:ln>
            <a:noFill/>
          </a:ln>
        </p:spPr>
        <p:txBody>
          <a:bodyPr wrap="square" lIns="27432" tIns="27432" rIns="27432" bIns="27432" anchor="ctr" rtlCol="0">
            <a:noAutofit/>
          </a:bodyPr>
          <a:lstStyle/>
          <a:p>
            <a:pPr algn="ctr">
              <a:buNone/>
            </a:pPr>
            <a:r>
              <a:rPr lang="en-GB" sz="1150" b="1" i="0" dirty="0">
                <a:solidFill>
                  <a:srgbClr val="B03A2E"/>
                </a:solidFill>
                <a:latin typeface="Arial"/>
                <a:cs typeface="Arial"/>
              </a:rPr>
              <a:t>a different user</a:t>
            </a:r>
            <a:endParaRPr lang="en-GB" sz="1150" dirty="0"/>
          </a:p>
        </p:txBody>
      </p:sp>
      <p:sp>
        <p:nvSpPr>
          <p:cNvPr id="26" name="Shape 26"/>
          <p:cNvSpPr txBox="1"/>
          <p:nvPr/>
        </p:nvSpPr>
        <p:spPr>
          <a:xfrm>
            <a:off x="4572000" y="4800600"/>
            <a:ext cx="3474720" cy="548640"/>
          </a:xfrm>
          <a:prstGeom prst="rect">
            <a:avLst/>
          </a:prstGeom>
          <a:noFill/>
          <a:ln>
            <a:noFill/>
          </a:ln>
        </p:spPr>
        <p:txBody>
          <a:bodyPr wrap="square" lIns="18288" tIns="18288" rIns="18288" bIns="18288" anchor="t" rtlCol="0">
            <a:noAutofit/>
          </a:bodyPr>
          <a:lstStyle/>
          <a:p>
            <a:pPr algn="l">
              <a:buNone/>
            </a:pPr>
            <a:r>
              <a:rPr lang="en-GB" sz="1100" b="0" i="1" dirty="0">
                <a:solidFill>
                  <a:srgbClr val="595959"/>
                </a:solidFill>
                <a:latin typeface="Arial"/>
                <a:cs typeface="Arial"/>
              </a:rPr>
              <a:t>Write each branch as: “What if … ? Then the system should …”</a:t>
            </a:r>
            <a:endParaRPr lang="en-GB" sz="1100" dirty="0"/>
          </a:p>
        </p:txBody>
      </p:sp>
      <p:sp>
        <p:nvSpPr>
          <p:cNvPr id="27" name="Shape 27"/>
          <p:cNvSpPr txBox="1"/>
          <p:nvPr/>
        </p:nvSpPr>
        <p:spPr>
          <a:xfrm>
            <a:off x="548640" y="5623560"/>
            <a:ext cx="7589520" cy="457200"/>
          </a:xfrm>
          <a:prstGeom prst="rect">
            <a:avLst/>
          </a:prstGeom>
          <a:noFill/>
          <a:ln>
            <a:noFill/>
          </a:ln>
        </p:spPr>
        <p:txBody>
          <a:bodyPr wrap="square" lIns="18288" tIns="18288" rIns="18288" bIns="18288" anchor="t" rtlCol="0">
            <a:noAutofit/>
          </a:bodyPr>
          <a:lstStyle/>
          <a:p>
            <a:pPr algn="l">
              <a:buNone/>
            </a:pPr>
            <a:r>
              <a:rPr lang="en-GB" sz="1200" b="0" i="1" dirty="0">
                <a:solidFill>
                  <a:srgbClr val="595959"/>
                </a:solidFill>
                <a:latin typeface="Arial"/>
                <a:cs typeface="Arial"/>
              </a:rPr>
              <a:t>Scenarios are linear: natural, concrete, easy to share — but no choices, no branches, no special conditions. So use several scenarios, and several methods.</a:t>
            </a:r>
            <a:endParaRPr lang="en-GB" sz="12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Write a scenario — then break it</a:t>
            </a:r>
          </a:p>
        </p:txBody>
      </p:sp>
      <p:sp>
        <p:nvSpPr>
          <p:cNvPr id="11" name="Shape 11"/>
          <p:cNvSpPr/>
          <p:nvPr/>
        </p:nvSpPr>
        <p:spPr>
          <a:xfrm>
            <a:off x="548640" y="1810512"/>
            <a:ext cx="1056132" cy="310896"/>
          </a:xfrm>
          <a:prstGeom prst="roundRect">
            <a:avLst>
              <a:gd name="adj" fmla="val 50000"/>
            </a:avLst>
          </a:prstGeom>
          <a:solidFill>
            <a:srgbClr val="404040"/>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ANSWERS</a:t>
            </a:r>
            <a:endParaRPr lang="en-GB" sz="1100" dirty="0"/>
          </a:p>
        </p:txBody>
      </p:sp>
      <p:sp>
        <p:nvSpPr>
          <p:cNvPr id="12" name="Shape 12"/>
          <p:cNvSpPr txBox="1"/>
          <p:nvPr/>
        </p:nvSpPr>
        <p:spPr>
          <a:xfrm>
            <a:off x="1714500" y="1810512"/>
            <a:ext cx="6423660" cy="310896"/>
          </a:xfrm>
          <a:prstGeom prst="rect">
            <a:avLst/>
          </a:prstGeom>
          <a:noFill/>
          <a:ln>
            <a:noFill/>
          </a:ln>
        </p:spPr>
        <p:txBody>
          <a:bodyPr wrap="square" lIns="18288" tIns="18288" rIns="18288" bIns="18288" anchor="ctr" rtlCol="0">
            <a:noAutofit/>
          </a:bodyPr>
          <a:lstStyle/>
          <a:p>
            <a:pPr algn="l">
              <a:buNone/>
            </a:pPr>
            <a:r>
              <a:rPr lang="en-GB" sz="1200" b="0" i="1" dirty="0">
                <a:solidFill>
                  <a:srgbClr val="595959"/>
                </a:solidFill>
                <a:latin typeface="Arial"/>
                <a:cs typeface="Arial"/>
              </a:rPr>
              <a:t>one scenario and three branches it missed</a:t>
            </a:r>
            <a:endParaRPr lang="en-GB" sz="1200" dirty="0"/>
          </a:p>
        </p:txBody>
      </p:sp>
      <p:sp>
        <p:nvSpPr>
          <p:cNvPr id="13" name="Shape 13"/>
          <p:cNvSpPr/>
          <p:nvPr/>
        </p:nvSpPr>
        <p:spPr>
          <a:xfrm>
            <a:off x="548640" y="2240280"/>
            <a:ext cx="3977640" cy="3794760"/>
          </a:xfrm>
          <a:prstGeom prst="roundRect">
            <a:avLst>
              <a:gd name="adj" fmla="val 8000"/>
            </a:avLst>
          </a:prstGeom>
          <a:solidFill>
            <a:srgbClr val="F3F8F9"/>
          </a:solidFill>
          <a:ln w="12700">
            <a:solidFill>
              <a:srgbClr val="9DB8BC"/>
            </a:solidFill>
          </a:ln>
        </p:spPr>
        <p:txBody>
          <a:bodyPr wrap="square" lIns="128016" tIns="128016" rIns="128016" bIns="128016" anchor="t" rtlCol="0">
            <a:noAutofit/>
          </a:bodyPr>
          <a:lstStyle/>
          <a:p>
            <a:pPr algn="l">
              <a:buNone/>
            </a:pPr>
            <a:r>
              <a:rPr lang="en-GB" sz="1300" b="1" i="0" dirty="0">
                <a:solidFill>
                  <a:srgbClr val="2D2D8A"/>
                </a:solidFill>
                <a:latin typeface="Arial"/>
                <a:cs typeface="Arial"/>
              </a:rPr>
              <a:t>Scenario</a:t>
            </a:r>
            <a:endParaRPr lang="en-GB" sz="1100" dirty="0"/>
          </a:p>
          <a:p>
            <a:pPr algn="l">
              <a:spcBef>
                <a:spcPts val="400"/>
              </a:spcBef>
              <a:buNone/>
            </a:pPr>
            <a:r>
              <a:rPr lang="en-GB" sz="1100" b="0" i="0" dirty="0">
                <a:solidFill>
                  <a:srgbClr val="1A1A1A"/>
                </a:solidFill>
                <a:latin typeface="Arial"/>
                <a:cs typeface="Arial"/>
              </a:rPr>
              <a:t>It is 9:30 pm. Khalid closes the shop and taps the portal link his daughter forwarded on SMS. The login screen asks for his mobile number; a 6-digit code arrives in a few seconds and he types it slowly. Three large tiles appear: Attendance, Fees, Results. He taps Fees and reads “Semester 3 — due 15 Oct — Rs 0 outstanding — paid 9 Oct”. For a moment he wonders whether “Rs 0” means paid or broken, then sees the green PAID stamp with the bank’s name and relaxes. He takes a screenshot to send to his wife.</a:t>
            </a:r>
            <a:endParaRPr lang="en-GB" sz="1100" dirty="0"/>
          </a:p>
        </p:txBody>
      </p:sp>
      <p:sp>
        <p:nvSpPr>
          <p:cNvPr id="14" name="Shape 14"/>
          <p:cNvSpPr/>
          <p:nvPr/>
        </p:nvSpPr>
        <p:spPr>
          <a:xfrm>
            <a:off x="4846320" y="2240280"/>
            <a:ext cx="3291840" cy="1161288"/>
          </a:xfrm>
          <a:prstGeom prst="roundRect">
            <a:avLst>
              <a:gd name="adj" fmla="val 8000"/>
            </a:avLst>
          </a:prstGeom>
          <a:solidFill>
            <a:srgbClr val="F3F8F9"/>
          </a:solidFill>
          <a:ln w="12700">
            <a:solidFill>
              <a:srgbClr val="9DB8BC"/>
            </a:solidFill>
          </a:ln>
        </p:spPr>
        <p:txBody>
          <a:bodyPr wrap="square" lIns="100584" tIns="100584" rIns="100584" bIns="100584" anchor="t" rtlCol="0">
            <a:noAutofit/>
          </a:bodyPr>
          <a:lstStyle/>
          <a:p>
            <a:pPr algn="l">
              <a:buNone/>
            </a:pPr>
            <a:r>
              <a:rPr lang="en-GB" sz="1100" b="1" i="0" dirty="0">
                <a:solidFill>
                  <a:srgbClr val="B03A2E"/>
                </a:solidFill>
                <a:latin typeface="Arial"/>
                <a:cs typeface="Arial"/>
              </a:rPr>
              <a:t>What if the code never arrives?</a:t>
            </a:r>
            <a:endParaRPr lang="en-GB" sz="1100" dirty="0"/>
          </a:p>
          <a:p>
            <a:pPr algn="l">
              <a:spcBef>
                <a:spcPts val="300"/>
              </a:spcBef>
              <a:buNone/>
            </a:pPr>
            <a:r>
              <a:rPr lang="en-GB" sz="1100" b="1" i="0" dirty="0">
                <a:solidFill>
                  <a:srgbClr val="1A1A1A"/>
                </a:solidFill>
                <a:latin typeface="Arial"/>
                <a:cs typeface="Arial"/>
              </a:rPr>
              <a:t xml:space="preserve">Then: </a:t>
            </a:r>
            <a:r>
              <a:rPr lang="en-GB" sz="1100" b="0" i="0" dirty="0">
                <a:solidFill>
                  <a:srgbClr val="1A1A1A"/>
                </a:solidFill>
                <a:latin typeface="Arial"/>
                <a:cs typeface="Arial"/>
              </a:rPr>
              <a:t>Offer “Resend” after 30 s and a voice call; keep the number he typed.</a:t>
            </a:r>
            <a:endParaRPr lang="en-GB" sz="1100" dirty="0"/>
          </a:p>
        </p:txBody>
      </p:sp>
      <p:cxnSp>
        <p:nvCxnSpPr>
          <p:cNvPr id="15" name="Connector 15"/>
          <p:cNvCxnSpPr/>
          <p:nvPr/>
        </p:nvCxnSpPr>
        <p:spPr>
          <a:xfrm>
            <a:off x="4544568" y="2743200"/>
            <a:ext cx="283464" cy="64008"/>
          </a:xfrm>
          <a:prstGeom prst="line">
            <a:avLst/>
          </a:prstGeom>
          <a:ln w="15875">
            <a:solidFill>
              <a:srgbClr val="B03A2E"/>
            </a:solidFill>
            <a:prstDash val="dash"/>
            <a:tailEnd type="triangle" w="med" len="med"/>
          </a:ln>
        </p:spPr>
      </p:cxnSp>
      <p:sp>
        <p:nvSpPr>
          <p:cNvPr id="16" name="Shape 16"/>
          <p:cNvSpPr/>
          <p:nvPr/>
        </p:nvSpPr>
        <p:spPr>
          <a:xfrm>
            <a:off x="4846320" y="3538728"/>
            <a:ext cx="3291840" cy="1161288"/>
          </a:xfrm>
          <a:prstGeom prst="roundRect">
            <a:avLst>
              <a:gd name="adj" fmla="val 8000"/>
            </a:avLst>
          </a:prstGeom>
          <a:solidFill>
            <a:srgbClr val="F3F8F9"/>
          </a:solidFill>
          <a:ln w="12700">
            <a:solidFill>
              <a:srgbClr val="9DB8BC"/>
            </a:solidFill>
          </a:ln>
        </p:spPr>
        <p:txBody>
          <a:bodyPr wrap="square" lIns="100584" tIns="100584" rIns="100584" bIns="100584" anchor="t" rtlCol="0">
            <a:noAutofit/>
          </a:bodyPr>
          <a:lstStyle/>
          <a:p>
            <a:pPr algn="l">
              <a:buNone/>
            </a:pPr>
            <a:r>
              <a:rPr lang="en-GB" sz="1100" b="1" i="0" dirty="0">
                <a:solidFill>
                  <a:srgbClr val="B03A2E"/>
                </a:solidFill>
                <a:latin typeface="Arial"/>
                <a:cs typeface="Arial"/>
              </a:rPr>
              <a:t>What if the fee is partly paid by a scholarship?</a:t>
            </a:r>
            <a:endParaRPr lang="en-GB" sz="1100" dirty="0"/>
          </a:p>
          <a:p>
            <a:pPr algn="l">
              <a:spcBef>
                <a:spcPts val="300"/>
              </a:spcBef>
              <a:buNone/>
            </a:pPr>
            <a:r>
              <a:rPr lang="en-GB" sz="1100" b="1" i="0" dirty="0">
                <a:solidFill>
                  <a:srgbClr val="1A1A1A"/>
                </a:solidFill>
                <a:latin typeface="Arial"/>
                <a:cs typeface="Arial"/>
              </a:rPr>
              <a:t xml:space="preserve">Then: </a:t>
            </a:r>
            <a:r>
              <a:rPr lang="en-GB" sz="1100" b="0" i="0" dirty="0">
                <a:solidFill>
                  <a:srgbClr val="1A1A1A"/>
                </a:solidFill>
                <a:latin typeface="Arial"/>
                <a:cs typeface="Arial"/>
              </a:rPr>
              <a:t>Show the breakdown, not just one total; explain “Rs 0”.</a:t>
            </a:r>
            <a:endParaRPr lang="en-GB" sz="1100" dirty="0"/>
          </a:p>
        </p:txBody>
      </p:sp>
      <p:cxnSp>
        <p:nvCxnSpPr>
          <p:cNvPr id="17" name="Connector 17"/>
          <p:cNvCxnSpPr/>
          <p:nvPr/>
        </p:nvCxnSpPr>
        <p:spPr>
          <a:xfrm>
            <a:off x="4544568" y="3931920"/>
            <a:ext cx="283464" cy="173736"/>
          </a:xfrm>
          <a:prstGeom prst="line">
            <a:avLst/>
          </a:prstGeom>
          <a:ln w="15875">
            <a:solidFill>
              <a:srgbClr val="B03A2E"/>
            </a:solidFill>
            <a:prstDash val="dash"/>
            <a:tailEnd type="triangle" w="med" len="med"/>
          </a:ln>
        </p:spPr>
      </p:cxnSp>
      <p:sp>
        <p:nvSpPr>
          <p:cNvPr id="18" name="Shape 18"/>
          <p:cNvSpPr/>
          <p:nvPr/>
        </p:nvSpPr>
        <p:spPr>
          <a:xfrm>
            <a:off x="4846320" y="4837176"/>
            <a:ext cx="3291840" cy="1161288"/>
          </a:xfrm>
          <a:prstGeom prst="roundRect">
            <a:avLst>
              <a:gd name="adj" fmla="val 8000"/>
            </a:avLst>
          </a:prstGeom>
          <a:solidFill>
            <a:srgbClr val="F3F8F9"/>
          </a:solidFill>
          <a:ln w="12700">
            <a:solidFill>
              <a:srgbClr val="9DB8BC"/>
            </a:solidFill>
          </a:ln>
        </p:spPr>
        <p:txBody>
          <a:bodyPr wrap="square" lIns="100584" tIns="100584" rIns="100584" bIns="100584" anchor="t" rtlCol="0">
            <a:noAutofit/>
          </a:bodyPr>
          <a:lstStyle/>
          <a:p>
            <a:pPr algn="l">
              <a:buNone/>
            </a:pPr>
            <a:r>
              <a:rPr lang="en-GB" sz="1100" b="1" i="0" dirty="0">
                <a:solidFill>
                  <a:srgbClr val="B03A2E"/>
                </a:solidFill>
                <a:latin typeface="Arial"/>
                <a:cs typeface="Arial"/>
              </a:rPr>
              <a:t>What if he has two children at UET?</a:t>
            </a:r>
            <a:endParaRPr lang="en-GB" sz="1100" dirty="0"/>
          </a:p>
          <a:p>
            <a:pPr algn="l">
              <a:spcBef>
                <a:spcPts val="300"/>
              </a:spcBef>
              <a:buNone/>
            </a:pPr>
            <a:r>
              <a:rPr lang="en-GB" sz="1100" b="1" i="0" dirty="0">
                <a:solidFill>
                  <a:srgbClr val="1A1A1A"/>
                </a:solidFill>
                <a:latin typeface="Arial"/>
                <a:cs typeface="Arial"/>
              </a:rPr>
              <a:t xml:space="preserve">Then: </a:t>
            </a:r>
            <a:r>
              <a:rPr lang="en-GB" sz="1100" b="0" i="0" dirty="0">
                <a:solidFill>
                  <a:srgbClr val="1A1A1A"/>
                </a:solidFill>
                <a:latin typeface="Arial"/>
                <a:cs typeface="Arial"/>
              </a:rPr>
              <a:t>Add a child switcher on the first screen; never mix their records.</a:t>
            </a:r>
            <a:endParaRPr lang="en-GB" sz="1100" dirty="0"/>
          </a:p>
        </p:txBody>
      </p:sp>
      <p:cxnSp>
        <p:nvCxnSpPr>
          <p:cNvPr id="19" name="Connector 19"/>
          <p:cNvCxnSpPr/>
          <p:nvPr/>
        </p:nvCxnSpPr>
        <p:spPr>
          <a:xfrm>
            <a:off x="4544568" y="5120640"/>
            <a:ext cx="283464" cy="283464"/>
          </a:xfrm>
          <a:prstGeom prst="line">
            <a:avLst/>
          </a:prstGeom>
          <a:ln w="15875">
            <a:solidFill>
              <a:srgbClr val="B03A2E"/>
            </a:solidFill>
            <a:prstDash val="dash"/>
            <a:tailEnd type="triangle" w="med" len="med"/>
          </a:ln>
        </p:spPr>
      </p:cxn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Which level is this decision?</a:t>
            </a:r>
          </a:p>
        </p:txBody>
      </p:sp>
      <p:sp>
        <p:nvSpPr>
          <p:cNvPr id="11" name="Shape 11"/>
          <p:cNvSpPr/>
          <p:nvPr/>
        </p:nvSpPr>
        <p:spPr>
          <a:xfrm>
            <a:off x="548640" y="1810512"/>
            <a:ext cx="868680" cy="310896"/>
          </a:xfrm>
          <a:prstGeom prst="roundRect">
            <a:avLst>
              <a:gd name="adj" fmla="val 50000"/>
            </a:avLst>
          </a:prstGeom>
          <a:solidFill>
            <a:srgbClr val="333399"/>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QUIZ</a:t>
            </a:r>
            <a:endParaRPr lang="en-GB" sz="1100" dirty="0"/>
          </a:p>
        </p:txBody>
      </p:sp>
      <p:sp>
        <p:nvSpPr>
          <p:cNvPr id="12" name="Shape 12"/>
          <p:cNvSpPr txBox="1"/>
          <p:nvPr/>
        </p:nvSpPr>
        <p:spPr>
          <a:xfrm>
            <a:off x="1527048" y="1810512"/>
            <a:ext cx="6611112" cy="310896"/>
          </a:xfrm>
          <a:prstGeom prst="rect">
            <a:avLst/>
          </a:prstGeom>
          <a:noFill/>
          <a:ln>
            <a:noFill/>
          </a:ln>
        </p:spPr>
        <p:txBody>
          <a:bodyPr wrap="square" lIns="18288" tIns="18288" rIns="18288" bIns="18288" anchor="ctr" rtlCol="0">
            <a:noAutofit/>
          </a:bodyPr>
          <a:lstStyle/>
          <a:p>
            <a:pPr algn="l">
              <a:buNone/>
            </a:pPr>
            <a:r>
              <a:rPr lang="en-GB" sz="1200" b="0" i="1" dirty="0">
                <a:solidFill>
                  <a:srgbClr val="595959"/>
                </a:solidFill>
                <a:latin typeface="Arial"/>
                <a:cs typeface="Arial"/>
              </a:rPr>
              <a:t>2 min · write W, S, N or E for each line</a:t>
            </a:r>
            <a:endParaRPr lang="en-GB" sz="1200" dirty="0"/>
          </a:p>
        </p:txBody>
      </p:sp>
      <p:sp>
        <p:nvSpPr>
          <p:cNvPr id="13" name="Shape 13"/>
          <p:cNvSpPr/>
          <p:nvPr/>
        </p:nvSpPr>
        <p:spPr>
          <a:xfrm>
            <a:off x="548640" y="2240280"/>
            <a:ext cx="1810512" cy="329184"/>
          </a:xfrm>
          <a:prstGeom prst="roundRect">
            <a:avLst>
              <a:gd name="adj" fmla="val 50000"/>
            </a:avLst>
          </a:prstGeom>
          <a:solidFill>
            <a:srgbClr val="333399"/>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W = widget choice</a:t>
            </a:r>
            <a:endParaRPr lang="en-GB" sz="1100" dirty="0"/>
          </a:p>
        </p:txBody>
      </p:sp>
      <p:sp>
        <p:nvSpPr>
          <p:cNvPr id="14" name="Shape 14"/>
          <p:cNvSpPr/>
          <p:nvPr/>
        </p:nvSpPr>
        <p:spPr>
          <a:xfrm>
            <a:off x="2468880" y="2240280"/>
            <a:ext cx="1810512" cy="329184"/>
          </a:xfrm>
          <a:prstGeom prst="roundRect">
            <a:avLst>
              <a:gd name="adj" fmla="val 50000"/>
            </a:avLst>
          </a:prstGeom>
          <a:solidFill>
            <a:srgbClr val="00726F"/>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S = screen design</a:t>
            </a:r>
            <a:endParaRPr lang="en-GB" sz="1100" dirty="0"/>
          </a:p>
        </p:txBody>
      </p:sp>
      <p:sp>
        <p:nvSpPr>
          <p:cNvPr id="15" name="Shape 15"/>
          <p:cNvSpPr/>
          <p:nvPr/>
        </p:nvSpPr>
        <p:spPr>
          <a:xfrm>
            <a:off x="4389120" y="2240280"/>
            <a:ext cx="1810512" cy="329184"/>
          </a:xfrm>
          <a:prstGeom prst="roundRect">
            <a:avLst>
              <a:gd name="adj" fmla="val 50000"/>
            </a:avLst>
          </a:prstGeom>
          <a:solidFill>
            <a:srgbClr val="8A5A00"/>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N = navigation design</a:t>
            </a:r>
            <a:endParaRPr lang="en-GB" sz="1100" dirty="0"/>
          </a:p>
        </p:txBody>
      </p:sp>
      <p:sp>
        <p:nvSpPr>
          <p:cNvPr id="16" name="Shape 16"/>
          <p:cNvSpPr/>
          <p:nvPr/>
        </p:nvSpPr>
        <p:spPr>
          <a:xfrm>
            <a:off x="6309360" y="2240280"/>
            <a:ext cx="1810512" cy="329184"/>
          </a:xfrm>
          <a:prstGeom prst="roundRect">
            <a:avLst>
              <a:gd name="adj" fmla="val 50000"/>
            </a:avLst>
          </a:prstGeom>
          <a:solidFill>
            <a:srgbClr val="B03A2E"/>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E = environment</a:t>
            </a:r>
            <a:endParaRPr lang="en-GB" sz="1100" dirty="0"/>
          </a:p>
        </p:txBody>
      </p:sp>
      <p:sp>
        <p:nvSpPr>
          <p:cNvPr id="17" name="Shape 17"/>
          <p:cNvSpPr/>
          <p:nvPr/>
        </p:nvSpPr>
        <p:spPr>
          <a:xfrm>
            <a:off x="548640" y="2779776"/>
            <a:ext cx="301752" cy="301752"/>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a</a:t>
            </a:r>
            <a:endParaRPr lang="en-GB" sz="1100" dirty="0"/>
          </a:p>
        </p:txBody>
      </p:sp>
      <p:sp>
        <p:nvSpPr>
          <p:cNvPr id="18" name="Shape 18"/>
          <p:cNvSpPr/>
          <p:nvPr/>
        </p:nvSpPr>
        <p:spPr>
          <a:xfrm>
            <a:off x="960120" y="2743200"/>
            <a:ext cx="5623560" cy="374904"/>
          </a:xfrm>
          <a:prstGeom prst="rect">
            <a:avLst/>
          </a:prstGeom>
          <a:solidFill>
            <a:srgbClr val="FFFFFF"/>
          </a:solidFill>
          <a:ln w="12700">
            <a:solidFill>
              <a:srgbClr val="9DB8BC"/>
            </a:solidFill>
          </a:ln>
        </p:spPr>
        <p:txBody>
          <a:bodyPr wrap="square" lIns="82296" tIns="82296" rIns="82296" bIns="82296" anchor="ctr" rtlCol="0">
            <a:noAutofit/>
          </a:bodyPr>
          <a:lstStyle/>
          <a:p>
            <a:pPr algn="l">
              <a:buNone/>
            </a:pPr>
            <a:r>
              <a:rPr lang="en-GB" sz="1150" b="0" i="0" dirty="0">
                <a:solidFill>
                  <a:srgbClr val="1A1A1A"/>
                </a:solidFill>
                <a:latin typeface="Arial"/>
                <a:cs typeface="Arial"/>
              </a:rPr>
              <a:t>Semester picker: a drop-down list or radio buttons?</a:t>
            </a:r>
            <a:endParaRPr lang="en-GB" sz="1150" dirty="0"/>
          </a:p>
        </p:txBody>
      </p:sp>
      <p:sp>
        <p:nvSpPr>
          <p:cNvPr id="19" name="Shape 19"/>
          <p:cNvSpPr/>
          <p:nvPr/>
        </p:nvSpPr>
        <p:spPr>
          <a:xfrm>
            <a:off x="6693408" y="2770632"/>
            <a:ext cx="1444752" cy="320040"/>
          </a:xfrm>
          <a:prstGeom prst="roundRect">
            <a:avLst>
              <a:gd name="adj" fmla="val 50000"/>
            </a:avLst>
          </a:prstGeom>
          <a:noFill/>
          <a:ln w="12700">
            <a:solidFill>
              <a:srgbClr val="9DB8BC"/>
            </a:solidFill>
            <a:prstDash val="dash"/>
          </a:ln>
        </p:spPr>
        <p:txBody>
          <a:bodyPr wrap="square" lIns="36576" tIns="36576" rIns="36576" bIns="36576" anchor="ctr" rtlCol="0">
            <a:noAutofit/>
          </a:bodyPr>
          <a:lstStyle/>
          <a:p>
            <a:pPr algn="ctr">
              <a:buNone/>
            </a:pPr>
            <a:r>
              <a:rPr lang="en-GB" sz="1050" b="0" i="0" dirty="0">
                <a:solidFill>
                  <a:srgbClr val="595959"/>
                </a:solidFill>
                <a:latin typeface="Arial"/>
                <a:cs typeface="Arial"/>
              </a:rPr>
              <a:t>W / S / N / E</a:t>
            </a:r>
            <a:endParaRPr lang="en-GB" sz="1050" dirty="0"/>
          </a:p>
        </p:txBody>
      </p:sp>
      <p:sp>
        <p:nvSpPr>
          <p:cNvPr id="20" name="Shape 20"/>
          <p:cNvSpPr/>
          <p:nvPr/>
        </p:nvSpPr>
        <p:spPr>
          <a:xfrm>
            <a:off x="548640" y="3209544"/>
            <a:ext cx="301752" cy="301752"/>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b</a:t>
            </a:r>
            <a:endParaRPr lang="en-GB" sz="1100" dirty="0"/>
          </a:p>
        </p:txBody>
      </p:sp>
      <p:sp>
        <p:nvSpPr>
          <p:cNvPr id="21" name="Shape 21"/>
          <p:cNvSpPr/>
          <p:nvPr/>
        </p:nvSpPr>
        <p:spPr>
          <a:xfrm>
            <a:off x="960120" y="3172968"/>
            <a:ext cx="5623560" cy="374904"/>
          </a:xfrm>
          <a:prstGeom prst="rect">
            <a:avLst/>
          </a:prstGeom>
          <a:solidFill>
            <a:srgbClr val="FFFFFF"/>
          </a:solidFill>
          <a:ln w="12700">
            <a:solidFill>
              <a:srgbClr val="9DB8BC"/>
            </a:solidFill>
          </a:ln>
        </p:spPr>
        <p:txBody>
          <a:bodyPr wrap="square" lIns="82296" tIns="82296" rIns="82296" bIns="82296" anchor="ctr" rtlCol="0">
            <a:noAutofit/>
          </a:bodyPr>
          <a:lstStyle/>
          <a:p>
            <a:pPr algn="l">
              <a:buNone/>
            </a:pPr>
            <a:r>
              <a:rPr lang="en-GB" sz="1150" b="0" i="0" dirty="0">
                <a:solidFill>
                  <a:srgbClr val="1A1A1A"/>
                </a:solidFill>
                <a:latin typeface="Arial"/>
                <a:cs typeface="Arial"/>
              </a:rPr>
              <a:t>Put the Submit button under the file list, not in the top-right corner</a:t>
            </a:r>
            <a:endParaRPr lang="en-GB" sz="1150" dirty="0"/>
          </a:p>
        </p:txBody>
      </p:sp>
      <p:sp>
        <p:nvSpPr>
          <p:cNvPr id="22" name="Shape 22"/>
          <p:cNvSpPr/>
          <p:nvPr/>
        </p:nvSpPr>
        <p:spPr>
          <a:xfrm>
            <a:off x="6693408" y="3200400"/>
            <a:ext cx="1444752" cy="320040"/>
          </a:xfrm>
          <a:prstGeom prst="roundRect">
            <a:avLst>
              <a:gd name="adj" fmla="val 50000"/>
            </a:avLst>
          </a:prstGeom>
          <a:noFill/>
          <a:ln w="12700">
            <a:solidFill>
              <a:srgbClr val="9DB8BC"/>
            </a:solidFill>
            <a:prstDash val="dash"/>
          </a:ln>
        </p:spPr>
        <p:txBody>
          <a:bodyPr wrap="square" lIns="36576" tIns="36576" rIns="36576" bIns="36576" anchor="ctr" rtlCol="0">
            <a:noAutofit/>
          </a:bodyPr>
          <a:lstStyle/>
          <a:p>
            <a:pPr algn="ctr">
              <a:buNone/>
            </a:pPr>
            <a:r>
              <a:rPr lang="en-GB" sz="1050" b="0" i="0" dirty="0">
                <a:solidFill>
                  <a:srgbClr val="595959"/>
                </a:solidFill>
                <a:latin typeface="Arial"/>
                <a:cs typeface="Arial"/>
              </a:rPr>
              <a:t>W / S / N / E</a:t>
            </a:r>
            <a:endParaRPr lang="en-GB" sz="1050" dirty="0"/>
          </a:p>
        </p:txBody>
      </p:sp>
      <p:sp>
        <p:nvSpPr>
          <p:cNvPr id="23" name="Shape 23"/>
          <p:cNvSpPr/>
          <p:nvPr/>
        </p:nvSpPr>
        <p:spPr>
          <a:xfrm>
            <a:off x="548640" y="3639312"/>
            <a:ext cx="301752" cy="301752"/>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c</a:t>
            </a:r>
            <a:endParaRPr lang="en-GB" sz="1100" dirty="0"/>
          </a:p>
        </p:txBody>
      </p:sp>
      <p:sp>
        <p:nvSpPr>
          <p:cNvPr id="24" name="Shape 24"/>
          <p:cNvSpPr/>
          <p:nvPr/>
        </p:nvSpPr>
        <p:spPr>
          <a:xfrm>
            <a:off x="960120" y="3602736"/>
            <a:ext cx="5623560" cy="374904"/>
          </a:xfrm>
          <a:prstGeom prst="rect">
            <a:avLst/>
          </a:prstGeom>
          <a:solidFill>
            <a:srgbClr val="FFFFFF"/>
          </a:solidFill>
          <a:ln w="12700">
            <a:solidFill>
              <a:srgbClr val="9DB8BC"/>
            </a:solidFill>
          </a:ln>
        </p:spPr>
        <p:txBody>
          <a:bodyPr wrap="square" lIns="82296" tIns="82296" rIns="82296" bIns="82296" anchor="ctr" rtlCol="0">
            <a:noAutofit/>
          </a:bodyPr>
          <a:lstStyle/>
          <a:p>
            <a:pPr algn="l">
              <a:buNone/>
            </a:pPr>
            <a:r>
              <a:rPr lang="en-GB" sz="1150" b="0" i="0" dirty="0">
                <a:solidFill>
                  <a:srgbClr val="1A1A1A"/>
                </a:solidFill>
                <a:latin typeface="Arial"/>
                <a:cs typeface="Arial"/>
              </a:rPr>
              <a:t>After uploading, return to the course page or show a receipt page?</a:t>
            </a:r>
            <a:endParaRPr lang="en-GB" sz="1150" dirty="0"/>
          </a:p>
        </p:txBody>
      </p:sp>
      <p:sp>
        <p:nvSpPr>
          <p:cNvPr id="25" name="Shape 25"/>
          <p:cNvSpPr/>
          <p:nvPr/>
        </p:nvSpPr>
        <p:spPr>
          <a:xfrm>
            <a:off x="6693408" y="3630168"/>
            <a:ext cx="1444752" cy="320040"/>
          </a:xfrm>
          <a:prstGeom prst="roundRect">
            <a:avLst>
              <a:gd name="adj" fmla="val 50000"/>
            </a:avLst>
          </a:prstGeom>
          <a:noFill/>
          <a:ln w="12700">
            <a:solidFill>
              <a:srgbClr val="9DB8BC"/>
            </a:solidFill>
            <a:prstDash val="dash"/>
          </a:ln>
        </p:spPr>
        <p:txBody>
          <a:bodyPr wrap="square" lIns="36576" tIns="36576" rIns="36576" bIns="36576" anchor="ctr" rtlCol="0">
            <a:noAutofit/>
          </a:bodyPr>
          <a:lstStyle/>
          <a:p>
            <a:pPr algn="ctr">
              <a:buNone/>
            </a:pPr>
            <a:r>
              <a:rPr lang="en-GB" sz="1050" b="0" i="0" dirty="0">
                <a:solidFill>
                  <a:srgbClr val="595959"/>
                </a:solidFill>
                <a:latin typeface="Arial"/>
                <a:cs typeface="Arial"/>
              </a:rPr>
              <a:t>W / S / N / E</a:t>
            </a:r>
            <a:endParaRPr lang="en-GB" sz="1050" dirty="0"/>
          </a:p>
        </p:txBody>
      </p:sp>
      <p:sp>
        <p:nvSpPr>
          <p:cNvPr id="26" name="Shape 26"/>
          <p:cNvSpPr/>
          <p:nvPr/>
        </p:nvSpPr>
        <p:spPr>
          <a:xfrm>
            <a:off x="548640" y="4069080"/>
            <a:ext cx="301752" cy="301752"/>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d</a:t>
            </a:r>
            <a:endParaRPr lang="en-GB" sz="1100" dirty="0"/>
          </a:p>
        </p:txBody>
      </p:sp>
      <p:sp>
        <p:nvSpPr>
          <p:cNvPr id="27" name="Shape 27"/>
          <p:cNvSpPr/>
          <p:nvPr/>
        </p:nvSpPr>
        <p:spPr>
          <a:xfrm>
            <a:off x="960120" y="4032504"/>
            <a:ext cx="5623560" cy="374904"/>
          </a:xfrm>
          <a:prstGeom prst="rect">
            <a:avLst/>
          </a:prstGeom>
          <a:solidFill>
            <a:srgbClr val="FFFFFF"/>
          </a:solidFill>
          <a:ln w="12700">
            <a:solidFill>
              <a:srgbClr val="9DB8BC"/>
            </a:solidFill>
          </a:ln>
        </p:spPr>
        <p:txBody>
          <a:bodyPr wrap="square" lIns="82296" tIns="82296" rIns="82296" bIns="82296" anchor="ctr" rtlCol="0">
            <a:noAutofit/>
          </a:bodyPr>
          <a:lstStyle/>
          <a:p>
            <a:pPr algn="l">
              <a:buNone/>
            </a:pPr>
            <a:r>
              <a:rPr lang="en-GB" sz="1150" b="0" i="0" dirty="0">
                <a:solidFill>
                  <a:srgbClr val="1A1A1A"/>
                </a:solidFill>
                <a:latin typeface="Arial"/>
                <a:cs typeface="Arial"/>
              </a:rPr>
              <a:t>“Download” should open the phone’s own PDF viewer, not an in-app one</a:t>
            </a:r>
            <a:endParaRPr lang="en-GB" sz="1150" dirty="0"/>
          </a:p>
        </p:txBody>
      </p:sp>
      <p:sp>
        <p:nvSpPr>
          <p:cNvPr id="28" name="Shape 28"/>
          <p:cNvSpPr/>
          <p:nvPr/>
        </p:nvSpPr>
        <p:spPr>
          <a:xfrm>
            <a:off x="6693408" y="4059936"/>
            <a:ext cx="1444752" cy="320040"/>
          </a:xfrm>
          <a:prstGeom prst="roundRect">
            <a:avLst>
              <a:gd name="adj" fmla="val 50000"/>
            </a:avLst>
          </a:prstGeom>
          <a:noFill/>
          <a:ln w="12700">
            <a:solidFill>
              <a:srgbClr val="9DB8BC"/>
            </a:solidFill>
            <a:prstDash val="dash"/>
          </a:ln>
        </p:spPr>
        <p:txBody>
          <a:bodyPr wrap="square" lIns="36576" tIns="36576" rIns="36576" bIns="36576" anchor="ctr" rtlCol="0">
            <a:noAutofit/>
          </a:bodyPr>
          <a:lstStyle/>
          <a:p>
            <a:pPr algn="ctr">
              <a:buNone/>
            </a:pPr>
            <a:r>
              <a:rPr lang="en-GB" sz="1050" b="0" i="0" dirty="0">
                <a:solidFill>
                  <a:srgbClr val="595959"/>
                </a:solidFill>
                <a:latin typeface="Arial"/>
                <a:cs typeface="Arial"/>
              </a:rPr>
              <a:t>W / S / N / E</a:t>
            </a:r>
            <a:endParaRPr lang="en-GB" sz="1050" dirty="0"/>
          </a:p>
        </p:txBody>
      </p:sp>
      <p:sp>
        <p:nvSpPr>
          <p:cNvPr id="29" name="Shape 29"/>
          <p:cNvSpPr/>
          <p:nvPr/>
        </p:nvSpPr>
        <p:spPr>
          <a:xfrm>
            <a:off x="548640" y="4498848"/>
            <a:ext cx="301752" cy="301752"/>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e</a:t>
            </a:r>
            <a:endParaRPr lang="en-GB" sz="1100" dirty="0"/>
          </a:p>
        </p:txBody>
      </p:sp>
      <p:sp>
        <p:nvSpPr>
          <p:cNvPr id="30" name="Shape 30"/>
          <p:cNvSpPr/>
          <p:nvPr/>
        </p:nvSpPr>
        <p:spPr>
          <a:xfrm>
            <a:off x="960120" y="4462272"/>
            <a:ext cx="5623560" cy="374904"/>
          </a:xfrm>
          <a:prstGeom prst="rect">
            <a:avLst/>
          </a:prstGeom>
          <a:solidFill>
            <a:srgbClr val="FFFFFF"/>
          </a:solidFill>
          <a:ln w="12700">
            <a:solidFill>
              <a:srgbClr val="9DB8BC"/>
            </a:solidFill>
          </a:ln>
        </p:spPr>
        <p:txBody>
          <a:bodyPr wrap="square" lIns="82296" tIns="82296" rIns="82296" bIns="82296" anchor="ctr" rtlCol="0">
            <a:noAutofit/>
          </a:bodyPr>
          <a:lstStyle/>
          <a:p>
            <a:pPr algn="l">
              <a:buNone/>
            </a:pPr>
            <a:r>
              <a:rPr lang="en-GB" sz="1150" b="0" i="0" dirty="0">
                <a:solidFill>
                  <a:srgbClr val="1A1A1A"/>
                </a:solidFill>
                <a:latin typeface="Arial"/>
                <a:cs typeface="Arial"/>
              </a:rPr>
              <a:t>Group “Due this week” in one box at the top of the dashboard</a:t>
            </a:r>
            <a:endParaRPr lang="en-GB" sz="1150" dirty="0"/>
          </a:p>
        </p:txBody>
      </p:sp>
      <p:sp>
        <p:nvSpPr>
          <p:cNvPr id="31" name="Shape 31"/>
          <p:cNvSpPr/>
          <p:nvPr/>
        </p:nvSpPr>
        <p:spPr>
          <a:xfrm>
            <a:off x="6693408" y="4489704"/>
            <a:ext cx="1444752" cy="320040"/>
          </a:xfrm>
          <a:prstGeom prst="roundRect">
            <a:avLst>
              <a:gd name="adj" fmla="val 50000"/>
            </a:avLst>
          </a:prstGeom>
          <a:noFill/>
          <a:ln w="12700">
            <a:solidFill>
              <a:srgbClr val="9DB8BC"/>
            </a:solidFill>
            <a:prstDash val="dash"/>
          </a:ln>
        </p:spPr>
        <p:txBody>
          <a:bodyPr wrap="square" lIns="36576" tIns="36576" rIns="36576" bIns="36576" anchor="ctr" rtlCol="0">
            <a:noAutofit/>
          </a:bodyPr>
          <a:lstStyle/>
          <a:p>
            <a:pPr algn="ctr">
              <a:buNone/>
            </a:pPr>
            <a:r>
              <a:rPr lang="en-GB" sz="1050" b="0" i="0" dirty="0">
                <a:solidFill>
                  <a:srgbClr val="595959"/>
                </a:solidFill>
                <a:latin typeface="Arial"/>
                <a:cs typeface="Arial"/>
              </a:rPr>
              <a:t>W / S / N / E</a:t>
            </a:r>
            <a:endParaRPr lang="en-GB" sz="1050" dirty="0"/>
          </a:p>
        </p:txBody>
      </p:sp>
      <p:sp>
        <p:nvSpPr>
          <p:cNvPr id="32" name="Shape 32"/>
          <p:cNvSpPr/>
          <p:nvPr/>
        </p:nvSpPr>
        <p:spPr>
          <a:xfrm>
            <a:off x="548640" y="4928616"/>
            <a:ext cx="301752" cy="301752"/>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f</a:t>
            </a:r>
            <a:endParaRPr lang="en-GB" sz="1100" dirty="0"/>
          </a:p>
        </p:txBody>
      </p:sp>
      <p:sp>
        <p:nvSpPr>
          <p:cNvPr id="33" name="Shape 33"/>
          <p:cNvSpPr/>
          <p:nvPr/>
        </p:nvSpPr>
        <p:spPr>
          <a:xfrm>
            <a:off x="960120" y="4892040"/>
            <a:ext cx="5623560" cy="374904"/>
          </a:xfrm>
          <a:prstGeom prst="rect">
            <a:avLst/>
          </a:prstGeom>
          <a:solidFill>
            <a:srgbClr val="FFFFFF"/>
          </a:solidFill>
          <a:ln w="12700">
            <a:solidFill>
              <a:srgbClr val="9DB8BC"/>
            </a:solidFill>
          </a:ln>
        </p:spPr>
        <p:txBody>
          <a:bodyPr wrap="square" lIns="82296" tIns="82296" rIns="82296" bIns="82296" anchor="ctr" rtlCol="0">
            <a:noAutofit/>
          </a:bodyPr>
          <a:lstStyle/>
          <a:p>
            <a:pPr algn="l">
              <a:buNone/>
            </a:pPr>
            <a:r>
              <a:rPr lang="en-GB" sz="1150" b="0" i="0" dirty="0">
                <a:solidFill>
                  <a:srgbClr val="1A1A1A"/>
                </a:solidFill>
                <a:latin typeface="Arial"/>
                <a:cs typeface="Arial"/>
              </a:rPr>
              <a:t>Course › Week 4 › Assignment 2: add breadcrumbs to jump back</a:t>
            </a:r>
            <a:endParaRPr lang="en-GB" sz="1150" dirty="0"/>
          </a:p>
        </p:txBody>
      </p:sp>
      <p:sp>
        <p:nvSpPr>
          <p:cNvPr id="34" name="Shape 34"/>
          <p:cNvSpPr/>
          <p:nvPr/>
        </p:nvSpPr>
        <p:spPr>
          <a:xfrm>
            <a:off x="6693408" y="4919472"/>
            <a:ext cx="1444752" cy="320040"/>
          </a:xfrm>
          <a:prstGeom prst="roundRect">
            <a:avLst>
              <a:gd name="adj" fmla="val 50000"/>
            </a:avLst>
          </a:prstGeom>
          <a:noFill/>
          <a:ln w="12700">
            <a:solidFill>
              <a:srgbClr val="9DB8BC"/>
            </a:solidFill>
            <a:prstDash val="dash"/>
          </a:ln>
        </p:spPr>
        <p:txBody>
          <a:bodyPr wrap="square" lIns="36576" tIns="36576" rIns="36576" bIns="36576" anchor="ctr" rtlCol="0">
            <a:noAutofit/>
          </a:bodyPr>
          <a:lstStyle/>
          <a:p>
            <a:pPr algn="ctr">
              <a:buNone/>
            </a:pPr>
            <a:r>
              <a:rPr lang="en-GB" sz="1050" b="0" i="0" dirty="0">
                <a:solidFill>
                  <a:srgbClr val="595959"/>
                </a:solidFill>
                <a:latin typeface="Arial"/>
                <a:cs typeface="Arial"/>
              </a:rPr>
              <a:t>W / S / N / E</a:t>
            </a:r>
            <a:endParaRPr lang="en-GB" sz="1050" dirty="0"/>
          </a:p>
        </p:txBody>
      </p:sp>
      <p:sp>
        <p:nvSpPr>
          <p:cNvPr id="35" name="Shape 35"/>
          <p:cNvSpPr/>
          <p:nvPr/>
        </p:nvSpPr>
        <p:spPr>
          <a:xfrm>
            <a:off x="548640" y="5358384"/>
            <a:ext cx="301752" cy="301752"/>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g</a:t>
            </a:r>
            <a:endParaRPr lang="en-GB" sz="1100" dirty="0"/>
          </a:p>
        </p:txBody>
      </p:sp>
      <p:sp>
        <p:nvSpPr>
          <p:cNvPr id="36" name="Shape 36"/>
          <p:cNvSpPr/>
          <p:nvPr/>
        </p:nvSpPr>
        <p:spPr>
          <a:xfrm>
            <a:off x="960120" y="5321808"/>
            <a:ext cx="5623560" cy="374904"/>
          </a:xfrm>
          <a:prstGeom prst="rect">
            <a:avLst/>
          </a:prstGeom>
          <a:solidFill>
            <a:srgbClr val="FFFFFF"/>
          </a:solidFill>
          <a:ln w="12700">
            <a:solidFill>
              <a:srgbClr val="9DB8BC"/>
            </a:solidFill>
          </a:ln>
        </p:spPr>
        <p:txBody>
          <a:bodyPr wrap="square" lIns="82296" tIns="82296" rIns="82296" bIns="82296" anchor="ctr" rtlCol="0">
            <a:noAutofit/>
          </a:bodyPr>
          <a:lstStyle/>
          <a:p>
            <a:pPr algn="l">
              <a:buNone/>
            </a:pPr>
            <a:r>
              <a:rPr lang="en-GB" sz="1150" b="0" i="0" dirty="0">
                <a:solidFill>
                  <a:srgbClr val="1A1A1A"/>
                </a:solidFill>
                <a:latin typeface="Arial"/>
                <a:cs typeface="Arial"/>
              </a:rPr>
              <a:t>Pasting an answer from Word must keep its formatting</a:t>
            </a:r>
            <a:endParaRPr lang="en-GB" sz="1150" dirty="0"/>
          </a:p>
        </p:txBody>
      </p:sp>
      <p:sp>
        <p:nvSpPr>
          <p:cNvPr id="37" name="Shape 37"/>
          <p:cNvSpPr/>
          <p:nvPr/>
        </p:nvSpPr>
        <p:spPr>
          <a:xfrm>
            <a:off x="6693408" y="5349240"/>
            <a:ext cx="1444752" cy="320040"/>
          </a:xfrm>
          <a:prstGeom prst="roundRect">
            <a:avLst>
              <a:gd name="adj" fmla="val 50000"/>
            </a:avLst>
          </a:prstGeom>
          <a:noFill/>
          <a:ln w="12700">
            <a:solidFill>
              <a:srgbClr val="9DB8BC"/>
            </a:solidFill>
            <a:prstDash val="dash"/>
          </a:ln>
        </p:spPr>
        <p:txBody>
          <a:bodyPr wrap="square" lIns="36576" tIns="36576" rIns="36576" bIns="36576" anchor="ctr" rtlCol="0">
            <a:noAutofit/>
          </a:bodyPr>
          <a:lstStyle/>
          <a:p>
            <a:pPr algn="ctr">
              <a:buNone/>
            </a:pPr>
            <a:r>
              <a:rPr lang="en-GB" sz="1050" b="0" i="0" dirty="0">
                <a:solidFill>
                  <a:srgbClr val="595959"/>
                </a:solidFill>
                <a:latin typeface="Arial"/>
                <a:cs typeface="Arial"/>
              </a:rPr>
              <a:t>W / S / N / E</a:t>
            </a:r>
            <a:endParaRPr lang="en-GB" sz="1050" dirty="0"/>
          </a:p>
        </p:txBody>
      </p:sp>
      <p:sp>
        <p:nvSpPr>
          <p:cNvPr id="38" name="Shape 38"/>
          <p:cNvSpPr/>
          <p:nvPr/>
        </p:nvSpPr>
        <p:spPr>
          <a:xfrm>
            <a:off x="548640" y="5788152"/>
            <a:ext cx="301752" cy="301752"/>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h</a:t>
            </a:r>
            <a:endParaRPr lang="en-GB" sz="1100" dirty="0"/>
          </a:p>
        </p:txBody>
      </p:sp>
      <p:sp>
        <p:nvSpPr>
          <p:cNvPr id="39" name="Shape 39"/>
          <p:cNvSpPr/>
          <p:nvPr/>
        </p:nvSpPr>
        <p:spPr>
          <a:xfrm>
            <a:off x="960120" y="5751576"/>
            <a:ext cx="5623560" cy="374904"/>
          </a:xfrm>
          <a:prstGeom prst="rect">
            <a:avLst/>
          </a:prstGeom>
          <a:solidFill>
            <a:srgbClr val="FFFFFF"/>
          </a:solidFill>
          <a:ln w="12700">
            <a:solidFill>
              <a:srgbClr val="9DB8BC"/>
            </a:solidFill>
          </a:ln>
        </p:spPr>
        <p:txBody>
          <a:bodyPr wrap="square" lIns="82296" tIns="82296" rIns="82296" bIns="82296" anchor="ctr" rtlCol="0">
            <a:noAutofit/>
          </a:bodyPr>
          <a:lstStyle/>
          <a:p>
            <a:pPr algn="l">
              <a:buNone/>
            </a:pPr>
            <a:r>
              <a:rPr lang="en-GB" sz="1150" b="0" i="0" dirty="0">
                <a:solidFill>
                  <a:srgbClr val="1A1A1A"/>
                </a:solidFill>
                <a:latin typeface="Arial"/>
                <a:cs typeface="Arial"/>
              </a:rPr>
              <a:t>A toggle switch for “Email me when marks are posted”</a:t>
            </a:r>
            <a:endParaRPr lang="en-GB" sz="1150" dirty="0"/>
          </a:p>
        </p:txBody>
      </p:sp>
      <p:sp>
        <p:nvSpPr>
          <p:cNvPr id="40" name="Shape 40"/>
          <p:cNvSpPr/>
          <p:nvPr/>
        </p:nvSpPr>
        <p:spPr>
          <a:xfrm>
            <a:off x="6693408" y="5779008"/>
            <a:ext cx="1444752" cy="320040"/>
          </a:xfrm>
          <a:prstGeom prst="roundRect">
            <a:avLst>
              <a:gd name="adj" fmla="val 50000"/>
            </a:avLst>
          </a:prstGeom>
          <a:noFill/>
          <a:ln w="12700">
            <a:solidFill>
              <a:srgbClr val="9DB8BC"/>
            </a:solidFill>
            <a:prstDash val="dash"/>
          </a:ln>
        </p:spPr>
        <p:txBody>
          <a:bodyPr wrap="square" lIns="36576" tIns="36576" rIns="36576" bIns="36576" anchor="ctr" rtlCol="0">
            <a:noAutofit/>
          </a:bodyPr>
          <a:lstStyle/>
          <a:p>
            <a:pPr algn="ctr">
              <a:buNone/>
            </a:pPr>
            <a:r>
              <a:rPr lang="en-GB" sz="1050" b="0" i="0" dirty="0">
                <a:solidFill>
                  <a:srgbClr val="595959"/>
                </a:solidFill>
                <a:latin typeface="Arial"/>
                <a:cs typeface="Arial"/>
              </a:rPr>
              <a:t>W / S / N / E</a:t>
            </a:r>
            <a:endParaRPr lang="en-GB"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Which level is this decision?</a:t>
            </a:r>
          </a:p>
        </p:txBody>
      </p:sp>
      <p:sp>
        <p:nvSpPr>
          <p:cNvPr id="11" name="Shape 11"/>
          <p:cNvSpPr/>
          <p:nvPr/>
        </p:nvSpPr>
        <p:spPr>
          <a:xfrm>
            <a:off x="548640" y="1810512"/>
            <a:ext cx="1056132" cy="310896"/>
          </a:xfrm>
          <a:prstGeom prst="roundRect">
            <a:avLst>
              <a:gd name="adj" fmla="val 50000"/>
            </a:avLst>
          </a:prstGeom>
          <a:solidFill>
            <a:srgbClr val="404040"/>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ANSWERS</a:t>
            </a:r>
            <a:endParaRPr lang="en-GB" sz="1100" dirty="0"/>
          </a:p>
        </p:txBody>
      </p:sp>
      <p:sp>
        <p:nvSpPr>
          <p:cNvPr id="12" name="Shape 12"/>
          <p:cNvSpPr txBox="1"/>
          <p:nvPr/>
        </p:nvSpPr>
        <p:spPr>
          <a:xfrm>
            <a:off x="1714500" y="1810512"/>
            <a:ext cx="6423660" cy="310896"/>
          </a:xfrm>
          <a:prstGeom prst="rect">
            <a:avLst/>
          </a:prstGeom>
          <a:noFill/>
          <a:ln>
            <a:noFill/>
          </a:ln>
        </p:spPr>
        <p:txBody>
          <a:bodyPr wrap="square" lIns="18288" tIns="18288" rIns="18288" bIns="18288" anchor="ctr" rtlCol="0">
            <a:noAutofit/>
          </a:bodyPr>
          <a:lstStyle/>
          <a:p>
            <a:pPr algn="l">
              <a:buNone/>
            </a:pPr>
            <a:r>
              <a:rPr lang="en-GB" sz="1200" b="0" i="1" dirty="0">
                <a:solidFill>
                  <a:srgbClr val="595959"/>
                </a:solidFill>
                <a:latin typeface="Arial"/>
                <a:cs typeface="Arial"/>
              </a:rPr>
              <a:t>four levels of design, one LMS</a:t>
            </a:r>
            <a:endParaRPr lang="en-GB" sz="1200" dirty="0"/>
          </a:p>
        </p:txBody>
      </p:sp>
      <p:sp>
        <p:nvSpPr>
          <p:cNvPr id="13" name="Shape 13"/>
          <p:cNvSpPr/>
          <p:nvPr/>
        </p:nvSpPr>
        <p:spPr>
          <a:xfrm>
            <a:off x="548640" y="2240280"/>
            <a:ext cx="1810512" cy="329184"/>
          </a:xfrm>
          <a:prstGeom prst="roundRect">
            <a:avLst>
              <a:gd name="adj" fmla="val 50000"/>
            </a:avLst>
          </a:prstGeom>
          <a:solidFill>
            <a:srgbClr val="333399"/>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W = widget choice</a:t>
            </a:r>
            <a:endParaRPr lang="en-GB" sz="1100" dirty="0"/>
          </a:p>
        </p:txBody>
      </p:sp>
      <p:sp>
        <p:nvSpPr>
          <p:cNvPr id="14" name="Shape 14"/>
          <p:cNvSpPr/>
          <p:nvPr/>
        </p:nvSpPr>
        <p:spPr>
          <a:xfrm>
            <a:off x="2468880" y="2240280"/>
            <a:ext cx="1810512" cy="329184"/>
          </a:xfrm>
          <a:prstGeom prst="roundRect">
            <a:avLst>
              <a:gd name="adj" fmla="val 50000"/>
            </a:avLst>
          </a:prstGeom>
          <a:solidFill>
            <a:srgbClr val="00726F"/>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S = screen design</a:t>
            </a:r>
            <a:endParaRPr lang="en-GB" sz="1100" dirty="0"/>
          </a:p>
        </p:txBody>
      </p:sp>
      <p:sp>
        <p:nvSpPr>
          <p:cNvPr id="15" name="Shape 15"/>
          <p:cNvSpPr/>
          <p:nvPr/>
        </p:nvSpPr>
        <p:spPr>
          <a:xfrm>
            <a:off x="4389120" y="2240280"/>
            <a:ext cx="1810512" cy="329184"/>
          </a:xfrm>
          <a:prstGeom prst="roundRect">
            <a:avLst>
              <a:gd name="adj" fmla="val 50000"/>
            </a:avLst>
          </a:prstGeom>
          <a:solidFill>
            <a:srgbClr val="8A5A00"/>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N = navigation design</a:t>
            </a:r>
            <a:endParaRPr lang="en-GB" sz="1100" dirty="0"/>
          </a:p>
        </p:txBody>
      </p:sp>
      <p:sp>
        <p:nvSpPr>
          <p:cNvPr id="16" name="Shape 16"/>
          <p:cNvSpPr/>
          <p:nvPr/>
        </p:nvSpPr>
        <p:spPr>
          <a:xfrm>
            <a:off x="6309360" y="2240280"/>
            <a:ext cx="1810512" cy="329184"/>
          </a:xfrm>
          <a:prstGeom prst="roundRect">
            <a:avLst>
              <a:gd name="adj" fmla="val 50000"/>
            </a:avLst>
          </a:prstGeom>
          <a:solidFill>
            <a:srgbClr val="B03A2E"/>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E = environment</a:t>
            </a:r>
            <a:endParaRPr lang="en-GB" sz="1100" dirty="0"/>
          </a:p>
        </p:txBody>
      </p:sp>
      <p:sp>
        <p:nvSpPr>
          <p:cNvPr id="17" name="Shape 17"/>
          <p:cNvSpPr/>
          <p:nvPr/>
        </p:nvSpPr>
        <p:spPr>
          <a:xfrm>
            <a:off x="548640" y="2779776"/>
            <a:ext cx="301752" cy="301752"/>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a</a:t>
            </a:r>
            <a:endParaRPr lang="en-GB" sz="1100" dirty="0"/>
          </a:p>
        </p:txBody>
      </p:sp>
      <p:sp>
        <p:nvSpPr>
          <p:cNvPr id="18" name="Shape 18"/>
          <p:cNvSpPr/>
          <p:nvPr/>
        </p:nvSpPr>
        <p:spPr>
          <a:xfrm>
            <a:off x="960120" y="2743200"/>
            <a:ext cx="5623560" cy="374904"/>
          </a:xfrm>
          <a:prstGeom prst="rect">
            <a:avLst/>
          </a:prstGeom>
          <a:solidFill>
            <a:srgbClr val="FFFFFF"/>
          </a:solidFill>
          <a:ln w="12700">
            <a:solidFill>
              <a:srgbClr val="9DB8BC"/>
            </a:solidFill>
          </a:ln>
        </p:spPr>
        <p:txBody>
          <a:bodyPr wrap="square" lIns="82296" tIns="82296" rIns="82296" bIns="82296" anchor="ctr" rtlCol="0">
            <a:noAutofit/>
          </a:bodyPr>
          <a:lstStyle/>
          <a:p>
            <a:pPr algn="l">
              <a:buNone/>
            </a:pPr>
            <a:r>
              <a:rPr lang="en-GB" sz="1150" b="0" i="0" dirty="0">
                <a:solidFill>
                  <a:srgbClr val="1A1A1A"/>
                </a:solidFill>
                <a:latin typeface="Arial"/>
                <a:cs typeface="Arial"/>
              </a:rPr>
              <a:t>Semester picker: a drop-down list or radio buttons?</a:t>
            </a:r>
            <a:endParaRPr lang="en-GB" sz="1150" dirty="0"/>
          </a:p>
        </p:txBody>
      </p:sp>
      <p:sp>
        <p:nvSpPr>
          <p:cNvPr id="19" name="Shape 19"/>
          <p:cNvSpPr/>
          <p:nvPr/>
        </p:nvSpPr>
        <p:spPr>
          <a:xfrm>
            <a:off x="6693408" y="2770632"/>
            <a:ext cx="1444752" cy="320040"/>
          </a:xfrm>
          <a:prstGeom prst="roundRect">
            <a:avLst>
              <a:gd name="adj" fmla="val 50000"/>
            </a:avLst>
          </a:prstGeom>
          <a:solidFill>
            <a:srgbClr val="333399"/>
          </a:solidFill>
          <a:ln>
            <a:noFill/>
          </a:ln>
        </p:spPr>
        <p:txBody>
          <a:bodyPr wrap="square" lIns="27432" tIns="27432" rIns="27432" bIns="27432" anchor="ctr" rtlCol="0">
            <a:noAutofit/>
          </a:bodyPr>
          <a:lstStyle/>
          <a:p>
            <a:pPr algn="ctr">
              <a:buNone/>
            </a:pPr>
            <a:r>
              <a:rPr lang="en-GB" sz="1050" b="1" i="0" dirty="0">
                <a:solidFill>
                  <a:srgbClr val="FFFFFF"/>
                </a:solidFill>
                <a:latin typeface="Arial"/>
                <a:cs typeface="Arial"/>
              </a:rPr>
              <a:t>W  widget</a:t>
            </a:r>
            <a:endParaRPr lang="en-GB" sz="1050" dirty="0"/>
          </a:p>
        </p:txBody>
      </p:sp>
      <p:sp>
        <p:nvSpPr>
          <p:cNvPr id="20" name="Shape 20"/>
          <p:cNvSpPr/>
          <p:nvPr/>
        </p:nvSpPr>
        <p:spPr>
          <a:xfrm>
            <a:off x="548640" y="3209544"/>
            <a:ext cx="301752" cy="301752"/>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b</a:t>
            </a:r>
            <a:endParaRPr lang="en-GB" sz="1100" dirty="0"/>
          </a:p>
        </p:txBody>
      </p:sp>
      <p:sp>
        <p:nvSpPr>
          <p:cNvPr id="21" name="Shape 21"/>
          <p:cNvSpPr/>
          <p:nvPr/>
        </p:nvSpPr>
        <p:spPr>
          <a:xfrm>
            <a:off x="960120" y="3172968"/>
            <a:ext cx="5623560" cy="374904"/>
          </a:xfrm>
          <a:prstGeom prst="rect">
            <a:avLst/>
          </a:prstGeom>
          <a:solidFill>
            <a:srgbClr val="FFFFFF"/>
          </a:solidFill>
          <a:ln w="12700">
            <a:solidFill>
              <a:srgbClr val="9DB8BC"/>
            </a:solidFill>
          </a:ln>
        </p:spPr>
        <p:txBody>
          <a:bodyPr wrap="square" lIns="82296" tIns="82296" rIns="82296" bIns="82296" anchor="ctr" rtlCol="0">
            <a:noAutofit/>
          </a:bodyPr>
          <a:lstStyle/>
          <a:p>
            <a:pPr algn="l">
              <a:buNone/>
            </a:pPr>
            <a:r>
              <a:rPr lang="en-GB" sz="1150" b="0" i="0" dirty="0">
                <a:solidFill>
                  <a:srgbClr val="1A1A1A"/>
                </a:solidFill>
                <a:latin typeface="Arial"/>
                <a:cs typeface="Arial"/>
              </a:rPr>
              <a:t>Put the Submit button under the file list, not in the top-right corner</a:t>
            </a:r>
            <a:endParaRPr lang="en-GB" sz="1150" dirty="0"/>
          </a:p>
        </p:txBody>
      </p:sp>
      <p:sp>
        <p:nvSpPr>
          <p:cNvPr id="22" name="Shape 22"/>
          <p:cNvSpPr/>
          <p:nvPr/>
        </p:nvSpPr>
        <p:spPr>
          <a:xfrm>
            <a:off x="6693408" y="3200400"/>
            <a:ext cx="1444752" cy="320040"/>
          </a:xfrm>
          <a:prstGeom prst="roundRect">
            <a:avLst>
              <a:gd name="adj" fmla="val 50000"/>
            </a:avLst>
          </a:prstGeom>
          <a:solidFill>
            <a:srgbClr val="00726F"/>
          </a:solidFill>
          <a:ln>
            <a:noFill/>
          </a:ln>
        </p:spPr>
        <p:txBody>
          <a:bodyPr wrap="square" lIns="27432" tIns="27432" rIns="27432" bIns="27432" anchor="ctr" rtlCol="0">
            <a:noAutofit/>
          </a:bodyPr>
          <a:lstStyle/>
          <a:p>
            <a:pPr algn="ctr">
              <a:buNone/>
            </a:pPr>
            <a:r>
              <a:rPr lang="en-GB" sz="1050" b="1" i="0" dirty="0">
                <a:solidFill>
                  <a:srgbClr val="FFFFFF"/>
                </a:solidFill>
                <a:latin typeface="Arial"/>
                <a:cs typeface="Arial"/>
              </a:rPr>
              <a:t>S  screen</a:t>
            </a:r>
            <a:endParaRPr lang="en-GB" sz="1050" dirty="0"/>
          </a:p>
        </p:txBody>
      </p:sp>
      <p:sp>
        <p:nvSpPr>
          <p:cNvPr id="23" name="Shape 23"/>
          <p:cNvSpPr/>
          <p:nvPr/>
        </p:nvSpPr>
        <p:spPr>
          <a:xfrm>
            <a:off x="548640" y="3639312"/>
            <a:ext cx="301752" cy="301752"/>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c</a:t>
            </a:r>
            <a:endParaRPr lang="en-GB" sz="1100" dirty="0"/>
          </a:p>
        </p:txBody>
      </p:sp>
      <p:sp>
        <p:nvSpPr>
          <p:cNvPr id="24" name="Shape 24"/>
          <p:cNvSpPr/>
          <p:nvPr/>
        </p:nvSpPr>
        <p:spPr>
          <a:xfrm>
            <a:off x="960120" y="3602736"/>
            <a:ext cx="5623560" cy="374904"/>
          </a:xfrm>
          <a:prstGeom prst="rect">
            <a:avLst/>
          </a:prstGeom>
          <a:solidFill>
            <a:srgbClr val="FFFFFF"/>
          </a:solidFill>
          <a:ln w="12700">
            <a:solidFill>
              <a:srgbClr val="9DB8BC"/>
            </a:solidFill>
          </a:ln>
        </p:spPr>
        <p:txBody>
          <a:bodyPr wrap="square" lIns="82296" tIns="82296" rIns="82296" bIns="82296" anchor="ctr" rtlCol="0">
            <a:noAutofit/>
          </a:bodyPr>
          <a:lstStyle/>
          <a:p>
            <a:pPr algn="l">
              <a:buNone/>
            </a:pPr>
            <a:r>
              <a:rPr lang="en-GB" sz="1150" b="0" i="0" dirty="0">
                <a:solidFill>
                  <a:srgbClr val="1A1A1A"/>
                </a:solidFill>
                <a:latin typeface="Arial"/>
                <a:cs typeface="Arial"/>
              </a:rPr>
              <a:t>After uploading, return to the course page or show a receipt page?</a:t>
            </a:r>
            <a:endParaRPr lang="en-GB" sz="1150" dirty="0"/>
          </a:p>
        </p:txBody>
      </p:sp>
      <p:sp>
        <p:nvSpPr>
          <p:cNvPr id="25" name="Shape 25"/>
          <p:cNvSpPr/>
          <p:nvPr/>
        </p:nvSpPr>
        <p:spPr>
          <a:xfrm>
            <a:off x="6693408" y="3630168"/>
            <a:ext cx="1444752" cy="320040"/>
          </a:xfrm>
          <a:prstGeom prst="roundRect">
            <a:avLst>
              <a:gd name="adj" fmla="val 50000"/>
            </a:avLst>
          </a:prstGeom>
          <a:solidFill>
            <a:srgbClr val="8A5A00"/>
          </a:solidFill>
          <a:ln>
            <a:noFill/>
          </a:ln>
        </p:spPr>
        <p:txBody>
          <a:bodyPr wrap="square" lIns="27432" tIns="27432" rIns="27432" bIns="27432" anchor="ctr" rtlCol="0">
            <a:noAutofit/>
          </a:bodyPr>
          <a:lstStyle/>
          <a:p>
            <a:pPr algn="ctr">
              <a:buNone/>
            </a:pPr>
            <a:r>
              <a:rPr lang="en-GB" sz="1050" b="1" i="0" dirty="0">
                <a:solidFill>
                  <a:srgbClr val="FFFFFF"/>
                </a:solidFill>
                <a:latin typeface="Arial"/>
                <a:cs typeface="Arial"/>
              </a:rPr>
              <a:t>N  navigation</a:t>
            </a:r>
            <a:endParaRPr lang="en-GB" sz="1050" dirty="0"/>
          </a:p>
        </p:txBody>
      </p:sp>
      <p:sp>
        <p:nvSpPr>
          <p:cNvPr id="26" name="Shape 26"/>
          <p:cNvSpPr/>
          <p:nvPr/>
        </p:nvSpPr>
        <p:spPr>
          <a:xfrm>
            <a:off x="548640" y="4069080"/>
            <a:ext cx="301752" cy="301752"/>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d</a:t>
            </a:r>
            <a:endParaRPr lang="en-GB" sz="1100" dirty="0"/>
          </a:p>
        </p:txBody>
      </p:sp>
      <p:sp>
        <p:nvSpPr>
          <p:cNvPr id="27" name="Shape 27"/>
          <p:cNvSpPr/>
          <p:nvPr/>
        </p:nvSpPr>
        <p:spPr>
          <a:xfrm>
            <a:off x="960120" y="4032504"/>
            <a:ext cx="5623560" cy="374904"/>
          </a:xfrm>
          <a:prstGeom prst="rect">
            <a:avLst/>
          </a:prstGeom>
          <a:solidFill>
            <a:srgbClr val="FFFFFF"/>
          </a:solidFill>
          <a:ln w="12700">
            <a:solidFill>
              <a:srgbClr val="9DB8BC"/>
            </a:solidFill>
          </a:ln>
        </p:spPr>
        <p:txBody>
          <a:bodyPr wrap="square" lIns="82296" tIns="82296" rIns="82296" bIns="82296" anchor="ctr" rtlCol="0">
            <a:noAutofit/>
          </a:bodyPr>
          <a:lstStyle/>
          <a:p>
            <a:pPr algn="l">
              <a:buNone/>
            </a:pPr>
            <a:r>
              <a:rPr lang="en-GB" sz="1150" b="0" i="0" dirty="0">
                <a:solidFill>
                  <a:srgbClr val="1A1A1A"/>
                </a:solidFill>
                <a:latin typeface="Arial"/>
                <a:cs typeface="Arial"/>
              </a:rPr>
              <a:t>“Download” should open the phone’s own PDF viewer, not an in-app one</a:t>
            </a:r>
            <a:endParaRPr lang="en-GB" sz="1150" dirty="0"/>
          </a:p>
        </p:txBody>
      </p:sp>
      <p:sp>
        <p:nvSpPr>
          <p:cNvPr id="28" name="Shape 28"/>
          <p:cNvSpPr/>
          <p:nvPr/>
        </p:nvSpPr>
        <p:spPr>
          <a:xfrm>
            <a:off x="6693408" y="4059936"/>
            <a:ext cx="1444752" cy="320040"/>
          </a:xfrm>
          <a:prstGeom prst="roundRect">
            <a:avLst>
              <a:gd name="adj" fmla="val 50000"/>
            </a:avLst>
          </a:prstGeom>
          <a:solidFill>
            <a:srgbClr val="B03A2E"/>
          </a:solidFill>
          <a:ln>
            <a:noFill/>
          </a:ln>
        </p:spPr>
        <p:txBody>
          <a:bodyPr wrap="square" lIns="27432" tIns="27432" rIns="27432" bIns="27432" anchor="ctr" rtlCol="0">
            <a:noAutofit/>
          </a:bodyPr>
          <a:lstStyle/>
          <a:p>
            <a:pPr algn="ctr">
              <a:buNone/>
            </a:pPr>
            <a:r>
              <a:rPr lang="en-GB" sz="1050" b="1" i="0" dirty="0">
                <a:solidFill>
                  <a:srgbClr val="FFFFFF"/>
                </a:solidFill>
                <a:latin typeface="Arial"/>
                <a:cs typeface="Arial"/>
              </a:rPr>
              <a:t>E  environment</a:t>
            </a:r>
            <a:endParaRPr lang="en-GB" sz="1050" dirty="0"/>
          </a:p>
        </p:txBody>
      </p:sp>
      <p:sp>
        <p:nvSpPr>
          <p:cNvPr id="29" name="Shape 29"/>
          <p:cNvSpPr/>
          <p:nvPr/>
        </p:nvSpPr>
        <p:spPr>
          <a:xfrm>
            <a:off x="548640" y="4498848"/>
            <a:ext cx="301752" cy="301752"/>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e</a:t>
            </a:r>
            <a:endParaRPr lang="en-GB" sz="1100" dirty="0"/>
          </a:p>
        </p:txBody>
      </p:sp>
      <p:sp>
        <p:nvSpPr>
          <p:cNvPr id="30" name="Shape 30"/>
          <p:cNvSpPr/>
          <p:nvPr/>
        </p:nvSpPr>
        <p:spPr>
          <a:xfrm>
            <a:off x="960120" y="4462272"/>
            <a:ext cx="5623560" cy="374904"/>
          </a:xfrm>
          <a:prstGeom prst="rect">
            <a:avLst/>
          </a:prstGeom>
          <a:solidFill>
            <a:srgbClr val="FFFFFF"/>
          </a:solidFill>
          <a:ln w="12700">
            <a:solidFill>
              <a:srgbClr val="9DB8BC"/>
            </a:solidFill>
          </a:ln>
        </p:spPr>
        <p:txBody>
          <a:bodyPr wrap="square" lIns="82296" tIns="82296" rIns="82296" bIns="82296" anchor="ctr" rtlCol="0">
            <a:noAutofit/>
          </a:bodyPr>
          <a:lstStyle/>
          <a:p>
            <a:pPr algn="l">
              <a:buNone/>
            </a:pPr>
            <a:r>
              <a:rPr lang="en-GB" sz="1150" b="0" i="0" dirty="0">
                <a:solidFill>
                  <a:srgbClr val="1A1A1A"/>
                </a:solidFill>
                <a:latin typeface="Arial"/>
                <a:cs typeface="Arial"/>
              </a:rPr>
              <a:t>Group “Due this week” in one box at the top of the dashboard</a:t>
            </a:r>
            <a:endParaRPr lang="en-GB" sz="1150" dirty="0"/>
          </a:p>
        </p:txBody>
      </p:sp>
      <p:sp>
        <p:nvSpPr>
          <p:cNvPr id="31" name="Shape 31"/>
          <p:cNvSpPr/>
          <p:nvPr/>
        </p:nvSpPr>
        <p:spPr>
          <a:xfrm>
            <a:off x="6693408" y="4489704"/>
            <a:ext cx="1444752" cy="320040"/>
          </a:xfrm>
          <a:prstGeom prst="roundRect">
            <a:avLst>
              <a:gd name="adj" fmla="val 50000"/>
            </a:avLst>
          </a:prstGeom>
          <a:solidFill>
            <a:srgbClr val="00726F"/>
          </a:solidFill>
          <a:ln>
            <a:noFill/>
          </a:ln>
        </p:spPr>
        <p:txBody>
          <a:bodyPr wrap="square" lIns="27432" tIns="27432" rIns="27432" bIns="27432" anchor="ctr" rtlCol="0">
            <a:noAutofit/>
          </a:bodyPr>
          <a:lstStyle/>
          <a:p>
            <a:pPr algn="ctr">
              <a:buNone/>
            </a:pPr>
            <a:r>
              <a:rPr lang="en-GB" sz="1050" b="1" i="0" dirty="0">
                <a:solidFill>
                  <a:srgbClr val="FFFFFF"/>
                </a:solidFill>
                <a:latin typeface="Arial"/>
                <a:cs typeface="Arial"/>
              </a:rPr>
              <a:t>S  screen</a:t>
            </a:r>
            <a:endParaRPr lang="en-GB" sz="1050" dirty="0"/>
          </a:p>
        </p:txBody>
      </p:sp>
      <p:sp>
        <p:nvSpPr>
          <p:cNvPr id="32" name="Shape 32"/>
          <p:cNvSpPr/>
          <p:nvPr/>
        </p:nvSpPr>
        <p:spPr>
          <a:xfrm>
            <a:off x="548640" y="4928616"/>
            <a:ext cx="301752" cy="301752"/>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f</a:t>
            </a:r>
            <a:endParaRPr lang="en-GB" sz="1100" dirty="0"/>
          </a:p>
        </p:txBody>
      </p:sp>
      <p:sp>
        <p:nvSpPr>
          <p:cNvPr id="33" name="Shape 33"/>
          <p:cNvSpPr/>
          <p:nvPr/>
        </p:nvSpPr>
        <p:spPr>
          <a:xfrm>
            <a:off x="960120" y="4892040"/>
            <a:ext cx="5623560" cy="374904"/>
          </a:xfrm>
          <a:prstGeom prst="rect">
            <a:avLst/>
          </a:prstGeom>
          <a:solidFill>
            <a:srgbClr val="FFFFFF"/>
          </a:solidFill>
          <a:ln w="12700">
            <a:solidFill>
              <a:srgbClr val="9DB8BC"/>
            </a:solidFill>
          </a:ln>
        </p:spPr>
        <p:txBody>
          <a:bodyPr wrap="square" lIns="82296" tIns="82296" rIns="82296" bIns="82296" anchor="ctr" rtlCol="0">
            <a:noAutofit/>
          </a:bodyPr>
          <a:lstStyle/>
          <a:p>
            <a:pPr algn="l">
              <a:buNone/>
            </a:pPr>
            <a:r>
              <a:rPr lang="en-GB" sz="1150" b="0" i="0" dirty="0">
                <a:solidFill>
                  <a:srgbClr val="1A1A1A"/>
                </a:solidFill>
                <a:latin typeface="Arial"/>
                <a:cs typeface="Arial"/>
              </a:rPr>
              <a:t>Course › Week 4 › Assignment 2: add breadcrumbs to jump back</a:t>
            </a:r>
            <a:endParaRPr lang="en-GB" sz="1150" dirty="0"/>
          </a:p>
        </p:txBody>
      </p:sp>
      <p:sp>
        <p:nvSpPr>
          <p:cNvPr id="34" name="Shape 34"/>
          <p:cNvSpPr/>
          <p:nvPr/>
        </p:nvSpPr>
        <p:spPr>
          <a:xfrm>
            <a:off x="6693408" y="4919472"/>
            <a:ext cx="1444752" cy="320040"/>
          </a:xfrm>
          <a:prstGeom prst="roundRect">
            <a:avLst>
              <a:gd name="adj" fmla="val 50000"/>
            </a:avLst>
          </a:prstGeom>
          <a:solidFill>
            <a:srgbClr val="8A5A00"/>
          </a:solidFill>
          <a:ln>
            <a:noFill/>
          </a:ln>
        </p:spPr>
        <p:txBody>
          <a:bodyPr wrap="square" lIns="27432" tIns="27432" rIns="27432" bIns="27432" anchor="ctr" rtlCol="0">
            <a:noAutofit/>
          </a:bodyPr>
          <a:lstStyle/>
          <a:p>
            <a:pPr algn="ctr">
              <a:buNone/>
            </a:pPr>
            <a:r>
              <a:rPr lang="en-GB" sz="1050" b="1" i="0" dirty="0">
                <a:solidFill>
                  <a:srgbClr val="FFFFFF"/>
                </a:solidFill>
                <a:latin typeface="Arial"/>
                <a:cs typeface="Arial"/>
              </a:rPr>
              <a:t>N  navigation</a:t>
            </a:r>
            <a:endParaRPr lang="en-GB" sz="1050" dirty="0"/>
          </a:p>
        </p:txBody>
      </p:sp>
      <p:sp>
        <p:nvSpPr>
          <p:cNvPr id="35" name="Shape 35"/>
          <p:cNvSpPr/>
          <p:nvPr/>
        </p:nvSpPr>
        <p:spPr>
          <a:xfrm>
            <a:off x="548640" y="5358384"/>
            <a:ext cx="301752" cy="301752"/>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g</a:t>
            </a:r>
            <a:endParaRPr lang="en-GB" sz="1100" dirty="0"/>
          </a:p>
        </p:txBody>
      </p:sp>
      <p:sp>
        <p:nvSpPr>
          <p:cNvPr id="36" name="Shape 36"/>
          <p:cNvSpPr/>
          <p:nvPr/>
        </p:nvSpPr>
        <p:spPr>
          <a:xfrm>
            <a:off x="960120" y="5321808"/>
            <a:ext cx="5623560" cy="374904"/>
          </a:xfrm>
          <a:prstGeom prst="rect">
            <a:avLst/>
          </a:prstGeom>
          <a:solidFill>
            <a:srgbClr val="FFFFFF"/>
          </a:solidFill>
          <a:ln w="12700">
            <a:solidFill>
              <a:srgbClr val="9DB8BC"/>
            </a:solidFill>
          </a:ln>
        </p:spPr>
        <p:txBody>
          <a:bodyPr wrap="square" lIns="82296" tIns="82296" rIns="82296" bIns="82296" anchor="ctr" rtlCol="0">
            <a:noAutofit/>
          </a:bodyPr>
          <a:lstStyle/>
          <a:p>
            <a:pPr algn="l">
              <a:buNone/>
            </a:pPr>
            <a:r>
              <a:rPr lang="en-GB" sz="1150" b="0" i="0" dirty="0">
                <a:solidFill>
                  <a:srgbClr val="1A1A1A"/>
                </a:solidFill>
                <a:latin typeface="Arial"/>
                <a:cs typeface="Arial"/>
              </a:rPr>
              <a:t>Pasting an answer from Word must keep its formatting</a:t>
            </a:r>
            <a:endParaRPr lang="en-GB" sz="1150" dirty="0"/>
          </a:p>
        </p:txBody>
      </p:sp>
      <p:sp>
        <p:nvSpPr>
          <p:cNvPr id="37" name="Shape 37"/>
          <p:cNvSpPr/>
          <p:nvPr/>
        </p:nvSpPr>
        <p:spPr>
          <a:xfrm>
            <a:off x="6693408" y="5349240"/>
            <a:ext cx="1444752" cy="320040"/>
          </a:xfrm>
          <a:prstGeom prst="roundRect">
            <a:avLst>
              <a:gd name="adj" fmla="val 50000"/>
            </a:avLst>
          </a:prstGeom>
          <a:solidFill>
            <a:srgbClr val="B03A2E"/>
          </a:solidFill>
          <a:ln>
            <a:noFill/>
          </a:ln>
        </p:spPr>
        <p:txBody>
          <a:bodyPr wrap="square" lIns="27432" tIns="27432" rIns="27432" bIns="27432" anchor="ctr" rtlCol="0">
            <a:noAutofit/>
          </a:bodyPr>
          <a:lstStyle/>
          <a:p>
            <a:pPr algn="ctr">
              <a:buNone/>
            </a:pPr>
            <a:r>
              <a:rPr lang="en-GB" sz="1050" b="1" i="0" dirty="0">
                <a:solidFill>
                  <a:srgbClr val="FFFFFF"/>
                </a:solidFill>
                <a:latin typeface="Arial"/>
                <a:cs typeface="Arial"/>
              </a:rPr>
              <a:t>E  environment</a:t>
            </a:r>
            <a:endParaRPr lang="en-GB" sz="1050" dirty="0"/>
          </a:p>
        </p:txBody>
      </p:sp>
      <p:sp>
        <p:nvSpPr>
          <p:cNvPr id="38" name="Shape 38"/>
          <p:cNvSpPr/>
          <p:nvPr/>
        </p:nvSpPr>
        <p:spPr>
          <a:xfrm>
            <a:off x="548640" y="5788152"/>
            <a:ext cx="301752" cy="301752"/>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h</a:t>
            </a:r>
            <a:endParaRPr lang="en-GB" sz="1100" dirty="0"/>
          </a:p>
        </p:txBody>
      </p:sp>
      <p:sp>
        <p:nvSpPr>
          <p:cNvPr id="39" name="Shape 39"/>
          <p:cNvSpPr/>
          <p:nvPr/>
        </p:nvSpPr>
        <p:spPr>
          <a:xfrm>
            <a:off x="960120" y="5751576"/>
            <a:ext cx="5623560" cy="374904"/>
          </a:xfrm>
          <a:prstGeom prst="rect">
            <a:avLst/>
          </a:prstGeom>
          <a:solidFill>
            <a:srgbClr val="FFFFFF"/>
          </a:solidFill>
          <a:ln w="12700">
            <a:solidFill>
              <a:srgbClr val="9DB8BC"/>
            </a:solidFill>
          </a:ln>
        </p:spPr>
        <p:txBody>
          <a:bodyPr wrap="square" lIns="82296" tIns="82296" rIns="82296" bIns="82296" anchor="ctr" rtlCol="0">
            <a:noAutofit/>
          </a:bodyPr>
          <a:lstStyle/>
          <a:p>
            <a:pPr algn="l">
              <a:buNone/>
            </a:pPr>
            <a:r>
              <a:rPr lang="en-GB" sz="1150" b="0" i="0" dirty="0">
                <a:solidFill>
                  <a:srgbClr val="1A1A1A"/>
                </a:solidFill>
                <a:latin typeface="Arial"/>
                <a:cs typeface="Arial"/>
              </a:rPr>
              <a:t>A toggle switch for “Email me when marks are posted”</a:t>
            </a:r>
            <a:endParaRPr lang="en-GB" sz="1150" dirty="0"/>
          </a:p>
        </p:txBody>
      </p:sp>
      <p:sp>
        <p:nvSpPr>
          <p:cNvPr id="40" name="Shape 40"/>
          <p:cNvSpPr/>
          <p:nvPr/>
        </p:nvSpPr>
        <p:spPr>
          <a:xfrm>
            <a:off x="6693408" y="5779008"/>
            <a:ext cx="1444752" cy="320040"/>
          </a:xfrm>
          <a:prstGeom prst="roundRect">
            <a:avLst>
              <a:gd name="adj" fmla="val 50000"/>
            </a:avLst>
          </a:prstGeom>
          <a:solidFill>
            <a:srgbClr val="333399"/>
          </a:solidFill>
          <a:ln>
            <a:noFill/>
          </a:ln>
        </p:spPr>
        <p:txBody>
          <a:bodyPr wrap="square" lIns="27432" tIns="27432" rIns="27432" bIns="27432" anchor="ctr" rtlCol="0">
            <a:noAutofit/>
          </a:bodyPr>
          <a:lstStyle/>
          <a:p>
            <a:pPr algn="ctr">
              <a:buNone/>
            </a:pPr>
            <a:r>
              <a:rPr lang="en-GB" sz="1050" b="1" i="0" dirty="0">
                <a:solidFill>
                  <a:srgbClr val="FFFFFF"/>
                </a:solidFill>
                <a:latin typeface="Arial"/>
                <a:cs typeface="Arial"/>
              </a:rPr>
              <a:t>W  widget</a:t>
            </a:r>
            <a:endParaRPr lang="en-GB" sz="10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Where would you click?</a:t>
            </a:r>
          </a:p>
        </p:txBody>
      </p:sp>
      <p:sp>
        <p:nvSpPr>
          <p:cNvPr id="11" name="Shape 11"/>
          <p:cNvSpPr/>
          <p:nvPr/>
        </p:nvSpPr>
        <p:spPr>
          <a:xfrm>
            <a:off x="548640" y="1810512"/>
            <a:ext cx="868680" cy="310896"/>
          </a:xfrm>
          <a:prstGeom prst="roundRect">
            <a:avLst>
              <a:gd name="adj" fmla="val 50000"/>
            </a:avLst>
          </a:prstGeom>
          <a:solidFill>
            <a:srgbClr val="00726F"/>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POLL</a:t>
            </a:r>
            <a:endParaRPr lang="en-GB" sz="1100" dirty="0"/>
          </a:p>
        </p:txBody>
      </p:sp>
      <p:sp>
        <p:nvSpPr>
          <p:cNvPr id="12" name="Shape 12"/>
          <p:cNvSpPr txBox="1"/>
          <p:nvPr/>
        </p:nvSpPr>
        <p:spPr>
          <a:xfrm>
            <a:off x="1527048" y="1810512"/>
            <a:ext cx="6611112" cy="310896"/>
          </a:xfrm>
          <a:prstGeom prst="rect">
            <a:avLst/>
          </a:prstGeom>
          <a:noFill/>
          <a:ln>
            <a:noFill/>
          </a:ln>
        </p:spPr>
        <p:txBody>
          <a:bodyPr wrap="square" lIns="18288" tIns="18288" rIns="18288" bIns="18288" anchor="ctr" rtlCol="0">
            <a:noAutofit/>
          </a:bodyPr>
          <a:lstStyle/>
          <a:p>
            <a:pPr algn="l">
              <a:buNone/>
            </a:pPr>
            <a:r>
              <a:rPr lang="en-GB" sz="1200" b="0" i="1" dirty="0">
                <a:solidFill>
                  <a:srgbClr val="595959"/>
                </a:solidFill>
                <a:latin typeface="Arial"/>
                <a:cs typeface="Arial"/>
              </a:rPr>
              <a:t>1 min · hold up 1, 2, 3 or 4 fingers</a:t>
            </a:r>
            <a:endParaRPr lang="en-GB" sz="1200" dirty="0"/>
          </a:p>
        </p:txBody>
      </p:sp>
      <p:sp>
        <p:nvSpPr>
          <p:cNvPr id="13" name="Shape 13"/>
          <p:cNvSpPr txBox="1"/>
          <p:nvPr/>
        </p:nvSpPr>
        <p:spPr>
          <a:xfrm>
            <a:off x="548640" y="2240280"/>
            <a:ext cx="7589520" cy="411480"/>
          </a:xfrm>
          <a:prstGeom prst="rect">
            <a:avLst/>
          </a:prstGeom>
          <a:noFill/>
          <a:ln>
            <a:noFill/>
          </a:ln>
        </p:spPr>
        <p:txBody>
          <a:bodyPr wrap="square" lIns="18288" tIns="18288" rIns="18288" bIns="18288" anchor="t" rtlCol="0">
            <a:noAutofit/>
          </a:bodyPr>
          <a:lstStyle/>
          <a:p>
            <a:pPr algn="l">
              <a:buNone/>
            </a:pPr>
            <a:r>
              <a:rPr lang="en-GB" sz="1600" b="1" i="0" dirty="0">
                <a:solidFill>
                  <a:srgbClr val="2D2D8A"/>
                </a:solidFill>
                <a:latin typeface="Arial"/>
                <a:cs typeface="Arial"/>
              </a:rPr>
              <a:t>You need this semester’s fee challan. Which button do you press?</a:t>
            </a:r>
            <a:endParaRPr lang="en-GB" sz="1600" dirty="0"/>
          </a:p>
        </p:txBody>
      </p:sp>
      <p:sp>
        <p:nvSpPr>
          <p:cNvPr id="14" name="Shape 14"/>
          <p:cNvSpPr/>
          <p:nvPr/>
        </p:nvSpPr>
        <p:spPr>
          <a:xfrm>
            <a:off x="868680" y="2926080"/>
            <a:ext cx="3246120" cy="1051560"/>
          </a:xfrm>
          <a:prstGeom prst="rect">
            <a:avLst/>
          </a:prstGeom>
          <a:solidFill>
            <a:srgbClr val="DAEDEF"/>
          </a:solidFill>
          <a:ln w="19050">
            <a:solidFill>
              <a:srgbClr val="9DB8BC"/>
            </a:solidFill>
          </a:ln>
          <a:effectLst>
            <a:outerShdw blurRad="38100" dist="25400" dir="2700000" algn="tl" rotWithShape="0">
              <a:srgbClr val="000000">
                <a:alpha val="35000"/>
              </a:srgbClr>
            </a:outerShdw>
          </a:effectLst>
        </p:spPr>
        <p:txBody>
          <a:bodyPr wrap="square" lIns="91440" tIns="91440" rIns="91440" bIns="91440" anchor="ctr" rtlCol="0">
            <a:noAutofit/>
          </a:bodyPr>
          <a:lstStyle/>
          <a:p>
            <a:pPr algn="ctr">
              <a:buNone/>
            </a:pPr>
            <a:r>
              <a:rPr lang="en-GB" sz="1800" b="0" i="0" dirty="0">
                <a:solidFill>
                  <a:srgbClr val="2D2D8A"/>
                </a:solidFill>
                <a:latin typeface="Arial"/>
                <a:cs typeface="Arial"/>
              </a:rPr>
              <a:t>Academics</a:t>
            </a:r>
            <a:endParaRPr lang="en-GB" sz="1200" dirty="0"/>
          </a:p>
        </p:txBody>
      </p:sp>
      <p:sp>
        <p:nvSpPr>
          <p:cNvPr id="15" name="Shape 15"/>
          <p:cNvSpPr/>
          <p:nvPr/>
        </p:nvSpPr>
        <p:spPr>
          <a:xfrm>
            <a:off x="685800" y="2770632"/>
            <a:ext cx="347472" cy="347472"/>
          </a:xfrm>
          <a:prstGeom prst="ellipse">
            <a:avLst/>
          </a:prstGeom>
          <a:solidFill>
            <a:srgbClr val="00726F"/>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1</a:t>
            </a:r>
            <a:endParaRPr lang="en-GB" sz="1100" dirty="0"/>
          </a:p>
        </p:txBody>
      </p:sp>
      <p:sp>
        <p:nvSpPr>
          <p:cNvPr id="16" name="Shape 16"/>
          <p:cNvSpPr/>
          <p:nvPr/>
        </p:nvSpPr>
        <p:spPr>
          <a:xfrm>
            <a:off x="4572000" y="2926080"/>
            <a:ext cx="3246120" cy="1051560"/>
          </a:xfrm>
          <a:prstGeom prst="rect">
            <a:avLst/>
          </a:prstGeom>
          <a:solidFill>
            <a:srgbClr val="DAEDEF"/>
          </a:solidFill>
          <a:ln w="19050">
            <a:solidFill>
              <a:srgbClr val="9DB8BC"/>
            </a:solidFill>
          </a:ln>
          <a:effectLst>
            <a:outerShdw blurRad="38100" dist="25400" dir="2700000" algn="tl" rotWithShape="0">
              <a:srgbClr val="000000">
                <a:alpha val="35000"/>
              </a:srgbClr>
            </a:outerShdw>
          </a:effectLst>
        </p:spPr>
        <p:txBody>
          <a:bodyPr wrap="square" lIns="91440" tIns="91440" rIns="91440" bIns="91440" anchor="ctr" rtlCol="0">
            <a:noAutofit/>
          </a:bodyPr>
          <a:lstStyle/>
          <a:p>
            <a:pPr algn="ctr">
              <a:buNone/>
            </a:pPr>
            <a:r>
              <a:rPr lang="en-GB" sz="1800" b="0" i="0" dirty="0">
                <a:solidFill>
                  <a:srgbClr val="2D2D8A"/>
                </a:solidFill>
                <a:latin typeface="Arial"/>
                <a:cs typeface="Arial"/>
              </a:rPr>
              <a:t>e-Services</a:t>
            </a:r>
            <a:endParaRPr lang="en-GB" sz="1200" dirty="0"/>
          </a:p>
        </p:txBody>
      </p:sp>
      <p:sp>
        <p:nvSpPr>
          <p:cNvPr id="17" name="Shape 17"/>
          <p:cNvSpPr/>
          <p:nvPr/>
        </p:nvSpPr>
        <p:spPr>
          <a:xfrm>
            <a:off x="4389120" y="2770632"/>
            <a:ext cx="347472" cy="347472"/>
          </a:xfrm>
          <a:prstGeom prst="ellipse">
            <a:avLst/>
          </a:prstGeom>
          <a:solidFill>
            <a:srgbClr val="00726F"/>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2</a:t>
            </a:r>
            <a:endParaRPr lang="en-GB" sz="1100" dirty="0"/>
          </a:p>
        </p:txBody>
      </p:sp>
      <p:sp>
        <p:nvSpPr>
          <p:cNvPr id="18" name="Shape 18"/>
          <p:cNvSpPr/>
          <p:nvPr/>
        </p:nvSpPr>
        <p:spPr>
          <a:xfrm>
            <a:off x="868680" y="4315968"/>
            <a:ext cx="3246120" cy="1051560"/>
          </a:xfrm>
          <a:prstGeom prst="rect">
            <a:avLst/>
          </a:prstGeom>
          <a:solidFill>
            <a:srgbClr val="DAEDEF"/>
          </a:solidFill>
          <a:ln w="19050">
            <a:solidFill>
              <a:srgbClr val="9DB8BC"/>
            </a:solidFill>
          </a:ln>
          <a:effectLst>
            <a:outerShdw blurRad="38100" dist="25400" dir="2700000" algn="tl" rotWithShape="0">
              <a:srgbClr val="000000">
                <a:alpha val="35000"/>
              </a:srgbClr>
            </a:outerShdw>
          </a:effectLst>
        </p:spPr>
        <p:txBody>
          <a:bodyPr wrap="square" lIns="91440" tIns="91440" rIns="91440" bIns="91440" anchor="ctr" rtlCol="0">
            <a:noAutofit/>
          </a:bodyPr>
          <a:lstStyle/>
          <a:p>
            <a:pPr algn="ctr">
              <a:buNone/>
            </a:pPr>
            <a:r>
              <a:rPr lang="en-GB" sz="1800" b="0" i="0" dirty="0">
                <a:solidFill>
                  <a:srgbClr val="2D2D8A"/>
                </a:solidFill>
                <a:latin typeface="Arial"/>
                <a:cs typeface="Arial"/>
              </a:rPr>
              <a:t>Downloads</a:t>
            </a:r>
            <a:endParaRPr lang="en-GB" sz="1200" dirty="0"/>
          </a:p>
        </p:txBody>
      </p:sp>
      <p:sp>
        <p:nvSpPr>
          <p:cNvPr id="19" name="Shape 19"/>
          <p:cNvSpPr/>
          <p:nvPr/>
        </p:nvSpPr>
        <p:spPr>
          <a:xfrm>
            <a:off x="685800" y="4160520"/>
            <a:ext cx="347472" cy="347472"/>
          </a:xfrm>
          <a:prstGeom prst="ellipse">
            <a:avLst/>
          </a:prstGeom>
          <a:solidFill>
            <a:srgbClr val="00726F"/>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3</a:t>
            </a:r>
            <a:endParaRPr lang="en-GB" sz="1100" dirty="0"/>
          </a:p>
        </p:txBody>
      </p:sp>
      <p:sp>
        <p:nvSpPr>
          <p:cNvPr id="20" name="Shape 20"/>
          <p:cNvSpPr/>
          <p:nvPr/>
        </p:nvSpPr>
        <p:spPr>
          <a:xfrm>
            <a:off x="4572000" y="4315968"/>
            <a:ext cx="3246120" cy="1051560"/>
          </a:xfrm>
          <a:prstGeom prst="rect">
            <a:avLst/>
          </a:prstGeom>
          <a:solidFill>
            <a:srgbClr val="DAEDEF"/>
          </a:solidFill>
          <a:ln w="19050">
            <a:solidFill>
              <a:srgbClr val="9DB8BC"/>
            </a:solidFill>
          </a:ln>
          <a:effectLst>
            <a:outerShdw blurRad="38100" dist="25400" dir="2700000" algn="tl" rotWithShape="0">
              <a:srgbClr val="000000">
                <a:alpha val="35000"/>
              </a:srgbClr>
            </a:outerShdw>
          </a:effectLst>
        </p:spPr>
        <p:txBody>
          <a:bodyPr wrap="square" lIns="91440" tIns="91440" rIns="91440" bIns="91440" anchor="ctr" rtlCol="0">
            <a:noAutofit/>
          </a:bodyPr>
          <a:lstStyle/>
          <a:p>
            <a:pPr algn="ctr">
              <a:buNone/>
            </a:pPr>
            <a:r>
              <a:rPr lang="en-GB" sz="1800" b="0" i="0" dirty="0">
                <a:solidFill>
                  <a:srgbClr val="2D2D8A"/>
                </a:solidFill>
                <a:latin typeface="Arial"/>
                <a:cs typeface="Arial"/>
              </a:rPr>
              <a:t>Treasurer’s Office</a:t>
            </a:r>
            <a:endParaRPr lang="en-GB" sz="1200" dirty="0"/>
          </a:p>
        </p:txBody>
      </p:sp>
      <p:sp>
        <p:nvSpPr>
          <p:cNvPr id="21" name="Shape 21"/>
          <p:cNvSpPr/>
          <p:nvPr/>
        </p:nvSpPr>
        <p:spPr>
          <a:xfrm>
            <a:off x="4389120" y="4160520"/>
            <a:ext cx="347472" cy="347472"/>
          </a:xfrm>
          <a:prstGeom prst="ellipse">
            <a:avLst/>
          </a:prstGeom>
          <a:solidFill>
            <a:srgbClr val="00726F"/>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4</a:t>
            </a:r>
            <a:endParaRPr lang="en-GB" sz="1100" dirty="0"/>
          </a:p>
        </p:txBody>
      </p:sp>
      <p:sp>
        <p:nvSpPr>
          <p:cNvPr id="22" name="Shape 22"/>
          <p:cNvSpPr txBox="1"/>
          <p:nvPr/>
        </p:nvSpPr>
        <p:spPr>
          <a:xfrm>
            <a:off x="548640" y="5623560"/>
            <a:ext cx="7589520" cy="457200"/>
          </a:xfrm>
          <a:prstGeom prst="rect">
            <a:avLst/>
          </a:prstGeom>
          <a:noFill/>
          <a:ln>
            <a:noFill/>
          </a:ln>
        </p:spPr>
        <p:txBody>
          <a:bodyPr wrap="square" lIns="18288" tIns="18288" rIns="18288" bIns="18288" anchor="t" rtlCol="0">
            <a:noAutofit/>
          </a:bodyPr>
          <a:lstStyle/>
          <a:p>
            <a:pPr algn="l">
              <a:buNone/>
            </a:pPr>
            <a:r>
              <a:rPr lang="en-GB" sz="1200" b="0" i="1" dirty="0">
                <a:solidFill>
                  <a:srgbClr val="595959"/>
                </a:solidFill>
                <a:latin typeface="Arial"/>
                <a:cs typeface="Arial"/>
              </a:rPr>
              <a:t>Count the hands for each button before you move to the next slide.</a:t>
            </a:r>
            <a:endParaRPr lang="en-GB" sz="12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Where would you click?</a:t>
            </a:r>
          </a:p>
        </p:txBody>
      </p:sp>
      <p:sp>
        <p:nvSpPr>
          <p:cNvPr id="11" name="Shape 11"/>
          <p:cNvSpPr/>
          <p:nvPr/>
        </p:nvSpPr>
        <p:spPr>
          <a:xfrm>
            <a:off x="548640" y="1810512"/>
            <a:ext cx="1056132" cy="310896"/>
          </a:xfrm>
          <a:prstGeom prst="roundRect">
            <a:avLst>
              <a:gd name="adj" fmla="val 50000"/>
            </a:avLst>
          </a:prstGeom>
          <a:solidFill>
            <a:srgbClr val="404040"/>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ANSWERS</a:t>
            </a:r>
            <a:endParaRPr lang="en-GB" sz="1100" dirty="0"/>
          </a:p>
        </p:txBody>
      </p:sp>
      <p:sp>
        <p:nvSpPr>
          <p:cNvPr id="12" name="Shape 12"/>
          <p:cNvSpPr txBox="1"/>
          <p:nvPr/>
        </p:nvSpPr>
        <p:spPr>
          <a:xfrm>
            <a:off x="1714500" y="1810512"/>
            <a:ext cx="6423660" cy="310896"/>
          </a:xfrm>
          <a:prstGeom prst="rect">
            <a:avLst/>
          </a:prstGeom>
          <a:noFill/>
          <a:ln>
            <a:noFill/>
          </a:ln>
        </p:spPr>
        <p:txBody>
          <a:bodyPr wrap="square" lIns="18288" tIns="18288" rIns="18288" bIns="18288" anchor="ctr" rtlCol="0">
            <a:noAutofit/>
          </a:bodyPr>
          <a:lstStyle/>
          <a:p>
            <a:pPr algn="l">
              <a:buNone/>
            </a:pPr>
            <a:r>
              <a:rPr lang="en-GB" sz="1200" b="0" i="1" dirty="0">
                <a:solidFill>
                  <a:srgbClr val="595959"/>
                </a:solidFill>
                <a:latin typeface="Arial"/>
                <a:cs typeface="Arial"/>
              </a:rPr>
              <a:t>there is no right answer — and that is the problem</a:t>
            </a:r>
            <a:endParaRPr lang="en-GB" sz="1200" dirty="0"/>
          </a:p>
        </p:txBody>
      </p:sp>
      <p:sp>
        <p:nvSpPr>
          <p:cNvPr id="13" name="Shape 13"/>
          <p:cNvSpPr txBox="1"/>
          <p:nvPr/>
        </p:nvSpPr>
        <p:spPr>
          <a:xfrm>
            <a:off x="548640" y="2240280"/>
            <a:ext cx="7589520" cy="411480"/>
          </a:xfrm>
          <a:prstGeom prst="rect">
            <a:avLst/>
          </a:prstGeom>
          <a:noFill/>
          <a:ln>
            <a:noFill/>
          </a:ln>
        </p:spPr>
        <p:txBody>
          <a:bodyPr wrap="square" lIns="18288" tIns="18288" rIns="18288" bIns="18288" anchor="t" rtlCol="0">
            <a:noAutofit/>
          </a:bodyPr>
          <a:lstStyle/>
          <a:p>
            <a:pPr algn="l">
              <a:buNone/>
            </a:pPr>
            <a:r>
              <a:rPr lang="en-GB" sz="1600" b="1" i="0" dirty="0">
                <a:solidFill>
                  <a:srgbClr val="2D2D8A"/>
                </a:solidFill>
                <a:latin typeface="Arial"/>
                <a:cs typeface="Arial"/>
              </a:rPr>
              <a:t>You need this semester’s fee challan. Which button do you press?</a:t>
            </a:r>
            <a:endParaRPr lang="en-GB" sz="1600" dirty="0"/>
          </a:p>
        </p:txBody>
      </p:sp>
      <p:sp>
        <p:nvSpPr>
          <p:cNvPr id="14" name="Shape 14"/>
          <p:cNvSpPr/>
          <p:nvPr/>
        </p:nvSpPr>
        <p:spPr>
          <a:xfrm>
            <a:off x="868680" y="2926080"/>
            <a:ext cx="3246120" cy="1051560"/>
          </a:xfrm>
          <a:prstGeom prst="rect">
            <a:avLst/>
          </a:prstGeom>
          <a:solidFill>
            <a:srgbClr val="DAEDEF"/>
          </a:solidFill>
          <a:ln w="19050">
            <a:solidFill>
              <a:srgbClr val="9DB8BC"/>
            </a:solidFill>
          </a:ln>
          <a:effectLst>
            <a:outerShdw blurRad="38100" dist="25400" dir="2700000" algn="tl" rotWithShape="0">
              <a:srgbClr val="000000">
                <a:alpha val="35000"/>
              </a:srgbClr>
            </a:outerShdw>
          </a:effectLst>
        </p:spPr>
        <p:txBody>
          <a:bodyPr wrap="square" lIns="91440" tIns="91440" rIns="91440" bIns="91440" anchor="ctr" rtlCol="0">
            <a:noAutofit/>
          </a:bodyPr>
          <a:lstStyle/>
          <a:p>
            <a:pPr algn="ctr">
              <a:buNone/>
            </a:pPr>
            <a:r>
              <a:rPr lang="en-GB" sz="1600" b="1" i="0" dirty="0">
                <a:solidFill>
                  <a:srgbClr val="2D2D8A"/>
                </a:solidFill>
                <a:latin typeface="Arial"/>
                <a:cs typeface="Arial"/>
              </a:rPr>
              <a:t>Academics</a:t>
            </a:r>
            <a:endParaRPr lang="en-GB" sz="1200" dirty="0"/>
          </a:p>
          <a:p>
            <a:pPr algn="ctr">
              <a:spcBef>
                <a:spcPts val="400"/>
              </a:spcBef>
              <a:buNone/>
            </a:pPr>
            <a:r>
              <a:rPr lang="en-GB" sz="1150" b="0" i="0" dirty="0">
                <a:solidFill>
                  <a:srgbClr val="1A1A1A"/>
                </a:solidFill>
                <a:latin typeface="Arial"/>
                <a:cs typeface="Arial"/>
              </a:rPr>
              <a:t>courses, timetable, results, transcripts</a:t>
            </a:r>
            <a:endParaRPr lang="en-GB" sz="1200" dirty="0"/>
          </a:p>
        </p:txBody>
      </p:sp>
      <p:sp>
        <p:nvSpPr>
          <p:cNvPr id="15" name="Shape 15"/>
          <p:cNvSpPr/>
          <p:nvPr/>
        </p:nvSpPr>
        <p:spPr>
          <a:xfrm>
            <a:off x="685800" y="2770632"/>
            <a:ext cx="347472" cy="347472"/>
          </a:xfrm>
          <a:prstGeom prst="ellipse">
            <a:avLst/>
          </a:prstGeom>
          <a:solidFill>
            <a:srgbClr val="00726F"/>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1</a:t>
            </a:r>
            <a:endParaRPr lang="en-GB" sz="1100" dirty="0"/>
          </a:p>
        </p:txBody>
      </p:sp>
      <p:sp>
        <p:nvSpPr>
          <p:cNvPr id="16" name="Shape 16"/>
          <p:cNvSpPr/>
          <p:nvPr/>
        </p:nvSpPr>
        <p:spPr>
          <a:xfrm>
            <a:off x="4572000" y="2926080"/>
            <a:ext cx="3246120" cy="1051560"/>
          </a:xfrm>
          <a:prstGeom prst="rect">
            <a:avLst/>
          </a:prstGeom>
          <a:solidFill>
            <a:srgbClr val="DAEDEF"/>
          </a:solidFill>
          <a:ln w="19050">
            <a:solidFill>
              <a:srgbClr val="9DB8BC"/>
            </a:solidFill>
          </a:ln>
          <a:effectLst>
            <a:outerShdw blurRad="38100" dist="25400" dir="2700000" algn="tl" rotWithShape="0">
              <a:srgbClr val="000000">
                <a:alpha val="35000"/>
              </a:srgbClr>
            </a:outerShdw>
          </a:effectLst>
        </p:spPr>
        <p:txBody>
          <a:bodyPr wrap="square" lIns="91440" tIns="91440" rIns="91440" bIns="91440" anchor="ctr" rtlCol="0">
            <a:noAutofit/>
          </a:bodyPr>
          <a:lstStyle/>
          <a:p>
            <a:pPr algn="ctr">
              <a:buNone/>
            </a:pPr>
            <a:r>
              <a:rPr lang="en-GB" sz="1600" b="1" i="0" dirty="0">
                <a:solidFill>
                  <a:srgbClr val="2D2D8A"/>
                </a:solidFill>
                <a:latin typeface="Arial"/>
                <a:cs typeface="Arial"/>
              </a:rPr>
              <a:t>e-Services</a:t>
            </a:r>
            <a:endParaRPr lang="en-GB" sz="1200" dirty="0"/>
          </a:p>
          <a:p>
            <a:pPr algn="ctr">
              <a:spcBef>
                <a:spcPts val="400"/>
              </a:spcBef>
              <a:buNone/>
            </a:pPr>
            <a:r>
              <a:rPr lang="en-GB" sz="1150" b="0" i="0" dirty="0">
                <a:solidFill>
                  <a:srgbClr val="1A1A1A"/>
                </a:solidFill>
                <a:latin typeface="Arial"/>
                <a:cs typeface="Arial"/>
              </a:rPr>
              <a:t>hostel, transport, ID card, email account</a:t>
            </a:r>
            <a:endParaRPr lang="en-GB" sz="1200" dirty="0"/>
          </a:p>
        </p:txBody>
      </p:sp>
      <p:sp>
        <p:nvSpPr>
          <p:cNvPr id="17" name="Shape 17"/>
          <p:cNvSpPr/>
          <p:nvPr/>
        </p:nvSpPr>
        <p:spPr>
          <a:xfrm>
            <a:off x="4389120" y="2770632"/>
            <a:ext cx="347472" cy="347472"/>
          </a:xfrm>
          <a:prstGeom prst="ellipse">
            <a:avLst/>
          </a:prstGeom>
          <a:solidFill>
            <a:srgbClr val="00726F"/>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2</a:t>
            </a:r>
            <a:endParaRPr lang="en-GB" sz="1100" dirty="0"/>
          </a:p>
        </p:txBody>
      </p:sp>
      <p:sp>
        <p:nvSpPr>
          <p:cNvPr id="18" name="Shape 18"/>
          <p:cNvSpPr/>
          <p:nvPr/>
        </p:nvSpPr>
        <p:spPr>
          <a:xfrm>
            <a:off x="868680" y="4315968"/>
            <a:ext cx="3246120" cy="1051560"/>
          </a:xfrm>
          <a:prstGeom prst="rect">
            <a:avLst/>
          </a:prstGeom>
          <a:solidFill>
            <a:srgbClr val="DAEDEF"/>
          </a:solidFill>
          <a:ln w="19050">
            <a:solidFill>
              <a:srgbClr val="9DB8BC"/>
            </a:solidFill>
          </a:ln>
          <a:effectLst>
            <a:outerShdw blurRad="38100" dist="25400" dir="2700000" algn="tl" rotWithShape="0">
              <a:srgbClr val="000000">
                <a:alpha val="35000"/>
              </a:srgbClr>
            </a:outerShdw>
          </a:effectLst>
        </p:spPr>
        <p:txBody>
          <a:bodyPr wrap="square" lIns="91440" tIns="91440" rIns="91440" bIns="91440" anchor="ctr" rtlCol="0">
            <a:noAutofit/>
          </a:bodyPr>
          <a:lstStyle/>
          <a:p>
            <a:pPr algn="ctr">
              <a:buNone/>
            </a:pPr>
            <a:r>
              <a:rPr lang="en-GB" sz="1600" b="1" i="0" dirty="0">
                <a:solidFill>
                  <a:srgbClr val="2D2D8A"/>
                </a:solidFill>
                <a:latin typeface="Arial"/>
                <a:cs typeface="Arial"/>
              </a:rPr>
              <a:t>Downloads</a:t>
            </a:r>
            <a:endParaRPr lang="en-GB" sz="1200" dirty="0"/>
          </a:p>
          <a:p>
            <a:pPr algn="ctr">
              <a:spcBef>
                <a:spcPts val="400"/>
              </a:spcBef>
              <a:buNone/>
            </a:pPr>
            <a:r>
              <a:rPr lang="en-GB" sz="1150" b="0" i="0" dirty="0">
                <a:solidFill>
                  <a:srgbClr val="1A1A1A"/>
                </a:solidFill>
                <a:latin typeface="Arial"/>
                <a:cs typeface="Arial"/>
              </a:rPr>
              <a:t>forms and handbooks (PDF)</a:t>
            </a:r>
            <a:endParaRPr lang="en-GB" sz="1200" dirty="0"/>
          </a:p>
        </p:txBody>
      </p:sp>
      <p:sp>
        <p:nvSpPr>
          <p:cNvPr id="19" name="Shape 19"/>
          <p:cNvSpPr/>
          <p:nvPr/>
        </p:nvSpPr>
        <p:spPr>
          <a:xfrm>
            <a:off x="685800" y="4160520"/>
            <a:ext cx="347472" cy="347472"/>
          </a:xfrm>
          <a:prstGeom prst="ellipse">
            <a:avLst/>
          </a:prstGeom>
          <a:solidFill>
            <a:srgbClr val="00726F"/>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3</a:t>
            </a:r>
            <a:endParaRPr lang="en-GB" sz="1100" dirty="0"/>
          </a:p>
        </p:txBody>
      </p:sp>
      <p:sp>
        <p:nvSpPr>
          <p:cNvPr id="20" name="Shape 20"/>
          <p:cNvSpPr/>
          <p:nvPr/>
        </p:nvSpPr>
        <p:spPr>
          <a:xfrm>
            <a:off x="4572000" y="4315968"/>
            <a:ext cx="3246120" cy="1051560"/>
          </a:xfrm>
          <a:prstGeom prst="rect">
            <a:avLst/>
          </a:prstGeom>
          <a:solidFill>
            <a:srgbClr val="DAEDEF"/>
          </a:solidFill>
          <a:ln w="19050">
            <a:solidFill>
              <a:srgbClr val="9DB8BC"/>
            </a:solidFill>
          </a:ln>
          <a:effectLst>
            <a:outerShdw blurRad="38100" dist="25400" dir="2700000" algn="tl" rotWithShape="0">
              <a:srgbClr val="000000">
                <a:alpha val="35000"/>
              </a:srgbClr>
            </a:outerShdw>
          </a:effectLst>
        </p:spPr>
        <p:txBody>
          <a:bodyPr wrap="square" lIns="91440" tIns="91440" rIns="91440" bIns="91440" anchor="ctr" rtlCol="0">
            <a:noAutofit/>
          </a:bodyPr>
          <a:lstStyle/>
          <a:p>
            <a:pPr algn="ctr">
              <a:buNone/>
            </a:pPr>
            <a:r>
              <a:rPr lang="en-GB" sz="1600" b="1" i="0" dirty="0">
                <a:solidFill>
                  <a:srgbClr val="2D2D8A"/>
                </a:solidFill>
                <a:latin typeface="Arial"/>
                <a:cs typeface="Arial"/>
              </a:rPr>
              <a:t>Fees &amp; Finance</a:t>
            </a:r>
            <a:endParaRPr lang="en-GB" sz="1200" dirty="0"/>
          </a:p>
          <a:p>
            <a:pPr algn="ctr">
              <a:spcBef>
                <a:spcPts val="400"/>
              </a:spcBef>
              <a:buNone/>
            </a:pPr>
            <a:r>
              <a:rPr lang="en-GB" sz="1150" b="0" i="0" dirty="0">
                <a:solidFill>
                  <a:srgbClr val="1A1A1A"/>
                </a:solidFill>
                <a:latin typeface="Arial"/>
                <a:cs typeface="Arial"/>
              </a:rPr>
              <a:t>fee challans, payments, scholarships</a:t>
            </a:r>
            <a:endParaRPr lang="en-GB" sz="1200" dirty="0"/>
          </a:p>
        </p:txBody>
      </p:sp>
      <p:sp>
        <p:nvSpPr>
          <p:cNvPr id="21" name="Shape 21"/>
          <p:cNvSpPr/>
          <p:nvPr/>
        </p:nvSpPr>
        <p:spPr>
          <a:xfrm>
            <a:off x="6720840" y="4160520"/>
            <a:ext cx="1234440" cy="274320"/>
          </a:xfrm>
          <a:prstGeom prst="roundRect">
            <a:avLst>
              <a:gd name="adj" fmla="val 50000"/>
            </a:avLst>
          </a:prstGeom>
          <a:solidFill>
            <a:srgbClr val="4E7A12"/>
          </a:solidFill>
          <a:ln>
            <a:noFill/>
          </a:ln>
        </p:spPr>
        <p:txBody>
          <a:bodyPr wrap="square" lIns="27432" tIns="27432" rIns="27432" bIns="27432" anchor="ctr" rtlCol="0">
            <a:noAutofit/>
          </a:bodyPr>
          <a:lstStyle/>
          <a:p>
            <a:pPr algn="ctr">
              <a:buNone/>
            </a:pPr>
            <a:r>
              <a:rPr lang="en-GB" sz="950" b="1" i="0" dirty="0">
                <a:solidFill>
                  <a:srgbClr val="FFFFFF"/>
                </a:solidFill>
                <a:latin typeface="Arial"/>
                <a:cs typeface="Arial"/>
              </a:rPr>
              <a:t>RENAMED</a:t>
            </a:r>
            <a:endParaRPr lang="en-GB" sz="950" dirty="0"/>
          </a:p>
        </p:txBody>
      </p:sp>
      <p:sp>
        <p:nvSpPr>
          <p:cNvPr id="22" name="Shape 22"/>
          <p:cNvSpPr/>
          <p:nvPr/>
        </p:nvSpPr>
        <p:spPr>
          <a:xfrm>
            <a:off x="4389120" y="4160520"/>
            <a:ext cx="347472" cy="347472"/>
          </a:xfrm>
          <a:prstGeom prst="ellipse">
            <a:avLst/>
          </a:prstGeom>
          <a:solidFill>
            <a:srgbClr val="00726F"/>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4</a:t>
            </a:r>
            <a:endParaRPr lang="en-GB" sz="1100" dirty="0"/>
          </a:p>
        </p:txBody>
      </p:sp>
      <p:sp>
        <p:nvSpPr>
          <p:cNvPr id="23" name="Shape 23"/>
          <p:cNvSpPr txBox="1"/>
          <p:nvPr/>
        </p:nvSpPr>
        <p:spPr>
          <a:xfrm>
            <a:off x="548640" y="5623560"/>
            <a:ext cx="7589520" cy="548640"/>
          </a:xfrm>
          <a:prstGeom prst="rect">
            <a:avLst/>
          </a:prstGeom>
          <a:noFill/>
          <a:ln>
            <a:noFill/>
          </a:ln>
        </p:spPr>
        <p:txBody>
          <a:bodyPr wrap="square" lIns="18288" tIns="18288" rIns="18288" bIns="18288" anchor="t" rtlCol="0">
            <a:noAutofit/>
          </a:bodyPr>
          <a:lstStyle/>
          <a:p>
            <a:pPr algn="l">
              <a:buNone/>
            </a:pPr>
            <a:r>
              <a:rPr lang="en-GB" sz="1200" b="1" i="0" dirty="0">
                <a:solidFill>
                  <a:srgbClr val="2D2D8A"/>
                </a:solidFill>
                <a:latin typeface="Arial"/>
                <a:cs typeface="Arial"/>
              </a:rPr>
              <a:t xml:space="preserve">Big buttons leave lots of room for extra text — use it. </a:t>
            </a:r>
            <a:r>
              <a:rPr lang="en-GB" sz="1200" b="0" i="0" dirty="0">
                <a:solidFill>
                  <a:srgbClr val="1A1A1A"/>
                </a:solidFill>
                <a:latin typeface="Arial"/>
                <a:cs typeface="Arial"/>
              </a:rPr>
              <a:t>If the class splits its vote, the labels failed, not the students. Next: Dix calls this “the big button trap”.</a:t>
            </a:r>
            <a:endParaRPr lang="en-GB" sz="12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Deep or broad?</a:t>
            </a:r>
          </a:p>
        </p:txBody>
      </p:sp>
      <p:sp>
        <p:nvSpPr>
          <p:cNvPr id="11" name="Shape 11"/>
          <p:cNvSpPr/>
          <p:nvPr/>
        </p:nvSpPr>
        <p:spPr>
          <a:xfrm>
            <a:off x="548640" y="1810512"/>
            <a:ext cx="1440180" cy="310896"/>
          </a:xfrm>
          <a:prstGeom prst="roundRect">
            <a:avLst>
              <a:gd name="adj" fmla="val 50000"/>
            </a:avLst>
          </a:prstGeom>
          <a:solidFill>
            <a:srgbClr val="8A5A00"/>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CASE PUZZLE</a:t>
            </a:r>
            <a:endParaRPr lang="en-GB" sz="1100" dirty="0"/>
          </a:p>
        </p:txBody>
      </p:sp>
      <p:sp>
        <p:nvSpPr>
          <p:cNvPr id="12" name="Shape 12"/>
          <p:cNvSpPr txBox="1"/>
          <p:nvPr/>
        </p:nvSpPr>
        <p:spPr>
          <a:xfrm>
            <a:off x="2098548" y="1810512"/>
            <a:ext cx="6039612" cy="310896"/>
          </a:xfrm>
          <a:prstGeom prst="rect">
            <a:avLst/>
          </a:prstGeom>
          <a:noFill/>
          <a:ln>
            <a:noFill/>
          </a:ln>
        </p:spPr>
        <p:txBody>
          <a:bodyPr wrap="square" lIns="18288" tIns="18288" rIns="18288" bIns="18288" anchor="ctr" rtlCol="0">
            <a:noAutofit/>
          </a:bodyPr>
          <a:lstStyle/>
          <a:p>
            <a:pPr algn="l">
              <a:buNone/>
            </a:pPr>
            <a:r>
              <a:rPr lang="en-GB" sz="1200" b="0" i="1" dirty="0">
                <a:solidFill>
                  <a:srgbClr val="595959"/>
                </a:solidFill>
                <a:latin typeface="Arial"/>
                <a:cs typeface="Arial"/>
              </a:rPr>
              <a:t>4 min · pairs · calculator allowed</a:t>
            </a:r>
            <a:endParaRPr lang="en-GB" sz="1200" dirty="0"/>
          </a:p>
        </p:txBody>
      </p:sp>
      <p:sp>
        <p:nvSpPr>
          <p:cNvPr id="13" name="Shape 13"/>
          <p:cNvSpPr txBox="1"/>
          <p:nvPr/>
        </p:nvSpPr>
        <p:spPr>
          <a:xfrm>
            <a:off x="548640" y="2240280"/>
            <a:ext cx="7589520" cy="566928"/>
          </a:xfrm>
          <a:prstGeom prst="rect">
            <a:avLst/>
          </a:prstGeom>
          <a:noFill/>
          <a:ln>
            <a:noFill/>
          </a:ln>
        </p:spPr>
        <p:txBody>
          <a:bodyPr wrap="square" lIns="18288" tIns="18288" rIns="18288" bIns="18288" anchor="t" rtlCol="0">
            <a:noAutofit/>
          </a:bodyPr>
          <a:lstStyle/>
          <a:p>
            <a:pPr algn="l">
              <a:buNone/>
            </a:pPr>
            <a:r>
              <a:rPr lang="en-GB" sz="1600" b="1" i="0" dirty="0">
                <a:solidFill>
                  <a:srgbClr val="2D2D8A"/>
                </a:solidFill>
                <a:latin typeface="Arial"/>
                <a:cs typeface="Arial"/>
              </a:rPr>
              <a:t>A portal offers 64 services. Which menu structure gets a user to one of them fastest?</a:t>
            </a:r>
            <a:endParaRPr lang="en-GB" sz="1600" dirty="0"/>
          </a:p>
        </p:txBody>
      </p:sp>
      <p:sp>
        <p:nvSpPr>
          <p:cNvPr id="14" name="Shape 14"/>
          <p:cNvSpPr/>
          <p:nvPr/>
        </p:nvSpPr>
        <p:spPr>
          <a:xfrm>
            <a:off x="548640" y="2852928"/>
            <a:ext cx="7589520" cy="658368"/>
          </a:xfrm>
          <a:prstGeom prst="roundRect">
            <a:avLst>
              <a:gd name="adj" fmla="val 8000"/>
            </a:avLst>
          </a:prstGeom>
          <a:solidFill>
            <a:srgbClr val="F3F8F9"/>
          </a:solidFill>
          <a:ln w="12700">
            <a:solidFill>
              <a:srgbClr val="9DB8BC"/>
            </a:solidFill>
          </a:ln>
        </p:spPr>
        <p:txBody>
          <a:bodyPr wrap="square" lIns="109728" tIns="109728" rIns="109728" bIns="109728" anchor="ctr" rtlCol="0">
            <a:noAutofit/>
          </a:bodyPr>
          <a:lstStyle/>
          <a:p>
            <a:pPr algn="l">
              <a:buNone/>
            </a:pPr>
            <a:r>
              <a:rPr lang="en-GB" sz="1150" b="1" i="0" dirty="0">
                <a:solidFill>
                  <a:srgbClr val="2D2D8A"/>
                </a:solidFill>
                <a:latin typeface="Arial"/>
                <a:cs typeface="Arial"/>
              </a:rPr>
              <a:t xml:space="preserve">Assume: </a:t>
            </a:r>
            <a:r>
              <a:rPr lang="en-GB" sz="1150" b="0" i="0" dirty="0">
                <a:solidFill>
                  <a:srgbClr val="1A1A1A"/>
                </a:solidFill>
                <a:latin typeface="Arial"/>
                <a:cs typeface="Arial"/>
              </a:rPr>
              <a:t>each screen costs 2 s to click and load. On a screen you read about half the items at 0.25 s each, so reading takes 0.125 s × items on that screen.</a:t>
            </a:r>
            <a:endParaRPr lang="en-GB" sz="1150" dirty="0"/>
          </a:p>
        </p:txBody>
      </p:sp>
      <p:sp>
        <p:nvSpPr>
          <p:cNvPr id="15" name="Shape 15"/>
          <p:cNvSpPr/>
          <p:nvPr/>
        </p:nvSpPr>
        <p:spPr>
          <a:xfrm>
            <a:off x="548640" y="3657600"/>
            <a:ext cx="411480" cy="329184"/>
          </a:xfrm>
          <a:prstGeom prst="rect">
            <a:avLst/>
          </a:prstGeom>
          <a:solidFill>
            <a:srgbClr val="8A5A00"/>
          </a:solidFill>
          <a:ln w="12700">
            <a:solidFill>
              <a:srgbClr val="FFFFFF"/>
            </a:solidFill>
          </a:ln>
        </p:spPr>
        <p:txBody>
          <a:bodyPr wrap="square" lIns="54864" tIns="54864" rIns="54864" bIns="54864" anchor="ctr" rtlCol="0">
            <a:noAutofit/>
          </a:bodyPr>
          <a:lstStyle/>
          <a:p>
            <a:pPr algn="ctr">
              <a:buNone/>
            </a:pPr>
            <a:r>
              <a:rPr lang="en-GB" sz="1050" b="1" i="0" dirty="0">
                <a:solidFill>
                  <a:srgbClr val="FFFFFF"/>
                </a:solidFill>
                <a:latin typeface="Arial"/>
                <a:cs typeface="Arial"/>
              </a:rPr>
              <a:t/>
            </a:r>
            <a:endParaRPr lang="en-GB" sz="1050" dirty="0"/>
          </a:p>
        </p:txBody>
      </p:sp>
      <p:sp>
        <p:nvSpPr>
          <p:cNvPr id="16" name="Shape 16"/>
          <p:cNvSpPr/>
          <p:nvPr/>
        </p:nvSpPr>
        <p:spPr>
          <a:xfrm>
            <a:off x="960120" y="3657600"/>
            <a:ext cx="3154680" cy="329184"/>
          </a:xfrm>
          <a:prstGeom prst="rect">
            <a:avLst/>
          </a:prstGeom>
          <a:solidFill>
            <a:srgbClr val="8A5A00"/>
          </a:solidFill>
          <a:ln w="12700">
            <a:solidFill>
              <a:srgbClr val="FFFFFF"/>
            </a:solidFill>
          </a:ln>
        </p:spPr>
        <p:txBody>
          <a:bodyPr wrap="square" lIns="54864" tIns="54864" rIns="54864" bIns="54864" anchor="ctr" rtlCol="0">
            <a:noAutofit/>
          </a:bodyPr>
          <a:lstStyle/>
          <a:p>
            <a:pPr algn="l">
              <a:buNone/>
            </a:pPr>
            <a:r>
              <a:rPr lang="en-GB" sz="1050" b="1" i="0" dirty="0">
                <a:solidFill>
                  <a:srgbClr val="FFFFFF"/>
                </a:solidFill>
                <a:latin typeface="Arial"/>
                <a:cs typeface="Arial"/>
              </a:rPr>
              <a:t>Structure</a:t>
            </a:r>
            <a:endParaRPr lang="en-GB" sz="1050" dirty="0"/>
          </a:p>
        </p:txBody>
      </p:sp>
      <p:sp>
        <p:nvSpPr>
          <p:cNvPr id="17" name="Shape 17"/>
          <p:cNvSpPr/>
          <p:nvPr/>
        </p:nvSpPr>
        <p:spPr>
          <a:xfrm>
            <a:off x="4114800" y="3657600"/>
            <a:ext cx="1280160" cy="329184"/>
          </a:xfrm>
          <a:prstGeom prst="rect">
            <a:avLst/>
          </a:prstGeom>
          <a:solidFill>
            <a:srgbClr val="8A5A00"/>
          </a:solidFill>
          <a:ln w="12700">
            <a:solidFill>
              <a:srgbClr val="FFFFFF"/>
            </a:solidFill>
          </a:ln>
        </p:spPr>
        <p:txBody>
          <a:bodyPr wrap="square" lIns="54864" tIns="54864" rIns="54864" bIns="54864" anchor="ctr" rtlCol="0">
            <a:noAutofit/>
          </a:bodyPr>
          <a:lstStyle/>
          <a:p>
            <a:pPr algn="ctr">
              <a:buNone/>
            </a:pPr>
            <a:r>
              <a:rPr lang="en-GB" sz="1050" b="1" i="0" dirty="0">
                <a:solidFill>
                  <a:srgbClr val="FFFFFF"/>
                </a:solidFill>
                <a:latin typeface="Arial"/>
                <a:cs typeface="Arial"/>
              </a:rPr>
              <a:t>Screens visited</a:t>
            </a:r>
            <a:endParaRPr lang="en-GB" sz="1050" dirty="0"/>
          </a:p>
        </p:txBody>
      </p:sp>
      <p:sp>
        <p:nvSpPr>
          <p:cNvPr id="18" name="Shape 18"/>
          <p:cNvSpPr/>
          <p:nvPr/>
        </p:nvSpPr>
        <p:spPr>
          <a:xfrm>
            <a:off x="5394960" y="3657600"/>
            <a:ext cx="1463040" cy="329184"/>
          </a:xfrm>
          <a:prstGeom prst="rect">
            <a:avLst/>
          </a:prstGeom>
          <a:solidFill>
            <a:srgbClr val="8A5A00"/>
          </a:solidFill>
          <a:ln w="12700">
            <a:solidFill>
              <a:srgbClr val="FFFFFF"/>
            </a:solidFill>
          </a:ln>
        </p:spPr>
        <p:txBody>
          <a:bodyPr wrap="square" lIns="54864" tIns="54864" rIns="54864" bIns="54864" anchor="ctr" rtlCol="0">
            <a:noAutofit/>
          </a:bodyPr>
          <a:lstStyle/>
          <a:p>
            <a:pPr algn="ctr">
              <a:buNone/>
            </a:pPr>
            <a:r>
              <a:rPr lang="en-GB" sz="1050" b="1" i="0" dirty="0">
                <a:solidFill>
                  <a:srgbClr val="FFFFFF"/>
                </a:solidFill>
                <a:latin typeface="Arial"/>
                <a:cs typeface="Arial"/>
              </a:rPr>
              <a:t>Items per screen</a:t>
            </a:r>
            <a:endParaRPr lang="en-GB" sz="1050" dirty="0"/>
          </a:p>
        </p:txBody>
      </p:sp>
      <p:sp>
        <p:nvSpPr>
          <p:cNvPr id="19" name="Shape 19"/>
          <p:cNvSpPr/>
          <p:nvPr/>
        </p:nvSpPr>
        <p:spPr>
          <a:xfrm>
            <a:off x="6858000" y="3657600"/>
            <a:ext cx="1280160" cy="329184"/>
          </a:xfrm>
          <a:prstGeom prst="rect">
            <a:avLst/>
          </a:prstGeom>
          <a:solidFill>
            <a:srgbClr val="8A5A00"/>
          </a:solidFill>
          <a:ln w="12700">
            <a:solidFill>
              <a:srgbClr val="FFFFFF"/>
            </a:solidFill>
          </a:ln>
        </p:spPr>
        <p:txBody>
          <a:bodyPr wrap="square" lIns="54864" tIns="54864" rIns="54864" bIns="54864" anchor="ctr" rtlCol="0">
            <a:noAutofit/>
          </a:bodyPr>
          <a:lstStyle/>
          <a:p>
            <a:pPr algn="ctr">
              <a:buNone/>
            </a:pPr>
            <a:r>
              <a:rPr lang="en-GB" sz="1050" b="1" i="0" dirty="0">
                <a:solidFill>
                  <a:srgbClr val="FFFFFF"/>
                </a:solidFill>
                <a:latin typeface="Arial"/>
                <a:cs typeface="Arial"/>
              </a:rPr>
              <a:t>Your time (s)</a:t>
            </a:r>
            <a:endParaRPr lang="en-GB" sz="1050" dirty="0"/>
          </a:p>
        </p:txBody>
      </p:sp>
      <p:sp>
        <p:nvSpPr>
          <p:cNvPr id="20" name="Shape 20"/>
          <p:cNvSpPr/>
          <p:nvPr/>
        </p:nvSpPr>
        <p:spPr>
          <a:xfrm>
            <a:off x="548640" y="3986784"/>
            <a:ext cx="41148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1" i="0" dirty="0">
                <a:solidFill>
                  <a:srgbClr val="2D2D8A"/>
                </a:solidFill>
                <a:latin typeface="Arial"/>
                <a:cs typeface="Arial"/>
              </a:rPr>
              <a:t>A</a:t>
            </a:r>
            <a:endParaRPr lang="en-GB" sz="1100" dirty="0"/>
          </a:p>
        </p:txBody>
      </p:sp>
      <p:sp>
        <p:nvSpPr>
          <p:cNvPr id="21" name="Shape 21"/>
          <p:cNvSpPr/>
          <p:nvPr/>
        </p:nvSpPr>
        <p:spPr>
          <a:xfrm>
            <a:off x="960120" y="3986784"/>
            <a:ext cx="315468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l">
              <a:buNone/>
            </a:pPr>
            <a:r>
              <a:rPr lang="en-GB" sz="1100" b="0" i="0" dirty="0">
                <a:solidFill>
                  <a:srgbClr val="1A1A1A"/>
                </a:solidFill>
                <a:latin typeface="Arial"/>
                <a:cs typeface="Arial"/>
              </a:rPr>
              <a:t>6 levels of 2 items</a:t>
            </a:r>
            <a:endParaRPr lang="en-GB" sz="1100" dirty="0"/>
          </a:p>
        </p:txBody>
      </p:sp>
      <p:sp>
        <p:nvSpPr>
          <p:cNvPr id="22" name="Shape 22"/>
          <p:cNvSpPr/>
          <p:nvPr/>
        </p:nvSpPr>
        <p:spPr>
          <a:xfrm>
            <a:off x="4114800" y="3986784"/>
            <a:ext cx="128016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0" i="0" dirty="0">
                <a:solidFill>
                  <a:srgbClr val="1A1A1A"/>
                </a:solidFill>
                <a:latin typeface="Arial"/>
                <a:cs typeface="Arial"/>
              </a:rPr>
              <a:t>6</a:t>
            </a:r>
            <a:endParaRPr lang="en-GB" sz="1100" dirty="0"/>
          </a:p>
        </p:txBody>
      </p:sp>
      <p:sp>
        <p:nvSpPr>
          <p:cNvPr id="23" name="Shape 23"/>
          <p:cNvSpPr/>
          <p:nvPr/>
        </p:nvSpPr>
        <p:spPr>
          <a:xfrm>
            <a:off x="5394960" y="3986784"/>
            <a:ext cx="146304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0" i="0" dirty="0">
                <a:solidFill>
                  <a:srgbClr val="1A1A1A"/>
                </a:solidFill>
                <a:latin typeface="Arial"/>
                <a:cs typeface="Arial"/>
              </a:rPr>
              <a:t>2</a:t>
            </a:r>
            <a:endParaRPr lang="en-GB" sz="1100" dirty="0"/>
          </a:p>
        </p:txBody>
      </p:sp>
      <p:sp>
        <p:nvSpPr>
          <p:cNvPr id="24" name="Shape 24"/>
          <p:cNvSpPr/>
          <p:nvPr/>
        </p:nvSpPr>
        <p:spPr>
          <a:xfrm>
            <a:off x="6858000" y="3986784"/>
            <a:ext cx="128016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0" i="0" dirty="0">
                <a:solidFill>
                  <a:srgbClr val="1A1A1A"/>
                </a:solidFill>
                <a:latin typeface="Arial"/>
                <a:cs typeface="Arial"/>
              </a:rPr>
              <a:t/>
            </a:r>
            <a:endParaRPr lang="en-GB" sz="1100" dirty="0"/>
          </a:p>
        </p:txBody>
      </p:sp>
      <p:sp>
        <p:nvSpPr>
          <p:cNvPr id="25" name="Shape 25"/>
          <p:cNvSpPr/>
          <p:nvPr/>
        </p:nvSpPr>
        <p:spPr>
          <a:xfrm>
            <a:off x="548640" y="4370832"/>
            <a:ext cx="41148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1" i="0" dirty="0">
                <a:solidFill>
                  <a:srgbClr val="2D2D8A"/>
                </a:solidFill>
                <a:latin typeface="Arial"/>
                <a:cs typeface="Arial"/>
              </a:rPr>
              <a:t>B</a:t>
            </a:r>
            <a:endParaRPr lang="en-GB" sz="1100" dirty="0"/>
          </a:p>
        </p:txBody>
      </p:sp>
      <p:sp>
        <p:nvSpPr>
          <p:cNvPr id="26" name="Shape 26"/>
          <p:cNvSpPr/>
          <p:nvPr/>
        </p:nvSpPr>
        <p:spPr>
          <a:xfrm>
            <a:off x="960120" y="4370832"/>
            <a:ext cx="315468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l">
              <a:buNone/>
            </a:pPr>
            <a:r>
              <a:rPr lang="en-GB" sz="1100" b="0" i="0" dirty="0">
                <a:solidFill>
                  <a:srgbClr val="1A1A1A"/>
                </a:solidFill>
                <a:latin typeface="Arial"/>
                <a:cs typeface="Arial"/>
              </a:rPr>
              <a:t>3 levels of 4 items</a:t>
            </a:r>
            <a:endParaRPr lang="en-GB" sz="1100" dirty="0"/>
          </a:p>
        </p:txBody>
      </p:sp>
      <p:sp>
        <p:nvSpPr>
          <p:cNvPr id="27" name="Shape 27"/>
          <p:cNvSpPr/>
          <p:nvPr/>
        </p:nvSpPr>
        <p:spPr>
          <a:xfrm>
            <a:off x="4114800" y="4370832"/>
            <a:ext cx="128016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0" i="0" dirty="0">
                <a:solidFill>
                  <a:srgbClr val="1A1A1A"/>
                </a:solidFill>
                <a:latin typeface="Arial"/>
                <a:cs typeface="Arial"/>
              </a:rPr>
              <a:t>3</a:t>
            </a:r>
            <a:endParaRPr lang="en-GB" sz="1100" dirty="0"/>
          </a:p>
        </p:txBody>
      </p:sp>
      <p:sp>
        <p:nvSpPr>
          <p:cNvPr id="28" name="Shape 28"/>
          <p:cNvSpPr/>
          <p:nvPr/>
        </p:nvSpPr>
        <p:spPr>
          <a:xfrm>
            <a:off x="5394960" y="4370832"/>
            <a:ext cx="146304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0" i="0" dirty="0">
                <a:solidFill>
                  <a:srgbClr val="1A1A1A"/>
                </a:solidFill>
                <a:latin typeface="Arial"/>
                <a:cs typeface="Arial"/>
              </a:rPr>
              <a:t>4</a:t>
            </a:r>
            <a:endParaRPr lang="en-GB" sz="1100" dirty="0"/>
          </a:p>
        </p:txBody>
      </p:sp>
      <p:sp>
        <p:nvSpPr>
          <p:cNvPr id="29" name="Shape 29"/>
          <p:cNvSpPr/>
          <p:nvPr/>
        </p:nvSpPr>
        <p:spPr>
          <a:xfrm>
            <a:off x="6858000" y="4370832"/>
            <a:ext cx="128016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0" i="0" dirty="0">
                <a:solidFill>
                  <a:srgbClr val="1A1A1A"/>
                </a:solidFill>
                <a:latin typeface="Arial"/>
                <a:cs typeface="Arial"/>
              </a:rPr>
              <a:t/>
            </a:r>
            <a:endParaRPr lang="en-GB" sz="1100" dirty="0"/>
          </a:p>
        </p:txBody>
      </p:sp>
      <p:sp>
        <p:nvSpPr>
          <p:cNvPr id="30" name="Shape 30"/>
          <p:cNvSpPr/>
          <p:nvPr/>
        </p:nvSpPr>
        <p:spPr>
          <a:xfrm>
            <a:off x="548640" y="4754880"/>
            <a:ext cx="41148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1" i="0" dirty="0">
                <a:solidFill>
                  <a:srgbClr val="2D2D8A"/>
                </a:solidFill>
                <a:latin typeface="Arial"/>
                <a:cs typeface="Arial"/>
              </a:rPr>
              <a:t>C</a:t>
            </a:r>
            <a:endParaRPr lang="en-GB" sz="1100" dirty="0"/>
          </a:p>
        </p:txBody>
      </p:sp>
      <p:sp>
        <p:nvSpPr>
          <p:cNvPr id="31" name="Shape 31"/>
          <p:cNvSpPr/>
          <p:nvPr/>
        </p:nvSpPr>
        <p:spPr>
          <a:xfrm>
            <a:off x="960120" y="4754880"/>
            <a:ext cx="315468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l">
              <a:buNone/>
            </a:pPr>
            <a:r>
              <a:rPr lang="en-GB" sz="1100" b="0" i="0" dirty="0">
                <a:solidFill>
                  <a:srgbClr val="1A1A1A"/>
                </a:solidFill>
                <a:latin typeface="Arial"/>
                <a:cs typeface="Arial"/>
              </a:rPr>
              <a:t>2 levels of 8 items</a:t>
            </a:r>
            <a:endParaRPr lang="en-GB" sz="1100" dirty="0"/>
          </a:p>
        </p:txBody>
      </p:sp>
      <p:sp>
        <p:nvSpPr>
          <p:cNvPr id="32" name="Shape 32"/>
          <p:cNvSpPr/>
          <p:nvPr/>
        </p:nvSpPr>
        <p:spPr>
          <a:xfrm>
            <a:off x="4114800" y="4754880"/>
            <a:ext cx="128016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0" i="0" dirty="0">
                <a:solidFill>
                  <a:srgbClr val="1A1A1A"/>
                </a:solidFill>
                <a:latin typeface="Arial"/>
                <a:cs typeface="Arial"/>
              </a:rPr>
              <a:t>2</a:t>
            </a:r>
            <a:endParaRPr lang="en-GB" sz="1100" dirty="0"/>
          </a:p>
        </p:txBody>
      </p:sp>
      <p:sp>
        <p:nvSpPr>
          <p:cNvPr id="33" name="Shape 33"/>
          <p:cNvSpPr/>
          <p:nvPr/>
        </p:nvSpPr>
        <p:spPr>
          <a:xfrm>
            <a:off x="5394960" y="4754880"/>
            <a:ext cx="146304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0" i="0" dirty="0">
                <a:solidFill>
                  <a:srgbClr val="1A1A1A"/>
                </a:solidFill>
                <a:latin typeface="Arial"/>
                <a:cs typeface="Arial"/>
              </a:rPr>
              <a:t>8</a:t>
            </a:r>
            <a:endParaRPr lang="en-GB" sz="1100" dirty="0"/>
          </a:p>
        </p:txBody>
      </p:sp>
      <p:sp>
        <p:nvSpPr>
          <p:cNvPr id="34" name="Shape 34"/>
          <p:cNvSpPr/>
          <p:nvPr/>
        </p:nvSpPr>
        <p:spPr>
          <a:xfrm>
            <a:off x="6858000" y="4754880"/>
            <a:ext cx="128016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0" i="0" dirty="0">
                <a:solidFill>
                  <a:srgbClr val="1A1A1A"/>
                </a:solidFill>
                <a:latin typeface="Arial"/>
                <a:cs typeface="Arial"/>
              </a:rPr>
              <a:t/>
            </a:r>
            <a:endParaRPr lang="en-GB" sz="1100" dirty="0"/>
          </a:p>
        </p:txBody>
      </p:sp>
      <p:sp>
        <p:nvSpPr>
          <p:cNvPr id="35" name="Shape 35"/>
          <p:cNvSpPr/>
          <p:nvPr/>
        </p:nvSpPr>
        <p:spPr>
          <a:xfrm>
            <a:off x="548640" y="5138928"/>
            <a:ext cx="41148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1" i="0" dirty="0">
                <a:solidFill>
                  <a:srgbClr val="2D2D8A"/>
                </a:solidFill>
                <a:latin typeface="Arial"/>
                <a:cs typeface="Arial"/>
              </a:rPr>
              <a:t>D</a:t>
            </a:r>
            <a:endParaRPr lang="en-GB" sz="1100" dirty="0"/>
          </a:p>
        </p:txBody>
      </p:sp>
      <p:sp>
        <p:nvSpPr>
          <p:cNvPr id="36" name="Shape 36"/>
          <p:cNvSpPr/>
          <p:nvPr/>
        </p:nvSpPr>
        <p:spPr>
          <a:xfrm>
            <a:off x="960120" y="5138928"/>
            <a:ext cx="315468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l">
              <a:buNone/>
            </a:pPr>
            <a:r>
              <a:rPr lang="en-GB" sz="1100" b="0" i="0" dirty="0">
                <a:solidFill>
                  <a:srgbClr val="1A1A1A"/>
                </a:solidFill>
                <a:latin typeface="Arial"/>
                <a:cs typeface="Arial"/>
              </a:rPr>
              <a:t>1 long list of 64 items</a:t>
            </a:r>
            <a:endParaRPr lang="en-GB" sz="1100" dirty="0"/>
          </a:p>
        </p:txBody>
      </p:sp>
      <p:sp>
        <p:nvSpPr>
          <p:cNvPr id="37" name="Shape 37"/>
          <p:cNvSpPr/>
          <p:nvPr/>
        </p:nvSpPr>
        <p:spPr>
          <a:xfrm>
            <a:off x="4114800" y="5138928"/>
            <a:ext cx="128016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0" i="0" dirty="0">
                <a:solidFill>
                  <a:srgbClr val="1A1A1A"/>
                </a:solidFill>
                <a:latin typeface="Arial"/>
                <a:cs typeface="Arial"/>
              </a:rPr>
              <a:t>1</a:t>
            </a:r>
            <a:endParaRPr lang="en-GB" sz="1100" dirty="0"/>
          </a:p>
        </p:txBody>
      </p:sp>
      <p:sp>
        <p:nvSpPr>
          <p:cNvPr id="38" name="Shape 38"/>
          <p:cNvSpPr/>
          <p:nvPr/>
        </p:nvSpPr>
        <p:spPr>
          <a:xfrm>
            <a:off x="5394960" y="5138928"/>
            <a:ext cx="146304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0" i="0" dirty="0">
                <a:solidFill>
                  <a:srgbClr val="1A1A1A"/>
                </a:solidFill>
                <a:latin typeface="Arial"/>
                <a:cs typeface="Arial"/>
              </a:rPr>
              <a:t>64</a:t>
            </a:r>
            <a:endParaRPr lang="en-GB" sz="1100" dirty="0"/>
          </a:p>
        </p:txBody>
      </p:sp>
      <p:sp>
        <p:nvSpPr>
          <p:cNvPr id="39" name="Shape 39"/>
          <p:cNvSpPr/>
          <p:nvPr/>
        </p:nvSpPr>
        <p:spPr>
          <a:xfrm>
            <a:off x="6858000" y="5138928"/>
            <a:ext cx="128016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0" i="0" dirty="0">
                <a:solidFill>
                  <a:srgbClr val="1A1A1A"/>
                </a:solidFill>
                <a:latin typeface="Arial"/>
                <a:cs typeface="Arial"/>
              </a:rPr>
              <a:t/>
            </a:r>
            <a:endParaRPr lang="en-GB" sz="1100" dirty="0"/>
          </a:p>
        </p:txBody>
      </p:sp>
      <p:sp>
        <p:nvSpPr>
          <p:cNvPr id="40" name="Shape 40"/>
          <p:cNvSpPr/>
          <p:nvPr/>
        </p:nvSpPr>
        <p:spPr>
          <a:xfrm>
            <a:off x="548640" y="5522976"/>
            <a:ext cx="41148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1" i="0" dirty="0">
                <a:solidFill>
                  <a:srgbClr val="2D2D8A"/>
                </a:solidFill>
                <a:latin typeface="Arial"/>
                <a:cs typeface="Arial"/>
              </a:rPr>
              <a:t>E</a:t>
            </a:r>
            <a:endParaRPr lang="en-GB" sz="1100" dirty="0"/>
          </a:p>
        </p:txBody>
      </p:sp>
      <p:sp>
        <p:nvSpPr>
          <p:cNvPr id="41" name="Shape 41"/>
          <p:cNvSpPr/>
          <p:nvPr/>
        </p:nvSpPr>
        <p:spPr>
          <a:xfrm>
            <a:off x="960120" y="5522976"/>
            <a:ext cx="315468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l">
              <a:buNone/>
            </a:pPr>
            <a:r>
              <a:rPr lang="en-GB" sz="1100" b="0" i="0" dirty="0">
                <a:solidFill>
                  <a:srgbClr val="1A1A1A"/>
                </a:solidFill>
                <a:latin typeface="Arial"/>
                <a:cs typeface="Arial"/>
              </a:rPr>
              <a:t>1 screen: 8 labelled groups of 8</a:t>
            </a:r>
            <a:endParaRPr lang="en-GB" sz="1100" dirty="0"/>
          </a:p>
        </p:txBody>
      </p:sp>
      <p:sp>
        <p:nvSpPr>
          <p:cNvPr id="42" name="Shape 42"/>
          <p:cNvSpPr/>
          <p:nvPr/>
        </p:nvSpPr>
        <p:spPr>
          <a:xfrm>
            <a:off x="4114800" y="5522976"/>
            <a:ext cx="128016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0" i="0" dirty="0">
                <a:solidFill>
                  <a:srgbClr val="1A1A1A"/>
                </a:solidFill>
                <a:latin typeface="Arial"/>
                <a:cs typeface="Arial"/>
              </a:rPr>
              <a:t>1</a:t>
            </a:r>
            <a:endParaRPr lang="en-GB" sz="1100" dirty="0"/>
          </a:p>
        </p:txBody>
      </p:sp>
      <p:sp>
        <p:nvSpPr>
          <p:cNvPr id="43" name="Shape 43"/>
          <p:cNvSpPr/>
          <p:nvPr/>
        </p:nvSpPr>
        <p:spPr>
          <a:xfrm>
            <a:off x="5394960" y="5522976"/>
            <a:ext cx="146304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0" i="0" dirty="0">
                <a:solidFill>
                  <a:srgbClr val="1A1A1A"/>
                </a:solidFill>
                <a:latin typeface="Arial"/>
                <a:cs typeface="Arial"/>
              </a:rPr>
              <a:t>8 + 8</a:t>
            </a:r>
            <a:endParaRPr lang="en-GB" sz="1100" dirty="0"/>
          </a:p>
        </p:txBody>
      </p:sp>
      <p:sp>
        <p:nvSpPr>
          <p:cNvPr id="44" name="Shape 44"/>
          <p:cNvSpPr/>
          <p:nvPr/>
        </p:nvSpPr>
        <p:spPr>
          <a:xfrm>
            <a:off x="6858000" y="5522976"/>
            <a:ext cx="128016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0" i="0" dirty="0">
                <a:solidFill>
                  <a:srgbClr val="1A1A1A"/>
                </a:solidFill>
                <a:latin typeface="Arial"/>
                <a:cs typeface="Arial"/>
              </a:rPr>
              <a:t/>
            </a:r>
            <a:endParaRPr lang="en-GB" sz="11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Deep or broad?</a:t>
            </a:r>
          </a:p>
        </p:txBody>
      </p:sp>
      <p:sp>
        <p:nvSpPr>
          <p:cNvPr id="11" name="Shape 11"/>
          <p:cNvSpPr/>
          <p:nvPr/>
        </p:nvSpPr>
        <p:spPr>
          <a:xfrm>
            <a:off x="548640" y="1810512"/>
            <a:ext cx="1056132" cy="310896"/>
          </a:xfrm>
          <a:prstGeom prst="roundRect">
            <a:avLst>
              <a:gd name="adj" fmla="val 50000"/>
            </a:avLst>
          </a:prstGeom>
          <a:solidFill>
            <a:srgbClr val="404040"/>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ANSWERS</a:t>
            </a:r>
            <a:endParaRPr lang="en-GB" sz="1100" dirty="0"/>
          </a:p>
        </p:txBody>
      </p:sp>
      <p:sp>
        <p:nvSpPr>
          <p:cNvPr id="12" name="Shape 12"/>
          <p:cNvSpPr txBox="1"/>
          <p:nvPr/>
        </p:nvSpPr>
        <p:spPr>
          <a:xfrm>
            <a:off x="1714500" y="1810512"/>
            <a:ext cx="6423660" cy="310896"/>
          </a:xfrm>
          <a:prstGeom prst="rect">
            <a:avLst/>
          </a:prstGeom>
          <a:noFill/>
          <a:ln>
            <a:noFill/>
          </a:ln>
        </p:spPr>
        <p:txBody>
          <a:bodyPr wrap="square" lIns="18288" tIns="18288" rIns="18288" bIns="18288" anchor="ctr" rtlCol="0">
            <a:noAutofit/>
          </a:bodyPr>
          <a:lstStyle/>
          <a:p>
            <a:pPr algn="l">
              <a:buNone/>
            </a:pPr>
            <a:r>
              <a:rPr lang="en-GB" sz="1200" b="0" i="1" dirty="0">
                <a:solidFill>
                  <a:srgbClr val="595959"/>
                </a:solidFill>
                <a:latin typeface="Arial"/>
                <a:cs typeface="Arial"/>
              </a:rPr>
              <a:t>time to reach one of 64 services</a:t>
            </a:r>
            <a:endParaRPr lang="en-GB" sz="1200" dirty="0"/>
          </a:p>
        </p:txBody>
      </p:sp>
      <p:sp>
        <p:nvSpPr>
          <p:cNvPr id="13" name="Shape 13"/>
          <p:cNvSpPr txBox="1"/>
          <p:nvPr/>
        </p:nvSpPr>
        <p:spPr>
          <a:xfrm>
            <a:off x="548640" y="2240280"/>
            <a:ext cx="7589520" cy="566928"/>
          </a:xfrm>
          <a:prstGeom prst="rect">
            <a:avLst/>
          </a:prstGeom>
          <a:noFill/>
          <a:ln>
            <a:noFill/>
          </a:ln>
        </p:spPr>
        <p:txBody>
          <a:bodyPr wrap="square" lIns="18288" tIns="18288" rIns="18288" bIns="18288" anchor="t" rtlCol="0">
            <a:noAutofit/>
          </a:bodyPr>
          <a:lstStyle/>
          <a:p>
            <a:pPr algn="l">
              <a:buNone/>
            </a:pPr>
            <a:r>
              <a:rPr lang="en-GB" sz="1600" b="1" i="0" dirty="0">
                <a:solidFill>
                  <a:srgbClr val="2D2D8A"/>
                </a:solidFill>
                <a:latin typeface="Arial"/>
                <a:cs typeface="Arial"/>
              </a:rPr>
              <a:t>A portal offers 64 services. Which menu structure gets a user to one of them fastest?</a:t>
            </a:r>
            <a:endParaRPr lang="en-GB" sz="1600" dirty="0"/>
          </a:p>
        </p:txBody>
      </p:sp>
      <p:sp>
        <p:nvSpPr>
          <p:cNvPr id="14" name="Shape 14"/>
          <p:cNvSpPr/>
          <p:nvPr/>
        </p:nvSpPr>
        <p:spPr>
          <a:xfrm>
            <a:off x="548640" y="2852928"/>
            <a:ext cx="7589520" cy="658368"/>
          </a:xfrm>
          <a:prstGeom prst="roundRect">
            <a:avLst>
              <a:gd name="adj" fmla="val 8000"/>
            </a:avLst>
          </a:prstGeom>
          <a:solidFill>
            <a:srgbClr val="F3F8F9"/>
          </a:solidFill>
          <a:ln w="12700">
            <a:solidFill>
              <a:srgbClr val="9DB8BC"/>
            </a:solidFill>
          </a:ln>
        </p:spPr>
        <p:txBody>
          <a:bodyPr wrap="square" lIns="109728" tIns="109728" rIns="109728" bIns="109728" anchor="ctr" rtlCol="0">
            <a:noAutofit/>
          </a:bodyPr>
          <a:lstStyle/>
          <a:p>
            <a:pPr algn="l">
              <a:buNone/>
            </a:pPr>
            <a:r>
              <a:rPr lang="en-GB" sz="1150" b="1" i="0" dirty="0">
                <a:solidFill>
                  <a:srgbClr val="2D2D8A"/>
                </a:solidFill>
                <a:latin typeface="Arial"/>
                <a:cs typeface="Arial"/>
              </a:rPr>
              <a:t xml:space="preserve">Assume: </a:t>
            </a:r>
            <a:r>
              <a:rPr lang="en-GB" sz="1150" b="0" i="0" dirty="0">
                <a:solidFill>
                  <a:srgbClr val="1A1A1A"/>
                </a:solidFill>
                <a:latin typeface="Arial"/>
                <a:cs typeface="Arial"/>
              </a:rPr>
              <a:t>each screen costs 2 s to click and load. On a screen you read about half the items at 0.25 s each, so reading takes 0.125 s × items on that screen.</a:t>
            </a:r>
            <a:endParaRPr lang="en-GB" sz="1150" dirty="0"/>
          </a:p>
        </p:txBody>
      </p:sp>
      <p:sp>
        <p:nvSpPr>
          <p:cNvPr id="15" name="Shape 15"/>
          <p:cNvSpPr/>
          <p:nvPr/>
        </p:nvSpPr>
        <p:spPr>
          <a:xfrm>
            <a:off x="548640" y="3657600"/>
            <a:ext cx="411480" cy="329184"/>
          </a:xfrm>
          <a:prstGeom prst="rect">
            <a:avLst/>
          </a:prstGeom>
          <a:solidFill>
            <a:srgbClr val="8A5A00"/>
          </a:solidFill>
          <a:ln w="12700">
            <a:solidFill>
              <a:srgbClr val="FFFFFF"/>
            </a:solidFill>
          </a:ln>
        </p:spPr>
        <p:txBody>
          <a:bodyPr wrap="square" lIns="54864" tIns="54864" rIns="54864" bIns="54864" anchor="ctr" rtlCol="0">
            <a:noAutofit/>
          </a:bodyPr>
          <a:lstStyle/>
          <a:p>
            <a:pPr algn="ctr">
              <a:buNone/>
            </a:pPr>
            <a:r>
              <a:rPr lang="en-GB" sz="1050" b="1" i="0" dirty="0">
                <a:solidFill>
                  <a:srgbClr val="FFFFFF"/>
                </a:solidFill>
                <a:latin typeface="Arial"/>
                <a:cs typeface="Arial"/>
              </a:rPr>
              <a:t/>
            </a:r>
            <a:endParaRPr lang="en-GB" sz="1050" dirty="0"/>
          </a:p>
        </p:txBody>
      </p:sp>
      <p:sp>
        <p:nvSpPr>
          <p:cNvPr id="16" name="Shape 16"/>
          <p:cNvSpPr/>
          <p:nvPr/>
        </p:nvSpPr>
        <p:spPr>
          <a:xfrm>
            <a:off x="960120" y="3657600"/>
            <a:ext cx="2788920" cy="329184"/>
          </a:xfrm>
          <a:prstGeom prst="rect">
            <a:avLst/>
          </a:prstGeom>
          <a:solidFill>
            <a:srgbClr val="8A5A00"/>
          </a:solidFill>
          <a:ln w="12700">
            <a:solidFill>
              <a:srgbClr val="FFFFFF"/>
            </a:solidFill>
          </a:ln>
        </p:spPr>
        <p:txBody>
          <a:bodyPr wrap="square" lIns="54864" tIns="54864" rIns="54864" bIns="54864" anchor="ctr" rtlCol="0">
            <a:noAutofit/>
          </a:bodyPr>
          <a:lstStyle/>
          <a:p>
            <a:pPr algn="l">
              <a:buNone/>
            </a:pPr>
            <a:r>
              <a:rPr lang="en-GB" sz="1050" b="1" i="0" dirty="0">
                <a:solidFill>
                  <a:srgbClr val="FFFFFF"/>
                </a:solidFill>
                <a:latin typeface="Arial"/>
                <a:cs typeface="Arial"/>
              </a:rPr>
              <a:t>Structure</a:t>
            </a:r>
            <a:endParaRPr lang="en-GB" sz="1050" dirty="0"/>
          </a:p>
        </p:txBody>
      </p:sp>
      <p:sp>
        <p:nvSpPr>
          <p:cNvPr id="17" name="Shape 17"/>
          <p:cNvSpPr/>
          <p:nvPr/>
        </p:nvSpPr>
        <p:spPr>
          <a:xfrm>
            <a:off x="3749040" y="3657600"/>
            <a:ext cx="1737360" cy="329184"/>
          </a:xfrm>
          <a:prstGeom prst="rect">
            <a:avLst/>
          </a:prstGeom>
          <a:solidFill>
            <a:srgbClr val="8A5A00"/>
          </a:solidFill>
          <a:ln w="12700">
            <a:solidFill>
              <a:srgbClr val="FFFFFF"/>
            </a:solidFill>
          </a:ln>
        </p:spPr>
        <p:txBody>
          <a:bodyPr wrap="square" lIns="54864" tIns="54864" rIns="54864" bIns="54864" anchor="ctr" rtlCol="0">
            <a:noAutofit/>
          </a:bodyPr>
          <a:lstStyle/>
          <a:p>
            <a:pPr algn="ctr">
              <a:buNone/>
            </a:pPr>
            <a:r>
              <a:rPr lang="en-GB" sz="1050" b="1" i="0" dirty="0">
                <a:solidFill>
                  <a:srgbClr val="FFFFFF"/>
                </a:solidFill>
                <a:latin typeface="Arial"/>
                <a:cs typeface="Arial"/>
              </a:rPr>
              <a:t>Working</a:t>
            </a:r>
            <a:endParaRPr lang="en-GB" sz="1050" dirty="0"/>
          </a:p>
        </p:txBody>
      </p:sp>
      <p:sp>
        <p:nvSpPr>
          <p:cNvPr id="18" name="Shape 18"/>
          <p:cNvSpPr/>
          <p:nvPr/>
        </p:nvSpPr>
        <p:spPr>
          <a:xfrm>
            <a:off x="5486400" y="3657600"/>
            <a:ext cx="2651760" cy="329184"/>
          </a:xfrm>
          <a:prstGeom prst="rect">
            <a:avLst/>
          </a:prstGeom>
          <a:solidFill>
            <a:srgbClr val="8A5A00"/>
          </a:solidFill>
          <a:ln w="12700">
            <a:solidFill>
              <a:srgbClr val="FFFFFF"/>
            </a:solidFill>
          </a:ln>
        </p:spPr>
        <p:txBody>
          <a:bodyPr wrap="square" lIns="54864" tIns="54864" rIns="54864" bIns="54864" anchor="ctr" rtlCol="0">
            <a:noAutofit/>
          </a:bodyPr>
          <a:lstStyle/>
          <a:p>
            <a:pPr algn="ctr">
              <a:buNone/>
            </a:pPr>
            <a:r>
              <a:rPr lang="en-GB" sz="1050" b="1" i="0" dirty="0">
                <a:solidFill>
                  <a:srgbClr val="FFFFFF"/>
                </a:solidFill>
                <a:latin typeface="Arial"/>
                <a:cs typeface="Arial"/>
              </a:rPr>
              <a:t>Time (s)</a:t>
            </a:r>
            <a:endParaRPr lang="en-GB" sz="1050" dirty="0"/>
          </a:p>
        </p:txBody>
      </p:sp>
      <p:sp>
        <p:nvSpPr>
          <p:cNvPr id="19" name="Shape 19"/>
          <p:cNvSpPr/>
          <p:nvPr/>
        </p:nvSpPr>
        <p:spPr>
          <a:xfrm>
            <a:off x="548640" y="3986784"/>
            <a:ext cx="41148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1" i="0" dirty="0">
                <a:solidFill>
                  <a:srgbClr val="2D2D8A"/>
                </a:solidFill>
                <a:latin typeface="Arial"/>
                <a:cs typeface="Arial"/>
              </a:rPr>
              <a:t>A</a:t>
            </a:r>
            <a:endParaRPr lang="en-GB" sz="1100" dirty="0"/>
          </a:p>
        </p:txBody>
      </p:sp>
      <p:sp>
        <p:nvSpPr>
          <p:cNvPr id="20" name="Shape 20"/>
          <p:cNvSpPr/>
          <p:nvPr/>
        </p:nvSpPr>
        <p:spPr>
          <a:xfrm>
            <a:off x="960120" y="3986784"/>
            <a:ext cx="278892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l">
              <a:buNone/>
            </a:pPr>
            <a:r>
              <a:rPr lang="en-GB" sz="1100" b="0" i="0" dirty="0">
                <a:solidFill>
                  <a:srgbClr val="1A1A1A"/>
                </a:solidFill>
                <a:latin typeface="Arial"/>
                <a:cs typeface="Arial"/>
              </a:rPr>
              <a:t>6 levels of 2 items</a:t>
            </a:r>
            <a:endParaRPr lang="en-GB" sz="1100" dirty="0"/>
          </a:p>
        </p:txBody>
      </p:sp>
      <p:sp>
        <p:nvSpPr>
          <p:cNvPr id="21" name="Shape 21"/>
          <p:cNvSpPr/>
          <p:nvPr/>
        </p:nvSpPr>
        <p:spPr>
          <a:xfrm>
            <a:off x="3749040" y="3986784"/>
            <a:ext cx="173736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0" i="0" dirty="0">
                <a:solidFill>
                  <a:srgbClr val="1A1A1A"/>
                </a:solidFill>
                <a:latin typeface="Arial"/>
                <a:cs typeface="Arial"/>
              </a:rPr>
              <a:t>6 × (2 + 0.25)</a:t>
            </a:r>
            <a:endParaRPr lang="en-GB" sz="1100" dirty="0"/>
          </a:p>
        </p:txBody>
      </p:sp>
      <p:sp>
        <p:nvSpPr>
          <p:cNvPr id="22" name="Shape 22"/>
          <p:cNvSpPr/>
          <p:nvPr/>
        </p:nvSpPr>
        <p:spPr>
          <a:xfrm>
            <a:off x="5486400" y="3986784"/>
            <a:ext cx="2651760" cy="384048"/>
          </a:xfrm>
          <a:prstGeom prst="rect">
            <a:avLst/>
          </a:prstGeom>
          <a:solidFill>
            <a:srgbClr val="FFFFFF"/>
          </a:solidFill>
          <a:ln w="12700">
            <a:solidFill>
              <a:srgbClr val="9DB8BC"/>
            </a:solidFill>
          </a:ln>
        </p:spPr>
        <p:txBody>
          <a:bodyPr wrap="square" lIns="36576" tIns="36576" rIns="36576" bIns="36576" anchor="t" rtlCol="0">
            <a:noAutofit/>
          </a:bodyPr>
          <a:lstStyle/>
          <a:p>
            <a:endParaRPr lang="en-GB" sz="1200" dirty="0"/>
          </a:p>
        </p:txBody>
      </p:sp>
      <p:sp>
        <p:nvSpPr>
          <p:cNvPr id="23" name="Shape 23"/>
          <p:cNvSpPr/>
          <p:nvPr/>
        </p:nvSpPr>
        <p:spPr>
          <a:xfrm>
            <a:off x="5577840" y="4078224"/>
            <a:ext cx="1828800" cy="201168"/>
          </a:xfrm>
          <a:prstGeom prst="rect">
            <a:avLst/>
          </a:prstGeom>
          <a:solidFill>
            <a:srgbClr val="8A5A00"/>
          </a:solidFill>
          <a:ln>
            <a:noFill/>
          </a:ln>
        </p:spPr>
        <p:txBody>
          <a:bodyPr wrap="square" lIns="36576" tIns="36576" rIns="36576" bIns="36576" anchor="t" rtlCol="0">
            <a:noAutofit/>
          </a:bodyPr>
          <a:lstStyle/>
          <a:p>
            <a:endParaRPr lang="en-GB" sz="1200" dirty="0"/>
          </a:p>
        </p:txBody>
      </p:sp>
      <p:sp>
        <p:nvSpPr>
          <p:cNvPr id="24" name="Shape 24"/>
          <p:cNvSpPr txBox="1"/>
          <p:nvPr/>
        </p:nvSpPr>
        <p:spPr>
          <a:xfrm>
            <a:off x="7452360" y="3986784"/>
            <a:ext cx="640080" cy="384048"/>
          </a:xfrm>
          <a:prstGeom prst="rect">
            <a:avLst/>
          </a:prstGeom>
          <a:noFill/>
          <a:ln>
            <a:noFill/>
          </a:ln>
        </p:spPr>
        <p:txBody>
          <a:bodyPr wrap="square" lIns="18288" tIns="18288" rIns="18288" bIns="18288" anchor="ctr" rtlCol="0">
            <a:noAutofit/>
          </a:bodyPr>
          <a:lstStyle/>
          <a:p>
            <a:pPr algn="l">
              <a:buNone/>
            </a:pPr>
            <a:r>
              <a:rPr lang="en-GB" sz="1100" b="1" i="0" dirty="0">
                <a:solidFill>
                  <a:srgbClr val="1A1A1A"/>
                </a:solidFill>
                <a:latin typeface="Arial"/>
                <a:cs typeface="Arial"/>
              </a:rPr>
              <a:t>13.5</a:t>
            </a:r>
            <a:endParaRPr lang="en-GB" sz="1100" dirty="0"/>
          </a:p>
        </p:txBody>
      </p:sp>
      <p:sp>
        <p:nvSpPr>
          <p:cNvPr id="25" name="Shape 25"/>
          <p:cNvSpPr/>
          <p:nvPr/>
        </p:nvSpPr>
        <p:spPr>
          <a:xfrm>
            <a:off x="548640" y="4370832"/>
            <a:ext cx="41148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1" i="0" dirty="0">
                <a:solidFill>
                  <a:srgbClr val="2D2D8A"/>
                </a:solidFill>
                <a:latin typeface="Arial"/>
                <a:cs typeface="Arial"/>
              </a:rPr>
              <a:t>B</a:t>
            </a:r>
            <a:endParaRPr lang="en-GB" sz="1100" dirty="0"/>
          </a:p>
        </p:txBody>
      </p:sp>
      <p:sp>
        <p:nvSpPr>
          <p:cNvPr id="26" name="Shape 26"/>
          <p:cNvSpPr/>
          <p:nvPr/>
        </p:nvSpPr>
        <p:spPr>
          <a:xfrm>
            <a:off x="960120" y="4370832"/>
            <a:ext cx="278892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l">
              <a:buNone/>
            </a:pPr>
            <a:r>
              <a:rPr lang="en-GB" sz="1100" b="0" i="0" dirty="0">
                <a:solidFill>
                  <a:srgbClr val="1A1A1A"/>
                </a:solidFill>
                <a:latin typeface="Arial"/>
                <a:cs typeface="Arial"/>
              </a:rPr>
              <a:t>3 levels of 4 items</a:t>
            </a:r>
            <a:endParaRPr lang="en-GB" sz="1100" dirty="0"/>
          </a:p>
        </p:txBody>
      </p:sp>
      <p:sp>
        <p:nvSpPr>
          <p:cNvPr id="27" name="Shape 27"/>
          <p:cNvSpPr/>
          <p:nvPr/>
        </p:nvSpPr>
        <p:spPr>
          <a:xfrm>
            <a:off x="3749040" y="4370832"/>
            <a:ext cx="173736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0" i="0" dirty="0">
                <a:solidFill>
                  <a:srgbClr val="1A1A1A"/>
                </a:solidFill>
                <a:latin typeface="Arial"/>
                <a:cs typeface="Arial"/>
              </a:rPr>
              <a:t>3 × (2 + 0.5)</a:t>
            </a:r>
            <a:endParaRPr lang="en-GB" sz="1100" dirty="0"/>
          </a:p>
        </p:txBody>
      </p:sp>
      <p:sp>
        <p:nvSpPr>
          <p:cNvPr id="28" name="Shape 28"/>
          <p:cNvSpPr/>
          <p:nvPr/>
        </p:nvSpPr>
        <p:spPr>
          <a:xfrm>
            <a:off x="5486400" y="4370832"/>
            <a:ext cx="2651760" cy="384048"/>
          </a:xfrm>
          <a:prstGeom prst="rect">
            <a:avLst/>
          </a:prstGeom>
          <a:solidFill>
            <a:srgbClr val="FFFFFF"/>
          </a:solidFill>
          <a:ln w="12700">
            <a:solidFill>
              <a:srgbClr val="9DB8BC"/>
            </a:solidFill>
          </a:ln>
        </p:spPr>
        <p:txBody>
          <a:bodyPr wrap="square" lIns="36576" tIns="36576" rIns="36576" bIns="36576" anchor="t" rtlCol="0">
            <a:noAutofit/>
          </a:bodyPr>
          <a:lstStyle/>
          <a:p>
            <a:endParaRPr lang="en-GB" sz="1200" dirty="0"/>
          </a:p>
        </p:txBody>
      </p:sp>
      <p:sp>
        <p:nvSpPr>
          <p:cNvPr id="29" name="Shape 29"/>
          <p:cNvSpPr/>
          <p:nvPr/>
        </p:nvSpPr>
        <p:spPr>
          <a:xfrm>
            <a:off x="5577840" y="4462272"/>
            <a:ext cx="1016000" cy="201168"/>
          </a:xfrm>
          <a:prstGeom prst="rect">
            <a:avLst/>
          </a:prstGeom>
          <a:solidFill>
            <a:srgbClr val="8A5A00"/>
          </a:solidFill>
          <a:ln>
            <a:noFill/>
          </a:ln>
        </p:spPr>
        <p:txBody>
          <a:bodyPr wrap="square" lIns="36576" tIns="36576" rIns="36576" bIns="36576" anchor="t" rtlCol="0">
            <a:noAutofit/>
          </a:bodyPr>
          <a:lstStyle/>
          <a:p>
            <a:endParaRPr lang="en-GB" sz="1200" dirty="0"/>
          </a:p>
        </p:txBody>
      </p:sp>
      <p:sp>
        <p:nvSpPr>
          <p:cNvPr id="30" name="Shape 30"/>
          <p:cNvSpPr txBox="1"/>
          <p:nvPr/>
        </p:nvSpPr>
        <p:spPr>
          <a:xfrm>
            <a:off x="6639560" y="4370832"/>
            <a:ext cx="640080" cy="384048"/>
          </a:xfrm>
          <a:prstGeom prst="rect">
            <a:avLst/>
          </a:prstGeom>
          <a:noFill/>
          <a:ln>
            <a:noFill/>
          </a:ln>
        </p:spPr>
        <p:txBody>
          <a:bodyPr wrap="square" lIns="18288" tIns="18288" rIns="18288" bIns="18288" anchor="ctr" rtlCol="0">
            <a:noAutofit/>
          </a:bodyPr>
          <a:lstStyle/>
          <a:p>
            <a:pPr algn="l">
              <a:buNone/>
            </a:pPr>
            <a:r>
              <a:rPr lang="en-GB" sz="1100" b="1" i="0" dirty="0">
                <a:solidFill>
                  <a:srgbClr val="1A1A1A"/>
                </a:solidFill>
                <a:latin typeface="Arial"/>
                <a:cs typeface="Arial"/>
              </a:rPr>
              <a:t>7.5</a:t>
            </a:r>
            <a:endParaRPr lang="en-GB" sz="1100" dirty="0"/>
          </a:p>
        </p:txBody>
      </p:sp>
      <p:sp>
        <p:nvSpPr>
          <p:cNvPr id="31" name="Shape 31"/>
          <p:cNvSpPr/>
          <p:nvPr/>
        </p:nvSpPr>
        <p:spPr>
          <a:xfrm>
            <a:off x="548640" y="4754880"/>
            <a:ext cx="41148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1" i="0" dirty="0">
                <a:solidFill>
                  <a:srgbClr val="2D2D8A"/>
                </a:solidFill>
                <a:latin typeface="Arial"/>
                <a:cs typeface="Arial"/>
              </a:rPr>
              <a:t>C</a:t>
            </a:r>
            <a:endParaRPr lang="en-GB" sz="1100" dirty="0"/>
          </a:p>
        </p:txBody>
      </p:sp>
      <p:sp>
        <p:nvSpPr>
          <p:cNvPr id="32" name="Shape 32"/>
          <p:cNvSpPr/>
          <p:nvPr/>
        </p:nvSpPr>
        <p:spPr>
          <a:xfrm>
            <a:off x="960120" y="4754880"/>
            <a:ext cx="278892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l">
              <a:buNone/>
            </a:pPr>
            <a:r>
              <a:rPr lang="en-GB" sz="1100" b="0" i="0" dirty="0">
                <a:solidFill>
                  <a:srgbClr val="1A1A1A"/>
                </a:solidFill>
                <a:latin typeface="Arial"/>
                <a:cs typeface="Arial"/>
              </a:rPr>
              <a:t>2 levels of 8 items</a:t>
            </a:r>
            <a:endParaRPr lang="en-GB" sz="1100" dirty="0"/>
          </a:p>
        </p:txBody>
      </p:sp>
      <p:sp>
        <p:nvSpPr>
          <p:cNvPr id="33" name="Shape 33"/>
          <p:cNvSpPr/>
          <p:nvPr/>
        </p:nvSpPr>
        <p:spPr>
          <a:xfrm>
            <a:off x="3749040" y="4754880"/>
            <a:ext cx="173736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0" i="0" dirty="0">
                <a:solidFill>
                  <a:srgbClr val="1A1A1A"/>
                </a:solidFill>
                <a:latin typeface="Arial"/>
                <a:cs typeface="Arial"/>
              </a:rPr>
              <a:t>2 × (2 + 1.0)</a:t>
            </a:r>
            <a:endParaRPr lang="en-GB" sz="1100" dirty="0"/>
          </a:p>
        </p:txBody>
      </p:sp>
      <p:sp>
        <p:nvSpPr>
          <p:cNvPr id="34" name="Shape 34"/>
          <p:cNvSpPr/>
          <p:nvPr/>
        </p:nvSpPr>
        <p:spPr>
          <a:xfrm>
            <a:off x="5486400" y="4754880"/>
            <a:ext cx="2651760" cy="384048"/>
          </a:xfrm>
          <a:prstGeom prst="rect">
            <a:avLst/>
          </a:prstGeom>
          <a:solidFill>
            <a:srgbClr val="FFFFFF"/>
          </a:solidFill>
          <a:ln w="12700">
            <a:solidFill>
              <a:srgbClr val="9DB8BC"/>
            </a:solidFill>
          </a:ln>
        </p:spPr>
        <p:txBody>
          <a:bodyPr wrap="square" lIns="36576" tIns="36576" rIns="36576" bIns="36576" anchor="t" rtlCol="0">
            <a:noAutofit/>
          </a:bodyPr>
          <a:lstStyle/>
          <a:p>
            <a:endParaRPr lang="en-GB" sz="1200" dirty="0"/>
          </a:p>
        </p:txBody>
      </p:sp>
      <p:sp>
        <p:nvSpPr>
          <p:cNvPr id="35" name="Shape 35"/>
          <p:cNvSpPr/>
          <p:nvPr/>
        </p:nvSpPr>
        <p:spPr>
          <a:xfrm>
            <a:off x="5577840" y="4846320"/>
            <a:ext cx="812800" cy="201168"/>
          </a:xfrm>
          <a:prstGeom prst="rect">
            <a:avLst/>
          </a:prstGeom>
          <a:solidFill>
            <a:srgbClr val="8A5A00"/>
          </a:solidFill>
          <a:ln>
            <a:noFill/>
          </a:ln>
        </p:spPr>
        <p:txBody>
          <a:bodyPr wrap="square" lIns="36576" tIns="36576" rIns="36576" bIns="36576" anchor="t" rtlCol="0">
            <a:noAutofit/>
          </a:bodyPr>
          <a:lstStyle/>
          <a:p>
            <a:endParaRPr lang="en-GB" sz="1200" dirty="0"/>
          </a:p>
        </p:txBody>
      </p:sp>
      <p:sp>
        <p:nvSpPr>
          <p:cNvPr id="36" name="Shape 36"/>
          <p:cNvSpPr txBox="1"/>
          <p:nvPr/>
        </p:nvSpPr>
        <p:spPr>
          <a:xfrm>
            <a:off x="6436360" y="4754880"/>
            <a:ext cx="640080" cy="384048"/>
          </a:xfrm>
          <a:prstGeom prst="rect">
            <a:avLst/>
          </a:prstGeom>
          <a:noFill/>
          <a:ln>
            <a:noFill/>
          </a:ln>
        </p:spPr>
        <p:txBody>
          <a:bodyPr wrap="square" lIns="18288" tIns="18288" rIns="18288" bIns="18288" anchor="ctr" rtlCol="0">
            <a:noAutofit/>
          </a:bodyPr>
          <a:lstStyle/>
          <a:p>
            <a:pPr algn="l">
              <a:buNone/>
            </a:pPr>
            <a:r>
              <a:rPr lang="en-GB" sz="1100" b="1" i="0" dirty="0">
                <a:solidFill>
                  <a:srgbClr val="1A1A1A"/>
                </a:solidFill>
                <a:latin typeface="Arial"/>
                <a:cs typeface="Arial"/>
              </a:rPr>
              <a:t>6.0</a:t>
            </a:r>
            <a:endParaRPr lang="en-GB" sz="1100" dirty="0"/>
          </a:p>
        </p:txBody>
      </p:sp>
      <p:sp>
        <p:nvSpPr>
          <p:cNvPr id="37" name="Shape 37"/>
          <p:cNvSpPr/>
          <p:nvPr/>
        </p:nvSpPr>
        <p:spPr>
          <a:xfrm>
            <a:off x="548640" y="5138928"/>
            <a:ext cx="41148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1" i="0" dirty="0">
                <a:solidFill>
                  <a:srgbClr val="2D2D8A"/>
                </a:solidFill>
                <a:latin typeface="Arial"/>
                <a:cs typeface="Arial"/>
              </a:rPr>
              <a:t>D</a:t>
            </a:r>
            <a:endParaRPr lang="en-GB" sz="1100" dirty="0"/>
          </a:p>
        </p:txBody>
      </p:sp>
      <p:sp>
        <p:nvSpPr>
          <p:cNvPr id="38" name="Shape 38"/>
          <p:cNvSpPr/>
          <p:nvPr/>
        </p:nvSpPr>
        <p:spPr>
          <a:xfrm>
            <a:off x="960120" y="5138928"/>
            <a:ext cx="278892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l">
              <a:buNone/>
            </a:pPr>
            <a:r>
              <a:rPr lang="en-GB" sz="1100" b="0" i="0" dirty="0">
                <a:solidFill>
                  <a:srgbClr val="1A1A1A"/>
                </a:solidFill>
                <a:latin typeface="Arial"/>
                <a:cs typeface="Arial"/>
              </a:rPr>
              <a:t>1 long list of 64 items</a:t>
            </a:r>
            <a:endParaRPr lang="en-GB" sz="1100" dirty="0"/>
          </a:p>
        </p:txBody>
      </p:sp>
      <p:sp>
        <p:nvSpPr>
          <p:cNvPr id="39" name="Shape 39"/>
          <p:cNvSpPr/>
          <p:nvPr/>
        </p:nvSpPr>
        <p:spPr>
          <a:xfrm>
            <a:off x="3749040" y="5138928"/>
            <a:ext cx="1737360" cy="384048"/>
          </a:xfrm>
          <a:prstGeom prst="rect">
            <a:avLst/>
          </a:prstGeom>
          <a:solidFill>
            <a:srgbClr val="FFFFFF"/>
          </a:solidFill>
          <a:ln w="12700">
            <a:solidFill>
              <a:srgbClr val="9DB8BC"/>
            </a:solidFill>
          </a:ln>
        </p:spPr>
        <p:txBody>
          <a:bodyPr wrap="square" lIns="54864" tIns="54864" rIns="54864" bIns="54864" anchor="ctr" rtlCol="0">
            <a:noAutofit/>
          </a:bodyPr>
          <a:lstStyle/>
          <a:p>
            <a:pPr algn="ctr">
              <a:buNone/>
            </a:pPr>
            <a:r>
              <a:rPr lang="en-GB" sz="1100" b="0" i="0" dirty="0">
                <a:solidFill>
                  <a:srgbClr val="1A1A1A"/>
                </a:solidFill>
                <a:latin typeface="Arial"/>
                <a:cs typeface="Arial"/>
              </a:rPr>
              <a:t>1 × (2 + 8.0)</a:t>
            </a:r>
            <a:endParaRPr lang="en-GB" sz="1100" dirty="0"/>
          </a:p>
        </p:txBody>
      </p:sp>
      <p:sp>
        <p:nvSpPr>
          <p:cNvPr id="40" name="Shape 40"/>
          <p:cNvSpPr/>
          <p:nvPr/>
        </p:nvSpPr>
        <p:spPr>
          <a:xfrm>
            <a:off x="5486400" y="5138928"/>
            <a:ext cx="2651760" cy="384048"/>
          </a:xfrm>
          <a:prstGeom prst="rect">
            <a:avLst/>
          </a:prstGeom>
          <a:solidFill>
            <a:srgbClr val="FFFFFF"/>
          </a:solidFill>
          <a:ln w="12700">
            <a:solidFill>
              <a:srgbClr val="9DB8BC"/>
            </a:solidFill>
          </a:ln>
        </p:spPr>
        <p:txBody>
          <a:bodyPr wrap="square" lIns="36576" tIns="36576" rIns="36576" bIns="36576" anchor="t" rtlCol="0">
            <a:noAutofit/>
          </a:bodyPr>
          <a:lstStyle/>
          <a:p>
            <a:endParaRPr lang="en-GB" sz="1200" dirty="0"/>
          </a:p>
        </p:txBody>
      </p:sp>
      <p:sp>
        <p:nvSpPr>
          <p:cNvPr id="41" name="Shape 41"/>
          <p:cNvSpPr/>
          <p:nvPr/>
        </p:nvSpPr>
        <p:spPr>
          <a:xfrm>
            <a:off x="5577840" y="5230368"/>
            <a:ext cx="1354667" cy="201168"/>
          </a:xfrm>
          <a:prstGeom prst="rect">
            <a:avLst/>
          </a:prstGeom>
          <a:solidFill>
            <a:srgbClr val="8A5A00"/>
          </a:solidFill>
          <a:ln>
            <a:noFill/>
          </a:ln>
        </p:spPr>
        <p:txBody>
          <a:bodyPr wrap="square" lIns="36576" tIns="36576" rIns="36576" bIns="36576" anchor="t" rtlCol="0">
            <a:noAutofit/>
          </a:bodyPr>
          <a:lstStyle/>
          <a:p>
            <a:endParaRPr lang="en-GB" sz="1200" dirty="0"/>
          </a:p>
        </p:txBody>
      </p:sp>
      <p:sp>
        <p:nvSpPr>
          <p:cNvPr id="42" name="Shape 42"/>
          <p:cNvSpPr txBox="1"/>
          <p:nvPr/>
        </p:nvSpPr>
        <p:spPr>
          <a:xfrm>
            <a:off x="6978227" y="5138928"/>
            <a:ext cx="640080" cy="384048"/>
          </a:xfrm>
          <a:prstGeom prst="rect">
            <a:avLst/>
          </a:prstGeom>
          <a:noFill/>
          <a:ln>
            <a:noFill/>
          </a:ln>
        </p:spPr>
        <p:txBody>
          <a:bodyPr wrap="square" lIns="18288" tIns="18288" rIns="18288" bIns="18288" anchor="ctr" rtlCol="0">
            <a:noAutofit/>
          </a:bodyPr>
          <a:lstStyle/>
          <a:p>
            <a:pPr algn="l">
              <a:buNone/>
            </a:pPr>
            <a:r>
              <a:rPr lang="en-GB" sz="1100" b="1" i="0" dirty="0">
                <a:solidFill>
                  <a:srgbClr val="1A1A1A"/>
                </a:solidFill>
                <a:latin typeface="Arial"/>
                <a:cs typeface="Arial"/>
              </a:rPr>
              <a:t>10.0</a:t>
            </a:r>
            <a:endParaRPr lang="en-GB" sz="1100" dirty="0"/>
          </a:p>
        </p:txBody>
      </p:sp>
      <p:sp>
        <p:nvSpPr>
          <p:cNvPr id="43" name="Shape 43"/>
          <p:cNvSpPr/>
          <p:nvPr/>
        </p:nvSpPr>
        <p:spPr>
          <a:xfrm>
            <a:off x="548640" y="5522976"/>
            <a:ext cx="411480" cy="384048"/>
          </a:xfrm>
          <a:prstGeom prst="rect">
            <a:avLst/>
          </a:prstGeom>
          <a:solidFill>
            <a:srgbClr val="E6EFD9"/>
          </a:solidFill>
          <a:ln w="12700">
            <a:solidFill>
              <a:srgbClr val="9DB8BC"/>
            </a:solidFill>
          </a:ln>
        </p:spPr>
        <p:txBody>
          <a:bodyPr wrap="square" lIns="54864" tIns="54864" rIns="54864" bIns="54864" anchor="ctr" rtlCol="0">
            <a:noAutofit/>
          </a:bodyPr>
          <a:lstStyle/>
          <a:p>
            <a:pPr algn="ctr">
              <a:buNone/>
            </a:pPr>
            <a:r>
              <a:rPr lang="en-GB" sz="1100" b="1" i="0" dirty="0">
                <a:solidFill>
                  <a:srgbClr val="2D2D8A"/>
                </a:solidFill>
                <a:latin typeface="Arial"/>
                <a:cs typeface="Arial"/>
              </a:rPr>
              <a:t>E</a:t>
            </a:r>
            <a:endParaRPr lang="en-GB" sz="1100" dirty="0"/>
          </a:p>
        </p:txBody>
      </p:sp>
      <p:sp>
        <p:nvSpPr>
          <p:cNvPr id="44" name="Shape 44"/>
          <p:cNvSpPr/>
          <p:nvPr/>
        </p:nvSpPr>
        <p:spPr>
          <a:xfrm>
            <a:off x="960120" y="5522976"/>
            <a:ext cx="2788920" cy="384048"/>
          </a:xfrm>
          <a:prstGeom prst="rect">
            <a:avLst/>
          </a:prstGeom>
          <a:solidFill>
            <a:srgbClr val="E6EFD9"/>
          </a:solidFill>
          <a:ln w="12700">
            <a:solidFill>
              <a:srgbClr val="9DB8BC"/>
            </a:solidFill>
          </a:ln>
        </p:spPr>
        <p:txBody>
          <a:bodyPr wrap="square" lIns="54864" tIns="54864" rIns="54864" bIns="54864" anchor="ctr" rtlCol="0">
            <a:noAutofit/>
          </a:bodyPr>
          <a:lstStyle/>
          <a:p>
            <a:pPr algn="l">
              <a:buNone/>
            </a:pPr>
            <a:r>
              <a:rPr lang="en-GB" sz="1100" b="0" i="0" dirty="0">
                <a:solidFill>
                  <a:srgbClr val="1A1A1A"/>
                </a:solidFill>
                <a:latin typeface="Arial"/>
                <a:cs typeface="Arial"/>
              </a:rPr>
              <a:t>1 screen: 8 labelled groups of 8</a:t>
            </a:r>
            <a:endParaRPr lang="en-GB" sz="1100" dirty="0"/>
          </a:p>
        </p:txBody>
      </p:sp>
      <p:sp>
        <p:nvSpPr>
          <p:cNvPr id="45" name="Shape 45"/>
          <p:cNvSpPr/>
          <p:nvPr/>
        </p:nvSpPr>
        <p:spPr>
          <a:xfrm>
            <a:off x="3749040" y="5522976"/>
            <a:ext cx="1737360" cy="384048"/>
          </a:xfrm>
          <a:prstGeom prst="rect">
            <a:avLst/>
          </a:prstGeom>
          <a:solidFill>
            <a:srgbClr val="E6EFD9"/>
          </a:solidFill>
          <a:ln w="12700">
            <a:solidFill>
              <a:srgbClr val="9DB8BC"/>
            </a:solidFill>
          </a:ln>
        </p:spPr>
        <p:txBody>
          <a:bodyPr wrap="square" lIns="54864" tIns="54864" rIns="54864" bIns="54864" anchor="ctr" rtlCol="0">
            <a:noAutofit/>
          </a:bodyPr>
          <a:lstStyle/>
          <a:p>
            <a:pPr algn="ctr">
              <a:buNone/>
            </a:pPr>
            <a:r>
              <a:rPr lang="en-GB" sz="1100" b="0" i="0" dirty="0">
                <a:solidFill>
                  <a:srgbClr val="1A1A1A"/>
                </a:solidFill>
                <a:latin typeface="Arial"/>
                <a:cs typeface="Arial"/>
              </a:rPr>
              <a:t>2 + 1.0 + 1.0</a:t>
            </a:r>
            <a:endParaRPr lang="en-GB" sz="1100" dirty="0"/>
          </a:p>
        </p:txBody>
      </p:sp>
      <p:sp>
        <p:nvSpPr>
          <p:cNvPr id="46" name="Shape 46"/>
          <p:cNvSpPr/>
          <p:nvPr/>
        </p:nvSpPr>
        <p:spPr>
          <a:xfrm>
            <a:off x="5486400" y="5522976"/>
            <a:ext cx="2651760" cy="384048"/>
          </a:xfrm>
          <a:prstGeom prst="rect">
            <a:avLst/>
          </a:prstGeom>
          <a:solidFill>
            <a:srgbClr val="E6EFD9"/>
          </a:solidFill>
          <a:ln w="12700">
            <a:solidFill>
              <a:srgbClr val="9DB8BC"/>
            </a:solidFill>
          </a:ln>
        </p:spPr>
        <p:txBody>
          <a:bodyPr wrap="square" lIns="36576" tIns="36576" rIns="36576" bIns="36576" anchor="t" rtlCol="0">
            <a:noAutofit/>
          </a:bodyPr>
          <a:lstStyle/>
          <a:p>
            <a:endParaRPr lang="en-GB" sz="1200" dirty="0"/>
          </a:p>
        </p:txBody>
      </p:sp>
      <p:sp>
        <p:nvSpPr>
          <p:cNvPr id="47" name="Shape 47"/>
          <p:cNvSpPr/>
          <p:nvPr/>
        </p:nvSpPr>
        <p:spPr>
          <a:xfrm>
            <a:off x="5577840" y="5614416"/>
            <a:ext cx="541867" cy="201168"/>
          </a:xfrm>
          <a:prstGeom prst="rect">
            <a:avLst/>
          </a:prstGeom>
          <a:solidFill>
            <a:srgbClr val="4E7A12"/>
          </a:solidFill>
          <a:ln>
            <a:noFill/>
          </a:ln>
        </p:spPr>
        <p:txBody>
          <a:bodyPr wrap="square" lIns="36576" tIns="36576" rIns="36576" bIns="36576" anchor="t" rtlCol="0">
            <a:noAutofit/>
          </a:bodyPr>
          <a:lstStyle/>
          <a:p>
            <a:endParaRPr lang="en-GB" sz="1200" dirty="0"/>
          </a:p>
        </p:txBody>
      </p:sp>
      <p:sp>
        <p:nvSpPr>
          <p:cNvPr id="48" name="Shape 48"/>
          <p:cNvSpPr txBox="1"/>
          <p:nvPr/>
        </p:nvSpPr>
        <p:spPr>
          <a:xfrm>
            <a:off x="6165427" y="5522976"/>
            <a:ext cx="640080" cy="384048"/>
          </a:xfrm>
          <a:prstGeom prst="rect">
            <a:avLst/>
          </a:prstGeom>
          <a:noFill/>
          <a:ln>
            <a:noFill/>
          </a:ln>
        </p:spPr>
        <p:txBody>
          <a:bodyPr wrap="square" lIns="18288" tIns="18288" rIns="18288" bIns="18288" anchor="ctr" rtlCol="0">
            <a:noAutofit/>
          </a:bodyPr>
          <a:lstStyle/>
          <a:p>
            <a:pPr algn="l">
              <a:buNone/>
            </a:pPr>
            <a:r>
              <a:rPr lang="en-GB" sz="1100" b="1" i="0" dirty="0">
                <a:solidFill>
                  <a:srgbClr val="1A1A1A"/>
                </a:solidFill>
                <a:latin typeface="Arial"/>
                <a:cs typeface="Arial"/>
              </a:rPr>
              <a:t>4.0</a:t>
            </a:r>
            <a:endParaRPr lang="en-GB" sz="1100" dirty="0"/>
          </a:p>
        </p:txBody>
      </p:sp>
      <p:sp>
        <p:nvSpPr>
          <p:cNvPr id="49" name="Shape 49"/>
          <p:cNvSpPr txBox="1"/>
          <p:nvPr/>
        </p:nvSpPr>
        <p:spPr>
          <a:xfrm>
            <a:off x="548640" y="5989320"/>
            <a:ext cx="7589520" cy="731520"/>
          </a:xfrm>
          <a:prstGeom prst="rect">
            <a:avLst/>
          </a:prstGeom>
          <a:noFill/>
          <a:ln>
            <a:noFill/>
          </a:ln>
        </p:spPr>
        <p:txBody>
          <a:bodyPr wrap="square" lIns="18288" tIns="18288" rIns="18288" bIns="18288" anchor="t" rtlCol="0">
            <a:noAutofit/>
          </a:bodyPr>
          <a:lstStyle/>
          <a:p>
            <a:pPr algn="l">
              <a:buNone/>
            </a:pPr>
            <a:r>
              <a:rPr lang="en-GB" sz="1050" b="1" i="0" dirty="0">
                <a:solidFill>
                  <a:srgbClr val="2D2D8A"/>
                </a:solidFill>
                <a:latin typeface="Arial"/>
                <a:cs typeface="Arial"/>
              </a:rPr>
              <a:t xml:space="preserve">Deep is difficult: </a:t>
            </a:r>
            <a:r>
              <a:rPr lang="en-GB" sz="1050" b="0" i="0" dirty="0">
                <a:solidFill>
                  <a:srgbClr val="1A1A1A"/>
                </a:solidFill>
                <a:latin typeface="Arial"/>
                <a:cs typeface="Arial"/>
              </a:rPr>
              <a:t>every level is another load and another chance to pick the wrong branch. One flat list is slow to scan. Best: many items per screen, structured within the screen. (7 ± 2 is about memory — a menu you can see need not be remembered.)</a:t>
            </a:r>
            <a:endParaRPr lang="en-GB" sz="10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Draw the ATM as a network</a:t>
            </a:r>
          </a:p>
        </p:txBody>
      </p:sp>
      <p:sp>
        <p:nvSpPr>
          <p:cNvPr id="11" name="Shape 11"/>
          <p:cNvSpPr/>
          <p:nvPr/>
        </p:nvSpPr>
        <p:spPr>
          <a:xfrm>
            <a:off x="548640" y="1810512"/>
            <a:ext cx="1632204" cy="310896"/>
          </a:xfrm>
          <a:prstGeom prst="roundRect">
            <a:avLst>
              <a:gd name="adj" fmla="val 50000"/>
            </a:avLst>
          </a:prstGeom>
          <a:solidFill>
            <a:srgbClr val="B03A2E"/>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LIVE EXERCISE</a:t>
            </a:r>
            <a:endParaRPr lang="en-GB" sz="1100" dirty="0"/>
          </a:p>
        </p:txBody>
      </p:sp>
      <p:sp>
        <p:nvSpPr>
          <p:cNvPr id="12" name="Shape 12"/>
          <p:cNvSpPr txBox="1"/>
          <p:nvPr/>
        </p:nvSpPr>
        <p:spPr>
          <a:xfrm>
            <a:off x="2290572" y="1810512"/>
            <a:ext cx="5847588" cy="310896"/>
          </a:xfrm>
          <a:prstGeom prst="rect">
            <a:avLst/>
          </a:prstGeom>
          <a:noFill/>
          <a:ln>
            <a:noFill/>
          </a:ln>
        </p:spPr>
        <p:txBody>
          <a:bodyPr wrap="square" lIns="18288" tIns="18288" rIns="18288" bIns="18288" anchor="ctr" rtlCol="0">
            <a:noAutofit/>
          </a:bodyPr>
          <a:lstStyle/>
          <a:p>
            <a:pPr algn="l">
              <a:buNone/>
            </a:pPr>
            <a:r>
              <a:rPr lang="en-GB" sz="1200" b="0" i="1" dirty="0">
                <a:solidFill>
                  <a:srgbClr val="595959"/>
                </a:solidFill>
                <a:latin typeface="Arial"/>
                <a:cs typeface="Arial"/>
              </a:rPr>
              <a:t>4 min · pairs · optional if short of time</a:t>
            </a:r>
            <a:endParaRPr lang="en-GB" sz="1200" dirty="0"/>
          </a:p>
        </p:txBody>
      </p:sp>
      <p:sp>
        <p:nvSpPr>
          <p:cNvPr id="13" name="Shape 13"/>
          <p:cNvSpPr txBox="1"/>
          <p:nvPr/>
        </p:nvSpPr>
        <p:spPr>
          <a:xfrm>
            <a:off x="548640" y="2240280"/>
            <a:ext cx="7589520" cy="548640"/>
          </a:xfrm>
          <a:prstGeom prst="rect">
            <a:avLst/>
          </a:prstGeom>
          <a:noFill/>
          <a:ln>
            <a:noFill/>
          </a:ln>
        </p:spPr>
        <p:txBody>
          <a:bodyPr wrap="square" lIns="18288" tIns="18288" rIns="18288" bIns="18288" anchor="t" rtlCol="0">
            <a:noAutofit/>
          </a:bodyPr>
          <a:lstStyle/>
          <a:p>
            <a:pPr algn="l">
              <a:buNone/>
            </a:pPr>
            <a:r>
              <a:rPr lang="en-GB" sz="1500" b="1" i="0" dirty="0">
                <a:solidFill>
                  <a:srgbClr val="2D2D8A"/>
                </a:solidFill>
                <a:latin typeface="Arial"/>
                <a:cs typeface="Arial"/>
              </a:rPr>
              <a:t>Draw the network diagram for taking cash from an ATM. Boxes = screens · arrows = what the user does.</a:t>
            </a:r>
            <a:endParaRPr lang="en-GB" sz="1500" dirty="0"/>
          </a:p>
        </p:txBody>
      </p:sp>
      <p:sp>
        <p:nvSpPr>
          <p:cNvPr id="14" name="Shape 14"/>
          <p:cNvSpPr/>
          <p:nvPr/>
        </p:nvSpPr>
        <p:spPr>
          <a:xfrm>
            <a:off x="548640" y="3108960"/>
            <a:ext cx="1371600" cy="457200"/>
          </a:xfrm>
          <a:prstGeom prst="rect">
            <a:avLst/>
          </a:prstGeom>
          <a:solidFill>
            <a:srgbClr val="DAEDEF"/>
          </a:solidFill>
          <a:ln w="12700">
            <a:solidFill>
              <a:srgbClr val="9DB8BC"/>
            </a:solidFill>
          </a:ln>
        </p:spPr>
        <p:txBody>
          <a:bodyPr wrap="square" lIns="36576" tIns="36576" rIns="36576" bIns="36576" anchor="ctr" rtlCol="0">
            <a:noAutofit/>
          </a:bodyPr>
          <a:lstStyle/>
          <a:p>
            <a:pPr algn="ctr">
              <a:buNone/>
            </a:pPr>
            <a:r>
              <a:rPr lang="en-GB" sz="1050" b="0" i="0" dirty="0">
                <a:solidFill>
                  <a:srgbClr val="1A1A1A"/>
                </a:solidFill>
                <a:latin typeface="Arial"/>
                <a:cs typeface="Arial"/>
              </a:rPr>
              <a:t>Insert card</a:t>
            </a:r>
            <a:endParaRPr lang="en-GB" sz="1050" dirty="0"/>
          </a:p>
        </p:txBody>
      </p:sp>
      <p:cxnSp>
        <p:nvCxnSpPr>
          <p:cNvPr id="15" name="Connector 15"/>
          <p:cNvCxnSpPr/>
          <p:nvPr/>
        </p:nvCxnSpPr>
        <p:spPr>
          <a:xfrm>
            <a:off x="1920240" y="3337560"/>
            <a:ext cx="365760" cy="0"/>
          </a:xfrm>
          <a:prstGeom prst="line">
            <a:avLst/>
          </a:prstGeom>
          <a:ln w="19050">
            <a:solidFill>
              <a:srgbClr val="595959"/>
            </a:solidFill>
            <a:tailEnd type="triangle" w="med" len="med"/>
          </a:ln>
        </p:spPr>
      </p:cxnSp>
      <p:sp>
        <p:nvSpPr>
          <p:cNvPr id="16" name="Shape 16"/>
          <p:cNvSpPr/>
          <p:nvPr/>
        </p:nvSpPr>
        <p:spPr>
          <a:xfrm>
            <a:off x="2286000" y="3108960"/>
            <a:ext cx="1371600" cy="457200"/>
          </a:xfrm>
          <a:prstGeom prst="rect">
            <a:avLst/>
          </a:prstGeom>
          <a:solidFill>
            <a:srgbClr val="DAEDEF"/>
          </a:solidFill>
          <a:ln w="12700">
            <a:solidFill>
              <a:srgbClr val="9DB8BC"/>
            </a:solidFill>
          </a:ln>
        </p:spPr>
        <p:txBody>
          <a:bodyPr wrap="square" lIns="36576" tIns="36576" rIns="36576" bIns="36576" anchor="ctr" rtlCol="0">
            <a:noAutofit/>
          </a:bodyPr>
          <a:lstStyle/>
          <a:p>
            <a:pPr algn="ctr">
              <a:buNone/>
            </a:pPr>
            <a:r>
              <a:rPr lang="en-GB" sz="1050" b="0" i="0" dirty="0">
                <a:solidFill>
                  <a:srgbClr val="1A1A1A"/>
                </a:solidFill>
                <a:latin typeface="Arial"/>
                <a:cs typeface="Arial"/>
              </a:rPr>
              <a:t>Enter PIN</a:t>
            </a:r>
            <a:endParaRPr lang="en-GB" sz="1050" dirty="0"/>
          </a:p>
        </p:txBody>
      </p:sp>
      <p:cxnSp>
        <p:nvCxnSpPr>
          <p:cNvPr id="17" name="Connector 17"/>
          <p:cNvCxnSpPr/>
          <p:nvPr/>
        </p:nvCxnSpPr>
        <p:spPr>
          <a:xfrm>
            <a:off x="3657600" y="3337560"/>
            <a:ext cx="365760" cy="0"/>
          </a:xfrm>
          <a:prstGeom prst="line">
            <a:avLst/>
          </a:prstGeom>
          <a:ln w="19050">
            <a:solidFill>
              <a:srgbClr val="595959"/>
            </a:solidFill>
            <a:tailEnd type="triangle" w="med" len="med"/>
          </a:ln>
        </p:spPr>
      </p:cxnSp>
      <p:sp>
        <p:nvSpPr>
          <p:cNvPr id="18" name="Shape 18"/>
          <p:cNvSpPr/>
          <p:nvPr/>
        </p:nvSpPr>
        <p:spPr>
          <a:xfrm>
            <a:off x="4023360" y="3108960"/>
            <a:ext cx="822960" cy="457200"/>
          </a:xfrm>
          <a:prstGeom prst="rect">
            <a:avLst/>
          </a:prstGeom>
          <a:noFill/>
          <a:ln w="12700">
            <a:solidFill>
              <a:srgbClr val="9DB8BC"/>
            </a:solidFill>
            <a:prstDash val="dash"/>
          </a:ln>
        </p:spPr>
        <p:txBody>
          <a:bodyPr wrap="square" lIns="36576" tIns="36576" rIns="36576" bIns="36576" anchor="ctr" rtlCol="0">
            <a:noAutofit/>
          </a:bodyPr>
          <a:lstStyle/>
          <a:p>
            <a:pPr algn="ctr">
              <a:buNone/>
            </a:pPr>
            <a:r>
              <a:rPr lang="en-GB" sz="1600" b="1" i="0" dirty="0">
                <a:solidFill>
                  <a:srgbClr val="595959"/>
                </a:solidFill>
                <a:latin typeface="Arial"/>
                <a:cs typeface="Arial"/>
              </a:rPr>
              <a:t>?</a:t>
            </a:r>
            <a:endParaRPr lang="en-GB" sz="1600" dirty="0"/>
          </a:p>
        </p:txBody>
      </p:sp>
      <p:sp>
        <p:nvSpPr>
          <p:cNvPr id="19" name="Shape 19"/>
          <p:cNvSpPr/>
          <p:nvPr/>
        </p:nvSpPr>
        <p:spPr>
          <a:xfrm>
            <a:off x="548640" y="3840480"/>
            <a:ext cx="4297680" cy="2011680"/>
          </a:xfrm>
          <a:prstGeom prst="rect">
            <a:avLst/>
          </a:prstGeom>
          <a:noFill/>
          <a:ln w="12700">
            <a:solidFill>
              <a:srgbClr val="BFBFBF"/>
            </a:solidFill>
            <a:prstDash val="dash"/>
          </a:ln>
        </p:spPr>
        <p:txBody>
          <a:bodyPr wrap="square" lIns="36576" tIns="36576" rIns="36576" bIns="36576" anchor="ctr" rtlCol="0">
            <a:noAutofit/>
          </a:bodyPr>
          <a:lstStyle/>
          <a:p>
            <a:pPr algn="ctr">
              <a:buNone/>
            </a:pPr>
            <a:r>
              <a:rPr lang="en-GB" sz="1200" b="0" i="1" dirty="0">
                <a:solidFill>
                  <a:srgbClr val="BFBFBF"/>
                </a:solidFill>
                <a:latin typeface="Arial"/>
                <a:cs typeface="Arial"/>
              </a:rPr>
              <a:t>…keep going on your sheet</a:t>
            </a:r>
            <a:endParaRPr lang="en-GB" sz="1200" dirty="0"/>
          </a:p>
        </p:txBody>
      </p:sp>
      <p:sp>
        <p:nvSpPr>
          <p:cNvPr id="20" name="Shape 20"/>
          <p:cNvSpPr/>
          <p:nvPr/>
        </p:nvSpPr>
        <p:spPr>
          <a:xfrm>
            <a:off x="5120640" y="3108960"/>
            <a:ext cx="3017520" cy="2743200"/>
          </a:xfrm>
          <a:prstGeom prst="roundRect">
            <a:avLst>
              <a:gd name="adj" fmla="val 8000"/>
            </a:avLst>
          </a:prstGeom>
          <a:solidFill>
            <a:srgbClr val="F3F8F9"/>
          </a:solidFill>
          <a:ln w="12700">
            <a:solidFill>
              <a:srgbClr val="9DB8BC"/>
            </a:solidFill>
          </a:ln>
        </p:spPr>
        <p:txBody>
          <a:bodyPr wrap="square" lIns="128016" tIns="128016" rIns="128016" bIns="128016" anchor="t" rtlCol="0">
            <a:noAutofit/>
          </a:bodyPr>
          <a:lstStyle/>
          <a:p>
            <a:pPr algn="l">
              <a:buNone/>
            </a:pPr>
            <a:r>
              <a:rPr lang="en-GB" sz="1150" b="1" i="0" dirty="0">
                <a:solidFill>
                  <a:srgbClr val="B03A2E"/>
                </a:solidFill>
                <a:latin typeface="Arial"/>
                <a:cs typeface="Arial"/>
              </a:rPr>
              <a:t>Your diagram must show</a:t>
            </a:r>
            <a:endParaRPr lang="en-GB" sz="1150" dirty="0"/>
          </a:p>
          <a:p>
            <a:pPr algn="l">
              <a:spcBef>
                <a:spcPts val="600"/>
              </a:spcBef>
              <a:buNone/>
            </a:pPr>
            <a:r>
              <a:rPr lang="en-GB" sz="1150" b="0" i="0" dirty="0">
                <a:solidFill>
                  <a:srgbClr val="1A1A1A"/>
                </a:solidFill>
                <a:latin typeface="Arial"/>
                <a:cs typeface="Arial"/>
              </a:rPr>
              <a:t>☐  a wrong PIN — and what happens after 3 tries</a:t>
            </a:r>
            <a:endParaRPr lang="en-GB" sz="1150" dirty="0"/>
          </a:p>
          <a:p>
            <a:pPr algn="l">
              <a:spcBef>
                <a:spcPts val="500"/>
              </a:spcBef>
              <a:buNone/>
            </a:pPr>
            <a:r>
              <a:rPr lang="en-GB" sz="1150" b="0" i="0" dirty="0">
                <a:solidFill>
                  <a:srgbClr val="1A1A1A"/>
                </a:solidFill>
                <a:latin typeface="Arial"/>
                <a:cs typeface="Arial"/>
              </a:rPr>
              <a:t>☐  Cancel, from any screen</a:t>
            </a:r>
            <a:endParaRPr lang="en-GB" sz="1150" dirty="0"/>
          </a:p>
          <a:p>
            <a:pPr algn="l">
              <a:spcBef>
                <a:spcPts val="500"/>
              </a:spcBef>
              <a:buNone/>
            </a:pPr>
            <a:r>
              <a:rPr lang="en-GB" sz="1150" b="0" i="0" dirty="0">
                <a:solidFill>
                  <a:srgbClr val="1A1A1A"/>
                </a:solidFill>
                <a:latin typeface="Arial"/>
                <a:cs typeface="Arial"/>
              </a:rPr>
              <a:t>☐  not enough money in the account</a:t>
            </a:r>
            <a:endParaRPr lang="en-GB" sz="1150" dirty="0"/>
          </a:p>
          <a:p>
            <a:pPr algn="l">
              <a:spcBef>
                <a:spcPts val="500"/>
              </a:spcBef>
              <a:buNone/>
            </a:pPr>
            <a:r>
              <a:rPr lang="en-GB" sz="1150" b="0" i="0" dirty="0">
                <a:solidFill>
                  <a:srgbClr val="1A1A1A"/>
                </a:solidFill>
                <a:latin typeface="Arial"/>
                <a:cs typeface="Arial"/>
              </a:rPr>
              <a:t>☐  card returned before the cash (remember Week 1?)</a:t>
            </a:r>
            <a:endParaRPr lang="en-GB" sz="1150" dirty="0"/>
          </a:p>
          <a:p>
            <a:pPr algn="l">
              <a:spcBef>
                <a:spcPts val="800"/>
              </a:spcBef>
              <a:buNone/>
            </a:pPr>
            <a:r>
              <a:rPr lang="en-GB" sz="1150" b="0" i="1" dirty="0">
                <a:solidFill>
                  <a:srgbClr val="595959"/>
                </a:solidFill>
                <a:latin typeface="Arial"/>
                <a:cs typeface="Arial"/>
              </a:rPr>
              <a:t>Branches are the whole point: a hierarchy cannot show them.</a:t>
            </a:r>
            <a:endParaRPr lang="en-GB" sz="11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Draw the ATM as a network</a:t>
            </a:r>
          </a:p>
        </p:txBody>
      </p:sp>
      <p:sp>
        <p:nvSpPr>
          <p:cNvPr id="11" name="Shape 11"/>
          <p:cNvSpPr/>
          <p:nvPr/>
        </p:nvSpPr>
        <p:spPr>
          <a:xfrm>
            <a:off x="548640" y="1810512"/>
            <a:ext cx="1056132" cy="310896"/>
          </a:xfrm>
          <a:prstGeom prst="roundRect">
            <a:avLst>
              <a:gd name="adj" fmla="val 50000"/>
            </a:avLst>
          </a:prstGeom>
          <a:solidFill>
            <a:srgbClr val="404040"/>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ANSWERS</a:t>
            </a:r>
            <a:endParaRPr lang="en-GB" sz="1100" dirty="0"/>
          </a:p>
        </p:txBody>
      </p:sp>
      <p:sp>
        <p:nvSpPr>
          <p:cNvPr id="12" name="Shape 12"/>
          <p:cNvSpPr txBox="1"/>
          <p:nvPr/>
        </p:nvSpPr>
        <p:spPr>
          <a:xfrm>
            <a:off x="1714500" y="1810512"/>
            <a:ext cx="6423660" cy="310896"/>
          </a:xfrm>
          <a:prstGeom prst="rect">
            <a:avLst/>
          </a:prstGeom>
          <a:noFill/>
          <a:ln>
            <a:noFill/>
          </a:ln>
        </p:spPr>
        <p:txBody>
          <a:bodyPr wrap="square" lIns="18288" tIns="18288" rIns="18288" bIns="18288" anchor="ctr" rtlCol="0">
            <a:noAutofit/>
          </a:bodyPr>
          <a:lstStyle/>
          <a:p>
            <a:pPr algn="l">
              <a:buNone/>
            </a:pPr>
            <a:r>
              <a:rPr lang="en-GB" sz="1200" b="0" i="1" dirty="0">
                <a:solidFill>
                  <a:srgbClr val="595959"/>
                </a:solidFill>
                <a:latin typeface="Arial"/>
                <a:cs typeface="Arial"/>
              </a:rPr>
              <a:t>one possible network diagram</a:t>
            </a:r>
            <a:endParaRPr lang="en-GB" sz="1200" dirty="0"/>
          </a:p>
        </p:txBody>
      </p:sp>
      <p:sp>
        <p:nvSpPr>
          <p:cNvPr id="13" name="Shape 13"/>
          <p:cNvSpPr/>
          <p:nvPr/>
        </p:nvSpPr>
        <p:spPr>
          <a:xfrm>
            <a:off x="548640" y="2377440"/>
            <a:ext cx="1143000" cy="457200"/>
          </a:xfrm>
          <a:prstGeom prst="rect">
            <a:avLst/>
          </a:prstGeom>
          <a:solidFill>
            <a:srgbClr val="DAEDEF"/>
          </a:solidFill>
          <a:ln w="12700">
            <a:solidFill>
              <a:srgbClr val="9DB8BC"/>
            </a:solidFill>
          </a:ln>
        </p:spPr>
        <p:txBody>
          <a:bodyPr wrap="square" lIns="36576" tIns="36576" rIns="36576" bIns="36576" anchor="ctr" rtlCol="0">
            <a:noAutofit/>
          </a:bodyPr>
          <a:lstStyle/>
          <a:p>
            <a:pPr algn="ctr">
              <a:buNone/>
            </a:pPr>
            <a:r>
              <a:rPr lang="en-GB" sz="1050" b="0" i="0" dirty="0">
                <a:solidFill>
                  <a:srgbClr val="1A1A1A"/>
                </a:solidFill>
                <a:latin typeface="Arial"/>
                <a:cs typeface="Arial"/>
              </a:rPr>
              <a:t>Insert card</a:t>
            </a:r>
            <a:endParaRPr lang="en-GB" sz="1050" dirty="0"/>
          </a:p>
        </p:txBody>
      </p:sp>
      <p:sp>
        <p:nvSpPr>
          <p:cNvPr id="14" name="Shape 14"/>
          <p:cNvSpPr/>
          <p:nvPr/>
        </p:nvSpPr>
        <p:spPr>
          <a:xfrm>
            <a:off x="2240280" y="2377440"/>
            <a:ext cx="1143000" cy="457200"/>
          </a:xfrm>
          <a:prstGeom prst="rect">
            <a:avLst/>
          </a:prstGeom>
          <a:solidFill>
            <a:srgbClr val="DAEDEF"/>
          </a:solidFill>
          <a:ln w="12700">
            <a:solidFill>
              <a:srgbClr val="9DB8BC"/>
            </a:solidFill>
          </a:ln>
        </p:spPr>
        <p:txBody>
          <a:bodyPr wrap="square" lIns="36576" tIns="36576" rIns="36576" bIns="36576" anchor="ctr" rtlCol="0">
            <a:noAutofit/>
          </a:bodyPr>
          <a:lstStyle/>
          <a:p>
            <a:pPr algn="ctr">
              <a:buNone/>
            </a:pPr>
            <a:r>
              <a:rPr lang="en-GB" sz="1050" b="0" i="0" dirty="0">
                <a:solidFill>
                  <a:srgbClr val="1A1A1A"/>
                </a:solidFill>
                <a:latin typeface="Arial"/>
                <a:cs typeface="Arial"/>
              </a:rPr>
              <a:t>Enter PIN</a:t>
            </a:r>
            <a:endParaRPr lang="en-GB" sz="1050" dirty="0"/>
          </a:p>
        </p:txBody>
      </p:sp>
      <p:sp>
        <p:nvSpPr>
          <p:cNvPr id="15" name="Shape 15"/>
          <p:cNvSpPr/>
          <p:nvPr/>
        </p:nvSpPr>
        <p:spPr>
          <a:xfrm>
            <a:off x="3931920" y="2377440"/>
            <a:ext cx="1143000" cy="457200"/>
          </a:xfrm>
          <a:prstGeom prst="rect">
            <a:avLst/>
          </a:prstGeom>
          <a:solidFill>
            <a:srgbClr val="DAEDEF"/>
          </a:solidFill>
          <a:ln w="12700">
            <a:solidFill>
              <a:srgbClr val="9DB8BC"/>
            </a:solidFill>
          </a:ln>
        </p:spPr>
        <p:txBody>
          <a:bodyPr wrap="square" lIns="36576" tIns="36576" rIns="36576" bIns="36576" anchor="ctr" rtlCol="0">
            <a:noAutofit/>
          </a:bodyPr>
          <a:lstStyle/>
          <a:p>
            <a:pPr algn="ctr">
              <a:buNone/>
            </a:pPr>
            <a:r>
              <a:rPr lang="en-GB" sz="1050" b="0" i="0" dirty="0">
                <a:solidFill>
                  <a:srgbClr val="1A1A1A"/>
                </a:solidFill>
                <a:latin typeface="Arial"/>
                <a:cs typeface="Arial"/>
              </a:rPr>
              <a:t>Main menu</a:t>
            </a:r>
            <a:endParaRPr lang="en-GB" sz="1050" dirty="0"/>
          </a:p>
        </p:txBody>
      </p:sp>
      <p:sp>
        <p:nvSpPr>
          <p:cNvPr id="16" name="Shape 16"/>
          <p:cNvSpPr/>
          <p:nvPr/>
        </p:nvSpPr>
        <p:spPr>
          <a:xfrm>
            <a:off x="5623560" y="2377440"/>
            <a:ext cx="1600200" cy="457200"/>
          </a:xfrm>
          <a:prstGeom prst="rect">
            <a:avLst/>
          </a:prstGeom>
          <a:solidFill>
            <a:srgbClr val="DAEDEF"/>
          </a:solidFill>
          <a:ln w="12700">
            <a:solidFill>
              <a:srgbClr val="9DB8BC"/>
            </a:solidFill>
          </a:ln>
        </p:spPr>
        <p:txBody>
          <a:bodyPr wrap="square" lIns="36576" tIns="36576" rIns="36576" bIns="36576" anchor="ctr" rtlCol="0">
            <a:noAutofit/>
          </a:bodyPr>
          <a:lstStyle/>
          <a:p>
            <a:pPr algn="ctr">
              <a:buNone/>
            </a:pPr>
            <a:r>
              <a:rPr lang="en-GB" sz="1050" b="0" i="0" dirty="0">
                <a:solidFill>
                  <a:srgbClr val="1A1A1A"/>
                </a:solidFill>
                <a:latin typeface="Arial"/>
                <a:cs typeface="Arial"/>
              </a:rPr>
              <a:t>Choose amount</a:t>
            </a:r>
            <a:endParaRPr lang="en-GB" sz="1050" dirty="0"/>
          </a:p>
        </p:txBody>
      </p:sp>
      <p:cxnSp>
        <p:nvCxnSpPr>
          <p:cNvPr id="17" name="Connector 17"/>
          <p:cNvCxnSpPr/>
          <p:nvPr/>
        </p:nvCxnSpPr>
        <p:spPr>
          <a:xfrm>
            <a:off x="1691640" y="2606040"/>
            <a:ext cx="548640" cy="0"/>
          </a:xfrm>
          <a:prstGeom prst="line">
            <a:avLst/>
          </a:prstGeom>
          <a:ln w="19050">
            <a:solidFill>
              <a:srgbClr val="595959"/>
            </a:solidFill>
            <a:tailEnd type="triangle" w="med" len="med"/>
          </a:ln>
        </p:spPr>
      </p:cxnSp>
      <p:cxnSp>
        <p:nvCxnSpPr>
          <p:cNvPr id="18" name="Connector 18"/>
          <p:cNvCxnSpPr/>
          <p:nvPr/>
        </p:nvCxnSpPr>
        <p:spPr>
          <a:xfrm>
            <a:off x="3383280" y="2606040"/>
            <a:ext cx="548640" cy="0"/>
          </a:xfrm>
          <a:prstGeom prst="line">
            <a:avLst/>
          </a:prstGeom>
          <a:ln w="19050">
            <a:solidFill>
              <a:srgbClr val="595959"/>
            </a:solidFill>
            <a:tailEnd type="triangle" w="med" len="med"/>
          </a:ln>
        </p:spPr>
      </p:cxnSp>
      <p:sp>
        <p:nvSpPr>
          <p:cNvPr id="19" name="Shape 19"/>
          <p:cNvSpPr txBox="1"/>
          <p:nvPr/>
        </p:nvSpPr>
        <p:spPr>
          <a:xfrm>
            <a:off x="3383280" y="2651760"/>
            <a:ext cx="548640" cy="237744"/>
          </a:xfrm>
          <a:prstGeom prst="rect">
            <a:avLst/>
          </a:prstGeom>
          <a:noFill/>
          <a:ln>
            <a:noFill/>
          </a:ln>
        </p:spPr>
        <p:txBody>
          <a:bodyPr wrap="square" lIns="0" tIns="0" rIns="0" bIns="0" anchor="t" rtlCol="0">
            <a:noAutofit/>
          </a:bodyPr>
          <a:lstStyle/>
          <a:p>
            <a:pPr algn="ctr">
              <a:buNone/>
            </a:pPr>
            <a:r>
              <a:rPr lang="en-GB" sz="900" b="0" i="1" dirty="0">
                <a:solidFill>
                  <a:srgbClr val="595959"/>
                </a:solidFill>
                <a:latin typeface="Arial"/>
                <a:cs typeface="Arial"/>
              </a:rPr>
              <a:t>PIN OK</a:t>
            </a:r>
            <a:endParaRPr lang="en-GB" sz="900" dirty="0"/>
          </a:p>
        </p:txBody>
      </p:sp>
      <p:cxnSp>
        <p:nvCxnSpPr>
          <p:cNvPr id="20" name="Connector 20"/>
          <p:cNvCxnSpPr/>
          <p:nvPr/>
        </p:nvCxnSpPr>
        <p:spPr>
          <a:xfrm>
            <a:off x="5074920" y="2606040"/>
            <a:ext cx="548640" cy="0"/>
          </a:xfrm>
          <a:prstGeom prst="line">
            <a:avLst/>
          </a:prstGeom>
          <a:ln w="19050">
            <a:solidFill>
              <a:srgbClr val="595959"/>
            </a:solidFill>
            <a:tailEnd type="triangle" w="med" len="med"/>
          </a:ln>
        </p:spPr>
      </p:cxnSp>
      <p:sp>
        <p:nvSpPr>
          <p:cNvPr id="21" name="Shape 21"/>
          <p:cNvSpPr txBox="1"/>
          <p:nvPr/>
        </p:nvSpPr>
        <p:spPr>
          <a:xfrm>
            <a:off x="5074920" y="2651760"/>
            <a:ext cx="548640" cy="237744"/>
          </a:xfrm>
          <a:prstGeom prst="rect">
            <a:avLst/>
          </a:prstGeom>
          <a:noFill/>
          <a:ln>
            <a:noFill/>
          </a:ln>
        </p:spPr>
        <p:txBody>
          <a:bodyPr wrap="square" lIns="0" tIns="0" rIns="0" bIns="0" anchor="t" rtlCol="0">
            <a:noAutofit/>
          </a:bodyPr>
          <a:lstStyle/>
          <a:p>
            <a:pPr algn="ctr">
              <a:buNone/>
            </a:pPr>
            <a:r>
              <a:rPr lang="en-GB" sz="900" b="0" i="1" dirty="0">
                <a:solidFill>
                  <a:srgbClr val="595959"/>
                </a:solidFill>
                <a:latin typeface="Arial"/>
                <a:cs typeface="Arial"/>
              </a:rPr>
              <a:t>Withdraw</a:t>
            </a:r>
            <a:endParaRPr lang="en-GB" sz="900" dirty="0"/>
          </a:p>
        </p:txBody>
      </p:sp>
      <p:sp>
        <p:nvSpPr>
          <p:cNvPr id="22" name="Shape 22"/>
          <p:cNvSpPr/>
          <p:nvPr/>
        </p:nvSpPr>
        <p:spPr>
          <a:xfrm>
            <a:off x="2240280" y="3474720"/>
            <a:ext cx="1143000" cy="457200"/>
          </a:xfrm>
          <a:prstGeom prst="rect">
            <a:avLst/>
          </a:prstGeom>
          <a:solidFill>
            <a:srgbClr val="F6E3E1"/>
          </a:solidFill>
          <a:ln w="12700">
            <a:solidFill>
              <a:srgbClr val="9DB8BC"/>
            </a:solidFill>
          </a:ln>
        </p:spPr>
        <p:txBody>
          <a:bodyPr wrap="square" lIns="36576" tIns="36576" rIns="36576" bIns="36576" anchor="ctr" rtlCol="0">
            <a:noAutofit/>
          </a:bodyPr>
          <a:lstStyle/>
          <a:p>
            <a:pPr algn="ctr">
              <a:buNone/>
            </a:pPr>
            <a:r>
              <a:rPr lang="en-GB" sz="1050" b="0" i="0" dirty="0">
                <a:solidFill>
                  <a:srgbClr val="1A1A1A"/>
                </a:solidFill>
                <a:latin typeface="Arial"/>
                <a:cs typeface="Arial"/>
              </a:rPr>
              <a:t>Wrong PIN — try again</a:t>
            </a:r>
            <a:endParaRPr lang="en-GB" sz="1050" dirty="0"/>
          </a:p>
        </p:txBody>
      </p:sp>
      <p:cxnSp>
        <p:nvCxnSpPr>
          <p:cNvPr id="23" name="Connector 23"/>
          <p:cNvCxnSpPr/>
          <p:nvPr/>
        </p:nvCxnSpPr>
        <p:spPr>
          <a:xfrm>
            <a:off x="2560320" y="2834640"/>
            <a:ext cx="0" cy="640080"/>
          </a:xfrm>
          <a:prstGeom prst="line">
            <a:avLst/>
          </a:prstGeom>
          <a:ln w="19050">
            <a:solidFill>
              <a:srgbClr val="595959"/>
            </a:solidFill>
            <a:tailEnd type="triangle" w="med" len="med"/>
          </a:ln>
        </p:spPr>
      </p:cxnSp>
      <p:sp>
        <p:nvSpPr>
          <p:cNvPr id="24" name="Shape 24"/>
          <p:cNvSpPr txBox="1"/>
          <p:nvPr/>
        </p:nvSpPr>
        <p:spPr>
          <a:xfrm>
            <a:off x="1417320" y="2999232"/>
            <a:ext cx="1097280" cy="237744"/>
          </a:xfrm>
          <a:prstGeom prst="rect">
            <a:avLst/>
          </a:prstGeom>
          <a:noFill/>
          <a:ln>
            <a:noFill/>
          </a:ln>
        </p:spPr>
        <p:txBody>
          <a:bodyPr wrap="square" lIns="0" tIns="0" rIns="0" bIns="0" anchor="t" rtlCol="0">
            <a:noAutofit/>
          </a:bodyPr>
          <a:lstStyle/>
          <a:p>
            <a:pPr algn="r">
              <a:buNone/>
            </a:pPr>
            <a:r>
              <a:rPr lang="en-GB" sz="900" b="0" i="1" dirty="0">
                <a:solidFill>
                  <a:srgbClr val="595959"/>
                </a:solidFill>
                <a:latin typeface="Arial"/>
                <a:cs typeface="Arial"/>
              </a:rPr>
              <a:t>PIN wrong</a:t>
            </a:r>
            <a:endParaRPr lang="en-GB" sz="900" dirty="0"/>
          </a:p>
        </p:txBody>
      </p:sp>
      <p:cxnSp>
        <p:nvCxnSpPr>
          <p:cNvPr id="25" name="Connector 25"/>
          <p:cNvCxnSpPr/>
          <p:nvPr/>
        </p:nvCxnSpPr>
        <p:spPr>
          <a:xfrm flipV="1">
            <a:off x="3063240" y="2834640"/>
            <a:ext cx="0" cy="640080"/>
          </a:xfrm>
          <a:prstGeom prst="line">
            <a:avLst/>
          </a:prstGeom>
          <a:ln w="19050">
            <a:solidFill>
              <a:srgbClr val="595959"/>
            </a:solidFill>
            <a:tailEnd type="triangle" w="med" len="med"/>
          </a:ln>
        </p:spPr>
      </p:cxnSp>
      <p:sp>
        <p:nvSpPr>
          <p:cNvPr id="26" name="Shape 26"/>
          <p:cNvSpPr txBox="1"/>
          <p:nvPr/>
        </p:nvSpPr>
        <p:spPr>
          <a:xfrm>
            <a:off x="3127248" y="2999232"/>
            <a:ext cx="548640" cy="237744"/>
          </a:xfrm>
          <a:prstGeom prst="rect">
            <a:avLst/>
          </a:prstGeom>
          <a:noFill/>
          <a:ln>
            <a:noFill/>
          </a:ln>
        </p:spPr>
        <p:txBody>
          <a:bodyPr wrap="square" lIns="0" tIns="0" rIns="0" bIns="0" anchor="t" rtlCol="0">
            <a:noAutofit/>
          </a:bodyPr>
          <a:lstStyle/>
          <a:p>
            <a:pPr algn="l">
              <a:buNone/>
            </a:pPr>
            <a:r>
              <a:rPr lang="en-GB" sz="900" b="0" i="1" dirty="0">
                <a:solidFill>
                  <a:srgbClr val="595959"/>
                </a:solidFill>
                <a:latin typeface="Arial"/>
                <a:cs typeface="Arial"/>
              </a:rPr>
              <a:t>retry</a:t>
            </a:r>
            <a:endParaRPr lang="en-GB" sz="900" dirty="0"/>
          </a:p>
        </p:txBody>
      </p:sp>
      <p:sp>
        <p:nvSpPr>
          <p:cNvPr id="27" name="Shape 27"/>
          <p:cNvSpPr/>
          <p:nvPr/>
        </p:nvSpPr>
        <p:spPr>
          <a:xfrm>
            <a:off x="548640" y="3474720"/>
            <a:ext cx="1143000" cy="457200"/>
          </a:xfrm>
          <a:prstGeom prst="rect">
            <a:avLst/>
          </a:prstGeom>
          <a:solidFill>
            <a:srgbClr val="F6E3E1"/>
          </a:solidFill>
          <a:ln w="12700">
            <a:solidFill>
              <a:srgbClr val="9DB8BC"/>
            </a:solidFill>
          </a:ln>
        </p:spPr>
        <p:txBody>
          <a:bodyPr wrap="square" lIns="36576" tIns="36576" rIns="36576" bIns="36576" anchor="ctr" rtlCol="0">
            <a:noAutofit/>
          </a:bodyPr>
          <a:lstStyle/>
          <a:p>
            <a:pPr algn="ctr">
              <a:buNone/>
            </a:pPr>
            <a:r>
              <a:rPr lang="en-GB" sz="1050" b="0" i="0" dirty="0">
                <a:solidFill>
                  <a:srgbClr val="1A1A1A"/>
                </a:solidFill>
                <a:latin typeface="Arial"/>
                <a:cs typeface="Arial"/>
              </a:rPr>
              <a:t>Card kept — call your bank</a:t>
            </a:r>
            <a:endParaRPr lang="en-GB" sz="1050" dirty="0"/>
          </a:p>
        </p:txBody>
      </p:sp>
      <p:cxnSp>
        <p:nvCxnSpPr>
          <p:cNvPr id="28" name="Connector 28"/>
          <p:cNvCxnSpPr/>
          <p:nvPr/>
        </p:nvCxnSpPr>
        <p:spPr>
          <a:xfrm flipH="1">
            <a:off x="1691640" y="3703320"/>
            <a:ext cx="548640" cy="0"/>
          </a:xfrm>
          <a:prstGeom prst="line">
            <a:avLst/>
          </a:prstGeom>
          <a:ln w="19050">
            <a:solidFill>
              <a:srgbClr val="595959"/>
            </a:solidFill>
            <a:tailEnd type="triangle" w="med" len="med"/>
          </a:ln>
        </p:spPr>
      </p:cxnSp>
      <p:sp>
        <p:nvSpPr>
          <p:cNvPr id="29" name="Shape 29"/>
          <p:cNvSpPr txBox="1"/>
          <p:nvPr/>
        </p:nvSpPr>
        <p:spPr>
          <a:xfrm>
            <a:off x="1417320" y="3959352"/>
            <a:ext cx="1097280" cy="237744"/>
          </a:xfrm>
          <a:prstGeom prst="rect">
            <a:avLst/>
          </a:prstGeom>
          <a:noFill/>
          <a:ln>
            <a:noFill/>
          </a:ln>
        </p:spPr>
        <p:txBody>
          <a:bodyPr wrap="square" lIns="0" tIns="0" rIns="0" bIns="0" anchor="t" rtlCol="0">
            <a:noAutofit/>
          </a:bodyPr>
          <a:lstStyle/>
          <a:p>
            <a:pPr algn="ctr">
              <a:buNone/>
            </a:pPr>
            <a:r>
              <a:rPr lang="en-GB" sz="900" b="0" i="1" dirty="0">
                <a:solidFill>
                  <a:srgbClr val="595959"/>
                </a:solidFill>
                <a:latin typeface="Arial"/>
                <a:cs typeface="Arial"/>
              </a:rPr>
              <a:t>3rd wrong try</a:t>
            </a:r>
            <a:endParaRPr lang="en-GB" sz="900" dirty="0"/>
          </a:p>
        </p:txBody>
      </p:sp>
      <p:sp>
        <p:nvSpPr>
          <p:cNvPr id="30" name="Shape 30"/>
          <p:cNvSpPr/>
          <p:nvPr/>
        </p:nvSpPr>
        <p:spPr>
          <a:xfrm>
            <a:off x="6355080" y="3474720"/>
            <a:ext cx="1463040" cy="457200"/>
          </a:xfrm>
          <a:prstGeom prst="rect">
            <a:avLst/>
          </a:prstGeom>
          <a:solidFill>
            <a:srgbClr val="F6E3E1"/>
          </a:solidFill>
          <a:ln w="12700">
            <a:solidFill>
              <a:srgbClr val="9DB8BC"/>
            </a:solidFill>
          </a:ln>
        </p:spPr>
        <p:txBody>
          <a:bodyPr wrap="square" lIns="36576" tIns="36576" rIns="36576" bIns="36576" anchor="ctr" rtlCol="0">
            <a:noAutofit/>
          </a:bodyPr>
          <a:lstStyle/>
          <a:p>
            <a:pPr algn="ctr">
              <a:buNone/>
            </a:pPr>
            <a:r>
              <a:rPr lang="en-GB" sz="1050" b="0" i="0" dirty="0">
                <a:solidFill>
                  <a:srgbClr val="1A1A1A"/>
                </a:solidFill>
                <a:latin typeface="Arial"/>
                <a:cs typeface="Arial"/>
              </a:rPr>
              <a:t>Not enough balance</a:t>
            </a:r>
            <a:endParaRPr lang="en-GB" sz="1050" dirty="0"/>
          </a:p>
        </p:txBody>
      </p:sp>
      <p:cxnSp>
        <p:nvCxnSpPr>
          <p:cNvPr id="31" name="Connector 31"/>
          <p:cNvCxnSpPr/>
          <p:nvPr/>
        </p:nvCxnSpPr>
        <p:spPr>
          <a:xfrm>
            <a:off x="6583680" y="2834640"/>
            <a:ext cx="0" cy="640080"/>
          </a:xfrm>
          <a:prstGeom prst="line">
            <a:avLst/>
          </a:prstGeom>
          <a:ln w="19050">
            <a:solidFill>
              <a:srgbClr val="595959"/>
            </a:solidFill>
            <a:tailEnd type="triangle" w="med" len="med"/>
          </a:ln>
        </p:spPr>
      </p:cxnSp>
      <p:cxnSp>
        <p:nvCxnSpPr>
          <p:cNvPr id="32" name="Connector 32"/>
          <p:cNvCxnSpPr/>
          <p:nvPr/>
        </p:nvCxnSpPr>
        <p:spPr>
          <a:xfrm flipV="1">
            <a:off x="6949440" y="2834640"/>
            <a:ext cx="0" cy="640080"/>
          </a:xfrm>
          <a:prstGeom prst="line">
            <a:avLst/>
          </a:prstGeom>
          <a:ln w="19050">
            <a:solidFill>
              <a:srgbClr val="595959"/>
            </a:solidFill>
            <a:tailEnd type="triangle" w="med" len="med"/>
          </a:ln>
        </p:spPr>
      </p:cxnSp>
      <p:sp>
        <p:nvSpPr>
          <p:cNvPr id="33" name="Shape 33"/>
          <p:cNvSpPr txBox="1"/>
          <p:nvPr/>
        </p:nvSpPr>
        <p:spPr>
          <a:xfrm>
            <a:off x="6016752" y="2999232"/>
            <a:ext cx="530352" cy="237744"/>
          </a:xfrm>
          <a:prstGeom prst="rect">
            <a:avLst/>
          </a:prstGeom>
          <a:noFill/>
          <a:ln>
            <a:noFill/>
          </a:ln>
        </p:spPr>
        <p:txBody>
          <a:bodyPr wrap="square" lIns="0" tIns="0" rIns="0" bIns="0" anchor="t" rtlCol="0">
            <a:noAutofit/>
          </a:bodyPr>
          <a:lstStyle/>
          <a:p>
            <a:pPr algn="r">
              <a:buNone/>
            </a:pPr>
            <a:r>
              <a:rPr lang="en-GB" sz="900" b="0" i="1" dirty="0">
                <a:solidFill>
                  <a:srgbClr val="595959"/>
                </a:solidFill>
                <a:latin typeface="Arial"/>
                <a:cs typeface="Arial"/>
              </a:rPr>
              <a:t>too much</a:t>
            </a:r>
            <a:endParaRPr lang="en-GB" sz="900" dirty="0"/>
          </a:p>
        </p:txBody>
      </p:sp>
      <p:sp>
        <p:nvSpPr>
          <p:cNvPr id="34" name="Shape 34"/>
          <p:cNvSpPr txBox="1"/>
          <p:nvPr/>
        </p:nvSpPr>
        <p:spPr>
          <a:xfrm>
            <a:off x="7013448" y="2999232"/>
            <a:ext cx="548640" cy="237744"/>
          </a:xfrm>
          <a:prstGeom prst="rect">
            <a:avLst/>
          </a:prstGeom>
          <a:noFill/>
          <a:ln>
            <a:noFill/>
          </a:ln>
        </p:spPr>
        <p:txBody>
          <a:bodyPr wrap="square" lIns="0" tIns="0" rIns="0" bIns="0" anchor="t" rtlCol="0">
            <a:noAutofit/>
          </a:bodyPr>
          <a:lstStyle/>
          <a:p>
            <a:pPr algn="l">
              <a:buNone/>
            </a:pPr>
            <a:r>
              <a:rPr lang="en-GB" sz="900" b="0" i="1" dirty="0">
                <a:solidFill>
                  <a:srgbClr val="595959"/>
                </a:solidFill>
                <a:latin typeface="Arial"/>
                <a:cs typeface="Arial"/>
              </a:rPr>
              <a:t>retry</a:t>
            </a:r>
            <a:endParaRPr lang="en-GB" sz="900" dirty="0"/>
          </a:p>
        </p:txBody>
      </p:sp>
      <p:cxnSp>
        <p:nvCxnSpPr>
          <p:cNvPr id="35" name="Connector 35"/>
          <p:cNvCxnSpPr/>
          <p:nvPr/>
        </p:nvCxnSpPr>
        <p:spPr>
          <a:xfrm>
            <a:off x="5943600" y="2834640"/>
            <a:ext cx="0" cy="1737360"/>
          </a:xfrm>
          <a:prstGeom prst="line">
            <a:avLst/>
          </a:prstGeom>
          <a:ln w="19050">
            <a:solidFill>
              <a:srgbClr val="595959"/>
            </a:solidFill>
            <a:tailEnd type="triangle" w="med" len="med"/>
          </a:ln>
        </p:spPr>
      </p:cxnSp>
      <p:sp>
        <p:nvSpPr>
          <p:cNvPr id="36" name="Shape 36"/>
          <p:cNvSpPr txBox="1"/>
          <p:nvPr/>
        </p:nvSpPr>
        <p:spPr>
          <a:xfrm>
            <a:off x="4983480" y="3584448"/>
            <a:ext cx="896112" cy="237744"/>
          </a:xfrm>
          <a:prstGeom prst="rect">
            <a:avLst/>
          </a:prstGeom>
          <a:noFill/>
          <a:ln>
            <a:noFill/>
          </a:ln>
        </p:spPr>
        <p:txBody>
          <a:bodyPr wrap="square" lIns="0" tIns="0" rIns="0" bIns="0" anchor="t" rtlCol="0">
            <a:noAutofit/>
          </a:bodyPr>
          <a:lstStyle/>
          <a:p>
            <a:pPr algn="r">
              <a:buNone/>
            </a:pPr>
            <a:r>
              <a:rPr lang="en-GB" sz="900" b="0" i="1" dirty="0">
                <a:solidFill>
                  <a:srgbClr val="595959"/>
                </a:solidFill>
                <a:latin typeface="Arial"/>
                <a:cs typeface="Arial"/>
              </a:rPr>
              <a:t>amount OK</a:t>
            </a:r>
            <a:endParaRPr lang="en-GB" sz="900" dirty="0"/>
          </a:p>
        </p:txBody>
      </p:sp>
      <p:sp>
        <p:nvSpPr>
          <p:cNvPr id="37" name="Shape 37"/>
          <p:cNvSpPr/>
          <p:nvPr/>
        </p:nvSpPr>
        <p:spPr>
          <a:xfrm>
            <a:off x="5623560" y="4572000"/>
            <a:ext cx="1463040" cy="457200"/>
          </a:xfrm>
          <a:prstGeom prst="rect">
            <a:avLst/>
          </a:prstGeom>
          <a:solidFill>
            <a:srgbClr val="E6EFD9"/>
          </a:solidFill>
          <a:ln w="12700">
            <a:solidFill>
              <a:srgbClr val="9DB8BC"/>
            </a:solidFill>
          </a:ln>
        </p:spPr>
        <p:txBody>
          <a:bodyPr wrap="square" lIns="36576" tIns="36576" rIns="36576" bIns="36576" anchor="ctr" rtlCol="0">
            <a:noAutofit/>
          </a:bodyPr>
          <a:lstStyle/>
          <a:p>
            <a:pPr algn="ctr">
              <a:buNone/>
            </a:pPr>
            <a:r>
              <a:rPr lang="en-GB" sz="1050" b="0" i="0" dirty="0">
                <a:solidFill>
                  <a:srgbClr val="1A1A1A"/>
                </a:solidFill>
                <a:latin typeface="Arial"/>
                <a:cs typeface="Arial"/>
              </a:rPr>
              <a:t>Take card</a:t>
            </a:r>
            <a:endParaRPr lang="en-GB" sz="1050" dirty="0"/>
          </a:p>
        </p:txBody>
      </p:sp>
      <p:sp>
        <p:nvSpPr>
          <p:cNvPr id="38" name="Shape 38"/>
          <p:cNvSpPr/>
          <p:nvPr/>
        </p:nvSpPr>
        <p:spPr>
          <a:xfrm>
            <a:off x="3931920" y="4572000"/>
            <a:ext cx="1143000" cy="457200"/>
          </a:xfrm>
          <a:prstGeom prst="rect">
            <a:avLst/>
          </a:prstGeom>
          <a:solidFill>
            <a:srgbClr val="E6EFD9"/>
          </a:solidFill>
          <a:ln w="12700">
            <a:solidFill>
              <a:srgbClr val="9DB8BC"/>
            </a:solidFill>
          </a:ln>
        </p:spPr>
        <p:txBody>
          <a:bodyPr wrap="square" lIns="36576" tIns="36576" rIns="36576" bIns="36576" anchor="ctr" rtlCol="0">
            <a:noAutofit/>
          </a:bodyPr>
          <a:lstStyle/>
          <a:p>
            <a:pPr algn="ctr">
              <a:buNone/>
            </a:pPr>
            <a:r>
              <a:rPr lang="en-GB" sz="1050" b="0" i="0" dirty="0">
                <a:solidFill>
                  <a:srgbClr val="1A1A1A"/>
                </a:solidFill>
                <a:latin typeface="Arial"/>
                <a:cs typeface="Arial"/>
              </a:rPr>
              <a:t>Take cash</a:t>
            </a:r>
            <a:endParaRPr lang="en-GB" sz="1050" dirty="0"/>
          </a:p>
        </p:txBody>
      </p:sp>
      <p:sp>
        <p:nvSpPr>
          <p:cNvPr id="39" name="Shape 39"/>
          <p:cNvSpPr/>
          <p:nvPr/>
        </p:nvSpPr>
        <p:spPr>
          <a:xfrm>
            <a:off x="2240280" y="4572000"/>
            <a:ext cx="1143000" cy="457200"/>
          </a:xfrm>
          <a:prstGeom prst="rect">
            <a:avLst/>
          </a:prstGeom>
          <a:solidFill>
            <a:srgbClr val="DAEDEF"/>
          </a:solidFill>
          <a:ln w="12700">
            <a:solidFill>
              <a:srgbClr val="9DB8BC"/>
            </a:solidFill>
          </a:ln>
        </p:spPr>
        <p:txBody>
          <a:bodyPr wrap="square" lIns="36576" tIns="36576" rIns="36576" bIns="36576" anchor="ctr" rtlCol="0">
            <a:noAutofit/>
          </a:bodyPr>
          <a:lstStyle/>
          <a:p>
            <a:pPr algn="ctr">
              <a:buNone/>
            </a:pPr>
            <a:r>
              <a:rPr lang="en-GB" sz="1050" b="0" i="0" dirty="0">
                <a:solidFill>
                  <a:srgbClr val="1A1A1A"/>
                </a:solidFill>
                <a:latin typeface="Arial"/>
                <a:cs typeface="Arial"/>
              </a:rPr>
              <a:t>Receipt?</a:t>
            </a:r>
            <a:endParaRPr lang="en-GB" sz="1050" dirty="0"/>
          </a:p>
        </p:txBody>
      </p:sp>
      <p:sp>
        <p:nvSpPr>
          <p:cNvPr id="40" name="Shape 40"/>
          <p:cNvSpPr/>
          <p:nvPr/>
        </p:nvSpPr>
        <p:spPr>
          <a:xfrm>
            <a:off x="548640" y="4572000"/>
            <a:ext cx="1143000" cy="457200"/>
          </a:xfrm>
          <a:prstGeom prst="rect">
            <a:avLst/>
          </a:prstGeom>
          <a:solidFill>
            <a:srgbClr val="DAEDEF"/>
          </a:solidFill>
          <a:ln w="12700">
            <a:solidFill>
              <a:srgbClr val="9DB8BC"/>
            </a:solidFill>
          </a:ln>
        </p:spPr>
        <p:txBody>
          <a:bodyPr wrap="square" lIns="36576" tIns="36576" rIns="36576" bIns="36576" anchor="ctr" rtlCol="0">
            <a:noAutofit/>
          </a:bodyPr>
          <a:lstStyle/>
          <a:p>
            <a:pPr algn="ctr">
              <a:buNone/>
            </a:pPr>
            <a:r>
              <a:rPr lang="en-GB" sz="1050" b="0" i="0" dirty="0">
                <a:solidFill>
                  <a:srgbClr val="1A1A1A"/>
                </a:solidFill>
                <a:latin typeface="Arial"/>
                <a:cs typeface="Arial"/>
              </a:rPr>
              <a:t>End</a:t>
            </a:r>
            <a:endParaRPr lang="en-GB" sz="1050" dirty="0"/>
          </a:p>
        </p:txBody>
      </p:sp>
      <p:cxnSp>
        <p:nvCxnSpPr>
          <p:cNvPr id="41" name="Connector 41"/>
          <p:cNvCxnSpPr/>
          <p:nvPr/>
        </p:nvCxnSpPr>
        <p:spPr>
          <a:xfrm flipH="1">
            <a:off x="5074920" y="4800600"/>
            <a:ext cx="548640" cy="0"/>
          </a:xfrm>
          <a:prstGeom prst="line">
            <a:avLst/>
          </a:prstGeom>
          <a:ln w="19050">
            <a:solidFill>
              <a:srgbClr val="595959"/>
            </a:solidFill>
            <a:tailEnd type="triangle" w="med" len="med"/>
          </a:ln>
        </p:spPr>
      </p:cxnSp>
      <p:cxnSp>
        <p:nvCxnSpPr>
          <p:cNvPr id="42" name="Connector 42"/>
          <p:cNvCxnSpPr/>
          <p:nvPr/>
        </p:nvCxnSpPr>
        <p:spPr>
          <a:xfrm flipH="1">
            <a:off x="3383280" y="4800600"/>
            <a:ext cx="548640" cy="0"/>
          </a:xfrm>
          <a:prstGeom prst="line">
            <a:avLst/>
          </a:prstGeom>
          <a:ln w="19050">
            <a:solidFill>
              <a:srgbClr val="595959"/>
            </a:solidFill>
            <a:tailEnd type="triangle" w="med" len="med"/>
          </a:ln>
        </p:spPr>
      </p:cxnSp>
      <p:cxnSp>
        <p:nvCxnSpPr>
          <p:cNvPr id="43" name="Connector 43"/>
          <p:cNvCxnSpPr/>
          <p:nvPr/>
        </p:nvCxnSpPr>
        <p:spPr>
          <a:xfrm flipH="1">
            <a:off x="1691640" y="4800600"/>
            <a:ext cx="548640" cy="0"/>
          </a:xfrm>
          <a:prstGeom prst="line">
            <a:avLst/>
          </a:prstGeom>
          <a:ln w="19050">
            <a:solidFill>
              <a:srgbClr val="595959"/>
            </a:solidFill>
            <a:tailEnd type="triangle" w="med" len="med"/>
          </a:ln>
        </p:spPr>
      </p:cxnSp>
      <p:sp>
        <p:nvSpPr>
          <p:cNvPr id="44" name="Shape 44"/>
          <p:cNvSpPr txBox="1"/>
          <p:nvPr/>
        </p:nvSpPr>
        <p:spPr>
          <a:xfrm>
            <a:off x="3886200" y="5084064"/>
            <a:ext cx="3200400" cy="237744"/>
          </a:xfrm>
          <a:prstGeom prst="rect">
            <a:avLst/>
          </a:prstGeom>
          <a:noFill/>
          <a:ln>
            <a:noFill/>
          </a:ln>
        </p:spPr>
        <p:txBody>
          <a:bodyPr wrap="square" lIns="0" tIns="0" rIns="0" bIns="0" anchor="t" rtlCol="0">
            <a:noAutofit/>
          </a:bodyPr>
          <a:lstStyle/>
          <a:p>
            <a:pPr algn="r">
              <a:buNone/>
            </a:pPr>
            <a:r>
              <a:rPr lang="en-GB" sz="900" b="0" i="1" dirty="0">
                <a:solidFill>
                  <a:srgbClr val="4E7A12"/>
                </a:solidFill>
                <a:latin typeface="Arial"/>
                <a:cs typeface="Arial"/>
              </a:rPr>
              <a:t>card first, then cash: no closure trap (Week 1)</a:t>
            </a:r>
            <a:endParaRPr lang="en-GB" sz="900" dirty="0"/>
          </a:p>
        </p:txBody>
      </p:sp>
      <p:sp>
        <p:nvSpPr>
          <p:cNvPr id="45" name="Shape 45"/>
          <p:cNvSpPr/>
          <p:nvPr/>
        </p:nvSpPr>
        <p:spPr>
          <a:xfrm>
            <a:off x="548640" y="5486400"/>
            <a:ext cx="7589520" cy="594360"/>
          </a:xfrm>
          <a:prstGeom prst="roundRect">
            <a:avLst>
              <a:gd name="adj" fmla="val 8000"/>
            </a:avLst>
          </a:prstGeom>
          <a:solidFill>
            <a:srgbClr val="F3F8F9"/>
          </a:solidFill>
          <a:ln w="12700">
            <a:solidFill>
              <a:srgbClr val="9DB8BC"/>
            </a:solidFill>
          </a:ln>
        </p:spPr>
        <p:txBody>
          <a:bodyPr wrap="square" lIns="109728" tIns="109728" rIns="109728" bIns="109728" anchor="ctr" rtlCol="0">
            <a:noAutofit/>
          </a:bodyPr>
          <a:lstStyle/>
          <a:p>
            <a:pPr algn="l">
              <a:buNone/>
            </a:pPr>
            <a:r>
              <a:rPr lang="en-GB" sz="1100" b="1" i="0" dirty="0">
                <a:solidFill>
                  <a:srgbClr val="B03A2E"/>
                </a:solidFill>
                <a:latin typeface="Arial"/>
                <a:cs typeface="Arial"/>
              </a:rPr>
              <a:t xml:space="preserve">Cancel </a:t>
            </a:r>
            <a:r>
              <a:rPr lang="en-GB" sz="1100" b="0" i="0" dirty="0">
                <a:solidFill>
                  <a:srgbClr val="1A1A1A"/>
                </a:solidFill>
                <a:latin typeface="Arial"/>
                <a:cs typeface="Arial"/>
              </a:rPr>
              <a:t>from any screen → return card → End. Draw it once as a dashed arrow from a group, or the diagram drowns in arrows — a real limit of network diagrams.</a:t>
            </a:r>
            <a:endParaRPr lang="en-GB" sz="11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Exit ticket</a:t>
            </a:r>
          </a:p>
        </p:txBody>
      </p:sp>
      <p:sp>
        <p:nvSpPr>
          <p:cNvPr id="11" name="Shape 11"/>
          <p:cNvSpPr/>
          <p:nvPr/>
        </p:nvSpPr>
        <p:spPr>
          <a:xfrm>
            <a:off x="548640" y="1810512"/>
            <a:ext cx="868680" cy="310896"/>
          </a:xfrm>
          <a:prstGeom prst="roundRect">
            <a:avLst>
              <a:gd name="adj" fmla="val 50000"/>
            </a:avLst>
          </a:prstGeom>
          <a:solidFill>
            <a:srgbClr val="333399"/>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QUIZ</a:t>
            </a:r>
            <a:endParaRPr lang="en-GB" sz="1100" dirty="0"/>
          </a:p>
        </p:txBody>
      </p:sp>
      <p:sp>
        <p:nvSpPr>
          <p:cNvPr id="12" name="Shape 12"/>
          <p:cNvSpPr txBox="1"/>
          <p:nvPr/>
        </p:nvSpPr>
        <p:spPr>
          <a:xfrm>
            <a:off x="1527048" y="1810512"/>
            <a:ext cx="6611112" cy="310896"/>
          </a:xfrm>
          <a:prstGeom prst="rect">
            <a:avLst/>
          </a:prstGeom>
          <a:noFill/>
          <a:ln>
            <a:noFill/>
          </a:ln>
        </p:spPr>
        <p:txBody>
          <a:bodyPr wrap="square" lIns="18288" tIns="18288" rIns="18288" bIns="18288" anchor="ctr" rtlCol="0">
            <a:noAutofit/>
          </a:bodyPr>
          <a:lstStyle/>
          <a:p>
            <a:pPr algn="l">
              <a:buNone/>
            </a:pPr>
            <a:r>
              <a:rPr lang="en-GB" sz="1200" b="0" i="1" dirty="0">
                <a:solidFill>
                  <a:srgbClr val="595959"/>
                </a:solidFill>
                <a:latin typeface="Arial"/>
                <a:cs typeface="Arial"/>
              </a:rPr>
              <a:t>3 min · write a, b or c for each on a slip and hand it in</a:t>
            </a:r>
            <a:endParaRPr lang="en-GB" sz="1200" dirty="0"/>
          </a:p>
        </p:txBody>
      </p:sp>
      <p:sp>
        <p:nvSpPr>
          <p:cNvPr id="13" name="Shape 13"/>
          <p:cNvSpPr/>
          <p:nvPr/>
        </p:nvSpPr>
        <p:spPr>
          <a:xfrm>
            <a:off x="548640" y="2304288"/>
            <a:ext cx="292608" cy="292608"/>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1</a:t>
            </a:r>
            <a:endParaRPr lang="en-GB" sz="1100" dirty="0"/>
          </a:p>
        </p:txBody>
      </p:sp>
      <p:sp>
        <p:nvSpPr>
          <p:cNvPr id="14" name="Shape 14"/>
          <p:cNvSpPr txBox="1"/>
          <p:nvPr/>
        </p:nvSpPr>
        <p:spPr>
          <a:xfrm>
            <a:off x="960120" y="2267712"/>
            <a:ext cx="7178040" cy="329184"/>
          </a:xfrm>
          <a:prstGeom prst="rect">
            <a:avLst/>
          </a:prstGeom>
          <a:noFill/>
          <a:ln>
            <a:noFill/>
          </a:ln>
        </p:spPr>
        <p:txBody>
          <a:bodyPr wrap="square" lIns="18288" tIns="18288" rIns="18288" bIns="18288" anchor="ctr" rtlCol="0">
            <a:noAutofit/>
          </a:bodyPr>
          <a:lstStyle/>
          <a:p>
            <a:pPr algn="l">
              <a:buNone/>
            </a:pPr>
            <a:r>
              <a:rPr lang="en-GB" sz="1200" b="1" i="0" dirty="0">
                <a:solidFill>
                  <a:srgbClr val="1A1A1A"/>
                </a:solidFill>
                <a:latin typeface="Arial"/>
                <a:cs typeface="Arial"/>
              </a:rPr>
              <a:t>Dix’s golden rule of design is …</a:t>
            </a:r>
            <a:endParaRPr lang="en-GB" sz="1200" dirty="0"/>
          </a:p>
        </p:txBody>
      </p:sp>
      <p:sp>
        <p:nvSpPr>
          <p:cNvPr id="15" name="Shape 15"/>
          <p:cNvSpPr/>
          <p:nvPr/>
        </p:nvSpPr>
        <p:spPr>
          <a:xfrm>
            <a:off x="960120" y="263347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a)  </a:t>
            </a:r>
            <a:r>
              <a:rPr lang="en-GB" sz="1100" b="0" i="0" dirty="0">
                <a:solidFill>
                  <a:srgbClr val="1A1A1A"/>
                </a:solidFill>
                <a:latin typeface="Arial"/>
                <a:cs typeface="Arial"/>
              </a:rPr>
              <a:t>make it look modern</a:t>
            </a:r>
            <a:endParaRPr lang="en-GB" sz="1100" dirty="0"/>
          </a:p>
        </p:txBody>
      </p:sp>
      <p:sp>
        <p:nvSpPr>
          <p:cNvPr id="16" name="Shape 16"/>
          <p:cNvSpPr/>
          <p:nvPr/>
        </p:nvSpPr>
        <p:spPr>
          <a:xfrm>
            <a:off x="3401568" y="263347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b)  </a:t>
            </a:r>
            <a:r>
              <a:rPr lang="en-GB" sz="1100" b="0" i="0" dirty="0">
                <a:solidFill>
                  <a:srgbClr val="1A1A1A"/>
                </a:solidFill>
                <a:latin typeface="Arial"/>
                <a:cs typeface="Arial"/>
              </a:rPr>
              <a:t>understand your materials</a:t>
            </a:r>
            <a:endParaRPr lang="en-GB" sz="1100" dirty="0"/>
          </a:p>
        </p:txBody>
      </p:sp>
      <p:sp>
        <p:nvSpPr>
          <p:cNvPr id="17" name="Shape 17"/>
          <p:cNvSpPr/>
          <p:nvPr/>
        </p:nvSpPr>
        <p:spPr>
          <a:xfrm>
            <a:off x="5843016" y="263347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c)  </a:t>
            </a:r>
            <a:r>
              <a:rPr lang="en-GB" sz="1100" b="0" i="0" dirty="0">
                <a:solidFill>
                  <a:srgbClr val="1A1A1A"/>
                </a:solidFill>
                <a:latin typeface="Arial"/>
                <a:cs typeface="Arial"/>
              </a:rPr>
              <a:t>ask the client what they want</a:t>
            </a:r>
            <a:endParaRPr lang="en-GB" sz="1100" dirty="0"/>
          </a:p>
        </p:txBody>
      </p:sp>
      <p:sp>
        <p:nvSpPr>
          <p:cNvPr id="18" name="Shape 18"/>
          <p:cNvSpPr/>
          <p:nvPr/>
        </p:nvSpPr>
        <p:spPr>
          <a:xfrm>
            <a:off x="548640" y="3127248"/>
            <a:ext cx="292608" cy="292608"/>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2</a:t>
            </a:r>
            <a:endParaRPr lang="en-GB" sz="1100" dirty="0"/>
          </a:p>
        </p:txBody>
      </p:sp>
      <p:sp>
        <p:nvSpPr>
          <p:cNvPr id="19" name="Shape 19"/>
          <p:cNvSpPr txBox="1"/>
          <p:nvPr/>
        </p:nvSpPr>
        <p:spPr>
          <a:xfrm>
            <a:off x="960120" y="3090672"/>
            <a:ext cx="7178040" cy="329184"/>
          </a:xfrm>
          <a:prstGeom prst="rect">
            <a:avLst/>
          </a:prstGeom>
          <a:noFill/>
          <a:ln>
            <a:noFill/>
          </a:ln>
        </p:spPr>
        <p:txBody>
          <a:bodyPr wrap="square" lIns="18288" tIns="18288" rIns="18288" bIns="18288" anchor="ctr" rtlCol="0">
            <a:noAutofit/>
          </a:bodyPr>
          <a:lstStyle/>
          <a:p>
            <a:pPr algn="l">
              <a:buNone/>
            </a:pPr>
            <a:r>
              <a:rPr lang="en-GB" sz="1200" b="1" i="0" dirty="0">
                <a:solidFill>
                  <a:srgbClr val="1A1A1A"/>
                </a:solidFill>
                <a:latin typeface="Arial"/>
                <a:cs typeface="Arial"/>
              </a:rPr>
              <a:t>A persona is …</a:t>
            </a:r>
            <a:endParaRPr lang="en-GB" sz="1200" dirty="0"/>
          </a:p>
        </p:txBody>
      </p:sp>
      <p:sp>
        <p:nvSpPr>
          <p:cNvPr id="20" name="Shape 20"/>
          <p:cNvSpPr/>
          <p:nvPr/>
        </p:nvSpPr>
        <p:spPr>
          <a:xfrm>
            <a:off x="960120" y="345643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a)  </a:t>
            </a:r>
            <a:r>
              <a:rPr lang="en-GB" sz="1100" b="0" i="0" dirty="0">
                <a:solidFill>
                  <a:srgbClr val="1A1A1A"/>
                </a:solidFill>
                <a:latin typeface="Arial"/>
                <a:cs typeface="Arial"/>
              </a:rPr>
              <a:t>a real user you interviewed</a:t>
            </a:r>
            <a:endParaRPr lang="en-GB" sz="1100" dirty="0"/>
          </a:p>
        </p:txBody>
      </p:sp>
      <p:sp>
        <p:nvSpPr>
          <p:cNvPr id="21" name="Shape 21"/>
          <p:cNvSpPr/>
          <p:nvPr/>
        </p:nvSpPr>
        <p:spPr>
          <a:xfrm>
            <a:off x="3401568" y="345643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b)  </a:t>
            </a:r>
            <a:r>
              <a:rPr lang="en-GB" sz="1100" b="0" i="0" dirty="0">
                <a:solidFill>
                  <a:srgbClr val="1A1A1A"/>
                </a:solidFill>
                <a:latin typeface="Arial"/>
                <a:cs typeface="Arial"/>
              </a:rPr>
              <a:t>an ‘example’ user</a:t>
            </a:r>
            <a:endParaRPr lang="en-GB" sz="1100" dirty="0"/>
          </a:p>
        </p:txBody>
      </p:sp>
      <p:sp>
        <p:nvSpPr>
          <p:cNvPr id="22" name="Shape 22"/>
          <p:cNvSpPr/>
          <p:nvPr/>
        </p:nvSpPr>
        <p:spPr>
          <a:xfrm>
            <a:off x="5843016" y="345643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c)  </a:t>
            </a:r>
            <a:r>
              <a:rPr lang="en-GB" sz="1100" b="0" i="0" dirty="0">
                <a:solidFill>
                  <a:srgbClr val="1A1A1A"/>
                </a:solidFill>
                <a:latin typeface="Arial"/>
                <a:cs typeface="Arial"/>
              </a:rPr>
              <a:t>a market segment</a:t>
            </a:r>
            <a:endParaRPr lang="en-GB" sz="1100" dirty="0"/>
          </a:p>
        </p:txBody>
      </p:sp>
      <p:sp>
        <p:nvSpPr>
          <p:cNvPr id="23" name="Shape 23"/>
          <p:cNvSpPr/>
          <p:nvPr/>
        </p:nvSpPr>
        <p:spPr>
          <a:xfrm>
            <a:off x="548640" y="3950208"/>
            <a:ext cx="292608" cy="292608"/>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3</a:t>
            </a:r>
            <a:endParaRPr lang="en-GB" sz="1100" dirty="0"/>
          </a:p>
        </p:txBody>
      </p:sp>
      <p:sp>
        <p:nvSpPr>
          <p:cNvPr id="24" name="Shape 24"/>
          <p:cNvSpPr txBox="1"/>
          <p:nvPr/>
        </p:nvSpPr>
        <p:spPr>
          <a:xfrm>
            <a:off x="960120" y="3913632"/>
            <a:ext cx="7178040" cy="329184"/>
          </a:xfrm>
          <a:prstGeom prst="rect">
            <a:avLst/>
          </a:prstGeom>
          <a:noFill/>
          <a:ln>
            <a:noFill/>
          </a:ln>
        </p:spPr>
        <p:txBody>
          <a:bodyPr wrap="square" lIns="18288" tIns="18288" rIns="18288" bIns="18288" anchor="ctr" rtlCol="0">
            <a:noAutofit/>
          </a:bodyPr>
          <a:lstStyle/>
          <a:p>
            <a:pPr algn="l">
              <a:buNone/>
            </a:pPr>
            <a:r>
              <a:rPr lang="en-GB" sz="1200" b="1" i="0" dirty="0">
                <a:solidFill>
                  <a:srgbClr val="1A1A1A"/>
                </a:solidFill>
                <a:latin typeface="Arial"/>
                <a:cs typeface="Arial"/>
              </a:rPr>
              <a:t>The main weakness of a scenario is that it is …</a:t>
            </a:r>
            <a:endParaRPr lang="en-GB" sz="1200" dirty="0"/>
          </a:p>
        </p:txBody>
      </p:sp>
      <p:sp>
        <p:nvSpPr>
          <p:cNvPr id="25" name="Shape 25"/>
          <p:cNvSpPr/>
          <p:nvPr/>
        </p:nvSpPr>
        <p:spPr>
          <a:xfrm>
            <a:off x="960120" y="427939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a)  </a:t>
            </a:r>
            <a:r>
              <a:rPr lang="en-GB" sz="1100" b="0" i="0" dirty="0">
                <a:solidFill>
                  <a:srgbClr val="1A1A1A"/>
                </a:solidFill>
                <a:latin typeface="Arial"/>
                <a:cs typeface="Arial"/>
              </a:rPr>
              <a:t>too abstract</a:t>
            </a:r>
            <a:endParaRPr lang="en-GB" sz="1100" dirty="0"/>
          </a:p>
        </p:txBody>
      </p:sp>
      <p:sp>
        <p:nvSpPr>
          <p:cNvPr id="26" name="Shape 26"/>
          <p:cNvSpPr/>
          <p:nvPr/>
        </p:nvSpPr>
        <p:spPr>
          <a:xfrm>
            <a:off x="3401568" y="427939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b)  </a:t>
            </a:r>
            <a:r>
              <a:rPr lang="en-GB" sz="1100" b="0" i="0" dirty="0">
                <a:solidFill>
                  <a:srgbClr val="1A1A1A"/>
                </a:solidFill>
                <a:latin typeface="Arial"/>
                <a:cs typeface="Arial"/>
              </a:rPr>
              <a:t>linear: no branches</a:t>
            </a:r>
            <a:endParaRPr lang="en-GB" sz="1100" dirty="0"/>
          </a:p>
        </p:txBody>
      </p:sp>
      <p:sp>
        <p:nvSpPr>
          <p:cNvPr id="27" name="Shape 27"/>
          <p:cNvSpPr/>
          <p:nvPr/>
        </p:nvSpPr>
        <p:spPr>
          <a:xfrm>
            <a:off x="5843016" y="427939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c)  </a:t>
            </a:r>
            <a:r>
              <a:rPr lang="en-GB" sz="1100" b="0" i="0" dirty="0">
                <a:solidFill>
                  <a:srgbClr val="1A1A1A"/>
                </a:solidFill>
                <a:latin typeface="Arial"/>
                <a:cs typeface="Arial"/>
              </a:rPr>
              <a:t>hard for clients to read</a:t>
            </a:r>
            <a:endParaRPr lang="en-GB" sz="1100" dirty="0"/>
          </a:p>
        </p:txBody>
      </p:sp>
      <p:sp>
        <p:nvSpPr>
          <p:cNvPr id="28" name="Shape 28"/>
          <p:cNvSpPr/>
          <p:nvPr/>
        </p:nvSpPr>
        <p:spPr>
          <a:xfrm>
            <a:off x="548640" y="4773168"/>
            <a:ext cx="292608" cy="292608"/>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4</a:t>
            </a:r>
            <a:endParaRPr lang="en-GB" sz="1100" dirty="0"/>
          </a:p>
        </p:txBody>
      </p:sp>
      <p:sp>
        <p:nvSpPr>
          <p:cNvPr id="29" name="Shape 29"/>
          <p:cNvSpPr txBox="1"/>
          <p:nvPr/>
        </p:nvSpPr>
        <p:spPr>
          <a:xfrm>
            <a:off x="960120" y="4736592"/>
            <a:ext cx="7178040" cy="329184"/>
          </a:xfrm>
          <a:prstGeom prst="rect">
            <a:avLst/>
          </a:prstGeom>
          <a:noFill/>
          <a:ln>
            <a:noFill/>
          </a:ln>
        </p:spPr>
        <p:txBody>
          <a:bodyPr wrap="square" lIns="18288" tIns="18288" rIns="18288" bIns="18288" anchor="ctr" rtlCol="0">
            <a:noAutofit/>
          </a:bodyPr>
          <a:lstStyle/>
          <a:p>
            <a:pPr algn="l">
              <a:buNone/>
            </a:pPr>
            <a:r>
              <a:rPr lang="en-GB" sz="1200" b="1" i="0" dirty="0">
                <a:solidFill>
                  <a:srgbClr val="1A1A1A"/>
                </a:solidFill>
                <a:latin typeface="Arial"/>
                <a:cs typeface="Arial"/>
              </a:rPr>
              <a:t>Breadcrumbs mainly answer …</a:t>
            </a:r>
            <a:endParaRPr lang="en-GB" sz="1200" dirty="0"/>
          </a:p>
        </p:txBody>
      </p:sp>
      <p:sp>
        <p:nvSpPr>
          <p:cNvPr id="30" name="Shape 30"/>
          <p:cNvSpPr/>
          <p:nvPr/>
        </p:nvSpPr>
        <p:spPr>
          <a:xfrm>
            <a:off x="960120" y="510235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a)  </a:t>
            </a:r>
            <a:r>
              <a:rPr lang="en-GB" sz="1100" b="0" i="0" dirty="0">
                <a:solidFill>
                  <a:srgbClr val="1A1A1A"/>
                </a:solidFill>
                <a:latin typeface="Arial"/>
                <a:cs typeface="Arial"/>
              </a:rPr>
              <a:t>where am I?</a:t>
            </a:r>
            <a:endParaRPr lang="en-GB" sz="1100" dirty="0"/>
          </a:p>
        </p:txBody>
      </p:sp>
      <p:sp>
        <p:nvSpPr>
          <p:cNvPr id="31" name="Shape 31"/>
          <p:cNvSpPr/>
          <p:nvPr/>
        </p:nvSpPr>
        <p:spPr>
          <a:xfrm>
            <a:off x="3401568" y="510235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b)  </a:t>
            </a:r>
            <a:r>
              <a:rPr lang="en-GB" sz="1100" b="0" i="0" dirty="0">
                <a:solidFill>
                  <a:srgbClr val="1A1A1A"/>
                </a:solidFill>
                <a:latin typeface="Arial"/>
                <a:cs typeface="Arial"/>
              </a:rPr>
              <a:t>what will happen next?</a:t>
            </a:r>
            <a:endParaRPr lang="en-GB" sz="1100" dirty="0"/>
          </a:p>
        </p:txBody>
      </p:sp>
      <p:sp>
        <p:nvSpPr>
          <p:cNvPr id="32" name="Shape 32"/>
          <p:cNvSpPr/>
          <p:nvPr/>
        </p:nvSpPr>
        <p:spPr>
          <a:xfrm>
            <a:off x="5843016" y="510235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c)  </a:t>
            </a:r>
            <a:r>
              <a:rPr lang="en-GB" sz="1100" b="0" i="0" dirty="0">
                <a:solidFill>
                  <a:srgbClr val="1A1A1A"/>
                </a:solidFill>
                <a:latin typeface="Arial"/>
                <a:cs typeface="Arial"/>
              </a:rPr>
              <a:t>what can I do here?</a:t>
            </a:r>
            <a:endParaRPr lang="en-GB" sz="1100" dirty="0"/>
          </a:p>
        </p:txBody>
      </p:sp>
      <p:sp>
        <p:nvSpPr>
          <p:cNvPr id="33" name="Shape 33"/>
          <p:cNvSpPr/>
          <p:nvPr/>
        </p:nvSpPr>
        <p:spPr>
          <a:xfrm>
            <a:off x="548640" y="5596128"/>
            <a:ext cx="292608" cy="292608"/>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5</a:t>
            </a:r>
            <a:endParaRPr lang="en-GB" sz="1100" dirty="0"/>
          </a:p>
        </p:txBody>
      </p:sp>
      <p:sp>
        <p:nvSpPr>
          <p:cNvPr id="34" name="Shape 34"/>
          <p:cNvSpPr txBox="1"/>
          <p:nvPr/>
        </p:nvSpPr>
        <p:spPr>
          <a:xfrm>
            <a:off x="960120" y="5559552"/>
            <a:ext cx="7178040" cy="329184"/>
          </a:xfrm>
          <a:prstGeom prst="rect">
            <a:avLst/>
          </a:prstGeom>
          <a:noFill/>
          <a:ln>
            <a:noFill/>
          </a:ln>
        </p:spPr>
        <p:txBody>
          <a:bodyPr wrap="square" lIns="18288" tIns="18288" rIns="18288" bIns="18288" anchor="ctr" rtlCol="0">
            <a:noAutofit/>
          </a:bodyPr>
          <a:lstStyle/>
          <a:p>
            <a:pPr algn="l">
              <a:buNone/>
            </a:pPr>
            <a:r>
              <a:rPr lang="en-GB" sz="1200" b="1" i="0" dirty="0">
                <a:solidFill>
                  <a:srgbClr val="1A1A1A"/>
                </a:solidFill>
                <a:latin typeface="Arial"/>
                <a:cs typeface="Arial"/>
              </a:rPr>
              <a:t>Unlike a hierarchy, a network diagram shows …</a:t>
            </a:r>
            <a:endParaRPr lang="en-GB" sz="1200" dirty="0"/>
          </a:p>
        </p:txBody>
      </p:sp>
      <p:sp>
        <p:nvSpPr>
          <p:cNvPr id="35" name="Shape 35"/>
          <p:cNvSpPr/>
          <p:nvPr/>
        </p:nvSpPr>
        <p:spPr>
          <a:xfrm>
            <a:off x="960120" y="592531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a)  </a:t>
            </a:r>
            <a:r>
              <a:rPr lang="en-GB" sz="1100" b="0" i="0" dirty="0">
                <a:solidFill>
                  <a:srgbClr val="1A1A1A"/>
                </a:solidFill>
                <a:latin typeface="Arial"/>
                <a:cs typeface="Arial"/>
              </a:rPr>
              <a:t>functional groups</a:t>
            </a:r>
            <a:endParaRPr lang="en-GB" sz="1100" dirty="0"/>
          </a:p>
        </p:txBody>
      </p:sp>
      <p:sp>
        <p:nvSpPr>
          <p:cNvPr id="36" name="Shape 36"/>
          <p:cNvSpPr/>
          <p:nvPr/>
        </p:nvSpPr>
        <p:spPr>
          <a:xfrm>
            <a:off x="3401568" y="592531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b)  </a:t>
            </a:r>
            <a:r>
              <a:rPr lang="en-GB" sz="1100" b="0" i="0" dirty="0">
                <a:solidFill>
                  <a:srgbClr val="1A1A1A"/>
                </a:solidFill>
                <a:latin typeface="Arial"/>
                <a:cs typeface="Arial"/>
              </a:rPr>
              <a:t>what leads to what</a:t>
            </a:r>
            <a:endParaRPr lang="en-GB" sz="1100" dirty="0"/>
          </a:p>
        </p:txBody>
      </p:sp>
      <p:sp>
        <p:nvSpPr>
          <p:cNvPr id="37" name="Shape 37"/>
          <p:cNvSpPr/>
          <p:nvPr/>
        </p:nvSpPr>
        <p:spPr>
          <a:xfrm>
            <a:off x="5843016" y="592531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c)  </a:t>
            </a:r>
            <a:r>
              <a:rPr lang="en-GB" sz="1100" b="0" i="0" dirty="0">
                <a:solidFill>
                  <a:srgbClr val="1A1A1A"/>
                </a:solidFill>
                <a:latin typeface="Arial"/>
                <a:cs typeface="Arial"/>
              </a:rPr>
              <a:t>the screen layout</a:t>
            </a:r>
            <a:endParaRPr lang="en-GB" sz="11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0" i="0" dirty="0">
                <a:solidFill>
                  <a:srgbClr val="2D2D8A"/>
                </a:solidFill>
                <a:latin typeface="Arial"/>
                <a:cs typeface="Arial"/>
              </a:rPr>
              <a:t>Exit ticket</a:t>
            </a:r>
          </a:p>
        </p:txBody>
      </p:sp>
      <p:sp>
        <p:nvSpPr>
          <p:cNvPr id="11" name="Shape 11"/>
          <p:cNvSpPr/>
          <p:nvPr/>
        </p:nvSpPr>
        <p:spPr>
          <a:xfrm>
            <a:off x="548640" y="1810512"/>
            <a:ext cx="1056132" cy="310896"/>
          </a:xfrm>
          <a:prstGeom prst="roundRect">
            <a:avLst>
              <a:gd name="adj" fmla="val 50000"/>
            </a:avLst>
          </a:prstGeom>
          <a:solidFill>
            <a:srgbClr val="404040"/>
          </a:solidFill>
          <a:ln>
            <a:noFill/>
          </a:ln>
        </p:spPr>
        <p:txBody>
          <a:bodyPr wrap="square" lIns="27432" tIns="27432" rIns="27432" bIns="27432" anchor="ctr" rtlCol="0">
            <a:noAutofit/>
          </a:bodyPr>
          <a:lstStyle/>
          <a:p>
            <a:pPr algn="ctr">
              <a:buNone/>
            </a:pPr>
            <a:r>
              <a:rPr lang="en-GB" sz="1100" b="1" i="0" dirty="0">
                <a:solidFill>
                  <a:srgbClr val="FFFFFF"/>
                </a:solidFill>
                <a:latin typeface="Arial"/>
                <a:cs typeface="Arial"/>
              </a:rPr>
              <a:t>ANSWERS</a:t>
            </a:r>
            <a:endParaRPr lang="en-GB" sz="1100" dirty="0"/>
          </a:p>
        </p:txBody>
      </p:sp>
      <p:sp>
        <p:nvSpPr>
          <p:cNvPr id="12" name="Shape 12"/>
          <p:cNvSpPr txBox="1"/>
          <p:nvPr/>
        </p:nvSpPr>
        <p:spPr>
          <a:xfrm>
            <a:off x="1714500" y="1810512"/>
            <a:ext cx="6423660" cy="310896"/>
          </a:xfrm>
          <a:prstGeom prst="rect">
            <a:avLst/>
          </a:prstGeom>
          <a:noFill/>
          <a:ln>
            <a:noFill/>
          </a:ln>
        </p:spPr>
        <p:txBody>
          <a:bodyPr wrap="square" lIns="18288" tIns="18288" rIns="18288" bIns="18288" anchor="ctr" rtlCol="0">
            <a:noAutofit/>
          </a:bodyPr>
          <a:lstStyle/>
          <a:p>
            <a:pPr algn="l">
              <a:buNone/>
            </a:pPr>
            <a:r>
              <a:rPr lang="en-GB" sz="1200" b="0" i="1" dirty="0">
                <a:solidFill>
                  <a:srgbClr val="595959"/>
                </a:solidFill>
                <a:latin typeface="Arial"/>
                <a:cs typeface="Arial"/>
              </a:rPr>
              <a:t>check yourself</a:t>
            </a:r>
            <a:endParaRPr lang="en-GB" sz="1200" dirty="0"/>
          </a:p>
        </p:txBody>
      </p:sp>
      <p:sp>
        <p:nvSpPr>
          <p:cNvPr id="13" name="Shape 13"/>
          <p:cNvSpPr/>
          <p:nvPr/>
        </p:nvSpPr>
        <p:spPr>
          <a:xfrm>
            <a:off x="548640" y="2304288"/>
            <a:ext cx="292608" cy="292608"/>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1</a:t>
            </a:r>
            <a:endParaRPr lang="en-GB" sz="1100" dirty="0"/>
          </a:p>
        </p:txBody>
      </p:sp>
      <p:sp>
        <p:nvSpPr>
          <p:cNvPr id="14" name="Shape 14"/>
          <p:cNvSpPr txBox="1"/>
          <p:nvPr/>
        </p:nvSpPr>
        <p:spPr>
          <a:xfrm>
            <a:off x="960120" y="2267712"/>
            <a:ext cx="7178040" cy="329184"/>
          </a:xfrm>
          <a:prstGeom prst="rect">
            <a:avLst/>
          </a:prstGeom>
          <a:noFill/>
          <a:ln>
            <a:noFill/>
          </a:ln>
        </p:spPr>
        <p:txBody>
          <a:bodyPr wrap="square" lIns="18288" tIns="18288" rIns="18288" bIns="18288" anchor="ctr" rtlCol="0">
            <a:noAutofit/>
          </a:bodyPr>
          <a:lstStyle/>
          <a:p>
            <a:pPr algn="l">
              <a:buNone/>
            </a:pPr>
            <a:r>
              <a:rPr lang="en-GB" sz="1200" b="1" i="0" dirty="0">
                <a:solidFill>
                  <a:srgbClr val="1A1A1A"/>
                </a:solidFill>
                <a:latin typeface="Arial"/>
                <a:cs typeface="Arial"/>
              </a:rPr>
              <a:t>Dix’s golden rule of design is …</a:t>
            </a:r>
            <a:endParaRPr lang="en-GB" sz="1200" dirty="0"/>
          </a:p>
        </p:txBody>
      </p:sp>
      <p:sp>
        <p:nvSpPr>
          <p:cNvPr id="15" name="Shape 15"/>
          <p:cNvSpPr/>
          <p:nvPr/>
        </p:nvSpPr>
        <p:spPr>
          <a:xfrm>
            <a:off x="960120" y="263347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a)  </a:t>
            </a:r>
            <a:r>
              <a:rPr lang="en-GB" sz="1100" b="0" i="0" dirty="0">
                <a:solidFill>
                  <a:srgbClr val="1A1A1A"/>
                </a:solidFill>
                <a:latin typeface="Arial"/>
                <a:cs typeface="Arial"/>
              </a:rPr>
              <a:t>make it look modern</a:t>
            </a:r>
            <a:endParaRPr lang="en-GB" sz="1100" dirty="0"/>
          </a:p>
        </p:txBody>
      </p:sp>
      <p:sp>
        <p:nvSpPr>
          <p:cNvPr id="16" name="Shape 16"/>
          <p:cNvSpPr/>
          <p:nvPr/>
        </p:nvSpPr>
        <p:spPr>
          <a:xfrm>
            <a:off x="3401568" y="2633472"/>
            <a:ext cx="2331720" cy="329184"/>
          </a:xfrm>
          <a:prstGeom prst="roundRect">
            <a:avLst>
              <a:gd name="adj" fmla="val 30000"/>
            </a:avLst>
          </a:prstGeom>
          <a:solidFill>
            <a:srgbClr val="4E7A12"/>
          </a:solidFill>
          <a:ln>
            <a:noFill/>
          </a:ln>
        </p:spPr>
        <p:txBody>
          <a:bodyPr wrap="square" lIns="54864" tIns="54864" rIns="54864" bIns="54864" anchor="ctr" rtlCol="0">
            <a:noAutofit/>
          </a:bodyPr>
          <a:lstStyle/>
          <a:p>
            <a:pPr algn="l">
              <a:buNone/>
            </a:pPr>
            <a:r>
              <a:rPr lang="en-GB" sz="1100" b="1" i="0" dirty="0">
                <a:solidFill>
                  <a:srgbClr val="FFFFFF"/>
                </a:solidFill>
                <a:latin typeface="Arial"/>
                <a:cs typeface="Arial"/>
              </a:rPr>
              <a:t xml:space="preserve">b)  </a:t>
            </a:r>
            <a:r>
              <a:rPr lang="en-GB" sz="1100" b="1" i="0" dirty="0">
                <a:solidFill>
                  <a:srgbClr val="FFFFFF"/>
                </a:solidFill>
                <a:latin typeface="Arial"/>
                <a:cs typeface="Arial"/>
              </a:rPr>
              <a:t>understand your materials</a:t>
            </a:r>
            <a:endParaRPr lang="en-GB" sz="1100" dirty="0"/>
          </a:p>
        </p:txBody>
      </p:sp>
      <p:sp>
        <p:nvSpPr>
          <p:cNvPr id="17" name="Shape 17"/>
          <p:cNvSpPr/>
          <p:nvPr/>
        </p:nvSpPr>
        <p:spPr>
          <a:xfrm>
            <a:off x="5843016" y="263347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c)  </a:t>
            </a:r>
            <a:r>
              <a:rPr lang="en-GB" sz="1100" b="0" i="0" dirty="0">
                <a:solidFill>
                  <a:srgbClr val="1A1A1A"/>
                </a:solidFill>
                <a:latin typeface="Arial"/>
                <a:cs typeface="Arial"/>
              </a:rPr>
              <a:t>ask the client what they want</a:t>
            </a:r>
            <a:endParaRPr lang="en-GB" sz="1100" dirty="0"/>
          </a:p>
        </p:txBody>
      </p:sp>
      <p:sp>
        <p:nvSpPr>
          <p:cNvPr id="18" name="Shape 18"/>
          <p:cNvSpPr/>
          <p:nvPr/>
        </p:nvSpPr>
        <p:spPr>
          <a:xfrm>
            <a:off x="548640" y="3127248"/>
            <a:ext cx="292608" cy="292608"/>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2</a:t>
            </a:r>
            <a:endParaRPr lang="en-GB" sz="1100" dirty="0"/>
          </a:p>
        </p:txBody>
      </p:sp>
      <p:sp>
        <p:nvSpPr>
          <p:cNvPr id="19" name="Shape 19"/>
          <p:cNvSpPr txBox="1"/>
          <p:nvPr/>
        </p:nvSpPr>
        <p:spPr>
          <a:xfrm>
            <a:off x="960120" y="3090672"/>
            <a:ext cx="7178040" cy="329184"/>
          </a:xfrm>
          <a:prstGeom prst="rect">
            <a:avLst/>
          </a:prstGeom>
          <a:noFill/>
          <a:ln>
            <a:noFill/>
          </a:ln>
        </p:spPr>
        <p:txBody>
          <a:bodyPr wrap="square" lIns="18288" tIns="18288" rIns="18288" bIns="18288" anchor="ctr" rtlCol="0">
            <a:noAutofit/>
          </a:bodyPr>
          <a:lstStyle/>
          <a:p>
            <a:pPr algn="l">
              <a:buNone/>
            </a:pPr>
            <a:r>
              <a:rPr lang="en-GB" sz="1200" b="1" i="0" dirty="0">
                <a:solidFill>
                  <a:srgbClr val="1A1A1A"/>
                </a:solidFill>
                <a:latin typeface="Arial"/>
                <a:cs typeface="Arial"/>
              </a:rPr>
              <a:t>A persona is …</a:t>
            </a:r>
            <a:endParaRPr lang="en-GB" sz="1200" dirty="0"/>
          </a:p>
        </p:txBody>
      </p:sp>
      <p:sp>
        <p:nvSpPr>
          <p:cNvPr id="20" name="Shape 20"/>
          <p:cNvSpPr/>
          <p:nvPr/>
        </p:nvSpPr>
        <p:spPr>
          <a:xfrm>
            <a:off x="960120" y="345643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a)  </a:t>
            </a:r>
            <a:r>
              <a:rPr lang="en-GB" sz="1100" b="0" i="0" dirty="0">
                <a:solidFill>
                  <a:srgbClr val="1A1A1A"/>
                </a:solidFill>
                <a:latin typeface="Arial"/>
                <a:cs typeface="Arial"/>
              </a:rPr>
              <a:t>a real user you interviewed</a:t>
            </a:r>
            <a:endParaRPr lang="en-GB" sz="1100" dirty="0"/>
          </a:p>
        </p:txBody>
      </p:sp>
      <p:sp>
        <p:nvSpPr>
          <p:cNvPr id="21" name="Shape 21"/>
          <p:cNvSpPr/>
          <p:nvPr/>
        </p:nvSpPr>
        <p:spPr>
          <a:xfrm>
            <a:off x="3401568" y="3456432"/>
            <a:ext cx="2331720" cy="329184"/>
          </a:xfrm>
          <a:prstGeom prst="roundRect">
            <a:avLst>
              <a:gd name="adj" fmla="val 30000"/>
            </a:avLst>
          </a:prstGeom>
          <a:solidFill>
            <a:srgbClr val="4E7A12"/>
          </a:solidFill>
          <a:ln>
            <a:noFill/>
          </a:ln>
        </p:spPr>
        <p:txBody>
          <a:bodyPr wrap="square" lIns="54864" tIns="54864" rIns="54864" bIns="54864" anchor="ctr" rtlCol="0">
            <a:noAutofit/>
          </a:bodyPr>
          <a:lstStyle/>
          <a:p>
            <a:pPr algn="l">
              <a:buNone/>
            </a:pPr>
            <a:r>
              <a:rPr lang="en-GB" sz="1100" b="1" i="0" dirty="0">
                <a:solidFill>
                  <a:srgbClr val="FFFFFF"/>
                </a:solidFill>
                <a:latin typeface="Arial"/>
                <a:cs typeface="Arial"/>
              </a:rPr>
              <a:t xml:space="preserve">b)  </a:t>
            </a:r>
            <a:r>
              <a:rPr lang="en-GB" sz="1100" b="1" i="0" dirty="0">
                <a:solidFill>
                  <a:srgbClr val="FFFFFF"/>
                </a:solidFill>
                <a:latin typeface="Arial"/>
                <a:cs typeface="Arial"/>
              </a:rPr>
              <a:t>an ‘example’ user</a:t>
            </a:r>
            <a:endParaRPr lang="en-GB" sz="1100" dirty="0"/>
          </a:p>
        </p:txBody>
      </p:sp>
      <p:sp>
        <p:nvSpPr>
          <p:cNvPr id="22" name="Shape 22"/>
          <p:cNvSpPr/>
          <p:nvPr/>
        </p:nvSpPr>
        <p:spPr>
          <a:xfrm>
            <a:off x="5843016" y="345643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c)  </a:t>
            </a:r>
            <a:r>
              <a:rPr lang="en-GB" sz="1100" b="0" i="0" dirty="0">
                <a:solidFill>
                  <a:srgbClr val="1A1A1A"/>
                </a:solidFill>
                <a:latin typeface="Arial"/>
                <a:cs typeface="Arial"/>
              </a:rPr>
              <a:t>a market segment</a:t>
            </a:r>
            <a:endParaRPr lang="en-GB" sz="1100" dirty="0"/>
          </a:p>
        </p:txBody>
      </p:sp>
      <p:sp>
        <p:nvSpPr>
          <p:cNvPr id="23" name="Shape 23"/>
          <p:cNvSpPr/>
          <p:nvPr/>
        </p:nvSpPr>
        <p:spPr>
          <a:xfrm>
            <a:off x="548640" y="3950208"/>
            <a:ext cx="292608" cy="292608"/>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3</a:t>
            </a:r>
            <a:endParaRPr lang="en-GB" sz="1100" dirty="0"/>
          </a:p>
        </p:txBody>
      </p:sp>
      <p:sp>
        <p:nvSpPr>
          <p:cNvPr id="24" name="Shape 24"/>
          <p:cNvSpPr txBox="1"/>
          <p:nvPr/>
        </p:nvSpPr>
        <p:spPr>
          <a:xfrm>
            <a:off x="960120" y="3913632"/>
            <a:ext cx="7178040" cy="329184"/>
          </a:xfrm>
          <a:prstGeom prst="rect">
            <a:avLst/>
          </a:prstGeom>
          <a:noFill/>
          <a:ln>
            <a:noFill/>
          </a:ln>
        </p:spPr>
        <p:txBody>
          <a:bodyPr wrap="square" lIns="18288" tIns="18288" rIns="18288" bIns="18288" anchor="ctr" rtlCol="0">
            <a:noAutofit/>
          </a:bodyPr>
          <a:lstStyle/>
          <a:p>
            <a:pPr algn="l">
              <a:buNone/>
            </a:pPr>
            <a:r>
              <a:rPr lang="en-GB" sz="1200" b="1" i="0" dirty="0">
                <a:solidFill>
                  <a:srgbClr val="1A1A1A"/>
                </a:solidFill>
                <a:latin typeface="Arial"/>
                <a:cs typeface="Arial"/>
              </a:rPr>
              <a:t>The main weakness of a scenario is that it is …</a:t>
            </a:r>
            <a:endParaRPr lang="en-GB" sz="1200" dirty="0"/>
          </a:p>
        </p:txBody>
      </p:sp>
      <p:sp>
        <p:nvSpPr>
          <p:cNvPr id="25" name="Shape 25"/>
          <p:cNvSpPr/>
          <p:nvPr/>
        </p:nvSpPr>
        <p:spPr>
          <a:xfrm>
            <a:off x="960120" y="427939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a)  </a:t>
            </a:r>
            <a:r>
              <a:rPr lang="en-GB" sz="1100" b="0" i="0" dirty="0">
                <a:solidFill>
                  <a:srgbClr val="1A1A1A"/>
                </a:solidFill>
                <a:latin typeface="Arial"/>
                <a:cs typeface="Arial"/>
              </a:rPr>
              <a:t>too abstract</a:t>
            </a:r>
            <a:endParaRPr lang="en-GB" sz="1100" dirty="0"/>
          </a:p>
        </p:txBody>
      </p:sp>
      <p:sp>
        <p:nvSpPr>
          <p:cNvPr id="26" name="Shape 26"/>
          <p:cNvSpPr/>
          <p:nvPr/>
        </p:nvSpPr>
        <p:spPr>
          <a:xfrm>
            <a:off x="3401568" y="4279392"/>
            <a:ext cx="2331720" cy="329184"/>
          </a:xfrm>
          <a:prstGeom prst="roundRect">
            <a:avLst>
              <a:gd name="adj" fmla="val 30000"/>
            </a:avLst>
          </a:prstGeom>
          <a:solidFill>
            <a:srgbClr val="4E7A12"/>
          </a:solidFill>
          <a:ln>
            <a:noFill/>
          </a:ln>
        </p:spPr>
        <p:txBody>
          <a:bodyPr wrap="square" lIns="54864" tIns="54864" rIns="54864" bIns="54864" anchor="ctr" rtlCol="0">
            <a:noAutofit/>
          </a:bodyPr>
          <a:lstStyle/>
          <a:p>
            <a:pPr algn="l">
              <a:buNone/>
            </a:pPr>
            <a:r>
              <a:rPr lang="en-GB" sz="1100" b="1" i="0" dirty="0">
                <a:solidFill>
                  <a:srgbClr val="FFFFFF"/>
                </a:solidFill>
                <a:latin typeface="Arial"/>
                <a:cs typeface="Arial"/>
              </a:rPr>
              <a:t xml:space="preserve">b)  </a:t>
            </a:r>
            <a:r>
              <a:rPr lang="en-GB" sz="1100" b="1" i="0" dirty="0">
                <a:solidFill>
                  <a:srgbClr val="FFFFFF"/>
                </a:solidFill>
                <a:latin typeface="Arial"/>
                <a:cs typeface="Arial"/>
              </a:rPr>
              <a:t>linear: no branches</a:t>
            </a:r>
            <a:endParaRPr lang="en-GB" sz="1100" dirty="0"/>
          </a:p>
        </p:txBody>
      </p:sp>
      <p:sp>
        <p:nvSpPr>
          <p:cNvPr id="27" name="Shape 27"/>
          <p:cNvSpPr/>
          <p:nvPr/>
        </p:nvSpPr>
        <p:spPr>
          <a:xfrm>
            <a:off x="5843016" y="427939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c)  </a:t>
            </a:r>
            <a:r>
              <a:rPr lang="en-GB" sz="1100" b="0" i="0" dirty="0">
                <a:solidFill>
                  <a:srgbClr val="1A1A1A"/>
                </a:solidFill>
                <a:latin typeface="Arial"/>
                <a:cs typeface="Arial"/>
              </a:rPr>
              <a:t>hard for clients to read</a:t>
            </a:r>
            <a:endParaRPr lang="en-GB" sz="1100" dirty="0"/>
          </a:p>
        </p:txBody>
      </p:sp>
      <p:sp>
        <p:nvSpPr>
          <p:cNvPr id="28" name="Shape 28"/>
          <p:cNvSpPr/>
          <p:nvPr/>
        </p:nvSpPr>
        <p:spPr>
          <a:xfrm>
            <a:off x="548640" y="4773168"/>
            <a:ext cx="292608" cy="292608"/>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4</a:t>
            </a:r>
            <a:endParaRPr lang="en-GB" sz="1100" dirty="0"/>
          </a:p>
        </p:txBody>
      </p:sp>
      <p:sp>
        <p:nvSpPr>
          <p:cNvPr id="29" name="Shape 29"/>
          <p:cNvSpPr txBox="1"/>
          <p:nvPr/>
        </p:nvSpPr>
        <p:spPr>
          <a:xfrm>
            <a:off x="960120" y="4736592"/>
            <a:ext cx="7178040" cy="329184"/>
          </a:xfrm>
          <a:prstGeom prst="rect">
            <a:avLst/>
          </a:prstGeom>
          <a:noFill/>
          <a:ln>
            <a:noFill/>
          </a:ln>
        </p:spPr>
        <p:txBody>
          <a:bodyPr wrap="square" lIns="18288" tIns="18288" rIns="18288" bIns="18288" anchor="ctr" rtlCol="0">
            <a:noAutofit/>
          </a:bodyPr>
          <a:lstStyle/>
          <a:p>
            <a:pPr algn="l">
              <a:buNone/>
            </a:pPr>
            <a:r>
              <a:rPr lang="en-GB" sz="1200" b="1" i="0" dirty="0">
                <a:solidFill>
                  <a:srgbClr val="1A1A1A"/>
                </a:solidFill>
                <a:latin typeface="Arial"/>
                <a:cs typeface="Arial"/>
              </a:rPr>
              <a:t>Breadcrumbs mainly answer …</a:t>
            </a:r>
            <a:endParaRPr lang="en-GB" sz="1200" dirty="0"/>
          </a:p>
        </p:txBody>
      </p:sp>
      <p:sp>
        <p:nvSpPr>
          <p:cNvPr id="30" name="Shape 30"/>
          <p:cNvSpPr/>
          <p:nvPr/>
        </p:nvSpPr>
        <p:spPr>
          <a:xfrm>
            <a:off x="960120" y="5102352"/>
            <a:ext cx="2331720" cy="329184"/>
          </a:xfrm>
          <a:prstGeom prst="roundRect">
            <a:avLst>
              <a:gd name="adj" fmla="val 30000"/>
            </a:avLst>
          </a:prstGeom>
          <a:solidFill>
            <a:srgbClr val="4E7A12"/>
          </a:solidFill>
          <a:ln>
            <a:noFill/>
          </a:ln>
        </p:spPr>
        <p:txBody>
          <a:bodyPr wrap="square" lIns="54864" tIns="54864" rIns="54864" bIns="54864" anchor="ctr" rtlCol="0">
            <a:noAutofit/>
          </a:bodyPr>
          <a:lstStyle/>
          <a:p>
            <a:pPr algn="l">
              <a:buNone/>
            </a:pPr>
            <a:r>
              <a:rPr lang="en-GB" sz="1100" b="1" i="0" dirty="0">
                <a:solidFill>
                  <a:srgbClr val="FFFFFF"/>
                </a:solidFill>
                <a:latin typeface="Arial"/>
                <a:cs typeface="Arial"/>
              </a:rPr>
              <a:t xml:space="preserve">a)  </a:t>
            </a:r>
            <a:r>
              <a:rPr lang="en-GB" sz="1100" b="1" i="0" dirty="0">
                <a:solidFill>
                  <a:srgbClr val="FFFFFF"/>
                </a:solidFill>
                <a:latin typeface="Arial"/>
                <a:cs typeface="Arial"/>
              </a:rPr>
              <a:t>where am I?</a:t>
            </a:r>
            <a:endParaRPr lang="en-GB" sz="1100" dirty="0"/>
          </a:p>
        </p:txBody>
      </p:sp>
      <p:sp>
        <p:nvSpPr>
          <p:cNvPr id="31" name="Shape 31"/>
          <p:cNvSpPr/>
          <p:nvPr/>
        </p:nvSpPr>
        <p:spPr>
          <a:xfrm>
            <a:off x="3401568" y="510235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b)  </a:t>
            </a:r>
            <a:r>
              <a:rPr lang="en-GB" sz="1100" b="0" i="0" dirty="0">
                <a:solidFill>
                  <a:srgbClr val="1A1A1A"/>
                </a:solidFill>
                <a:latin typeface="Arial"/>
                <a:cs typeface="Arial"/>
              </a:rPr>
              <a:t>what will happen next?</a:t>
            </a:r>
            <a:endParaRPr lang="en-GB" sz="1100" dirty="0"/>
          </a:p>
        </p:txBody>
      </p:sp>
      <p:sp>
        <p:nvSpPr>
          <p:cNvPr id="32" name="Shape 32"/>
          <p:cNvSpPr/>
          <p:nvPr/>
        </p:nvSpPr>
        <p:spPr>
          <a:xfrm>
            <a:off x="5843016" y="510235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c)  </a:t>
            </a:r>
            <a:r>
              <a:rPr lang="en-GB" sz="1100" b="0" i="0" dirty="0">
                <a:solidFill>
                  <a:srgbClr val="1A1A1A"/>
                </a:solidFill>
                <a:latin typeface="Arial"/>
                <a:cs typeface="Arial"/>
              </a:rPr>
              <a:t>what can I do here?</a:t>
            </a:r>
            <a:endParaRPr lang="en-GB" sz="1100" dirty="0"/>
          </a:p>
        </p:txBody>
      </p:sp>
      <p:sp>
        <p:nvSpPr>
          <p:cNvPr id="33" name="Shape 33"/>
          <p:cNvSpPr/>
          <p:nvPr/>
        </p:nvSpPr>
        <p:spPr>
          <a:xfrm>
            <a:off x="548640" y="5596128"/>
            <a:ext cx="292608" cy="292608"/>
          </a:xfrm>
          <a:prstGeom prst="ellipse">
            <a:avLst/>
          </a:prstGeom>
          <a:solidFill>
            <a:srgbClr val="333399"/>
          </a:solidFill>
          <a:ln>
            <a:noFill/>
          </a:ln>
        </p:spPr>
        <p:txBody>
          <a:bodyPr wrap="square" lIns="0" tIns="0" rIns="0" bIns="0" anchor="ctr" rtlCol="0">
            <a:noAutofit/>
          </a:bodyPr>
          <a:lstStyle/>
          <a:p>
            <a:pPr algn="ctr">
              <a:buNone/>
            </a:pPr>
            <a:r>
              <a:rPr lang="en-GB" sz="1100" b="1" i="0" dirty="0">
                <a:solidFill>
                  <a:srgbClr val="FFFFFF"/>
                </a:solidFill>
                <a:latin typeface="Arial"/>
                <a:cs typeface="Arial"/>
              </a:rPr>
              <a:t>5</a:t>
            </a:r>
            <a:endParaRPr lang="en-GB" sz="1100" dirty="0"/>
          </a:p>
        </p:txBody>
      </p:sp>
      <p:sp>
        <p:nvSpPr>
          <p:cNvPr id="34" name="Shape 34"/>
          <p:cNvSpPr txBox="1"/>
          <p:nvPr/>
        </p:nvSpPr>
        <p:spPr>
          <a:xfrm>
            <a:off x="960120" y="5559552"/>
            <a:ext cx="7178040" cy="329184"/>
          </a:xfrm>
          <a:prstGeom prst="rect">
            <a:avLst/>
          </a:prstGeom>
          <a:noFill/>
          <a:ln>
            <a:noFill/>
          </a:ln>
        </p:spPr>
        <p:txBody>
          <a:bodyPr wrap="square" lIns="18288" tIns="18288" rIns="18288" bIns="18288" anchor="ctr" rtlCol="0">
            <a:noAutofit/>
          </a:bodyPr>
          <a:lstStyle/>
          <a:p>
            <a:pPr algn="l">
              <a:buNone/>
            </a:pPr>
            <a:r>
              <a:rPr lang="en-GB" sz="1200" b="1" i="0" dirty="0">
                <a:solidFill>
                  <a:srgbClr val="1A1A1A"/>
                </a:solidFill>
                <a:latin typeface="Arial"/>
                <a:cs typeface="Arial"/>
              </a:rPr>
              <a:t>Unlike a hierarchy, a network diagram shows …</a:t>
            </a:r>
            <a:endParaRPr lang="en-GB" sz="1200" dirty="0"/>
          </a:p>
        </p:txBody>
      </p:sp>
      <p:sp>
        <p:nvSpPr>
          <p:cNvPr id="35" name="Shape 35"/>
          <p:cNvSpPr/>
          <p:nvPr/>
        </p:nvSpPr>
        <p:spPr>
          <a:xfrm>
            <a:off x="960120" y="592531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a)  </a:t>
            </a:r>
            <a:r>
              <a:rPr lang="en-GB" sz="1100" b="0" i="0" dirty="0">
                <a:solidFill>
                  <a:srgbClr val="1A1A1A"/>
                </a:solidFill>
                <a:latin typeface="Arial"/>
                <a:cs typeface="Arial"/>
              </a:rPr>
              <a:t>functional groups</a:t>
            </a:r>
            <a:endParaRPr lang="en-GB" sz="1100" dirty="0"/>
          </a:p>
        </p:txBody>
      </p:sp>
      <p:sp>
        <p:nvSpPr>
          <p:cNvPr id="36" name="Shape 36"/>
          <p:cNvSpPr/>
          <p:nvPr/>
        </p:nvSpPr>
        <p:spPr>
          <a:xfrm>
            <a:off x="3401568" y="5925312"/>
            <a:ext cx="2331720" cy="329184"/>
          </a:xfrm>
          <a:prstGeom prst="roundRect">
            <a:avLst>
              <a:gd name="adj" fmla="val 30000"/>
            </a:avLst>
          </a:prstGeom>
          <a:solidFill>
            <a:srgbClr val="4E7A12"/>
          </a:solidFill>
          <a:ln>
            <a:noFill/>
          </a:ln>
        </p:spPr>
        <p:txBody>
          <a:bodyPr wrap="square" lIns="54864" tIns="54864" rIns="54864" bIns="54864" anchor="ctr" rtlCol="0">
            <a:noAutofit/>
          </a:bodyPr>
          <a:lstStyle/>
          <a:p>
            <a:pPr algn="l">
              <a:buNone/>
            </a:pPr>
            <a:r>
              <a:rPr lang="en-GB" sz="1100" b="1" i="0" dirty="0">
                <a:solidFill>
                  <a:srgbClr val="FFFFFF"/>
                </a:solidFill>
                <a:latin typeface="Arial"/>
                <a:cs typeface="Arial"/>
              </a:rPr>
              <a:t xml:space="preserve">b)  </a:t>
            </a:r>
            <a:r>
              <a:rPr lang="en-GB" sz="1100" b="1" i="0" dirty="0">
                <a:solidFill>
                  <a:srgbClr val="FFFFFF"/>
                </a:solidFill>
                <a:latin typeface="Arial"/>
                <a:cs typeface="Arial"/>
              </a:rPr>
              <a:t>what leads to what</a:t>
            </a:r>
            <a:endParaRPr lang="en-GB" sz="1100" dirty="0"/>
          </a:p>
        </p:txBody>
      </p:sp>
      <p:sp>
        <p:nvSpPr>
          <p:cNvPr id="37" name="Shape 37"/>
          <p:cNvSpPr/>
          <p:nvPr/>
        </p:nvSpPr>
        <p:spPr>
          <a:xfrm>
            <a:off x="5843016" y="5925312"/>
            <a:ext cx="2331720" cy="329184"/>
          </a:xfrm>
          <a:prstGeom prst="roundRect">
            <a:avLst>
              <a:gd name="adj" fmla="val 30000"/>
            </a:avLst>
          </a:prstGeom>
          <a:solidFill>
            <a:srgbClr val="F3F8F9"/>
          </a:solidFill>
          <a:ln w="12700">
            <a:solidFill>
              <a:srgbClr val="9DB8BC"/>
            </a:solidFill>
          </a:ln>
        </p:spPr>
        <p:txBody>
          <a:bodyPr wrap="square" lIns="54864" tIns="54864" rIns="54864" bIns="54864" anchor="ctr" rtlCol="0">
            <a:noAutofit/>
          </a:bodyPr>
          <a:lstStyle/>
          <a:p>
            <a:pPr algn="l">
              <a:buNone/>
            </a:pPr>
            <a:r>
              <a:rPr lang="en-GB" sz="1100" b="1" i="0" dirty="0">
                <a:solidFill>
                  <a:srgbClr val="1A1A1A"/>
                </a:solidFill>
                <a:latin typeface="Arial"/>
                <a:cs typeface="Arial"/>
              </a:rPr>
              <a:t xml:space="preserve">c)  </a:t>
            </a:r>
            <a:r>
              <a:rPr lang="en-GB" sz="1100" b="0" i="0" dirty="0">
                <a:solidFill>
                  <a:srgbClr val="1A1A1A"/>
                </a:solidFill>
                <a:latin typeface="Arial"/>
                <a:cs typeface="Arial"/>
              </a:rPr>
              <a:t>the screen layout</a:t>
            </a:r>
            <a:endParaRPr lang="en-GB" sz="1100" dirty="0"/>
          </a:p>
        </p:txBody>
      </p:sp>
    </p:spTree>
  </p:cSld>
  <p:clrMapOvr>
    <a:masterClrMapping/>
  </p:clrMapOvr>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Comic Sans MS"/>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altLang="en-US" sz="2400" b="0"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altLang="en-US" sz="2400" b="0" i="0" u="none" strike="noStrike" cap="none" normalizeH="0" baseline="0" smtClean="0">
            <a:ln>
              <a:noFill/>
            </a:ln>
            <a:solidFill>
              <a:schemeClr val="tx1"/>
            </a:solidFill>
            <a:effectLst/>
            <a:latin typeface="Times"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520</TotalTime>
  <Words>3021</Words>
  <Application>Microsoft Macintosh PowerPoint</Application>
  <PresentationFormat>On-screen Show (4:3)</PresentationFormat>
  <Paragraphs>726</Paragraphs>
  <Slides>92</Slides>
  <Notes>8</Notes>
  <HiddenSlides>0</HiddenSlides>
  <MMClips>0</MMClips>
  <ScaleCrop>false</ScaleCrop>
  <HeadingPairs>
    <vt:vector size="6" baseType="variant">
      <vt:variant>
        <vt:lpstr>Fonts Used</vt:lpstr>
      </vt:variant>
      <vt:variant>
        <vt:i4>30</vt:i4>
      </vt:variant>
      <vt:variant>
        <vt:lpstr>Theme</vt:lpstr>
      </vt:variant>
      <vt:variant>
        <vt:i4>1</vt:i4>
      </vt:variant>
      <vt:variant>
        <vt:lpstr>Slide Titles</vt:lpstr>
      </vt:variant>
      <vt:variant>
        <vt:i4>92</vt:i4>
      </vt:variant>
    </vt:vector>
  </HeadingPairs>
  <TitlesOfParts>
    <vt:vector size="123" baseType="lpstr">
      <vt:lpstr>Abadi MT Condensed</vt:lpstr>
      <vt:lpstr>Arial</vt:lpstr>
      <vt:lpstr>Arial Black</vt:lpstr>
      <vt:lpstr>Arial Narrow</vt:lpstr>
      <vt:lpstr>Book Antiqua</vt:lpstr>
      <vt:lpstr>Bookman Old Style</vt:lpstr>
      <vt:lpstr>Bookshelf Symbol 1</vt:lpstr>
      <vt:lpstr>Century Gothic</vt:lpstr>
      <vt:lpstr>Century Schoolbook</vt:lpstr>
      <vt:lpstr>Comic Sans MS</vt:lpstr>
      <vt:lpstr>Courier New</vt:lpstr>
      <vt:lpstr>Garamond</vt:lpstr>
      <vt:lpstr>Georgia</vt:lpstr>
      <vt:lpstr>Haettenschweiler</vt:lpstr>
      <vt:lpstr>Impact</vt:lpstr>
      <vt:lpstr>Letter Gothic MT</vt:lpstr>
      <vt:lpstr>Lucida Console</vt:lpstr>
      <vt:lpstr>Lucida Sans Unicode</vt:lpstr>
      <vt:lpstr>Modern</vt:lpstr>
      <vt:lpstr>Monotype Sorts</vt:lpstr>
      <vt:lpstr>Roman</vt:lpstr>
      <vt:lpstr>Script</vt:lpstr>
      <vt:lpstr>Symbol</vt:lpstr>
      <vt:lpstr>Tahoma</vt:lpstr>
      <vt:lpstr>Times</vt:lpstr>
      <vt:lpstr>Times New Roman</vt:lpstr>
      <vt:lpstr>Times New Roman MT Extra Bold</vt:lpstr>
      <vt:lpstr>Trebuchet MS</vt:lpstr>
      <vt:lpstr>Verdana</vt:lpstr>
      <vt:lpstr>Wingdings 2</vt:lpstr>
      <vt:lpstr>Blank</vt:lpstr>
      <vt:lpstr>chapter 5</vt:lpstr>
      <vt:lpstr>interaction design basics</vt:lpstr>
      <vt:lpstr>interactions and interventions</vt:lpstr>
      <vt:lpstr>what is design?</vt:lpstr>
      <vt:lpstr>what is design?</vt:lpstr>
      <vt:lpstr>golden rule of design</vt:lpstr>
      <vt:lpstr>for Human–Computer Interaction</vt:lpstr>
      <vt:lpstr>To err is human</vt:lpstr>
      <vt:lpstr>Central message …</vt:lpstr>
      <vt:lpstr>The process of design</vt:lpstr>
      <vt:lpstr>Steps …</vt:lpstr>
      <vt:lpstr>… but how can I do it all ! !</vt:lpstr>
      <vt:lpstr>PowerPoint Presentation</vt:lpstr>
      <vt:lpstr>user focus</vt:lpstr>
      <vt:lpstr>know your user</vt:lpstr>
      <vt:lpstr>persona</vt:lpstr>
      <vt:lpstr>example persona</vt:lpstr>
      <vt:lpstr>cultural probes</vt:lpstr>
      <vt:lpstr>scenarios</vt:lpstr>
      <vt:lpstr>scenarios</vt:lpstr>
      <vt:lpstr>scenarios …</vt:lpstr>
      <vt:lpstr>scenario – movie player</vt:lpstr>
      <vt:lpstr>also play act …</vt:lpstr>
      <vt:lpstr>… explore the depths</vt:lpstr>
      <vt:lpstr>use scenarios to ..</vt:lpstr>
      <vt:lpstr>linearity</vt:lpstr>
      <vt:lpstr>PowerPoint Presentation</vt:lpstr>
      <vt:lpstr>navigation design</vt:lpstr>
      <vt:lpstr>levels</vt:lpstr>
      <vt:lpstr>the web …</vt:lpstr>
      <vt:lpstr>physical devices</vt:lpstr>
      <vt:lpstr>think about structure</vt:lpstr>
      <vt:lpstr>local</vt:lpstr>
      <vt:lpstr>goal seeking</vt:lpstr>
      <vt:lpstr>goal seeking</vt:lpstr>
      <vt:lpstr>goal seeking</vt:lpstr>
      <vt:lpstr>goal seeking</vt:lpstr>
      <vt:lpstr>four golden rules</vt:lpstr>
      <vt:lpstr>where you are – breadcrumbs</vt:lpstr>
      <vt:lpstr>beware the big button trap</vt:lpstr>
      <vt:lpstr>modes</vt:lpstr>
      <vt:lpstr>global</vt:lpstr>
      <vt:lpstr>hierarchical diagrams </vt:lpstr>
      <vt:lpstr>hierarchical diagrams ctd.</vt:lpstr>
      <vt:lpstr>navigating hierarchies</vt:lpstr>
      <vt:lpstr>think about dialogue</vt:lpstr>
      <vt:lpstr>think about dialogue</vt:lpstr>
      <vt:lpstr>network diagrams</vt:lpstr>
      <vt:lpstr>network diagrams ctd.</vt:lpstr>
      <vt:lpstr>wider still</vt:lpstr>
      <vt:lpstr>wider still …</vt:lpstr>
      <vt:lpstr>PowerPoint Presentation</vt:lpstr>
      <vt:lpstr>screen design and layout</vt:lpstr>
      <vt:lpstr>basic principles</vt:lpstr>
      <vt:lpstr>available tools</vt:lpstr>
      <vt:lpstr>grouping and structure</vt:lpstr>
      <vt:lpstr>order of groups and items</vt:lpstr>
      <vt:lpstr>decoration</vt:lpstr>
      <vt:lpstr>alignment - text</vt:lpstr>
      <vt:lpstr>alignment - names</vt:lpstr>
      <vt:lpstr>alignment - numbers</vt:lpstr>
      <vt:lpstr>alignment - numbers</vt:lpstr>
      <vt:lpstr>multiple  columns</vt:lpstr>
      <vt:lpstr>multiple  columns - 2</vt:lpstr>
      <vt:lpstr>multiple  columns - 3</vt:lpstr>
      <vt:lpstr>multiple  columns - 4</vt:lpstr>
      <vt:lpstr>white space - the counter</vt:lpstr>
      <vt:lpstr>white space - the counter</vt:lpstr>
      <vt:lpstr>space to separate</vt:lpstr>
      <vt:lpstr>space to structure</vt:lpstr>
      <vt:lpstr>space to highlight</vt:lpstr>
      <vt:lpstr>physical controls</vt:lpstr>
      <vt:lpstr>physical controls</vt:lpstr>
      <vt:lpstr>physical controls</vt:lpstr>
      <vt:lpstr>physical controls</vt:lpstr>
      <vt:lpstr>physical controls</vt:lpstr>
      <vt:lpstr>PowerPoint Presentation</vt:lpstr>
      <vt:lpstr>user action and control</vt:lpstr>
      <vt:lpstr>entering information</vt:lpstr>
      <vt:lpstr>knowing what to do</vt:lpstr>
      <vt:lpstr>affordances</vt:lpstr>
      <vt:lpstr>appropriate appearance</vt:lpstr>
      <vt:lpstr>presenting information</vt:lpstr>
      <vt:lpstr>aesthetics and utility</vt:lpstr>
      <vt:lpstr>colour and 3D</vt:lpstr>
      <vt:lpstr>bad use of colour</vt:lpstr>
      <vt:lpstr>across countries and cultures</vt:lpstr>
      <vt:lpstr>PowerPoint Presentation</vt:lpstr>
      <vt:lpstr>prototyping </vt:lpstr>
      <vt:lpstr>iteration and prototyping</vt:lpstr>
      <vt:lpstr>prototyping</vt:lpstr>
      <vt:lpstr>pitfalls of prototyping</vt:lpstr>
    </vt:vector>
  </TitlesOfParts>
  <Company>Lancaster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Alan Dix</dc:creator>
  <cp:lastModifiedBy>Alan Dix</cp:lastModifiedBy>
  <cp:revision>16</cp:revision>
  <dcterms:created xsi:type="dcterms:W3CDTF">2003-08-07T14:10:51Z</dcterms:created>
  <dcterms:modified xsi:type="dcterms:W3CDTF">2025-03-02T09:48:57Z</dcterms:modified>
</cp:coreProperties>
</file>