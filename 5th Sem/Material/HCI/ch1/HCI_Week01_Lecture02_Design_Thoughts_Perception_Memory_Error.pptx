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reminding them of the single question from last lecture: what does this fact about the human force me to do differently? Today the facts are about seeing, holding in mind, and getting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today is less quantitative and more consequential. The Spitfire case at the end is the one they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semantic network outcome — it is an actual deliverable, not a decoration, and it is set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show the fixes yet. Let students propose changes for a minute. Most will say 'break it up' — the point of the next slides is to name WHY that works, in terms of the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dot demo takes five seconds and makes the abstract concrete. Stress the phrase 'whitespace is an instruction' — students who take that away will lay out forms better for the rest of their careers.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'not one word changed'. Students often believe improving a screen means writing better copy. Here the copy is identical and the screen is measurably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principle: visual hierarchy should match importance hierarchy. Then ask the awkward question — does the hierarchy on your own project's main screen match what users actually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pivot of the lecture. Do not rush it — it explicitly connects layout (what they just saw) to memory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permits, run the digit-span demo: read 9 random digits, then 9 digits grouped as three triples. The difference in the room is audible and needs no further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'clipboard' rule is the single most actionable line in the lecture. Ask for examples from the university's own systems — there will be several,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word 'closure' carefully — students meet it again in Gestalt psychology with a different meaning. Here it is the sense of task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the equivalent is in software: the photocopier that keeps the original, the email client that lets you send 'please find attached' with no attachment, the form that clears itself after a validation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line is the moral of the whole closure section, and it sets up the error taxonomy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Lecture 1's menu-slip story: that was a slip. The Spitfire case that follows is also a slip — and it shows what happens when the cost of a slip is a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aloud, slowly. Then let the silence sit for a moment before the next slide. This is the strongest argument in the course for taking consistency seriously.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Generalise to software: menu reorganisations between versions, swapped OK/Cancel button order across platforms, a 'Delete' that moves next to 'Archive' in an update. Same mechanism, lower 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 reading the lists aloud — students can read. Spend the time on the final sentence: a list is not knowledge, a structure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a network is not a decorative diagram: the shape carries claims. If two nodes are linked, you are asserting a relationship and should be able to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path aloud — Cognition → Thinking → Reasoning → Deductive — and say what the links mean. Then point out that this is one defensible network, not the only one, which is why the task asks for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fourth bullet. Requiring one original link is what converts the exercise from copying into thinking, and it gives you a five-minute opening for Week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revision sheet. Tell students that if they can reproduce it from memory they have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naming the through-line: this week the human, next week the machine, the week after the interaction between them. Each is incomplete without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7680960" cy="365760"/>
          </a:xfrm>
          <a:prstGeom prst="rect">
            <a:avLst/>
          </a:prstGeom>
          <a:noFill/>
          <a:ln/>
        </p:spPr>
        <p:txBody>
          <a:bodyPr wrap="square" lIns="0" tIns="0" rIns="0" bIns="0" rtlCol="0" anchor="ctr"/>
          <a:lstStyle/>
          <a:p>
            <a:pPr indent="0" marL="0">
              <a:buNone/>
            </a:pPr>
            <a:r>
              <a:rPr lang="en-US" sz="1400" dirty="0">
                <a:solidFill>
                  <a:srgbClr val="595959"/>
                </a:solidFill>
                <a:latin typeface="Times New Roman" pitchFamily="34" charset="0"/>
                <a:ea typeface="Times New Roman" pitchFamily="34" charset="-122"/>
                <a:cs typeface="Times New Roman" pitchFamily="34" charset="-120"/>
              </a:rPr>
              <a:t>Human–Computer Interaction  ·  BS Computer Science  ·  Fall 2026</a:t>
            </a:r>
            <a:endParaRPr lang="en-US" sz="1400" dirty="0"/>
          </a:p>
        </p:txBody>
      </p:sp>
      <p:sp>
        <p:nvSpPr>
          <p:cNvPr id="3" name="Text 1"/>
          <p:cNvSpPr txBox="1"/>
          <p:nvPr/>
        </p:nvSpPr>
        <p:spPr>
          <a:xfrm>
            <a:off x="731520" y="1280160"/>
            <a:ext cx="7680960" cy="1280160"/>
          </a:xfrm>
          <a:prstGeom prst="rect">
            <a:avLst/>
          </a:prstGeom>
          <a:noFill/>
          <a:ln/>
        </p:spPr>
        <p:txBody>
          <a:bodyPr wrap="square" lIns="0" tIns="0" rIns="0" bIns="0" rtlCol="0" anchor="ctr"/>
          <a:lstStyle/>
          <a:p>
            <a:pPr indent="0" marL="0">
              <a:lnSpc>
                <a:spcPct val="110000"/>
              </a:lnSpc>
              <a:buNone/>
            </a:pPr>
            <a:r>
              <a:rPr lang="en-US" sz="3200" b="1" dirty="0">
                <a:solidFill>
                  <a:srgbClr val="000000"/>
                </a:solidFill>
                <a:latin typeface="Times New Roman" pitchFamily="34" charset="0"/>
                <a:ea typeface="Times New Roman" pitchFamily="34" charset="-122"/>
                <a:cs typeface="Times New Roman" pitchFamily="34" charset="-120"/>
              </a:rPr>
              <a:t>Week 1 · Lecture 2</a:t>
            </a:r>
            <a:endParaRPr lang="en-US" sz="3200" dirty="0"/>
          </a:p>
          <a:p>
            <a:pPr indent="0" marL="0">
              <a:lnSpc>
                <a:spcPct val="110000"/>
              </a:lnSpc>
              <a:buNone/>
            </a:pPr>
            <a:r>
              <a:rPr lang="en-US" sz="3200" b="1" dirty="0">
                <a:solidFill>
                  <a:srgbClr val="000000"/>
                </a:solidFill>
                <a:latin typeface="Times New Roman" pitchFamily="34" charset="0"/>
                <a:ea typeface="Times New Roman" pitchFamily="34" charset="-122"/>
                <a:cs typeface="Times New Roman" pitchFamily="34" charset="-120"/>
              </a:rPr>
              <a:t>The Human — Design Thoughts (II)</a:t>
            </a:r>
            <a:endParaRPr lang="en-US" sz="3200" dirty="0"/>
          </a:p>
        </p:txBody>
      </p:sp>
      <p:sp>
        <p:nvSpPr>
          <p:cNvPr id="4" name="Text 2"/>
          <p:cNvSpPr txBox="1"/>
          <p:nvPr/>
        </p:nvSpPr>
        <p:spPr>
          <a:xfrm>
            <a:off x="731520" y="2606040"/>
            <a:ext cx="7680960" cy="548640"/>
          </a:xfrm>
          <a:prstGeom prst="rect">
            <a:avLst/>
          </a:prstGeom>
          <a:noFill/>
          <a:ln/>
        </p:spPr>
        <p:txBody>
          <a:bodyPr wrap="square" lIns="0" tIns="0" rIns="0" bIns="0" rtlCol="0" anchor="ctr"/>
          <a:lstStyle/>
          <a:p>
            <a:pPr indent="0" marL="0">
              <a:buNone/>
            </a:pPr>
            <a:r>
              <a:rPr lang="en-US" sz="1800" i="1" dirty="0">
                <a:solidFill>
                  <a:srgbClr val="262626"/>
                </a:solidFill>
                <a:latin typeface="Times New Roman" pitchFamily="34" charset="0"/>
                <a:ea typeface="Times New Roman" pitchFamily="34" charset="-122"/>
                <a:cs typeface="Times New Roman" pitchFamily="34" charset="-120"/>
              </a:rPr>
              <a:t>Perception, short-term memory and human error</a:t>
            </a:r>
            <a:endParaRPr lang="en-US" sz="1800" dirty="0"/>
          </a:p>
        </p:txBody>
      </p:sp>
      <p:sp>
        <p:nvSpPr>
          <p:cNvPr id="5" name="Shape 3"/>
          <p:cNvSpPr/>
          <p:nvPr/>
        </p:nvSpPr>
        <p:spPr>
          <a:xfrm>
            <a:off x="731520" y="3383280"/>
            <a:ext cx="1828800" cy="0"/>
          </a:xfrm>
          <a:prstGeom prst="line">
            <a:avLst/>
          </a:prstGeom>
          <a:noFill/>
          <a:ln w="15875">
            <a:solidFill>
              <a:srgbClr val="BFBFBF"/>
            </a:solidFill>
            <a:prstDash val="solid"/>
          </a:ln>
        </p:spPr>
      </p:sp>
      <p:sp>
        <p:nvSpPr>
          <p:cNvPr id="6" name="Text 4"/>
          <p:cNvSpPr txBox="1"/>
          <p:nvPr/>
        </p:nvSpPr>
        <p:spPr>
          <a:xfrm>
            <a:off x="731520" y="3520440"/>
            <a:ext cx="7680960" cy="109728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Instructor: Aliya Farooq</a:t>
            </a:r>
            <a:endParaRPr lang="en-US" sz="1200" dirty="0"/>
          </a:p>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Department of Computer Science, University of Engineering and Technology, Lahore</a:t>
            </a:r>
            <a:endParaRPr lang="en-US" sz="1200" dirty="0"/>
          </a:p>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Reading: Dix, Finlay, Abowd &amp; Beale, Human–Computer Interaction (3rd ed.), Ch. 1 — memory, thinking, error</a:t>
            </a:r>
            <a:endParaRPr lang="en-US" sz="1200" dirty="0"/>
          </a:p>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Supplementary: Tidwell, Designing Interfaces (2nd ed.) — visual hierarchy and grouping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Where we are</a:t>
            </a:r>
            <a:endParaRPr lang="en-US" sz="2800" dirty="0"/>
          </a:p>
        </p:txBody>
      </p:sp>
      <p:sp>
        <p:nvSpPr>
          <p:cNvPr id="5" name="Shape 3"/>
          <p:cNvSpPr/>
          <p:nvPr/>
        </p:nvSpPr>
        <p:spPr>
          <a:xfrm>
            <a:off x="502920" y="1143000"/>
            <a:ext cx="3977640" cy="1645920"/>
          </a:xfrm>
          <a:prstGeom prst="rect">
            <a:avLst/>
          </a:prstGeom>
          <a:solidFill>
            <a:srgbClr val="F2F2F2"/>
          </a:solidFill>
          <a:ln w="9525">
            <a:solidFill>
              <a:srgbClr val="BFBFBF"/>
            </a:solidFill>
            <a:prstDash val="solid"/>
          </a:ln>
        </p:spPr>
      </p:sp>
      <p:sp>
        <p:nvSpPr>
          <p:cNvPr id="6" name="Text 4"/>
          <p:cNvSpPr txBox="1"/>
          <p:nvPr/>
        </p:nvSpPr>
        <p:spPr>
          <a:xfrm>
            <a:off x="64008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Last lecture — the motor channel</a:t>
            </a:r>
            <a:endParaRPr lang="en-US" sz="1400" dirty="0"/>
          </a:p>
        </p:txBody>
      </p:sp>
      <p:sp>
        <p:nvSpPr>
          <p:cNvPr id="7" name="Text 5"/>
          <p:cNvSpPr txBox="1"/>
          <p:nvPr/>
        </p:nvSpPr>
        <p:spPr>
          <a:xfrm>
            <a:off x="640080" y="1581912"/>
            <a:ext cx="3703320" cy="109728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Movement to a target is ballistic, then corrective.</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MT = a + b · log₂(distance / size + 1).</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Design levers: increase size, reduce distance, use edges and corners.</a:t>
            </a:r>
            <a:endParaRPr lang="en-US" sz="1150" dirty="0"/>
          </a:p>
        </p:txBody>
      </p:sp>
      <p:sp>
        <p:nvSpPr>
          <p:cNvPr id="8" name="Shape 6"/>
          <p:cNvSpPr/>
          <p:nvPr/>
        </p:nvSpPr>
        <p:spPr>
          <a:xfrm>
            <a:off x="4663440" y="1143000"/>
            <a:ext cx="3977640" cy="1645920"/>
          </a:xfrm>
          <a:prstGeom prst="rect">
            <a:avLst/>
          </a:prstGeom>
          <a:solidFill>
            <a:srgbClr val="F2F2F2"/>
          </a:solidFill>
          <a:ln w="9525">
            <a:solidFill>
              <a:srgbClr val="BFBFBF"/>
            </a:solidFill>
            <a:prstDash val="solid"/>
          </a:ln>
        </p:spPr>
      </p:sp>
      <p:sp>
        <p:nvSpPr>
          <p:cNvPr id="9" name="Text 7"/>
          <p:cNvSpPr txBox="1"/>
          <p:nvPr/>
        </p:nvSpPr>
        <p:spPr>
          <a:xfrm>
            <a:off x="480060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This lecture — the rest of the human</a:t>
            </a:r>
            <a:endParaRPr lang="en-US" sz="1400" dirty="0"/>
          </a:p>
        </p:txBody>
      </p:sp>
      <p:sp>
        <p:nvSpPr>
          <p:cNvPr id="10" name="Text 8"/>
          <p:cNvSpPr txBox="1"/>
          <p:nvPr/>
        </p:nvSpPr>
        <p:spPr>
          <a:xfrm>
            <a:off x="4800600" y="1581912"/>
            <a:ext cx="3703320" cy="109728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How the eye groups what it sees, and how layout exploits that.</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What short-term memory can hold, and when it is thrown away.</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Why trained responses resurface and produce 'human error'.</a:t>
            </a:r>
            <a:endParaRPr lang="en-US" sz="1150" dirty="0"/>
          </a:p>
        </p:txBody>
      </p:sp>
      <p:sp>
        <p:nvSpPr>
          <p:cNvPr id="11" name="Text 9"/>
          <p:cNvSpPr txBox="1"/>
          <p:nvPr/>
        </p:nvSpPr>
        <p:spPr>
          <a:xfrm>
            <a:off x="502920" y="3017520"/>
            <a:ext cx="8138160" cy="128016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The motor channel gave us a number. Perception and memory will not: there is no equation that predicts how long a paragraph takes to read. What they give us instead are constraints that are just as binding — and a set of layout and interaction moves that follow from them. By the end of the hour you will have applied those moves to a single piece of text three times, and seen them fail catastrophically in a fighter aircraft.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3</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By the end of this lecture you can…</a:t>
            </a:r>
            <a:endParaRPr lang="en-US" sz="2800" dirty="0"/>
          </a:p>
        </p:txBody>
      </p:sp>
      <p:sp>
        <p:nvSpPr>
          <p:cNvPr id="5" name="Text 3"/>
          <p:cNvSpPr txBox="1"/>
          <p:nvPr/>
        </p:nvSpPr>
        <p:spPr>
          <a:xfrm>
            <a:off x="548640" y="1188720"/>
            <a:ext cx="5852160" cy="3200400"/>
          </a:xfrm>
          <a:prstGeom prst="rect">
            <a:avLst/>
          </a:prstGeom>
          <a:noFill/>
          <a:ln/>
        </p:spPr>
        <p:txBody>
          <a:bodyPr wrap="square" lIns="0" tIns="0" rIns="0" bIns="0" rtlCol="0" anchor="t"/>
          <a:lstStyle/>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Explain why the eye groups items by proximity and similarity, and use whitespace to control that grouping.</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Restructure a block of text using chunking and size contrast, and justify each change.</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State the capacity and duration limits of short-term memory and their design consequences.</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Explain closure, and identify interfaces that lose user property because of it.</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Distinguish a slip from a mistake, and say which design remedies apply to each.</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Draw a semantic network representing the structure of Chapter 1.</a:t>
            </a:r>
            <a:endParaRPr lang="en-US" sz="1400" dirty="0"/>
          </a:p>
        </p:txBody>
      </p:sp>
      <p:sp>
        <p:nvSpPr>
          <p:cNvPr id="6" name="Shape 4"/>
          <p:cNvSpPr/>
          <p:nvPr/>
        </p:nvSpPr>
        <p:spPr>
          <a:xfrm>
            <a:off x="6675120" y="1188720"/>
            <a:ext cx="2011680" cy="2926080"/>
          </a:xfrm>
          <a:prstGeom prst="rect">
            <a:avLst/>
          </a:prstGeom>
          <a:solidFill>
            <a:srgbClr val="F2F2F2"/>
          </a:solidFill>
          <a:ln w="9525">
            <a:solidFill>
              <a:srgbClr val="BFBFBF"/>
            </a:solidFill>
            <a:prstDash val="solid"/>
          </a:ln>
        </p:spPr>
      </p:sp>
      <p:sp>
        <p:nvSpPr>
          <p:cNvPr id="7" name="Text 5"/>
          <p:cNvSpPr txBox="1"/>
          <p:nvPr/>
        </p:nvSpPr>
        <p:spPr>
          <a:xfrm>
            <a:off x="6812280" y="1280160"/>
            <a:ext cx="173736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Assessment link</a:t>
            </a:r>
            <a:endParaRPr lang="en-US" sz="1400" dirty="0"/>
          </a:p>
        </p:txBody>
      </p:sp>
      <p:sp>
        <p:nvSpPr>
          <p:cNvPr id="8" name="Text 6"/>
          <p:cNvSpPr txBox="1"/>
          <p:nvPr/>
        </p:nvSpPr>
        <p:spPr>
          <a:xfrm>
            <a:off x="6812280" y="1627632"/>
            <a:ext cx="1737360" cy="2331720"/>
          </a:xfrm>
          <a:prstGeom prst="rect">
            <a:avLst/>
          </a:prstGeom>
          <a:noFill/>
          <a:ln/>
        </p:spPr>
        <p:txBody>
          <a:bodyPr wrap="square" lIns="0" tIns="0" rIns="0" bIns="0" rtlCol="0" anchor="t"/>
          <a:lstStyle/>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Quiz 1 covers 7 ± 2, closure, and slips vs mistakes.</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The semantic network is your first graded task — due at the start of Week 2.</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Lab 1 measures your own digit span.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4</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How might we improve this?</a:t>
            </a:r>
            <a:endParaRPr lang="en-US" sz="2800" dirty="0"/>
          </a:p>
        </p:txBody>
      </p:sp>
      <p:sp>
        <p:nvSpPr>
          <p:cNvPr id="5" name="Shape 3"/>
          <p:cNvSpPr/>
          <p:nvPr/>
        </p:nvSpPr>
        <p:spPr>
          <a:xfrm>
            <a:off x="640080" y="1097280"/>
            <a:ext cx="7863840" cy="1965960"/>
          </a:xfrm>
          <a:prstGeom prst="rect">
            <a:avLst/>
          </a:prstGeom>
          <a:solidFill>
            <a:srgbClr val="FFFFFF"/>
          </a:solidFill>
          <a:ln w="12700">
            <a:solidFill>
              <a:srgbClr val="BFBFBF"/>
            </a:solidFill>
            <a:prstDash val="solid"/>
          </a:ln>
        </p:spPr>
      </p:sp>
      <p:sp>
        <p:nvSpPr>
          <p:cNvPr id="6" name="Text 4"/>
          <p:cNvSpPr txBox="1"/>
          <p:nvPr/>
        </p:nvSpPr>
        <p:spPr>
          <a:xfrm>
            <a:off x="868680" y="1280160"/>
            <a:ext cx="7406640" cy="1600200"/>
          </a:xfrm>
          <a:prstGeom prst="rect">
            <a:avLst/>
          </a:prstGeom>
          <a:noFill/>
          <a:ln/>
        </p:spPr>
        <p:txBody>
          <a:bodyPr wrap="square" lIns="0" tIns="0" rIns="0" bIns="0" rtlCol="0" anchor="ctr"/>
          <a:lstStyle/>
          <a:p>
            <a:pPr indent="0" marL="0">
              <a:lnSpc>
                <a:spcPct val="130000"/>
              </a:lnSpc>
              <a:buNone/>
            </a:pPr>
            <a:r>
              <a:rPr lang="en-US" sz="1500" dirty="0">
                <a:solidFill>
                  <a:srgbClr val="000000"/>
                </a:solidFill>
                <a:latin typeface="Times New Roman" pitchFamily="34" charset="0"/>
                <a:ea typeface="Times New Roman" pitchFamily="34" charset="-122"/>
                <a:cs typeface="Times New Roman" pitchFamily="34" charset="-120"/>
              </a:rPr>
              <a:t>You are cordially invited to Robert and Alexandra's delectable after-dinner party. Wine and nibbles will be served. When: June 30th, 2018 at 9:30pm. Where: the pad. If you need directions, ping us. Kindly let us know if you'll be attending by June 1st.</a:t>
            </a:r>
            <a:endParaRPr lang="en-US" sz="1500" dirty="0"/>
          </a:p>
        </p:txBody>
      </p:sp>
      <p:sp>
        <p:nvSpPr>
          <p:cNvPr id="7" name="Text 5"/>
          <p:cNvSpPr txBox="1"/>
          <p:nvPr/>
        </p:nvSpPr>
        <p:spPr>
          <a:xfrm>
            <a:off x="640080" y="3246120"/>
            <a:ext cx="7863840" cy="100584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Every word a reader needs is present, spelled correctly, in grammatical English. Nothing is missing. Yet finding the date takes several seconds, and the deadline — the one thing the sender actually wants acted on — is the easiest item to miss.</a:t>
            </a:r>
            <a:endParaRPr lang="en-US" sz="1250" dirty="0"/>
          </a:p>
          <a:p>
            <a:pPr algn="l" indent="0" marL="0">
              <a:lnSpc>
                <a:spcPct val="115000"/>
              </a:lnSpc>
              <a:spcAft>
                <a:spcPts val="600"/>
              </a:spcAft>
              <a:buNone/>
            </a:pPr>
            <a:r>
              <a:rPr lang="en-US" sz="1250" b="1" dirty="0">
                <a:solidFill>
                  <a:srgbClr val="000000"/>
                </a:solidFill>
                <a:latin typeface="Times New Roman" pitchFamily="34" charset="0"/>
                <a:ea typeface="Times New Roman" pitchFamily="34" charset="-122"/>
                <a:cs typeface="Times New Roman" pitchFamily="34" charset="-120"/>
              </a:rPr>
              <a:t>Take thirty seconds. What would you change, and why?</a:t>
            </a:r>
            <a:endParaRPr lang="en-US" sz="1250" dirty="0"/>
          </a:p>
        </p:txBody>
      </p:sp>
      <p:sp>
        <p:nvSpPr>
          <p:cNvPr id="8" name="Text 6"/>
          <p:cNvSpPr txBox="1"/>
          <p:nvPr/>
        </p:nvSpPr>
        <p:spPr>
          <a:xfrm>
            <a:off x="640080" y="4315968"/>
            <a:ext cx="7863840" cy="27432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Example after Tidwell, Designing Interfaces, 2nd 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5</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What the eye is doing before you read</a:t>
            </a:r>
            <a:endParaRPr lang="en-US" sz="2800" dirty="0"/>
          </a:p>
        </p:txBody>
      </p:sp>
      <p:sp>
        <p:nvSpPr>
          <p:cNvPr id="5" name="Text 3"/>
          <p:cNvSpPr txBox="1"/>
          <p:nvPr/>
        </p:nvSpPr>
        <p:spPr>
          <a:xfrm>
            <a:off x="502920" y="1097280"/>
            <a:ext cx="4114800" cy="91440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Vision does not deliver a list of characters to be parsed. It delivers a structure, already grouped, in a fraction of a second — before any word is read.</a:t>
            </a:r>
            <a:endParaRPr lang="en-US" sz="1250" dirty="0"/>
          </a:p>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Two grouping principles do most of the work in interface layout:</a:t>
            </a:r>
            <a:endParaRPr lang="en-US" sz="1250" dirty="0"/>
          </a:p>
        </p:txBody>
      </p:sp>
      <p:sp>
        <p:nvSpPr>
          <p:cNvPr id="6" name="Shape 4"/>
          <p:cNvSpPr/>
          <p:nvPr/>
        </p:nvSpPr>
        <p:spPr>
          <a:xfrm>
            <a:off x="502920" y="2148840"/>
            <a:ext cx="1965960" cy="1371600"/>
          </a:xfrm>
          <a:prstGeom prst="rect">
            <a:avLst/>
          </a:prstGeom>
          <a:solidFill>
            <a:srgbClr val="F2F2F2"/>
          </a:solidFill>
          <a:ln w="9525">
            <a:solidFill>
              <a:srgbClr val="BFBFBF"/>
            </a:solidFill>
            <a:prstDash val="solid"/>
          </a:ln>
        </p:spPr>
      </p:sp>
      <p:sp>
        <p:nvSpPr>
          <p:cNvPr id="7" name="Text 5"/>
          <p:cNvSpPr txBox="1"/>
          <p:nvPr/>
        </p:nvSpPr>
        <p:spPr>
          <a:xfrm>
            <a:off x="640080" y="2240280"/>
            <a:ext cx="169164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Proximity</a:t>
            </a:r>
            <a:endParaRPr lang="en-US" sz="1400" dirty="0"/>
          </a:p>
        </p:txBody>
      </p:sp>
      <p:sp>
        <p:nvSpPr>
          <p:cNvPr id="8" name="Text 6"/>
          <p:cNvSpPr txBox="1"/>
          <p:nvPr/>
        </p:nvSpPr>
        <p:spPr>
          <a:xfrm>
            <a:off x="640080" y="2587752"/>
            <a:ext cx="1691640" cy="82296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Things placed close together are seen as belonging together.</a:t>
            </a:r>
            <a:endParaRPr lang="en-US" sz="1100" dirty="0"/>
          </a:p>
        </p:txBody>
      </p:sp>
      <p:sp>
        <p:nvSpPr>
          <p:cNvPr id="9" name="Shape 7"/>
          <p:cNvSpPr/>
          <p:nvPr/>
        </p:nvSpPr>
        <p:spPr>
          <a:xfrm>
            <a:off x="2651760" y="2148840"/>
            <a:ext cx="1965960" cy="1371600"/>
          </a:xfrm>
          <a:prstGeom prst="rect">
            <a:avLst/>
          </a:prstGeom>
          <a:solidFill>
            <a:srgbClr val="F2F2F2"/>
          </a:solidFill>
          <a:ln w="9525">
            <a:solidFill>
              <a:srgbClr val="BFBFBF"/>
            </a:solidFill>
            <a:prstDash val="solid"/>
          </a:ln>
        </p:spPr>
      </p:sp>
      <p:sp>
        <p:nvSpPr>
          <p:cNvPr id="10" name="Text 8"/>
          <p:cNvSpPr txBox="1"/>
          <p:nvPr/>
        </p:nvSpPr>
        <p:spPr>
          <a:xfrm>
            <a:off x="2788920" y="2240280"/>
            <a:ext cx="169164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Similarity</a:t>
            </a:r>
            <a:endParaRPr lang="en-US" sz="1400" dirty="0"/>
          </a:p>
        </p:txBody>
      </p:sp>
      <p:sp>
        <p:nvSpPr>
          <p:cNvPr id="11" name="Text 9"/>
          <p:cNvSpPr txBox="1"/>
          <p:nvPr/>
        </p:nvSpPr>
        <p:spPr>
          <a:xfrm>
            <a:off x="2788920" y="2587752"/>
            <a:ext cx="1691640" cy="82296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Things that look alike are seen as the same kind of thing.</a:t>
            </a:r>
            <a:endParaRPr lang="en-US" sz="1100" dirty="0"/>
          </a:p>
        </p:txBody>
      </p:sp>
      <p:sp>
        <p:nvSpPr>
          <p:cNvPr id="12" name="Text 10"/>
          <p:cNvSpPr txBox="1"/>
          <p:nvPr/>
        </p:nvSpPr>
        <p:spPr>
          <a:xfrm>
            <a:off x="502920" y="3657600"/>
            <a:ext cx="4114800" cy="731520"/>
          </a:xfrm>
          <a:prstGeom prst="rect">
            <a:avLst/>
          </a:prstGeom>
          <a:noFill/>
          <a:ln/>
        </p:spPr>
        <p:txBody>
          <a:bodyPr wrap="square" lIns="0" tIns="0" rIns="0" bIns="0" rtlCol="0" anchor="t"/>
          <a:lstStyle/>
          <a:p>
            <a:pPr algn="l" indent="0" marL="0">
              <a:lnSpc>
                <a:spcPct val="115000"/>
              </a:lnSpc>
              <a:spcAft>
                <a:spcPts val="600"/>
              </a:spcAft>
              <a:buNone/>
            </a:pPr>
            <a:r>
              <a:rPr lang="en-US" sz="1200" dirty="0">
                <a:solidFill>
                  <a:srgbClr val="000000"/>
                </a:solidFill>
                <a:latin typeface="Times New Roman" pitchFamily="34" charset="0"/>
                <a:ea typeface="Times New Roman" pitchFamily="34" charset="-122"/>
                <a:cs typeface="Times New Roman" pitchFamily="34" charset="-120"/>
              </a:rPr>
              <a:t>Whitespace is therefore not empty. It is the instruction that tells the eye where one group ends.</a:t>
            </a:r>
            <a:endParaRPr lang="en-US" sz="1200" dirty="0"/>
          </a:p>
        </p:txBody>
      </p:sp>
      <p:sp>
        <p:nvSpPr>
          <p:cNvPr id="13" name="Text 11"/>
          <p:cNvSpPr txBox="1"/>
          <p:nvPr/>
        </p:nvSpPr>
        <p:spPr>
          <a:xfrm>
            <a:off x="4937760" y="1097280"/>
            <a:ext cx="365760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Same twelve marks, two groupings</a:t>
            </a:r>
            <a:endParaRPr lang="en-US" sz="1100" dirty="0"/>
          </a:p>
        </p:txBody>
      </p:sp>
      <p:sp>
        <p:nvSpPr>
          <p:cNvPr id="14" name="Shape 12"/>
          <p:cNvSpPr/>
          <p:nvPr/>
        </p:nvSpPr>
        <p:spPr>
          <a:xfrm>
            <a:off x="5029200" y="1463040"/>
            <a:ext cx="146304" cy="146304"/>
          </a:xfrm>
          <a:prstGeom prst="ellipse">
            <a:avLst/>
          </a:prstGeom>
          <a:solidFill>
            <a:srgbClr val="404040"/>
          </a:solidFill>
          <a:ln w="5080">
            <a:solidFill>
              <a:srgbClr val="404040"/>
            </a:solidFill>
            <a:prstDash val="solid"/>
          </a:ln>
        </p:spPr>
      </p:sp>
      <p:sp>
        <p:nvSpPr>
          <p:cNvPr id="15" name="Shape 13"/>
          <p:cNvSpPr/>
          <p:nvPr/>
        </p:nvSpPr>
        <p:spPr>
          <a:xfrm>
            <a:off x="5340096" y="1463040"/>
            <a:ext cx="146304" cy="146304"/>
          </a:xfrm>
          <a:prstGeom prst="ellipse">
            <a:avLst/>
          </a:prstGeom>
          <a:solidFill>
            <a:srgbClr val="404040"/>
          </a:solidFill>
          <a:ln w="5080">
            <a:solidFill>
              <a:srgbClr val="404040"/>
            </a:solidFill>
            <a:prstDash val="solid"/>
          </a:ln>
        </p:spPr>
      </p:sp>
      <p:sp>
        <p:nvSpPr>
          <p:cNvPr id="16" name="Shape 14"/>
          <p:cNvSpPr/>
          <p:nvPr/>
        </p:nvSpPr>
        <p:spPr>
          <a:xfrm>
            <a:off x="5650992" y="1463040"/>
            <a:ext cx="146304" cy="146304"/>
          </a:xfrm>
          <a:prstGeom prst="ellipse">
            <a:avLst/>
          </a:prstGeom>
          <a:solidFill>
            <a:srgbClr val="404040"/>
          </a:solidFill>
          <a:ln w="5080">
            <a:solidFill>
              <a:srgbClr val="404040"/>
            </a:solidFill>
            <a:prstDash val="solid"/>
          </a:ln>
        </p:spPr>
      </p:sp>
      <p:sp>
        <p:nvSpPr>
          <p:cNvPr id="17" name="Shape 15"/>
          <p:cNvSpPr/>
          <p:nvPr/>
        </p:nvSpPr>
        <p:spPr>
          <a:xfrm>
            <a:off x="5961888" y="1463040"/>
            <a:ext cx="146304" cy="146304"/>
          </a:xfrm>
          <a:prstGeom prst="ellipse">
            <a:avLst/>
          </a:prstGeom>
          <a:solidFill>
            <a:srgbClr val="404040"/>
          </a:solidFill>
          <a:ln w="5080">
            <a:solidFill>
              <a:srgbClr val="404040"/>
            </a:solidFill>
            <a:prstDash val="solid"/>
          </a:ln>
        </p:spPr>
      </p:sp>
      <p:sp>
        <p:nvSpPr>
          <p:cNvPr id="18" name="Shape 16"/>
          <p:cNvSpPr/>
          <p:nvPr/>
        </p:nvSpPr>
        <p:spPr>
          <a:xfrm>
            <a:off x="5029200" y="1773936"/>
            <a:ext cx="146304" cy="146304"/>
          </a:xfrm>
          <a:prstGeom prst="ellipse">
            <a:avLst/>
          </a:prstGeom>
          <a:solidFill>
            <a:srgbClr val="404040"/>
          </a:solidFill>
          <a:ln w="5080">
            <a:solidFill>
              <a:srgbClr val="404040"/>
            </a:solidFill>
            <a:prstDash val="solid"/>
          </a:ln>
        </p:spPr>
      </p:sp>
      <p:sp>
        <p:nvSpPr>
          <p:cNvPr id="19" name="Shape 17"/>
          <p:cNvSpPr/>
          <p:nvPr/>
        </p:nvSpPr>
        <p:spPr>
          <a:xfrm>
            <a:off x="5340096" y="1773936"/>
            <a:ext cx="146304" cy="146304"/>
          </a:xfrm>
          <a:prstGeom prst="ellipse">
            <a:avLst/>
          </a:prstGeom>
          <a:solidFill>
            <a:srgbClr val="404040"/>
          </a:solidFill>
          <a:ln w="5080">
            <a:solidFill>
              <a:srgbClr val="404040"/>
            </a:solidFill>
            <a:prstDash val="solid"/>
          </a:ln>
        </p:spPr>
      </p:sp>
      <p:sp>
        <p:nvSpPr>
          <p:cNvPr id="20" name="Shape 18"/>
          <p:cNvSpPr/>
          <p:nvPr/>
        </p:nvSpPr>
        <p:spPr>
          <a:xfrm>
            <a:off x="5650992" y="1773936"/>
            <a:ext cx="146304" cy="146304"/>
          </a:xfrm>
          <a:prstGeom prst="ellipse">
            <a:avLst/>
          </a:prstGeom>
          <a:solidFill>
            <a:srgbClr val="404040"/>
          </a:solidFill>
          <a:ln w="5080">
            <a:solidFill>
              <a:srgbClr val="404040"/>
            </a:solidFill>
            <a:prstDash val="solid"/>
          </a:ln>
        </p:spPr>
      </p:sp>
      <p:sp>
        <p:nvSpPr>
          <p:cNvPr id="21" name="Shape 19"/>
          <p:cNvSpPr/>
          <p:nvPr/>
        </p:nvSpPr>
        <p:spPr>
          <a:xfrm>
            <a:off x="5961888" y="1773936"/>
            <a:ext cx="146304" cy="146304"/>
          </a:xfrm>
          <a:prstGeom prst="ellipse">
            <a:avLst/>
          </a:prstGeom>
          <a:solidFill>
            <a:srgbClr val="404040"/>
          </a:solidFill>
          <a:ln w="5080">
            <a:solidFill>
              <a:srgbClr val="404040"/>
            </a:solidFill>
            <a:prstDash val="solid"/>
          </a:ln>
        </p:spPr>
      </p:sp>
      <p:sp>
        <p:nvSpPr>
          <p:cNvPr id="22" name="Shape 20"/>
          <p:cNvSpPr/>
          <p:nvPr/>
        </p:nvSpPr>
        <p:spPr>
          <a:xfrm>
            <a:off x="5029200" y="2084832"/>
            <a:ext cx="146304" cy="146304"/>
          </a:xfrm>
          <a:prstGeom prst="ellipse">
            <a:avLst/>
          </a:prstGeom>
          <a:solidFill>
            <a:srgbClr val="404040"/>
          </a:solidFill>
          <a:ln w="5080">
            <a:solidFill>
              <a:srgbClr val="404040"/>
            </a:solidFill>
            <a:prstDash val="solid"/>
          </a:ln>
        </p:spPr>
      </p:sp>
      <p:sp>
        <p:nvSpPr>
          <p:cNvPr id="23" name="Shape 21"/>
          <p:cNvSpPr/>
          <p:nvPr/>
        </p:nvSpPr>
        <p:spPr>
          <a:xfrm>
            <a:off x="5340096" y="2084832"/>
            <a:ext cx="146304" cy="146304"/>
          </a:xfrm>
          <a:prstGeom prst="ellipse">
            <a:avLst/>
          </a:prstGeom>
          <a:solidFill>
            <a:srgbClr val="404040"/>
          </a:solidFill>
          <a:ln w="5080">
            <a:solidFill>
              <a:srgbClr val="404040"/>
            </a:solidFill>
            <a:prstDash val="solid"/>
          </a:ln>
        </p:spPr>
      </p:sp>
      <p:sp>
        <p:nvSpPr>
          <p:cNvPr id="24" name="Shape 22"/>
          <p:cNvSpPr/>
          <p:nvPr/>
        </p:nvSpPr>
        <p:spPr>
          <a:xfrm>
            <a:off x="5650992" y="2084832"/>
            <a:ext cx="146304" cy="146304"/>
          </a:xfrm>
          <a:prstGeom prst="ellipse">
            <a:avLst/>
          </a:prstGeom>
          <a:solidFill>
            <a:srgbClr val="404040"/>
          </a:solidFill>
          <a:ln w="5080">
            <a:solidFill>
              <a:srgbClr val="404040"/>
            </a:solidFill>
            <a:prstDash val="solid"/>
          </a:ln>
        </p:spPr>
      </p:sp>
      <p:sp>
        <p:nvSpPr>
          <p:cNvPr id="25" name="Shape 23"/>
          <p:cNvSpPr/>
          <p:nvPr/>
        </p:nvSpPr>
        <p:spPr>
          <a:xfrm>
            <a:off x="5961888" y="2084832"/>
            <a:ext cx="146304" cy="146304"/>
          </a:xfrm>
          <a:prstGeom prst="ellipse">
            <a:avLst/>
          </a:prstGeom>
          <a:solidFill>
            <a:srgbClr val="404040"/>
          </a:solidFill>
          <a:ln w="5080">
            <a:solidFill>
              <a:srgbClr val="404040"/>
            </a:solidFill>
            <a:prstDash val="solid"/>
          </a:ln>
        </p:spPr>
      </p:sp>
      <p:sp>
        <p:nvSpPr>
          <p:cNvPr id="26" name="Text 24"/>
          <p:cNvSpPr txBox="1"/>
          <p:nvPr/>
        </p:nvSpPr>
        <p:spPr>
          <a:xfrm>
            <a:off x="4937760" y="2468880"/>
            <a:ext cx="1463040" cy="228600"/>
          </a:xfrm>
          <a:prstGeom prst="rect">
            <a:avLst/>
          </a:prstGeom>
          <a:noFill/>
          <a:ln/>
        </p:spPr>
        <p:txBody>
          <a:bodyPr wrap="square" lIns="0" tIns="0" rIns="0" bIns="0" rtlCol="0" anchor="ctr"/>
          <a:lstStyle/>
          <a:p>
            <a:pPr algn="ctr" indent="0" marL="0">
              <a:buNone/>
            </a:pPr>
            <a:r>
              <a:rPr lang="en-US" sz="950" i="1" dirty="0">
                <a:solidFill>
                  <a:srgbClr val="595959"/>
                </a:solidFill>
                <a:latin typeface="Times New Roman" pitchFamily="34" charset="0"/>
                <a:ea typeface="Times New Roman" pitchFamily="34" charset="-122"/>
                <a:cs typeface="Times New Roman" pitchFamily="34" charset="-120"/>
              </a:rPr>
              <a:t>no structure</a:t>
            </a:r>
            <a:endParaRPr lang="en-US" sz="950" dirty="0"/>
          </a:p>
        </p:txBody>
      </p:sp>
      <p:sp>
        <p:nvSpPr>
          <p:cNvPr id="27" name="Shape 25"/>
          <p:cNvSpPr/>
          <p:nvPr/>
        </p:nvSpPr>
        <p:spPr>
          <a:xfrm>
            <a:off x="6949440" y="1463040"/>
            <a:ext cx="146304" cy="146304"/>
          </a:xfrm>
          <a:prstGeom prst="ellipse">
            <a:avLst/>
          </a:prstGeom>
          <a:solidFill>
            <a:srgbClr val="404040"/>
          </a:solidFill>
          <a:ln w="5080">
            <a:solidFill>
              <a:srgbClr val="404040"/>
            </a:solidFill>
            <a:prstDash val="solid"/>
          </a:ln>
        </p:spPr>
      </p:sp>
      <p:sp>
        <p:nvSpPr>
          <p:cNvPr id="28" name="Shape 26"/>
          <p:cNvSpPr/>
          <p:nvPr/>
        </p:nvSpPr>
        <p:spPr>
          <a:xfrm>
            <a:off x="7260336" y="1463040"/>
            <a:ext cx="146304" cy="146304"/>
          </a:xfrm>
          <a:prstGeom prst="ellipse">
            <a:avLst/>
          </a:prstGeom>
          <a:solidFill>
            <a:srgbClr val="404040"/>
          </a:solidFill>
          <a:ln w="5080">
            <a:solidFill>
              <a:srgbClr val="404040"/>
            </a:solidFill>
            <a:prstDash val="solid"/>
          </a:ln>
        </p:spPr>
      </p:sp>
      <p:sp>
        <p:nvSpPr>
          <p:cNvPr id="29" name="Shape 27"/>
          <p:cNvSpPr/>
          <p:nvPr/>
        </p:nvSpPr>
        <p:spPr>
          <a:xfrm>
            <a:off x="7955280" y="1463040"/>
            <a:ext cx="146304" cy="146304"/>
          </a:xfrm>
          <a:prstGeom prst="ellipse">
            <a:avLst/>
          </a:prstGeom>
          <a:solidFill>
            <a:srgbClr val="404040"/>
          </a:solidFill>
          <a:ln w="5080">
            <a:solidFill>
              <a:srgbClr val="404040"/>
            </a:solidFill>
            <a:prstDash val="solid"/>
          </a:ln>
        </p:spPr>
      </p:sp>
      <p:sp>
        <p:nvSpPr>
          <p:cNvPr id="30" name="Shape 28"/>
          <p:cNvSpPr/>
          <p:nvPr/>
        </p:nvSpPr>
        <p:spPr>
          <a:xfrm>
            <a:off x="8266176" y="1463040"/>
            <a:ext cx="146304" cy="146304"/>
          </a:xfrm>
          <a:prstGeom prst="ellipse">
            <a:avLst/>
          </a:prstGeom>
          <a:solidFill>
            <a:srgbClr val="404040"/>
          </a:solidFill>
          <a:ln w="5080">
            <a:solidFill>
              <a:srgbClr val="404040"/>
            </a:solidFill>
            <a:prstDash val="solid"/>
          </a:ln>
        </p:spPr>
      </p:sp>
      <p:sp>
        <p:nvSpPr>
          <p:cNvPr id="31" name="Shape 29"/>
          <p:cNvSpPr/>
          <p:nvPr/>
        </p:nvSpPr>
        <p:spPr>
          <a:xfrm>
            <a:off x="6949440" y="1773936"/>
            <a:ext cx="146304" cy="146304"/>
          </a:xfrm>
          <a:prstGeom prst="ellipse">
            <a:avLst/>
          </a:prstGeom>
          <a:solidFill>
            <a:srgbClr val="404040"/>
          </a:solidFill>
          <a:ln w="5080">
            <a:solidFill>
              <a:srgbClr val="404040"/>
            </a:solidFill>
            <a:prstDash val="solid"/>
          </a:ln>
        </p:spPr>
      </p:sp>
      <p:sp>
        <p:nvSpPr>
          <p:cNvPr id="32" name="Shape 30"/>
          <p:cNvSpPr/>
          <p:nvPr/>
        </p:nvSpPr>
        <p:spPr>
          <a:xfrm>
            <a:off x="7260336" y="1773936"/>
            <a:ext cx="146304" cy="146304"/>
          </a:xfrm>
          <a:prstGeom prst="ellipse">
            <a:avLst/>
          </a:prstGeom>
          <a:solidFill>
            <a:srgbClr val="404040"/>
          </a:solidFill>
          <a:ln w="5080">
            <a:solidFill>
              <a:srgbClr val="404040"/>
            </a:solidFill>
            <a:prstDash val="solid"/>
          </a:ln>
        </p:spPr>
      </p:sp>
      <p:sp>
        <p:nvSpPr>
          <p:cNvPr id="33" name="Shape 31"/>
          <p:cNvSpPr/>
          <p:nvPr/>
        </p:nvSpPr>
        <p:spPr>
          <a:xfrm>
            <a:off x="7955280" y="1773936"/>
            <a:ext cx="146304" cy="146304"/>
          </a:xfrm>
          <a:prstGeom prst="ellipse">
            <a:avLst/>
          </a:prstGeom>
          <a:solidFill>
            <a:srgbClr val="404040"/>
          </a:solidFill>
          <a:ln w="5080">
            <a:solidFill>
              <a:srgbClr val="404040"/>
            </a:solidFill>
            <a:prstDash val="solid"/>
          </a:ln>
        </p:spPr>
      </p:sp>
      <p:sp>
        <p:nvSpPr>
          <p:cNvPr id="34" name="Shape 32"/>
          <p:cNvSpPr/>
          <p:nvPr/>
        </p:nvSpPr>
        <p:spPr>
          <a:xfrm>
            <a:off x="8266176" y="1773936"/>
            <a:ext cx="146304" cy="146304"/>
          </a:xfrm>
          <a:prstGeom prst="ellipse">
            <a:avLst/>
          </a:prstGeom>
          <a:solidFill>
            <a:srgbClr val="404040"/>
          </a:solidFill>
          <a:ln w="5080">
            <a:solidFill>
              <a:srgbClr val="404040"/>
            </a:solidFill>
            <a:prstDash val="solid"/>
          </a:ln>
        </p:spPr>
      </p:sp>
      <p:sp>
        <p:nvSpPr>
          <p:cNvPr id="35" name="Shape 33"/>
          <p:cNvSpPr/>
          <p:nvPr/>
        </p:nvSpPr>
        <p:spPr>
          <a:xfrm>
            <a:off x="6949440" y="2084832"/>
            <a:ext cx="146304" cy="146304"/>
          </a:xfrm>
          <a:prstGeom prst="ellipse">
            <a:avLst/>
          </a:prstGeom>
          <a:solidFill>
            <a:srgbClr val="404040"/>
          </a:solidFill>
          <a:ln w="5080">
            <a:solidFill>
              <a:srgbClr val="404040"/>
            </a:solidFill>
            <a:prstDash val="solid"/>
          </a:ln>
        </p:spPr>
      </p:sp>
      <p:sp>
        <p:nvSpPr>
          <p:cNvPr id="36" name="Shape 34"/>
          <p:cNvSpPr/>
          <p:nvPr/>
        </p:nvSpPr>
        <p:spPr>
          <a:xfrm>
            <a:off x="7260336" y="2084832"/>
            <a:ext cx="146304" cy="146304"/>
          </a:xfrm>
          <a:prstGeom prst="ellipse">
            <a:avLst/>
          </a:prstGeom>
          <a:solidFill>
            <a:srgbClr val="404040"/>
          </a:solidFill>
          <a:ln w="5080">
            <a:solidFill>
              <a:srgbClr val="404040"/>
            </a:solidFill>
            <a:prstDash val="solid"/>
          </a:ln>
        </p:spPr>
      </p:sp>
      <p:sp>
        <p:nvSpPr>
          <p:cNvPr id="37" name="Shape 35"/>
          <p:cNvSpPr/>
          <p:nvPr/>
        </p:nvSpPr>
        <p:spPr>
          <a:xfrm>
            <a:off x="7955280" y="2084832"/>
            <a:ext cx="146304" cy="146304"/>
          </a:xfrm>
          <a:prstGeom prst="ellipse">
            <a:avLst/>
          </a:prstGeom>
          <a:solidFill>
            <a:srgbClr val="404040"/>
          </a:solidFill>
          <a:ln w="5080">
            <a:solidFill>
              <a:srgbClr val="404040"/>
            </a:solidFill>
            <a:prstDash val="solid"/>
          </a:ln>
        </p:spPr>
      </p:sp>
      <p:sp>
        <p:nvSpPr>
          <p:cNvPr id="38" name="Shape 36"/>
          <p:cNvSpPr/>
          <p:nvPr/>
        </p:nvSpPr>
        <p:spPr>
          <a:xfrm>
            <a:off x="8266176" y="2084832"/>
            <a:ext cx="146304" cy="146304"/>
          </a:xfrm>
          <a:prstGeom prst="ellipse">
            <a:avLst/>
          </a:prstGeom>
          <a:solidFill>
            <a:srgbClr val="404040"/>
          </a:solidFill>
          <a:ln w="5080">
            <a:solidFill>
              <a:srgbClr val="404040"/>
            </a:solidFill>
            <a:prstDash val="solid"/>
          </a:ln>
        </p:spPr>
      </p:sp>
      <p:sp>
        <p:nvSpPr>
          <p:cNvPr id="39" name="Text 37"/>
          <p:cNvSpPr txBox="1"/>
          <p:nvPr/>
        </p:nvSpPr>
        <p:spPr>
          <a:xfrm>
            <a:off x="6858000" y="2468880"/>
            <a:ext cx="1828800" cy="228600"/>
          </a:xfrm>
          <a:prstGeom prst="rect">
            <a:avLst/>
          </a:prstGeom>
          <a:noFill/>
          <a:ln/>
        </p:spPr>
        <p:txBody>
          <a:bodyPr wrap="square" lIns="0" tIns="0" rIns="0" bIns="0" rtlCol="0" anchor="ctr"/>
          <a:lstStyle/>
          <a:p>
            <a:pPr algn="ctr" indent="0" marL="0">
              <a:buNone/>
            </a:pPr>
            <a:r>
              <a:rPr lang="en-US" sz="950" i="1" dirty="0">
                <a:solidFill>
                  <a:srgbClr val="595959"/>
                </a:solidFill>
                <a:latin typeface="Times New Roman" pitchFamily="34" charset="0"/>
                <a:ea typeface="Times New Roman" pitchFamily="34" charset="-122"/>
                <a:cs typeface="Times New Roman" pitchFamily="34" charset="-120"/>
              </a:rPr>
              <a:t>two groups, instantly</a:t>
            </a:r>
            <a:endParaRPr lang="en-US" sz="950" dirty="0"/>
          </a:p>
        </p:txBody>
      </p:sp>
      <p:sp>
        <p:nvSpPr>
          <p:cNvPr id="40" name="Shape 38"/>
          <p:cNvSpPr/>
          <p:nvPr/>
        </p:nvSpPr>
        <p:spPr>
          <a:xfrm>
            <a:off x="4937760" y="2880360"/>
            <a:ext cx="3703320" cy="1417320"/>
          </a:xfrm>
          <a:prstGeom prst="rect">
            <a:avLst/>
          </a:prstGeom>
          <a:solidFill>
            <a:srgbClr val="F2F2F2"/>
          </a:solidFill>
          <a:ln w="9525">
            <a:solidFill>
              <a:srgbClr val="BFBFBF"/>
            </a:solidFill>
            <a:prstDash val="solid"/>
          </a:ln>
        </p:spPr>
      </p:sp>
      <p:sp>
        <p:nvSpPr>
          <p:cNvPr id="41" name="Text 39"/>
          <p:cNvSpPr txBox="1"/>
          <p:nvPr/>
        </p:nvSpPr>
        <p:spPr>
          <a:xfrm>
            <a:off x="5074920" y="2971800"/>
            <a:ext cx="342900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The design consequence</a:t>
            </a:r>
            <a:endParaRPr lang="en-US" sz="1400" dirty="0"/>
          </a:p>
        </p:txBody>
      </p:sp>
      <p:sp>
        <p:nvSpPr>
          <p:cNvPr id="42" name="Text 40"/>
          <p:cNvSpPr txBox="1"/>
          <p:nvPr/>
        </p:nvSpPr>
        <p:spPr>
          <a:xfrm>
            <a:off x="5074920" y="3319272"/>
            <a:ext cx="3429000" cy="86868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Grouping is cheap to give and expensive to withhold. A layout that does not group forces the reader to do with attention what the eye would have done for free.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6</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Fix 1 — chunking by introducing whitespace</a:t>
            </a:r>
            <a:endParaRPr lang="en-US" sz="2800" dirty="0"/>
          </a:p>
        </p:txBody>
      </p:sp>
      <p:sp>
        <p:nvSpPr>
          <p:cNvPr id="5" name="Shape 3"/>
          <p:cNvSpPr/>
          <p:nvPr/>
        </p:nvSpPr>
        <p:spPr>
          <a:xfrm>
            <a:off x="548640" y="1051560"/>
            <a:ext cx="5212080" cy="3154680"/>
          </a:xfrm>
          <a:prstGeom prst="rect">
            <a:avLst/>
          </a:prstGeom>
          <a:solidFill>
            <a:srgbClr val="FFFFFF"/>
          </a:solidFill>
          <a:ln w="12700">
            <a:solidFill>
              <a:srgbClr val="BFBFBF"/>
            </a:solidFill>
            <a:prstDash val="solid"/>
          </a:ln>
        </p:spPr>
      </p:sp>
      <p:sp>
        <p:nvSpPr>
          <p:cNvPr id="6" name="Text 4"/>
          <p:cNvSpPr txBox="1"/>
          <p:nvPr/>
        </p:nvSpPr>
        <p:spPr>
          <a:xfrm>
            <a:off x="777240" y="1234440"/>
            <a:ext cx="4754880" cy="2788920"/>
          </a:xfrm>
          <a:prstGeom prst="rect">
            <a:avLst/>
          </a:prstGeom>
          <a:noFill/>
          <a:ln/>
        </p:spPr>
        <p:txBody>
          <a:bodyPr wrap="square" lIns="0" tIns="0" rIns="0" bIns="0" rtlCol="0" anchor="t"/>
          <a:lstStyle/>
          <a:p>
            <a:pPr indent="0" marL="0">
              <a:lnSpc>
                <a:spcPct val="120000"/>
              </a:lnSpc>
              <a:spcAft>
                <a:spcPts val="1400"/>
              </a:spcAft>
              <a:buNone/>
            </a:pPr>
            <a:r>
              <a:rPr lang="en-US" sz="1300" dirty="0">
                <a:solidFill>
                  <a:srgbClr val="000000"/>
                </a:solidFill>
                <a:latin typeface="Times New Roman" pitchFamily="34" charset="0"/>
                <a:ea typeface="Times New Roman" pitchFamily="34" charset="-122"/>
                <a:cs typeface="Times New Roman" pitchFamily="34" charset="-120"/>
              </a:rPr>
              <a:t>You are cordially invited to Robert and Alexandra's delectable after-dinner party.</a:t>
            </a:r>
            <a:endParaRPr lang="en-US" sz="1300" dirty="0"/>
          </a:p>
          <a:p>
            <a:pPr indent="0" marL="0">
              <a:lnSpc>
                <a:spcPct val="120000"/>
              </a:lnSpc>
              <a:spcAft>
                <a:spcPts val="1400"/>
              </a:spcAft>
              <a:buNone/>
            </a:pPr>
            <a:r>
              <a:rPr lang="en-US" sz="1300" dirty="0">
                <a:solidFill>
                  <a:srgbClr val="000000"/>
                </a:solidFill>
                <a:latin typeface="Times New Roman" pitchFamily="34" charset="0"/>
                <a:ea typeface="Times New Roman" pitchFamily="34" charset="-122"/>
                <a:cs typeface="Times New Roman" pitchFamily="34" charset="-120"/>
              </a:rPr>
              <a:t>Wine and nibbles will be served.</a:t>
            </a:r>
            <a:endParaRPr lang="en-US" sz="1300" dirty="0"/>
          </a:p>
          <a:p>
            <a:pPr indent="0" marL="0">
              <a:lnSpc>
                <a:spcPct val="120000"/>
              </a:lnSpc>
              <a:spcAft>
                <a:spcPts val="200"/>
              </a:spcAft>
              <a:buNone/>
            </a:pPr>
            <a:r>
              <a:rPr lang="en-US" sz="1300" dirty="0">
                <a:solidFill>
                  <a:srgbClr val="000000"/>
                </a:solidFill>
                <a:latin typeface="Times New Roman" pitchFamily="34" charset="0"/>
                <a:ea typeface="Times New Roman" pitchFamily="34" charset="-122"/>
                <a:cs typeface="Times New Roman" pitchFamily="34" charset="-120"/>
              </a:rPr>
              <a:t>When: June 30th, 2018 at 9:30pm.</a:t>
            </a:r>
            <a:endParaRPr lang="en-US" sz="1300" dirty="0"/>
          </a:p>
          <a:p>
            <a:pPr indent="0" marL="0">
              <a:lnSpc>
                <a:spcPct val="120000"/>
              </a:lnSpc>
              <a:spcAft>
                <a:spcPts val="1400"/>
              </a:spcAft>
              <a:buNone/>
            </a:pPr>
            <a:r>
              <a:rPr lang="en-US" sz="1300" dirty="0">
                <a:solidFill>
                  <a:srgbClr val="000000"/>
                </a:solidFill>
                <a:latin typeface="Times New Roman" pitchFamily="34" charset="0"/>
                <a:ea typeface="Times New Roman" pitchFamily="34" charset="-122"/>
                <a:cs typeface="Times New Roman" pitchFamily="34" charset="-120"/>
              </a:rPr>
              <a:t>Where: the pad. If you need directions, ping us.</a:t>
            </a:r>
            <a:endParaRPr lang="en-US" sz="1300" dirty="0"/>
          </a:p>
          <a:p>
            <a:pPr indent="0" marL="0">
              <a:lnSpc>
                <a:spcPct val="120000"/>
              </a:lnSpc>
              <a:buNone/>
            </a:pPr>
            <a:r>
              <a:rPr lang="en-US" sz="1300" dirty="0">
                <a:solidFill>
                  <a:srgbClr val="000000"/>
                </a:solidFill>
                <a:latin typeface="Times New Roman" pitchFamily="34" charset="0"/>
                <a:ea typeface="Times New Roman" pitchFamily="34" charset="-122"/>
                <a:cs typeface="Times New Roman" pitchFamily="34" charset="-120"/>
              </a:rPr>
              <a:t>Kindly let us know if you'll be attending by June 1st.</a:t>
            </a:r>
            <a:endParaRPr lang="en-US" sz="1300" dirty="0"/>
          </a:p>
        </p:txBody>
      </p:sp>
      <p:sp>
        <p:nvSpPr>
          <p:cNvPr id="7" name="Shape 5"/>
          <p:cNvSpPr/>
          <p:nvPr/>
        </p:nvSpPr>
        <p:spPr>
          <a:xfrm>
            <a:off x="5989320" y="1051560"/>
            <a:ext cx="2651760" cy="3154680"/>
          </a:xfrm>
          <a:prstGeom prst="rect">
            <a:avLst/>
          </a:prstGeom>
          <a:solidFill>
            <a:srgbClr val="F2F2F2"/>
          </a:solidFill>
          <a:ln w="9525">
            <a:solidFill>
              <a:srgbClr val="BFBFBF"/>
            </a:solidFill>
            <a:prstDash val="solid"/>
          </a:ln>
        </p:spPr>
      </p:sp>
      <p:sp>
        <p:nvSpPr>
          <p:cNvPr id="8" name="Text 6"/>
          <p:cNvSpPr txBox="1"/>
          <p:nvPr/>
        </p:nvSpPr>
        <p:spPr>
          <a:xfrm>
            <a:off x="6126480" y="1143000"/>
            <a:ext cx="237744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What changed</a:t>
            </a:r>
            <a:endParaRPr lang="en-US" sz="1400" dirty="0"/>
          </a:p>
        </p:txBody>
      </p:sp>
      <p:sp>
        <p:nvSpPr>
          <p:cNvPr id="9" name="Text 7"/>
          <p:cNvSpPr txBox="1"/>
          <p:nvPr/>
        </p:nvSpPr>
        <p:spPr>
          <a:xfrm>
            <a:off x="6126480" y="1490472"/>
            <a:ext cx="2377440" cy="2606040"/>
          </a:xfrm>
          <a:prstGeom prst="rect">
            <a:avLst/>
          </a:prstGeom>
          <a:noFill/>
          <a:ln/>
        </p:spPr>
        <p:txBody>
          <a:bodyPr wrap="square" lIns="0" tIns="0" rIns="0" bIns="0" rtlCol="0" anchor="t"/>
          <a:lstStyle/>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Not one word. Only the gaps.</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Four chunks now exist: the invitation, the refreshments, the logistics, the reply.</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'When' and 'Where' are kept tight together — proximity says they are one group — and separated from what surrounds them.</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The reader can now find the date without reading the sentence about wine.</a:t>
            </a:r>
            <a:endParaRPr lang="en-US" sz="1050" dirty="0"/>
          </a:p>
        </p:txBody>
      </p:sp>
      <p:sp>
        <p:nvSpPr>
          <p:cNvPr id="10" name="Text 8"/>
          <p:cNvSpPr txBox="1"/>
          <p:nvPr/>
        </p:nvSpPr>
        <p:spPr>
          <a:xfrm>
            <a:off x="548640" y="4297680"/>
            <a:ext cx="5212080" cy="274320"/>
          </a:xfrm>
          <a:prstGeom prst="rect">
            <a:avLst/>
          </a:prstGeom>
          <a:noFill/>
          <a:ln/>
        </p:spPr>
        <p:txBody>
          <a:bodyPr wrap="square" lIns="0" tIns="0" rIns="0" bIns="0" rtlCol="0" anchor="ctr"/>
          <a:lstStyle/>
          <a:p>
            <a:pPr algn="l" indent="0" marL="0">
              <a:buNone/>
            </a:pPr>
            <a:r>
              <a:rPr lang="en-US" sz="1150" b="1" dirty="0">
                <a:solidFill>
                  <a:srgbClr val="262626"/>
                </a:solidFill>
                <a:latin typeface="Times New Roman" pitchFamily="34" charset="0"/>
                <a:ea typeface="Times New Roman" pitchFamily="34" charset="-122"/>
                <a:cs typeface="Times New Roman" pitchFamily="34" charset="-120"/>
              </a:rPr>
              <a:t>Same content. Same length. Different structure.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7</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Fix 2 — size contrast to indicate hierarchy</a:t>
            </a:r>
            <a:endParaRPr lang="en-US" sz="2800" dirty="0"/>
          </a:p>
        </p:txBody>
      </p:sp>
      <p:sp>
        <p:nvSpPr>
          <p:cNvPr id="5" name="Shape 3"/>
          <p:cNvSpPr/>
          <p:nvPr/>
        </p:nvSpPr>
        <p:spPr>
          <a:xfrm>
            <a:off x="548640" y="1051560"/>
            <a:ext cx="5212080" cy="3154680"/>
          </a:xfrm>
          <a:prstGeom prst="rect">
            <a:avLst/>
          </a:prstGeom>
          <a:solidFill>
            <a:srgbClr val="FFFFFF"/>
          </a:solidFill>
          <a:ln w="12700">
            <a:solidFill>
              <a:srgbClr val="BFBFBF"/>
            </a:solidFill>
            <a:prstDash val="solid"/>
          </a:ln>
        </p:spPr>
      </p:sp>
      <p:sp>
        <p:nvSpPr>
          <p:cNvPr id="6" name="Text 4"/>
          <p:cNvSpPr txBox="1"/>
          <p:nvPr/>
        </p:nvSpPr>
        <p:spPr>
          <a:xfrm>
            <a:off x="777240" y="1234440"/>
            <a:ext cx="4754880" cy="2834640"/>
          </a:xfrm>
          <a:prstGeom prst="rect">
            <a:avLst/>
          </a:prstGeom>
          <a:noFill/>
          <a:ln/>
        </p:spPr>
        <p:txBody>
          <a:bodyPr wrap="square" lIns="0" tIns="0" rIns="0" bIns="0" rtlCol="0" anchor="t"/>
          <a:lstStyle/>
          <a:p>
            <a:pPr indent="0" marL="0">
              <a:lnSpc>
                <a:spcPct val="112000"/>
              </a:lnSpc>
              <a:spcAft>
                <a:spcPts val="400"/>
              </a:spcAft>
              <a:buNone/>
            </a:pPr>
            <a:r>
              <a:rPr lang="en-US" sz="1200" dirty="0">
                <a:solidFill>
                  <a:srgbClr val="595959"/>
                </a:solidFill>
                <a:latin typeface="Times New Roman" pitchFamily="34" charset="0"/>
                <a:ea typeface="Times New Roman" pitchFamily="34" charset="-122"/>
                <a:cs typeface="Times New Roman" pitchFamily="34" charset="-120"/>
              </a:rPr>
              <a:t>You are cordially invited to…</a:t>
            </a:r>
            <a:endParaRPr lang="en-US" sz="1200" dirty="0"/>
          </a:p>
          <a:p>
            <a:pPr indent="0" marL="0">
              <a:lnSpc>
                <a:spcPct val="112000"/>
              </a:lnSpc>
              <a:buNone/>
            </a:pPr>
            <a:r>
              <a:rPr lang="en-US" sz="1600" b="1" dirty="0">
                <a:solidFill>
                  <a:srgbClr val="000000"/>
                </a:solidFill>
                <a:latin typeface="Times New Roman" pitchFamily="34" charset="0"/>
                <a:ea typeface="Times New Roman" pitchFamily="34" charset="-122"/>
                <a:cs typeface="Times New Roman" pitchFamily="34" charset="-120"/>
              </a:rPr>
              <a:t>Robert and Alexandra's</a:t>
            </a:r>
            <a:endParaRPr lang="en-US" sz="1200" dirty="0"/>
          </a:p>
          <a:p>
            <a:pPr indent="0" marL="0">
              <a:lnSpc>
                <a:spcPct val="112000"/>
              </a:lnSpc>
              <a:spcAft>
                <a:spcPts val="600"/>
              </a:spcAft>
              <a:buNone/>
            </a:pPr>
            <a:r>
              <a:rPr lang="en-US" sz="1600" b="1" dirty="0">
                <a:solidFill>
                  <a:srgbClr val="000000"/>
                </a:solidFill>
                <a:latin typeface="Times New Roman" pitchFamily="34" charset="0"/>
                <a:ea typeface="Times New Roman" pitchFamily="34" charset="-122"/>
                <a:cs typeface="Times New Roman" pitchFamily="34" charset="-120"/>
              </a:rPr>
              <a:t>delectable after-dinner party</a:t>
            </a:r>
            <a:endParaRPr lang="en-US" sz="1200" dirty="0"/>
          </a:p>
          <a:p>
            <a:pPr indent="0" marL="0">
              <a:lnSpc>
                <a:spcPct val="112000"/>
              </a:lnSpc>
              <a:spcAft>
                <a:spcPts val="1400"/>
              </a:spcAft>
              <a:buNone/>
            </a:pPr>
            <a:r>
              <a:rPr lang="en-US" sz="1200" dirty="0">
                <a:solidFill>
                  <a:srgbClr val="595959"/>
                </a:solidFill>
                <a:latin typeface="Times New Roman" pitchFamily="34" charset="0"/>
                <a:ea typeface="Times New Roman" pitchFamily="34" charset="-122"/>
                <a:cs typeface="Times New Roman" pitchFamily="34" charset="-120"/>
              </a:rPr>
              <a:t>Wine and nibbles will be served.</a:t>
            </a:r>
            <a:endParaRPr lang="en-US" sz="1200" dirty="0"/>
          </a:p>
          <a:p>
            <a:pPr indent="0" marL="0">
              <a:lnSpc>
                <a:spcPct val="112000"/>
              </a:lnSpc>
              <a:spcAft>
                <a:spcPts val="200"/>
              </a:spcAft>
              <a:buNone/>
            </a:pPr>
            <a:r>
              <a:rPr lang="en-US" sz="1300" b="1" dirty="0">
                <a:solidFill>
                  <a:srgbClr val="000000"/>
                </a:solidFill>
                <a:latin typeface="Times New Roman" pitchFamily="34" charset="0"/>
                <a:ea typeface="Times New Roman" pitchFamily="34" charset="-122"/>
                <a:cs typeface="Times New Roman" pitchFamily="34" charset="-120"/>
              </a:rPr>
              <a:t>When:  June 30th, 2018 at 9:30pm</a:t>
            </a:r>
            <a:endParaRPr lang="en-US" sz="1200" dirty="0"/>
          </a:p>
          <a:p>
            <a:pPr indent="0" marL="0">
              <a:lnSpc>
                <a:spcPct val="112000"/>
              </a:lnSpc>
              <a:spcAft>
                <a:spcPts val="200"/>
              </a:spcAft>
              <a:buNone/>
            </a:pPr>
            <a:r>
              <a:rPr lang="en-US" sz="1300" b="1" dirty="0">
                <a:solidFill>
                  <a:srgbClr val="000000"/>
                </a:solidFill>
                <a:latin typeface="Times New Roman" pitchFamily="34" charset="0"/>
                <a:ea typeface="Times New Roman" pitchFamily="34" charset="-122"/>
                <a:cs typeface="Times New Roman" pitchFamily="34" charset="-120"/>
              </a:rPr>
              <a:t>Where:  The pad</a:t>
            </a:r>
            <a:endParaRPr lang="en-US" sz="1200" dirty="0"/>
          </a:p>
          <a:p>
            <a:pPr indent="0" marL="0">
              <a:lnSpc>
                <a:spcPct val="112000"/>
              </a:lnSpc>
              <a:spcAft>
                <a:spcPts val="1400"/>
              </a:spcAft>
              <a:buNone/>
            </a:pPr>
            <a:r>
              <a:rPr lang="en-US" sz="1100" dirty="0">
                <a:solidFill>
                  <a:srgbClr val="595959"/>
                </a:solidFill>
                <a:latin typeface="Times New Roman" pitchFamily="34" charset="0"/>
                <a:ea typeface="Times New Roman" pitchFamily="34" charset="-122"/>
                <a:cs typeface="Times New Roman" pitchFamily="34" charset="-120"/>
              </a:rPr>
              <a:t>If you need directions, ping us.</a:t>
            </a:r>
            <a:endParaRPr lang="en-US" sz="1200" dirty="0"/>
          </a:p>
          <a:p>
            <a:pPr indent="0" marL="0">
              <a:lnSpc>
                <a:spcPct val="112000"/>
              </a:lnSpc>
              <a:buNone/>
            </a:pPr>
            <a:r>
              <a:rPr lang="en-US" sz="1400" b="1" dirty="0">
                <a:solidFill>
                  <a:srgbClr val="000000"/>
                </a:solidFill>
                <a:latin typeface="Times New Roman" pitchFamily="34" charset="0"/>
                <a:ea typeface="Times New Roman" pitchFamily="34" charset="-122"/>
                <a:cs typeface="Times New Roman" pitchFamily="34" charset="-120"/>
              </a:rPr>
              <a:t>RSVP by June 1st</a:t>
            </a:r>
            <a:endParaRPr lang="en-US" sz="1200" dirty="0"/>
          </a:p>
        </p:txBody>
      </p:sp>
      <p:sp>
        <p:nvSpPr>
          <p:cNvPr id="7" name="Shape 5"/>
          <p:cNvSpPr/>
          <p:nvPr/>
        </p:nvSpPr>
        <p:spPr>
          <a:xfrm>
            <a:off x="5989320" y="1051560"/>
            <a:ext cx="2651760" cy="3154680"/>
          </a:xfrm>
          <a:prstGeom prst="rect">
            <a:avLst/>
          </a:prstGeom>
          <a:solidFill>
            <a:srgbClr val="F2F2F2"/>
          </a:solidFill>
          <a:ln w="9525">
            <a:solidFill>
              <a:srgbClr val="BFBFBF"/>
            </a:solidFill>
            <a:prstDash val="solid"/>
          </a:ln>
        </p:spPr>
      </p:sp>
      <p:sp>
        <p:nvSpPr>
          <p:cNvPr id="8" name="Text 6"/>
          <p:cNvSpPr txBox="1"/>
          <p:nvPr/>
        </p:nvSpPr>
        <p:spPr>
          <a:xfrm>
            <a:off x="6126480" y="1143000"/>
            <a:ext cx="237744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What changed</a:t>
            </a:r>
            <a:endParaRPr lang="en-US" sz="1400" dirty="0"/>
          </a:p>
        </p:txBody>
      </p:sp>
      <p:sp>
        <p:nvSpPr>
          <p:cNvPr id="9" name="Text 7"/>
          <p:cNvSpPr txBox="1"/>
          <p:nvPr/>
        </p:nvSpPr>
        <p:spPr>
          <a:xfrm>
            <a:off x="6126480" y="1490472"/>
            <a:ext cx="2377440" cy="2606040"/>
          </a:xfrm>
          <a:prstGeom prst="rect">
            <a:avLst/>
          </a:prstGeom>
          <a:noFill/>
          <a:ln/>
        </p:spPr>
        <p:txBody>
          <a:bodyPr wrap="square" lIns="0" tIns="0" rIns="0" bIns="0" rtlCol="0" anchor="t"/>
          <a:lstStyle/>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Now the marks themselves differ, not only their spacing.</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Size and weight rank the content: what the party is, when and where it is, what you must do.</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The courtesy phrases recede. They are still there for anyone who wants them, and they no longer compete.</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A reader who glances for one second leaves with the date and the deadline — the two facts the sender needs them to have.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8</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Before and after, side by side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240280"/>
                <a:gridCol w="1965960"/>
                <a:gridCol w="1965960"/>
                <a:gridCol w="2057400"/>
              </a:tblGrid>
              <a:tr h="457200">
                <a:tc>
                  <a:txBody>
                    <a:bodyP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Question a reader asks</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Original block</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After chunking</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After hierarchy</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What is this?</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Read sentence 1</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Read chunk 1</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Read the large line</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When is it?</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Scan mid-paragraph</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Read chunk 3</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Glance — it is bold</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What must I do?</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Read to the end</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Read chunk 4</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Glance — it is last and bold</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Cost to produce</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Whitespace only</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Whitespace + two type sizes</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3703320"/>
            <a:ext cx="8229600" cy="86868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Notice what is being bought. Neither fix adds information; both reduce the amount the reader must hold in mind while searching. That is the link to the second half of today's lecture — the reason grouping works at all is that the thing doing the searching has a very small working store.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9</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Why grouping works: the size of working memory</a:t>
            </a:r>
            <a:endParaRPr lang="en-US" sz="2800" dirty="0"/>
          </a:p>
        </p:txBody>
      </p:sp>
      <p:sp>
        <p:nvSpPr>
          <p:cNvPr id="5" name="Shape 3"/>
          <p:cNvSpPr/>
          <p:nvPr/>
        </p:nvSpPr>
        <p:spPr>
          <a:xfrm>
            <a:off x="502920" y="1143000"/>
            <a:ext cx="3977640" cy="1508760"/>
          </a:xfrm>
          <a:prstGeom prst="rect">
            <a:avLst/>
          </a:prstGeom>
          <a:solidFill>
            <a:srgbClr val="F2F2F2"/>
          </a:solidFill>
          <a:ln w="9525">
            <a:solidFill>
              <a:srgbClr val="BFBFBF"/>
            </a:solidFill>
            <a:prstDash val="solid"/>
          </a:ln>
        </p:spPr>
      </p:sp>
      <p:sp>
        <p:nvSpPr>
          <p:cNvPr id="6" name="Text 4"/>
          <p:cNvSpPr txBox="1"/>
          <p:nvPr/>
        </p:nvSpPr>
        <p:spPr>
          <a:xfrm>
            <a:off x="64008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Capacity: 7 ± 2 chunks</a:t>
            </a:r>
            <a:endParaRPr lang="en-US" sz="1400" dirty="0"/>
          </a:p>
        </p:txBody>
      </p:sp>
      <p:sp>
        <p:nvSpPr>
          <p:cNvPr id="7" name="Text 5"/>
          <p:cNvSpPr txBox="1"/>
          <p:nvPr/>
        </p:nvSpPr>
        <p:spPr>
          <a:xfrm>
            <a:off x="640080" y="1581912"/>
            <a:ext cx="3703320" cy="96012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Miller's classic figure — and the unit is the chunk, not the character.</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0121 414 4513 is eleven digits but three chunks.</a:t>
            </a:r>
            <a:endParaRPr lang="en-US" sz="1150" dirty="0"/>
          </a:p>
        </p:txBody>
      </p:sp>
      <p:sp>
        <p:nvSpPr>
          <p:cNvPr id="8" name="Shape 6"/>
          <p:cNvSpPr/>
          <p:nvPr/>
        </p:nvSpPr>
        <p:spPr>
          <a:xfrm>
            <a:off x="4663440" y="1143000"/>
            <a:ext cx="3977640" cy="1508760"/>
          </a:xfrm>
          <a:prstGeom prst="rect">
            <a:avLst/>
          </a:prstGeom>
          <a:solidFill>
            <a:srgbClr val="F2F2F2"/>
          </a:solidFill>
          <a:ln w="9525">
            <a:solidFill>
              <a:srgbClr val="BFBFBF"/>
            </a:solidFill>
            <a:prstDash val="solid"/>
          </a:ln>
        </p:spPr>
      </p:sp>
      <p:sp>
        <p:nvSpPr>
          <p:cNvPr id="9" name="Text 7"/>
          <p:cNvSpPr txBox="1"/>
          <p:nvPr/>
        </p:nvSpPr>
        <p:spPr>
          <a:xfrm>
            <a:off x="480060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Duration: seconds, not minutes</a:t>
            </a:r>
            <a:endParaRPr lang="en-US" sz="1400" dirty="0"/>
          </a:p>
        </p:txBody>
      </p:sp>
      <p:sp>
        <p:nvSpPr>
          <p:cNvPr id="10" name="Text 8"/>
          <p:cNvSpPr txBox="1"/>
          <p:nvPr/>
        </p:nvSpPr>
        <p:spPr>
          <a:xfrm>
            <a:off x="4800600" y="1581912"/>
            <a:ext cx="3703320" cy="96012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Decay is rapid without rehearsal, and rehearsal competes with thinking.</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Interruption is therefore expensive in a way designers systematically underestimate.</a:t>
            </a:r>
            <a:endParaRPr lang="en-US" sz="1150" dirty="0"/>
          </a:p>
        </p:txBody>
      </p:sp>
      <p:sp>
        <p:nvSpPr>
          <p:cNvPr id="11" name="Text 9"/>
          <p:cNvSpPr txBox="1"/>
          <p:nvPr/>
        </p:nvSpPr>
        <p:spPr>
          <a:xfrm>
            <a:off x="502920" y="2834640"/>
            <a:ext cx="8138160" cy="1097280"/>
          </a:xfrm>
          <a:prstGeom prst="rect">
            <a:avLst/>
          </a:prstGeom>
          <a:noFill/>
          <a:ln/>
        </p:spPr>
        <p:txBody>
          <a:bodyPr wrap="square" lIns="0" tIns="0" rIns="0" bIns="0" rtlCol="0" anchor="t"/>
          <a:lstStyle/>
          <a:p>
            <a:pPr algn="l" indent="0" marL="0">
              <a:lnSpc>
                <a:spcPct val="115000"/>
              </a:lnSpc>
              <a:spcAft>
                <a:spcPts val="600"/>
              </a:spcAft>
              <a:buNone/>
            </a:pPr>
            <a:r>
              <a:rPr lang="en-US" sz="1300" b="1" dirty="0">
                <a:solidFill>
                  <a:srgbClr val="000000"/>
                </a:solidFill>
                <a:latin typeface="Times New Roman" pitchFamily="34" charset="0"/>
                <a:ea typeface="Times New Roman" pitchFamily="34" charset="-122"/>
                <a:cs typeface="Times New Roman" pitchFamily="34" charset="-120"/>
              </a:rPr>
              <a:t>The designer's move: if you cannot enlarge the store, enlarge the chunk. </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Grouping a screen is chunking done on the user's behalf. Four visual groups cost four slots; forty ungrouped items cost more slots than exist, so the user resorts to re-reading — which is the fidgeting, back-and-forth eye movement you see in any usability session with a bad form.</a:t>
            </a:r>
            <a:endParaRPr lang="en-US" sz="1300" dirty="0"/>
          </a:p>
        </p:txBody>
      </p:sp>
      <p:sp>
        <p:nvSpPr>
          <p:cNvPr id="12" name="Text 10"/>
          <p:cNvSpPr txBox="1"/>
          <p:nvPr/>
        </p:nvSpPr>
        <p:spPr>
          <a:xfrm>
            <a:off x="502920" y="4069080"/>
            <a:ext cx="8138160" cy="274320"/>
          </a:xfrm>
          <a:prstGeom prst="rect">
            <a:avLst/>
          </a:prstGeom>
          <a:noFill/>
          <a:ln/>
        </p:spPr>
        <p:txBody>
          <a:bodyPr wrap="square" lIns="0" tIns="0" rIns="0" bIns="0" rtlCol="0" anchor="ctr"/>
          <a:lstStyle/>
          <a:p>
            <a:pPr algn="l" indent="0" marL="0">
              <a:buNone/>
            </a:pPr>
            <a:r>
              <a:rPr lang="en-US" sz="1150" i="1" dirty="0">
                <a:solidFill>
                  <a:srgbClr val="262626"/>
                </a:solidFill>
                <a:latin typeface="Times New Roman" pitchFamily="34" charset="0"/>
                <a:ea typeface="Times New Roman" pitchFamily="34" charset="-122"/>
                <a:cs typeface="Times New Roman" pitchFamily="34" charset="-120"/>
              </a:rPr>
              <a:t>You will measure your own span, plain and chunked, in this week's lab.</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10</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Short-term memory — design thoughts</a:t>
            </a:r>
            <a:endParaRPr lang="en-US" sz="2800" dirty="0"/>
          </a:p>
        </p:txBody>
      </p:sp>
      <p:sp>
        <p:nvSpPr>
          <p:cNvPr id="5" name="Text 3"/>
          <p:cNvSpPr txBox="1"/>
          <p:nvPr/>
        </p:nvSpPr>
        <p:spPr>
          <a:xfrm>
            <a:off x="502920" y="1188720"/>
            <a:ext cx="8138160" cy="3200400"/>
          </a:xfrm>
          <a:prstGeom prst="rect">
            <a:avLst/>
          </a:prstGeom>
          <a:noFill/>
          <a:ln/>
        </p:spPr>
        <p:txBody>
          <a:bodyPr wrap="square" lIns="0" tIns="0" rIns="0" bIns="0" rtlCol="0" anchor="t"/>
          <a:lstStyle/>
          <a:p>
            <a:pPr marL="152400" indent="-152400">
              <a:lnSpc>
                <a:spcPct val="110000"/>
              </a:lnSpc>
              <a:spcAft>
                <a:spcPts val="1200"/>
              </a:spcAft>
              <a:buSzPct val="100000"/>
              <a:buChar char="•"/>
            </a:pPr>
            <a:r>
              <a:rPr lang="en-US" sz="1400" b="1" dirty="0">
                <a:solidFill>
                  <a:srgbClr val="262626"/>
                </a:solidFill>
                <a:latin typeface="Times New Roman" pitchFamily="34" charset="0"/>
                <a:ea typeface="Times New Roman" pitchFamily="34" charset="-122"/>
                <a:cs typeface="Times New Roman" pitchFamily="34" charset="-120"/>
              </a:rPr>
              <a:t>Capacity is not a constant.</a:t>
            </a:r>
            <a:endParaRPr lang="en-US" sz="1400" dirty="0"/>
          </a:p>
          <a:p>
            <a:pPr lvl="1" indent="0" marL="0">
              <a:lnSpc>
                <a:spcPct val="110000"/>
              </a:lnSpc>
              <a:spcAft>
                <a:spcPts val="1200"/>
              </a:spcAft>
              <a:buNone/>
            </a:pPr>
            <a:r>
              <a:rPr lang="en-US" sz="1200" dirty="0">
                <a:solidFill>
                  <a:srgbClr val="595959"/>
                </a:solidFill>
                <a:latin typeface="Times New Roman" pitchFamily="34" charset="0"/>
                <a:ea typeface="Times New Roman" pitchFamily="34" charset="-122"/>
                <a:cs typeface="Times New Roman" pitchFamily="34" charset="-120"/>
              </a:rPr>
              <a:t>It depends on emotional state, on the situation, on age, on fatigue and on how much else the person is tracking. The number you can rely on in a calm laboratory is not the number available to a nurse on a night shift.</a:t>
            </a:r>
            <a:endParaRPr lang="en-US" sz="1400" dirty="0"/>
          </a:p>
          <a:p>
            <a:pPr marL="152400" indent="-152400">
              <a:lnSpc>
                <a:spcPct val="110000"/>
              </a:lnSpc>
              <a:spcAft>
                <a:spcPts val="1200"/>
              </a:spcAft>
              <a:buSzPct val="100000"/>
              <a:buChar char="•"/>
            </a:pPr>
            <a:r>
              <a:rPr lang="en-US" sz="1400" b="1" dirty="0">
                <a:solidFill>
                  <a:srgbClr val="262626"/>
                </a:solidFill>
                <a:latin typeface="Times New Roman" pitchFamily="34" charset="0"/>
                <a:ea typeface="Times New Roman" pitchFamily="34" charset="-122"/>
                <a:cs typeface="Times New Roman" pitchFamily="34" charset="-120"/>
              </a:rPr>
              <a:t>Design for the worst case, not the average one.</a:t>
            </a:r>
            <a:endParaRPr lang="en-US" sz="1400" dirty="0"/>
          </a:p>
          <a:p>
            <a:pPr lvl="1" indent="0" marL="0">
              <a:lnSpc>
                <a:spcPct val="110000"/>
              </a:lnSpc>
              <a:spcAft>
                <a:spcPts val="1200"/>
              </a:spcAft>
              <a:buNone/>
            </a:pPr>
            <a:r>
              <a:rPr lang="en-US" sz="1200" dirty="0">
                <a:solidFill>
                  <a:srgbClr val="595959"/>
                </a:solidFill>
                <a:latin typeface="Times New Roman" pitchFamily="34" charset="0"/>
                <a:ea typeface="Times New Roman" pitchFamily="34" charset="-122"/>
                <a:cs typeface="Times New Roman" pitchFamily="34" charset="-120"/>
              </a:rPr>
              <a:t>If your interface only works when the user is unhurried and undistracted, it does not work.</a:t>
            </a:r>
            <a:endParaRPr lang="en-US" sz="1400" dirty="0"/>
          </a:p>
          <a:p>
            <a:pPr marL="152400" indent="-152400">
              <a:lnSpc>
                <a:spcPct val="110000"/>
              </a:lnSpc>
              <a:spcAft>
                <a:spcPts val="1200"/>
              </a:spcAft>
              <a:buSzPct val="100000"/>
              <a:buChar char="•"/>
            </a:pPr>
            <a:r>
              <a:rPr lang="en-US" sz="1400" b="1" dirty="0">
                <a:solidFill>
                  <a:srgbClr val="262626"/>
                </a:solidFill>
                <a:latin typeface="Times New Roman" pitchFamily="34" charset="0"/>
                <a:ea typeface="Times New Roman" pitchFamily="34" charset="-122"/>
                <a:cs typeface="Times New Roman" pitchFamily="34" charset="-120"/>
              </a:rPr>
              <a:t>Never ask the user to be the clipboard.</a:t>
            </a:r>
            <a:endParaRPr lang="en-US" sz="1400" dirty="0"/>
          </a:p>
          <a:p>
            <a:pPr lvl="1" indent="0" marL="0">
              <a:lnSpc>
                <a:spcPct val="110000"/>
              </a:lnSpc>
              <a:spcAft>
                <a:spcPts val="1200"/>
              </a:spcAft>
              <a:buNone/>
            </a:pPr>
            <a:r>
              <a:rPr lang="en-US" sz="1200" dirty="0">
                <a:solidFill>
                  <a:srgbClr val="595959"/>
                </a:solidFill>
                <a:latin typeface="Times New Roman" pitchFamily="34" charset="0"/>
                <a:ea typeface="Times New Roman" pitchFamily="34" charset="-122"/>
                <a:cs typeface="Times New Roman" pitchFamily="34" charset="-120"/>
              </a:rPr>
              <a:t>Any design that requires reading a value on one screen and typing it on another has allocated a memory slot you do not own. Carry the value forward instead.</a:t>
            </a:r>
            <a:endParaRPr lang="en-US" sz="1400" dirty="0"/>
          </a:p>
          <a:p>
            <a:pPr marL="152400" indent="-152400">
              <a:lnSpc>
                <a:spcPct val="110000"/>
              </a:lnSpc>
              <a:spcAft>
                <a:spcPts val="1200"/>
              </a:spcAft>
              <a:buSzPct val="100000"/>
              <a:buChar char="•"/>
            </a:pPr>
            <a:r>
              <a:rPr lang="en-US" sz="1400" b="1" dirty="0">
                <a:solidFill>
                  <a:srgbClr val="262626"/>
                </a:solidFill>
                <a:latin typeface="Times New Roman" pitchFamily="34" charset="0"/>
                <a:ea typeface="Times New Roman" pitchFamily="34" charset="-122"/>
                <a:cs typeface="Times New Roman" pitchFamily="34" charset="-120"/>
              </a:rPr>
              <a:t>Recognition beats recall.</a:t>
            </a:r>
            <a:endParaRPr lang="en-US" sz="1400" dirty="0"/>
          </a:p>
          <a:p>
            <a:pPr lvl="1" indent="0" marL="0">
              <a:lnSpc>
                <a:spcPct val="110000"/>
              </a:lnSpc>
              <a:spcAft>
                <a:spcPts val="1200"/>
              </a:spcAft>
              <a:buNone/>
            </a:pPr>
            <a:r>
              <a:rPr lang="en-US" sz="1200" dirty="0">
                <a:solidFill>
                  <a:srgbClr val="595959"/>
                </a:solidFill>
                <a:latin typeface="Times New Roman" pitchFamily="34" charset="0"/>
                <a:ea typeface="Times New Roman" pitchFamily="34" charset="-122"/>
                <a:cs typeface="Times New Roman" pitchFamily="34" charset="-120"/>
              </a:rPr>
              <a:t>Showing the options costs pixels; remembering them costs a resource that may not be there.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11</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Closure: the mind flushes the task when it ends</a:t>
            </a:r>
            <a:endParaRPr lang="en-US" sz="2800" dirty="0"/>
          </a:p>
        </p:txBody>
      </p:sp>
      <p:sp>
        <p:nvSpPr>
          <p:cNvPr id="5" name="Text 3"/>
          <p:cNvSpPr txBox="1"/>
          <p:nvPr/>
        </p:nvSpPr>
        <p:spPr>
          <a:xfrm>
            <a:off x="502920" y="1097280"/>
            <a:ext cx="4160520" cy="182880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Our minds have a tendency to flush short-term memory on completing a task.</a:t>
            </a:r>
            <a:endParaRPr lang="en-US" sz="1250" dirty="0"/>
          </a:p>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The moment the goal is reached, everything that was being held for that goal is released — including steps that have not actually happened yet.</a:t>
            </a:r>
            <a:endParaRPr lang="en-US" sz="1250" dirty="0"/>
          </a:p>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The user is not careless. The system is exploiting the point at which the user stops being able to remember.</a:t>
            </a:r>
            <a:endParaRPr lang="en-US" sz="1250" dirty="0"/>
          </a:p>
        </p:txBody>
      </p:sp>
      <p:sp>
        <p:nvSpPr>
          <p:cNvPr id="6" name="Shape 4"/>
          <p:cNvSpPr/>
          <p:nvPr/>
        </p:nvSpPr>
        <p:spPr>
          <a:xfrm>
            <a:off x="502920" y="3108960"/>
            <a:ext cx="4160520" cy="1188720"/>
          </a:xfrm>
          <a:prstGeom prst="rect">
            <a:avLst/>
          </a:prstGeom>
          <a:solidFill>
            <a:srgbClr val="F2F2F2"/>
          </a:solidFill>
          <a:ln w="9525">
            <a:solidFill>
              <a:srgbClr val="BFBFBF"/>
            </a:solidFill>
            <a:prstDash val="solid"/>
          </a:ln>
        </p:spPr>
      </p:sp>
      <p:sp>
        <p:nvSpPr>
          <p:cNvPr id="7" name="Text 5"/>
          <p:cNvSpPr txBox="1"/>
          <p:nvPr/>
        </p:nvSpPr>
        <p:spPr>
          <a:xfrm>
            <a:off x="640080" y="3218688"/>
            <a:ext cx="3886200" cy="914400"/>
          </a:xfrm>
          <a:prstGeom prst="rect">
            <a:avLst/>
          </a:prstGeom>
          <a:noFill/>
          <a:ln/>
        </p:spPr>
        <p:txBody>
          <a:bodyPr wrap="square" lIns="0" tIns="0" rIns="0" bIns="0" rtlCol="0" anchor="t"/>
          <a:lstStyle/>
          <a:p>
            <a:pPr indent="0" marL="0">
              <a:lnSpc>
                <a:spcPct val="112000"/>
              </a:lnSpc>
              <a:buNone/>
            </a:pPr>
            <a:r>
              <a:rPr lang="en-US" sz="1250" dirty="0">
                <a:solidFill>
                  <a:srgbClr val="000000"/>
                </a:solidFill>
                <a:latin typeface="Times New Roman" pitchFamily="34" charset="0"/>
                <a:ea typeface="Times New Roman" pitchFamily="34" charset="-122"/>
                <a:cs typeface="Times New Roman" pitchFamily="34" charset="-120"/>
              </a:rPr>
              <a:t>Design rule: return everything the user owns before the moment the task feels finished.</a:t>
            </a:r>
            <a:endParaRPr lang="en-US" sz="1250" dirty="0"/>
          </a:p>
        </p:txBody>
      </p:sp>
      <p:sp>
        <p:nvSpPr>
          <p:cNvPr id="8" name="Text 6"/>
          <p:cNvSpPr txBox="1"/>
          <p:nvPr/>
        </p:nvSpPr>
        <p:spPr>
          <a:xfrm>
            <a:off x="4937760" y="1097280"/>
            <a:ext cx="370332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Where the memory goes</a:t>
            </a:r>
            <a:endParaRPr lang="en-US" sz="1100" dirty="0"/>
          </a:p>
        </p:txBody>
      </p:sp>
      <p:sp>
        <p:nvSpPr>
          <p:cNvPr id="9" name="Shape 7"/>
          <p:cNvSpPr/>
          <p:nvPr/>
        </p:nvSpPr>
        <p:spPr>
          <a:xfrm>
            <a:off x="4937760" y="1463040"/>
            <a:ext cx="2834640" cy="457200"/>
          </a:xfrm>
          <a:prstGeom prst="rect">
            <a:avLst/>
          </a:prstGeom>
          <a:solidFill>
            <a:srgbClr val="F2F2F2"/>
          </a:solidFill>
          <a:ln w="9525">
            <a:solidFill>
              <a:srgbClr val="BFBFBF"/>
            </a:solidFill>
            <a:prstDash val="solid"/>
          </a:ln>
        </p:spPr>
      </p:sp>
      <p:sp>
        <p:nvSpPr>
          <p:cNvPr id="10" name="Text 8"/>
          <p:cNvSpPr txBox="1"/>
          <p:nvPr/>
        </p:nvSpPr>
        <p:spPr>
          <a:xfrm>
            <a:off x="4937760" y="1463040"/>
            <a:ext cx="2834640" cy="457200"/>
          </a:xfrm>
          <a:prstGeom prst="rect">
            <a:avLst/>
          </a:prstGeom>
          <a:noFill/>
          <a:ln/>
        </p:spPr>
        <p:txBody>
          <a:bodyPr wrap="square" lIns="0" tIns="0" rIns="0" bIns="0" rtlCol="0" anchor="ct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Goal formed</a:t>
            </a:r>
            <a:endParaRPr lang="en-US" sz="1100" dirty="0"/>
          </a:p>
        </p:txBody>
      </p:sp>
      <p:sp>
        <p:nvSpPr>
          <p:cNvPr id="11" name="Shape 9"/>
          <p:cNvSpPr/>
          <p:nvPr/>
        </p:nvSpPr>
        <p:spPr>
          <a:xfrm>
            <a:off x="6355080" y="1938528"/>
            <a:ext cx="0" cy="192024"/>
          </a:xfrm>
          <a:prstGeom prst="line">
            <a:avLst/>
          </a:prstGeom>
          <a:noFill/>
          <a:ln w="15875">
            <a:solidFill>
              <a:srgbClr val="595959"/>
            </a:solidFill>
            <a:prstDash val="solid"/>
            <a:tailEnd type="triangle"/>
          </a:ln>
        </p:spPr>
      </p:sp>
      <p:sp>
        <p:nvSpPr>
          <p:cNvPr id="12" name="Shape 10"/>
          <p:cNvSpPr/>
          <p:nvPr/>
        </p:nvSpPr>
        <p:spPr>
          <a:xfrm>
            <a:off x="4937760" y="2148840"/>
            <a:ext cx="2834640" cy="457200"/>
          </a:xfrm>
          <a:prstGeom prst="rect">
            <a:avLst/>
          </a:prstGeom>
          <a:solidFill>
            <a:srgbClr val="F2F2F2"/>
          </a:solidFill>
          <a:ln w="9525">
            <a:solidFill>
              <a:srgbClr val="BFBFBF"/>
            </a:solidFill>
            <a:prstDash val="solid"/>
          </a:ln>
        </p:spPr>
      </p:sp>
      <p:sp>
        <p:nvSpPr>
          <p:cNvPr id="13" name="Text 11"/>
          <p:cNvSpPr txBox="1"/>
          <p:nvPr/>
        </p:nvSpPr>
        <p:spPr>
          <a:xfrm>
            <a:off x="4937760" y="2148840"/>
            <a:ext cx="2834640" cy="457200"/>
          </a:xfrm>
          <a:prstGeom prst="rect">
            <a:avLst/>
          </a:prstGeom>
          <a:noFill/>
          <a:ln/>
        </p:spPr>
        <p:txBody>
          <a:bodyPr wrap="square" lIns="0" tIns="0" rIns="0" bIns="0" rtlCol="0" anchor="ct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Steps held in STM</a:t>
            </a:r>
            <a:endParaRPr lang="en-US" sz="1100" dirty="0"/>
          </a:p>
        </p:txBody>
      </p:sp>
      <p:sp>
        <p:nvSpPr>
          <p:cNvPr id="14" name="Shape 12"/>
          <p:cNvSpPr/>
          <p:nvPr/>
        </p:nvSpPr>
        <p:spPr>
          <a:xfrm>
            <a:off x="6355080" y="2624328"/>
            <a:ext cx="0" cy="192024"/>
          </a:xfrm>
          <a:prstGeom prst="line">
            <a:avLst/>
          </a:prstGeom>
          <a:noFill/>
          <a:ln w="15875">
            <a:solidFill>
              <a:srgbClr val="595959"/>
            </a:solidFill>
            <a:prstDash val="solid"/>
            <a:tailEnd type="triangle"/>
          </a:ln>
        </p:spPr>
      </p:sp>
      <p:sp>
        <p:nvSpPr>
          <p:cNvPr id="15" name="Shape 13"/>
          <p:cNvSpPr/>
          <p:nvPr/>
        </p:nvSpPr>
        <p:spPr>
          <a:xfrm>
            <a:off x="4937760" y="2834640"/>
            <a:ext cx="2834640" cy="457200"/>
          </a:xfrm>
          <a:prstGeom prst="rect">
            <a:avLst/>
          </a:prstGeom>
          <a:solidFill>
            <a:srgbClr val="F2F2F2"/>
          </a:solidFill>
          <a:ln w="9525">
            <a:solidFill>
              <a:srgbClr val="BFBFBF"/>
            </a:solidFill>
            <a:prstDash val="solid"/>
          </a:ln>
        </p:spPr>
      </p:sp>
      <p:sp>
        <p:nvSpPr>
          <p:cNvPr id="16" name="Text 14"/>
          <p:cNvSpPr txBox="1"/>
          <p:nvPr/>
        </p:nvSpPr>
        <p:spPr>
          <a:xfrm>
            <a:off x="4937760" y="2834640"/>
            <a:ext cx="2834640" cy="457200"/>
          </a:xfrm>
          <a:prstGeom prst="rect">
            <a:avLst/>
          </a:prstGeom>
          <a:noFill/>
          <a:ln/>
        </p:spPr>
        <p:txBody>
          <a:bodyPr wrap="square" lIns="0" tIns="0" rIns="0" bIns="0" rtlCol="0" anchor="ctr"/>
          <a:lstStyle/>
          <a:p>
            <a:pPr algn="ctr" indent="0" marL="0">
              <a:buNone/>
            </a:pPr>
            <a:r>
              <a:rPr lang="en-US" sz="1100" dirty="0">
                <a:solidFill>
                  <a:srgbClr val="000000"/>
                </a:solidFill>
                <a:latin typeface="Times New Roman" pitchFamily="34" charset="0"/>
                <a:ea typeface="Times New Roman" pitchFamily="34" charset="-122"/>
                <a:cs typeface="Times New Roman" pitchFamily="34" charset="-120"/>
              </a:rPr>
              <a:t>Goal reached</a:t>
            </a:r>
            <a:endParaRPr lang="en-US" sz="1100" dirty="0"/>
          </a:p>
        </p:txBody>
      </p:sp>
      <p:sp>
        <p:nvSpPr>
          <p:cNvPr id="17" name="Shape 15"/>
          <p:cNvSpPr/>
          <p:nvPr/>
        </p:nvSpPr>
        <p:spPr>
          <a:xfrm>
            <a:off x="6355080" y="3310128"/>
            <a:ext cx="0" cy="192024"/>
          </a:xfrm>
          <a:prstGeom prst="line">
            <a:avLst/>
          </a:prstGeom>
          <a:noFill/>
          <a:ln w="15875">
            <a:solidFill>
              <a:srgbClr val="595959"/>
            </a:solidFill>
            <a:prstDash val="solid"/>
            <a:tailEnd type="triangle"/>
          </a:ln>
        </p:spPr>
      </p:sp>
      <p:sp>
        <p:nvSpPr>
          <p:cNvPr id="18" name="Shape 16"/>
          <p:cNvSpPr/>
          <p:nvPr/>
        </p:nvSpPr>
        <p:spPr>
          <a:xfrm>
            <a:off x="4937760" y="3520440"/>
            <a:ext cx="2834640" cy="457200"/>
          </a:xfrm>
          <a:prstGeom prst="rect">
            <a:avLst/>
          </a:prstGeom>
          <a:solidFill>
            <a:srgbClr val="FFFFFF"/>
          </a:solidFill>
          <a:ln w="9525">
            <a:solidFill>
              <a:srgbClr val="BFBFBF"/>
            </a:solidFill>
            <a:prstDash val="dash"/>
          </a:ln>
        </p:spPr>
      </p:sp>
      <p:sp>
        <p:nvSpPr>
          <p:cNvPr id="19" name="Text 17"/>
          <p:cNvSpPr txBox="1"/>
          <p:nvPr/>
        </p:nvSpPr>
        <p:spPr>
          <a:xfrm>
            <a:off x="4937760" y="3520440"/>
            <a:ext cx="2834640" cy="457200"/>
          </a:xfrm>
          <a:prstGeom prst="rect">
            <a:avLst/>
          </a:prstGeom>
          <a:noFill/>
          <a:ln/>
        </p:spPr>
        <p:txBody>
          <a:bodyPr wrap="square" lIns="0" tIns="0" rIns="0" bIns="0" rtlCol="0" anchor="ctr"/>
          <a:lstStyle/>
          <a:p>
            <a:pPr algn="ctr" indent="0" marL="0">
              <a:buNone/>
            </a:pPr>
            <a:r>
              <a:rPr lang="en-US" sz="1100" dirty="0">
                <a:solidFill>
                  <a:srgbClr val="595959"/>
                </a:solidFill>
                <a:latin typeface="Times New Roman" pitchFamily="34" charset="0"/>
                <a:ea typeface="Times New Roman" pitchFamily="34" charset="-122"/>
                <a:cs typeface="Times New Roman" pitchFamily="34" charset="-120"/>
              </a:rPr>
              <a:t>STM released</a:t>
            </a:r>
            <a:endParaRPr lang="en-US" sz="1100" dirty="0"/>
          </a:p>
        </p:txBody>
      </p:sp>
      <p:sp>
        <p:nvSpPr>
          <p:cNvPr id="20" name="Text 18"/>
          <p:cNvSpPr txBox="1"/>
          <p:nvPr/>
        </p:nvSpPr>
        <p:spPr>
          <a:xfrm>
            <a:off x="7863840" y="2834640"/>
            <a:ext cx="777240" cy="914400"/>
          </a:xfrm>
          <a:prstGeom prst="rect">
            <a:avLst/>
          </a:prstGeom>
          <a:noFill/>
          <a:ln/>
        </p:spPr>
        <p:txBody>
          <a:bodyPr wrap="square" lIns="0" tIns="0" rIns="0" bIns="0" rtlCol="0" anchor="ctr"/>
          <a:lstStyle/>
          <a:p>
            <a:pPr algn="l" indent="0" marL="0">
              <a:buNone/>
            </a:pPr>
            <a:r>
              <a:rPr lang="en-US" sz="950" i="1" dirty="0">
                <a:solidFill>
                  <a:srgbClr val="595959"/>
                </a:solidFill>
                <a:latin typeface="Times New Roman" pitchFamily="34" charset="0"/>
                <a:ea typeface="Times New Roman" pitchFamily="34" charset="-122"/>
                <a:cs typeface="Times New Roman" pitchFamily="34" charset="-120"/>
              </a:rPr>
              <a:t>anything still pending here is lost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12</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ATM that kept your card</a:t>
            </a:r>
            <a:endParaRPr lang="en-US" sz="2800" dirty="0"/>
          </a:p>
        </p:txBody>
      </p:sp>
      <p:sp>
        <p:nvSpPr>
          <p:cNvPr id="5" name="Text 3"/>
          <p:cNvSpPr txBox="1"/>
          <p:nvPr/>
        </p:nvSpPr>
        <p:spPr>
          <a:xfrm>
            <a:off x="502920" y="1097280"/>
            <a:ext cx="4160520" cy="173736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Early ATMs gave the customer the money before returning the bank card.</a:t>
            </a:r>
            <a:endParaRPr lang="en-US" sz="1250" dirty="0"/>
          </a:p>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On receiving the money the customer reached closure — the task, as they understood it, was 'get cash', and the cash was in hand. The card was forgotten in very large numbers.</a:t>
            </a:r>
            <a:endParaRPr lang="en-US" sz="1250" dirty="0"/>
          </a:p>
        </p:txBody>
      </p:sp>
      <p:sp>
        <p:nvSpPr>
          <p:cNvPr id="6" name="Shape 4"/>
          <p:cNvSpPr/>
          <p:nvPr/>
        </p:nvSpPr>
        <p:spPr>
          <a:xfrm>
            <a:off x="502920" y="2971800"/>
            <a:ext cx="4160520" cy="1325880"/>
          </a:xfrm>
          <a:prstGeom prst="rect">
            <a:avLst/>
          </a:prstGeom>
          <a:solidFill>
            <a:srgbClr val="F2F2F2"/>
          </a:solidFill>
          <a:ln w="9525">
            <a:solidFill>
              <a:srgbClr val="BFBFBF"/>
            </a:solidFill>
            <a:prstDash val="solid"/>
          </a:ln>
        </p:spPr>
      </p:sp>
      <p:sp>
        <p:nvSpPr>
          <p:cNvPr id="7" name="Text 5"/>
          <p:cNvSpPr txBox="1"/>
          <p:nvPr/>
        </p:nvSpPr>
        <p:spPr>
          <a:xfrm>
            <a:off x="640080" y="3063240"/>
            <a:ext cx="388620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The fix, and why it is general</a:t>
            </a:r>
            <a:endParaRPr lang="en-US" sz="1400" dirty="0"/>
          </a:p>
        </p:txBody>
      </p:sp>
      <p:sp>
        <p:nvSpPr>
          <p:cNvPr id="8" name="Text 6"/>
          <p:cNvSpPr txBox="1"/>
          <p:nvPr/>
        </p:nvSpPr>
        <p:spPr>
          <a:xfrm>
            <a:off x="640080" y="3410712"/>
            <a:ext cx="3886200" cy="100584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Reverse the order: card first, money second. Now the moment of closure comes after the machine has returned the user's property.</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This is a forcing function — the sequence makes the error impossible rather than asking the user not to make it.</a:t>
            </a:r>
            <a:endParaRPr lang="en-US" sz="1100" dirty="0"/>
          </a:p>
        </p:txBody>
      </p:sp>
      <p:sp>
        <p:nvSpPr>
          <p:cNvPr id="9" name="Text 7"/>
          <p:cNvSpPr txBox="1"/>
          <p:nvPr/>
        </p:nvSpPr>
        <p:spPr>
          <a:xfrm>
            <a:off x="4937760" y="1097280"/>
            <a:ext cx="1737360"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Times New Roman" pitchFamily="34" charset="0"/>
                <a:ea typeface="Times New Roman" pitchFamily="34" charset="-122"/>
                <a:cs typeface="Times New Roman" pitchFamily="34" charset="-120"/>
              </a:rPr>
              <a:t>Before</a:t>
            </a:r>
            <a:endParaRPr lang="en-US" sz="1200" dirty="0"/>
          </a:p>
        </p:txBody>
      </p:sp>
      <p:sp>
        <p:nvSpPr>
          <p:cNvPr id="10" name="Shape 8"/>
          <p:cNvSpPr/>
          <p:nvPr/>
        </p:nvSpPr>
        <p:spPr>
          <a:xfrm>
            <a:off x="4937760" y="1417320"/>
            <a:ext cx="1737360" cy="411480"/>
          </a:xfrm>
          <a:prstGeom prst="rect">
            <a:avLst/>
          </a:prstGeom>
          <a:solidFill>
            <a:srgbClr val="FFFFFF"/>
          </a:solidFill>
          <a:ln w="9525">
            <a:solidFill>
              <a:srgbClr val="BFBFBF"/>
            </a:solidFill>
            <a:prstDash val="solid"/>
          </a:ln>
        </p:spPr>
      </p:sp>
      <p:sp>
        <p:nvSpPr>
          <p:cNvPr id="11" name="Text 9"/>
          <p:cNvSpPr txBox="1"/>
          <p:nvPr/>
        </p:nvSpPr>
        <p:spPr>
          <a:xfrm>
            <a:off x="4937760" y="141732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Insert card</a:t>
            </a:r>
            <a:endParaRPr lang="en-US" sz="1050" dirty="0"/>
          </a:p>
        </p:txBody>
      </p:sp>
      <p:sp>
        <p:nvSpPr>
          <p:cNvPr id="12" name="Shape 10"/>
          <p:cNvSpPr/>
          <p:nvPr/>
        </p:nvSpPr>
        <p:spPr>
          <a:xfrm>
            <a:off x="5806440" y="1847088"/>
            <a:ext cx="0" cy="91440"/>
          </a:xfrm>
          <a:prstGeom prst="line">
            <a:avLst/>
          </a:prstGeom>
          <a:noFill/>
          <a:ln w="15875">
            <a:solidFill>
              <a:srgbClr val="595959"/>
            </a:solidFill>
            <a:prstDash val="solid"/>
            <a:tailEnd type="triangle"/>
          </a:ln>
        </p:spPr>
      </p:sp>
      <p:sp>
        <p:nvSpPr>
          <p:cNvPr id="13" name="Shape 11"/>
          <p:cNvSpPr/>
          <p:nvPr/>
        </p:nvSpPr>
        <p:spPr>
          <a:xfrm>
            <a:off x="4937760" y="1965960"/>
            <a:ext cx="1737360" cy="411480"/>
          </a:xfrm>
          <a:prstGeom prst="rect">
            <a:avLst/>
          </a:prstGeom>
          <a:solidFill>
            <a:srgbClr val="FFFFFF"/>
          </a:solidFill>
          <a:ln w="9525">
            <a:solidFill>
              <a:srgbClr val="BFBFBF"/>
            </a:solidFill>
            <a:prstDash val="solid"/>
          </a:ln>
        </p:spPr>
      </p:sp>
      <p:sp>
        <p:nvSpPr>
          <p:cNvPr id="14" name="Text 12"/>
          <p:cNvSpPr txBox="1"/>
          <p:nvPr/>
        </p:nvSpPr>
        <p:spPr>
          <a:xfrm>
            <a:off x="4937760" y="196596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Enter PIN</a:t>
            </a:r>
            <a:endParaRPr lang="en-US" sz="1050" dirty="0"/>
          </a:p>
        </p:txBody>
      </p:sp>
      <p:sp>
        <p:nvSpPr>
          <p:cNvPr id="15" name="Shape 13"/>
          <p:cNvSpPr/>
          <p:nvPr/>
        </p:nvSpPr>
        <p:spPr>
          <a:xfrm>
            <a:off x="5806440" y="2395728"/>
            <a:ext cx="0" cy="91440"/>
          </a:xfrm>
          <a:prstGeom prst="line">
            <a:avLst/>
          </a:prstGeom>
          <a:noFill/>
          <a:ln w="15875">
            <a:solidFill>
              <a:srgbClr val="595959"/>
            </a:solidFill>
            <a:prstDash val="solid"/>
            <a:tailEnd type="triangle"/>
          </a:ln>
        </p:spPr>
      </p:sp>
      <p:sp>
        <p:nvSpPr>
          <p:cNvPr id="16" name="Shape 14"/>
          <p:cNvSpPr/>
          <p:nvPr/>
        </p:nvSpPr>
        <p:spPr>
          <a:xfrm>
            <a:off x="4937760" y="2514600"/>
            <a:ext cx="1737360" cy="411480"/>
          </a:xfrm>
          <a:prstGeom prst="rect">
            <a:avLst/>
          </a:prstGeom>
          <a:solidFill>
            <a:srgbClr val="D9D9D9"/>
          </a:solidFill>
          <a:ln w="9525">
            <a:solidFill>
              <a:srgbClr val="BFBFBF"/>
            </a:solidFill>
            <a:prstDash val="solid"/>
          </a:ln>
        </p:spPr>
      </p:sp>
      <p:sp>
        <p:nvSpPr>
          <p:cNvPr id="17" name="Text 15"/>
          <p:cNvSpPr txBox="1"/>
          <p:nvPr/>
        </p:nvSpPr>
        <p:spPr>
          <a:xfrm>
            <a:off x="4937760" y="251460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Take money</a:t>
            </a:r>
            <a:endParaRPr lang="en-US" sz="1050" dirty="0"/>
          </a:p>
        </p:txBody>
      </p:sp>
      <p:sp>
        <p:nvSpPr>
          <p:cNvPr id="18" name="Shape 16"/>
          <p:cNvSpPr/>
          <p:nvPr/>
        </p:nvSpPr>
        <p:spPr>
          <a:xfrm>
            <a:off x="5806440" y="2944368"/>
            <a:ext cx="0" cy="91440"/>
          </a:xfrm>
          <a:prstGeom prst="line">
            <a:avLst/>
          </a:prstGeom>
          <a:noFill/>
          <a:ln w="15875">
            <a:solidFill>
              <a:srgbClr val="595959"/>
            </a:solidFill>
            <a:prstDash val="solid"/>
            <a:tailEnd type="triangle"/>
          </a:ln>
        </p:spPr>
      </p:sp>
      <p:sp>
        <p:nvSpPr>
          <p:cNvPr id="19" name="Shape 17"/>
          <p:cNvSpPr/>
          <p:nvPr/>
        </p:nvSpPr>
        <p:spPr>
          <a:xfrm>
            <a:off x="4937760" y="3063240"/>
            <a:ext cx="1737360" cy="411480"/>
          </a:xfrm>
          <a:prstGeom prst="rect">
            <a:avLst/>
          </a:prstGeom>
          <a:solidFill>
            <a:srgbClr val="FFFFFF"/>
          </a:solidFill>
          <a:ln w="9525">
            <a:solidFill>
              <a:srgbClr val="BFBFBF"/>
            </a:solidFill>
            <a:prstDash val="solid"/>
          </a:ln>
        </p:spPr>
      </p:sp>
      <p:sp>
        <p:nvSpPr>
          <p:cNvPr id="20" name="Text 18"/>
          <p:cNvSpPr txBox="1"/>
          <p:nvPr/>
        </p:nvSpPr>
        <p:spPr>
          <a:xfrm>
            <a:off x="4937760" y="306324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Take card</a:t>
            </a:r>
            <a:endParaRPr lang="en-US" sz="1050" dirty="0"/>
          </a:p>
        </p:txBody>
      </p:sp>
      <p:sp>
        <p:nvSpPr>
          <p:cNvPr id="21" name="Text 19"/>
          <p:cNvSpPr txBox="1"/>
          <p:nvPr/>
        </p:nvSpPr>
        <p:spPr>
          <a:xfrm>
            <a:off x="4937760" y="3657600"/>
            <a:ext cx="1737360" cy="640080"/>
          </a:xfrm>
          <a:prstGeom prst="rect">
            <a:avLst/>
          </a:prstGeom>
          <a:noFill/>
          <a:ln/>
        </p:spPr>
        <p:txBody>
          <a:bodyPr wrap="square" lIns="0" tIns="0" rIns="0" bIns="0" rtlCol="0" anchor="ctr"/>
          <a:lstStyle/>
          <a:p>
            <a:pPr algn="ctr" indent="0" marL="0">
              <a:buNone/>
            </a:pPr>
            <a:r>
              <a:rPr lang="en-US" sz="950" i="1" dirty="0">
                <a:solidFill>
                  <a:srgbClr val="595959"/>
                </a:solidFill>
                <a:latin typeface="Times New Roman" pitchFamily="34" charset="0"/>
                <a:ea typeface="Times New Roman" pitchFamily="34" charset="-122"/>
                <a:cs typeface="Times New Roman" pitchFamily="34" charset="-120"/>
              </a:rPr>
              <a:t>closure at step 3 —</a:t>
            </a:r>
            <a:endParaRPr lang="en-US" sz="950" dirty="0"/>
          </a:p>
          <a:p>
            <a:pPr algn="ctr" indent="0" marL="0">
              <a:buNone/>
            </a:pPr>
            <a:r>
              <a:rPr lang="en-US" sz="950" i="1" dirty="0">
                <a:solidFill>
                  <a:srgbClr val="595959"/>
                </a:solidFill>
                <a:latin typeface="Times New Roman" pitchFamily="34" charset="0"/>
                <a:ea typeface="Times New Roman" pitchFamily="34" charset="-122"/>
                <a:cs typeface="Times New Roman" pitchFamily="34" charset="-120"/>
              </a:rPr>
              <a:t>the card is left behind</a:t>
            </a:r>
            <a:endParaRPr lang="en-US" sz="950" dirty="0"/>
          </a:p>
        </p:txBody>
      </p:sp>
      <p:sp>
        <p:nvSpPr>
          <p:cNvPr id="22" name="Text 20"/>
          <p:cNvSpPr txBox="1"/>
          <p:nvPr/>
        </p:nvSpPr>
        <p:spPr>
          <a:xfrm>
            <a:off x="6903720" y="1097280"/>
            <a:ext cx="1737360"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Times New Roman" pitchFamily="34" charset="0"/>
                <a:ea typeface="Times New Roman" pitchFamily="34" charset="-122"/>
                <a:cs typeface="Times New Roman" pitchFamily="34" charset="-120"/>
              </a:rPr>
              <a:t>After</a:t>
            </a:r>
            <a:endParaRPr lang="en-US" sz="1200" dirty="0"/>
          </a:p>
        </p:txBody>
      </p:sp>
      <p:sp>
        <p:nvSpPr>
          <p:cNvPr id="23" name="Shape 21"/>
          <p:cNvSpPr/>
          <p:nvPr/>
        </p:nvSpPr>
        <p:spPr>
          <a:xfrm>
            <a:off x="6903720" y="1417320"/>
            <a:ext cx="1737360" cy="411480"/>
          </a:xfrm>
          <a:prstGeom prst="rect">
            <a:avLst/>
          </a:prstGeom>
          <a:solidFill>
            <a:srgbClr val="FFFFFF"/>
          </a:solidFill>
          <a:ln w="9525">
            <a:solidFill>
              <a:srgbClr val="BFBFBF"/>
            </a:solidFill>
            <a:prstDash val="solid"/>
          </a:ln>
        </p:spPr>
      </p:sp>
      <p:sp>
        <p:nvSpPr>
          <p:cNvPr id="24" name="Text 22"/>
          <p:cNvSpPr txBox="1"/>
          <p:nvPr/>
        </p:nvSpPr>
        <p:spPr>
          <a:xfrm>
            <a:off x="6903720" y="141732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Insert card</a:t>
            </a:r>
            <a:endParaRPr lang="en-US" sz="1050" dirty="0"/>
          </a:p>
        </p:txBody>
      </p:sp>
      <p:sp>
        <p:nvSpPr>
          <p:cNvPr id="25" name="Shape 23"/>
          <p:cNvSpPr/>
          <p:nvPr/>
        </p:nvSpPr>
        <p:spPr>
          <a:xfrm>
            <a:off x="7772400" y="1847088"/>
            <a:ext cx="0" cy="91440"/>
          </a:xfrm>
          <a:prstGeom prst="line">
            <a:avLst/>
          </a:prstGeom>
          <a:noFill/>
          <a:ln w="15875">
            <a:solidFill>
              <a:srgbClr val="595959"/>
            </a:solidFill>
            <a:prstDash val="solid"/>
            <a:tailEnd type="triangle"/>
          </a:ln>
        </p:spPr>
      </p:sp>
      <p:sp>
        <p:nvSpPr>
          <p:cNvPr id="26" name="Shape 24"/>
          <p:cNvSpPr/>
          <p:nvPr/>
        </p:nvSpPr>
        <p:spPr>
          <a:xfrm>
            <a:off x="6903720" y="1965960"/>
            <a:ext cx="1737360" cy="411480"/>
          </a:xfrm>
          <a:prstGeom prst="rect">
            <a:avLst/>
          </a:prstGeom>
          <a:solidFill>
            <a:srgbClr val="FFFFFF"/>
          </a:solidFill>
          <a:ln w="9525">
            <a:solidFill>
              <a:srgbClr val="BFBFBF"/>
            </a:solidFill>
            <a:prstDash val="solid"/>
          </a:ln>
        </p:spPr>
      </p:sp>
      <p:sp>
        <p:nvSpPr>
          <p:cNvPr id="27" name="Text 25"/>
          <p:cNvSpPr txBox="1"/>
          <p:nvPr/>
        </p:nvSpPr>
        <p:spPr>
          <a:xfrm>
            <a:off x="6903720" y="196596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Enter PIN</a:t>
            </a:r>
            <a:endParaRPr lang="en-US" sz="1050" dirty="0"/>
          </a:p>
        </p:txBody>
      </p:sp>
      <p:sp>
        <p:nvSpPr>
          <p:cNvPr id="28" name="Shape 26"/>
          <p:cNvSpPr/>
          <p:nvPr/>
        </p:nvSpPr>
        <p:spPr>
          <a:xfrm>
            <a:off x="7772400" y="2395728"/>
            <a:ext cx="0" cy="91440"/>
          </a:xfrm>
          <a:prstGeom prst="line">
            <a:avLst/>
          </a:prstGeom>
          <a:noFill/>
          <a:ln w="15875">
            <a:solidFill>
              <a:srgbClr val="595959"/>
            </a:solidFill>
            <a:prstDash val="solid"/>
            <a:tailEnd type="triangle"/>
          </a:ln>
        </p:spPr>
      </p:sp>
      <p:sp>
        <p:nvSpPr>
          <p:cNvPr id="29" name="Shape 27"/>
          <p:cNvSpPr/>
          <p:nvPr/>
        </p:nvSpPr>
        <p:spPr>
          <a:xfrm>
            <a:off x="6903720" y="2514600"/>
            <a:ext cx="1737360" cy="411480"/>
          </a:xfrm>
          <a:prstGeom prst="rect">
            <a:avLst/>
          </a:prstGeom>
          <a:solidFill>
            <a:srgbClr val="FFFFFF"/>
          </a:solidFill>
          <a:ln w="9525">
            <a:solidFill>
              <a:srgbClr val="BFBFBF"/>
            </a:solidFill>
            <a:prstDash val="solid"/>
          </a:ln>
        </p:spPr>
      </p:sp>
      <p:sp>
        <p:nvSpPr>
          <p:cNvPr id="30" name="Text 28"/>
          <p:cNvSpPr txBox="1"/>
          <p:nvPr/>
        </p:nvSpPr>
        <p:spPr>
          <a:xfrm>
            <a:off x="6903720" y="251460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Take card</a:t>
            </a:r>
            <a:endParaRPr lang="en-US" sz="1050" dirty="0"/>
          </a:p>
        </p:txBody>
      </p:sp>
      <p:sp>
        <p:nvSpPr>
          <p:cNvPr id="31" name="Shape 29"/>
          <p:cNvSpPr/>
          <p:nvPr/>
        </p:nvSpPr>
        <p:spPr>
          <a:xfrm>
            <a:off x="7772400" y="2944368"/>
            <a:ext cx="0" cy="91440"/>
          </a:xfrm>
          <a:prstGeom prst="line">
            <a:avLst/>
          </a:prstGeom>
          <a:noFill/>
          <a:ln w="15875">
            <a:solidFill>
              <a:srgbClr val="595959"/>
            </a:solidFill>
            <a:prstDash val="solid"/>
            <a:tailEnd type="triangle"/>
          </a:ln>
        </p:spPr>
      </p:sp>
      <p:sp>
        <p:nvSpPr>
          <p:cNvPr id="32" name="Shape 30"/>
          <p:cNvSpPr/>
          <p:nvPr/>
        </p:nvSpPr>
        <p:spPr>
          <a:xfrm>
            <a:off x="6903720" y="3063240"/>
            <a:ext cx="1737360" cy="411480"/>
          </a:xfrm>
          <a:prstGeom prst="rect">
            <a:avLst/>
          </a:prstGeom>
          <a:solidFill>
            <a:srgbClr val="D9D9D9"/>
          </a:solidFill>
          <a:ln w="9525">
            <a:solidFill>
              <a:srgbClr val="BFBFBF"/>
            </a:solidFill>
            <a:prstDash val="solid"/>
          </a:ln>
        </p:spPr>
      </p:sp>
      <p:sp>
        <p:nvSpPr>
          <p:cNvPr id="33" name="Text 31"/>
          <p:cNvSpPr txBox="1"/>
          <p:nvPr/>
        </p:nvSpPr>
        <p:spPr>
          <a:xfrm>
            <a:off x="6903720" y="3063240"/>
            <a:ext cx="1737360" cy="41148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Take money</a:t>
            </a:r>
            <a:endParaRPr lang="en-US" sz="1050" dirty="0"/>
          </a:p>
        </p:txBody>
      </p:sp>
      <p:sp>
        <p:nvSpPr>
          <p:cNvPr id="34" name="Text 32"/>
          <p:cNvSpPr txBox="1"/>
          <p:nvPr/>
        </p:nvSpPr>
        <p:spPr>
          <a:xfrm>
            <a:off x="6903720" y="3657600"/>
            <a:ext cx="1737360" cy="640080"/>
          </a:xfrm>
          <a:prstGeom prst="rect">
            <a:avLst/>
          </a:prstGeom>
          <a:noFill/>
          <a:ln/>
        </p:spPr>
        <p:txBody>
          <a:bodyPr wrap="square" lIns="0" tIns="0" rIns="0" bIns="0" rtlCol="0" anchor="ctr"/>
          <a:lstStyle/>
          <a:p>
            <a:pPr algn="ctr" indent="0" marL="0">
              <a:buNone/>
            </a:pPr>
            <a:r>
              <a:rPr lang="en-US" sz="950" i="1" dirty="0">
                <a:solidFill>
                  <a:srgbClr val="595959"/>
                </a:solidFill>
                <a:latin typeface="Times New Roman" pitchFamily="34" charset="0"/>
                <a:ea typeface="Times New Roman" pitchFamily="34" charset="-122"/>
                <a:cs typeface="Times New Roman" pitchFamily="34" charset="-120"/>
              </a:rPr>
              <a:t>closure at step 4 —</a:t>
            </a:r>
            <a:endParaRPr lang="en-US" sz="950" dirty="0"/>
          </a:p>
          <a:p>
            <a:pPr algn="ctr" indent="0" marL="0">
              <a:buNone/>
            </a:pPr>
            <a:r>
              <a:rPr lang="en-US" sz="950" i="1" dirty="0">
                <a:solidFill>
                  <a:srgbClr val="595959"/>
                </a:solidFill>
                <a:latin typeface="Times New Roman" pitchFamily="34" charset="0"/>
                <a:ea typeface="Times New Roman" pitchFamily="34" charset="-122"/>
                <a:cs typeface="Times New Roman" pitchFamily="34" charset="-120"/>
              </a:rPr>
              <a:t>nothing left to lose</a:t>
            </a:r>
            <a:endParaRPr lang="en-US" sz="950" dirty="0"/>
          </a:p>
        </p:txBody>
      </p:sp>
      <p:sp>
        <p:nvSpPr>
          <p:cNvPr id="35" name="Text 33"/>
          <p:cNvSpPr txBox="1"/>
          <p:nvPr/>
        </p:nvSpPr>
        <p:spPr>
          <a:xfrm>
            <a:off x="4937760" y="4279392"/>
            <a:ext cx="3703320" cy="274320"/>
          </a:xfrm>
          <a:prstGeom prst="rect">
            <a:avLst/>
          </a:prstGeom>
          <a:noFill/>
          <a:ln/>
        </p:spPr>
        <p:txBody>
          <a:bodyPr wrap="square" lIns="0" tIns="0" rIns="0" bIns="0" rtlCol="0" anchor="ctr"/>
          <a:lstStyle/>
          <a:p>
            <a:pPr algn="ctr" indent="0" marL="0">
              <a:buNone/>
            </a:pPr>
            <a:r>
              <a:rPr lang="en-US" sz="950" i="1" dirty="0">
                <a:solidFill>
                  <a:srgbClr val="595959"/>
                </a:solidFill>
                <a:latin typeface="Times New Roman" pitchFamily="34" charset="0"/>
                <a:ea typeface="Times New Roman" pitchFamily="34" charset="-122"/>
                <a:cs typeface="Times New Roman" pitchFamily="34" charset="-120"/>
              </a:rPr>
              <a:t>Shaded step = the moment the task feels done.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13</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same trap, in software you use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1828800"/>
                <a:gridCol w="2286000"/>
                <a:gridCol w="2651760"/>
              </a:tblGrid>
              <a:tr h="475488">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System</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Where closure falls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What gets lost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Design remedy</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Photocopier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Copies in the output tray</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The original on the glass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Keep the original in the path to the copies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Petrol station</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Fuel paid for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The fuel cap</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Attach the cap to the car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Email client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Message sent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The attachment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Detect 'attached' in the body and warn before sending</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Web form</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Submit pressed</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Data cleared on a validation error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Preserve every field; mark only the invalid one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File dialog</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Work saved</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The fact that it saved to the wrong folder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Show the destination path at the moment of saving</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251960"/>
            <a:ext cx="8229600" cy="320040"/>
          </a:xfrm>
          <a:prstGeom prst="rect">
            <a:avLst/>
          </a:prstGeom>
          <a:noFill/>
          <a:ln/>
        </p:spPr>
        <p:txBody>
          <a:bodyPr wrap="square" lIns="0" tIns="0" rIns="0" bIns="0" rtlCol="0" anchor="ctr"/>
          <a:lstStyle/>
          <a:p>
            <a:pPr algn="l" indent="0" marL="0">
              <a:buNone/>
            </a:pPr>
            <a:r>
              <a:rPr lang="en-US" sz="1150" dirty="0">
                <a:solidFill>
                  <a:srgbClr val="262626"/>
                </a:solidFill>
                <a:latin typeface="Times New Roman" pitchFamily="34" charset="0"/>
                <a:ea typeface="Times New Roman" pitchFamily="34" charset="-122"/>
                <a:cs typeface="Times New Roman" pitchFamily="34" charset="-120"/>
              </a:rPr>
              <a:t>Notice the pattern: none of these remedies asks the user to try harder. Each changes the order of events or makes the missing thing visible.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14</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Human error: slips and mistakes</a:t>
            </a:r>
            <a:endParaRPr lang="en-US" sz="2800" dirty="0"/>
          </a:p>
        </p:txBody>
      </p:sp>
      <p:sp>
        <p:nvSpPr>
          <p:cNvPr id="5" name="Shape 3"/>
          <p:cNvSpPr/>
          <p:nvPr/>
        </p:nvSpPr>
        <p:spPr>
          <a:xfrm>
            <a:off x="502920" y="1188720"/>
            <a:ext cx="3977640" cy="2103120"/>
          </a:xfrm>
          <a:prstGeom prst="rect">
            <a:avLst/>
          </a:prstGeom>
          <a:solidFill>
            <a:srgbClr val="F2F2F2"/>
          </a:solidFill>
          <a:ln w="9525">
            <a:solidFill>
              <a:srgbClr val="BFBFBF"/>
            </a:solidFill>
            <a:prstDash val="solid"/>
          </a:ln>
        </p:spPr>
      </p:sp>
      <p:sp>
        <p:nvSpPr>
          <p:cNvPr id="6" name="Text 4"/>
          <p:cNvSpPr txBox="1"/>
          <p:nvPr/>
        </p:nvSpPr>
        <p:spPr>
          <a:xfrm>
            <a:off x="640080" y="128016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Slip</a:t>
            </a:r>
            <a:endParaRPr lang="en-US" sz="1400" dirty="0"/>
          </a:p>
        </p:txBody>
      </p:sp>
      <p:sp>
        <p:nvSpPr>
          <p:cNvPr id="7" name="Text 5"/>
          <p:cNvSpPr txBox="1"/>
          <p:nvPr/>
        </p:nvSpPr>
        <p:spPr>
          <a:xfrm>
            <a:off x="640080" y="1627632"/>
            <a:ext cx="3703320" cy="150876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 goal is right; the action taken is not.</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Caused by change of skill, automation of a practised action, inattention, or stress.</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Remedy: change the interface — spacing, confirmation, undo, disabled states.</a:t>
            </a:r>
            <a:endParaRPr lang="en-US" sz="1150" dirty="0"/>
          </a:p>
        </p:txBody>
      </p:sp>
      <p:sp>
        <p:nvSpPr>
          <p:cNvPr id="8" name="Shape 6"/>
          <p:cNvSpPr/>
          <p:nvPr/>
        </p:nvSpPr>
        <p:spPr>
          <a:xfrm>
            <a:off x="4663440" y="1188720"/>
            <a:ext cx="3977640" cy="2103120"/>
          </a:xfrm>
          <a:prstGeom prst="rect">
            <a:avLst/>
          </a:prstGeom>
          <a:solidFill>
            <a:srgbClr val="F2F2F2"/>
          </a:solidFill>
          <a:ln w="9525">
            <a:solidFill>
              <a:srgbClr val="BFBFBF"/>
            </a:solidFill>
            <a:prstDash val="solid"/>
          </a:ln>
        </p:spPr>
      </p:sp>
      <p:sp>
        <p:nvSpPr>
          <p:cNvPr id="9" name="Text 7"/>
          <p:cNvSpPr txBox="1"/>
          <p:nvPr/>
        </p:nvSpPr>
        <p:spPr>
          <a:xfrm>
            <a:off x="4800600" y="128016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Mistake</a:t>
            </a:r>
            <a:endParaRPr lang="en-US" sz="1400" dirty="0"/>
          </a:p>
        </p:txBody>
      </p:sp>
      <p:sp>
        <p:nvSpPr>
          <p:cNvPr id="10" name="Text 8"/>
          <p:cNvSpPr txBox="1"/>
          <p:nvPr/>
        </p:nvSpPr>
        <p:spPr>
          <a:xfrm>
            <a:off x="4800600" y="1627632"/>
            <a:ext cx="3703320" cy="150876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 action is carried out correctly; the goal itself was wrong.</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Caused by an incorrect mental model of how the system works.</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Remedy: change what the system shows about itself — feedback, visible state, better metaphor.</a:t>
            </a:r>
            <a:endParaRPr lang="en-US" sz="1150" dirty="0"/>
          </a:p>
        </p:txBody>
      </p:sp>
      <p:sp>
        <p:nvSpPr>
          <p:cNvPr id="11" name="Text 9"/>
          <p:cNvSpPr txBox="1"/>
          <p:nvPr/>
        </p:nvSpPr>
        <p:spPr>
          <a:xfrm>
            <a:off x="502920" y="3474720"/>
            <a:ext cx="8138160" cy="91440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The distinction earns its keep because the remedies do not transfer. Adding a confirmation dialog to a mistake is useless — the user confirms, confidently, the wrong thing. Explaining the system better does not prevent a slip, because the user already knew.</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15</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Spitfire cockpit</a:t>
            </a:r>
            <a:endParaRPr lang="en-US" sz="2800" dirty="0"/>
          </a:p>
        </p:txBody>
      </p:sp>
      <p:sp>
        <p:nvSpPr>
          <p:cNvPr id="5" name="Shape 3"/>
          <p:cNvSpPr/>
          <p:nvPr/>
        </p:nvSpPr>
        <p:spPr>
          <a:xfrm>
            <a:off x="548640" y="1097280"/>
            <a:ext cx="8046720" cy="1371600"/>
          </a:xfrm>
          <a:prstGeom prst="rect">
            <a:avLst/>
          </a:prstGeom>
          <a:solidFill>
            <a:srgbClr val="F2F2F2"/>
          </a:solidFill>
          <a:ln w="9525">
            <a:solidFill>
              <a:srgbClr val="BFBFBF"/>
            </a:solidFill>
            <a:prstDash val="solid"/>
          </a:ln>
        </p:spPr>
      </p:sp>
      <p:sp>
        <p:nvSpPr>
          <p:cNvPr id="6" name="Text 4"/>
          <p:cNvSpPr txBox="1"/>
          <p:nvPr/>
        </p:nvSpPr>
        <p:spPr>
          <a:xfrm>
            <a:off x="777240" y="1234440"/>
            <a:ext cx="7589520" cy="1097280"/>
          </a:xfrm>
          <a:prstGeom prst="rect">
            <a:avLst/>
          </a:prstGeom>
          <a:noFill/>
          <a:ln/>
        </p:spPr>
        <p:txBody>
          <a:bodyPr wrap="square" lIns="0" tIns="0" rIns="0" bIns="0" rtlCol="0" anchor="ctr"/>
          <a:lstStyle/>
          <a:p>
            <a:pPr indent="0" marL="0">
              <a:lnSpc>
                <a:spcPct val="120000"/>
              </a:lnSpc>
              <a:buNone/>
            </a:pPr>
            <a:r>
              <a:rPr lang="en-US" sz="1300" dirty="0">
                <a:solidFill>
                  <a:srgbClr val="000000"/>
                </a:solidFill>
                <a:latin typeface="Times New Roman" pitchFamily="34" charset="0"/>
                <a:ea typeface="Times New Roman" pitchFamily="34" charset="-122"/>
                <a:cs typeface="Times New Roman" pitchFamily="34" charset="-120"/>
              </a:rPr>
              <a:t>During the Second World War a new cockpit design was introduced for Spitfires. The pilots were trained and flew successfully during training, but would unaccountably bail out when engaged in dog fights. The new design had exchanged the positions of the gun trigger and ejector controls. In the heat of battle the old responses resurfaced and the pilots ejected. Human error, yes — but the designer's error, not the pilot's.</a:t>
            </a:r>
            <a:endParaRPr lang="en-US" sz="1300" dirty="0"/>
          </a:p>
        </p:txBody>
      </p:sp>
      <p:sp>
        <p:nvSpPr>
          <p:cNvPr id="7" name="Text 5"/>
          <p:cNvSpPr txBox="1"/>
          <p:nvPr/>
        </p:nvSpPr>
        <p:spPr>
          <a:xfrm>
            <a:off x="548640" y="2697480"/>
            <a:ext cx="384048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Old cockpit — what the hands learned</a:t>
            </a:r>
            <a:endParaRPr lang="en-US" sz="1200" dirty="0"/>
          </a:p>
        </p:txBody>
      </p:sp>
      <p:sp>
        <p:nvSpPr>
          <p:cNvPr id="8" name="Shape 6"/>
          <p:cNvSpPr/>
          <p:nvPr/>
        </p:nvSpPr>
        <p:spPr>
          <a:xfrm>
            <a:off x="548640" y="3017520"/>
            <a:ext cx="3840480" cy="868680"/>
          </a:xfrm>
          <a:prstGeom prst="rect">
            <a:avLst/>
          </a:prstGeom>
          <a:solidFill>
            <a:srgbClr val="FFFFFF"/>
          </a:solidFill>
          <a:ln w="13970">
            <a:solidFill>
              <a:srgbClr val="404040"/>
            </a:solidFill>
            <a:prstDash val="solid"/>
          </a:ln>
        </p:spPr>
      </p:sp>
      <p:sp>
        <p:nvSpPr>
          <p:cNvPr id="9" name="Shape 7"/>
          <p:cNvSpPr/>
          <p:nvPr/>
        </p:nvSpPr>
        <p:spPr>
          <a:xfrm>
            <a:off x="777240" y="3200400"/>
            <a:ext cx="1600200" cy="502920"/>
          </a:xfrm>
          <a:prstGeom prst="rect">
            <a:avLst/>
          </a:prstGeom>
          <a:solidFill>
            <a:srgbClr val="F2F2F2"/>
          </a:solidFill>
          <a:ln w="10160">
            <a:solidFill>
              <a:srgbClr val="404040"/>
            </a:solidFill>
            <a:prstDash val="solid"/>
          </a:ln>
        </p:spPr>
      </p:sp>
      <p:sp>
        <p:nvSpPr>
          <p:cNvPr id="10" name="Text 8"/>
          <p:cNvSpPr txBox="1"/>
          <p:nvPr/>
        </p:nvSpPr>
        <p:spPr>
          <a:xfrm>
            <a:off x="777240" y="3200400"/>
            <a:ext cx="1600200" cy="50292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Gun trigger</a:t>
            </a:r>
            <a:endParaRPr lang="en-US" sz="1050" dirty="0"/>
          </a:p>
        </p:txBody>
      </p:sp>
      <p:sp>
        <p:nvSpPr>
          <p:cNvPr id="11" name="Shape 9"/>
          <p:cNvSpPr/>
          <p:nvPr/>
        </p:nvSpPr>
        <p:spPr>
          <a:xfrm>
            <a:off x="2560320" y="3200400"/>
            <a:ext cx="1600200" cy="502920"/>
          </a:xfrm>
          <a:prstGeom prst="rect">
            <a:avLst/>
          </a:prstGeom>
          <a:solidFill>
            <a:srgbClr val="F2F2F2"/>
          </a:solidFill>
          <a:ln w="10160">
            <a:solidFill>
              <a:srgbClr val="404040"/>
            </a:solidFill>
            <a:prstDash val="solid"/>
          </a:ln>
        </p:spPr>
      </p:sp>
      <p:sp>
        <p:nvSpPr>
          <p:cNvPr id="12" name="Text 10"/>
          <p:cNvSpPr txBox="1"/>
          <p:nvPr/>
        </p:nvSpPr>
        <p:spPr>
          <a:xfrm>
            <a:off x="2560320" y="3200400"/>
            <a:ext cx="1600200" cy="50292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Ejector</a:t>
            </a:r>
            <a:endParaRPr lang="en-US" sz="1050" dirty="0"/>
          </a:p>
        </p:txBody>
      </p:sp>
      <p:sp>
        <p:nvSpPr>
          <p:cNvPr id="13" name="Text 11"/>
          <p:cNvSpPr txBox="1"/>
          <p:nvPr/>
        </p:nvSpPr>
        <p:spPr>
          <a:xfrm>
            <a:off x="548640" y="3950208"/>
            <a:ext cx="3840480" cy="36576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Thousands of repetitions made this mapping automatic.</a:t>
            </a:r>
            <a:endParaRPr lang="en-US" sz="1000" dirty="0"/>
          </a:p>
        </p:txBody>
      </p:sp>
      <p:sp>
        <p:nvSpPr>
          <p:cNvPr id="14" name="Text 12"/>
          <p:cNvSpPr txBox="1"/>
          <p:nvPr/>
        </p:nvSpPr>
        <p:spPr>
          <a:xfrm>
            <a:off x="4754880" y="2697480"/>
            <a:ext cx="384048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Times New Roman" pitchFamily="34" charset="0"/>
                <a:ea typeface="Times New Roman" pitchFamily="34" charset="-122"/>
                <a:cs typeface="Times New Roman" pitchFamily="34" charset="-120"/>
              </a:rPr>
              <a:t>New cockpit — what the hands met</a:t>
            </a:r>
            <a:endParaRPr lang="en-US" sz="1200" dirty="0"/>
          </a:p>
        </p:txBody>
      </p:sp>
      <p:sp>
        <p:nvSpPr>
          <p:cNvPr id="15" name="Shape 13"/>
          <p:cNvSpPr/>
          <p:nvPr/>
        </p:nvSpPr>
        <p:spPr>
          <a:xfrm>
            <a:off x="4754880" y="3017520"/>
            <a:ext cx="3840480" cy="868680"/>
          </a:xfrm>
          <a:prstGeom prst="rect">
            <a:avLst/>
          </a:prstGeom>
          <a:solidFill>
            <a:srgbClr val="FFFFFF"/>
          </a:solidFill>
          <a:ln w="13970">
            <a:solidFill>
              <a:srgbClr val="404040"/>
            </a:solidFill>
            <a:prstDash val="solid"/>
          </a:ln>
        </p:spPr>
      </p:sp>
      <p:sp>
        <p:nvSpPr>
          <p:cNvPr id="16" name="Shape 14"/>
          <p:cNvSpPr/>
          <p:nvPr/>
        </p:nvSpPr>
        <p:spPr>
          <a:xfrm>
            <a:off x="4983480" y="3200400"/>
            <a:ext cx="1600200" cy="502920"/>
          </a:xfrm>
          <a:prstGeom prst="rect">
            <a:avLst/>
          </a:prstGeom>
          <a:solidFill>
            <a:srgbClr val="F2F2F2"/>
          </a:solidFill>
          <a:ln w="10160">
            <a:solidFill>
              <a:srgbClr val="404040"/>
            </a:solidFill>
            <a:prstDash val="solid"/>
          </a:ln>
        </p:spPr>
      </p:sp>
      <p:sp>
        <p:nvSpPr>
          <p:cNvPr id="17" name="Text 15"/>
          <p:cNvSpPr txBox="1"/>
          <p:nvPr/>
        </p:nvSpPr>
        <p:spPr>
          <a:xfrm>
            <a:off x="4983480" y="3200400"/>
            <a:ext cx="1600200" cy="50292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Ejector</a:t>
            </a:r>
            <a:endParaRPr lang="en-US" sz="1050" dirty="0"/>
          </a:p>
        </p:txBody>
      </p:sp>
      <p:sp>
        <p:nvSpPr>
          <p:cNvPr id="18" name="Shape 16"/>
          <p:cNvSpPr/>
          <p:nvPr/>
        </p:nvSpPr>
        <p:spPr>
          <a:xfrm>
            <a:off x="6766560" y="3200400"/>
            <a:ext cx="1600200" cy="502920"/>
          </a:xfrm>
          <a:prstGeom prst="rect">
            <a:avLst/>
          </a:prstGeom>
          <a:solidFill>
            <a:srgbClr val="F2F2F2"/>
          </a:solidFill>
          <a:ln w="10160">
            <a:solidFill>
              <a:srgbClr val="404040"/>
            </a:solidFill>
            <a:prstDash val="solid"/>
          </a:ln>
        </p:spPr>
      </p:sp>
      <p:sp>
        <p:nvSpPr>
          <p:cNvPr id="19" name="Text 17"/>
          <p:cNvSpPr txBox="1"/>
          <p:nvPr/>
        </p:nvSpPr>
        <p:spPr>
          <a:xfrm>
            <a:off x="6766560" y="3200400"/>
            <a:ext cx="1600200" cy="502920"/>
          </a:xfrm>
          <a:prstGeom prst="rect">
            <a:avLst/>
          </a:prstGeom>
          <a:no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Gun trigger</a:t>
            </a:r>
            <a:endParaRPr lang="en-US" sz="1050" dirty="0"/>
          </a:p>
        </p:txBody>
      </p:sp>
      <p:sp>
        <p:nvSpPr>
          <p:cNvPr id="20" name="Text 18"/>
          <p:cNvSpPr txBox="1"/>
          <p:nvPr/>
        </p:nvSpPr>
        <p:spPr>
          <a:xfrm>
            <a:off x="4754880" y="3950208"/>
            <a:ext cx="3840480" cy="36576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Under stress the automatic response ran anyway.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16</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What the Spitfire teaches</a:t>
            </a:r>
            <a:endParaRPr lang="en-US" sz="2800" dirty="0"/>
          </a:p>
        </p:txBody>
      </p:sp>
      <p:sp>
        <p:nvSpPr>
          <p:cNvPr id="5" name="Text 3"/>
          <p:cNvSpPr txBox="1"/>
          <p:nvPr/>
        </p:nvSpPr>
        <p:spPr>
          <a:xfrm>
            <a:off x="502920" y="1143000"/>
            <a:ext cx="8138160" cy="3246120"/>
          </a:xfrm>
          <a:prstGeom prst="rect">
            <a:avLst/>
          </a:prstGeom>
          <a:noFill/>
          <a:ln/>
        </p:spPr>
        <p:txBody>
          <a:bodyPr wrap="square" lIns="0" tIns="0" rIns="0" bIns="0" rtlCol="0" anchor="t"/>
          <a:lstStyle/>
          <a:p>
            <a:pPr marL="152400" indent="-152400">
              <a:lnSpc>
                <a:spcPct val="110000"/>
              </a:lnSpc>
              <a:spcAft>
                <a:spcPts val="900"/>
              </a:spcAft>
              <a:buSzPct val="100000"/>
              <a:buChar char="•"/>
            </a:pPr>
            <a:r>
              <a:rPr lang="en-US" sz="1350" b="1" dirty="0">
                <a:solidFill>
                  <a:srgbClr val="262626"/>
                </a:solidFill>
                <a:latin typeface="Times New Roman" pitchFamily="34" charset="0"/>
                <a:ea typeface="Times New Roman" pitchFamily="34" charset="-122"/>
                <a:cs typeface="Times New Roman" pitchFamily="34" charset="-120"/>
              </a:rPr>
              <a:t>A practised action becomes automatic, and automatic actions are not consulted.</a:t>
            </a:r>
            <a:endParaRPr lang="en-US" sz="1350" dirty="0"/>
          </a:p>
          <a:p>
            <a:pPr lvl="1" indent="0" marL="0">
              <a:lnSpc>
                <a:spcPct val="110000"/>
              </a:lnSpc>
              <a:spcAft>
                <a:spcPts val="900"/>
              </a:spcAft>
              <a:buNone/>
            </a:pPr>
            <a:r>
              <a:rPr lang="en-US" sz="1150" dirty="0">
                <a:solidFill>
                  <a:srgbClr val="595959"/>
                </a:solidFill>
                <a:latin typeface="Times New Roman" pitchFamily="34" charset="0"/>
                <a:ea typeface="Times New Roman" pitchFamily="34" charset="-122"/>
                <a:cs typeface="Times New Roman" pitchFamily="34" charset="-120"/>
              </a:rPr>
              <a:t>Skill acquisition moves control from deliberate thought to a learned motor programme. That is what makes experts fast — and it is what makes them unable to inhibit the old action when the layout changes.</a:t>
            </a:r>
            <a:endParaRPr lang="en-US" sz="1350" dirty="0"/>
          </a:p>
          <a:p>
            <a:pPr marL="152400" indent="-152400">
              <a:lnSpc>
                <a:spcPct val="110000"/>
              </a:lnSpc>
              <a:spcAft>
                <a:spcPts val="900"/>
              </a:spcAft>
              <a:buSzPct val="100000"/>
              <a:buChar char="•"/>
            </a:pPr>
            <a:r>
              <a:rPr lang="en-US" sz="1350" b="1" dirty="0">
                <a:solidFill>
                  <a:srgbClr val="262626"/>
                </a:solidFill>
                <a:latin typeface="Times New Roman" pitchFamily="34" charset="0"/>
                <a:ea typeface="Times New Roman" pitchFamily="34" charset="-122"/>
                <a:cs typeface="Times New Roman" pitchFamily="34" charset="-120"/>
              </a:rPr>
              <a:t>Stress narrows attention and returns the user to the oldest response available.</a:t>
            </a:r>
            <a:endParaRPr lang="en-US" sz="1350" dirty="0"/>
          </a:p>
          <a:p>
            <a:pPr lvl="1" indent="0" marL="0">
              <a:lnSpc>
                <a:spcPct val="110000"/>
              </a:lnSpc>
              <a:spcAft>
                <a:spcPts val="900"/>
              </a:spcAft>
              <a:buNone/>
            </a:pPr>
            <a:r>
              <a:rPr lang="en-US" sz="1150" dirty="0">
                <a:solidFill>
                  <a:srgbClr val="595959"/>
                </a:solidFill>
                <a:latin typeface="Times New Roman" pitchFamily="34" charset="0"/>
                <a:ea typeface="Times New Roman" pitchFamily="34" charset="-122"/>
                <a:cs typeface="Times New Roman" pitchFamily="34" charset="-120"/>
              </a:rPr>
              <a:t>Behaviour observed in calm training does not predict behaviour under load. Testing only with unhurried users will hide exactly this class of failure.</a:t>
            </a:r>
            <a:endParaRPr lang="en-US" sz="1350" dirty="0"/>
          </a:p>
          <a:p>
            <a:pPr marL="152400" indent="-152400">
              <a:lnSpc>
                <a:spcPct val="110000"/>
              </a:lnSpc>
              <a:spcAft>
                <a:spcPts val="900"/>
              </a:spcAft>
              <a:buSzPct val="100000"/>
              <a:buChar char="•"/>
            </a:pPr>
            <a:r>
              <a:rPr lang="en-US" sz="1350" b="1" dirty="0">
                <a:solidFill>
                  <a:srgbClr val="262626"/>
                </a:solidFill>
                <a:latin typeface="Times New Roman" pitchFamily="34" charset="0"/>
                <a:ea typeface="Times New Roman" pitchFamily="34" charset="-122"/>
                <a:cs typeface="Times New Roman" pitchFamily="34" charset="-120"/>
              </a:rPr>
              <a:t>Consistency is a safety property, not a matter of taste.</a:t>
            </a:r>
            <a:endParaRPr lang="en-US" sz="1350" dirty="0"/>
          </a:p>
          <a:p>
            <a:pPr lvl="1" indent="0" marL="0">
              <a:lnSpc>
                <a:spcPct val="110000"/>
              </a:lnSpc>
              <a:spcAft>
                <a:spcPts val="900"/>
              </a:spcAft>
              <a:buNone/>
            </a:pPr>
            <a:r>
              <a:rPr lang="en-US" sz="1150" dirty="0">
                <a:solidFill>
                  <a:srgbClr val="595959"/>
                </a:solidFill>
                <a:latin typeface="Times New Roman" pitchFamily="34" charset="0"/>
                <a:ea typeface="Times New Roman" pitchFamily="34" charset="-122"/>
                <a:cs typeface="Times New Roman" pitchFamily="34" charset="-120"/>
              </a:rPr>
              <a:t>Moving a control that users have already learned imposes a cost they cannot pay by trying harder. If it must move, it must look different, feel different, or be guarded.</a:t>
            </a:r>
            <a:endParaRPr lang="en-US" sz="1350" dirty="0"/>
          </a:p>
          <a:p>
            <a:pPr marL="152400" indent="-152400">
              <a:lnSpc>
                <a:spcPct val="110000"/>
              </a:lnSpc>
              <a:spcAft>
                <a:spcPts val="900"/>
              </a:spcAft>
              <a:buSzPct val="100000"/>
              <a:buChar char="•"/>
            </a:pPr>
            <a:r>
              <a:rPr lang="en-US" sz="1350" b="1" dirty="0">
                <a:solidFill>
                  <a:srgbClr val="262626"/>
                </a:solidFill>
                <a:latin typeface="Times New Roman" pitchFamily="34" charset="0"/>
                <a:ea typeface="Times New Roman" pitchFamily="34" charset="-122"/>
                <a:cs typeface="Times New Roman" pitchFamily="34" charset="-120"/>
              </a:rPr>
              <a:t>The label 'human error' usually ends an investigation that should have continued.</a:t>
            </a:r>
            <a:endParaRPr lang="en-US" sz="1350" dirty="0"/>
          </a:p>
          <a:p>
            <a:pPr lvl="1" indent="0" marL="0">
              <a:lnSpc>
                <a:spcPct val="110000"/>
              </a:lnSpc>
              <a:spcAft>
                <a:spcPts val="900"/>
              </a:spcAft>
              <a:buNone/>
            </a:pPr>
            <a:r>
              <a:rPr lang="en-US" sz="1150" dirty="0">
                <a:solidFill>
                  <a:srgbClr val="595959"/>
                </a:solidFill>
                <a:latin typeface="Times New Roman" pitchFamily="34" charset="0"/>
                <a:ea typeface="Times New Roman" pitchFamily="34" charset="-122"/>
                <a:cs typeface="Times New Roman" pitchFamily="34" charset="-120"/>
              </a:rPr>
              <a:t>The pilots did exactly what they had been trained to do. Ask what the design made likely, not what the person did wrong.</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17</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Chapter 1 at a glance</a:t>
            </a:r>
            <a:endParaRPr lang="en-US" sz="2800" dirty="0"/>
          </a:p>
        </p:txBody>
      </p:sp>
      <p:sp>
        <p:nvSpPr>
          <p:cNvPr id="5" name="Shape 3"/>
          <p:cNvSpPr/>
          <p:nvPr/>
        </p:nvSpPr>
        <p:spPr>
          <a:xfrm>
            <a:off x="502920" y="1188720"/>
            <a:ext cx="2514600" cy="2286000"/>
          </a:xfrm>
          <a:prstGeom prst="rect">
            <a:avLst/>
          </a:prstGeom>
          <a:solidFill>
            <a:srgbClr val="F2F2F2"/>
          </a:solidFill>
          <a:ln w="9525">
            <a:solidFill>
              <a:srgbClr val="BFBFBF"/>
            </a:solidFill>
            <a:prstDash val="solid"/>
          </a:ln>
        </p:spPr>
      </p:sp>
      <p:sp>
        <p:nvSpPr>
          <p:cNvPr id="6" name="Text 4"/>
          <p:cNvSpPr txBox="1"/>
          <p:nvPr/>
        </p:nvSpPr>
        <p:spPr>
          <a:xfrm>
            <a:off x="640080" y="1280160"/>
            <a:ext cx="224028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Memory</a:t>
            </a:r>
            <a:endParaRPr lang="en-US" sz="1400" dirty="0"/>
          </a:p>
        </p:txBody>
      </p:sp>
      <p:sp>
        <p:nvSpPr>
          <p:cNvPr id="7" name="Text 5"/>
          <p:cNvSpPr txBox="1"/>
          <p:nvPr/>
        </p:nvSpPr>
        <p:spPr>
          <a:xfrm>
            <a:off x="640080" y="1627632"/>
            <a:ext cx="2240280" cy="173736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Short-term (STM)</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Long-term (LTM)</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Sensory: iconic (vision)</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Sensory: echoic (hearing)</a:t>
            </a:r>
            <a:endParaRPr lang="en-US" sz="1100" dirty="0"/>
          </a:p>
        </p:txBody>
      </p:sp>
      <p:sp>
        <p:nvSpPr>
          <p:cNvPr id="8" name="Shape 6"/>
          <p:cNvSpPr/>
          <p:nvPr/>
        </p:nvSpPr>
        <p:spPr>
          <a:xfrm>
            <a:off x="3337560" y="1188720"/>
            <a:ext cx="2514600" cy="2286000"/>
          </a:xfrm>
          <a:prstGeom prst="rect">
            <a:avLst/>
          </a:prstGeom>
          <a:solidFill>
            <a:srgbClr val="F2F2F2"/>
          </a:solidFill>
          <a:ln w="9525">
            <a:solidFill>
              <a:srgbClr val="BFBFBF"/>
            </a:solidFill>
            <a:prstDash val="solid"/>
          </a:ln>
        </p:spPr>
      </p:sp>
      <p:sp>
        <p:nvSpPr>
          <p:cNvPr id="9" name="Text 7"/>
          <p:cNvSpPr txBox="1"/>
          <p:nvPr/>
        </p:nvSpPr>
        <p:spPr>
          <a:xfrm>
            <a:off x="3474720" y="1280160"/>
            <a:ext cx="224028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Thinking</a:t>
            </a:r>
            <a:endParaRPr lang="en-US" sz="1400" dirty="0"/>
          </a:p>
        </p:txBody>
      </p:sp>
      <p:sp>
        <p:nvSpPr>
          <p:cNvPr id="10" name="Text 8"/>
          <p:cNvSpPr txBox="1"/>
          <p:nvPr/>
        </p:nvSpPr>
        <p:spPr>
          <a:xfrm>
            <a:off x="3474720" y="1627632"/>
            <a:ext cx="2240280" cy="173736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Problem solving: Gestalt,</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problem space, analogy</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Mental models</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Reasoning: deductive,</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inductive, abductive</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Skill acquisition</a:t>
            </a:r>
            <a:endParaRPr lang="en-US" sz="1100" dirty="0"/>
          </a:p>
        </p:txBody>
      </p:sp>
      <p:sp>
        <p:nvSpPr>
          <p:cNvPr id="11" name="Shape 9"/>
          <p:cNvSpPr/>
          <p:nvPr/>
        </p:nvSpPr>
        <p:spPr>
          <a:xfrm>
            <a:off x="6172200" y="1188720"/>
            <a:ext cx="2514600" cy="2286000"/>
          </a:xfrm>
          <a:prstGeom prst="rect">
            <a:avLst/>
          </a:prstGeom>
          <a:solidFill>
            <a:srgbClr val="F2F2F2"/>
          </a:solidFill>
          <a:ln w="9525">
            <a:solidFill>
              <a:srgbClr val="BFBFBF"/>
            </a:solidFill>
            <a:prstDash val="solid"/>
          </a:ln>
        </p:spPr>
      </p:sp>
      <p:sp>
        <p:nvSpPr>
          <p:cNvPr id="12" name="Text 10"/>
          <p:cNvSpPr txBox="1"/>
          <p:nvPr/>
        </p:nvSpPr>
        <p:spPr>
          <a:xfrm>
            <a:off x="6309360" y="1280160"/>
            <a:ext cx="224028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Psychology</a:t>
            </a:r>
            <a:endParaRPr lang="en-US" sz="1400" dirty="0"/>
          </a:p>
        </p:txBody>
      </p:sp>
      <p:sp>
        <p:nvSpPr>
          <p:cNvPr id="13" name="Text 11"/>
          <p:cNvSpPr txBox="1"/>
          <p:nvPr/>
        </p:nvSpPr>
        <p:spPr>
          <a:xfrm>
            <a:off x="6309360" y="1627632"/>
            <a:ext cx="2240280" cy="173736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Perception</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Attention</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Emotion</a:t>
            </a: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Individual differences</a:t>
            </a:r>
            <a:endParaRPr lang="en-US" sz="1100" dirty="0"/>
          </a:p>
        </p:txBody>
      </p:sp>
      <p:sp>
        <p:nvSpPr>
          <p:cNvPr id="14" name="Text 12"/>
          <p:cNvSpPr txBox="1"/>
          <p:nvPr/>
        </p:nvSpPr>
        <p:spPr>
          <a:xfrm>
            <a:off x="502920" y="3657600"/>
            <a:ext cx="8138160" cy="77724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These are the contents of the chapter. Listed like this they are a syllabus — a flat set of terms to be memorised. Represented as a network of relationships they become something you can reason with, which is the point of the task on the next two slides.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18</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Semantic networks: how knowledge is organised</a:t>
            </a:r>
            <a:endParaRPr lang="en-US" sz="2800" dirty="0"/>
          </a:p>
        </p:txBody>
      </p:sp>
      <p:sp>
        <p:nvSpPr>
          <p:cNvPr id="5" name="Text 3"/>
          <p:cNvSpPr txBox="1"/>
          <p:nvPr/>
        </p:nvSpPr>
        <p:spPr>
          <a:xfrm>
            <a:off x="502920" y="1097280"/>
            <a:ext cx="4206240" cy="210312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One influential account of long-term memory holds that concepts are stored as nodes linked by labelled relationships, not as isolated facts.</a:t>
            </a:r>
            <a:endParaRPr lang="en-US" sz="1250" dirty="0"/>
          </a:p>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Retrieval spreads along the links: activating one node makes its neighbours easier to reach. That is why a well-structured explanation is easier to recall than an equally long list.</a:t>
            </a:r>
            <a:endParaRPr lang="en-US" sz="1250" dirty="0"/>
          </a:p>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It is also why drawing the structure yourself is a better revision technique than re-reading the chapter.</a:t>
            </a:r>
            <a:endParaRPr lang="en-US" sz="1250" dirty="0"/>
          </a:p>
        </p:txBody>
      </p:sp>
      <p:sp>
        <p:nvSpPr>
          <p:cNvPr id="6" name="Text 4"/>
          <p:cNvSpPr txBox="1"/>
          <p:nvPr/>
        </p:nvSpPr>
        <p:spPr>
          <a:xfrm>
            <a:off x="4937760" y="1097280"/>
            <a:ext cx="370332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A fragment, to show the form</a:t>
            </a:r>
            <a:endParaRPr lang="en-US" sz="1100" dirty="0"/>
          </a:p>
        </p:txBody>
      </p:sp>
      <p:sp>
        <p:nvSpPr>
          <p:cNvPr id="7" name="Text 5"/>
          <p:cNvSpPr txBox="1"/>
          <p:nvPr/>
        </p:nvSpPr>
        <p:spPr>
          <a:xfrm>
            <a:off x="6309360" y="1481328"/>
            <a:ext cx="1188720" cy="237744"/>
          </a:xfrm>
          <a:prstGeom prst="rect">
            <a:avLst/>
          </a:prstGeom>
          <a:solidFill>
            <a:srgbClr val="FFFFFF"/>
          </a:solidFill>
          <a:ln/>
        </p:spPr>
        <p:txBody>
          <a:bodyPr wrap="square" lIns="0" tIns="0" rIns="0" bIns="0" rtlCol="0" anchor="ct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Memory</a:t>
            </a:r>
            <a:endParaRPr lang="en-US" sz="1050" dirty="0"/>
          </a:p>
        </p:txBody>
      </p:sp>
      <p:sp>
        <p:nvSpPr>
          <p:cNvPr id="8" name="Text 6"/>
          <p:cNvSpPr txBox="1"/>
          <p:nvPr/>
        </p:nvSpPr>
        <p:spPr>
          <a:xfrm>
            <a:off x="5029200" y="2258568"/>
            <a:ext cx="91440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STM</a:t>
            </a:r>
            <a:endParaRPr lang="en-US" sz="1050" dirty="0"/>
          </a:p>
        </p:txBody>
      </p:sp>
      <p:sp>
        <p:nvSpPr>
          <p:cNvPr id="9" name="Text 7"/>
          <p:cNvSpPr txBox="1"/>
          <p:nvPr/>
        </p:nvSpPr>
        <p:spPr>
          <a:xfrm>
            <a:off x="6263640" y="2258568"/>
            <a:ext cx="105156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LTM</a:t>
            </a:r>
            <a:endParaRPr lang="en-US" sz="1050" dirty="0"/>
          </a:p>
        </p:txBody>
      </p:sp>
      <p:sp>
        <p:nvSpPr>
          <p:cNvPr id="10" name="Text 8"/>
          <p:cNvSpPr txBox="1"/>
          <p:nvPr/>
        </p:nvSpPr>
        <p:spPr>
          <a:xfrm>
            <a:off x="7452360" y="2258568"/>
            <a:ext cx="114300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Sensory</a:t>
            </a:r>
            <a:endParaRPr lang="en-US" sz="1050" dirty="0"/>
          </a:p>
        </p:txBody>
      </p:sp>
      <p:sp>
        <p:nvSpPr>
          <p:cNvPr id="11" name="Shape 9"/>
          <p:cNvSpPr/>
          <p:nvPr/>
        </p:nvSpPr>
        <p:spPr>
          <a:xfrm flipH="1">
            <a:off x="5486400" y="1737360"/>
            <a:ext cx="1005840" cy="521208"/>
          </a:xfrm>
          <a:prstGeom prst="line">
            <a:avLst/>
          </a:prstGeom>
          <a:noFill/>
          <a:ln w="12700">
            <a:solidFill>
              <a:srgbClr val="BFBFBF"/>
            </a:solidFill>
            <a:prstDash val="solid"/>
          </a:ln>
        </p:spPr>
      </p:sp>
      <p:sp>
        <p:nvSpPr>
          <p:cNvPr id="12" name="Shape 10"/>
          <p:cNvSpPr/>
          <p:nvPr/>
        </p:nvSpPr>
        <p:spPr>
          <a:xfrm flipH="1">
            <a:off x="6784848" y="1737360"/>
            <a:ext cx="118872" cy="521208"/>
          </a:xfrm>
          <a:prstGeom prst="line">
            <a:avLst/>
          </a:prstGeom>
          <a:noFill/>
          <a:ln w="12700">
            <a:solidFill>
              <a:srgbClr val="BFBFBF"/>
            </a:solidFill>
            <a:prstDash val="solid"/>
          </a:ln>
        </p:spPr>
      </p:sp>
      <p:sp>
        <p:nvSpPr>
          <p:cNvPr id="13" name="Shape 11"/>
          <p:cNvSpPr/>
          <p:nvPr/>
        </p:nvSpPr>
        <p:spPr>
          <a:xfrm>
            <a:off x="7315200" y="1737360"/>
            <a:ext cx="548640" cy="521208"/>
          </a:xfrm>
          <a:prstGeom prst="line">
            <a:avLst/>
          </a:prstGeom>
          <a:noFill/>
          <a:ln w="12700">
            <a:solidFill>
              <a:srgbClr val="BFBFBF"/>
            </a:solidFill>
            <a:prstDash val="solid"/>
          </a:ln>
        </p:spPr>
      </p:sp>
      <p:sp>
        <p:nvSpPr>
          <p:cNvPr id="14" name="Text 12"/>
          <p:cNvSpPr txBox="1"/>
          <p:nvPr/>
        </p:nvSpPr>
        <p:spPr>
          <a:xfrm>
            <a:off x="7132320" y="3035808"/>
            <a:ext cx="91440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Iconic</a:t>
            </a:r>
            <a:endParaRPr lang="en-US" sz="1050" dirty="0"/>
          </a:p>
        </p:txBody>
      </p:sp>
      <p:sp>
        <p:nvSpPr>
          <p:cNvPr id="15" name="Text 13"/>
          <p:cNvSpPr txBox="1"/>
          <p:nvPr/>
        </p:nvSpPr>
        <p:spPr>
          <a:xfrm>
            <a:off x="8138160" y="3035808"/>
            <a:ext cx="91440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Echoic</a:t>
            </a:r>
            <a:endParaRPr lang="en-US" sz="1050" dirty="0"/>
          </a:p>
        </p:txBody>
      </p:sp>
      <p:sp>
        <p:nvSpPr>
          <p:cNvPr id="16" name="Shape 14"/>
          <p:cNvSpPr/>
          <p:nvPr/>
        </p:nvSpPr>
        <p:spPr>
          <a:xfrm flipH="1">
            <a:off x="7589520" y="2496312"/>
            <a:ext cx="274320" cy="539496"/>
          </a:xfrm>
          <a:prstGeom prst="line">
            <a:avLst/>
          </a:prstGeom>
          <a:noFill/>
          <a:ln w="12700">
            <a:solidFill>
              <a:srgbClr val="BFBFBF"/>
            </a:solidFill>
            <a:prstDash val="solid"/>
          </a:ln>
        </p:spPr>
      </p:sp>
      <p:sp>
        <p:nvSpPr>
          <p:cNvPr id="17" name="Shape 15"/>
          <p:cNvSpPr/>
          <p:nvPr/>
        </p:nvSpPr>
        <p:spPr>
          <a:xfrm>
            <a:off x="8138160" y="2496312"/>
            <a:ext cx="365760" cy="539496"/>
          </a:xfrm>
          <a:prstGeom prst="line">
            <a:avLst/>
          </a:prstGeom>
          <a:noFill/>
          <a:ln w="12700">
            <a:solidFill>
              <a:srgbClr val="BFBFBF"/>
            </a:solidFill>
            <a:prstDash val="solid"/>
          </a:ln>
        </p:spPr>
      </p:sp>
      <p:sp>
        <p:nvSpPr>
          <p:cNvPr id="18" name="Shape 16"/>
          <p:cNvSpPr/>
          <p:nvPr/>
        </p:nvSpPr>
        <p:spPr>
          <a:xfrm>
            <a:off x="4937760" y="3611880"/>
            <a:ext cx="3703320" cy="731520"/>
          </a:xfrm>
          <a:prstGeom prst="rect">
            <a:avLst/>
          </a:prstGeom>
          <a:solidFill>
            <a:srgbClr val="F2F2F2"/>
          </a:solidFill>
          <a:ln w="9525">
            <a:solidFill>
              <a:srgbClr val="BFBFBF"/>
            </a:solidFill>
            <a:prstDash val="solid"/>
          </a:ln>
        </p:spPr>
      </p:sp>
      <p:sp>
        <p:nvSpPr>
          <p:cNvPr id="19" name="Text 17"/>
          <p:cNvSpPr txBox="1"/>
          <p:nvPr/>
        </p:nvSpPr>
        <p:spPr>
          <a:xfrm>
            <a:off x="5074920" y="3721608"/>
            <a:ext cx="3429000" cy="502920"/>
          </a:xfrm>
          <a:prstGeom prst="rect">
            <a:avLst/>
          </a:prstGeom>
          <a:noFill/>
          <a:ln/>
        </p:spPr>
        <p:txBody>
          <a:bodyPr wrap="square" lIns="0" tIns="0" rIns="0" bIns="0" rtlCol="0" anchor="t"/>
          <a:lstStyle/>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Nodes are concepts. Links are relationships. Depth shows subordination.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19</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Chapter 1 semantic network</a:t>
            </a:r>
            <a:endParaRPr lang="en-US" sz="2800" dirty="0"/>
          </a:p>
        </p:txBody>
      </p:sp>
      <p:sp>
        <p:nvSpPr>
          <p:cNvPr id="5" name="Text 3"/>
          <p:cNvSpPr txBox="1"/>
          <p:nvPr/>
        </p:nvSpPr>
        <p:spPr>
          <a:xfrm>
            <a:off x="320040" y="1298448"/>
            <a:ext cx="73152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STM</a:t>
            </a:r>
            <a:endParaRPr lang="en-US" sz="1050" dirty="0"/>
          </a:p>
        </p:txBody>
      </p:sp>
      <p:sp>
        <p:nvSpPr>
          <p:cNvPr id="6" name="Text 4"/>
          <p:cNvSpPr txBox="1"/>
          <p:nvPr/>
        </p:nvSpPr>
        <p:spPr>
          <a:xfrm>
            <a:off x="320040" y="1847088"/>
            <a:ext cx="73152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LTM</a:t>
            </a:r>
            <a:endParaRPr lang="en-US" sz="1050" dirty="0"/>
          </a:p>
        </p:txBody>
      </p:sp>
      <p:sp>
        <p:nvSpPr>
          <p:cNvPr id="7" name="Text 5"/>
          <p:cNvSpPr txBox="1"/>
          <p:nvPr/>
        </p:nvSpPr>
        <p:spPr>
          <a:xfrm>
            <a:off x="1325880" y="1572768"/>
            <a:ext cx="1051560" cy="237744"/>
          </a:xfrm>
          <a:prstGeom prst="rect">
            <a:avLst/>
          </a:prstGeom>
          <a:solidFill>
            <a:srgbClr val="FFFFFF"/>
          </a:solidFill>
          <a:ln/>
        </p:spPr>
        <p:txBody>
          <a:bodyPr wrap="square" lIns="0" tIns="0" rIns="0" bIns="0" rtlCol="0" anchor="ct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Memory</a:t>
            </a:r>
            <a:endParaRPr lang="en-US" sz="1050" dirty="0"/>
          </a:p>
        </p:txBody>
      </p:sp>
      <p:sp>
        <p:nvSpPr>
          <p:cNvPr id="8" name="Shape 6"/>
          <p:cNvSpPr/>
          <p:nvPr/>
        </p:nvSpPr>
        <p:spPr>
          <a:xfrm>
            <a:off x="1051560" y="1463040"/>
            <a:ext cx="274320" cy="201168"/>
          </a:xfrm>
          <a:prstGeom prst="line">
            <a:avLst/>
          </a:prstGeom>
          <a:noFill/>
          <a:ln w="12700">
            <a:solidFill>
              <a:srgbClr val="BFBFBF"/>
            </a:solidFill>
            <a:prstDash val="solid"/>
          </a:ln>
        </p:spPr>
      </p:sp>
      <p:sp>
        <p:nvSpPr>
          <p:cNvPr id="9" name="Shape 7"/>
          <p:cNvSpPr/>
          <p:nvPr/>
        </p:nvSpPr>
        <p:spPr>
          <a:xfrm flipV="1">
            <a:off x="1051560" y="1755648"/>
            <a:ext cx="274320" cy="192024"/>
          </a:xfrm>
          <a:prstGeom prst="line">
            <a:avLst/>
          </a:prstGeom>
          <a:noFill/>
          <a:ln w="12700">
            <a:solidFill>
              <a:srgbClr val="BFBFBF"/>
            </a:solidFill>
            <a:prstDash val="solid"/>
          </a:ln>
        </p:spPr>
      </p:sp>
      <p:sp>
        <p:nvSpPr>
          <p:cNvPr id="10" name="Text 8"/>
          <p:cNvSpPr txBox="1"/>
          <p:nvPr/>
        </p:nvSpPr>
        <p:spPr>
          <a:xfrm>
            <a:off x="1234440" y="2395728"/>
            <a:ext cx="105156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Sensory</a:t>
            </a:r>
            <a:endParaRPr lang="en-US" sz="1050" dirty="0"/>
          </a:p>
        </p:txBody>
      </p:sp>
      <p:sp>
        <p:nvSpPr>
          <p:cNvPr id="11" name="Shape 9"/>
          <p:cNvSpPr/>
          <p:nvPr/>
        </p:nvSpPr>
        <p:spPr>
          <a:xfrm flipH="1">
            <a:off x="1755648" y="1819656"/>
            <a:ext cx="27432" cy="576072"/>
          </a:xfrm>
          <a:prstGeom prst="line">
            <a:avLst/>
          </a:prstGeom>
          <a:noFill/>
          <a:ln w="12700">
            <a:solidFill>
              <a:srgbClr val="BFBFBF"/>
            </a:solidFill>
            <a:prstDash val="solid"/>
          </a:ln>
        </p:spPr>
      </p:sp>
      <p:sp>
        <p:nvSpPr>
          <p:cNvPr id="12" name="Text 10"/>
          <p:cNvSpPr txBox="1"/>
          <p:nvPr/>
        </p:nvSpPr>
        <p:spPr>
          <a:xfrm>
            <a:off x="365760" y="3081528"/>
            <a:ext cx="82296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Iconic</a:t>
            </a:r>
            <a:endParaRPr lang="en-US" sz="1050" dirty="0"/>
          </a:p>
        </p:txBody>
      </p:sp>
      <p:sp>
        <p:nvSpPr>
          <p:cNvPr id="13" name="Text 11"/>
          <p:cNvSpPr txBox="1"/>
          <p:nvPr/>
        </p:nvSpPr>
        <p:spPr>
          <a:xfrm>
            <a:off x="2148840" y="3081528"/>
            <a:ext cx="82296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Echoic</a:t>
            </a:r>
            <a:endParaRPr lang="en-US" sz="1050" dirty="0"/>
          </a:p>
        </p:txBody>
      </p:sp>
      <p:sp>
        <p:nvSpPr>
          <p:cNvPr id="14" name="Shape 12"/>
          <p:cNvSpPr/>
          <p:nvPr/>
        </p:nvSpPr>
        <p:spPr>
          <a:xfrm flipH="1">
            <a:off x="822960" y="2633472"/>
            <a:ext cx="777240" cy="448056"/>
          </a:xfrm>
          <a:prstGeom prst="line">
            <a:avLst/>
          </a:prstGeom>
          <a:noFill/>
          <a:ln w="12700">
            <a:solidFill>
              <a:srgbClr val="BFBFBF"/>
            </a:solidFill>
            <a:prstDash val="solid"/>
          </a:ln>
        </p:spPr>
      </p:sp>
      <p:sp>
        <p:nvSpPr>
          <p:cNvPr id="15" name="Shape 13"/>
          <p:cNvSpPr/>
          <p:nvPr/>
        </p:nvSpPr>
        <p:spPr>
          <a:xfrm>
            <a:off x="1965960" y="2633472"/>
            <a:ext cx="548640" cy="448056"/>
          </a:xfrm>
          <a:prstGeom prst="line">
            <a:avLst/>
          </a:prstGeom>
          <a:noFill/>
          <a:ln w="12700">
            <a:solidFill>
              <a:srgbClr val="BFBFBF"/>
            </a:solidFill>
            <a:prstDash val="solid"/>
          </a:ln>
        </p:spPr>
      </p:sp>
      <p:sp>
        <p:nvSpPr>
          <p:cNvPr id="16" name="Text 14"/>
          <p:cNvSpPr txBox="1"/>
          <p:nvPr/>
        </p:nvSpPr>
        <p:spPr>
          <a:xfrm>
            <a:off x="685800" y="3767328"/>
            <a:ext cx="86868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Vision</a:t>
            </a:r>
            <a:endParaRPr lang="en-US" sz="1050" dirty="0"/>
          </a:p>
        </p:txBody>
      </p:sp>
      <p:sp>
        <p:nvSpPr>
          <p:cNvPr id="17" name="Text 15"/>
          <p:cNvSpPr txBox="1"/>
          <p:nvPr/>
        </p:nvSpPr>
        <p:spPr>
          <a:xfrm>
            <a:off x="1828800" y="3767328"/>
            <a:ext cx="96012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Hearing</a:t>
            </a:r>
            <a:endParaRPr lang="en-US" sz="1050" dirty="0"/>
          </a:p>
        </p:txBody>
      </p:sp>
      <p:sp>
        <p:nvSpPr>
          <p:cNvPr id="18" name="Shape 16"/>
          <p:cNvSpPr/>
          <p:nvPr/>
        </p:nvSpPr>
        <p:spPr>
          <a:xfrm>
            <a:off x="777240" y="3319272"/>
            <a:ext cx="320040" cy="448056"/>
          </a:xfrm>
          <a:prstGeom prst="line">
            <a:avLst/>
          </a:prstGeom>
          <a:noFill/>
          <a:ln w="12700">
            <a:solidFill>
              <a:srgbClr val="BFBFBF"/>
            </a:solidFill>
            <a:prstDash val="solid"/>
          </a:ln>
        </p:spPr>
      </p:sp>
      <p:sp>
        <p:nvSpPr>
          <p:cNvPr id="19" name="Shape 17"/>
          <p:cNvSpPr/>
          <p:nvPr/>
        </p:nvSpPr>
        <p:spPr>
          <a:xfrm flipH="1">
            <a:off x="2286000" y="3319272"/>
            <a:ext cx="274320" cy="448056"/>
          </a:xfrm>
          <a:prstGeom prst="line">
            <a:avLst/>
          </a:prstGeom>
          <a:noFill/>
          <a:ln w="12700">
            <a:solidFill>
              <a:srgbClr val="BFBFBF"/>
            </a:solidFill>
            <a:prstDash val="solid"/>
          </a:ln>
        </p:spPr>
      </p:sp>
      <p:sp>
        <p:nvSpPr>
          <p:cNvPr id="20" name="Text 18"/>
          <p:cNvSpPr txBox="1"/>
          <p:nvPr/>
        </p:nvSpPr>
        <p:spPr>
          <a:xfrm>
            <a:off x="320040" y="4315968"/>
            <a:ext cx="114300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Perception</a:t>
            </a:r>
            <a:endParaRPr lang="en-US" sz="1050" dirty="0"/>
          </a:p>
        </p:txBody>
      </p:sp>
      <p:sp>
        <p:nvSpPr>
          <p:cNvPr id="21" name="Shape 19"/>
          <p:cNvSpPr/>
          <p:nvPr/>
        </p:nvSpPr>
        <p:spPr>
          <a:xfrm flipH="1">
            <a:off x="868680" y="4005072"/>
            <a:ext cx="91440" cy="310896"/>
          </a:xfrm>
          <a:prstGeom prst="line">
            <a:avLst/>
          </a:prstGeom>
          <a:noFill/>
          <a:ln w="12700">
            <a:solidFill>
              <a:srgbClr val="BFBFBF"/>
            </a:solidFill>
            <a:prstDash val="solid"/>
          </a:ln>
        </p:spPr>
      </p:sp>
      <p:sp>
        <p:nvSpPr>
          <p:cNvPr id="22" name="Shape 20"/>
          <p:cNvSpPr/>
          <p:nvPr/>
        </p:nvSpPr>
        <p:spPr>
          <a:xfrm flipH="1">
            <a:off x="1371600" y="4005072"/>
            <a:ext cx="731520" cy="347472"/>
          </a:xfrm>
          <a:prstGeom prst="line">
            <a:avLst/>
          </a:prstGeom>
          <a:noFill/>
          <a:ln w="12700">
            <a:solidFill>
              <a:srgbClr val="BFBFBF"/>
            </a:solidFill>
            <a:prstDash val="solid"/>
          </a:ln>
        </p:spPr>
      </p:sp>
      <p:sp>
        <p:nvSpPr>
          <p:cNvPr id="23" name="Text 21"/>
          <p:cNvSpPr txBox="1"/>
          <p:nvPr/>
        </p:nvSpPr>
        <p:spPr>
          <a:xfrm>
            <a:off x="3429000" y="3127248"/>
            <a:ext cx="1188720" cy="237744"/>
          </a:xfrm>
          <a:prstGeom prst="rect">
            <a:avLst/>
          </a:prstGeom>
          <a:solidFill>
            <a:srgbClr val="FFFFFF"/>
          </a:solidFill>
          <a:ln/>
        </p:spPr>
        <p:txBody>
          <a:bodyPr wrap="square" lIns="0" tIns="0" rIns="0" bIns="0" rtlCol="0" anchor="ct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Cognition</a:t>
            </a:r>
            <a:endParaRPr lang="en-US" sz="1050" dirty="0"/>
          </a:p>
        </p:txBody>
      </p:sp>
      <p:sp>
        <p:nvSpPr>
          <p:cNvPr id="24" name="Shape 22"/>
          <p:cNvSpPr/>
          <p:nvPr/>
        </p:nvSpPr>
        <p:spPr>
          <a:xfrm>
            <a:off x="2286000" y="1819656"/>
            <a:ext cx="1417320" cy="1307592"/>
          </a:xfrm>
          <a:prstGeom prst="line">
            <a:avLst/>
          </a:prstGeom>
          <a:noFill/>
          <a:ln w="12700">
            <a:solidFill>
              <a:srgbClr val="BFBFBF"/>
            </a:solidFill>
            <a:prstDash val="solid"/>
          </a:ln>
        </p:spPr>
      </p:sp>
      <p:sp>
        <p:nvSpPr>
          <p:cNvPr id="25" name="Text 23"/>
          <p:cNvSpPr txBox="1"/>
          <p:nvPr/>
        </p:nvSpPr>
        <p:spPr>
          <a:xfrm>
            <a:off x="3200400" y="4315968"/>
            <a:ext cx="123444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Psychology</a:t>
            </a:r>
            <a:endParaRPr lang="en-US" sz="1050" dirty="0"/>
          </a:p>
        </p:txBody>
      </p:sp>
      <p:sp>
        <p:nvSpPr>
          <p:cNvPr id="26" name="Shape 24"/>
          <p:cNvSpPr/>
          <p:nvPr/>
        </p:nvSpPr>
        <p:spPr>
          <a:xfrm flipH="1">
            <a:off x="3794760" y="3364992"/>
            <a:ext cx="137160" cy="950976"/>
          </a:xfrm>
          <a:prstGeom prst="line">
            <a:avLst/>
          </a:prstGeom>
          <a:noFill/>
          <a:ln w="12700">
            <a:solidFill>
              <a:srgbClr val="BFBFBF"/>
            </a:solidFill>
            <a:prstDash val="solid"/>
          </a:ln>
        </p:spPr>
      </p:sp>
      <p:sp>
        <p:nvSpPr>
          <p:cNvPr id="27" name="Shape 25"/>
          <p:cNvSpPr/>
          <p:nvPr/>
        </p:nvSpPr>
        <p:spPr>
          <a:xfrm>
            <a:off x="1463040" y="4480560"/>
            <a:ext cx="1737360" cy="0"/>
          </a:xfrm>
          <a:prstGeom prst="line">
            <a:avLst/>
          </a:prstGeom>
          <a:noFill/>
          <a:ln w="12700">
            <a:solidFill>
              <a:srgbClr val="BFBFBF"/>
            </a:solidFill>
            <a:prstDash val="solid"/>
          </a:ln>
        </p:spPr>
      </p:sp>
      <p:sp>
        <p:nvSpPr>
          <p:cNvPr id="28" name="Text 26"/>
          <p:cNvSpPr txBox="1"/>
          <p:nvPr/>
        </p:nvSpPr>
        <p:spPr>
          <a:xfrm>
            <a:off x="4846320" y="1755648"/>
            <a:ext cx="1097280" cy="237744"/>
          </a:xfrm>
          <a:prstGeom prst="rect">
            <a:avLst/>
          </a:prstGeom>
          <a:solidFill>
            <a:srgbClr val="FFFFFF"/>
          </a:solidFill>
          <a:ln/>
        </p:spPr>
        <p:txBody>
          <a:bodyPr wrap="square" lIns="0" tIns="0" rIns="0" bIns="0" rtlCol="0" anchor="ctr"/>
          <a:lstStyle/>
          <a:p>
            <a:pPr algn="ctr" indent="0" marL="0">
              <a:buNone/>
            </a:pPr>
            <a:r>
              <a:rPr lang="en-US" sz="1050" b="1" dirty="0">
                <a:solidFill>
                  <a:srgbClr val="000000"/>
                </a:solidFill>
                <a:latin typeface="Times New Roman" pitchFamily="34" charset="0"/>
                <a:ea typeface="Times New Roman" pitchFamily="34" charset="-122"/>
                <a:cs typeface="Times New Roman" pitchFamily="34" charset="-120"/>
              </a:rPr>
              <a:t>Thinking</a:t>
            </a:r>
            <a:endParaRPr lang="en-US" sz="1050" dirty="0"/>
          </a:p>
        </p:txBody>
      </p:sp>
      <p:sp>
        <p:nvSpPr>
          <p:cNvPr id="29" name="Shape 27"/>
          <p:cNvSpPr/>
          <p:nvPr/>
        </p:nvSpPr>
        <p:spPr>
          <a:xfrm flipV="1">
            <a:off x="4206240" y="1993392"/>
            <a:ext cx="914400" cy="1133856"/>
          </a:xfrm>
          <a:prstGeom prst="line">
            <a:avLst/>
          </a:prstGeom>
          <a:noFill/>
          <a:ln w="12700">
            <a:solidFill>
              <a:srgbClr val="BFBFBF"/>
            </a:solidFill>
            <a:prstDash val="solid"/>
          </a:ln>
        </p:spPr>
      </p:sp>
      <p:sp>
        <p:nvSpPr>
          <p:cNvPr id="30" name="Text 28"/>
          <p:cNvSpPr txBox="1"/>
          <p:nvPr/>
        </p:nvSpPr>
        <p:spPr>
          <a:xfrm>
            <a:off x="4800600" y="1115568"/>
            <a:ext cx="1234440" cy="237744"/>
          </a:xfrm>
          <a:prstGeom prst="rect">
            <a:avLst/>
          </a:prstGeom>
          <a:solidFill>
            <a:srgbClr val="FFFFFF"/>
          </a:solid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Skill acquisition</a:t>
            </a:r>
            <a:endParaRPr lang="en-US" sz="950" dirty="0"/>
          </a:p>
        </p:txBody>
      </p:sp>
      <p:sp>
        <p:nvSpPr>
          <p:cNvPr id="31" name="Shape 29"/>
          <p:cNvSpPr/>
          <p:nvPr/>
        </p:nvSpPr>
        <p:spPr>
          <a:xfrm flipV="1">
            <a:off x="5257800" y="1353312"/>
            <a:ext cx="91440" cy="402336"/>
          </a:xfrm>
          <a:prstGeom prst="line">
            <a:avLst/>
          </a:prstGeom>
          <a:noFill/>
          <a:ln w="12700">
            <a:solidFill>
              <a:srgbClr val="BFBFBF"/>
            </a:solidFill>
            <a:prstDash val="solid"/>
          </a:ln>
        </p:spPr>
      </p:sp>
      <p:sp>
        <p:nvSpPr>
          <p:cNvPr id="32" name="Text 30"/>
          <p:cNvSpPr txBox="1"/>
          <p:nvPr/>
        </p:nvSpPr>
        <p:spPr>
          <a:xfrm>
            <a:off x="6172200" y="1115568"/>
            <a:ext cx="1188720" cy="237744"/>
          </a:xfrm>
          <a:prstGeom prst="rect">
            <a:avLst/>
          </a:prstGeom>
          <a:solidFill>
            <a:srgbClr val="FFFFFF"/>
          </a:solid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Mental models</a:t>
            </a:r>
            <a:endParaRPr lang="en-US" sz="950" dirty="0"/>
          </a:p>
        </p:txBody>
      </p:sp>
      <p:sp>
        <p:nvSpPr>
          <p:cNvPr id="33" name="Shape 31"/>
          <p:cNvSpPr/>
          <p:nvPr/>
        </p:nvSpPr>
        <p:spPr>
          <a:xfrm flipV="1">
            <a:off x="5852160" y="1353312"/>
            <a:ext cx="685800" cy="457200"/>
          </a:xfrm>
          <a:prstGeom prst="line">
            <a:avLst/>
          </a:prstGeom>
          <a:noFill/>
          <a:ln w="12700">
            <a:solidFill>
              <a:srgbClr val="BFBFBF"/>
            </a:solidFill>
            <a:prstDash val="solid"/>
          </a:ln>
        </p:spPr>
      </p:sp>
      <p:sp>
        <p:nvSpPr>
          <p:cNvPr id="34" name="Text 32"/>
          <p:cNvSpPr txBox="1"/>
          <p:nvPr/>
        </p:nvSpPr>
        <p:spPr>
          <a:xfrm>
            <a:off x="6309360" y="1755648"/>
            <a:ext cx="105156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Reasoning</a:t>
            </a:r>
            <a:endParaRPr lang="en-US" sz="1050" dirty="0"/>
          </a:p>
        </p:txBody>
      </p:sp>
      <p:sp>
        <p:nvSpPr>
          <p:cNvPr id="35" name="Shape 33"/>
          <p:cNvSpPr/>
          <p:nvPr/>
        </p:nvSpPr>
        <p:spPr>
          <a:xfrm>
            <a:off x="5943600" y="1874520"/>
            <a:ext cx="365760" cy="0"/>
          </a:xfrm>
          <a:prstGeom prst="line">
            <a:avLst/>
          </a:prstGeom>
          <a:noFill/>
          <a:ln w="12700">
            <a:solidFill>
              <a:srgbClr val="BFBFBF"/>
            </a:solidFill>
            <a:prstDash val="solid"/>
          </a:ln>
        </p:spPr>
      </p:sp>
      <p:sp>
        <p:nvSpPr>
          <p:cNvPr id="36" name="Text 34"/>
          <p:cNvSpPr txBox="1"/>
          <p:nvPr/>
        </p:nvSpPr>
        <p:spPr>
          <a:xfrm>
            <a:off x="7635240" y="1207008"/>
            <a:ext cx="1005840" cy="237744"/>
          </a:xfrm>
          <a:prstGeom prst="rect">
            <a:avLst/>
          </a:prstGeom>
          <a:solidFill>
            <a:srgbClr val="FFFFFF"/>
          </a:solid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Deductive</a:t>
            </a:r>
            <a:endParaRPr lang="en-US" sz="950" dirty="0"/>
          </a:p>
        </p:txBody>
      </p:sp>
      <p:sp>
        <p:nvSpPr>
          <p:cNvPr id="37" name="Text 35"/>
          <p:cNvSpPr txBox="1"/>
          <p:nvPr/>
        </p:nvSpPr>
        <p:spPr>
          <a:xfrm>
            <a:off x="7635240" y="1755648"/>
            <a:ext cx="1005840" cy="237744"/>
          </a:xfrm>
          <a:prstGeom prst="rect">
            <a:avLst/>
          </a:prstGeom>
          <a:solidFill>
            <a:srgbClr val="FFFFFF"/>
          </a:solid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Abductive</a:t>
            </a:r>
            <a:endParaRPr lang="en-US" sz="950" dirty="0"/>
          </a:p>
        </p:txBody>
      </p:sp>
      <p:sp>
        <p:nvSpPr>
          <p:cNvPr id="38" name="Text 36"/>
          <p:cNvSpPr txBox="1"/>
          <p:nvPr/>
        </p:nvSpPr>
        <p:spPr>
          <a:xfrm>
            <a:off x="7635240" y="2304288"/>
            <a:ext cx="1005840" cy="237744"/>
          </a:xfrm>
          <a:prstGeom prst="rect">
            <a:avLst/>
          </a:prstGeom>
          <a:solidFill>
            <a:srgbClr val="FFFFFF"/>
          </a:solid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Inductive</a:t>
            </a:r>
            <a:endParaRPr lang="en-US" sz="950" dirty="0"/>
          </a:p>
        </p:txBody>
      </p:sp>
      <p:sp>
        <p:nvSpPr>
          <p:cNvPr id="39" name="Shape 37"/>
          <p:cNvSpPr/>
          <p:nvPr/>
        </p:nvSpPr>
        <p:spPr>
          <a:xfrm flipV="1">
            <a:off x="7360920" y="1444752"/>
            <a:ext cx="301752" cy="365760"/>
          </a:xfrm>
          <a:prstGeom prst="line">
            <a:avLst/>
          </a:prstGeom>
          <a:noFill/>
          <a:ln w="12700">
            <a:solidFill>
              <a:srgbClr val="BFBFBF"/>
            </a:solidFill>
            <a:prstDash val="solid"/>
          </a:ln>
        </p:spPr>
      </p:sp>
      <p:sp>
        <p:nvSpPr>
          <p:cNvPr id="40" name="Shape 38"/>
          <p:cNvSpPr/>
          <p:nvPr/>
        </p:nvSpPr>
        <p:spPr>
          <a:xfrm>
            <a:off x="7360920" y="1874520"/>
            <a:ext cx="301752" cy="0"/>
          </a:xfrm>
          <a:prstGeom prst="line">
            <a:avLst/>
          </a:prstGeom>
          <a:noFill/>
          <a:ln w="12700">
            <a:solidFill>
              <a:srgbClr val="BFBFBF"/>
            </a:solidFill>
            <a:prstDash val="solid"/>
          </a:ln>
        </p:spPr>
      </p:sp>
      <p:sp>
        <p:nvSpPr>
          <p:cNvPr id="41" name="Shape 39"/>
          <p:cNvSpPr/>
          <p:nvPr/>
        </p:nvSpPr>
        <p:spPr>
          <a:xfrm>
            <a:off x="7360920" y="1938528"/>
            <a:ext cx="301752" cy="365760"/>
          </a:xfrm>
          <a:prstGeom prst="line">
            <a:avLst/>
          </a:prstGeom>
          <a:noFill/>
          <a:ln w="12700">
            <a:solidFill>
              <a:srgbClr val="BFBFBF"/>
            </a:solidFill>
            <a:prstDash val="solid"/>
          </a:ln>
        </p:spPr>
      </p:sp>
      <p:sp>
        <p:nvSpPr>
          <p:cNvPr id="42" name="Text 40"/>
          <p:cNvSpPr txBox="1"/>
          <p:nvPr/>
        </p:nvSpPr>
        <p:spPr>
          <a:xfrm>
            <a:off x="5074920" y="2578608"/>
            <a:ext cx="1417320" cy="237744"/>
          </a:xfrm>
          <a:prstGeom prst="rect">
            <a:avLst/>
          </a:prstGeom>
          <a:solidFill>
            <a:srgbClr val="FFFFFF"/>
          </a:solid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Problem solving</a:t>
            </a:r>
            <a:endParaRPr lang="en-US" sz="950" dirty="0"/>
          </a:p>
        </p:txBody>
      </p:sp>
      <p:sp>
        <p:nvSpPr>
          <p:cNvPr id="43" name="Shape 41"/>
          <p:cNvSpPr/>
          <p:nvPr/>
        </p:nvSpPr>
        <p:spPr>
          <a:xfrm>
            <a:off x="5303520" y="1993392"/>
            <a:ext cx="274320" cy="585216"/>
          </a:xfrm>
          <a:prstGeom prst="line">
            <a:avLst/>
          </a:prstGeom>
          <a:noFill/>
          <a:ln w="12700">
            <a:solidFill>
              <a:srgbClr val="BFBFBF"/>
            </a:solidFill>
            <a:prstDash val="solid"/>
          </a:ln>
        </p:spPr>
      </p:sp>
      <p:sp>
        <p:nvSpPr>
          <p:cNvPr id="44" name="Text 42"/>
          <p:cNvSpPr txBox="1"/>
          <p:nvPr/>
        </p:nvSpPr>
        <p:spPr>
          <a:xfrm>
            <a:off x="4572000" y="3310128"/>
            <a:ext cx="91440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Gestalt</a:t>
            </a:r>
            <a:endParaRPr lang="en-US" sz="1050" dirty="0"/>
          </a:p>
        </p:txBody>
      </p:sp>
      <p:sp>
        <p:nvSpPr>
          <p:cNvPr id="45" name="Text 43"/>
          <p:cNvSpPr txBox="1"/>
          <p:nvPr/>
        </p:nvSpPr>
        <p:spPr>
          <a:xfrm>
            <a:off x="5715000" y="3310128"/>
            <a:ext cx="91440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000000"/>
                </a:solidFill>
                <a:latin typeface="Times New Roman" pitchFamily="34" charset="0"/>
                <a:ea typeface="Times New Roman" pitchFamily="34" charset="-122"/>
                <a:cs typeface="Times New Roman" pitchFamily="34" charset="-120"/>
              </a:rPr>
              <a:t>Analogy</a:t>
            </a:r>
            <a:endParaRPr lang="en-US" sz="1050" dirty="0"/>
          </a:p>
        </p:txBody>
      </p:sp>
      <p:sp>
        <p:nvSpPr>
          <p:cNvPr id="46" name="Text 44"/>
          <p:cNvSpPr txBox="1"/>
          <p:nvPr/>
        </p:nvSpPr>
        <p:spPr>
          <a:xfrm>
            <a:off x="6400800" y="2807208"/>
            <a:ext cx="1234440" cy="237744"/>
          </a:xfrm>
          <a:prstGeom prst="rect">
            <a:avLst/>
          </a:prstGeom>
          <a:solidFill>
            <a:srgbClr val="FFFFFF"/>
          </a:solid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Problem space</a:t>
            </a:r>
            <a:endParaRPr lang="en-US" sz="950" dirty="0"/>
          </a:p>
        </p:txBody>
      </p:sp>
      <p:sp>
        <p:nvSpPr>
          <p:cNvPr id="47" name="Shape 45"/>
          <p:cNvSpPr/>
          <p:nvPr/>
        </p:nvSpPr>
        <p:spPr>
          <a:xfrm flipH="1">
            <a:off x="5120640" y="2816352"/>
            <a:ext cx="457200" cy="493776"/>
          </a:xfrm>
          <a:prstGeom prst="line">
            <a:avLst/>
          </a:prstGeom>
          <a:noFill/>
          <a:ln w="12700">
            <a:solidFill>
              <a:srgbClr val="BFBFBF"/>
            </a:solidFill>
            <a:prstDash val="solid"/>
          </a:ln>
        </p:spPr>
      </p:sp>
      <p:sp>
        <p:nvSpPr>
          <p:cNvPr id="48" name="Shape 46"/>
          <p:cNvSpPr/>
          <p:nvPr/>
        </p:nvSpPr>
        <p:spPr>
          <a:xfrm>
            <a:off x="5852160" y="2816352"/>
            <a:ext cx="274320" cy="493776"/>
          </a:xfrm>
          <a:prstGeom prst="line">
            <a:avLst/>
          </a:prstGeom>
          <a:noFill/>
          <a:ln w="12700">
            <a:solidFill>
              <a:srgbClr val="BFBFBF"/>
            </a:solidFill>
            <a:prstDash val="solid"/>
          </a:ln>
        </p:spPr>
      </p:sp>
      <p:sp>
        <p:nvSpPr>
          <p:cNvPr id="49" name="Shape 47"/>
          <p:cNvSpPr/>
          <p:nvPr/>
        </p:nvSpPr>
        <p:spPr>
          <a:xfrm>
            <a:off x="6309360" y="2761488"/>
            <a:ext cx="457200" cy="45720"/>
          </a:xfrm>
          <a:prstGeom prst="line">
            <a:avLst/>
          </a:prstGeom>
          <a:noFill/>
          <a:ln w="12700">
            <a:solidFill>
              <a:srgbClr val="BFBFBF"/>
            </a:solidFill>
            <a:prstDash val="solid"/>
          </a:ln>
        </p:spPr>
      </p:sp>
      <p:sp>
        <p:nvSpPr>
          <p:cNvPr id="50" name="Shape 48"/>
          <p:cNvSpPr/>
          <p:nvPr/>
        </p:nvSpPr>
        <p:spPr>
          <a:xfrm>
            <a:off x="7452360" y="3246120"/>
            <a:ext cx="1188720" cy="685800"/>
          </a:xfrm>
          <a:prstGeom prst="rect">
            <a:avLst/>
          </a:prstGeom>
          <a:solidFill>
            <a:srgbClr val="F2F2F2"/>
          </a:solidFill>
          <a:ln w="9525">
            <a:solidFill>
              <a:srgbClr val="BFBFBF"/>
            </a:solidFill>
            <a:prstDash val="solid"/>
          </a:ln>
        </p:spPr>
      </p:sp>
      <p:sp>
        <p:nvSpPr>
          <p:cNvPr id="51" name="Text 49"/>
          <p:cNvSpPr txBox="1"/>
          <p:nvPr/>
        </p:nvSpPr>
        <p:spPr>
          <a:xfrm>
            <a:off x="7589520" y="3355848"/>
            <a:ext cx="914400" cy="457200"/>
          </a:xfrm>
          <a:prstGeom prst="rect">
            <a:avLst/>
          </a:prstGeom>
          <a:noFill/>
          <a:ln/>
        </p:spPr>
        <p:txBody>
          <a:bodyPr wrap="square" lIns="0" tIns="0" rIns="0" bIns="0" rtlCol="0" anchor="t"/>
          <a:lstStyle/>
          <a:p>
            <a:pPr indent="0" marL="0">
              <a:lnSpc>
                <a:spcPct val="112000"/>
              </a:lnSpc>
              <a:buNone/>
            </a:pPr>
            <a:r>
              <a:rPr lang="en-US" sz="850" dirty="0">
                <a:solidFill>
                  <a:srgbClr val="262626"/>
                </a:solidFill>
                <a:latin typeface="Times New Roman" pitchFamily="34" charset="0"/>
                <a:ea typeface="Times New Roman" pitchFamily="34" charset="-122"/>
                <a:cs typeface="Times New Roman" pitchFamily="34" charset="-120"/>
              </a:rPr>
              <a:t>STM = short-term memory</a:t>
            </a:r>
            <a:endParaRPr lang="en-US" sz="850" dirty="0"/>
          </a:p>
          <a:p>
            <a:pPr indent="0" marL="0">
              <a:lnSpc>
                <a:spcPct val="112000"/>
              </a:lnSpc>
              <a:buNone/>
            </a:pPr>
            <a:r>
              <a:rPr lang="en-US" sz="850" dirty="0">
                <a:solidFill>
                  <a:srgbClr val="262626"/>
                </a:solidFill>
                <a:latin typeface="Times New Roman" pitchFamily="34" charset="0"/>
                <a:ea typeface="Times New Roman" pitchFamily="34" charset="-122"/>
                <a:cs typeface="Times New Roman" pitchFamily="34" charset="-120"/>
              </a:rPr>
              <a:t>LTM = long-term memory</a:t>
            </a:r>
            <a:endParaRPr lang="en-US" sz="850" dirty="0"/>
          </a:p>
        </p:txBody>
      </p:sp>
      <p:sp>
        <p:nvSpPr>
          <p:cNvPr id="52" name="Text 50"/>
          <p:cNvSpPr txBox="1"/>
          <p:nvPr/>
        </p:nvSpPr>
        <p:spPr>
          <a:xfrm>
            <a:off x="4572000" y="4434840"/>
            <a:ext cx="2743200" cy="27432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After Dix et al., Ch. 1</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20</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Your task</a:t>
            </a:r>
            <a:endParaRPr lang="en-US" sz="2800" dirty="0"/>
          </a:p>
        </p:txBody>
      </p:sp>
      <p:sp>
        <p:nvSpPr>
          <p:cNvPr id="5" name="Shape 3"/>
          <p:cNvSpPr/>
          <p:nvPr/>
        </p:nvSpPr>
        <p:spPr>
          <a:xfrm>
            <a:off x="502920" y="1097280"/>
            <a:ext cx="8138160" cy="1051560"/>
          </a:xfrm>
          <a:prstGeom prst="rect">
            <a:avLst/>
          </a:prstGeom>
          <a:solidFill>
            <a:srgbClr val="F2F2F2"/>
          </a:solidFill>
          <a:ln w="9525">
            <a:solidFill>
              <a:srgbClr val="BFBFBF"/>
            </a:solidFill>
            <a:prstDash val="solid"/>
          </a:ln>
        </p:spPr>
      </p:sp>
      <p:sp>
        <p:nvSpPr>
          <p:cNvPr id="6" name="Text 4"/>
          <p:cNvSpPr txBox="1"/>
          <p:nvPr/>
        </p:nvSpPr>
        <p:spPr>
          <a:xfrm>
            <a:off x="502920" y="1097280"/>
            <a:ext cx="8138160" cy="1051560"/>
          </a:xfrm>
          <a:prstGeom prst="rect">
            <a:avLst/>
          </a:prstGeom>
          <a:noFill/>
          <a:ln/>
        </p:spPr>
        <p:txBody>
          <a:bodyPr wrap="square" lIns="0" tIns="0" rIns="0" bIns="0" rtlCol="0" anchor="ctr"/>
          <a:lstStyle/>
          <a:p>
            <a:pPr algn="ctr" indent="0" marL="0">
              <a:buNone/>
            </a:pPr>
            <a:r>
              <a:rPr lang="en-US" sz="2000" b="1" dirty="0">
                <a:solidFill>
                  <a:srgbClr val="000000"/>
                </a:solidFill>
                <a:latin typeface="Times New Roman" pitchFamily="34" charset="0"/>
                <a:ea typeface="Times New Roman" pitchFamily="34" charset="-122"/>
                <a:cs typeface="Times New Roman" pitchFamily="34" charset="-120"/>
              </a:rPr>
              <a:t>Create your own semantic network model of Chapter 1.</a:t>
            </a:r>
            <a:endParaRPr lang="en-US" sz="2000" dirty="0"/>
          </a:p>
        </p:txBody>
      </p:sp>
      <p:sp>
        <p:nvSpPr>
          <p:cNvPr id="7" name="Text 5"/>
          <p:cNvSpPr txBox="1"/>
          <p:nvPr/>
        </p:nvSpPr>
        <p:spPr>
          <a:xfrm>
            <a:off x="548640" y="2377440"/>
            <a:ext cx="8046720" cy="1828800"/>
          </a:xfrm>
          <a:prstGeom prst="rect">
            <a:avLst/>
          </a:prstGeom>
          <a:noFill/>
          <a:ln/>
        </p:spPr>
        <p:txBody>
          <a:bodyPr wrap="square" lIns="0" tIns="0" rIns="0" bIns="0" rtlCol="0" anchor="t"/>
          <a:lstStyle/>
          <a:p>
            <a:pPr marL="152400" indent="-152400">
              <a:lnSpc>
                <a:spcPct val="110000"/>
              </a:lnSpc>
              <a:spcAft>
                <a:spcPts val="800"/>
              </a:spcAft>
              <a:buSzPct val="100000"/>
              <a:buChar char="•"/>
            </a:pPr>
            <a:r>
              <a:rPr lang="en-US" sz="1250" dirty="0">
                <a:solidFill>
                  <a:srgbClr val="262626"/>
                </a:solidFill>
                <a:latin typeface="Times New Roman" pitchFamily="34" charset="0"/>
                <a:ea typeface="Times New Roman" pitchFamily="34" charset="-122"/>
                <a:cs typeface="Times New Roman" pitchFamily="34" charset="-120"/>
              </a:rPr>
              <a:t>Work from the chapter itself, not from the slide you have just seen — a copied diagram teaches nothing.</a:t>
            </a:r>
            <a:endParaRPr lang="en-US" sz="1250" dirty="0"/>
          </a:p>
          <a:p>
            <a:pPr marL="152400" indent="-152400">
              <a:lnSpc>
                <a:spcPct val="110000"/>
              </a:lnSpc>
              <a:spcAft>
                <a:spcPts val="800"/>
              </a:spcAft>
              <a:buSzPct val="100000"/>
              <a:buChar char="•"/>
            </a:pPr>
            <a:r>
              <a:rPr lang="en-US" sz="1250" dirty="0">
                <a:solidFill>
                  <a:srgbClr val="262626"/>
                </a:solidFill>
                <a:latin typeface="Times New Roman" pitchFamily="34" charset="0"/>
                <a:ea typeface="Times New Roman" pitchFamily="34" charset="-122"/>
                <a:cs typeface="Times New Roman" pitchFamily="34" charset="-120"/>
              </a:rPr>
              <a:t>Include every major concept in Chapter 1, including the ones we did not cover in class (attention, emotion, individual differences).</a:t>
            </a:r>
            <a:endParaRPr lang="en-US" sz="1250" dirty="0"/>
          </a:p>
          <a:p>
            <a:pPr marL="152400" indent="-152400">
              <a:lnSpc>
                <a:spcPct val="110000"/>
              </a:lnSpc>
              <a:spcAft>
                <a:spcPts val="800"/>
              </a:spcAft>
              <a:buSzPct val="100000"/>
              <a:buChar char="•"/>
            </a:pPr>
            <a:r>
              <a:rPr lang="en-US" sz="1250" dirty="0">
                <a:solidFill>
                  <a:srgbClr val="262626"/>
                </a:solidFill>
                <a:latin typeface="Times New Roman" pitchFamily="34" charset="0"/>
                <a:ea typeface="Times New Roman" pitchFamily="34" charset="-122"/>
                <a:cs typeface="Times New Roman" pitchFamily="34" charset="-120"/>
              </a:rPr>
              <a:t>Label at least six of your links with the relationship they assert (is-a-kind-of, feeds, limits, competes-with).</a:t>
            </a:r>
            <a:endParaRPr lang="en-US" sz="1250" dirty="0"/>
          </a:p>
          <a:p>
            <a:pPr marL="152400" indent="-152400">
              <a:lnSpc>
                <a:spcPct val="110000"/>
              </a:lnSpc>
              <a:spcAft>
                <a:spcPts val="800"/>
              </a:spcAft>
              <a:buSzPct val="100000"/>
              <a:buChar char="•"/>
            </a:pPr>
            <a:r>
              <a:rPr lang="en-US" sz="1250" dirty="0">
                <a:solidFill>
                  <a:srgbClr val="262626"/>
                </a:solidFill>
                <a:latin typeface="Times New Roman" pitchFamily="34" charset="0"/>
                <a:ea typeface="Times New Roman" pitchFamily="34" charset="-122"/>
                <a:cs typeface="Times New Roman" pitchFamily="34" charset="-120"/>
              </a:rPr>
              <a:t>Add one link the diagram in class does not have, and be ready to defend it in the first five minutes of Week 2.</a:t>
            </a:r>
            <a:endParaRPr lang="en-US" sz="1250" dirty="0"/>
          </a:p>
          <a:p>
            <a:pPr marL="152400" indent="-152400">
              <a:lnSpc>
                <a:spcPct val="110000"/>
              </a:lnSpc>
              <a:spcAft>
                <a:spcPts val="800"/>
              </a:spcAft>
              <a:buSzPct val="100000"/>
              <a:buChar char="•"/>
            </a:pPr>
            <a:r>
              <a:rPr lang="en-US" sz="1250" dirty="0">
                <a:solidFill>
                  <a:srgbClr val="262626"/>
                </a:solidFill>
                <a:latin typeface="Times New Roman" pitchFamily="34" charset="0"/>
                <a:ea typeface="Times New Roman" pitchFamily="34" charset="-122"/>
                <a:cs typeface="Times New Roman" pitchFamily="34" charset="-120"/>
              </a:rPr>
              <a:t>One page, hand-drawn or digital. Bring it to the Week 2 lab.</a:t>
            </a:r>
            <a:endParaRPr lang="en-US" sz="1250" dirty="0"/>
          </a:p>
        </p:txBody>
      </p:sp>
      <p:sp>
        <p:nvSpPr>
          <p:cNvPr id="8" name="Text 6"/>
          <p:cNvSpPr txBox="1"/>
          <p:nvPr/>
        </p:nvSpPr>
        <p:spPr>
          <a:xfrm>
            <a:off x="548640" y="4251960"/>
            <a:ext cx="8046720" cy="274320"/>
          </a:xfrm>
          <a:prstGeom prst="rect">
            <a:avLst/>
          </a:prstGeom>
          <a:noFill/>
          <a:ln/>
        </p:spPr>
        <p:txBody>
          <a:bodyPr wrap="square" lIns="0" tIns="0" rIns="0" bIns="0" rtlCol="0" anchor="ctr"/>
          <a:lstStyle/>
          <a:p>
            <a:pPr algn="l" indent="0" marL="0">
              <a:buNone/>
            </a:pPr>
            <a:r>
              <a:rPr lang="en-US" sz="1100" dirty="0">
                <a:solidFill>
                  <a:srgbClr val="262626"/>
                </a:solidFill>
                <a:latin typeface="Times New Roman" pitchFamily="34" charset="0"/>
                <a:ea typeface="Times New Roman" pitchFamily="34" charset="-122"/>
                <a:cs typeface="Times New Roman" pitchFamily="34" charset="-120"/>
              </a:rPr>
              <a:t>Marked for coverage, correctness of relationships, and the quality of the defended link.</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21</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Week 1 in one slide</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657600"/>
                <a:gridCol w="4572000"/>
              </a:tblGrid>
              <a:tr h="457200">
                <a:tc>
                  <a:txBody>
                    <a:bodyP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What we learned about the human</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Times New Roman" pitchFamily="34" charset="0"/>
                          <a:ea typeface="Times New Roman" pitchFamily="34" charset="-122"/>
                          <a:cs typeface="Times New Roman" pitchFamily="34" charset="-120"/>
                        </a:rPr>
                        <a:t>What it forces the designer to do</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Aimed movement obeys Fitts' Law</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Size and place frequent controls deliberately; use edges and corners</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The eye groups by proximity and similarity</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Use whitespace as an instruction, not as decoration</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Visual weight is read as importance</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Make the visual hierarchy match the importance hierarchy</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Working memory holds about seven chunks, briefly</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Chunk on the user's behalf; never make the user the clipboard</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The mind flushes memory at closure</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Return the user's property before the task feels finished</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Practised responses resurface under stress</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262626"/>
                          </a:solidFill>
                          <a:latin typeface="Times New Roman" pitchFamily="34" charset="0"/>
                          <a:ea typeface="Times New Roman" pitchFamily="34" charset="-122"/>
                          <a:cs typeface="Times New Roman" pitchFamily="34" charset="-120"/>
                        </a:rPr>
                        <a:t>Treat consistency as a safety property; test under load</a:t>
                      </a:r>
                      <a:endParaRPr lang="en-US" sz="110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343400"/>
            <a:ext cx="8229600" cy="27432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Six facts, six obligations. That is the whole of Chapter 1 as a designer needs it.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2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22</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Next week, and what to bring</a:t>
            </a:r>
            <a:endParaRPr lang="en-US" sz="2800" dirty="0"/>
          </a:p>
        </p:txBody>
      </p:sp>
      <p:sp>
        <p:nvSpPr>
          <p:cNvPr id="5" name="Shape 3"/>
          <p:cNvSpPr/>
          <p:nvPr/>
        </p:nvSpPr>
        <p:spPr>
          <a:xfrm>
            <a:off x="502920" y="1143000"/>
            <a:ext cx="3977640" cy="1920240"/>
          </a:xfrm>
          <a:prstGeom prst="rect">
            <a:avLst/>
          </a:prstGeom>
          <a:solidFill>
            <a:srgbClr val="F2F2F2"/>
          </a:solidFill>
          <a:ln w="9525">
            <a:solidFill>
              <a:srgbClr val="BFBFBF"/>
            </a:solidFill>
            <a:prstDash val="solid"/>
          </a:ln>
        </p:spPr>
      </p:sp>
      <p:sp>
        <p:nvSpPr>
          <p:cNvPr id="6" name="Text 4"/>
          <p:cNvSpPr txBox="1"/>
          <p:nvPr/>
        </p:nvSpPr>
        <p:spPr>
          <a:xfrm>
            <a:off x="64008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Week 2 · The computer</a:t>
            </a:r>
            <a:endParaRPr lang="en-US" sz="1400" dirty="0"/>
          </a:p>
        </p:txBody>
      </p:sp>
      <p:sp>
        <p:nvSpPr>
          <p:cNvPr id="7" name="Text 5"/>
          <p:cNvSpPr txBox="1"/>
          <p:nvPr/>
        </p:nvSpPr>
        <p:spPr>
          <a:xfrm>
            <a:off x="640080" y="1581912"/>
            <a:ext cx="3703320" cy="137160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Input devices and the text-entry problem.</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Displays, resolution and what the screen can actually show.</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Why the hardware is the other half of every interaction we have discussed.</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Reading: Dix et al., Ch. 2.</a:t>
            </a:r>
            <a:endParaRPr lang="en-US" sz="1150" dirty="0"/>
          </a:p>
        </p:txBody>
      </p:sp>
      <p:sp>
        <p:nvSpPr>
          <p:cNvPr id="8" name="Shape 6"/>
          <p:cNvSpPr/>
          <p:nvPr/>
        </p:nvSpPr>
        <p:spPr>
          <a:xfrm>
            <a:off x="4663440" y="1143000"/>
            <a:ext cx="3977640" cy="1920240"/>
          </a:xfrm>
          <a:prstGeom prst="rect">
            <a:avLst/>
          </a:prstGeom>
          <a:solidFill>
            <a:srgbClr val="F2F2F2"/>
          </a:solidFill>
          <a:ln w="9525">
            <a:solidFill>
              <a:srgbClr val="BFBFBF"/>
            </a:solidFill>
            <a:prstDash val="solid"/>
          </a:ln>
        </p:spPr>
      </p:sp>
      <p:sp>
        <p:nvSpPr>
          <p:cNvPr id="9" name="Text 7"/>
          <p:cNvSpPr txBox="1"/>
          <p:nvPr/>
        </p:nvSpPr>
        <p:spPr>
          <a:xfrm>
            <a:off x="480060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This week's lab</a:t>
            </a:r>
            <a:endParaRPr lang="en-US" sz="1400" dirty="0"/>
          </a:p>
        </p:txBody>
      </p:sp>
      <p:sp>
        <p:nvSpPr>
          <p:cNvPr id="10" name="Text 8"/>
          <p:cNvSpPr txBox="1"/>
          <p:nvPr/>
        </p:nvSpPr>
        <p:spPr>
          <a:xfrm>
            <a:off x="4800600" y="1581912"/>
            <a:ext cx="3703320" cy="137160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Measure your own Fitts' constants a and b, and fit the line.</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Measure your digit span, plain against chunked.</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Write up what your numbers imply for a control you use daily.</a:t>
            </a:r>
            <a:endParaRPr lang="en-US" sz="1150" dirty="0"/>
          </a:p>
        </p:txBody>
      </p:sp>
      <p:sp>
        <p:nvSpPr>
          <p:cNvPr id="11" name="Shape 9"/>
          <p:cNvSpPr/>
          <p:nvPr/>
        </p:nvSpPr>
        <p:spPr>
          <a:xfrm>
            <a:off x="502920" y="3246120"/>
            <a:ext cx="8138160" cy="1097280"/>
          </a:xfrm>
          <a:prstGeom prst="rect">
            <a:avLst/>
          </a:prstGeom>
          <a:solidFill>
            <a:srgbClr val="F2F2F2"/>
          </a:solidFill>
          <a:ln w="9525">
            <a:solidFill>
              <a:srgbClr val="BFBFBF"/>
            </a:solidFill>
            <a:prstDash val="solid"/>
          </a:ln>
        </p:spPr>
      </p:sp>
      <p:sp>
        <p:nvSpPr>
          <p:cNvPr id="12" name="Text 10"/>
          <p:cNvSpPr txBox="1"/>
          <p:nvPr/>
        </p:nvSpPr>
        <p:spPr>
          <a:xfrm>
            <a:off x="640080" y="3337560"/>
            <a:ext cx="786384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Due at the start of Week 2</a:t>
            </a:r>
            <a:endParaRPr lang="en-US" sz="1400" dirty="0"/>
          </a:p>
        </p:txBody>
      </p:sp>
      <p:sp>
        <p:nvSpPr>
          <p:cNvPr id="13" name="Text 11"/>
          <p:cNvSpPr txBox="1"/>
          <p:nvPr/>
        </p:nvSpPr>
        <p:spPr>
          <a:xfrm>
            <a:off x="640080" y="3685032"/>
            <a:ext cx="7863840" cy="548640"/>
          </a:xfrm>
          <a:prstGeom prst="rect">
            <a:avLst/>
          </a:prstGeom>
          <a:noFill/>
          <a:ln/>
        </p:spPr>
        <p:txBody>
          <a:bodyPr wrap="square" lIns="0" tIns="0" rIns="0" bIns="0" rtlCol="0" anchor="t"/>
          <a:lstStyle/>
          <a:p>
            <a:pPr indent="0" marL="0">
              <a:lnSpc>
                <a:spcPct val="112000"/>
              </a:lnSpc>
              <a:buNone/>
            </a:pPr>
            <a:r>
              <a:rPr lang="en-US" sz="1200" dirty="0">
                <a:solidFill>
                  <a:srgbClr val="262626"/>
                </a:solidFill>
                <a:latin typeface="Times New Roman" pitchFamily="34" charset="0"/>
                <a:ea typeface="Times New Roman" pitchFamily="34" charset="-122"/>
                <a:cs typeface="Times New Roman" pitchFamily="34" charset="-120"/>
              </a:rPr>
              <a:t>Your semantic network of Chapter 1, one page, with at least six labelled links and one link of your own that you can defend.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University of Engineering and Technology, Lahore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Human — Design Thoughts (II)</dc:title>
  <dc:subject>Perception, memory and error</dc:subject>
  <dc:creator>Aliya Farooq</dc:creator>
  <cp:lastModifiedBy>Aliya Farooq</cp:lastModifiedBy>
  <cp:revision>1</cp:revision>
  <dcterms:created xsi:type="dcterms:W3CDTF">2026-09-15T19:37:12Z</dcterms:created>
  <dcterms:modified xsi:type="dcterms:W3CDTF">2026-09-15T19:37:12Z</dcterms:modified>
</cp:coreProperties>
</file>