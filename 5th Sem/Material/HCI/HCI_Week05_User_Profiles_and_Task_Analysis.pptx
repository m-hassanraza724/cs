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 autoCompressPictures="0">
  <p:sldMasterIdLst>
    <p:sldMasterId id="2147483648" r:id="rId1"/>
  </p:sldMasterIdLst>
  <p:notesMasterIdLst>
    <p:notesMasterId r:id="rId38"/>
  </p:notesMasterIdLst>
  <p:sldIdLst>
    <p:sldId id="329" r:id="rId43"/>
    <p:sldId id="330" r:id="rId44"/>
    <p:sldId id="331" r:id="rId45"/>
    <p:sldId id="332" r:id="rId46"/>
    <p:sldId id="333" r:id="rId47"/>
    <p:sldId id="334" r:id="rId48"/>
    <p:sldId id="335" r:id="rId49"/>
    <p:sldId id="336" r:id="rId50"/>
    <p:sldId id="337" r:id="rId51"/>
    <p:sldId id="338" r:id="rId52"/>
    <p:sldId id="339" r:id="rId53"/>
    <p:sldId id="340" r:id="rId54"/>
    <p:sldId id="341" r:id="rId55"/>
    <p:sldId id="342" r:id="rId56"/>
    <p:sldId id="343" r:id="rId57"/>
    <p:sldId id="344" r:id="rId58"/>
    <p:sldId id="345" r:id="rId59"/>
    <p:sldId id="346" r:id="rId60"/>
    <p:sldId id="347" r:id="rId61"/>
    <p:sldId id="348" r:id="rId62"/>
    <p:sldId id="349" r:id="rId63"/>
    <p:sldId id="350" r:id="rId64"/>
    <p:sldId id="351" r:id="rId65"/>
    <p:sldId id="352" r:id="rId66"/>
    <p:sldId id="353" r:id="rId67"/>
    <p:sldId id="354" r:id="rId68"/>
    <p:sldId id="355" r:id="rId69"/>
    <p:sldId id="356" r:id="rId70"/>
    <p:sldId id="357" r:id="rId71"/>
    <p:sldId id="358" r:id="rId72"/>
    <p:sldId id="359" r:id="rId73"/>
    <p:sldId id="360" r:id="rId74"/>
    <p:sldId id="361" r:id="rId75"/>
    <p:sldId id="362" r:id="rId76"/>
    <p:sldId id="363" r:id="rId77"/>
    <p:sldId id="364" r:id="rId78"/>
    <p:sldId id="365" r:id="rId79"/>
    <p:sldId id="366" r:id="rId80"/>
    <p:sldId id="367" r:id="rId81"/>
    <p:sldId id="368" r:id="rId82"/>
    <p:sldId id="369" r:id="rId83"/>
    <p:sldId id="370" r:id="rId84"/>
    <p:sldId id="306" r:id="rId2"/>
    <p:sldId id="371" r:id="rId85"/>
    <p:sldId id="372" r:id="rId86"/>
    <p:sldId id="373" r:id="rId87"/>
    <p:sldId id="374" r:id="rId88"/>
    <p:sldId id="258" r:id="rId4"/>
    <p:sldId id="375" r:id="rId89"/>
    <p:sldId id="289" r:id="rId8"/>
    <p:sldId id="290" r:id="rId9"/>
    <p:sldId id="376" r:id="rId90"/>
    <p:sldId id="293" r:id="rId11"/>
    <p:sldId id="377" r:id="rId91"/>
    <p:sldId id="304" r:id="rId14"/>
    <p:sldId id="305" r:id="rId15"/>
    <p:sldId id="303" r:id="rId16"/>
    <p:sldId id="301" r:id="rId17"/>
    <p:sldId id="378" r:id="rId92"/>
    <p:sldId id="379" r:id="rId93"/>
    <p:sldId id="380" r:id="rId94"/>
    <p:sldId id="381" r:id="rId95"/>
    <p:sldId id="382" r:id="rId96"/>
    <p:sldId id="311" r:id="rId19"/>
    <p:sldId id="312" r:id="rId20"/>
    <p:sldId id="315" r:id="rId21"/>
    <p:sldId id="316" r:id="rId22"/>
    <p:sldId id="317" r:id="rId23"/>
    <p:sldId id="383" r:id="rId97"/>
    <p:sldId id="384" r:id="rId98"/>
    <p:sldId id="319" r:id="rId25"/>
    <p:sldId id="320" r:id="rId26"/>
    <p:sldId id="321" r:id="rId27"/>
    <p:sldId id="322" r:id="rId28"/>
    <p:sldId id="323" r:id="rId29"/>
    <p:sldId id="324" r:id="rId30"/>
    <p:sldId id="326" r:id="rId31"/>
    <p:sldId id="327" r:id="rId32"/>
    <p:sldId id="325" r:id="rId33"/>
    <p:sldId id="385" r:id="rId99"/>
    <p:sldId id="386" r:id="rId100"/>
    <p:sldId id="307" r:id="rId34"/>
    <p:sldId id="308" r:id="rId35"/>
    <p:sldId id="309" r:id="rId36"/>
    <p:sldId id="310" r:id="rId37"/>
    <p:sldId id="387" r:id="rId101"/>
    <p:sldId id="388" r:id="rId102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6"/>
    <p:restoredTop sz="90929"/>
  </p:normalViewPr>
  <p:slideViewPr>
    <p:cSldViewPr>
      <p:cViewPr varScale="1">
        <p:scale>
          <a:sx n="123" d="100"/>
          <a:sy n="123" d="100"/>
        </p:scale>
        <p:origin x="144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  <Relationship Id="rId43" Type="http://schemas.openxmlformats.org/officeDocument/2006/relationships/slide" Target="slides/slide37.xml"/>
  <Relationship Id="rId44" Type="http://schemas.openxmlformats.org/officeDocument/2006/relationships/slide" Target="slides/slide38.xml"/>
  <Relationship Id="rId45" Type="http://schemas.openxmlformats.org/officeDocument/2006/relationships/slide" Target="slides/slide39.xml"/>
  <Relationship Id="rId46" Type="http://schemas.openxmlformats.org/officeDocument/2006/relationships/slide" Target="slides/slide40.xml"/>
  <Relationship Id="rId47" Type="http://schemas.openxmlformats.org/officeDocument/2006/relationships/slide" Target="slides/slide41.xml"/>
  <Relationship Id="rId48" Type="http://schemas.openxmlformats.org/officeDocument/2006/relationships/slide" Target="slides/slide42.xml"/>
  <Relationship Id="rId49" Type="http://schemas.openxmlformats.org/officeDocument/2006/relationships/slide" Target="slides/slide43.xml"/>
  <Relationship Id="rId50" Type="http://schemas.openxmlformats.org/officeDocument/2006/relationships/slide" Target="slides/slide44.xml"/>
  <Relationship Id="rId51" Type="http://schemas.openxmlformats.org/officeDocument/2006/relationships/slide" Target="slides/slide45.xml"/>
  <Relationship Id="rId52" Type="http://schemas.openxmlformats.org/officeDocument/2006/relationships/slide" Target="slides/slide46.xml"/>
  <Relationship Id="rId53" Type="http://schemas.openxmlformats.org/officeDocument/2006/relationships/slide" Target="slides/slide47.xml"/>
  <Relationship Id="rId54" Type="http://schemas.openxmlformats.org/officeDocument/2006/relationships/slide" Target="slides/slide48.xml"/>
  <Relationship Id="rId55" Type="http://schemas.openxmlformats.org/officeDocument/2006/relationships/slide" Target="slides/slide49.xml"/>
  <Relationship Id="rId56" Type="http://schemas.openxmlformats.org/officeDocument/2006/relationships/slide" Target="slides/slide50.xml"/>
  <Relationship Id="rId57" Type="http://schemas.openxmlformats.org/officeDocument/2006/relationships/slide" Target="slides/slide51.xml"/>
  <Relationship Id="rId58" Type="http://schemas.openxmlformats.org/officeDocument/2006/relationships/slide" Target="slides/slide52.xml"/>
  <Relationship Id="rId59" Type="http://schemas.openxmlformats.org/officeDocument/2006/relationships/slide" Target="slides/slide53.xml"/>
  <Relationship Id="rId60" Type="http://schemas.openxmlformats.org/officeDocument/2006/relationships/slide" Target="slides/slide54.xml"/>
  <Relationship Id="rId61" Type="http://schemas.openxmlformats.org/officeDocument/2006/relationships/slide" Target="slides/slide55.xml"/>
  <Relationship Id="rId62" Type="http://schemas.openxmlformats.org/officeDocument/2006/relationships/slide" Target="slides/slide56.xml"/>
  <Relationship Id="rId63" Type="http://schemas.openxmlformats.org/officeDocument/2006/relationships/slide" Target="slides/slide57.xml"/>
  <Relationship Id="rId64" Type="http://schemas.openxmlformats.org/officeDocument/2006/relationships/slide" Target="slides/slide58.xml"/>
  <Relationship Id="rId65" Type="http://schemas.openxmlformats.org/officeDocument/2006/relationships/slide" Target="slides/slide59.xml"/>
  <Relationship Id="rId66" Type="http://schemas.openxmlformats.org/officeDocument/2006/relationships/slide" Target="slides/slide60.xml"/>
  <Relationship Id="rId67" Type="http://schemas.openxmlformats.org/officeDocument/2006/relationships/slide" Target="slides/slide61.xml"/>
  <Relationship Id="rId68" Type="http://schemas.openxmlformats.org/officeDocument/2006/relationships/slide" Target="slides/slide62.xml"/>
  <Relationship Id="rId69" Type="http://schemas.openxmlformats.org/officeDocument/2006/relationships/slide" Target="slides/slide63.xml"/>
  <Relationship Id="rId70" Type="http://schemas.openxmlformats.org/officeDocument/2006/relationships/slide" Target="slides/slide64.xml"/>
  <Relationship Id="rId71" Type="http://schemas.openxmlformats.org/officeDocument/2006/relationships/slide" Target="slides/slide65.xml"/>
  <Relationship Id="rId72" Type="http://schemas.openxmlformats.org/officeDocument/2006/relationships/slide" Target="slides/slide66.xml"/>
  <Relationship Id="rId73" Type="http://schemas.openxmlformats.org/officeDocument/2006/relationships/slide" Target="slides/slide67.xml"/>
  <Relationship Id="rId74" Type="http://schemas.openxmlformats.org/officeDocument/2006/relationships/slide" Target="slides/slide68.xml"/>
  <Relationship Id="rId75" Type="http://schemas.openxmlformats.org/officeDocument/2006/relationships/slide" Target="slides/slide69.xml"/>
  <Relationship Id="rId76" Type="http://schemas.openxmlformats.org/officeDocument/2006/relationships/slide" Target="slides/slide70.xml"/>
  <Relationship Id="rId77" Type="http://schemas.openxmlformats.org/officeDocument/2006/relationships/slide" Target="slides/slide71.xml"/>
  <Relationship Id="rId78" Type="http://schemas.openxmlformats.org/officeDocument/2006/relationships/slide" Target="slides/slide72.xml"/>
  <Relationship Id="rId79" Type="http://schemas.openxmlformats.org/officeDocument/2006/relationships/slide" Target="slides/slide73.xml"/>
  <Relationship Id="rId80" Type="http://schemas.openxmlformats.org/officeDocument/2006/relationships/slide" Target="slides/slide74.xml"/>
  <Relationship Id="rId81" Type="http://schemas.openxmlformats.org/officeDocument/2006/relationships/slide" Target="slides/slide75.xml"/>
  <Relationship Id="rId82" Type="http://schemas.openxmlformats.org/officeDocument/2006/relationships/slide" Target="slides/slide76.xml"/>
  <Relationship Id="rId83" Type="http://schemas.openxmlformats.org/officeDocument/2006/relationships/slide" Target="slides/slide77.xml"/>
  <Relationship Id="rId84" Type="http://schemas.openxmlformats.org/officeDocument/2006/relationships/slide" Target="slides/slide78.xml"/>
  <Relationship Id="rId85" Type="http://schemas.openxmlformats.org/officeDocument/2006/relationships/slide" Target="slides/slide79.xml"/>
  <Relationship Id="rId86" Type="http://schemas.openxmlformats.org/officeDocument/2006/relationships/slide" Target="slides/slide80.xml"/>
  <Relationship Id="rId87" Type="http://schemas.openxmlformats.org/officeDocument/2006/relationships/slide" Target="slides/slide81.xml"/>
  <Relationship Id="rId88" Type="http://schemas.openxmlformats.org/officeDocument/2006/relationships/slide" Target="slides/slide82.xml"/>
  <Relationship Id="rId89" Type="http://schemas.openxmlformats.org/officeDocument/2006/relationships/slide" Target="slides/slide83.xml"/>
  <Relationship Id="rId90" Type="http://schemas.openxmlformats.org/officeDocument/2006/relationships/slide" Target="slides/slide84.xml"/>
  <Relationship Id="rId91" Type="http://schemas.openxmlformats.org/officeDocument/2006/relationships/slide" Target="slides/slide85.xml"/>
  <Relationship Id="rId92" Type="http://schemas.openxmlformats.org/officeDocument/2006/relationships/slide" Target="slides/slide86.xml"/>
  <Relationship Id="rId93" Type="http://schemas.openxmlformats.org/officeDocument/2006/relationships/slide" Target="slides/slide87.xml"/>
  <Relationship Id="rId94" Type="http://schemas.openxmlformats.org/officeDocument/2006/relationships/slide" Target="slides/slide88.xml"/>
  <Relationship Id="rId95" Type="http://schemas.openxmlformats.org/officeDocument/2006/relationships/slide" Target="slides/slide89.xml"/>
  <Relationship Id="rId96" Type="http://schemas.openxmlformats.org/officeDocument/2006/relationships/slide" Target="slides/slide90.xml"/>
  <Relationship Id="rId97" Type="http://schemas.openxmlformats.org/officeDocument/2006/relationships/slide" Target="slides/slide91.xml"/>
  <Relationship Id="rId98" Type="http://schemas.openxmlformats.org/officeDocument/2006/relationships/slide" Target="slides/slide92.xml"/>
  <Relationship Id="rId99" Type="http://schemas.openxmlformats.org/officeDocument/2006/relationships/slide" Target="slides/slide93.xml"/>
  <Relationship Id="rId100" Type="http://schemas.openxmlformats.org/officeDocument/2006/relationships/slide" Target="slides/slide94.xml"/>
  <Relationship Id="rId101" Type="http://schemas.openxmlformats.org/officeDocument/2006/relationships/slide" Target="slides/slide95.xml"/>
  <Relationship Id="rId102" Type="http://schemas.openxmlformats.org/officeDocument/2006/relationships/slide" Target="slides/slide96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5A46C9D3-71C8-9A07-D07A-2DCE1B72DCB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altLang="en-US"/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6AAB36F5-E6E1-4871-6EAA-14A2898D50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 altLang="en-US"/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93718E25-561E-B8C9-B4AC-6EF93E87BB7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7829" name="Rectangle 5">
            <a:extLst>
              <a:ext uri="{FF2B5EF4-FFF2-40B4-BE49-F238E27FC236}">
                <a16:creationId xmlns:a16="http://schemas.microsoft.com/office/drawing/2014/main" id="{D0073646-7C21-C046-D2B4-FED2C37245B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77830" name="Rectangle 6">
            <a:extLst>
              <a:ext uri="{FF2B5EF4-FFF2-40B4-BE49-F238E27FC236}">
                <a16:creationId xmlns:a16="http://schemas.microsoft.com/office/drawing/2014/main" id="{56695DE0-72A2-654E-E48D-2FDED230968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altLang="en-US"/>
          </a:p>
        </p:txBody>
      </p:sp>
      <p:sp>
        <p:nvSpPr>
          <p:cNvPr id="77831" name="Rectangle 7">
            <a:extLst>
              <a:ext uri="{FF2B5EF4-FFF2-40B4-BE49-F238E27FC236}">
                <a16:creationId xmlns:a16="http://schemas.microsoft.com/office/drawing/2014/main" id="{1258BEE1-E6BC-756F-0D1F-EDF1909E79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A933FE7-1A2F-5146-BD6A-525CA2A0BB58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2-hour session, one deck. 0:00 warm-up · 0:05 Part A user profiles · 0:55 break · 1:05 Part B task analysis · 1:55 exit ticket.</a:t>
            </a:r>
          </a:p>
          <a:p>
            <a:r>
              <a:rPr lang="en-GB" dirty="0"/>
              <a:t>Spend 30 seconds here: every activity slide carries one of these badges. In a POLL everyone votes, even if unsure.</a:t>
            </a:r>
          </a:p>
          <a:p>
            <a:r>
              <a:rPr lang="en-GB" dirty="0"/>
              <a:t>If time runs short, drop first: Fix this questionnaire (answers can be shown directly), then the XOR/AND/OR quiz.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THINK-PAIR-SHARE, 4 minutes. 1 minute alone, 2 minutes in pairs, 1 minute taking answers.</a:t>
            </a:r>
          </a:p>
          <a:p>
            <a:r>
              <a:rPr lang="en-GB" dirty="0"/>
              <a:t>Expected: text size and contrast; Urdu option; fewer steps and a guided flow for Nani; saved billers, shortcuts and speed for Hamza; clear confirmation and a receipt (trust).</a:t>
            </a:r>
          </a:p>
          <a:p>
            <a:r>
              <a:rPr lang="en-GB" dirty="0"/>
              <a:t>Must NOT differ: the core task (pay the right bill, the right amount), security, accuracy.</a:t>
            </a:r>
          </a:p>
          <a:p>
            <a:r>
              <a:rPr lang="en-GB" dirty="0"/>
              <a:t>Bridge: “Who are the users, what is their goal, what tasks are involved?” — next slide.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QUIZ, 4 minutes (2 alone, 2 compare). For each failure, name the profile question nobody asked.</a:t>
            </a:r>
          </a:p>
          <a:p>
            <a:r>
              <a:rPr lang="en-GB" dirty="0"/>
              <a:t>The five questions are on the footer: who, where, user and data, how often, time constraints.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ANSWERS. Accept two-category answers: 3 is data AND confidentiality; 6 is physical AND environment.</a:t>
            </a:r>
          </a:p>
          <a:p>
            <a:r>
              <a:rPr lang="en-GB" dirty="0"/>
              <a:t>Ask: which of these would a usability test with CS students have caught? (Almost none — that is why we profile the real users.)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POLL, 3 minutes. Read each item; hands up with 1 or 2 fingers.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ANSWERS. Point out that the two columns live in one interface: accelerators that novices can ignore and experts find.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THINK-PAIR-SHARE, 5 minutes. The red “Advantages, disadvantages” lines on the last four slides are for the class to fill in.</a:t>
            </a:r>
          </a:p>
          <a:p>
            <a:r>
              <a:rPr lang="en-GB" dirty="0"/>
              <a:t>Pairs write one advantage and one disadvantage per technique; take one row from each of six pairs.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ANSWERS. Accept any reasonable + and −. The key contrasts: questionnaires = breadth, interviews = depth; observation shows what people DO, documentation what they are SUPPOSED to do.</a:t>
            </a:r>
          </a:p>
          <a:p>
            <a:r>
              <a:rPr lang="en-GB" dirty="0"/>
              <a:t>Link: in Lab 5 you use interviews + a short questionnaire for your team project.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LIVE EXERCISE, 6 minutes in pairs: a draft hostel-portal survey with one flaw per item. Write the flaw and a rewrite.</a:t>
            </a:r>
          </a:p>
          <a:p>
            <a:r>
              <a:rPr lang="en-GB" dirty="0"/>
              <a:t>Drop-first activity if Part A runs long: show the answer slide directly.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ANSWERS. Item 2 (overlapping options) is exactly what Mayhew’s pilot step checks: “mutual exclusivity of MCQs”.</a:t>
            </a:r>
          </a:p>
          <a:p>
            <a:r>
              <a:rPr lang="en-GB" dirty="0"/>
              <a:t>Item 4 fails “only ask a question if it contributes to design”.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QUIZ, 2 minutes.</a:t>
            </a:r>
          </a:p>
          <a:p>
            <a:r>
              <a:rPr lang="en-GB" dirty="0"/>
              <a:t>Ask: how could you get the same 90 replies with fewer questionnaires? (Senior cover letter, clear deadline, interviews with people who know the user population — the second route on the Sample Technique slide.)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ANSWER: 30 / 0.10 = 300 per category; 3 categories → 900 questionnaires.</a:t>
            </a:r>
          </a:p>
          <a:p>
            <a:r>
              <a:rPr lang="en-GB" dirty="0"/>
              <a:t>Ask: how could you get the same 90 replies with fewer questionnaires? (Senior cover letter, clear deadline, interviews with people who know the user population — the second route on the Sample Technique slide.)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Break, 10 minutes. Restart on time with the Task Analyses title slide.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THINK-PAIR-SHARE, 3 minutes, straight after “Tasks as explanation”.</a:t>
            </a:r>
          </a:p>
          <a:p>
            <a:r>
              <a:rPr lang="en-GB" dirty="0"/>
              <a:t>Sample ladder: pressing Pay → confirming the payment → paying the electricity bill → paying this month’s bills → running the household.</a:t>
            </a:r>
          </a:p>
          <a:p>
            <a:r>
              <a:rPr lang="en-GB" dirty="0"/>
              <a:t>Takeaway: the same keystroke is a task at many levels; HTA chooses the levels that matter for the design.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QUIZ, 4 minutes. Use the seven plan types from the previous slide.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ANSWERS. The same task appears in Figma Lab 6 (HTA of a mobile-wallet recharge in FigJam).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Give pairs 8 minutes on the Worked Exercise slide before showing this.</a:t>
            </a:r>
          </a:p>
          <a:p>
            <a:r>
              <a:rPr lang="en-GB" dirty="0"/>
              <a:t>Marking guide if used for credit (5): sensible hierarchy (2), plan 0 with the search-or-browse choice (2), a cycle back when the information is not found (1).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QUIZ, 3 minutes.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ANSWERS. Item 4 is the discussion point.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CASE PUZZLE, 5 minutes in pairs, after the Vera’s Veggies examples.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ANSWERS. Connect item 3 to the Vera slide: “Vera programmed the controller to irrigate the field”.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EXIT TICKET, 5 minutes. Collect at the door; use the answers to question 3 to open next week.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803AC-DA55-FE26-3EFD-69682F273E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81F12D-1083-7D41-6DB4-0EE7DA4A7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78E8B-E1CF-7574-B2EF-181C07DF8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11427-D4D2-5744-9BB7-D8456149D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1DB0F-E8EC-BBB8-840C-612A4BF4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C5C26E-ED23-F241-8A0B-89579DBD8A8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52942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9667E-D9C9-5532-AA0B-88A0BD26B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6EB08-92A4-2DDA-7F57-90CC53BE4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E43A8-6020-F36E-4D82-DAE7A85C8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E17F9-29B4-8D93-8BD7-91DF9F496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F3E8F-9D2D-AA7C-D00B-913A5D8A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AB805D-27E7-CE42-9615-14E77E0B918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26659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5DB24-88CE-C096-7EB9-2A7841A86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8C72F-544A-1B2B-7EB8-DDF32C07D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DD1C7-469C-70DC-5708-33773A30D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6CAD9-197F-AB25-4910-AD855687C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525B7-A008-3471-BC07-6A0735D9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7CBBD5-612C-4B4F-BDF5-50C965059A5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57566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A19D0-6C55-B48D-E188-B328AEAFC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E500A-540A-7BBF-7B9F-9B5461865C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2CE4D5-9BD8-DAFB-9F9D-F3A170515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DEB4D-7173-AF2D-335A-581F42500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11211-EFDC-00A9-0C79-7B7C50FD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18252-C2B8-2A0E-A153-E9613A866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F15725-D012-9443-A4AD-F13742EC805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59531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F874A-F4BA-CC03-9465-69121A93D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A5747-01BC-66BD-66F1-155C2848F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58CF28-2EAD-4BED-BC81-E84545BC4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51237C-A4D6-D283-D9EF-8FAA720B3D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74E08E-6DAE-7D2D-5915-5326654CEB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16A302-F374-5C14-716E-FDC409F0A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73128D-EF34-CB78-9EE7-1F37CEECB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24BBDF-86BB-6218-7867-9BC22BF1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DBA144-DBE4-6844-8E94-EAB6C46063E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41817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6921F-597E-70E5-A9B2-72973301B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A41E0F-0B66-7B2C-FBCB-D27B23661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080AC-B301-69EA-E489-D6286A581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BB00A3-A877-E2AB-13BC-6C0821668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5964CE-2BC5-494F-BBB1-377D0428280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00356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693FB-3587-3C1F-0506-A09DC4567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48E8A-4401-6B4A-70FE-C31179D8F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240FC-A965-25CC-081D-43830C3FC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3F4FFB-C790-224F-B1C5-85626BFB8DE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11957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13950-1F46-AD7F-A8A7-9BDA89364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D9E42-0A31-415A-0C7F-62DA7BBFF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53A8EA-5269-FBEF-322A-415C06D43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A8C6D-8E63-8A51-CE84-BC38896E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28365-9462-96BA-5AC4-58181138C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FBE2F-76EF-BECC-2C44-1605DE39B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BA4243-8FC9-E74E-919F-BB5E7B874F6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71360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49C02-DB23-DE3E-BF6F-FB364C57B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D0A3CF-F516-13A5-5481-617344AB46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E893C7-318D-BF8B-8A3A-4C4D2AC02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F47DD-1EC0-99DC-384D-DC548550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6BED7-B2FB-B856-4676-F176BA9CD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0D195-CF1E-F2D5-AD0E-962B7548A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4A04AF-DC58-984A-8AD4-23AF2C879CA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24038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0193E-4648-D08D-2047-423884FF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9223C2-5607-1B1A-35E7-F9D588EE0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E0269-6F6A-4884-E07C-3BE6E87B4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EECEB-D805-69BF-1D2D-FFFC16EE3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673EA-B57F-B227-8DDF-B04557480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D95167-F49C-B344-8F3D-4D704BB8A05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6921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5A772E-A459-8980-A34D-CC8C4A0C98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7FE1F-A2B8-6051-A316-E393BFDF6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FDB5E-1DED-D481-070B-EF539C0D1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527F2-2B97-30C8-E5BD-32B3086C0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F69DA-5FF4-C8AC-1461-40B7F8ED3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AC77C8-DA14-E34F-A3D5-FB42075FFF2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0524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9" name="Picture 15">
            <a:extLst>
              <a:ext uri="{FF2B5EF4-FFF2-40B4-BE49-F238E27FC236}">
                <a16:creationId xmlns:a16="http://schemas.microsoft.com/office/drawing/2014/main" id="{6DBFDA04-0FE7-522F-1F88-C6C01B669A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6688" y="1066800"/>
            <a:ext cx="87312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6" name="Rectangle 2">
            <a:extLst>
              <a:ext uri="{FF2B5EF4-FFF2-40B4-BE49-F238E27FC236}">
                <a16:creationId xmlns:a16="http://schemas.microsoft.com/office/drawing/2014/main" id="{080F81FC-ADC4-490D-A97A-264D5E2FDA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ACD663B-D776-9B76-0DA2-312DA612B3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43BFF25-EAF4-BD91-727F-523C5324CDB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GB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DDD2DAF-8635-7F3F-2AE7-4BCF25AE924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GB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D5864B8-9823-EDBC-65C2-2A34C32F47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3690848-06F4-1A4A-90B4-95D0E74E32DE}" type="slidenum">
              <a:rPr lang="en-GB" altLang="en-US"/>
              <a:pPr/>
              <a:t>‹#›</a:t>
            </a:fld>
            <a:endParaRPr lang="en-GB" altLang="en-US"/>
          </a:p>
        </p:txBody>
      </p:sp>
      <p:grpSp>
        <p:nvGrpSpPr>
          <p:cNvPr id="1043" name="Group 19">
            <a:extLst>
              <a:ext uri="{FF2B5EF4-FFF2-40B4-BE49-F238E27FC236}">
                <a16:creationId xmlns:a16="http://schemas.microsoft.com/office/drawing/2014/main" id="{F7BD6511-8E7A-B742-3325-EB0EACECDE1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228600"/>
            <a:ext cx="9144000" cy="838200"/>
            <a:chOff x="0" y="192"/>
            <a:chExt cx="5760" cy="528"/>
          </a:xfrm>
        </p:grpSpPr>
        <p:sp>
          <p:nvSpPr>
            <p:cNvPr id="1042" name="Rectangle 18">
              <a:extLst>
                <a:ext uri="{FF2B5EF4-FFF2-40B4-BE49-F238E27FC236}">
                  <a16:creationId xmlns:a16="http://schemas.microsoft.com/office/drawing/2014/main" id="{07625F60-DE7C-5106-4FDB-646A273B814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32" y="528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41" name="Line 17">
              <a:extLst>
                <a:ext uri="{FF2B5EF4-FFF2-40B4-BE49-F238E27FC236}">
                  <a16:creationId xmlns:a16="http://schemas.microsoft.com/office/drawing/2014/main" id="{89669579-F1C2-9596-4A8E-4CA15CCBBE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872" y="192"/>
              <a:ext cx="2976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pic>
          <p:nvPicPr>
            <p:cNvPr id="1040" name="Picture 16">
              <a:extLst>
                <a:ext uri="{FF2B5EF4-FFF2-40B4-BE49-F238E27FC236}">
                  <a16:creationId xmlns:a16="http://schemas.microsoft.com/office/drawing/2014/main" id="{34223F5F-7835-7DE3-1ED3-D34CA82D245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9" y="192"/>
              <a:ext cx="1063" cy="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7" name="Picture 13">
              <a:extLst>
                <a:ext uri="{FF2B5EF4-FFF2-40B4-BE49-F238E27FC236}">
                  <a16:creationId xmlns:a16="http://schemas.microsoft.com/office/drawing/2014/main" id="{6F4F3C73-0D79-4E65-7620-0FF041D45C2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92"/>
              <a:ext cx="2016" cy="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8" name="Picture 14">
              <a:extLst>
                <a:ext uri="{FF2B5EF4-FFF2-40B4-BE49-F238E27FC236}">
                  <a16:creationId xmlns:a16="http://schemas.microsoft.com/office/drawing/2014/main" id="{C5E08575-F92A-5D84-569B-A5BB86186C6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2" y="192"/>
              <a:ext cx="1008" cy="4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Monotype Corsiva"/>
          <a:ea typeface="+mj-ea"/>
          <a:cs typeface="Monotype Corsiva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100" Type="http://schemas.openxmlformats.org/officeDocument/2006/relationships/image" Target="../media/w5img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.xml"/></Relationships>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2.xml"/></Relationships>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3.xml"/></Relationships>
</file>

<file path=ppt/slides/_rels/slide4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4.xml"/></Relationships>
</file>

<file path=ppt/slides/_rels/slide4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5.xml"/></Relationships>
</file>

<file path=ppt/slides/_rels/slide5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6.xml"/></Relationships>
</file>

<file path=ppt/slides/_rels/slide5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7.xml"/></Relationships>
</file>

<file path=ppt/slides/_rels/slide5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8.xml"/></Relationships>
</file>

<file path=ppt/slides/_rels/slide5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6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6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100" Type="http://schemas.openxmlformats.org/officeDocument/2006/relationships/image" Target="../media/w5img1.jpeg"/></Relationships>
</file>

<file path=ppt/slides/_rels/slide6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100" Type="http://schemas.openxmlformats.org/officeDocument/2006/relationships/image" Target="../media/w5img2.jpeg"/><Relationship Id="rId101" Type="http://schemas.openxmlformats.org/officeDocument/2006/relationships/image" Target="../media/w5img1.png"/></Relationships>
</file>

<file path=ppt/slides/_rels/slide6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100" Type="http://schemas.openxmlformats.org/officeDocument/2006/relationships/image" Target="../media/w5img3.jpeg"/></Relationships>
</file>

<file path=ppt/slides/_rels/slide6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9.xml"/></Relationships>
</file>

<file path=ppt/slides/_rels/slide6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0.xml"/></Relationships>
</file>

<file path=ppt/slides/_rels/slide6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6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6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6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7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7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7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7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7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100" Type="http://schemas.openxmlformats.org/officeDocument/2006/relationships/image" Target="../media/w5img4.jpeg"/></Relationships>
</file>

<file path=ppt/slides/_rels/slide7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1.xml"/></Relationships>
</file>

<file path=ppt/slides/_rels/slide7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2.xml"/></Relationships>
</file>

<file path=ppt/slides/_rels/slide7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7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3.xml"/></Relationships>
</file>

<file path=ppt/slides/_rels/slide7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8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8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8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8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8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8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4.xml"/></Relationships>
</file>

<file path=ppt/slides/_rels/slide8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5.xml"/></Relationships>
</file>

<file path=ppt/slides/_rels/slide8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6.xml"/></Relationships>
</file>

<file path=ppt/slides/_rels/slide8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100" Type="http://schemas.openxmlformats.org/officeDocument/2006/relationships/image" Target="../media/w5img5.jpeg"/></Relationships>
</file>

<file path=ppt/slides/_rels/slide8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9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7.xml"/></Relationships>
</file>

<file path=ppt/slides/_rels/slide9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8.xml"/></Relationships>
</file>

<file path=ppt/slides/_rels/slide9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9.xml"/></Relationships>
</file>

<file path=ppt/slides/_rels/slide9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20.xml"/></Relationships>
</file>

<file path=ppt/slides/_rels/slide9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21.xml"/></Relationships>
</file>

<file path=ppt/slides/_rels/slide9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22.xml"/></Relationships>
</file>

<file path=ppt/slides/_rels/slide9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F94622F7-E335-BBED-6513-1C30ABAD1B9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981200"/>
            <a:ext cx="6629400" cy="1219200"/>
          </a:xfrm>
        </p:spPr>
        <p:txBody>
          <a:bodyPr anchor="ctr"/>
          <a:lstStyle/>
          <a:p>
            <a:pPr>
              <a:spcAft>
                <a:spcPct val="30000"/>
              </a:spcAft>
            </a:pPr>
            <a:r>
              <a:rPr lang="en-GB" altLang="en-US" sz="4000">
                <a:solidFill>
                  <a:srgbClr val="2E005D"/>
                </a:solidFill>
                <a:latin typeface="Verdana" panose="020B0604030504040204" pitchFamily="34" charset="0"/>
              </a:rPr>
              <a:t/>
            </a:r>
            <a:endParaRPr lang="en-GB" altLang="en-US" sz="4000">
              <a:solidFill>
                <a:srgbClr val="2E005D"/>
              </a:solidFill>
            </a:endParaRP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355F3E30-03B9-1213-7A29-F43BBE31BBC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352800"/>
            <a:ext cx="6400800" cy="2286000"/>
          </a:xfrm>
        </p:spPr>
        <p:txBody>
          <a:bodyPr/>
          <a:lstStyle/>
          <a:p>
            <a:r>
              <a:rPr lang="en-GB" altLang="en-US" sz="4400" dirty="0">
                <a:solidFill>
                  <a:srgbClr val="000000"/>
                </a:solidFill>
                <a:latin typeface="Monotype Corsiva"/>
                <a:cs typeface="Monotype Corsiva"/>
              </a:rPr>
              <a:t>Task Analyses</a:t>
            </a:r>
          </a:p>
        </p:txBody>
      </p:sp>
      <p:grpSp>
        <p:nvGrpSpPr>
          <p:cNvPr id="53252" name="Group 4">
            <a:extLst>
              <a:ext uri="{FF2B5EF4-FFF2-40B4-BE49-F238E27FC236}">
                <a16:creationId xmlns:a16="http://schemas.microsoft.com/office/drawing/2014/main" id="{6A4B1E63-FE7E-75D1-044A-2515BA9326F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3253" name="Rectangle 5">
              <a:extLst>
                <a:ext uri="{FF2B5EF4-FFF2-40B4-BE49-F238E27FC236}">
                  <a16:creationId xmlns:a16="http://schemas.microsoft.com/office/drawing/2014/main" id="{0125DA2E-1E0C-4D06-51C8-A6EF94C65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528"/>
              <a:ext cx="624" cy="37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3254" name="Rectangle 6">
              <a:extLst>
                <a:ext uri="{FF2B5EF4-FFF2-40B4-BE49-F238E27FC236}">
                  <a16:creationId xmlns:a16="http://schemas.microsoft.com/office/drawing/2014/main" id="{795D76CB-4BAC-2E1A-E8E4-8891769F3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0" cy="672"/>
            </a:xfrm>
            <a:prstGeom prst="rect">
              <a:avLst/>
            </a:prstGeom>
            <a:solidFill>
              <a:srgbClr val="2E005D"/>
            </a:solidFill>
            <a:ln w="9525">
              <a:solidFill>
                <a:srgbClr val="2E005D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pic>
          <p:nvPicPr>
            <p:cNvPr id="53255" name="Picture 7">
              <a:extLst>
                <a:ext uri="{FF2B5EF4-FFF2-40B4-BE49-F238E27FC236}">
                  <a16:creationId xmlns:a16="http://schemas.microsoft.com/office/drawing/2014/main" id="{8A26E729-1F56-7B0D-38AA-C2D9BCFD26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" y="0"/>
              <a:ext cx="3264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3256" name="Picture 8">
              <a:extLst>
                <a:ext uri="{FF2B5EF4-FFF2-40B4-BE49-F238E27FC236}">
                  <a16:creationId xmlns:a16="http://schemas.microsoft.com/office/drawing/2014/main" id="{D2855D9F-B4B7-0486-9A94-F015505B08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0"/>
              <a:ext cx="672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3257" name="Picture 9">
              <a:extLst>
                <a:ext uri="{FF2B5EF4-FFF2-40B4-BE49-F238E27FC236}">
                  <a16:creationId xmlns:a16="http://schemas.microsoft.com/office/drawing/2014/main" id="{6F2720C8-143F-FD3C-81B4-69CA0445A8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672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3258" name="Picture 10">
              <a:extLst>
                <a:ext uri="{FF2B5EF4-FFF2-40B4-BE49-F238E27FC236}">
                  <a16:creationId xmlns:a16="http://schemas.microsoft.com/office/drawing/2014/main" id="{37529E03-5099-50FF-C8AD-C5B71D3A1E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0" y="0"/>
              <a:ext cx="176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3259" name="Picture 11">
              <a:extLst>
                <a:ext uri="{FF2B5EF4-FFF2-40B4-BE49-F238E27FC236}">
                  <a16:creationId xmlns:a16="http://schemas.microsoft.com/office/drawing/2014/main" id="{234B2933-0BF7-46AD-0AEF-AF330587ED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84" y="0"/>
              <a:ext cx="176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C628033-520D-A3A4-C265-496D0DC998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Example</a:t>
            </a:r>
            <a:endParaRPr lang="en-GB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46B00149-02CC-7388-5CAD-F238A43A11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in order to clean the house</a:t>
            </a:r>
          </a:p>
          <a:p>
            <a:pPr lvl="2"/>
            <a:r>
              <a:rPr lang="en-US" altLang="en-US" sz="1800"/>
              <a:t>get the vacuum cleaner out</a:t>
            </a:r>
            <a:r>
              <a:rPr lang="en-GB" altLang="en-US" sz="1800"/>
              <a:t> </a:t>
            </a:r>
          </a:p>
          <a:p>
            <a:pPr lvl="2"/>
            <a:r>
              <a:rPr lang="en-GB" altLang="en-US" sz="1800"/>
              <a:t>fix </a:t>
            </a:r>
            <a:r>
              <a:rPr lang="en-US" altLang="en-US" sz="1800"/>
              <a:t>the appropriate attachments</a:t>
            </a:r>
          </a:p>
          <a:p>
            <a:pPr lvl="2"/>
            <a:r>
              <a:rPr lang="en-US" altLang="en-US" sz="1800"/>
              <a:t>clean the rooms</a:t>
            </a:r>
          </a:p>
          <a:p>
            <a:pPr lvl="2"/>
            <a:r>
              <a:rPr lang="en-US" altLang="en-US" sz="1800"/>
              <a:t>when the dust bag gets full, empty it</a:t>
            </a:r>
          </a:p>
          <a:p>
            <a:pPr lvl="2"/>
            <a:r>
              <a:rPr lang="en-US" altLang="en-US" sz="1800"/>
              <a:t>put the vacuum cleaner and tools away</a:t>
            </a:r>
          </a:p>
          <a:p>
            <a:pPr lvl="2"/>
            <a:endParaRPr lang="en-US" altLang="en-US" sz="1800"/>
          </a:p>
          <a:p>
            <a:r>
              <a:rPr lang="en-US" altLang="en-US" sz="2400"/>
              <a:t>must know about:</a:t>
            </a:r>
          </a:p>
          <a:p>
            <a:pPr lvl="2"/>
            <a:r>
              <a:rPr lang="en-US" altLang="en-US" sz="1800"/>
              <a:t>vacuum cleaners, their attachments,</a:t>
            </a:r>
            <a:r>
              <a:rPr lang="en-GB" altLang="en-US" sz="1800"/>
              <a:t> </a:t>
            </a:r>
            <a:r>
              <a:rPr lang="en-US" altLang="en-US" sz="1800"/>
              <a:t>dust bags, </a:t>
            </a:r>
            <a:br>
              <a:rPr lang="en-US" altLang="en-US" sz="1800"/>
            </a:br>
            <a:r>
              <a:rPr lang="en-US" altLang="en-US" sz="1800"/>
              <a:t>cupboards, rooms etc.</a:t>
            </a:r>
          </a:p>
          <a:p>
            <a:endParaRPr lang="en-GB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E3F7890A-BDF9-3647-96C2-9D51C3F10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Task Decomposition</a:t>
            </a:r>
            <a:endParaRPr lang="en-GB" alt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65DD6E75-7F42-C241-6D4B-692FFFF560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68325" indent="-568325">
              <a:buFontTx/>
              <a:buNone/>
            </a:pPr>
            <a:r>
              <a:rPr lang="en-US" altLang="en-US" sz="2400"/>
              <a:t>Aims:</a:t>
            </a:r>
            <a:br>
              <a:rPr lang="en-US" altLang="en-US" sz="2400"/>
            </a:br>
            <a:r>
              <a:rPr lang="en-US" altLang="en-US" sz="2000"/>
              <a:t>describe the actions people do</a:t>
            </a:r>
            <a:br>
              <a:rPr lang="en-US" altLang="en-US" sz="2000"/>
            </a:br>
            <a:r>
              <a:rPr lang="en-US" altLang="en-US" sz="2000"/>
              <a:t>structure them within task subtask</a:t>
            </a:r>
            <a:r>
              <a:rPr lang="en-GB" altLang="en-US" sz="2000"/>
              <a:t> h</a:t>
            </a:r>
            <a:r>
              <a:rPr lang="en-US" altLang="en-US" sz="2000"/>
              <a:t>ierarchy</a:t>
            </a:r>
            <a:br>
              <a:rPr lang="en-US" altLang="en-US" sz="2000"/>
            </a:br>
            <a:r>
              <a:rPr lang="en-US" altLang="en-US" sz="2000"/>
              <a:t>describe order of subtasks</a:t>
            </a:r>
          </a:p>
          <a:p>
            <a:pPr marL="568325" indent="-568325">
              <a:buFontTx/>
              <a:buNone/>
            </a:pPr>
            <a:endParaRPr lang="en-US" altLang="en-US" sz="1200"/>
          </a:p>
          <a:p>
            <a:pPr marL="568325" indent="-568325">
              <a:buFontTx/>
              <a:buNone/>
            </a:pPr>
            <a:r>
              <a:rPr lang="en-US" altLang="en-US" sz="2400"/>
              <a:t>Variants:</a:t>
            </a:r>
            <a:br>
              <a:rPr lang="en-US" altLang="en-US" sz="2400"/>
            </a:br>
            <a:r>
              <a:rPr lang="en-US" altLang="en-US" sz="2000"/>
              <a:t>Hierarchical Task Analysis (HTA)</a:t>
            </a:r>
            <a:br>
              <a:rPr lang="en-US" altLang="en-US" sz="2000"/>
            </a:br>
            <a:r>
              <a:rPr lang="en-US" altLang="en-US" sz="2000"/>
              <a:t>		</a:t>
            </a:r>
            <a:r>
              <a:rPr lang="en-US" altLang="en-US" sz="1800"/>
              <a:t>most common </a:t>
            </a:r>
            <a:endParaRPr lang="en-GB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C36BE01C-F15C-0DFA-9C67-5280EBC542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Textual HTA description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AEF26500-AAAD-26AD-7D68-19549ED76B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GB" altLang="en-US" sz="1600" b="1"/>
              <a:t>Hierarchy description ...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80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400"/>
              <a:t>	0. in order to clean the house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400"/>
              <a:t>		1. get the vacuum cleaner out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400"/>
              <a:t>		2. get the appropriate attachment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400"/>
              <a:t>		3. clean the rooms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400"/>
              <a:t>			3.1. clean the hall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400"/>
              <a:t>			3.2. clean the living rooms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400"/>
              <a:t>			3.3. clean the bedrooms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400"/>
              <a:t>		4. empty the dust bag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400"/>
              <a:t>		5. put vacuum cleaner and attachments away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80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400"/>
              <a:t>... and plans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400"/>
              <a:t>	Plan 0: do 1 - 2 - 3 - 5 in that order. when the dust bag gets full do 4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400"/>
              <a:t>	Plan 3: do any of 3.1, 3.2 or 3.3 in any order depending</a:t>
            </a:r>
            <a:br>
              <a:rPr lang="en-GB" altLang="en-US" sz="1400"/>
            </a:br>
            <a:r>
              <a:rPr lang="en-GB" altLang="en-US" sz="1400"/>
              <a:t>		  on which rooms need cleaning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718F4FD-F60E-593D-E41C-79D60FE38F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Tasks as explanation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14EF39B-1BD8-8F29-C086-67C2683E21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imagine asking the user the question:</a:t>
            </a:r>
            <a:br>
              <a:rPr lang="en-GB" altLang="en-US" sz="2400"/>
            </a:br>
            <a:r>
              <a:rPr lang="en-GB" altLang="en-US" sz="2400"/>
              <a:t>	</a:t>
            </a:r>
            <a:r>
              <a:rPr lang="en-GB" altLang="en-US" sz="2400">
                <a:solidFill>
                  <a:srgbClr val="993333"/>
                </a:solidFill>
              </a:rPr>
              <a:t>what are you doing now?</a:t>
            </a:r>
            <a:endParaRPr lang="en-GB" altLang="en-US" sz="2400"/>
          </a:p>
          <a:p>
            <a:r>
              <a:rPr lang="en-GB" altLang="en-US" sz="2400"/>
              <a:t>for the same action the answer may be:</a:t>
            </a:r>
            <a:br>
              <a:rPr lang="en-GB" altLang="en-US" sz="2400"/>
            </a:br>
            <a:r>
              <a:rPr lang="en-GB" altLang="en-US" sz="2400"/>
              <a:t>	</a:t>
            </a:r>
            <a:r>
              <a:rPr lang="en-GB" altLang="en-US" sz="2000"/>
              <a:t>typing ctrl-B</a:t>
            </a:r>
            <a:br>
              <a:rPr lang="en-GB" altLang="en-US" sz="2000"/>
            </a:br>
            <a:r>
              <a:rPr lang="en-GB" altLang="en-US" sz="2000"/>
              <a:t>	making a word bold</a:t>
            </a:r>
            <a:br>
              <a:rPr lang="en-GB" altLang="en-US" sz="2000"/>
            </a:br>
            <a:r>
              <a:rPr lang="en-GB" altLang="en-US" sz="2000"/>
              <a:t>	emphasising a word</a:t>
            </a:r>
            <a:br>
              <a:rPr lang="en-GB" altLang="en-US" sz="2000"/>
            </a:br>
            <a:r>
              <a:rPr lang="en-GB" altLang="en-US" sz="2000"/>
              <a:t>	editing a document</a:t>
            </a:r>
            <a:br>
              <a:rPr lang="en-GB" altLang="en-US" sz="2000"/>
            </a:br>
            <a:r>
              <a:rPr lang="en-GB" altLang="en-US" sz="2000"/>
              <a:t>	writing a letter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69680B9-CCB8-C81B-66D4-4769C905C5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Diagrammatic HTA</a:t>
            </a:r>
          </a:p>
        </p:txBody>
      </p:sp>
      <p:graphicFrame>
        <p:nvGraphicFramePr>
          <p:cNvPr id="51203" name="Object 3">
            <a:extLst>
              <a:ext uri="{FF2B5EF4-FFF2-40B4-BE49-F238E27FC236}">
                <a16:creationId xmlns:a16="http://schemas.microsoft.com/office/drawing/2014/main" id="{7F7D377F-9655-774F-66E4-3A63CAA8C8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1606550"/>
          <a:ext cx="7848600" cy="525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641850" imgH="3105150" progId="Paint.Picture">
                  <p:embed/>
                </p:oleObj>
              </mc:Choice>
              <mc:Fallback>
                <p:oleObj name="Bitmap Image" r:id="rId2" imgW="4641850" imgH="3105150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606550"/>
                        <a:ext cx="7848600" cy="525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84279D11-31A5-2595-E60F-D5CDBCE643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Refining the description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770ADC89-0130-2A30-DBE3-4961FED15E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  <a:tabLst>
                <a:tab pos="2667000" algn="l"/>
              </a:tabLst>
            </a:pPr>
            <a:r>
              <a:rPr lang="en-GB" altLang="en-US" sz="2400"/>
              <a:t>Given initial HTA (textual or diagram)</a:t>
            </a:r>
          </a:p>
          <a:p>
            <a:pPr lvl="1">
              <a:buFontTx/>
              <a:buNone/>
              <a:tabLst>
                <a:tab pos="2667000" algn="l"/>
              </a:tabLst>
            </a:pPr>
            <a:r>
              <a:rPr lang="en-GB" altLang="en-US"/>
              <a:t>How to check / improve it?</a:t>
            </a:r>
          </a:p>
          <a:p>
            <a:pPr>
              <a:buFontTx/>
              <a:buNone/>
              <a:tabLst>
                <a:tab pos="2667000" algn="l"/>
              </a:tabLst>
            </a:pPr>
            <a:endParaRPr lang="en-GB" altLang="en-US" sz="2400"/>
          </a:p>
          <a:p>
            <a:pPr>
              <a:buFontTx/>
              <a:buNone/>
              <a:tabLst>
                <a:tab pos="2667000" algn="l"/>
              </a:tabLst>
            </a:pPr>
            <a:r>
              <a:rPr lang="en-GB" altLang="en-US" sz="2400"/>
              <a:t>Some heuristics:</a:t>
            </a:r>
          </a:p>
          <a:p>
            <a:pPr lvl="1">
              <a:buFontTx/>
              <a:buNone/>
              <a:tabLst>
                <a:tab pos="2667000" algn="l"/>
              </a:tabLst>
            </a:pPr>
            <a:r>
              <a:rPr lang="en-GB" altLang="en-US" sz="2000"/>
              <a:t>paired actions	</a:t>
            </a:r>
            <a:r>
              <a:rPr lang="en-GB" altLang="en-US" sz="1600"/>
              <a:t>e.g., where is `turn on gas'</a:t>
            </a:r>
          </a:p>
          <a:p>
            <a:pPr lvl="1">
              <a:buFontTx/>
              <a:buNone/>
              <a:tabLst>
                <a:tab pos="2667000" algn="l"/>
              </a:tabLst>
            </a:pPr>
            <a:r>
              <a:rPr lang="en-GB" altLang="en-US" sz="2000"/>
              <a:t>restructure	</a:t>
            </a:r>
            <a:r>
              <a:rPr lang="en-GB" altLang="en-US" sz="1600"/>
              <a:t>e.g., generate task `make pot'</a:t>
            </a:r>
            <a:endParaRPr lang="en-GB" altLang="en-US" sz="2000"/>
          </a:p>
          <a:p>
            <a:pPr lvl="1">
              <a:buFontTx/>
              <a:buNone/>
              <a:tabLst>
                <a:tab pos="2667000" algn="l"/>
              </a:tabLst>
            </a:pPr>
            <a:r>
              <a:rPr lang="en-GB" altLang="en-US" sz="2000"/>
              <a:t>balance	</a:t>
            </a:r>
            <a:r>
              <a:rPr lang="en-GB" altLang="en-US" sz="1600"/>
              <a:t>e.g., is `pour tea' simpler than making pot?</a:t>
            </a:r>
          </a:p>
          <a:p>
            <a:pPr lvl="1">
              <a:buFontTx/>
              <a:buNone/>
              <a:tabLst>
                <a:tab pos="2667000" algn="l"/>
              </a:tabLst>
            </a:pPr>
            <a:r>
              <a:rPr lang="en-GB" altLang="en-US" sz="2000"/>
              <a:t>generalise	</a:t>
            </a:r>
            <a:r>
              <a:rPr lang="en-GB" altLang="en-US" sz="1600"/>
              <a:t>e.g., make one cup ….. or more</a:t>
            </a:r>
            <a:endParaRPr lang="en-GB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57E1FFB-7B6C-34E6-7D20-3F0FAB880F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Refined HTA for making tea</a:t>
            </a:r>
            <a:br>
              <a:rPr lang="en-GB" altLang="en-US"/>
            </a:br>
            <a:endParaRPr lang="en-GB" altLang="en-US"/>
          </a:p>
        </p:txBody>
      </p:sp>
      <p:pic>
        <p:nvPicPr>
          <p:cNvPr id="50180" name="Picture 4">
            <a:extLst>
              <a:ext uri="{FF2B5EF4-FFF2-40B4-BE49-F238E27FC236}">
                <a16:creationId xmlns:a16="http://schemas.microsoft.com/office/drawing/2014/main" id="{5C30A1C6-9DC3-2946-BCA6-B19CFE09D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212850"/>
            <a:ext cx="6019800" cy="556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ED90B33A-6952-E0D7-C85F-B69BE4AF7A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Types of plan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0CC71B28-0D9E-5408-8A1A-9135250E09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674938" indent="-2674938">
              <a:spcBef>
                <a:spcPct val="50000"/>
              </a:spcBef>
              <a:buFontTx/>
              <a:buNone/>
              <a:tabLst>
                <a:tab pos="2387600" algn="l"/>
              </a:tabLst>
            </a:pPr>
            <a:r>
              <a:rPr lang="en-GB" altLang="en-US" sz="2000"/>
              <a:t>fixed sequence</a:t>
            </a:r>
            <a:r>
              <a:rPr lang="en-GB" altLang="en-US" sz="1800"/>
              <a:t>	-	</a:t>
            </a:r>
            <a:r>
              <a:rPr lang="en-GB" altLang="en-US" sz="1600"/>
              <a:t>1.1 then 1.2 then 1.3</a:t>
            </a:r>
          </a:p>
          <a:p>
            <a:pPr marL="2674938" indent="-2674938">
              <a:spcBef>
                <a:spcPct val="50000"/>
              </a:spcBef>
              <a:buFontTx/>
              <a:buNone/>
              <a:tabLst>
                <a:tab pos="2387600" algn="l"/>
              </a:tabLst>
            </a:pPr>
            <a:r>
              <a:rPr lang="en-GB" altLang="en-US" sz="2000"/>
              <a:t>optional tasks</a:t>
            </a:r>
            <a:r>
              <a:rPr lang="en-GB" altLang="en-US" sz="1800"/>
              <a:t>	-	</a:t>
            </a:r>
            <a:r>
              <a:rPr lang="en-GB" altLang="en-US" sz="1600"/>
              <a:t>if the pot is full 2</a:t>
            </a:r>
            <a:endParaRPr lang="en-GB" altLang="en-US" sz="1800"/>
          </a:p>
          <a:p>
            <a:pPr marL="2674938" indent="-2674938">
              <a:spcBef>
                <a:spcPct val="50000"/>
              </a:spcBef>
              <a:buFontTx/>
              <a:buNone/>
              <a:tabLst>
                <a:tab pos="2387600" algn="l"/>
              </a:tabLst>
            </a:pPr>
            <a:r>
              <a:rPr lang="en-GB" altLang="en-US" sz="2000"/>
              <a:t>wait for events</a:t>
            </a:r>
            <a:r>
              <a:rPr lang="en-GB" altLang="en-US" sz="1800"/>
              <a:t>	-  </a:t>
            </a:r>
            <a:r>
              <a:rPr lang="en-GB" altLang="en-US" sz="1600"/>
              <a:t>when kettle boils 1.4</a:t>
            </a:r>
            <a:endParaRPr lang="en-GB" altLang="en-US" sz="1800"/>
          </a:p>
          <a:p>
            <a:pPr marL="2674938" indent="-2674938">
              <a:spcBef>
                <a:spcPct val="50000"/>
              </a:spcBef>
              <a:buFontTx/>
              <a:buNone/>
              <a:tabLst>
                <a:tab pos="2387600" algn="l"/>
              </a:tabLst>
            </a:pPr>
            <a:r>
              <a:rPr lang="en-GB" altLang="en-US" sz="2000"/>
              <a:t>cycles</a:t>
            </a:r>
            <a:r>
              <a:rPr lang="en-GB" altLang="en-US" sz="1800"/>
              <a:t>	-	</a:t>
            </a:r>
            <a:r>
              <a:rPr lang="en-GB" altLang="en-US" sz="1600"/>
              <a:t>do 5.1 5.2 while there are still empty cups</a:t>
            </a:r>
          </a:p>
          <a:p>
            <a:pPr marL="2674938" indent="-2674938">
              <a:spcBef>
                <a:spcPct val="50000"/>
              </a:spcBef>
              <a:buFontTx/>
              <a:buNone/>
              <a:tabLst>
                <a:tab pos="2387600" algn="l"/>
              </a:tabLst>
            </a:pPr>
            <a:r>
              <a:rPr lang="en-GB" altLang="en-US" sz="2000"/>
              <a:t>time-sharing</a:t>
            </a:r>
            <a:r>
              <a:rPr lang="en-GB" altLang="en-US" sz="1800"/>
              <a:t>	-	</a:t>
            </a:r>
            <a:r>
              <a:rPr lang="en-GB" altLang="en-US" sz="1600"/>
              <a:t>do 1; at the same time ...</a:t>
            </a:r>
            <a:endParaRPr lang="en-GB" altLang="en-US" sz="1800"/>
          </a:p>
          <a:p>
            <a:pPr marL="2674938" indent="-2674938">
              <a:spcBef>
                <a:spcPct val="50000"/>
              </a:spcBef>
              <a:buFontTx/>
              <a:buNone/>
              <a:tabLst>
                <a:tab pos="2387600" algn="l"/>
              </a:tabLst>
            </a:pPr>
            <a:r>
              <a:rPr lang="en-GB" altLang="en-US" sz="2000"/>
              <a:t>discretionary</a:t>
            </a:r>
            <a:r>
              <a:rPr lang="en-GB" altLang="en-US" sz="1800"/>
              <a:t>	-	</a:t>
            </a:r>
            <a:r>
              <a:rPr lang="en-GB" altLang="en-US" sz="1600"/>
              <a:t>do any of 3.1, 3.2 or 3.3 in any order</a:t>
            </a:r>
            <a:endParaRPr lang="en-GB" altLang="en-US" sz="1800"/>
          </a:p>
          <a:p>
            <a:pPr marL="2674938" indent="-2674938">
              <a:spcBef>
                <a:spcPct val="50000"/>
              </a:spcBef>
              <a:buFontTx/>
              <a:buNone/>
              <a:tabLst>
                <a:tab pos="2387600" algn="l"/>
              </a:tabLst>
            </a:pPr>
            <a:r>
              <a:rPr lang="en-GB" altLang="en-US" sz="2000"/>
              <a:t>mixtures</a:t>
            </a:r>
            <a:r>
              <a:rPr lang="en-GB" altLang="en-US" sz="1800"/>
              <a:t>	-	</a:t>
            </a:r>
            <a:r>
              <a:rPr lang="en-GB" altLang="en-US" sz="1600"/>
              <a:t>most plans involve several of the above</a:t>
            </a:r>
            <a:endParaRPr lang="en-GB" altLang="en-US"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906898F5-48AF-5BF6-88ED-E78E3EF0D1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Knowledge Based Analyses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1BEFD038-53B2-E05F-3789-6E0F8F10F5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  <a:tabLst>
                <a:tab pos="762000" algn="l"/>
                <a:tab pos="2387600" algn="l"/>
              </a:tabLst>
            </a:pPr>
            <a:endParaRPr lang="en-GB" altLang="en-US"/>
          </a:p>
          <a:p>
            <a:pPr>
              <a:buFontTx/>
              <a:buNone/>
              <a:tabLst>
                <a:tab pos="762000" algn="l"/>
                <a:tab pos="2387600" algn="l"/>
              </a:tabLst>
            </a:pPr>
            <a:r>
              <a:rPr lang="en-GB" altLang="en-US"/>
              <a:t>Focus on:</a:t>
            </a:r>
          </a:p>
          <a:p>
            <a:pPr>
              <a:buFontTx/>
              <a:buChar char=" "/>
              <a:tabLst>
                <a:tab pos="762000" algn="l"/>
                <a:tab pos="2387600" algn="l"/>
              </a:tabLst>
            </a:pPr>
            <a:r>
              <a:rPr lang="en-GB" altLang="en-US"/>
              <a:t>	Objects	–  used in task</a:t>
            </a:r>
          </a:p>
          <a:p>
            <a:pPr>
              <a:buFontTx/>
              <a:buChar char=" "/>
              <a:tabLst>
                <a:tab pos="762000" algn="l"/>
                <a:tab pos="2387600" algn="l"/>
              </a:tabLst>
            </a:pPr>
            <a:r>
              <a:rPr lang="en-GB" altLang="en-US"/>
              <a:t>	Actions	–  performed</a:t>
            </a:r>
          </a:p>
          <a:p>
            <a:pPr>
              <a:tabLst>
                <a:tab pos="762000" algn="l"/>
                <a:tab pos="2387600" algn="l"/>
              </a:tabLst>
            </a:pPr>
            <a:endParaRPr lang="en-GB" altLang="en-US"/>
          </a:p>
          <a:p>
            <a:pPr>
              <a:buFontTx/>
              <a:buNone/>
              <a:tabLst>
                <a:tab pos="762000" algn="l"/>
                <a:tab pos="2387600" algn="l"/>
              </a:tabLst>
            </a:pPr>
            <a:r>
              <a:rPr lang="en-GB" altLang="en-US"/>
              <a:t>+ Taxonomies  –</a:t>
            </a:r>
            <a:br>
              <a:rPr lang="en-GB" altLang="en-US"/>
            </a:br>
            <a:r>
              <a:rPr lang="en-GB" altLang="en-US"/>
              <a:t>	represent levels of abstraction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323100AB-C035-F56D-FA60-71FF6B5B3D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Knowledge–Based Example …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402812D7-602E-F1DE-C118-1BC5FFCECA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motor controls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	steering  </a:t>
            </a:r>
            <a:r>
              <a:rPr lang="en-GB" altLang="en-US" sz="1600" i="1">
                <a:latin typeface="Courier New" panose="02070309020205020404" pitchFamily="49" charset="0"/>
              </a:rPr>
              <a:t>steering wheel, indicators</a:t>
            </a:r>
            <a:endParaRPr lang="en-GB" altLang="en-US" sz="160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	engine/speed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		gearing  </a:t>
            </a:r>
            <a:r>
              <a:rPr lang="en-GB" altLang="en-US" sz="1600" i="1">
                <a:latin typeface="Courier New" panose="02070309020205020404" pitchFamily="49" charset="0"/>
              </a:rPr>
              <a:t>clutch, gear stick</a:t>
            </a:r>
            <a:endParaRPr lang="en-GB" altLang="en-US" sz="160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	lights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		external  </a:t>
            </a:r>
            <a:r>
              <a:rPr lang="en-GB" altLang="en-US" sz="1600" i="1">
                <a:latin typeface="Courier New" panose="02070309020205020404" pitchFamily="49" charset="0"/>
              </a:rPr>
              <a:t>headlights, hazard lights</a:t>
            </a:r>
            <a:endParaRPr lang="en-GB" altLang="en-US" sz="160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		internal  </a:t>
            </a:r>
            <a:r>
              <a:rPr lang="en-GB" altLang="en-US" sz="1600" i="1">
                <a:latin typeface="Courier New" panose="02070309020205020404" pitchFamily="49" charset="0"/>
              </a:rPr>
              <a:t>courtesy light</a:t>
            </a:r>
            <a:endParaRPr lang="en-GB" altLang="en-US" sz="160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 b="1">
                <a:solidFill>
                  <a:srgbClr val="0070C0"/>
                </a:solidFill>
                <a:latin typeface="Courier New" panose="02070309020205020404" pitchFamily="49" charset="0"/>
              </a:rPr>
              <a:t>	wash/wipe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 b="1">
                <a:solidFill>
                  <a:srgbClr val="0070C0"/>
                </a:solidFill>
                <a:latin typeface="Courier New" panose="02070309020205020404" pitchFamily="49" charset="0"/>
              </a:rPr>
              <a:t>		wipers   </a:t>
            </a:r>
            <a:r>
              <a:rPr lang="en-GB" altLang="en-US" sz="1600" i="1" b="1">
                <a:solidFill>
                  <a:srgbClr val="0070C0"/>
                </a:solidFill>
                <a:latin typeface="Courier New" panose="02070309020205020404" pitchFamily="49" charset="0"/>
              </a:rPr>
              <a:t>front wipers, rear wipers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 b="1">
                <a:solidFill>
                  <a:srgbClr val="0070C0"/>
                </a:solidFill>
                <a:latin typeface="Courier New" panose="02070309020205020404" pitchFamily="49" charset="0"/>
              </a:rPr>
              <a:t>		washers  </a:t>
            </a:r>
            <a:r>
              <a:rPr lang="en-GB" altLang="en-US" sz="1600" i="1" b="1">
                <a:solidFill>
                  <a:srgbClr val="0070C0"/>
                </a:solidFill>
                <a:latin typeface="Courier New" panose="02070309020205020404" pitchFamily="49" charset="0"/>
              </a:rPr>
              <a:t>front washers, rear washers</a:t>
            </a:r>
            <a:endParaRPr lang="en-GB" altLang="en-US" sz="1600" b="1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	heating  </a:t>
            </a:r>
            <a:r>
              <a:rPr lang="en-GB" altLang="en-US" sz="1600" i="1">
                <a:latin typeface="Courier New" panose="02070309020205020404" pitchFamily="49" charset="0"/>
              </a:rPr>
              <a:t>temperature control, air direction,</a:t>
            </a:r>
            <a:br>
              <a:rPr lang="en-GB" altLang="en-US" sz="1600" i="1">
                <a:latin typeface="Courier New" panose="02070309020205020404" pitchFamily="49" charset="0"/>
              </a:rPr>
            </a:br>
            <a:r>
              <a:rPr lang="en-GB" altLang="en-US" sz="1600" i="1">
                <a:latin typeface="Courier New" panose="02070309020205020404" pitchFamily="49" charset="0"/>
              </a:rPr>
              <a:t>         fan, rear screen heater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	parking  </a:t>
            </a:r>
            <a:r>
              <a:rPr lang="en-GB" altLang="en-US" sz="1600" i="1">
                <a:latin typeface="Courier New" panose="02070309020205020404" pitchFamily="49" charset="0"/>
              </a:rPr>
              <a:t>hand brake, door lock</a:t>
            </a:r>
            <a:endParaRPr lang="en-GB" altLang="en-US" sz="160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	radio  </a:t>
            </a:r>
            <a:r>
              <a:rPr lang="en-GB" altLang="en-US" sz="1600" i="1">
                <a:latin typeface="Courier New" panose="02070309020205020404" pitchFamily="49" charset="0"/>
              </a:rPr>
              <a:t>numerous!</a:t>
            </a:r>
            <a:endParaRPr lang="en-GB" altLang="en-US" sz="16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DA92AFD8-E274-0963-529B-BA76FC1ED2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Task Description Hierarchy</a:t>
            </a:r>
            <a:br>
              <a:rPr lang="en-US" sz="3600"/>
            </a:br>
            <a:r>
              <a:rPr lang="en-US" sz="3600"/>
              <a:t>:</a:t>
            </a:r>
            <a:r>
              <a:rPr lang="en-US" sz="2400"/>
              <a:t>A special form of taxonomy of KBA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616C4C54-F2DB-6EA9-B0C1-1EE5EA18EAF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543800" cy="2590800"/>
          </a:xfrm>
        </p:spPr>
        <p:txBody>
          <a:bodyPr/>
          <a:lstStyle/>
          <a:p>
            <a:pPr marL="0" indent="0">
              <a:buFontTx/>
              <a:buNone/>
              <a:tabLst>
                <a:tab pos="474663" algn="l"/>
                <a:tab pos="1241425" algn="l"/>
                <a:tab pos="1716088" algn="l"/>
              </a:tabLst>
            </a:pPr>
            <a:r>
              <a:rPr lang="en-GB" altLang="en-US" sz="2000"/>
              <a:t>Three types of branch point in taxonomy:</a:t>
            </a:r>
          </a:p>
          <a:p>
            <a:pPr marL="0" indent="0">
              <a:buFontTx/>
              <a:buNone/>
              <a:tabLst>
                <a:tab pos="474663" algn="l"/>
                <a:tab pos="1241425" algn="l"/>
                <a:tab pos="1716088" algn="l"/>
              </a:tabLst>
            </a:pPr>
            <a:r>
              <a:rPr lang="en-GB" altLang="en-US" sz="2000"/>
              <a:t>	XOR	–	normal taxonomy</a:t>
            </a:r>
            <a:br>
              <a:rPr lang="en-GB" altLang="en-US" sz="2000"/>
            </a:br>
            <a:r>
              <a:rPr lang="en-GB" altLang="en-US" sz="2000"/>
              <a:t>			object in one and only one branch</a:t>
            </a:r>
          </a:p>
          <a:p>
            <a:pPr marL="0" indent="0">
              <a:buFontTx/>
              <a:buNone/>
              <a:tabLst>
                <a:tab pos="474663" algn="l"/>
                <a:tab pos="1241425" algn="l"/>
                <a:tab pos="1716088" algn="l"/>
              </a:tabLst>
            </a:pPr>
            <a:r>
              <a:rPr lang="en-GB" altLang="en-US" sz="2000"/>
              <a:t>	AND	–	object must be in both</a:t>
            </a:r>
            <a:br>
              <a:rPr lang="en-GB" altLang="en-US" sz="2000"/>
            </a:br>
            <a:r>
              <a:rPr lang="en-GB" altLang="en-US" sz="2000"/>
              <a:t>			multiple classifications</a:t>
            </a:r>
          </a:p>
          <a:p>
            <a:pPr marL="0" indent="0">
              <a:buFontTx/>
              <a:buNone/>
              <a:tabLst>
                <a:tab pos="474663" algn="l"/>
                <a:tab pos="1241425" algn="l"/>
                <a:tab pos="1716088" algn="l"/>
              </a:tabLst>
            </a:pPr>
            <a:r>
              <a:rPr lang="en-GB" altLang="en-US" sz="2000"/>
              <a:t>	OR	–	weakest case</a:t>
            </a:r>
            <a:br>
              <a:rPr lang="en-GB" altLang="en-US" sz="2000"/>
            </a:br>
            <a:r>
              <a:rPr lang="en-GB" altLang="en-US" sz="2000"/>
              <a:t>			can be in one, many or none</a:t>
            </a:r>
          </a:p>
        </p:txBody>
      </p:sp>
      <p:pic>
        <p:nvPicPr>
          <p:cNvPr id="900" name="Picture 900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990600" y="4038600"/>
            <a:ext cx="6705600" cy="2489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A68440D7-8B1F-A029-3692-1BED5FEF2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Larger TDH example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5C7C5E44-981E-9809-7992-30F254A5DD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kitchen item AND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/____shape XOR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/    |____dished  mixing bowl, casserole, saucepan,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/    |            soup bowl, glass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/    |____flat    plate, chopping board, frying pan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/____function OR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     {____preparation    mixing bowl, plate, chopping board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     {____cooking    frying pan, casserole, saucepan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     {____dining XOR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          |____for food   plate, soup bowl, casserole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          |____for drink  glass</a:t>
            </a:r>
            <a:endParaRPr lang="en-GB" altLang="en-US" sz="2400"/>
          </a:p>
          <a:p>
            <a:pPr>
              <a:lnSpc>
                <a:spcPct val="90000"/>
              </a:lnSpc>
              <a:buFontTx/>
              <a:buNone/>
            </a:pPr>
            <a:endParaRPr lang="en-GB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400"/>
              <a:t>‘</a:t>
            </a:r>
            <a:r>
              <a:rPr lang="en-GB" altLang="en-US" sz="2400">
                <a:latin typeface="Courier New" panose="02070309020205020404" pitchFamily="49" charset="0"/>
              </a:rPr>
              <a:t>/|{</a:t>
            </a:r>
            <a:r>
              <a:rPr lang="en-GB" altLang="en-US" sz="2400"/>
              <a:t>’ used for branch types, AND, XOR, Or respectively.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E5DA9CF-AF01-D985-653F-D8702DFB44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More on TDH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7A720B96-155A-7425-49E4-FB8E040F45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1534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 sz="2000"/>
              <a:t>Uniqueness rule:</a:t>
            </a:r>
            <a:endParaRPr lang="en-GB" altLang="en-US" sz="2400"/>
          </a:p>
          <a:p>
            <a:pPr lvl="1"/>
            <a:r>
              <a:rPr lang="en-GB" altLang="en-US" sz="2000"/>
              <a:t>can the diagram distinguish all objects?</a:t>
            </a:r>
          </a:p>
          <a:p>
            <a:pPr>
              <a:buFontTx/>
              <a:buNone/>
            </a:pPr>
            <a:endParaRPr lang="en-GB" altLang="en-US" sz="1000"/>
          </a:p>
          <a:p>
            <a:pPr>
              <a:buFontTx/>
              <a:buNone/>
            </a:pPr>
            <a:r>
              <a:rPr lang="en-GB" altLang="en-US" sz="1800"/>
              <a:t>e.g., plate is:</a:t>
            </a:r>
          </a:p>
          <a:p>
            <a:pPr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kitchen item/shape(flat)/function{preparation,dining(for food)}/</a:t>
            </a:r>
            <a:endParaRPr lang="en-GB" altLang="en-US" sz="2400"/>
          </a:p>
          <a:p>
            <a:pPr>
              <a:buFontTx/>
              <a:buNone/>
            </a:pPr>
            <a:r>
              <a:rPr lang="en-GB" altLang="en-US" sz="2400"/>
              <a:t>	</a:t>
            </a:r>
            <a:r>
              <a:rPr lang="en-GB" altLang="en-US" sz="1800"/>
              <a:t>nothing else fits this description</a:t>
            </a:r>
            <a:endParaRPr lang="en-GB" altLang="en-US" sz="2400"/>
          </a:p>
          <a:p>
            <a:endParaRPr lang="en-GB" altLang="en-US" sz="1600"/>
          </a:p>
          <a:p>
            <a:pPr>
              <a:buFontTx/>
              <a:buNone/>
            </a:pPr>
            <a:r>
              <a:rPr lang="en-GB" altLang="en-US" sz="2000"/>
              <a:t>Actions have taxonomy too:</a:t>
            </a:r>
          </a:p>
          <a:p>
            <a:pPr lvl="1"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kitchen job OR</a:t>
            </a:r>
          </a:p>
          <a:p>
            <a:pPr lvl="1"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|____ preparation  </a:t>
            </a:r>
            <a:r>
              <a:rPr lang="en-GB" altLang="en-US" sz="1600" i="1">
                <a:latin typeface="Courier New" panose="02070309020205020404" pitchFamily="49" charset="0"/>
              </a:rPr>
              <a:t>beating, mixing</a:t>
            </a:r>
            <a:endParaRPr lang="en-GB" altLang="en-US" sz="1600">
              <a:latin typeface="Courier New" panose="02070309020205020404" pitchFamily="49" charset="0"/>
            </a:endParaRPr>
          </a:p>
          <a:p>
            <a:pPr lvl="1"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|____ cooking </a:t>
            </a:r>
            <a:r>
              <a:rPr lang="en-GB" altLang="en-US" sz="1600" i="1">
                <a:latin typeface="Courier New" panose="02070309020205020404" pitchFamily="49" charset="0"/>
              </a:rPr>
              <a:t>frying, boiling, baking</a:t>
            </a:r>
          </a:p>
          <a:p>
            <a:pPr lvl="1">
              <a:buFontTx/>
              <a:buNone/>
            </a:pPr>
            <a:r>
              <a:rPr lang="en-GB" altLang="en-US" sz="1600">
                <a:latin typeface="Courier New" panose="02070309020205020404" pitchFamily="49" charset="0"/>
              </a:rPr>
              <a:t>|____ dining  </a:t>
            </a:r>
            <a:r>
              <a:rPr lang="en-GB" altLang="en-US" sz="1600" i="1">
                <a:latin typeface="Courier New" panose="02070309020205020404" pitchFamily="49" charset="0"/>
              </a:rPr>
              <a:t>pouring, eating, drinking</a:t>
            </a:r>
            <a:endParaRPr lang="en-GB" altLang="en-US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F0AEA43F-B52E-803F-D6AE-1A54E6661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Entity-Relationship Techniques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08431532-64BE-38EE-8D96-00A94DFB06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01000" cy="41148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GB" altLang="en-US" sz="2400"/>
              <a:t>Focus on objects, actions and their relationships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120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400"/>
              <a:t>Similar to OO analysis, but …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includes non-computer entities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emphasises domain understanding not implementation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120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000"/>
              <a:t>Running example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GB" altLang="en-US" sz="1800"/>
              <a:t>‘Vera's Veggies’ – a market gardening firm</a:t>
            </a:r>
          </a:p>
          <a:p>
            <a:pPr lvl="1">
              <a:lnSpc>
                <a:spcPct val="90000"/>
              </a:lnSpc>
              <a:buFontTx/>
              <a:buChar char=" "/>
            </a:pPr>
            <a:r>
              <a:rPr lang="en-GB" altLang="en-US" sz="1800"/>
              <a:t>owner/manager: Vera Bradshaw</a:t>
            </a:r>
          </a:p>
          <a:p>
            <a:pPr lvl="1">
              <a:lnSpc>
                <a:spcPct val="90000"/>
              </a:lnSpc>
              <a:buFontTx/>
              <a:buChar char=" "/>
            </a:pPr>
            <a:r>
              <a:rPr lang="en-GB" altLang="en-US" sz="1800"/>
              <a:t>employees: Sam Gummage and Tony Peagreen</a:t>
            </a:r>
          </a:p>
          <a:p>
            <a:pPr lvl="1">
              <a:lnSpc>
                <a:spcPct val="90000"/>
              </a:lnSpc>
              <a:buFontTx/>
              <a:buChar char=" "/>
            </a:pPr>
            <a:r>
              <a:rPr lang="en-GB" altLang="en-US" sz="1800"/>
              <a:t>various tools including a tractor `Fergie‘</a:t>
            </a:r>
          </a:p>
          <a:p>
            <a:pPr lvl="1">
              <a:lnSpc>
                <a:spcPct val="90000"/>
              </a:lnSpc>
              <a:buFontTx/>
              <a:buChar char=" "/>
            </a:pPr>
            <a:r>
              <a:rPr lang="en-GB" altLang="en-US" sz="1800"/>
              <a:t>two fields and a glasshouse</a:t>
            </a:r>
          </a:p>
          <a:p>
            <a:pPr lvl="1">
              <a:lnSpc>
                <a:spcPct val="90000"/>
              </a:lnSpc>
              <a:buFontTx/>
              <a:buChar char=" "/>
            </a:pPr>
            <a:r>
              <a:rPr lang="en-GB" altLang="en-US" sz="1800"/>
              <a:t>new computer controlled irrigation system</a:t>
            </a:r>
            <a:endParaRPr lang="en-GB" altLang="en-US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E6722171-2601-7880-E185-C50C712B63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Objects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95F7F3B3-C225-E8E6-047B-2B5A87AE20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GB" altLang="en-US" sz="2400"/>
              <a:t>Start with list of objects and classify them:</a:t>
            </a:r>
          </a:p>
          <a:p>
            <a:pPr>
              <a:lnSpc>
                <a:spcPct val="90000"/>
              </a:lnSpc>
            </a:pPr>
            <a:endParaRPr lang="en-GB" altLang="en-US" sz="120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400"/>
              <a:t>Concrete objects: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GB" altLang="en-US" sz="2000"/>
              <a:t>simple things: spade, plough, glasshouse</a:t>
            </a:r>
          </a:p>
          <a:p>
            <a:pPr>
              <a:lnSpc>
                <a:spcPct val="90000"/>
              </a:lnSpc>
            </a:pPr>
            <a:endParaRPr lang="en-GB" altLang="en-US" sz="120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400"/>
              <a:t>Actors: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GB" altLang="en-US" sz="2000" i="1"/>
              <a:t>human actors</a:t>
            </a:r>
            <a:r>
              <a:rPr lang="en-GB" altLang="en-US" sz="2000"/>
              <a:t>:  </a:t>
            </a:r>
            <a:r>
              <a:rPr lang="en-GB" altLang="en-US" sz="1800"/>
              <a:t>Vera, Sam, Tony, the customers</a:t>
            </a:r>
            <a:endParaRPr lang="en-GB" altLang="en-US" sz="2000"/>
          </a:p>
          <a:p>
            <a:pPr lvl="1">
              <a:lnSpc>
                <a:spcPct val="90000"/>
              </a:lnSpc>
              <a:buFontTx/>
              <a:buNone/>
            </a:pPr>
            <a:r>
              <a:rPr lang="en-GB" altLang="en-US" sz="2000"/>
              <a:t>what about the irrigation controller?</a:t>
            </a:r>
          </a:p>
          <a:p>
            <a:pPr>
              <a:lnSpc>
                <a:spcPct val="90000"/>
              </a:lnSpc>
            </a:pPr>
            <a:endParaRPr lang="en-GB" altLang="en-US" sz="120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400"/>
              <a:t>Composite objects: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GB" altLang="en-US" sz="2000" i="1"/>
              <a:t>sets</a:t>
            </a:r>
            <a:r>
              <a:rPr lang="en-GB" altLang="en-US" sz="2000"/>
              <a:t>:  </a:t>
            </a:r>
            <a:r>
              <a:rPr lang="en-GB" altLang="en-US" sz="1800"/>
              <a:t>the team = Vera, Sam, Tony</a:t>
            </a:r>
            <a:endParaRPr lang="en-GB" altLang="en-US" sz="2000"/>
          </a:p>
          <a:p>
            <a:pPr lvl="1">
              <a:lnSpc>
                <a:spcPct val="90000"/>
              </a:lnSpc>
              <a:buFontTx/>
              <a:buNone/>
            </a:pPr>
            <a:r>
              <a:rPr lang="en-GB" altLang="en-US" sz="2000" i="1"/>
              <a:t>tuples</a:t>
            </a:r>
            <a:r>
              <a:rPr lang="en-GB" altLang="en-US" sz="2000"/>
              <a:t>:  </a:t>
            </a:r>
            <a:r>
              <a:rPr lang="en-GB" altLang="en-US" sz="1800"/>
              <a:t>tractor may be &lt; Fergie, plough &gt;</a:t>
            </a:r>
            <a:endParaRPr lang="en-GB" altLang="en-US"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6CF9B73F-E9F7-75F2-A412-66CF315091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Attributes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5A961866-BB6D-BE88-9DB8-682B704E2D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  <a:tabLst>
                <a:tab pos="1144588" algn="l"/>
                <a:tab pos="1716088" algn="l"/>
                <a:tab pos="2289175" algn="l"/>
              </a:tabLst>
            </a:pPr>
            <a:r>
              <a:rPr lang="en-GB" altLang="en-US" sz="2400"/>
              <a:t>To the objects add attributes:</a:t>
            </a:r>
          </a:p>
          <a:p>
            <a:pPr>
              <a:buFontTx/>
              <a:buNone/>
              <a:tabLst>
                <a:tab pos="1144588" algn="l"/>
                <a:tab pos="1716088" algn="l"/>
                <a:tab pos="2289175" algn="l"/>
              </a:tabLst>
            </a:pPr>
            <a:endParaRPr lang="en-GB" altLang="en-US" sz="1200"/>
          </a:p>
          <a:p>
            <a:pPr lvl="1">
              <a:buFontTx/>
              <a:buChar char=" "/>
              <a:tabLst>
                <a:tab pos="1144588" algn="l"/>
                <a:tab pos="1716088" algn="l"/>
                <a:tab pos="2289175" algn="l"/>
              </a:tabLst>
            </a:pPr>
            <a:r>
              <a:rPr lang="en-GB" altLang="en-US" sz="2000" b="1"/>
              <a:t>Object</a:t>
            </a:r>
            <a:r>
              <a:rPr lang="en-GB" altLang="en-US" sz="2000"/>
              <a:t> Pump3 </a:t>
            </a:r>
            <a:r>
              <a:rPr lang="en-GB" altLang="en-US" sz="2000" b="1"/>
              <a:t>simple</a:t>
            </a:r>
            <a:r>
              <a:rPr lang="en-GB" altLang="en-US" sz="2000"/>
              <a:t> – irrigation pump</a:t>
            </a:r>
          </a:p>
          <a:p>
            <a:pPr lvl="1">
              <a:buFontTx/>
              <a:buNone/>
              <a:tabLst>
                <a:tab pos="1144588" algn="l"/>
                <a:tab pos="1716088" algn="l"/>
                <a:tab pos="2289175" algn="l"/>
              </a:tabLst>
            </a:pPr>
            <a:r>
              <a:rPr lang="en-GB" altLang="en-US" sz="2000"/>
              <a:t>		</a:t>
            </a:r>
            <a:r>
              <a:rPr lang="en-GB" altLang="en-US" sz="2000" b="1"/>
              <a:t>Attributes</a:t>
            </a:r>
            <a:r>
              <a:rPr lang="en-GB" altLang="en-US" sz="2000"/>
              <a:t>:</a:t>
            </a:r>
          </a:p>
          <a:p>
            <a:pPr lvl="1">
              <a:buFontTx/>
              <a:buNone/>
              <a:tabLst>
                <a:tab pos="1144588" algn="l"/>
                <a:tab pos="1716088" algn="l"/>
                <a:tab pos="2289175" algn="l"/>
              </a:tabLst>
            </a:pPr>
            <a:r>
              <a:rPr lang="en-GB" altLang="en-US" sz="2000"/>
              <a:t>			status: on/off/faulty</a:t>
            </a:r>
          </a:p>
          <a:p>
            <a:pPr lvl="1">
              <a:buFontTx/>
              <a:buNone/>
              <a:tabLst>
                <a:tab pos="1144588" algn="l"/>
                <a:tab pos="1716088" algn="l"/>
                <a:tab pos="2289175" algn="l"/>
              </a:tabLst>
            </a:pPr>
            <a:r>
              <a:rPr lang="en-GB" altLang="en-US" sz="2000"/>
              <a:t>			capacity: 100 litres/minute</a:t>
            </a:r>
          </a:p>
          <a:p>
            <a:pPr>
              <a:buFontTx/>
              <a:buNone/>
              <a:tabLst>
                <a:tab pos="1144588" algn="l"/>
                <a:tab pos="1716088" algn="l"/>
                <a:tab pos="2289175" algn="l"/>
              </a:tabLst>
            </a:pPr>
            <a:endParaRPr lang="en-GB" altLang="en-US"/>
          </a:p>
          <a:p>
            <a:pPr>
              <a:buFontTx/>
              <a:buNone/>
              <a:tabLst>
                <a:tab pos="1144588" algn="l"/>
                <a:tab pos="1716088" algn="l"/>
                <a:tab pos="2289175" algn="l"/>
              </a:tabLst>
            </a:pPr>
            <a:endParaRPr lang="en-GB" altLang="en-US"/>
          </a:p>
          <a:p>
            <a:pPr>
              <a:buFontTx/>
              <a:buNone/>
              <a:tabLst>
                <a:tab pos="1144588" algn="l"/>
                <a:tab pos="1716088" algn="l"/>
                <a:tab pos="2289175" algn="l"/>
              </a:tabLst>
            </a:pPr>
            <a:r>
              <a:rPr lang="en-GB" altLang="en-US" sz="2400"/>
              <a:t>N.B. need not be computationally complete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50D5C40C-E54E-9239-BD13-BC8ECB7F8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Actions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D4698180-9FDD-1D41-3E8B-84CCBB146D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altLang="en-US" sz="2400"/>
              <a:t>List actions and associate with each:</a:t>
            </a:r>
          </a:p>
          <a:p>
            <a:pPr>
              <a:buFontTx/>
              <a:buNone/>
            </a:pPr>
            <a:r>
              <a:rPr lang="en-GB" altLang="en-US" sz="2400"/>
              <a:t>	agent  –  who performs the actions</a:t>
            </a:r>
          </a:p>
          <a:p>
            <a:pPr>
              <a:buFontTx/>
              <a:buNone/>
            </a:pPr>
            <a:r>
              <a:rPr lang="en-GB" altLang="en-US" sz="2400"/>
              <a:t>	patient  –  which is changed by the action</a:t>
            </a:r>
          </a:p>
          <a:p>
            <a:pPr>
              <a:buFontTx/>
              <a:buNone/>
            </a:pPr>
            <a:r>
              <a:rPr lang="en-GB" altLang="en-US" sz="2400"/>
              <a:t>	instrument  –  used to perform action</a:t>
            </a:r>
          </a:p>
          <a:p>
            <a:endParaRPr lang="en-GB" altLang="en-US" sz="2400"/>
          </a:p>
          <a:p>
            <a:pPr>
              <a:buFontTx/>
              <a:buNone/>
            </a:pPr>
            <a:r>
              <a:rPr lang="en-GB" altLang="en-US" sz="2000"/>
              <a:t>examples:</a:t>
            </a:r>
          </a:p>
          <a:p>
            <a:pPr>
              <a:buFontTx/>
              <a:buNone/>
            </a:pPr>
            <a:r>
              <a:rPr lang="en-GB" altLang="en-US" sz="2000"/>
              <a:t>	Sam (</a:t>
            </a:r>
            <a:r>
              <a:rPr lang="en-GB" altLang="en-US" sz="2000" i="1"/>
              <a:t>agent</a:t>
            </a:r>
            <a:r>
              <a:rPr lang="en-GB" altLang="en-US" sz="2000"/>
              <a:t>) planted (</a:t>
            </a:r>
            <a:r>
              <a:rPr lang="en-GB" altLang="en-US" sz="2000" i="1"/>
              <a:t>action</a:t>
            </a:r>
            <a:r>
              <a:rPr lang="en-GB" altLang="en-US" sz="2000"/>
              <a:t>) the leeks (</a:t>
            </a:r>
            <a:r>
              <a:rPr lang="en-GB" altLang="en-US" sz="2000" i="1"/>
              <a:t>patient</a:t>
            </a:r>
            <a:r>
              <a:rPr lang="en-GB" altLang="en-US" sz="2000"/>
              <a:t>)</a:t>
            </a:r>
          </a:p>
          <a:p>
            <a:pPr>
              <a:buFontTx/>
              <a:buNone/>
            </a:pPr>
            <a:r>
              <a:rPr lang="en-GB" altLang="en-US" sz="2000"/>
              <a:t>	Tony dug the field </a:t>
            </a:r>
            <a:r>
              <a:rPr lang="en-GB" altLang="en-US" sz="2000" i="1"/>
              <a:t>with</a:t>
            </a:r>
            <a:r>
              <a:rPr lang="en-GB" altLang="en-US" sz="2000"/>
              <a:t> the spade (</a:t>
            </a:r>
            <a:r>
              <a:rPr lang="en-GB" altLang="en-US" sz="2000" i="1"/>
              <a:t>instrument</a:t>
            </a:r>
            <a:r>
              <a:rPr lang="en-GB" altLang="en-US" sz="2000"/>
              <a:t>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FC7FB3CE-203D-533C-5B80-AEF87BC4ED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Actions (ctd) 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DB980196-85E1-AB4E-745D-801DAF410C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altLang="en-US" sz="2400"/>
              <a:t>implicit agents – </a:t>
            </a:r>
            <a:r>
              <a:rPr lang="en-GB" altLang="en-US" sz="2000"/>
              <a:t>read behind the words</a:t>
            </a:r>
            <a:endParaRPr lang="en-GB" altLang="en-US" sz="2400"/>
          </a:p>
          <a:p>
            <a:pPr lvl="1">
              <a:buFontTx/>
              <a:buNone/>
            </a:pPr>
            <a:r>
              <a:rPr lang="en-GB" altLang="en-US" sz="2000"/>
              <a:t>`the field was ploughed' – </a:t>
            </a:r>
            <a:r>
              <a:rPr lang="en-GB" altLang="en-US" sz="2000" i="1"/>
              <a:t>by whom?</a:t>
            </a:r>
          </a:p>
          <a:p>
            <a:pPr>
              <a:buFontTx/>
              <a:buNone/>
            </a:pPr>
            <a:endParaRPr lang="en-GB" altLang="en-US" sz="1200"/>
          </a:p>
          <a:p>
            <a:pPr>
              <a:buFontTx/>
              <a:buNone/>
            </a:pPr>
            <a:r>
              <a:rPr lang="en-GB" altLang="en-US" sz="2400"/>
              <a:t>indirect agency – </a:t>
            </a:r>
            <a:r>
              <a:rPr lang="en-GB" altLang="en-US" sz="2000"/>
              <a:t>the real agent?</a:t>
            </a:r>
            <a:endParaRPr lang="en-GB" altLang="en-US" sz="2400"/>
          </a:p>
          <a:p>
            <a:pPr lvl="1">
              <a:buFontTx/>
              <a:buNone/>
            </a:pPr>
            <a:r>
              <a:rPr lang="en-GB" altLang="en-US" sz="2000"/>
              <a:t>`</a:t>
            </a:r>
            <a:r>
              <a:rPr lang="en-GB" altLang="en-US" sz="2000" i="1"/>
              <a:t>Vera</a:t>
            </a:r>
            <a:r>
              <a:rPr lang="en-GB" altLang="en-US" sz="2000"/>
              <a:t> programmed the </a:t>
            </a:r>
            <a:r>
              <a:rPr lang="en-GB" altLang="en-US" sz="2000" i="1"/>
              <a:t>controller</a:t>
            </a:r>
            <a:r>
              <a:rPr lang="en-GB" altLang="en-US" sz="2000"/>
              <a:t> to irrigate the field'</a:t>
            </a:r>
          </a:p>
          <a:p>
            <a:pPr>
              <a:buFontTx/>
              <a:buNone/>
            </a:pPr>
            <a:endParaRPr lang="en-GB" altLang="en-US" sz="1200"/>
          </a:p>
          <a:p>
            <a:pPr>
              <a:buFontTx/>
              <a:buNone/>
            </a:pPr>
            <a:r>
              <a:rPr lang="en-GB" altLang="en-US" sz="2400"/>
              <a:t>messages – </a:t>
            </a:r>
            <a:r>
              <a:rPr lang="en-GB" altLang="en-US" sz="2000"/>
              <a:t>a special sort of action</a:t>
            </a:r>
          </a:p>
          <a:p>
            <a:pPr lvl="1">
              <a:buFontTx/>
              <a:buNone/>
            </a:pPr>
            <a:r>
              <a:rPr lang="en-GB" altLang="en-US" sz="2000"/>
              <a:t>`Vera </a:t>
            </a:r>
            <a:r>
              <a:rPr lang="en-GB" altLang="en-US" sz="2000" i="1"/>
              <a:t>told</a:t>
            </a:r>
            <a:r>
              <a:rPr lang="en-GB" altLang="en-US" sz="2000"/>
              <a:t> Sam to ... '</a:t>
            </a:r>
          </a:p>
          <a:p>
            <a:pPr>
              <a:buFontTx/>
              <a:buNone/>
            </a:pPr>
            <a:endParaRPr lang="en-GB" altLang="en-US" sz="1200"/>
          </a:p>
          <a:p>
            <a:pPr>
              <a:buFontTx/>
              <a:buNone/>
            </a:pPr>
            <a:r>
              <a:rPr lang="en-GB" altLang="en-US" sz="2400"/>
              <a:t>rôles – </a:t>
            </a:r>
            <a:r>
              <a:rPr lang="en-GB" altLang="en-US" sz="2000"/>
              <a:t>an agent acts in several rôles</a:t>
            </a:r>
            <a:endParaRPr lang="en-GB" altLang="en-US" sz="2400"/>
          </a:p>
          <a:p>
            <a:pPr lvl="1">
              <a:buFontTx/>
              <a:buNone/>
            </a:pPr>
            <a:r>
              <a:rPr lang="en-GB" altLang="en-US" sz="2000"/>
              <a:t>Vera as </a:t>
            </a:r>
            <a:r>
              <a:rPr lang="en-GB" altLang="en-US" sz="2000" i="1"/>
              <a:t>worker</a:t>
            </a:r>
            <a:r>
              <a:rPr lang="en-GB" altLang="en-US" sz="2000"/>
              <a:t> or as </a:t>
            </a:r>
            <a:r>
              <a:rPr lang="en-GB" altLang="en-US" sz="2000" i="1"/>
              <a:t>manager</a:t>
            </a:r>
            <a:endParaRPr lang="en-GB" altLang="en-US"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01DFBE31-8E28-E821-1A07-7386898D19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example – objects and actions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3028D16E-FBA1-F8B1-7F38-58D6DEBBB41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4038600" cy="4343400"/>
          </a:xfrm>
        </p:spPr>
        <p:txBody>
          <a:bodyPr/>
          <a:lstStyle/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614738" algn="r"/>
              </a:tabLst>
            </a:pPr>
            <a:r>
              <a:rPr lang="en-GB" altLang="en-US" sz="1600" b="1"/>
              <a:t>Object</a:t>
            </a:r>
            <a:r>
              <a:rPr lang="en-GB" altLang="en-US" sz="1600"/>
              <a:t> Sam </a:t>
            </a:r>
            <a:r>
              <a:rPr lang="en-GB" altLang="en-US" sz="1600" b="1"/>
              <a:t>human actor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614738" algn="r"/>
              </a:tabLst>
            </a:pPr>
            <a:r>
              <a:rPr lang="en-GB" altLang="en-US" sz="1600"/>
              <a:t>	</a:t>
            </a:r>
            <a:r>
              <a:rPr lang="en-GB" altLang="en-US" sz="1600" b="1"/>
              <a:t>Actions</a:t>
            </a:r>
            <a:r>
              <a:rPr lang="en-GB" altLang="en-US" sz="1600"/>
              <a:t>: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614738" algn="r"/>
              </a:tabLst>
            </a:pPr>
            <a:r>
              <a:rPr lang="en-GB" altLang="en-US" sz="1600"/>
              <a:t>		S1: drive tractor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614738" algn="r"/>
              </a:tabLst>
            </a:pPr>
            <a:r>
              <a:rPr lang="en-GB" altLang="en-US" sz="1600"/>
              <a:t>		S2: dig the carrots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614738" algn="r"/>
              </a:tabLst>
            </a:pPr>
            <a:endParaRPr lang="en-GB" altLang="en-US" sz="1600" b="1"/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614738" algn="r"/>
              </a:tabLst>
            </a:pPr>
            <a:r>
              <a:rPr lang="en-GB" altLang="en-US" sz="1600" b="1"/>
              <a:t>Object</a:t>
            </a:r>
            <a:r>
              <a:rPr lang="en-GB" altLang="en-US" sz="1600"/>
              <a:t> Vera </a:t>
            </a:r>
            <a:r>
              <a:rPr lang="en-GB" altLang="en-US" sz="1600" b="1"/>
              <a:t>human actor</a:t>
            </a:r>
            <a:br>
              <a:rPr lang="en-GB" altLang="en-US" sz="1600" b="1"/>
            </a:br>
            <a:r>
              <a:rPr lang="en-GB" altLang="en-US" sz="1600" b="1"/>
              <a:t>			– </a:t>
            </a:r>
            <a:r>
              <a:rPr lang="en-GB" altLang="en-US" sz="1600"/>
              <a:t>the proprietor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614738" algn="r"/>
              </a:tabLst>
            </a:pPr>
            <a:r>
              <a:rPr lang="en-GB" altLang="en-US" sz="1600"/>
              <a:t>	</a:t>
            </a:r>
            <a:r>
              <a:rPr lang="en-GB" altLang="en-US" sz="1600" b="1"/>
              <a:t>Actions</a:t>
            </a:r>
            <a:r>
              <a:rPr lang="en-GB" altLang="en-US" sz="1600"/>
              <a:t>: as worker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614738" algn="r"/>
              </a:tabLst>
            </a:pPr>
            <a:r>
              <a:rPr lang="en-GB" altLang="en-US" sz="1600"/>
              <a:t>		V1: plant marrow seed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614738" algn="r"/>
              </a:tabLst>
            </a:pPr>
            <a:r>
              <a:rPr lang="en-GB" altLang="en-US" sz="1600"/>
              <a:t>		V2: program irrigation controller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614738" algn="r"/>
              </a:tabLst>
            </a:pPr>
            <a:r>
              <a:rPr lang="en-GB" altLang="en-US" sz="1600"/>
              <a:t>	</a:t>
            </a:r>
            <a:r>
              <a:rPr lang="en-GB" altLang="en-US" sz="1600" b="1"/>
              <a:t>Actions</a:t>
            </a:r>
            <a:r>
              <a:rPr lang="en-GB" altLang="en-US" sz="1600"/>
              <a:t>: as manager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614738" algn="r"/>
              </a:tabLst>
            </a:pPr>
            <a:r>
              <a:rPr lang="en-GB" altLang="en-US" sz="1600"/>
              <a:t>		V3: tell Sam to dig the carrots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614738" algn="r"/>
              </a:tabLst>
            </a:pPr>
            <a:endParaRPr lang="en-GB" altLang="en-US" sz="1600" b="1"/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614738" algn="r"/>
              </a:tabLst>
            </a:pPr>
            <a:r>
              <a:rPr lang="en-GB" altLang="en-US" sz="1600" b="1"/>
              <a:t>Object</a:t>
            </a:r>
            <a:r>
              <a:rPr lang="en-GB" altLang="en-US" sz="1600"/>
              <a:t> the men </a:t>
            </a:r>
            <a:r>
              <a:rPr lang="en-GB" altLang="en-US" sz="1600" b="1"/>
              <a:t>composite</a:t>
            </a:r>
            <a:endParaRPr lang="en-GB" altLang="en-US" sz="1600"/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614738" algn="r"/>
              </a:tabLst>
            </a:pPr>
            <a:r>
              <a:rPr lang="en-GB" altLang="en-US" sz="1600"/>
              <a:t>	</a:t>
            </a:r>
            <a:r>
              <a:rPr lang="en-GB" altLang="en-US" sz="1600" b="1"/>
              <a:t>Comprises</a:t>
            </a:r>
            <a:r>
              <a:rPr lang="en-GB" altLang="en-US" sz="1600"/>
              <a:t>: Sam, Tony</a:t>
            </a:r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2D6F3F8E-2D1A-72B0-90D0-90D396FA687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953000" y="1981200"/>
            <a:ext cx="3657600" cy="4267200"/>
          </a:xfrm>
        </p:spPr>
        <p:txBody>
          <a:bodyPr/>
          <a:lstStyle/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238500" algn="r"/>
                <a:tab pos="3614738" algn="r"/>
              </a:tabLst>
            </a:pPr>
            <a:r>
              <a:rPr lang="en-GB" altLang="en-US" sz="1600" b="1"/>
              <a:t>Object</a:t>
            </a:r>
            <a:r>
              <a:rPr lang="en-GB" altLang="en-US" sz="1600"/>
              <a:t> glasshouse </a:t>
            </a:r>
            <a:r>
              <a:rPr lang="en-GB" altLang="en-US" sz="1600" b="1"/>
              <a:t>simple</a:t>
            </a:r>
            <a:endParaRPr lang="en-GB" altLang="en-US" sz="1600"/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238500" algn="r"/>
                <a:tab pos="3614738" algn="r"/>
              </a:tabLst>
            </a:pPr>
            <a:r>
              <a:rPr lang="en-GB" altLang="en-US" sz="1600"/>
              <a:t>	</a:t>
            </a:r>
            <a:r>
              <a:rPr lang="en-GB" altLang="en-US" sz="1600" b="1"/>
              <a:t>Attribute</a:t>
            </a:r>
            <a:r>
              <a:rPr lang="en-GB" altLang="en-US" sz="1600"/>
              <a:t>: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238500" algn="r"/>
                <a:tab pos="3614738" algn="r"/>
              </a:tabLst>
            </a:pPr>
            <a:r>
              <a:rPr lang="en-GB" altLang="en-US" sz="1600"/>
              <a:t>		humidity: 0-100%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238500" algn="r"/>
                <a:tab pos="3614738" algn="r"/>
              </a:tabLst>
            </a:pPr>
            <a:endParaRPr lang="en-GB" altLang="en-US" sz="1600" b="1"/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238500" algn="r"/>
                <a:tab pos="3614738" algn="r"/>
              </a:tabLst>
            </a:pPr>
            <a:r>
              <a:rPr lang="en-GB" altLang="en-US" sz="1600" b="1"/>
              <a:t>Object</a:t>
            </a:r>
            <a:r>
              <a:rPr lang="en-GB" altLang="en-US" sz="1600"/>
              <a:t> Irrigation Controller</a:t>
            </a:r>
            <a:br>
              <a:rPr lang="en-GB" altLang="en-US" sz="1600"/>
            </a:br>
            <a:r>
              <a:rPr lang="en-GB" altLang="en-US" sz="1600"/>
              <a:t>			</a:t>
            </a:r>
            <a:r>
              <a:rPr lang="en-GB" altLang="en-US" sz="1600" b="1"/>
              <a:t>non-human actor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238500" algn="r"/>
                <a:tab pos="3614738" algn="r"/>
              </a:tabLst>
            </a:pPr>
            <a:r>
              <a:rPr lang="en-GB" altLang="en-US" sz="1600"/>
              <a:t>	</a:t>
            </a:r>
            <a:r>
              <a:rPr lang="en-GB" altLang="en-US" sz="1600" b="1"/>
              <a:t>Actions</a:t>
            </a:r>
            <a:r>
              <a:rPr lang="en-GB" altLang="en-US" sz="1600"/>
              <a:t>: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238500" algn="r"/>
                <a:tab pos="3614738" algn="r"/>
              </a:tabLst>
            </a:pPr>
            <a:r>
              <a:rPr lang="en-GB" altLang="en-US" sz="1600"/>
              <a:t>		IC1: turn on Pump1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238500" algn="r"/>
                <a:tab pos="3614738" algn="r"/>
              </a:tabLst>
            </a:pPr>
            <a:r>
              <a:rPr lang="en-GB" altLang="en-US" sz="1600"/>
              <a:t>		IC2: turn on Pump2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238500" algn="r"/>
                <a:tab pos="3614738" algn="r"/>
              </a:tabLst>
            </a:pPr>
            <a:r>
              <a:rPr lang="en-GB" altLang="en-US" sz="1600"/>
              <a:t>		IC3: turn on Pump3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238500" algn="r"/>
                <a:tab pos="3614738" algn="r"/>
              </a:tabLst>
            </a:pPr>
            <a:endParaRPr lang="en-GB" altLang="en-US" sz="1600" b="1"/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238500" algn="r"/>
                <a:tab pos="3614738" algn="r"/>
              </a:tabLst>
            </a:pPr>
            <a:r>
              <a:rPr lang="en-GB" altLang="en-US" sz="1600" b="1"/>
              <a:t>Object</a:t>
            </a:r>
            <a:r>
              <a:rPr lang="en-GB" altLang="en-US" sz="1600"/>
              <a:t> Marrow </a:t>
            </a:r>
            <a:r>
              <a:rPr lang="en-GB" altLang="en-US" sz="1600" b="1"/>
              <a:t>simple</a:t>
            </a:r>
            <a:endParaRPr lang="en-GB" altLang="en-US" sz="1600"/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238500" algn="r"/>
                <a:tab pos="3614738" algn="r"/>
              </a:tabLst>
            </a:pPr>
            <a:r>
              <a:rPr lang="en-GB" altLang="en-US" sz="1600"/>
              <a:t>	</a:t>
            </a:r>
            <a:r>
              <a:rPr lang="en-GB" altLang="en-US" sz="1600" b="1"/>
              <a:t>Actions</a:t>
            </a:r>
            <a:r>
              <a:rPr lang="en-GB" altLang="en-US" sz="1600"/>
              <a:t>: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238500" algn="r"/>
                <a:tab pos="3614738" algn="r"/>
              </a:tabLst>
            </a:pPr>
            <a:r>
              <a:rPr lang="en-GB" altLang="en-US" sz="1600"/>
              <a:t>		M1: germinate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376238" algn="l"/>
                <a:tab pos="3238500" algn="r"/>
                <a:tab pos="3614738" algn="r"/>
              </a:tabLst>
            </a:pPr>
            <a:r>
              <a:rPr lang="en-GB" altLang="en-US" sz="1600"/>
              <a:t>		M2: grow</a:t>
            </a:r>
          </a:p>
          <a:p>
            <a:pPr marL="0" indent="0">
              <a:lnSpc>
                <a:spcPct val="90000"/>
              </a:lnSpc>
              <a:tabLst>
                <a:tab pos="195263" algn="l"/>
                <a:tab pos="376238" algn="l"/>
                <a:tab pos="3238500" algn="r"/>
                <a:tab pos="3614738" algn="r"/>
              </a:tabLst>
            </a:pPr>
            <a:endParaRPr lang="en-GB" altLang="en-US" sz="1600"/>
          </a:p>
        </p:txBody>
      </p:sp>
      <p:sp>
        <p:nvSpPr>
          <p:cNvPr id="71685" name="Line 5">
            <a:extLst>
              <a:ext uri="{FF2B5EF4-FFF2-40B4-BE49-F238E27FC236}">
                <a16:creationId xmlns:a16="http://schemas.microsoft.com/office/drawing/2014/main" id="{A9093691-5397-54EC-5AA8-97BE85C2AC7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981200"/>
            <a:ext cx="19812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1686" name="Line 6">
            <a:extLst>
              <a:ext uri="{FF2B5EF4-FFF2-40B4-BE49-F238E27FC236}">
                <a16:creationId xmlns:a16="http://schemas.microsoft.com/office/drawing/2014/main" id="{690D7ED5-5841-37A0-342E-27D6531F4E0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981200"/>
            <a:ext cx="0" cy="1066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1687" name="Line 7">
            <a:extLst>
              <a:ext uri="{FF2B5EF4-FFF2-40B4-BE49-F238E27FC236}">
                <a16:creationId xmlns:a16="http://schemas.microsoft.com/office/drawing/2014/main" id="{48BE947D-D238-7619-F575-14BC2998B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3352800"/>
            <a:ext cx="19812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1688" name="Line 8">
            <a:extLst>
              <a:ext uri="{FF2B5EF4-FFF2-40B4-BE49-F238E27FC236}">
                <a16:creationId xmlns:a16="http://schemas.microsoft.com/office/drawing/2014/main" id="{2D74604D-BDD3-AB72-486E-50AE0D0819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3352800"/>
            <a:ext cx="0" cy="1828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1689" name="Line 9">
            <a:extLst>
              <a:ext uri="{FF2B5EF4-FFF2-40B4-BE49-F238E27FC236}">
                <a16:creationId xmlns:a16="http://schemas.microsoft.com/office/drawing/2014/main" id="{86838224-C41F-0B02-D2B4-07801A07630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5486400"/>
            <a:ext cx="19812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1690" name="Line 10">
            <a:extLst>
              <a:ext uri="{FF2B5EF4-FFF2-40B4-BE49-F238E27FC236}">
                <a16:creationId xmlns:a16="http://schemas.microsoft.com/office/drawing/2014/main" id="{E67DBCAA-5289-EAB7-FBF1-E350D35EC3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5486400"/>
            <a:ext cx="0" cy="533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1693" name="Line 13">
            <a:extLst>
              <a:ext uri="{FF2B5EF4-FFF2-40B4-BE49-F238E27FC236}">
                <a16:creationId xmlns:a16="http://schemas.microsoft.com/office/drawing/2014/main" id="{256A7B8F-45D3-D872-5CC5-7533689FE81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1981200"/>
            <a:ext cx="19812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1694" name="Line 14">
            <a:extLst>
              <a:ext uri="{FF2B5EF4-FFF2-40B4-BE49-F238E27FC236}">
                <a16:creationId xmlns:a16="http://schemas.microsoft.com/office/drawing/2014/main" id="{1796D9C5-21A7-939E-17C1-2307FE3FFD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1981200"/>
            <a:ext cx="0" cy="838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1696" name="Line 16">
            <a:extLst>
              <a:ext uri="{FF2B5EF4-FFF2-40B4-BE49-F238E27FC236}">
                <a16:creationId xmlns:a16="http://schemas.microsoft.com/office/drawing/2014/main" id="{A4096DDA-41AB-1D90-67D4-08608FB911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048000"/>
            <a:ext cx="19812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1697" name="Line 17">
            <a:extLst>
              <a:ext uri="{FF2B5EF4-FFF2-40B4-BE49-F238E27FC236}">
                <a16:creationId xmlns:a16="http://schemas.microsoft.com/office/drawing/2014/main" id="{B8C2754F-3D7B-3573-5692-B07D43A43C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048000"/>
            <a:ext cx="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1698" name="Line 18">
            <a:extLst>
              <a:ext uri="{FF2B5EF4-FFF2-40B4-BE49-F238E27FC236}">
                <a16:creationId xmlns:a16="http://schemas.microsoft.com/office/drawing/2014/main" id="{9F240182-AB52-65EC-D5A4-316B296C82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4876800"/>
            <a:ext cx="19812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1699" name="Line 19">
            <a:extLst>
              <a:ext uri="{FF2B5EF4-FFF2-40B4-BE49-F238E27FC236}">
                <a16:creationId xmlns:a16="http://schemas.microsoft.com/office/drawing/2014/main" id="{3D89DAC4-B0BB-6DFA-BE3A-29265E3FE1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4876800"/>
            <a:ext cx="0" cy="1143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C0C38AB4-FF21-B448-4124-3883D32A64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Events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5BC8AB1B-9609-E233-C854-9F595B843D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GB" altLang="en-US" sz="2400"/>
              <a:t>… when something happens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1800"/>
          </a:p>
          <a:p>
            <a:pPr>
              <a:lnSpc>
                <a:spcPct val="90000"/>
              </a:lnSpc>
            </a:pPr>
            <a:r>
              <a:rPr lang="en-GB" altLang="en-US" sz="2400"/>
              <a:t>performance of action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000"/>
              <a:t>		‘Sam dug the carrots’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1800"/>
          </a:p>
          <a:p>
            <a:pPr>
              <a:lnSpc>
                <a:spcPct val="90000"/>
              </a:lnSpc>
            </a:pPr>
            <a:r>
              <a:rPr lang="en-GB" altLang="en-US" sz="2400"/>
              <a:t>spontaneous events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000"/>
              <a:t>		‘the marrow seed germinated’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000"/>
              <a:t>		‘the humidity drops below 25%’</a:t>
            </a:r>
          </a:p>
          <a:p>
            <a:pPr>
              <a:lnSpc>
                <a:spcPct val="90000"/>
              </a:lnSpc>
            </a:pPr>
            <a:endParaRPr lang="en-GB" altLang="en-US" sz="1800"/>
          </a:p>
          <a:p>
            <a:pPr>
              <a:lnSpc>
                <a:spcPct val="90000"/>
              </a:lnSpc>
            </a:pPr>
            <a:r>
              <a:rPr lang="en-GB" altLang="en-US" sz="2400"/>
              <a:t>timed events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000"/>
              <a:t>		‘at midnight the controller turns on’</a:t>
            </a:r>
            <a:endParaRPr lang="en-GB" altLang="en-US"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21634834-3851-9744-BAC1-6E97EE93C9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Relationships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7AEF2703-E090-CE6D-4991-5D70C3187C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/>
              <a:t>object-object</a:t>
            </a:r>
          </a:p>
          <a:p>
            <a:pPr lvl="1">
              <a:lnSpc>
                <a:spcPct val="90000"/>
              </a:lnSpc>
              <a:buFontTx/>
              <a:buChar char=" "/>
            </a:pPr>
            <a:r>
              <a:rPr lang="en-GB" altLang="en-US" sz="1800"/>
              <a:t>social - Sam is subordinate to Vera</a:t>
            </a:r>
          </a:p>
          <a:p>
            <a:pPr lvl="1">
              <a:lnSpc>
                <a:spcPct val="90000"/>
              </a:lnSpc>
              <a:buFontTx/>
              <a:buChar char=" "/>
            </a:pPr>
            <a:r>
              <a:rPr lang="en-GB" altLang="en-US" sz="1800"/>
              <a:t>spatial - pump 3 is in the glasshouse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action-object</a:t>
            </a:r>
          </a:p>
          <a:p>
            <a:pPr lvl="1">
              <a:lnSpc>
                <a:spcPct val="90000"/>
              </a:lnSpc>
              <a:buFontTx/>
              <a:buChar char=" "/>
            </a:pPr>
            <a:r>
              <a:rPr lang="en-GB" altLang="en-US" sz="1800"/>
              <a:t>agent  (listed with object)</a:t>
            </a:r>
          </a:p>
          <a:p>
            <a:pPr lvl="1">
              <a:lnSpc>
                <a:spcPct val="90000"/>
              </a:lnSpc>
              <a:buFontTx/>
              <a:buChar char=" "/>
            </a:pPr>
            <a:r>
              <a:rPr lang="en-GB" altLang="en-US" sz="1800"/>
              <a:t>patient and instrument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actions and events</a:t>
            </a:r>
          </a:p>
          <a:p>
            <a:pPr lvl="1">
              <a:lnSpc>
                <a:spcPct val="90000"/>
              </a:lnSpc>
              <a:buFontTx/>
              <a:buChar char=" "/>
            </a:pPr>
            <a:r>
              <a:rPr lang="en-GB" altLang="en-US" sz="1800"/>
              <a:t>temporal and causal</a:t>
            </a:r>
            <a:br>
              <a:rPr lang="en-GB" altLang="en-US" sz="1800"/>
            </a:br>
            <a:r>
              <a:rPr lang="en-GB" altLang="en-US" sz="1800"/>
              <a:t>	‘</a:t>
            </a:r>
            <a:r>
              <a:rPr lang="en-GB" altLang="en-US" sz="1600"/>
              <a:t>Sam digs the carrots because Vera told him’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temporal relations</a:t>
            </a:r>
          </a:p>
          <a:p>
            <a:pPr lvl="1">
              <a:lnSpc>
                <a:spcPct val="90000"/>
              </a:lnSpc>
              <a:buFontTx/>
              <a:buChar char=" "/>
            </a:pPr>
            <a:r>
              <a:rPr lang="en-GB" altLang="en-US" sz="1800"/>
              <a:t>use HTA or dialogue notations.</a:t>
            </a:r>
          </a:p>
          <a:p>
            <a:pPr lvl="1">
              <a:lnSpc>
                <a:spcPct val="90000"/>
              </a:lnSpc>
              <a:buFontTx/>
              <a:buChar char=" "/>
            </a:pPr>
            <a:r>
              <a:rPr lang="en-GB" altLang="en-US" sz="1800"/>
              <a:t>show task sequence (normal HTA)</a:t>
            </a:r>
          </a:p>
          <a:p>
            <a:pPr lvl="1">
              <a:lnSpc>
                <a:spcPct val="90000"/>
              </a:lnSpc>
              <a:buFontTx/>
              <a:buChar char=" "/>
            </a:pPr>
            <a:r>
              <a:rPr lang="en-GB" altLang="en-US" sz="1800"/>
              <a:t>show object lifecycle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3FA13D44-F25A-12C5-5012-C4B6866524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example – events and relations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F98705B4-CA87-822D-33D9-E08F5E1A215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4038600" cy="4343400"/>
          </a:xfrm>
        </p:spPr>
        <p:txBody>
          <a:bodyPr/>
          <a:lstStyle/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r>
              <a:rPr lang="en-GB" altLang="en-US" sz="1600" b="1"/>
              <a:t>Events</a:t>
            </a:r>
            <a:r>
              <a:rPr lang="en-GB" altLang="en-US" sz="1600"/>
              <a:t>: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r>
              <a:rPr lang="en-GB" altLang="en-US" sz="1600"/>
              <a:t>	Ev1: humidity drops below 25%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r>
              <a:rPr lang="en-GB" altLang="en-US" sz="1600"/>
              <a:t>	Ev2: midnight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endParaRPr lang="en-GB" altLang="en-US" sz="1600"/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r>
              <a:rPr lang="en-GB" altLang="en-US" sz="1600" b="1"/>
              <a:t>Relations</a:t>
            </a:r>
            <a:r>
              <a:rPr lang="en-GB" altLang="en-US" sz="1600"/>
              <a:t>: object-object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r>
              <a:rPr lang="en-GB" altLang="en-US" sz="1600"/>
              <a:t>	location ( Pump3, glasshouse )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r>
              <a:rPr lang="en-GB" altLang="en-US" sz="1600"/>
              <a:t>	location ( Pump1, Parker’s Patch )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endParaRPr lang="en-GB" altLang="en-US" sz="1600"/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r>
              <a:rPr lang="en-GB" altLang="en-US" sz="1600" b="1"/>
              <a:t>Relations</a:t>
            </a:r>
            <a:r>
              <a:rPr lang="en-GB" altLang="en-US" sz="1600"/>
              <a:t>: action-object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r>
              <a:rPr lang="en-GB" altLang="en-US" sz="1600"/>
              <a:t>	patient ( V3, Sam )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r>
              <a:rPr lang="en-GB" altLang="en-US" sz="1600"/>
              <a:t>		–	</a:t>
            </a:r>
            <a:r>
              <a:rPr lang="en-GB" altLang="en-US" sz="1400"/>
              <a:t>Vera tells </a:t>
            </a:r>
            <a:r>
              <a:rPr lang="en-GB" altLang="en-US" sz="1400" i="1"/>
              <a:t>Sam</a:t>
            </a:r>
            <a:r>
              <a:rPr lang="en-GB" altLang="en-US" sz="1400"/>
              <a:t> to dig</a:t>
            </a:r>
            <a:endParaRPr lang="en-GB" altLang="en-US" sz="1600"/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r>
              <a:rPr lang="en-GB" altLang="en-US" sz="1600"/>
              <a:t>	patient ( S2, the carrots )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r>
              <a:rPr lang="en-GB" altLang="en-US" sz="1600"/>
              <a:t>		–	</a:t>
            </a:r>
            <a:r>
              <a:rPr lang="en-GB" altLang="en-US" sz="1400"/>
              <a:t>Sam digs the </a:t>
            </a:r>
            <a:r>
              <a:rPr lang="en-GB" altLang="en-US" sz="1400" i="1"/>
              <a:t>carrots</a:t>
            </a:r>
            <a:r>
              <a:rPr lang="en-GB" altLang="en-US" sz="1400"/>
              <a:t> ...</a:t>
            </a:r>
            <a:endParaRPr lang="en-GB" altLang="en-US" sz="1600"/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r>
              <a:rPr lang="en-GB" altLang="en-US" sz="1600"/>
              <a:t>	instrument ( S2, spade )</a:t>
            </a:r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r>
              <a:rPr lang="en-GB" altLang="en-US" sz="1600"/>
              <a:t>		–	</a:t>
            </a:r>
            <a:r>
              <a:rPr lang="en-GB" altLang="en-US" sz="1400"/>
              <a:t>... </a:t>
            </a:r>
            <a:r>
              <a:rPr lang="en-GB" altLang="en-US" sz="1400" i="1"/>
              <a:t>with</a:t>
            </a:r>
            <a:r>
              <a:rPr lang="en-GB" altLang="en-US" sz="1400"/>
              <a:t> the spade</a:t>
            </a:r>
            <a:endParaRPr lang="en-GB" altLang="en-US" sz="1600"/>
          </a:p>
          <a:p>
            <a:pPr marL="0" indent="0">
              <a:lnSpc>
                <a:spcPct val="90000"/>
              </a:lnSpc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endParaRPr lang="en-GB" altLang="en-US" sz="1600"/>
          </a:p>
        </p:txBody>
      </p:sp>
      <p:sp>
        <p:nvSpPr>
          <p:cNvPr id="72708" name="Rectangle 4">
            <a:extLst>
              <a:ext uri="{FF2B5EF4-FFF2-40B4-BE49-F238E27FC236}">
                <a16:creationId xmlns:a16="http://schemas.microsoft.com/office/drawing/2014/main" id="{3E3B0A6E-3FB3-088C-AE86-AE8626D7B38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953000" y="1981200"/>
            <a:ext cx="3810000" cy="4267200"/>
          </a:xfrm>
        </p:spPr>
        <p:txBody>
          <a:bodyPr/>
          <a:lstStyle/>
          <a:p>
            <a:pPr marL="0" indent="0"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r>
              <a:rPr lang="en-GB" altLang="en-US" sz="1600" b="1"/>
              <a:t>Relations</a:t>
            </a:r>
            <a:r>
              <a:rPr lang="en-GB" altLang="en-US" sz="1600"/>
              <a:t>: action-event</a:t>
            </a:r>
          </a:p>
          <a:p>
            <a:pPr marL="0" indent="0"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endParaRPr lang="en-GB" altLang="en-US" sz="800"/>
          </a:p>
          <a:p>
            <a:pPr marL="0" indent="0"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r>
              <a:rPr lang="en-GB" altLang="en-US" sz="1600"/>
              <a:t>	before ( V1, M1)</a:t>
            </a:r>
            <a:br>
              <a:rPr lang="en-GB" altLang="en-US" sz="1600"/>
            </a:br>
            <a:r>
              <a:rPr lang="en-GB" altLang="en-US" sz="1600"/>
              <a:t>		–	</a:t>
            </a:r>
            <a:r>
              <a:rPr lang="en-GB" altLang="en-US" sz="1400"/>
              <a:t>the marrow must be sown</a:t>
            </a:r>
            <a:br>
              <a:rPr lang="en-GB" altLang="en-US" sz="1400"/>
            </a:br>
            <a:r>
              <a:rPr lang="en-GB" altLang="en-US" sz="1400"/>
              <a:t>			</a:t>
            </a:r>
            <a:r>
              <a:rPr lang="en-GB" altLang="en-US" sz="1400" i="1"/>
              <a:t>before</a:t>
            </a:r>
            <a:r>
              <a:rPr lang="en-GB" altLang="en-US" sz="1400"/>
              <a:t> it can germinate</a:t>
            </a:r>
          </a:p>
          <a:p>
            <a:pPr marL="0" indent="0"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endParaRPr lang="en-GB" altLang="en-US" sz="800"/>
          </a:p>
          <a:p>
            <a:pPr marL="0" indent="0"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r>
              <a:rPr lang="en-GB" altLang="en-US" sz="1600"/>
              <a:t>	triggers ( Ev1, IC3 )</a:t>
            </a:r>
            <a:br>
              <a:rPr lang="en-GB" altLang="en-US" sz="1600"/>
            </a:br>
            <a:r>
              <a:rPr lang="en-GB" altLang="en-US" sz="1600"/>
              <a:t>		–	</a:t>
            </a:r>
            <a:r>
              <a:rPr lang="en-GB" altLang="en-US" sz="1400" i="1"/>
              <a:t>when</a:t>
            </a:r>
            <a:r>
              <a:rPr lang="en-GB" altLang="en-US" sz="1400"/>
              <a:t> humidity drops</a:t>
            </a:r>
            <a:br>
              <a:rPr lang="en-GB" altLang="en-US" sz="1400"/>
            </a:br>
            <a:r>
              <a:rPr lang="en-GB" altLang="en-US" sz="1400"/>
              <a:t>			below 25%,  the controller</a:t>
            </a:r>
            <a:br>
              <a:rPr lang="en-GB" altLang="en-US" sz="1400"/>
            </a:br>
            <a:r>
              <a:rPr lang="en-GB" altLang="en-US" sz="1400"/>
              <a:t>			turns on pump 3</a:t>
            </a:r>
          </a:p>
          <a:p>
            <a:pPr marL="0" indent="0"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endParaRPr lang="en-GB" altLang="en-US" sz="800"/>
          </a:p>
          <a:p>
            <a:pPr marL="0" indent="0"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r>
              <a:rPr lang="en-GB" altLang="en-US" sz="1600"/>
              <a:t>	causes ( V2, IC1 )</a:t>
            </a:r>
          </a:p>
          <a:p>
            <a:pPr marL="0" indent="0">
              <a:buFontTx/>
              <a:buNone/>
              <a:tabLst>
                <a:tab pos="195263" algn="l"/>
                <a:tab pos="474663" algn="l"/>
                <a:tab pos="768350" algn="l"/>
                <a:tab pos="3614738" algn="r"/>
              </a:tabLst>
            </a:pPr>
            <a:r>
              <a:rPr lang="en-GB" altLang="en-US" sz="1600"/>
              <a:t>		–	</a:t>
            </a:r>
            <a:r>
              <a:rPr lang="en-GB" altLang="en-US" sz="1400"/>
              <a:t>the controller turns on the</a:t>
            </a:r>
            <a:br>
              <a:rPr lang="en-GB" altLang="en-US" sz="1400"/>
            </a:br>
            <a:r>
              <a:rPr lang="en-GB" altLang="en-US" sz="1400"/>
              <a:t>			pump </a:t>
            </a:r>
            <a:r>
              <a:rPr lang="en-GB" altLang="en-US" sz="1400" i="1"/>
              <a:t>because</a:t>
            </a:r>
            <a:r>
              <a:rPr lang="en-GB" altLang="en-US" sz="1400"/>
              <a:t> Vera</a:t>
            </a:r>
            <a:br>
              <a:rPr lang="en-GB" altLang="en-US" sz="1400"/>
            </a:br>
            <a:r>
              <a:rPr lang="en-GB" altLang="en-US" sz="1400"/>
              <a:t>			programmed it</a:t>
            </a:r>
          </a:p>
        </p:txBody>
      </p:sp>
      <p:sp>
        <p:nvSpPr>
          <p:cNvPr id="72709" name="Line 5">
            <a:extLst>
              <a:ext uri="{FF2B5EF4-FFF2-40B4-BE49-F238E27FC236}">
                <a16:creationId xmlns:a16="http://schemas.microsoft.com/office/drawing/2014/main" id="{C12E2908-2D50-1B2D-CE63-AF48B902C02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981200"/>
            <a:ext cx="19812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2710" name="Line 6">
            <a:extLst>
              <a:ext uri="{FF2B5EF4-FFF2-40B4-BE49-F238E27FC236}">
                <a16:creationId xmlns:a16="http://schemas.microsoft.com/office/drawing/2014/main" id="{1C80BAFE-FCA0-E11A-9EE9-3500B2799B4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981200"/>
            <a:ext cx="0" cy="838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2711" name="Line 7">
            <a:extLst>
              <a:ext uri="{FF2B5EF4-FFF2-40B4-BE49-F238E27FC236}">
                <a16:creationId xmlns:a16="http://schemas.microsoft.com/office/drawing/2014/main" id="{AFD841F1-40C0-13D2-21E3-7192CA0870F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3048000"/>
            <a:ext cx="19812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2712" name="Line 8">
            <a:extLst>
              <a:ext uri="{FF2B5EF4-FFF2-40B4-BE49-F238E27FC236}">
                <a16:creationId xmlns:a16="http://schemas.microsoft.com/office/drawing/2014/main" id="{5A43FBB9-D891-8036-2052-357AE3E80D4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3048000"/>
            <a:ext cx="0" cy="838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2713" name="Line 9">
            <a:extLst>
              <a:ext uri="{FF2B5EF4-FFF2-40B4-BE49-F238E27FC236}">
                <a16:creationId xmlns:a16="http://schemas.microsoft.com/office/drawing/2014/main" id="{DC585DA9-7181-5E0C-20AB-2A5BDA43C5F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4114800"/>
            <a:ext cx="19812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2714" name="Line 10">
            <a:extLst>
              <a:ext uri="{FF2B5EF4-FFF2-40B4-BE49-F238E27FC236}">
                <a16:creationId xmlns:a16="http://schemas.microsoft.com/office/drawing/2014/main" id="{A17BBE53-73C3-C8C5-C91D-8A5D8D37A9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4114800"/>
            <a:ext cx="0" cy="190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2715" name="Line 11">
            <a:extLst>
              <a:ext uri="{FF2B5EF4-FFF2-40B4-BE49-F238E27FC236}">
                <a16:creationId xmlns:a16="http://schemas.microsoft.com/office/drawing/2014/main" id="{B0509FF3-85A2-71C3-9818-FD250EE473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1981200"/>
            <a:ext cx="19812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2716" name="Line 12">
            <a:extLst>
              <a:ext uri="{FF2B5EF4-FFF2-40B4-BE49-F238E27FC236}">
                <a16:creationId xmlns:a16="http://schemas.microsoft.com/office/drawing/2014/main" id="{7B574318-E8E8-1791-6735-59E3911EB1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1981200"/>
            <a:ext cx="0" cy="3505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0C4B1D7D-485C-1A1F-D806-27A0CB053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Sources of Information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2A73853B-0675-238E-B841-A8A3DE0EF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altLang="en-US" sz="2400"/>
              <a:t>Documentation</a:t>
            </a:r>
          </a:p>
          <a:p>
            <a:pPr lvl="1"/>
            <a:r>
              <a:rPr lang="en-GB" altLang="en-US" sz="2000"/>
              <a:t>N.B. manuals say what is </a:t>
            </a:r>
            <a:r>
              <a:rPr lang="en-GB" altLang="en-US" sz="2000" i="1"/>
              <a:t>supposed</a:t>
            </a:r>
            <a:r>
              <a:rPr lang="en-GB" altLang="en-US" sz="2000"/>
              <a:t> to happen</a:t>
            </a:r>
            <a:br>
              <a:rPr lang="en-GB" altLang="en-US" sz="2000"/>
            </a:br>
            <a:r>
              <a:rPr lang="en-GB" altLang="en-US" sz="2000"/>
              <a:t>but, good for key words and prompting interviews</a:t>
            </a:r>
          </a:p>
          <a:p>
            <a:endParaRPr lang="en-GB" altLang="en-US" sz="2400"/>
          </a:p>
          <a:p>
            <a:pPr>
              <a:buFontTx/>
              <a:buNone/>
            </a:pPr>
            <a:r>
              <a:rPr lang="en-GB" altLang="en-US" sz="2400"/>
              <a:t>Observation</a:t>
            </a:r>
          </a:p>
          <a:p>
            <a:pPr lvl="1"/>
            <a:r>
              <a:rPr lang="en-GB" altLang="en-US" sz="2000"/>
              <a:t>formal/informal, laboratory/field (see Chapter 9)</a:t>
            </a:r>
          </a:p>
          <a:p>
            <a:pPr>
              <a:buFontTx/>
              <a:buNone/>
            </a:pPr>
            <a:endParaRPr lang="en-GB" altLang="en-US" sz="2400"/>
          </a:p>
          <a:p>
            <a:pPr>
              <a:buFontTx/>
              <a:buNone/>
            </a:pPr>
            <a:r>
              <a:rPr lang="en-GB" altLang="en-US" sz="2400"/>
              <a:t>Interviews</a:t>
            </a:r>
          </a:p>
          <a:p>
            <a:pPr lvl="1"/>
            <a:r>
              <a:rPr lang="en-GB" altLang="en-US" sz="2000"/>
              <a:t>the expert: manager or worker? (ask both!)</a:t>
            </a:r>
          </a:p>
          <a:p>
            <a:endParaRPr lang="en-GB" altLang="en-US" sz="2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4FFC7422-B211-ED89-9FF7-424CBD3CDD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Early analysis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3B6DE9D4-440C-2248-C683-3FA9D45715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GB" altLang="en-US" sz="2400"/>
              <a:t>Extraction from transcripts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list nouns (objects) and verbs (actions)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beware technical language and context:</a:t>
            </a:r>
            <a:br>
              <a:rPr lang="en-GB" altLang="en-US" sz="2000"/>
            </a:br>
            <a:r>
              <a:rPr lang="en-GB" altLang="en-US" sz="2000"/>
              <a:t>	`the rain poured’  vs.  `I poured the tea’</a:t>
            </a:r>
          </a:p>
          <a:p>
            <a:pPr>
              <a:lnSpc>
                <a:spcPct val="90000"/>
              </a:lnSpc>
            </a:pPr>
            <a:endParaRPr lang="en-GB" altLang="en-US" sz="100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400"/>
              <a:t>Sorting and classifying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grouping or arranging words on cards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ranking objects/actions for task relevance (see ch. 9)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use commercial outliner</a:t>
            </a:r>
          </a:p>
          <a:p>
            <a:pPr>
              <a:lnSpc>
                <a:spcPct val="90000"/>
              </a:lnSpc>
            </a:pPr>
            <a:endParaRPr lang="en-GB" altLang="en-US" sz="100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400"/>
              <a:t>Iterative process:</a:t>
            </a:r>
          </a:p>
          <a:p>
            <a:pPr lvl="1">
              <a:lnSpc>
                <a:spcPct val="90000"/>
              </a:lnSpc>
              <a:buFontTx/>
              <a:buChar char=" "/>
            </a:pPr>
            <a:r>
              <a:rPr lang="en-GB" altLang="en-US" sz="2000"/>
              <a:t>		data sources  </a:t>
            </a:r>
            <a:r>
              <a:rPr lang="en-GB" altLang="en-US" sz="2000">
                <a:sym typeface="Monotype Sorts" pitchFamily="2" charset="2"/>
              </a:rPr>
              <a:t></a:t>
            </a:r>
            <a:r>
              <a:rPr lang="en-GB" altLang="en-US" sz="2000"/>
              <a:t>  analysis</a:t>
            </a:r>
          </a:p>
          <a:p>
            <a:pPr lvl="1">
              <a:lnSpc>
                <a:spcPct val="90000"/>
              </a:lnSpc>
              <a:buFontTx/>
              <a:buChar char="…"/>
            </a:pPr>
            <a:r>
              <a:rPr lang="en-GB" altLang="en-US" sz="2000"/>
              <a:t>but costly, so use cheap sources where available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442F80D4-1F5F-03D2-D794-3CCCB85FD7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086600" cy="1143000"/>
          </a:xfrm>
        </p:spPr>
        <p:txBody>
          <a:bodyPr/>
          <a:lstStyle/>
          <a:p>
            <a:r>
              <a:rPr lang="en-GB" altLang="en-US"/>
              <a:t>Uses – manuals &amp; documentation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937AA9DA-7A09-ED41-88F7-C8D40BE50E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2819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GB" altLang="en-US" sz="2000"/>
              <a:t>Conceptual Manual</a:t>
            </a:r>
          </a:p>
          <a:p>
            <a:pPr marL="476250" lvl="1"/>
            <a:r>
              <a:rPr lang="en-GB" altLang="en-US" sz="1600"/>
              <a:t>from knowledge or entity–relations based analysis</a:t>
            </a:r>
          </a:p>
          <a:p>
            <a:pPr marL="476250" lvl="1"/>
            <a:r>
              <a:rPr lang="en-GB" altLang="en-US" sz="1600"/>
              <a:t>good for open ended tasks</a:t>
            </a:r>
            <a:r>
              <a:rPr lang="en-GB" altLang="en-US" sz="1800"/>
              <a:t> </a:t>
            </a:r>
          </a:p>
          <a:p>
            <a:pPr marL="0" indent="0"/>
            <a:endParaRPr lang="en-GB" altLang="en-US" sz="1000"/>
          </a:p>
          <a:p>
            <a:pPr marL="0" indent="0">
              <a:buFontTx/>
              <a:buNone/>
            </a:pPr>
            <a:r>
              <a:rPr lang="en-GB" altLang="en-US" sz="2000"/>
              <a:t>Procedural ‘How to do it’ Manual</a:t>
            </a:r>
          </a:p>
          <a:p>
            <a:pPr marL="476250" lvl="1"/>
            <a:r>
              <a:rPr lang="en-GB" altLang="en-US" sz="1600"/>
              <a:t>from HTA description</a:t>
            </a:r>
          </a:p>
          <a:p>
            <a:pPr marL="476250" lvl="1"/>
            <a:r>
              <a:rPr lang="en-GB" altLang="en-US" sz="1600"/>
              <a:t>good for novices</a:t>
            </a:r>
          </a:p>
          <a:p>
            <a:pPr marL="476250" lvl="1"/>
            <a:r>
              <a:rPr lang="en-GB" altLang="en-US" sz="1600"/>
              <a:t>assumes all tasks known</a:t>
            </a:r>
            <a:endParaRPr lang="en-GB" altLang="en-US" sz="1800"/>
          </a:p>
        </p:txBody>
      </p:sp>
      <p:grpSp>
        <p:nvGrpSpPr>
          <p:cNvPr id="56324" name="Group 4">
            <a:extLst>
              <a:ext uri="{FF2B5EF4-FFF2-40B4-BE49-F238E27FC236}">
                <a16:creationId xmlns:a16="http://schemas.microsoft.com/office/drawing/2014/main" id="{8646D420-8BF9-41A6-BF04-0098A13726CD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4038600"/>
            <a:ext cx="2133600" cy="2286000"/>
            <a:chOff x="2544" y="2544"/>
            <a:chExt cx="1344" cy="1440"/>
          </a:xfrm>
        </p:grpSpPr>
        <p:sp>
          <p:nvSpPr>
            <p:cNvPr id="56325" name="Rectangle 5">
              <a:extLst>
                <a:ext uri="{FF2B5EF4-FFF2-40B4-BE49-F238E27FC236}">
                  <a16:creationId xmlns:a16="http://schemas.microsoft.com/office/drawing/2014/main" id="{FC672DD2-7EC3-5A1A-7671-5AE6921C5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544"/>
              <a:ext cx="1344" cy="14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grpSp>
          <p:nvGrpSpPr>
            <p:cNvPr id="56326" name="Group 6">
              <a:extLst>
                <a:ext uri="{FF2B5EF4-FFF2-40B4-BE49-F238E27FC236}">
                  <a16:creationId xmlns:a16="http://schemas.microsoft.com/office/drawing/2014/main" id="{9983F747-0734-7529-984F-675F473F53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2" y="2592"/>
              <a:ext cx="1085" cy="1229"/>
              <a:chOff x="2712" y="2592"/>
              <a:chExt cx="1085" cy="1229"/>
            </a:xfrm>
          </p:grpSpPr>
          <p:sp>
            <p:nvSpPr>
              <p:cNvPr id="56327" name="Text Box 7">
                <a:extLst>
                  <a:ext uri="{FF2B5EF4-FFF2-40B4-BE49-F238E27FC236}">
                    <a16:creationId xmlns:a16="http://schemas.microsoft.com/office/drawing/2014/main" id="{2013A549-DF89-788D-BC12-C5B43A1A6D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2592"/>
                <a:ext cx="107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GB" altLang="en-US" sz="1400" b="1"/>
                  <a:t>To make cups of tea</a:t>
                </a:r>
              </a:p>
            </p:txBody>
          </p:sp>
          <p:sp>
            <p:nvSpPr>
              <p:cNvPr id="56328" name="Text Box 8">
                <a:extLst>
                  <a:ext uri="{FF2B5EF4-FFF2-40B4-BE49-F238E27FC236}">
                    <a16:creationId xmlns:a16="http://schemas.microsoft.com/office/drawing/2014/main" id="{6A3BC296-B3CF-5471-C57E-22F293F931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2" y="2880"/>
                <a:ext cx="1085" cy="6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GB" altLang="en-US" sz="1200" b="1"/>
                  <a:t>boil water –– see page 2</a:t>
                </a:r>
              </a:p>
              <a:p>
                <a:r>
                  <a:rPr lang="en-GB" altLang="en-US" sz="1200" b="1"/>
                  <a:t>empty pot</a:t>
                </a:r>
              </a:p>
              <a:p>
                <a:r>
                  <a:rPr lang="en-GB" altLang="en-US" sz="1200" b="1"/>
                  <a:t>make pot –– see page 3</a:t>
                </a:r>
              </a:p>
              <a:p>
                <a:r>
                  <a:rPr lang="en-GB" altLang="en-US" sz="1200" b="1"/>
                  <a:t>wait 4 or 5 minutes</a:t>
                </a:r>
              </a:p>
              <a:p>
                <a:r>
                  <a:rPr lang="en-GB" altLang="en-US" sz="1200" b="1"/>
                  <a:t>pour tea –– see page 4</a:t>
                </a:r>
              </a:p>
            </p:txBody>
          </p:sp>
          <p:sp>
            <p:nvSpPr>
              <p:cNvPr id="56329" name="Text Box 9">
                <a:extLst>
                  <a:ext uri="{FF2B5EF4-FFF2-40B4-BE49-F238E27FC236}">
                    <a16:creationId xmlns:a16="http://schemas.microsoft.com/office/drawing/2014/main" id="{2367B97F-6B54-1574-B767-5949BE75CF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0" y="3648"/>
                <a:ext cx="668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altLang="en-US" sz="1200" b="1"/>
                  <a:t>––  page 1  ––</a:t>
                </a:r>
              </a:p>
            </p:txBody>
          </p:sp>
        </p:grpSp>
      </p:grpSp>
      <p:grpSp>
        <p:nvGrpSpPr>
          <p:cNvPr id="56330" name="Group 10">
            <a:extLst>
              <a:ext uri="{FF2B5EF4-FFF2-40B4-BE49-F238E27FC236}">
                <a16:creationId xmlns:a16="http://schemas.microsoft.com/office/drawing/2014/main" id="{E5583DFC-7FFF-08A8-0332-208766256A3B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4038600"/>
            <a:ext cx="2133600" cy="2286000"/>
            <a:chOff x="3888" y="624"/>
            <a:chExt cx="1344" cy="1440"/>
          </a:xfrm>
        </p:grpSpPr>
        <p:sp>
          <p:nvSpPr>
            <p:cNvPr id="56331" name="Rectangle 11">
              <a:extLst>
                <a:ext uri="{FF2B5EF4-FFF2-40B4-BE49-F238E27FC236}">
                  <a16:creationId xmlns:a16="http://schemas.microsoft.com/office/drawing/2014/main" id="{9581AAF8-E5CA-8FDC-5194-E634F445B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624"/>
              <a:ext cx="1344" cy="14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56332" name="Text Box 12">
              <a:extLst>
                <a:ext uri="{FF2B5EF4-FFF2-40B4-BE49-F238E27FC236}">
                  <a16:creationId xmlns:a16="http://schemas.microsoft.com/office/drawing/2014/main" id="{D2529A92-F200-9A20-15D2-534938140F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672"/>
              <a:ext cx="86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GB" altLang="en-US" sz="1400" b="1"/>
                <a:t>Make pot of tea</a:t>
              </a:r>
            </a:p>
          </p:txBody>
        </p:sp>
        <p:sp>
          <p:nvSpPr>
            <p:cNvPr id="56333" name="Text Box 13">
              <a:extLst>
                <a:ext uri="{FF2B5EF4-FFF2-40B4-BE49-F238E27FC236}">
                  <a16:creationId xmlns:a16="http://schemas.microsoft.com/office/drawing/2014/main" id="{37265077-0C43-F97A-514A-AD1885C877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8" y="960"/>
              <a:ext cx="983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200" b="1"/>
                <a:t>warm pot</a:t>
              </a:r>
            </a:p>
            <a:p>
              <a:r>
                <a:rPr lang="en-GB" altLang="en-US" sz="1200" b="1"/>
                <a:t>put tea leaves in pot</a:t>
              </a:r>
            </a:p>
            <a:p>
              <a:r>
                <a:rPr lang="en-GB" altLang="en-US" sz="1200" b="1"/>
                <a:t>pour in boiling water</a:t>
              </a:r>
            </a:p>
          </p:txBody>
        </p:sp>
        <p:sp>
          <p:nvSpPr>
            <p:cNvPr id="56334" name="Text Box 14">
              <a:extLst>
                <a:ext uri="{FF2B5EF4-FFF2-40B4-BE49-F238E27FC236}">
                  <a16:creationId xmlns:a16="http://schemas.microsoft.com/office/drawing/2014/main" id="{311E2004-A87C-2ACA-739D-8498156A1A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6" y="1728"/>
              <a:ext cx="66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GB" altLang="en-US" sz="1200" b="1"/>
                <a:t>––  page 3  ––</a:t>
              </a:r>
            </a:p>
          </p:txBody>
        </p:sp>
        <p:sp>
          <p:nvSpPr>
            <p:cNvPr id="56335" name="Text Box 15">
              <a:extLst>
                <a:ext uri="{FF2B5EF4-FFF2-40B4-BE49-F238E27FC236}">
                  <a16:creationId xmlns:a16="http://schemas.microsoft.com/office/drawing/2014/main" id="{1B5002E1-A103-25CD-5679-AA22CA9CFF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9" y="787"/>
              <a:ext cx="96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GB" altLang="en-US" sz="1200" i="1"/>
                <a:t>once water has boiled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5BC163D2-36D9-04F7-9DA3-FC7EB4EDA1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Uses – requirements &amp; design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7FB3D708-525F-73CB-F376-38B9FC9FC7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GB" altLang="en-US" sz="2400"/>
              <a:t>Requirements capture and systems design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lifts focus from system to use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suggests candidates for automation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uncovers user's conceptual model</a:t>
            </a:r>
          </a:p>
          <a:p>
            <a:pPr>
              <a:lnSpc>
                <a:spcPct val="90000"/>
              </a:lnSpc>
            </a:pPr>
            <a:endParaRPr lang="en-GB" altLang="en-US" sz="100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400"/>
              <a:t>Detailed interface design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taxonomies suggest menu layout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object/action lists suggest interface objects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task frequency guides default choices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existing task sequences guide dialogue design</a:t>
            </a:r>
          </a:p>
          <a:p>
            <a:pPr>
              <a:lnSpc>
                <a:spcPct val="90000"/>
              </a:lnSpc>
            </a:pPr>
            <a:endParaRPr lang="en-GB" altLang="en-US" sz="100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2400"/>
              <a:t>NOTE. task analysis is never complete 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rigid task based design </a:t>
            </a:r>
            <a:r>
              <a:rPr lang="en-GB" altLang="en-US" sz="2000">
                <a:sym typeface="Symbol" pitchFamily="2" charset="2"/>
              </a:rPr>
              <a:t></a:t>
            </a:r>
            <a:r>
              <a:rPr lang="en-GB" altLang="en-US" sz="2000"/>
              <a:t> inflexible system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362200"/>
            <a:ext cx="7315200" cy="1092200"/>
          </a:xfrm>
        </p:spPr>
        <p:txBody>
          <a:bodyPr/>
          <a:lstStyle/>
          <a:p>
            <a:pPr algn="ctr"/>
            <a:r>
              <a:rPr lang="en-GB" sz="6000" dirty="0"/>
              <a:t>User Profiles</a:t>
            </a:r>
          </a:p>
        </p:txBody>
      </p:sp>
      <p:sp>
        <p:nvSpPr>
          <p:cNvPr id="3" name="Subtitle 2"/>
          <p:cNvSpPr txBox="1"/>
          <p:nvPr/>
        </p:nvSpPr>
        <p:spPr>
          <a:xfrm>
            <a:off x="914400" y="3581400"/>
            <a:ext cx="7315200" cy="1397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GB" sz="2400" b="1" dirty="0"/>
              <a:t>Chapter 02</a:t>
            </a:r>
          </a:p>
          <a:p>
            <a:pPr algn="ctr"/>
            <a:r>
              <a:rPr lang="en-GB" sz="2400" dirty="0"/>
              <a:t>Usability Engineering Life Cycle by </a:t>
            </a:r>
            <a:br>
              <a:rPr lang="en-GB" sz="2400"/>
            </a:br>
            <a:r>
              <a:rPr lang="en-GB" sz="2400" dirty="0"/>
              <a:t>Deborah J. Mayhew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How today’s lecture works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824228" cy="310896"/>
          </a:xfrm>
          <a:prstGeom prst="roundRect">
            <a:avLst>
              <a:gd name="adj" fmla="val 50000"/>
            </a:avLst>
          </a:prstGeom>
          <a:solidFill>
            <a:srgbClr val="2D2D8A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HOW TODAY WORKS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2482596" y="1810512"/>
            <a:ext cx="565556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look for these badges in the top-left of a slide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33172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0726F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POLL</a:t>
            </a:r>
            <a:endParaRPr lang="en-GB" sz="1100" dirty="0"/>
          </a:p>
        </p:txBody>
      </p:sp>
      <p:sp>
        <p:nvSpPr>
          <p:cNvPr id="14" name="Shape 14"/>
          <p:cNvSpPr txBox="1"/>
          <p:nvPr/>
        </p:nvSpPr>
        <p:spPr>
          <a:xfrm>
            <a:off x="2743200" y="2267712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Vote with your hands — everyone answers, no one is wrong.</a:t>
            </a:r>
            <a:endParaRPr lang="en-GB" sz="1400" dirty="0"/>
          </a:p>
        </p:txBody>
      </p:sp>
      <p:sp>
        <p:nvSpPr>
          <p:cNvPr id="15" name="Shape 15"/>
          <p:cNvSpPr/>
          <p:nvPr/>
        </p:nvSpPr>
        <p:spPr>
          <a:xfrm>
            <a:off x="548640" y="288036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333399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QUIZ</a:t>
            </a:r>
            <a:endParaRPr lang="en-GB" sz="1100" dirty="0"/>
          </a:p>
        </p:txBody>
      </p:sp>
      <p:sp>
        <p:nvSpPr>
          <p:cNvPr id="16" name="Shape 16"/>
          <p:cNvSpPr txBox="1"/>
          <p:nvPr/>
        </p:nvSpPr>
        <p:spPr>
          <a:xfrm>
            <a:off x="2743200" y="2816352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Answer on paper first; the next slide reveals the answer.</a:t>
            </a:r>
            <a:endParaRPr lang="en-GB" sz="1400" dirty="0"/>
          </a:p>
        </p:txBody>
      </p:sp>
      <p:sp>
        <p:nvSpPr>
          <p:cNvPr id="17" name="Shape 17"/>
          <p:cNvSpPr/>
          <p:nvPr/>
        </p:nvSpPr>
        <p:spPr>
          <a:xfrm>
            <a:off x="548640" y="342900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4E7A12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THINK-PAIR-SHARE</a:t>
            </a:r>
            <a:endParaRPr lang="en-GB" sz="1100" dirty="0"/>
          </a:p>
        </p:txBody>
      </p:sp>
      <p:sp>
        <p:nvSpPr>
          <p:cNvPr id="18" name="Shape 18"/>
          <p:cNvSpPr txBox="1"/>
          <p:nvPr/>
        </p:nvSpPr>
        <p:spPr>
          <a:xfrm>
            <a:off x="2743200" y="3364992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1 min alone → 2 min with your neighbour → a few pairs share.</a:t>
            </a:r>
            <a:endParaRPr lang="en-GB" sz="1400" dirty="0"/>
          </a:p>
        </p:txBody>
      </p:sp>
      <p:sp>
        <p:nvSpPr>
          <p:cNvPr id="19" name="Shape 19"/>
          <p:cNvSpPr/>
          <p:nvPr/>
        </p:nvSpPr>
        <p:spPr>
          <a:xfrm>
            <a:off x="548640" y="397764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LIVE EXERCISE</a:t>
            </a:r>
            <a:endParaRPr lang="en-GB" sz="1100" dirty="0"/>
          </a:p>
        </p:txBody>
      </p:sp>
      <p:sp>
        <p:nvSpPr>
          <p:cNvPr id="20" name="Shape 20"/>
          <p:cNvSpPr txBox="1"/>
          <p:nvPr/>
        </p:nvSpPr>
        <p:spPr>
          <a:xfrm>
            <a:off x="2743200" y="3913632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Do it now, in class, on paper.</a:t>
            </a:r>
            <a:endParaRPr lang="en-GB" sz="1400" dirty="0"/>
          </a:p>
        </p:txBody>
      </p:sp>
      <p:sp>
        <p:nvSpPr>
          <p:cNvPr id="21" name="Shape 21"/>
          <p:cNvSpPr/>
          <p:nvPr/>
        </p:nvSpPr>
        <p:spPr>
          <a:xfrm>
            <a:off x="548640" y="45262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8A5A0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CASE PUZZLE</a:t>
            </a:r>
            <a:endParaRPr lang="en-GB" sz="1100" dirty="0"/>
          </a:p>
        </p:txBody>
      </p:sp>
      <p:sp>
        <p:nvSpPr>
          <p:cNvPr id="22" name="Shape 22"/>
          <p:cNvSpPr txBox="1"/>
          <p:nvPr/>
        </p:nvSpPr>
        <p:spPr>
          <a:xfrm>
            <a:off x="2743200" y="4462272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A real situation; apply today’s idea to it in pairs.</a:t>
            </a:r>
            <a:endParaRPr lang="en-GB" sz="1400" dirty="0"/>
          </a:p>
        </p:txBody>
      </p:sp>
      <p:sp>
        <p:nvSpPr>
          <p:cNvPr id="23" name="Shape 23"/>
          <p:cNvSpPr/>
          <p:nvPr/>
        </p:nvSpPr>
        <p:spPr>
          <a:xfrm>
            <a:off x="548640" y="5166360"/>
            <a:ext cx="7589520" cy="86868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37160" tIns="137160" rIns="137160" bIns="137160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2D2D8A"/>
                </a:solidFill>
                <a:latin typeface="Arial"/>
                <a:cs typeface="Arial"/>
              </a:rPr>
              <a:t xml:space="preserve">Today: </a:t>
            </a: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Part A user profiles (Mayhew Ch. 2) → 10-min break → Part B task analysis (Dix Ch. 15); 11 activities, ~45 min</a:t>
            </a:r>
            <a:endParaRPr lang="en-GB" sz="1200" dirty="0"/>
          </a:p>
          <a:p>
            <a:pPr algn="l">
              <a:spcBef>
                <a:spcPts val="300"/>
              </a:spcBef>
              <a:buNone/>
            </a:pPr>
            <a:r>
              <a:rPr lang="en-GB" sz="1200" b="1" i="0" dirty="0">
                <a:solidFill>
                  <a:srgbClr val="2D2D8A"/>
                </a:solidFill>
                <a:latin typeface="Arial"/>
                <a:cs typeface="Arial"/>
              </a:rPr>
              <a:t xml:space="preserve">Have ready: </a:t>
            </a: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a sheet of paper and a pen</a:t>
            </a:r>
            <a:endParaRPr lang="en-GB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Warm-up: same app, two users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4E7A12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THINK-PAIR-SHARE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2578608" y="1810512"/>
            <a:ext cx="5559552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4 min · 1 alone, 2 in pairs, 1 share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28016" tIns="128016" rIns="128016" bIns="128016" anchor="t" rtlCol="0">
            <a:noAutofit/>
          </a:bodyPr>
          <a:lstStyle/>
          <a:p>
            <a:pPr algn="l">
              <a:buNone/>
            </a:pPr>
            <a:r>
              <a:rPr lang="en-GB" sz="1500" b="1" i="0" dirty="0">
                <a:solidFill>
                  <a:srgbClr val="2D2D8A"/>
                </a:solidFill>
                <a:latin typeface="Arial"/>
                <a:cs typeface="Arial"/>
              </a:rPr>
              <a:t>Nani, 70</a:t>
            </a:r>
            <a:endParaRPr lang="en-GB" sz="1250" dirty="0"/>
          </a:p>
          <a:p>
            <a:pPr algn="l">
              <a:spcBef>
                <a:spcPts val="400"/>
              </a:spcBef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First smartphone. Reads Urdu comfortably, English slowly. Has always paid bills at the bank counter.</a:t>
            </a:r>
            <a:endParaRPr lang="en-GB" sz="1250" dirty="0"/>
          </a:p>
        </p:txBody>
      </p:sp>
      <p:sp>
        <p:nvSpPr>
          <p:cNvPr id="14" name="Shape 14"/>
          <p:cNvSpPr/>
          <p:nvPr/>
        </p:nvSpPr>
        <p:spPr>
          <a:xfrm>
            <a:off x="4434840" y="228600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28016" tIns="128016" rIns="128016" bIns="128016" anchor="t" rtlCol="0">
            <a:noAutofit/>
          </a:bodyPr>
          <a:lstStyle/>
          <a:p>
            <a:pPr algn="l">
              <a:buNone/>
            </a:pPr>
            <a:r>
              <a:rPr lang="en-GB" sz="1500" b="1" i="0" dirty="0">
                <a:solidFill>
                  <a:srgbClr val="2D2D8A"/>
                </a:solidFill>
                <a:latin typeface="Arial"/>
                <a:cs typeface="Arial"/>
              </a:rPr>
              <a:t>Hamza, 19</a:t>
            </a:r>
            <a:endParaRPr lang="en-GB" sz="1250" dirty="0"/>
          </a:p>
          <a:p>
            <a:pPr algn="l">
              <a:spcBef>
                <a:spcPts val="400"/>
              </a:spcBef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CS student. Pays everything on his phone. Hates waiting and extra taps.</a:t>
            </a:r>
            <a:endParaRPr lang="en-GB" sz="1250" dirty="0"/>
          </a:p>
        </p:txBody>
      </p:sp>
      <p:sp>
        <p:nvSpPr>
          <p:cNvPr id="15" name="Shape 15"/>
          <p:cNvSpPr txBox="1"/>
          <p:nvPr/>
        </p:nvSpPr>
        <p:spPr>
          <a:xfrm>
            <a:off x="548640" y="3931920"/>
            <a:ext cx="758952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600" b="1" i="0" dirty="0">
                <a:solidFill>
                  <a:srgbClr val="2D2D8A"/>
                </a:solidFill>
                <a:latin typeface="Arial"/>
                <a:cs typeface="Arial"/>
              </a:rPr>
              <a:t>You are designing ONE bill-payment app for both of them.</a:t>
            </a:r>
            <a:endParaRPr lang="en-GB" sz="1600" dirty="0"/>
          </a:p>
        </p:txBody>
      </p:sp>
      <p:sp>
        <p:nvSpPr>
          <p:cNvPr id="16" name="Shape 16"/>
          <p:cNvSpPr/>
          <p:nvPr/>
        </p:nvSpPr>
        <p:spPr>
          <a:xfrm>
            <a:off x="548640" y="4434840"/>
            <a:ext cx="7589520" cy="1143000"/>
          </a:xfrm>
          <a:prstGeom prst="roundRect">
            <a:avLst>
              <a:gd name="adj" fmla="val 8000"/>
            </a:avLst>
          </a:prstGeom>
          <a:solidFill>
            <a:srgbClr val="E6EFD9"/>
          </a:solidFill>
          <a:ln w="12700">
            <a:solidFill>
              <a:srgbClr val="9DB8BC"/>
            </a:solidFill>
          </a:ln>
        </p:spPr>
        <p:txBody>
          <a:bodyPr wrap="square" lIns="164592" tIns="164592" rIns="164592" bIns="164592" anchor="ctr" rtlCol="0">
            <a:noAutofit/>
          </a:bodyPr>
          <a:lstStyle/>
          <a:p>
            <a:pPr algn="l">
              <a:buNone/>
            </a:pPr>
            <a:r>
              <a:rPr lang="en-GB" sz="1400" b="1" i="0" dirty="0">
                <a:solidFill>
                  <a:srgbClr val="4E7A12"/>
                </a:solidFill>
                <a:latin typeface="Arial"/>
                <a:cs typeface="Arial"/>
              </a:rPr>
              <a:t xml:space="preserve">Write: </a:t>
            </a: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three things that must be different for Nani and Hamza, and one thing that must NOT be different.</a:t>
            </a:r>
            <a:endParaRPr lang="en-GB" sz="1400" dirty="0"/>
          </a:p>
        </p:txBody>
      </p:sp>
      <p:sp>
        <p:nvSpPr>
          <p:cNvPr id="17" name="Shape 17"/>
          <p:cNvSpPr txBox="1"/>
          <p:nvPr/>
        </p:nvSpPr>
        <p:spPr>
          <a:xfrm>
            <a:off x="548640" y="57607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What you just did has a name: user profiling. That is today’s topic.</a:t>
            </a:r>
            <a:endParaRPr lang="en-GB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What is user profile?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>
          <a:xfrm>
            <a:off x="685800" y="1680210"/>
            <a:ext cx="7772400" cy="4669790"/>
          </a:xfrm>
        </p:spPr>
        <p:txBody>
          <a:bodyPr/>
          <a:lstStyle/>
          <a:p>
            <a:pPr marL="342900" indent="-342900">
              <a:buFontTx/>
              <a:buChar char="•"/>
            </a:pPr>
            <a:r>
              <a:rPr lang="en-GB" sz="2400" dirty="0"/>
              <a:t xml:space="preserve">The process of establishing knowledge about </a:t>
            </a:r>
            <a:r>
              <a:rPr lang="en-GB" sz="2400" dirty="0"/>
              <a:t>the users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Find out who users are</a:t>
            </a:r>
          </a:p>
          <a:p>
            <a:pPr marL="1142999" indent="-228600">
              <a:buFontTx/>
              <a:buChar char="•"/>
            </a:pPr>
            <a:r>
              <a:rPr lang="en-GB" sz="1800" dirty="0"/>
              <a:t xml:space="preserve">Children, Elders, Professional, Scientist, Male, Female, </a:t>
            </a:r>
            <a:r>
              <a:rPr lang="en-GB" sz="1800" dirty="0"/>
              <a:t>Tech Experts, IT Illiterate</a:t>
            </a:r>
          </a:p>
          <a:p>
            <a:pPr marL="342900" indent="-342900">
              <a:buFontTx/>
              <a:buChar char="•"/>
            </a:pPr>
            <a:r>
              <a:rPr lang="en-GB" sz="2400" dirty="0"/>
              <a:t>What is the goal in using the product?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Withdraw cash, pay bills, find out movie time, online </a:t>
            </a:r>
            <a:r>
              <a:rPr lang="en-GB" sz="2000" dirty="0"/>
              <a:t xml:space="preserve">chat, gaming, research etc. </a:t>
            </a:r>
          </a:p>
          <a:p>
            <a:pPr marL="342900" indent="-342900">
              <a:buFontTx/>
              <a:buChar char="•"/>
            </a:pPr>
            <a:r>
              <a:rPr lang="en-GB" sz="2400" dirty="0"/>
              <a:t>What are the tasks involved?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(Observe existing work practices)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E.g. To apply for leave</a:t>
            </a:r>
          </a:p>
          <a:p>
            <a:pPr marL="1142999" indent="-228600">
              <a:buFontTx/>
              <a:buChar char="•"/>
            </a:pPr>
            <a:r>
              <a:rPr lang="en-GB" sz="1600" dirty="0"/>
              <a:t xml:space="preserve">Check schedule, Get Leave application form from admin, fill in </a:t>
            </a:r>
            <a:r>
              <a:rPr lang="en-GB" sz="1600" dirty="0"/>
              <a:t xml:space="preserve">the form, get it approved from Manager, inform colleagues and </a:t>
            </a:r>
            <a:r>
              <a:rPr lang="en-GB" sz="1600" dirty="0"/>
              <a:t>go on leave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Why user profiling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>
          <a:xfrm>
            <a:off x="685800" y="1756410"/>
            <a:ext cx="7772400" cy="4593590"/>
          </a:xfrm>
        </p:spPr>
        <p:txBody>
          <a:bodyPr/>
          <a:lstStyle/>
          <a:p>
            <a:pPr marL="344169" indent="-342900">
              <a:buFontTx/>
              <a:buChar char="•"/>
            </a:pPr>
            <a:r>
              <a:rPr lang="en-GB" sz="2400" dirty="0"/>
              <a:t xml:space="preserve">System will fail if it </a:t>
            </a:r>
          </a:p>
          <a:p>
            <a:pPr marL="744219" indent="-285750">
              <a:buFontTx/>
              <a:buChar char="–"/>
            </a:pPr>
            <a:r>
              <a:rPr lang="en-GB" sz="2000" dirty="0"/>
              <a:t>Does not do what the user needs</a:t>
            </a:r>
          </a:p>
          <a:p>
            <a:pPr marL="744219" indent="-285750">
              <a:buFontTx/>
              <a:buChar char="–"/>
            </a:pPr>
            <a:r>
              <a:rPr lang="en-GB" sz="2000" dirty="0"/>
              <a:t xml:space="preserve"> Is inappropriate to the users</a:t>
            </a:r>
          </a:p>
          <a:p>
            <a:pPr marL="344169" indent="-342900">
              <a:buFontTx/>
              <a:buChar char="•"/>
            </a:pPr>
            <a:r>
              <a:rPr lang="en-GB" sz="2400" dirty="0"/>
              <a:t xml:space="preserve">The System must match the user’s tasks and </a:t>
            </a:r>
            <a:r>
              <a:rPr lang="en-GB" sz="2400" dirty="0"/>
              <a:t>must meet the requirements</a:t>
            </a:r>
          </a:p>
          <a:p>
            <a:pPr marL="344169" indent="-342900">
              <a:buFontTx/>
              <a:buChar char="•"/>
            </a:pPr>
            <a:r>
              <a:rPr lang="en-GB" sz="2400" dirty="0"/>
              <a:t xml:space="preserve">Why do user profiling, why not define “good” </a:t>
            </a:r>
            <a:r>
              <a:rPr lang="en-GB" sz="2400" dirty="0"/>
              <a:t xml:space="preserve">interfaces and just based your design on </a:t>
            </a:r>
            <a:r>
              <a:rPr lang="en-GB" sz="2400" dirty="0"/>
              <a:t>them?</a:t>
            </a:r>
          </a:p>
          <a:p>
            <a:pPr marL="744219" indent="-285750">
              <a:buFontTx/>
              <a:buChar char="–"/>
            </a:pPr>
            <a:r>
              <a:rPr lang="en-GB" sz="2000" dirty="0"/>
              <a:t xml:space="preserve">infinite variety of tasks and users guidelines can be </a:t>
            </a:r>
            <a:r>
              <a:rPr lang="en-GB" sz="2000" dirty="0"/>
              <a:t>too vague to be generative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WHO ARE THE USERS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•"/>
            </a:pPr>
            <a:r>
              <a:rPr lang="en-GB" sz="2400" dirty="0"/>
              <a:t>Identify attributes of users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Physical characteristics:</a:t>
            </a:r>
          </a:p>
          <a:p>
            <a:pPr marL="1142999" indent="-228600">
              <a:buFontTx/>
              <a:buChar char="•"/>
            </a:pPr>
            <a:r>
              <a:rPr lang="en-GB" sz="1800" dirty="0"/>
              <a:t>height; physical abilities or disabilities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Background:</a:t>
            </a:r>
          </a:p>
          <a:p>
            <a:pPr marL="1142999" indent="-228600">
              <a:buFontTx/>
              <a:buChar char="•"/>
            </a:pPr>
            <a:r>
              <a:rPr lang="en-GB" sz="1800" dirty="0"/>
              <a:t>education; social; religious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Skills:</a:t>
            </a:r>
          </a:p>
          <a:p>
            <a:pPr marL="1142999" indent="-228600">
              <a:buFontTx/>
              <a:buChar char="•"/>
            </a:pPr>
            <a:r>
              <a:rPr lang="en-GB" sz="1800" dirty="0"/>
              <a:t xml:space="preserve">task experience 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Preferences:</a:t>
            </a:r>
          </a:p>
          <a:p>
            <a:pPr marL="1142999" indent="-228600">
              <a:buFontTx/>
              <a:buChar char="•"/>
            </a:pPr>
            <a:r>
              <a:rPr lang="en-GB" sz="1800" dirty="0"/>
              <a:t xml:space="preserve">efficiency 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85800" y="396239"/>
            <a:ext cx="6858000" cy="1143000"/>
          </a:xfrm>
        </p:spPr>
        <p:txBody>
          <a:bodyPr/>
          <a:lstStyle/>
          <a:p>
            <a:r>
              <a:rPr lang="en-GB" sz="2800" dirty="0"/>
              <a:t>WHERE IS THE TASK PERFORMED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>
          <a:xfrm>
            <a:off x="685800" y="1604010"/>
            <a:ext cx="7772400" cy="4745990"/>
          </a:xfrm>
        </p:spPr>
        <p:txBody>
          <a:bodyPr/>
          <a:lstStyle/>
          <a:p>
            <a:pPr marL="342900" indent="-342900">
              <a:buFontTx/>
              <a:buChar char="•"/>
            </a:pPr>
            <a:r>
              <a:rPr lang="en-GB" sz="2400" dirty="0"/>
              <a:t xml:space="preserve">Office, laboratory, POS? (while standing, while </a:t>
            </a:r>
            <a:r>
              <a:rPr lang="en-GB" sz="2400" dirty="0"/>
              <a:t xml:space="preserve">sitting, in a crowded place, effects of </a:t>
            </a:r>
            <a:r>
              <a:rPr lang="en-GB" sz="2400" dirty="0"/>
              <a:t>environment)</a:t>
            </a:r>
          </a:p>
          <a:p>
            <a:pPr marL="342900" indent="-342900">
              <a:buFontTx/>
              <a:buChar char="•"/>
            </a:pPr>
            <a:r>
              <a:rPr lang="en-GB" sz="2400" dirty="0"/>
              <a:t xml:space="preserve">Are users under stress? (in an operation </a:t>
            </a:r>
            <a:r>
              <a:rPr lang="en-GB" sz="2400" dirty="0"/>
              <a:t>theatre)</a:t>
            </a:r>
          </a:p>
          <a:p>
            <a:pPr marL="342900" indent="-342900">
              <a:buFontTx/>
              <a:buChar char="•"/>
            </a:pPr>
            <a:r>
              <a:rPr lang="en-GB" sz="2400" dirty="0"/>
              <a:t xml:space="preserve">Is confidentiality required? (information </a:t>
            </a:r>
            <a:r>
              <a:rPr lang="en-GB" sz="2400" dirty="0"/>
              <a:t>displayed)</a:t>
            </a:r>
          </a:p>
          <a:p>
            <a:pPr marL="342900" indent="-342900">
              <a:buFontTx/>
              <a:buChar char="•"/>
            </a:pPr>
            <a:r>
              <a:rPr lang="en-GB" sz="2400" dirty="0"/>
              <a:t>Do Users consume drinks while doing tasks?</a:t>
            </a:r>
          </a:p>
          <a:p>
            <a:pPr marL="342900" indent="-342900">
              <a:buFontTx/>
              <a:buChar char="•"/>
            </a:pPr>
            <a:r>
              <a:rPr lang="en-GB" sz="2400" dirty="0"/>
              <a:t xml:space="preserve">What kind of lighting do they work under? </a:t>
            </a:r>
          </a:p>
          <a:p>
            <a:pPr marL="342900" indent="-342900">
              <a:buFontTx/>
              <a:buChar char="•"/>
            </a:pPr>
            <a:r>
              <a:rPr lang="en-GB" sz="2400" dirty="0"/>
              <a:t xml:space="preserve">Surrounding noise 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 xml:space="preserve">RELATIONSHIP BETWEEN USER AND </a:t>
            </a:r>
            <a:r>
              <a:rPr lang="en-GB" sz="2800" dirty="0"/>
              <a:t>DATA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•"/>
            </a:pPr>
            <a:r>
              <a:rPr lang="en-GB" sz="2400" dirty="0"/>
              <a:t xml:space="preserve">Personal data 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always accessed at same machine?</a:t>
            </a:r>
          </a:p>
          <a:p>
            <a:pPr marL="342900" indent="-342900">
              <a:buFontTx/>
              <a:buChar char="•"/>
            </a:pPr>
            <a:r>
              <a:rPr lang="en-GB" sz="2400" dirty="0"/>
              <a:t xml:space="preserve">Common data 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used concurrently?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Passed sequentially between users?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Access to data restricted?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HOW OFTEN ARE TASKS PERFORMED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•"/>
            </a:pPr>
            <a:r>
              <a:rPr lang="en-GB" sz="2400" dirty="0"/>
              <a:t>Frequent users remember more details</a:t>
            </a:r>
          </a:p>
          <a:p>
            <a:pPr marL="342900" indent="-342900">
              <a:buFontTx/>
              <a:buChar char="•"/>
            </a:pPr>
            <a:r>
              <a:rPr lang="en-GB" sz="2400" dirty="0"/>
              <a:t xml:space="preserve">Infrequent users may need more help even for </a:t>
            </a:r>
            <a:r>
              <a:rPr lang="en-GB" sz="2400" dirty="0"/>
              <a:t>simple operations</a:t>
            </a:r>
          </a:p>
          <a:p>
            <a:pPr marL="342900" indent="-342900">
              <a:buFontTx/>
              <a:buChar char="•"/>
            </a:pPr>
            <a:r>
              <a:rPr lang="en-GB" sz="2400" dirty="0"/>
              <a:t xml:space="preserve">Which function is performed 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most frequently?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by which users?</a:t>
            </a:r>
          </a:p>
          <a:p>
            <a:pPr marL="342900" indent="-342900">
              <a:buFontTx/>
              <a:buChar char="•"/>
            </a:pPr>
            <a:r>
              <a:rPr lang="en-GB" sz="2400" dirty="0"/>
              <a:t xml:space="preserve">optimize system for these tasks will improve </a:t>
            </a:r>
            <a:r>
              <a:rPr lang="en-GB" sz="2400" dirty="0"/>
              <a:t>perception of good performance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WHAT ARE THE TIME CONSTRAINTS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•"/>
            </a:pPr>
            <a:r>
              <a:rPr lang="en-GB" sz="2400" dirty="0"/>
              <a:t>What functions will users be in a hurry for?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Positioning of functions</a:t>
            </a:r>
          </a:p>
          <a:p>
            <a:pPr marL="342900" indent="-342900">
              <a:buFontTx/>
              <a:buChar char="•"/>
            </a:pPr>
            <a:r>
              <a:rPr lang="en-GB" sz="2400" dirty="0"/>
              <a:t>Which can wait?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Is there a timing relationship between tasks?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Time out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Which profile question was skipped?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333399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QUIZ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527048" y="1810512"/>
            <a:ext cx="6611112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4 min · alone, then compare with your neighbour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3703320" cy="11430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4" name="Shape 14"/>
          <p:cNvSpPr/>
          <p:nvPr/>
        </p:nvSpPr>
        <p:spPr>
          <a:xfrm>
            <a:off x="658368" y="2395728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100" dirty="0"/>
          </a:p>
        </p:txBody>
      </p:sp>
      <p:sp>
        <p:nvSpPr>
          <p:cNvPr id="15" name="Shape 15"/>
          <p:cNvSpPr txBox="1"/>
          <p:nvPr/>
        </p:nvSpPr>
        <p:spPr>
          <a:xfrm>
            <a:off x="1051560" y="2359152"/>
            <a:ext cx="3108960" cy="9601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A hospital system logs nurses out after 2 idle minutes — mid-entry.</a:t>
            </a:r>
            <a:endParaRPr lang="en-GB" sz="1250" dirty="0"/>
          </a:p>
        </p:txBody>
      </p:sp>
      <p:sp>
        <p:nvSpPr>
          <p:cNvPr id="16" name="Shape 16"/>
          <p:cNvSpPr/>
          <p:nvPr/>
        </p:nvSpPr>
        <p:spPr>
          <a:xfrm>
            <a:off x="4389120" y="2286000"/>
            <a:ext cx="3703320" cy="11430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7" name="Shape 17"/>
          <p:cNvSpPr/>
          <p:nvPr/>
        </p:nvSpPr>
        <p:spPr>
          <a:xfrm>
            <a:off x="4498848" y="2395728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100" dirty="0"/>
          </a:p>
        </p:txBody>
      </p:sp>
      <p:sp>
        <p:nvSpPr>
          <p:cNvPr id="18" name="Shape 18"/>
          <p:cNvSpPr txBox="1"/>
          <p:nvPr/>
        </p:nvSpPr>
        <p:spPr>
          <a:xfrm>
            <a:off x="4892040" y="2359152"/>
            <a:ext cx="3108960" cy="9601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A bank kiosk in a sunlit mall is unreadable at noon.</a:t>
            </a:r>
            <a:endParaRPr lang="en-GB" sz="1250" dirty="0"/>
          </a:p>
        </p:txBody>
      </p:sp>
      <p:sp>
        <p:nvSpPr>
          <p:cNvPr id="19" name="Shape 19"/>
          <p:cNvSpPr/>
          <p:nvPr/>
        </p:nvSpPr>
        <p:spPr>
          <a:xfrm>
            <a:off x="548640" y="3547872"/>
            <a:ext cx="3703320" cy="11430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0" name="Shape 20"/>
          <p:cNvSpPr/>
          <p:nvPr/>
        </p:nvSpPr>
        <p:spPr>
          <a:xfrm>
            <a:off x="658368" y="3657600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100" dirty="0"/>
          </a:p>
        </p:txBody>
      </p:sp>
      <p:sp>
        <p:nvSpPr>
          <p:cNvPr id="21" name="Shape 21"/>
          <p:cNvSpPr txBox="1"/>
          <p:nvPr/>
        </p:nvSpPr>
        <p:spPr>
          <a:xfrm>
            <a:off x="1051560" y="3621024"/>
            <a:ext cx="3108960" cy="9601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A shared lab PC shows the previous student’s marks.</a:t>
            </a:r>
            <a:endParaRPr lang="en-GB" sz="1250" dirty="0"/>
          </a:p>
        </p:txBody>
      </p:sp>
      <p:sp>
        <p:nvSpPr>
          <p:cNvPr id="22" name="Shape 22"/>
          <p:cNvSpPr/>
          <p:nvPr/>
        </p:nvSpPr>
        <p:spPr>
          <a:xfrm>
            <a:off x="4389120" y="3547872"/>
            <a:ext cx="3703320" cy="11430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3" name="Shape 23"/>
          <p:cNvSpPr/>
          <p:nvPr/>
        </p:nvSpPr>
        <p:spPr>
          <a:xfrm>
            <a:off x="4498848" y="3657600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100" dirty="0"/>
          </a:p>
        </p:txBody>
      </p:sp>
      <p:sp>
        <p:nvSpPr>
          <p:cNvPr id="24" name="Shape 24"/>
          <p:cNvSpPr txBox="1"/>
          <p:nvPr/>
        </p:nvSpPr>
        <p:spPr>
          <a:xfrm>
            <a:off x="4892040" y="3621024"/>
            <a:ext cx="3108960" cy="9601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The monthly fee challan sits three menus deep.</a:t>
            </a:r>
            <a:endParaRPr lang="en-GB" sz="1250" dirty="0"/>
          </a:p>
        </p:txBody>
      </p:sp>
      <p:sp>
        <p:nvSpPr>
          <p:cNvPr id="25" name="Shape 25"/>
          <p:cNvSpPr/>
          <p:nvPr/>
        </p:nvSpPr>
        <p:spPr>
          <a:xfrm>
            <a:off x="548640" y="4809744"/>
            <a:ext cx="3703320" cy="11430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6" name="Shape 26"/>
          <p:cNvSpPr/>
          <p:nvPr/>
        </p:nvSpPr>
        <p:spPr>
          <a:xfrm>
            <a:off x="658368" y="4919472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GB" sz="1100" dirty="0"/>
          </a:p>
        </p:txBody>
      </p:sp>
      <p:sp>
        <p:nvSpPr>
          <p:cNvPr id="27" name="Shape 27"/>
          <p:cNvSpPr txBox="1"/>
          <p:nvPr/>
        </p:nvSpPr>
        <p:spPr>
          <a:xfrm>
            <a:off x="1051560" y="4882896"/>
            <a:ext cx="3108960" cy="9601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A pharmacy app uses English-only medical terms for elderly rural users.</a:t>
            </a:r>
            <a:endParaRPr lang="en-GB" sz="1250" dirty="0"/>
          </a:p>
        </p:txBody>
      </p:sp>
      <p:sp>
        <p:nvSpPr>
          <p:cNvPr id="28" name="Shape 28"/>
          <p:cNvSpPr/>
          <p:nvPr/>
        </p:nvSpPr>
        <p:spPr>
          <a:xfrm>
            <a:off x="4389120" y="4809744"/>
            <a:ext cx="3703320" cy="11430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9" name="Shape 29"/>
          <p:cNvSpPr/>
          <p:nvPr/>
        </p:nvSpPr>
        <p:spPr>
          <a:xfrm>
            <a:off x="4498848" y="4919472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en-GB" sz="1100" dirty="0"/>
          </a:p>
        </p:txBody>
      </p:sp>
      <p:sp>
        <p:nvSpPr>
          <p:cNvPr id="30" name="Shape 30"/>
          <p:cNvSpPr txBox="1"/>
          <p:nvPr/>
        </p:nvSpPr>
        <p:spPr>
          <a:xfrm>
            <a:off x="4892040" y="4882896"/>
            <a:ext cx="3108960" cy="9601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A factory touchscreen needs precise taps from workers wearing gloves.</a:t>
            </a:r>
            <a:endParaRPr lang="en-GB" sz="1250" dirty="0"/>
          </a:p>
        </p:txBody>
      </p:sp>
      <p:sp>
        <p:nvSpPr>
          <p:cNvPr id="31" name="Shape 31"/>
          <p:cNvSpPr txBox="1"/>
          <p:nvPr/>
        </p:nvSpPr>
        <p:spPr>
          <a:xfrm>
            <a:off x="548640" y="610819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Who? · Where? · User and data · How often? · Time constraints</a:t>
            </a:r>
            <a:endParaRPr lang="en-GB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Which profile question was skipped? — answers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714500" y="1810512"/>
            <a:ext cx="64236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the question nobody asked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3703320" cy="11430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4" name="Shape 14"/>
          <p:cNvSpPr/>
          <p:nvPr/>
        </p:nvSpPr>
        <p:spPr>
          <a:xfrm>
            <a:off x="658368" y="2395728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100" dirty="0"/>
          </a:p>
        </p:txBody>
      </p:sp>
      <p:sp>
        <p:nvSpPr>
          <p:cNvPr id="15" name="Shape 15"/>
          <p:cNvSpPr txBox="1"/>
          <p:nvPr/>
        </p:nvSpPr>
        <p:spPr>
          <a:xfrm>
            <a:off x="1051560" y="2340864"/>
            <a:ext cx="310896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595959"/>
                </a:solidFill>
                <a:latin typeface="Arial"/>
                <a:cs typeface="Arial"/>
              </a:rPr>
              <a:t>A hospital system logs nurses out after 2 idle minutes — mid-entry.</a:t>
            </a:r>
            <a:endParaRPr lang="en-GB" sz="1050" dirty="0"/>
          </a:p>
        </p:txBody>
      </p:sp>
      <p:sp>
        <p:nvSpPr>
          <p:cNvPr id="16" name="Shape 16"/>
          <p:cNvSpPr/>
          <p:nvPr/>
        </p:nvSpPr>
        <p:spPr>
          <a:xfrm>
            <a:off x="685800" y="2944368"/>
            <a:ext cx="3429000" cy="384048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Time constraints: time-out</a:t>
            </a:r>
            <a:endParaRPr lang="en-GB" sz="1100" dirty="0"/>
          </a:p>
        </p:txBody>
      </p:sp>
      <p:sp>
        <p:nvSpPr>
          <p:cNvPr id="17" name="Shape 17"/>
          <p:cNvSpPr/>
          <p:nvPr/>
        </p:nvSpPr>
        <p:spPr>
          <a:xfrm>
            <a:off x="4389120" y="2286000"/>
            <a:ext cx="3703320" cy="11430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8" name="Shape 18"/>
          <p:cNvSpPr/>
          <p:nvPr/>
        </p:nvSpPr>
        <p:spPr>
          <a:xfrm>
            <a:off x="4498848" y="2395728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100" dirty="0"/>
          </a:p>
        </p:txBody>
      </p:sp>
      <p:sp>
        <p:nvSpPr>
          <p:cNvPr id="19" name="Shape 19"/>
          <p:cNvSpPr txBox="1"/>
          <p:nvPr/>
        </p:nvSpPr>
        <p:spPr>
          <a:xfrm>
            <a:off x="4892040" y="2340864"/>
            <a:ext cx="310896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595959"/>
                </a:solidFill>
                <a:latin typeface="Arial"/>
                <a:cs typeface="Arial"/>
              </a:rPr>
              <a:t>A bank kiosk in a sunlit mall is unreadable at noon.</a:t>
            </a:r>
            <a:endParaRPr lang="en-GB" sz="1050" dirty="0"/>
          </a:p>
        </p:txBody>
      </p:sp>
      <p:sp>
        <p:nvSpPr>
          <p:cNvPr id="20" name="Shape 20"/>
          <p:cNvSpPr/>
          <p:nvPr/>
        </p:nvSpPr>
        <p:spPr>
          <a:xfrm>
            <a:off x="4526280" y="2944368"/>
            <a:ext cx="3429000" cy="384048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Where: lighting</a:t>
            </a:r>
            <a:endParaRPr lang="en-GB" sz="1100" dirty="0"/>
          </a:p>
        </p:txBody>
      </p:sp>
      <p:sp>
        <p:nvSpPr>
          <p:cNvPr id="21" name="Shape 21"/>
          <p:cNvSpPr/>
          <p:nvPr/>
        </p:nvSpPr>
        <p:spPr>
          <a:xfrm>
            <a:off x="548640" y="3547872"/>
            <a:ext cx="3703320" cy="11430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2" name="Shape 22"/>
          <p:cNvSpPr/>
          <p:nvPr/>
        </p:nvSpPr>
        <p:spPr>
          <a:xfrm>
            <a:off x="658368" y="3657600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100" dirty="0"/>
          </a:p>
        </p:txBody>
      </p:sp>
      <p:sp>
        <p:nvSpPr>
          <p:cNvPr id="23" name="Shape 23"/>
          <p:cNvSpPr txBox="1"/>
          <p:nvPr/>
        </p:nvSpPr>
        <p:spPr>
          <a:xfrm>
            <a:off x="1051560" y="3602736"/>
            <a:ext cx="310896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595959"/>
                </a:solidFill>
                <a:latin typeface="Arial"/>
                <a:cs typeface="Arial"/>
              </a:rPr>
              <a:t>A shared lab PC shows the previous student’s marks.</a:t>
            </a:r>
            <a:endParaRPr lang="en-GB" sz="1050" dirty="0"/>
          </a:p>
        </p:txBody>
      </p:sp>
      <p:sp>
        <p:nvSpPr>
          <p:cNvPr id="24" name="Shape 24"/>
          <p:cNvSpPr/>
          <p:nvPr/>
        </p:nvSpPr>
        <p:spPr>
          <a:xfrm>
            <a:off x="685800" y="4206240"/>
            <a:ext cx="3429000" cy="384048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User and data: personal data on a shared machine</a:t>
            </a:r>
            <a:endParaRPr lang="en-GB" sz="1100" dirty="0"/>
          </a:p>
        </p:txBody>
      </p:sp>
      <p:sp>
        <p:nvSpPr>
          <p:cNvPr id="25" name="Shape 25"/>
          <p:cNvSpPr/>
          <p:nvPr/>
        </p:nvSpPr>
        <p:spPr>
          <a:xfrm>
            <a:off x="4389120" y="3547872"/>
            <a:ext cx="3703320" cy="11430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6" name="Shape 26"/>
          <p:cNvSpPr/>
          <p:nvPr/>
        </p:nvSpPr>
        <p:spPr>
          <a:xfrm>
            <a:off x="4498848" y="3657600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100" dirty="0"/>
          </a:p>
        </p:txBody>
      </p:sp>
      <p:sp>
        <p:nvSpPr>
          <p:cNvPr id="27" name="Shape 27"/>
          <p:cNvSpPr txBox="1"/>
          <p:nvPr/>
        </p:nvSpPr>
        <p:spPr>
          <a:xfrm>
            <a:off x="4892040" y="3602736"/>
            <a:ext cx="310896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595959"/>
                </a:solidFill>
                <a:latin typeface="Arial"/>
                <a:cs typeface="Arial"/>
              </a:rPr>
              <a:t>The monthly fee challan sits three menus deep.</a:t>
            </a:r>
            <a:endParaRPr lang="en-GB" sz="1050" dirty="0"/>
          </a:p>
        </p:txBody>
      </p:sp>
      <p:sp>
        <p:nvSpPr>
          <p:cNvPr id="28" name="Shape 28"/>
          <p:cNvSpPr/>
          <p:nvPr/>
        </p:nvSpPr>
        <p:spPr>
          <a:xfrm>
            <a:off x="4526280" y="4206240"/>
            <a:ext cx="3429000" cy="384048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How often: optimise the frequent task</a:t>
            </a:r>
            <a:endParaRPr lang="en-GB" sz="1100" dirty="0"/>
          </a:p>
        </p:txBody>
      </p:sp>
      <p:sp>
        <p:nvSpPr>
          <p:cNvPr id="29" name="Shape 29"/>
          <p:cNvSpPr/>
          <p:nvPr/>
        </p:nvSpPr>
        <p:spPr>
          <a:xfrm>
            <a:off x="548640" y="4809744"/>
            <a:ext cx="3703320" cy="11430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0" name="Shape 30"/>
          <p:cNvSpPr/>
          <p:nvPr/>
        </p:nvSpPr>
        <p:spPr>
          <a:xfrm>
            <a:off x="658368" y="4919472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GB" sz="1100" dirty="0"/>
          </a:p>
        </p:txBody>
      </p:sp>
      <p:sp>
        <p:nvSpPr>
          <p:cNvPr id="31" name="Shape 31"/>
          <p:cNvSpPr txBox="1"/>
          <p:nvPr/>
        </p:nvSpPr>
        <p:spPr>
          <a:xfrm>
            <a:off x="1051560" y="4864608"/>
            <a:ext cx="310896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595959"/>
                </a:solidFill>
                <a:latin typeface="Arial"/>
                <a:cs typeface="Arial"/>
              </a:rPr>
              <a:t>A pharmacy app uses English-only medical terms for elderly rural users.</a:t>
            </a:r>
            <a:endParaRPr lang="en-GB" sz="1050" dirty="0"/>
          </a:p>
        </p:txBody>
      </p:sp>
      <p:sp>
        <p:nvSpPr>
          <p:cNvPr id="32" name="Shape 32"/>
          <p:cNvSpPr/>
          <p:nvPr/>
        </p:nvSpPr>
        <p:spPr>
          <a:xfrm>
            <a:off x="685800" y="5468112"/>
            <a:ext cx="3429000" cy="384048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Who: background and skills</a:t>
            </a:r>
            <a:endParaRPr lang="en-GB" sz="1100" dirty="0"/>
          </a:p>
        </p:txBody>
      </p:sp>
      <p:sp>
        <p:nvSpPr>
          <p:cNvPr id="33" name="Shape 33"/>
          <p:cNvSpPr/>
          <p:nvPr/>
        </p:nvSpPr>
        <p:spPr>
          <a:xfrm>
            <a:off x="4389120" y="4809744"/>
            <a:ext cx="3703320" cy="11430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4" name="Shape 34"/>
          <p:cNvSpPr/>
          <p:nvPr/>
        </p:nvSpPr>
        <p:spPr>
          <a:xfrm>
            <a:off x="4498848" y="4919472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en-GB" sz="1100" dirty="0"/>
          </a:p>
        </p:txBody>
      </p:sp>
      <p:sp>
        <p:nvSpPr>
          <p:cNvPr id="35" name="Shape 35"/>
          <p:cNvSpPr txBox="1"/>
          <p:nvPr/>
        </p:nvSpPr>
        <p:spPr>
          <a:xfrm>
            <a:off x="4892040" y="4864608"/>
            <a:ext cx="310896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595959"/>
                </a:solidFill>
                <a:latin typeface="Arial"/>
                <a:cs typeface="Arial"/>
              </a:rPr>
              <a:t>A factory touchscreen needs precise taps from workers wearing gloves.</a:t>
            </a:r>
            <a:endParaRPr lang="en-GB" sz="1050" dirty="0"/>
          </a:p>
        </p:txBody>
      </p:sp>
      <p:sp>
        <p:nvSpPr>
          <p:cNvPr id="36" name="Shape 36"/>
          <p:cNvSpPr/>
          <p:nvPr/>
        </p:nvSpPr>
        <p:spPr>
          <a:xfrm>
            <a:off x="4526280" y="5468112"/>
            <a:ext cx="3429000" cy="384048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Who: physical; where: environment</a:t>
            </a:r>
            <a:endParaRPr lang="en-GB" sz="1100" dirty="0"/>
          </a:p>
        </p:txBody>
      </p:sp>
      <p:sp>
        <p:nvSpPr>
          <p:cNvPr id="37" name="Shape 37"/>
          <p:cNvSpPr txBox="1"/>
          <p:nvPr/>
        </p:nvSpPr>
        <p:spPr>
          <a:xfrm>
            <a:off x="548640" y="610819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Each failure was cheap to prevent at the profile stage and expensive to fix later.</a:t>
            </a:r>
            <a:endParaRPr lang="en-GB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USER REQUIREMENT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•"/>
            </a:pPr>
            <a:r>
              <a:rPr lang="en-GB" sz="2400" dirty="0"/>
              <a:t xml:space="preserve">Captures the characteristics of the intended </a:t>
            </a:r>
            <a:r>
              <a:rPr lang="en-GB" sz="2400" dirty="0"/>
              <a:t>user group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Novice &amp; Casual (clear step by step intro)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Expert &amp; Frequent (flexible interactions, wide range </a:t>
            </a:r>
            <a:r>
              <a:rPr lang="en-GB" sz="2000" dirty="0"/>
              <a:t>of power/control, short cut keys)</a:t>
            </a:r>
          </a:p>
          <a:p>
            <a:pPr marL="342900" indent="-342900">
              <a:buFontTx/>
              <a:buChar char="•"/>
            </a:pPr>
            <a:r>
              <a:rPr lang="en-GB" sz="2400" dirty="0"/>
              <a:t xml:space="preserve">Analyse the results of user profiling and </a:t>
            </a:r>
            <a:r>
              <a:rPr lang="en-GB" sz="2400" dirty="0"/>
              <a:t>identify the impact to your interface design</a:t>
            </a:r>
          </a:p>
          <a:p>
            <a:pPr marL="0" indent="0">
              <a:buNone/>
            </a:pPr>
            <a:endParaRPr lang="en-GB" sz="2400" dirty="0"/>
          </a:p>
          <a:p>
            <a:pPr marL="342900" indent="0">
              <a:buNone/>
            </a:pPr>
            <a:r>
              <a:rPr lang="en-GB" sz="2400" dirty="0"/>
              <a:t>Know your users – always!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Novice or expert feature?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00726F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POLL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527048" y="1810512"/>
            <a:ext cx="6611112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3 min · 1 finger = novice · 2 fingers = expert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3703320" cy="9601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4" name="Shape 14"/>
          <p:cNvSpPr/>
          <p:nvPr/>
        </p:nvSpPr>
        <p:spPr>
          <a:xfrm>
            <a:off x="658368" y="2395728"/>
            <a:ext cx="310896" cy="310896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100" dirty="0"/>
          </a:p>
        </p:txBody>
      </p:sp>
      <p:sp>
        <p:nvSpPr>
          <p:cNvPr id="15" name="Shape 15"/>
          <p:cNvSpPr txBox="1"/>
          <p:nvPr/>
        </p:nvSpPr>
        <p:spPr>
          <a:xfrm>
            <a:off x="1051560" y="2359152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A step-by-step wizard for your first fee payment</a:t>
            </a:r>
            <a:endParaRPr lang="en-GB" sz="1250" dirty="0"/>
          </a:p>
        </p:txBody>
      </p:sp>
      <p:sp>
        <p:nvSpPr>
          <p:cNvPr id="16" name="Shape 16"/>
          <p:cNvSpPr/>
          <p:nvPr/>
        </p:nvSpPr>
        <p:spPr>
          <a:xfrm>
            <a:off x="4389120" y="2286000"/>
            <a:ext cx="3703320" cy="9601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7" name="Shape 17"/>
          <p:cNvSpPr/>
          <p:nvPr/>
        </p:nvSpPr>
        <p:spPr>
          <a:xfrm>
            <a:off x="4498848" y="2395728"/>
            <a:ext cx="310896" cy="310896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100" dirty="0"/>
          </a:p>
        </p:txBody>
      </p:sp>
      <p:sp>
        <p:nvSpPr>
          <p:cNvPr id="18" name="Shape 18"/>
          <p:cNvSpPr txBox="1"/>
          <p:nvPr/>
        </p:nvSpPr>
        <p:spPr>
          <a:xfrm>
            <a:off x="4892040" y="2359152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Ctrl+Enter to submit a grade</a:t>
            </a:r>
            <a:endParaRPr lang="en-GB" sz="1250" dirty="0"/>
          </a:p>
        </p:txBody>
      </p:sp>
      <p:sp>
        <p:nvSpPr>
          <p:cNvPr id="19" name="Shape 19"/>
          <p:cNvSpPr/>
          <p:nvPr/>
        </p:nvSpPr>
        <p:spPr>
          <a:xfrm>
            <a:off x="548640" y="3383280"/>
            <a:ext cx="3703320" cy="9601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0" name="Shape 20"/>
          <p:cNvSpPr/>
          <p:nvPr/>
        </p:nvSpPr>
        <p:spPr>
          <a:xfrm>
            <a:off x="658368" y="3493008"/>
            <a:ext cx="310896" cy="310896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100" dirty="0"/>
          </a:p>
        </p:txBody>
      </p:sp>
      <p:sp>
        <p:nvSpPr>
          <p:cNvPr id="21" name="Shape 21"/>
          <p:cNvSpPr txBox="1"/>
          <p:nvPr/>
        </p:nvSpPr>
        <p:spPr>
          <a:xfrm>
            <a:off x="1051560" y="3456432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A tooltip that explains “CGPA”</a:t>
            </a:r>
            <a:endParaRPr lang="en-GB" sz="1250" dirty="0"/>
          </a:p>
        </p:txBody>
      </p:sp>
      <p:sp>
        <p:nvSpPr>
          <p:cNvPr id="22" name="Shape 22"/>
          <p:cNvSpPr/>
          <p:nvPr/>
        </p:nvSpPr>
        <p:spPr>
          <a:xfrm>
            <a:off x="4389120" y="3383280"/>
            <a:ext cx="3703320" cy="9601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3" name="Shape 23"/>
          <p:cNvSpPr/>
          <p:nvPr/>
        </p:nvSpPr>
        <p:spPr>
          <a:xfrm>
            <a:off x="4498848" y="3493008"/>
            <a:ext cx="310896" cy="310896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100" dirty="0"/>
          </a:p>
        </p:txBody>
      </p:sp>
      <p:sp>
        <p:nvSpPr>
          <p:cNvPr id="24" name="Shape 24"/>
          <p:cNvSpPr txBox="1"/>
          <p:nvPr/>
        </p:nvSpPr>
        <p:spPr>
          <a:xfrm>
            <a:off x="4892040" y="3456432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Approve 20 leave requests in one batch</a:t>
            </a:r>
            <a:endParaRPr lang="en-GB" sz="1250" dirty="0"/>
          </a:p>
        </p:txBody>
      </p:sp>
      <p:sp>
        <p:nvSpPr>
          <p:cNvPr id="25" name="Shape 25"/>
          <p:cNvSpPr/>
          <p:nvPr/>
        </p:nvSpPr>
        <p:spPr>
          <a:xfrm>
            <a:off x="548640" y="4480560"/>
            <a:ext cx="3703320" cy="9601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6" name="Shape 26"/>
          <p:cNvSpPr/>
          <p:nvPr/>
        </p:nvSpPr>
        <p:spPr>
          <a:xfrm>
            <a:off x="658368" y="4590288"/>
            <a:ext cx="310896" cy="310896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GB" sz="1100" dirty="0"/>
          </a:p>
        </p:txBody>
      </p:sp>
      <p:sp>
        <p:nvSpPr>
          <p:cNvPr id="27" name="Shape 27"/>
          <p:cNvSpPr txBox="1"/>
          <p:nvPr/>
        </p:nvSpPr>
        <p:spPr>
          <a:xfrm>
            <a:off x="1051560" y="4553712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A plain-language check before you submit</a:t>
            </a:r>
            <a:endParaRPr lang="en-GB" sz="1250" dirty="0"/>
          </a:p>
        </p:txBody>
      </p:sp>
      <p:sp>
        <p:nvSpPr>
          <p:cNvPr id="28" name="Shape 28"/>
          <p:cNvSpPr/>
          <p:nvPr/>
        </p:nvSpPr>
        <p:spPr>
          <a:xfrm>
            <a:off x="4389120" y="4480560"/>
            <a:ext cx="3703320" cy="9601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9" name="Shape 29"/>
          <p:cNvSpPr/>
          <p:nvPr/>
        </p:nvSpPr>
        <p:spPr>
          <a:xfrm>
            <a:off x="4498848" y="4590288"/>
            <a:ext cx="310896" cy="310896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en-GB" sz="1100" dirty="0"/>
          </a:p>
        </p:txBody>
      </p:sp>
      <p:sp>
        <p:nvSpPr>
          <p:cNvPr id="30" name="Shape 30"/>
          <p:cNvSpPr txBox="1"/>
          <p:nvPr/>
        </p:nvSpPr>
        <p:spPr>
          <a:xfrm>
            <a:off x="4892040" y="4553712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A dashboard you can rearrange</a:t>
            </a:r>
            <a:endParaRPr lang="en-GB" sz="1250" dirty="0"/>
          </a:p>
        </p:txBody>
      </p:sp>
      <p:sp>
        <p:nvSpPr>
          <p:cNvPr id="31" name="Shape 31"/>
          <p:cNvSpPr txBox="1"/>
          <p:nvPr/>
        </p:nvSpPr>
        <p:spPr>
          <a:xfrm>
            <a:off x="548640" y="566928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Remember the user requirement slide: novice &amp; casual vs expert &amp; frequent.</a:t>
            </a:r>
            <a:endParaRPr lang="en-GB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Novice or expert feature? — answers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714500" y="1810512"/>
            <a:ext cx="64236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novice &amp; casual vs expert &amp; frequent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3703320" cy="9601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4" name="Shape 14"/>
          <p:cNvSpPr/>
          <p:nvPr/>
        </p:nvSpPr>
        <p:spPr>
          <a:xfrm>
            <a:off x="658368" y="2395728"/>
            <a:ext cx="310896" cy="310896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100" dirty="0"/>
          </a:p>
        </p:txBody>
      </p:sp>
      <p:sp>
        <p:nvSpPr>
          <p:cNvPr id="15" name="Shape 15"/>
          <p:cNvSpPr txBox="1"/>
          <p:nvPr/>
        </p:nvSpPr>
        <p:spPr>
          <a:xfrm>
            <a:off x="1051560" y="2359152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A step-by-step wizard for your first fee payment</a:t>
            </a:r>
            <a:endParaRPr lang="en-GB" sz="1250" dirty="0"/>
          </a:p>
        </p:txBody>
      </p:sp>
      <p:sp>
        <p:nvSpPr>
          <p:cNvPr id="16" name="Shape 16"/>
          <p:cNvSpPr/>
          <p:nvPr/>
        </p:nvSpPr>
        <p:spPr>
          <a:xfrm>
            <a:off x="3154680" y="2578608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333399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000" b="1" i="0" dirty="0">
                <a:solidFill>
                  <a:srgbClr val="FFFFFF"/>
                </a:solidFill>
                <a:latin typeface="Arial"/>
                <a:cs typeface="Arial"/>
              </a:rPr>
              <a:t>NOVICE</a:t>
            </a:r>
            <a:endParaRPr lang="en-GB" sz="1000" dirty="0"/>
          </a:p>
        </p:txBody>
      </p:sp>
      <p:sp>
        <p:nvSpPr>
          <p:cNvPr id="17" name="Shape 17"/>
          <p:cNvSpPr/>
          <p:nvPr/>
        </p:nvSpPr>
        <p:spPr>
          <a:xfrm>
            <a:off x="4389120" y="2286000"/>
            <a:ext cx="3703320" cy="9601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8" name="Shape 18"/>
          <p:cNvSpPr/>
          <p:nvPr/>
        </p:nvSpPr>
        <p:spPr>
          <a:xfrm>
            <a:off x="4498848" y="2395728"/>
            <a:ext cx="310896" cy="310896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100" dirty="0"/>
          </a:p>
        </p:txBody>
      </p:sp>
      <p:sp>
        <p:nvSpPr>
          <p:cNvPr id="19" name="Shape 19"/>
          <p:cNvSpPr txBox="1"/>
          <p:nvPr/>
        </p:nvSpPr>
        <p:spPr>
          <a:xfrm>
            <a:off x="4892040" y="2359152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Ctrl+Enter to submit a grade</a:t>
            </a:r>
            <a:endParaRPr lang="en-GB" sz="1250" dirty="0"/>
          </a:p>
        </p:txBody>
      </p:sp>
      <p:sp>
        <p:nvSpPr>
          <p:cNvPr id="20" name="Shape 20"/>
          <p:cNvSpPr/>
          <p:nvPr/>
        </p:nvSpPr>
        <p:spPr>
          <a:xfrm>
            <a:off x="6995160" y="2578608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000" b="1" i="0" dirty="0">
                <a:solidFill>
                  <a:srgbClr val="FFFFFF"/>
                </a:solidFill>
                <a:latin typeface="Arial"/>
                <a:cs typeface="Arial"/>
              </a:rPr>
              <a:t>EXPERT</a:t>
            </a:r>
            <a:endParaRPr lang="en-GB" sz="1000" dirty="0"/>
          </a:p>
        </p:txBody>
      </p:sp>
      <p:sp>
        <p:nvSpPr>
          <p:cNvPr id="21" name="Shape 21"/>
          <p:cNvSpPr/>
          <p:nvPr/>
        </p:nvSpPr>
        <p:spPr>
          <a:xfrm>
            <a:off x="548640" y="3383280"/>
            <a:ext cx="3703320" cy="9601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2" name="Shape 22"/>
          <p:cNvSpPr/>
          <p:nvPr/>
        </p:nvSpPr>
        <p:spPr>
          <a:xfrm>
            <a:off x="658368" y="3493008"/>
            <a:ext cx="310896" cy="310896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100" dirty="0"/>
          </a:p>
        </p:txBody>
      </p:sp>
      <p:sp>
        <p:nvSpPr>
          <p:cNvPr id="23" name="Shape 23"/>
          <p:cNvSpPr txBox="1"/>
          <p:nvPr/>
        </p:nvSpPr>
        <p:spPr>
          <a:xfrm>
            <a:off x="1051560" y="3456432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A tooltip that explains “CGPA”</a:t>
            </a:r>
            <a:endParaRPr lang="en-GB" sz="1250" dirty="0"/>
          </a:p>
        </p:txBody>
      </p:sp>
      <p:sp>
        <p:nvSpPr>
          <p:cNvPr id="24" name="Shape 24"/>
          <p:cNvSpPr/>
          <p:nvPr/>
        </p:nvSpPr>
        <p:spPr>
          <a:xfrm>
            <a:off x="3154680" y="3675888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333399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000" b="1" i="0" dirty="0">
                <a:solidFill>
                  <a:srgbClr val="FFFFFF"/>
                </a:solidFill>
                <a:latin typeface="Arial"/>
                <a:cs typeface="Arial"/>
              </a:rPr>
              <a:t>NOVICE</a:t>
            </a:r>
            <a:endParaRPr lang="en-GB" sz="1000" dirty="0"/>
          </a:p>
        </p:txBody>
      </p:sp>
      <p:sp>
        <p:nvSpPr>
          <p:cNvPr id="25" name="Shape 25"/>
          <p:cNvSpPr/>
          <p:nvPr/>
        </p:nvSpPr>
        <p:spPr>
          <a:xfrm>
            <a:off x="4389120" y="3383280"/>
            <a:ext cx="3703320" cy="9601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6" name="Shape 26"/>
          <p:cNvSpPr/>
          <p:nvPr/>
        </p:nvSpPr>
        <p:spPr>
          <a:xfrm>
            <a:off x="4498848" y="3493008"/>
            <a:ext cx="310896" cy="310896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100" dirty="0"/>
          </a:p>
        </p:txBody>
      </p:sp>
      <p:sp>
        <p:nvSpPr>
          <p:cNvPr id="27" name="Shape 27"/>
          <p:cNvSpPr txBox="1"/>
          <p:nvPr/>
        </p:nvSpPr>
        <p:spPr>
          <a:xfrm>
            <a:off x="4892040" y="3456432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Approve 20 leave requests in one batch</a:t>
            </a:r>
            <a:endParaRPr lang="en-GB" sz="1250" dirty="0"/>
          </a:p>
        </p:txBody>
      </p:sp>
      <p:sp>
        <p:nvSpPr>
          <p:cNvPr id="28" name="Shape 28"/>
          <p:cNvSpPr/>
          <p:nvPr/>
        </p:nvSpPr>
        <p:spPr>
          <a:xfrm>
            <a:off x="6995160" y="3675888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000" b="1" i="0" dirty="0">
                <a:solidFill>
                  <a:srgbClr val="FFFFFF"/>
                </a:solidFill>
                <a:latin typeface="Arial"/>
                <a:cs typeface="Arial"/>
              </a:rPr>
              <a:t>EXPERT</a:t>
            </a:r>
            <a:endParaRPr lang="en-GB" sz="1000" dirty="0"/>
          </a:p>
        </p:txBody>
      </p:sp>
      <p:sp>
        <p:nvSpPr>
          <p:cNvPr id="29" name="Shape 29"/>
          <p:cNvSpPr/>
          <p:nvPr/>
        </p:nvSpPr>
        <p:spPr>
          <a:xfrm>
            <a:off x="548640" y="4480560"/>
            <a:ext cx="3703320" cy="9601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0" name="Shape 30"/>
          <p:cNvSpPr/>
          <p:nvPr/>
        </p:nvSpPr>
        <p:spPr>
          <a:xfrm>
            <a:off x="658368" y="4590288"/>
            <a:ext cx="310896" cy="310896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GB" sz="1100" dirty="0"/>
          </a:p>
        </p:txBody>
      </p:sp>
      <p:sp>
        <p:nvSpPr>
          <p:cNvPr id="31" name="Shape 31"/>
          <p:cNvSpPr txBox="1"/>
          <p:nvPr/>
        </p:nvSpPr>
        <p:spPr>
          <a:xfrm>
            <a:off x="1051560" y="4553712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A plain-language check before you submit</a:t>
            </a:r>
            <a:endParaRPr lang="en-GB" sz="1250" dirty="0"/>
          </a:p>
        </p:txBody>
      </p:sp>
      <p:sp>
        <p:nvSpPr>
          <p:cNvPr id="32" name="Shape 32"/>
          <p:cNvSpPr/>
          <p:nvPr/>
        </p:nvSpPr>
        <p:spPr>
          <a:xfrm>
            <a:off x="3154680" y="4773168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333399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000" b="1" i="0" dirty="0">
                <a:solidFill>
                  <a:srgbClr val="FFFFFF"/>
                </a:solidFill>
                <a:latin typeface="Arial"/>
                <a:cs typeface="Arial"/>
              </a:rPr>
              <a:t>NOVICE</a:t>
            </a:r>
            <a:endParaRPr lang="en-GB" sz="1000" dirty="0"/>
          </a:p>
        </p:txBody>
      </p:sp>
      <p:sp>
        <p:nvSpPr>
          <p:cNvPr id="33" name="Shape 33"/>
          <p:cNvSpPr/>
          <p:nvPr/>
        </p:nvSpPr>
        <p:spPr>
          <a:xfrm>
            <a:off x="4389120" y="4480560"/>
            <a:ext cx="3703320" cy="9601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4" name="Shape 34"/>
          <p:cNvSpPr/>
          <p:nvPr/>
        </p:nvSpPr>
        <p:spPr>
          <a:xfrm>
            <a:off x="4498848" y="4590288"/>
            <a:ext cx="310896" cy="310896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en-GB" sz="1100" dirty="0"/>
          </a:p>
        </p:txBody>
      </p:sp>
      <p:sp>
        <p:nvSpPr>
          <p:cNvPr id="35" name="Shape 35"/>
          <p:cNvSpPr txBox="1"/>
          <p:nvPr/>
        </p:nvSpPr>
        <p:spPr>
          <a:xfrm>
            <a:off x="4892040" y="4553712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A dashboard you can rearrange</a:t>
            </a:r>
            <a:endParaRPr lang="en-GB" sz="1250" dirty="0"/>
          </a:p>
        </p:txBody>
      </p:sp>
      <p:sp>
        <p:nvSpPr>
          <p:cNvPr id="36" name="Shape 36"/>
          <p:cNvSpPr/>
          <p:nvPr/>
        </p:nvSpPr>
        <p:spPr>
          <a:xfrm>
            <a:off x="6995160" y="4773168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000" b="1" i="0" dirty="0">
                <a:solidFill>
                  <a:srgbClr val="FFFFFF"/>
                </a:solidFill>
                <a:latin typeface="Arial"/>
                <a:cs typeface="Arial"/>
              </a:rPr>
              <a:t>EXPERT</a:t>
            </a:r>
            <a:endParaRPr lang="en-GB" sz="1000" dirty="0"/>
          </a:p>
        </p:txBody>
      </p:sp>
      <p:sp>
        <p:nvSpPr>
          <p:cNvPr id="37" name="Shape 37"/>
          <p:cNvSpPr txBox="1"/>
          <p:nvPr/>
        </p:nvSpPr>
        <p:spPr>
          <a:xfrm>
            <a:off x="548640" y="566928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Good systems give both: a guided path novices can follow and shortcuts experts discover.</a:t>
            </a:r>
            <a:endParaRPr lang="en-GB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DATA GATHERING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•"/>
            </a:pPr>
            <a:r>
              <a:rPr lang="en-GB" sz="2400" dirty="0"/>
              <a:t>What: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How do we go about determining requirements and </a:t>
            </a:r>
            <a:r>
              <a:rPr lang="en-GB" sz="2000" dirty="0"/>
              <a:t>concluding the results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An important part of the requirement activity</a:t>
            </a:r>
            <a:br>
              <a:rPr lang="en-GB" sz="2000" dirty="0"/>
            </a:br>
            <a:r>
              <a:rPr lang="en-GB" sz="2000" dirty="0"/>
              <a:t>and also evaluation activity</a:t>
            </a:r>
          </a:p>
          <a:p>
            <a:pPr marL="342900" indent="-342900">
              <a:buFontTx/>
              <a:buChar char="•"/>
            </a:pPr>
            <a:r>
              <a:rPr lang="en-GB" sz="2400" dirty="0"/>
              <a:t>Why:</a:t>
            </a:r>
            <a:br>
              <a:rPr lang="en-GB" sz="2400" dirty="0"/>
            </a:br>
            <a:r>
              <a:rPr lang="en-GB" sz="2400" dirty="0"/>
              <a:t>Purpose is to collect sufficient, relevant and</a:t>
            </a:r>
            <a:r>
              <a:rPr lang="en-GB" sz="2400" dirty="0"/>
              <a:t xml:space="preserve"> </a:t>
            </a:r>
            <a:r>
              <a:rPr lang="en-GB" sz="2400" dirty="0"/>
              <a:t xml:space="preserve">appropriate data to produce a set of reliable </a:t>
            </a:r>
            <a:r>
              <a:rPr lang="en-GB" sz="2400" dirty="0"/>
              <a:t xml:space="preserve"> </a:t>
            </a:r>
            <a:r>
              <a:rPr lang="en-GB" sz="2400" dirty="0"/>
              <a:t>requirements/conclusions.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85800" y="396239"/>
            <a:ext cx="6858000" cy="1143000"/>
          </a:xfrm>
        </p:spPr>
        <p:txBody>
          <a:bodyPr/>
          <a:lstStyle/>
          <a:p>
            <a:r>
              <a:rPr lang="en-GB" sz="2800" dirty="0"/>
              <a:t>DATA GATHERING TECHNIQUES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26390" indent="-326390">
              <a:buFontTx/>
              <a:buChar char="•"/>
            </a:pPr>
            <a:r>
              <a:rPr lang="en-GB" sz="2280" dirty="0"/>
              <a:t>Questionnaires</a:t>
            </a:r>
          </a:p>
          <a:p>
            <a:pPr marL="706119" indent="-271779">
              <a:buFontTx/>
              <a:buChar char="–"/>
            </a:pPr>
            <a:r>
              <a:rPr lang="en-GB" sz="1900" dirty="0"/>
              <a:t xml:space="preserve">A series of questions designed to elicit specific </a:t>
            </a:r>
            <a:r>
              <a:rPr lang="en-GB" sz="1900" dirty="0"/>
              <a:t>information</a:t>
            </a:r>
          </a:p>
          <a:p>
            <a:pPr marL="706119" indent="-271779">
              <a:buFontTx/>
              <a:buChar char="–"/>
            </a:pPr>
            <a:r>
              <a:rPr lang="en-GB" sz="1900" dirty="0"/>
              <a:t>Can give quantitative and qualitative data</a:t>
            </a:r>
            <a:br>
              <a:rPr lang="en-GB" sz="1900" dirty="0"/>
            </a:br>
            <a:r>
              <a:rPr lang="en-GB" sz="1900" dirty="0"/>
              <a:t xml:space="preserve">Administered at distance, no one to explain &amp; help in </a:t>
            </a:r>
            <a:r>
              <a:rPr lang="en-GB" sz="1900" dirty="0"/>
              <a:t>answering</a:t>
            </a:r>
            <a:br>
              <a:rPr lang="en-GB" sz="1900" dirty="0">
                <a:solidFill>
                  <a:srgbClr val="FF0000"/>
                </a:solidFill>
              </a:rPr>
            </a:br>
            <a:r>
              <a:rPr lang="en-GB" sz="1900" dirty="0">
                <a:solidFill>
                  <a:srgbClr val="FF0000"/>
                </a:solidFill>
              </a:rPr>
              <a:t>Advantages, disadvantages</a:t>
            </a:r>
          </a:p>
          <a:p>
            <a:pPr marL="326390" indent="-326390">
              <a:buFontTx/>
              <a:buChar char="•"/>
            </a:pPr>
            <a:r>
              <a:rPr lang="en-GB" sz="2280" dirty="0"/>
              <a:t>Interviews</a:t>
            </a:r>
          </a:p>
          <a:p>
            <a:pPr marL="706119" indent="-271779">
              <a:buFontTx/>
              <a:buChar char="–"/>
            </a:pPr>
            <a:r>
              <a:rPr lang="en-GB" sz="1900" dirty="0"/>
              <a:t>Involves asking someone a set of questions (often f2f)</a:t>
            </a:r>
          </a:p>
          <a:p>
            <a:pPr marL="706119" indent="-271779">
              <a:buFontTx/>
              <a:buChar char="–"/>
            </a:pPr>
            <a:r>
              <a:rPr lang="en-GB" sz="1900" dirty="0"/>
              <a:t>Good for exploring issues, encourage people to respond</a:t>
            </a:r>
            <a:r>
              <a:rPr lang="en-GB" sz="1900" dirty="0">
                <a:solidFill>
                  <a:srgbClr val="FF0000"/>
                </a:solidFill>
              </a:rPr>
              <a:t xml:space="preserve"> </a:t>
            </a:r>
            <a:r>
              <a:rPr lang="en-GB" sz="1900" dirty="0">
                <a:solidFill>
                  <a:srgbClr val="FF0000"/>
                </a:solidFill>
              </a:rPr>
              <a:t>Advantages, disadvantages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 xml:space="preserve">Continue… 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•"/>
            </a:pPr>
            <a:r>
              <a:rPr lang="en-GB" sz="2400" dirty="0"/>
              <a:t>Workshops or focus groups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Group interviews rather than one on one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Gain a consensus view and/or highlighting areas of </a:t>
            </a:r>
            <a:r>
              <a:rPr lang="en-GB" sz="2000" dirty="0"/>
              <a:t>conflicts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Facilitator is required to keep conversation on track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Has to be carefully structured, participants have to </a:t>
            </a:r>
            <a:r>
              <a:rPr lang="en-GB" sz="2000" dirty="0"/>
              <a:t>be carefully chosen</a:t>
            </a:r>
            <a:br>
              <a:rPr lang="en-GB" sz="2000" dirty="0">
                <a:solidFill>
                  <a:srgbClr val="FF0000"/>
                </a:solidFill>
              </a:rPr>
            </a:br>
            <a:r>
              <a:rPr lang="en-GB" sz="2000" dirty="0">
                <a:solidFill>
                  <a:srgbClr val="FF0000"/>
                </a:solidFill>
              </a:rPr>
              <a:t>Advantages, disadvantages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 xml:space="preserve">Continue… 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•"/>
            </a:pPr>
            <a:r>
              <a:rPr lang="en-GB" sz="2400" dirty="0"/>
              <a:t>Naturalistic observation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Spend time with stakeholders in their day to day </a:t>
            </a:r>
            <a:r>
              <a:rPr lang="en-GB" sz="2000" dirty="0"/>
              <a:t>tasks, observing work as it happens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Good for understanding the nature and context of </a:t>
            </a:r>
            <a:r>
              <a:rPr lang="en-GB" sz="2000" dirty="0"/>
              <a:t>the tasks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Take notes, ask question (not too many)</a:t>
            </a:r>
          </a:p>
          <a:p>
            <a:pPr marL="342900" indent="-342900">
              <a:buFontTx/>
              <a:buChar char="•"/>
            </a:pPr>
            <a:r>
              <a:rPr lang="en-GB" sz="2400" dirty="0"/>
              <a:t>Variation of this - ‘Ethnography’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Observing from the ‘inside’ as a participant, full </a:t>
            </a:r>
            <a:r>
              <a:rPr lang="en-GB" sz="2000" dirty="0"/>
              <a:t>involvement</a:t>
            </a:r>
            <a:br>
              <a:rPr lang="en-GB" sz="2000" dirty="0">
                <a:solidFill>
                  <a:srgbClr val="FF0000"/>
                </a:solidFill>
              </a:rPr>
            </a:br>
            <a:r>
              <a:rPr lang="en-GB" sz="2000" dirty="0">
                <a:solidFill>
                  <a:srgbClr val="FF0000"/>
                </a:solidFill>
              </a:rPr>
              <a:t>Advantages, disadvantages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Continue…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•"/>
            </a:pPr>
            <a:r>
              <a:rPr lang="en-GB" sz="2400" dirty="0"/>
              <a:t>Studying documentation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Good for getting background information on </a:t>
            </a:r>
            <a:r>
              <a:rPr lang="en-GB" sz="2000" dirty="0"/>
              <a:t>procedures and rules (manuals, job logs)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Fill in the red line: advantages, disadvantages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4E7A12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THINK-PAIR-SHARE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2578608" y="1810512"/>
            <a:ext cx="5559552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5 min · pairs · one + and one − for each technique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40280"/>
            <a:ext cx="2148840" cy="329184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Technique</a:t>
            </a:r>
            <a:endParaRPr lang="en-GB" sz="1200" dirty="0"/>
          </a:p>
        </p:txBody>
      </p:sp>
      <p:sp>
        <p:nvSpPr>
          <p:cNvPr id="14" name="Shape 14"/>
          <p:cNvSpPr/>
          <p:nvPr/>
        </p:nvSpPr>
        <p:spPr>
          <a:xfrm>
            <a:off x="2743200" y="2240280"/>
            <a:ext cx="2670048" cy="329184"/>
          </a:xfrm>
          <a:prstGeom prst="rect">
            <a:avLst/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+ Advantage</a:t>
            </a:r>
            <a:endParaRPr lang="en-GB" sz="1200" dirty="0"/>
          </a:p>
        </p:txBody>
      </p:sp>
      <p:sp>
        <p:nvSpPr>
          <p:cNvPr id="15" name="Shape 15"/>
          <p:cNvSpPr/>
          <p:nvPr/>
        </p:nvSpPr>
        <p:spPr>
          <a:xfrm>
            <a:off x="5468112" y="2240280"/>
            <a:ext cx="2670048" cy="329184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− Disadvantage</a:t>
            </a:r>
            <a:endParaRPr lang="en-GB" sz="1200" dirty="0"/>
          </a:p>
        </p:txBody>
      </p:sp>
      <p:sp>
        <p:nvSpPr>
          <p:cNvPr id="16" name="Shape 16"/>
          <p:cNvSpPr/>
          <p:nvPr/>
        </p:nvSpPr>
        <p:spPr>
          <a:xfrm>
            <a:off x="548640" y="2633472"/>
            <a:ext cx="2148840" cy="548640"/>
          </a:xfrm>
          <a:prstGeom prst="rect">
            <a:avLst/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2D2D8A"/>
                </a:solidFill>
                <a:latin typeface="Arial"/>
                <a:cs typeface="Arial"/>
              </a:rPr>
              <a:t>Questionnaires</a:t>
            </a:r>
            <a:endParaRPr lang="en-GB" sz="1150" dirty="0"/>
          </a:p>
        </p:txBody>
      </p:sp>
      <p:sp>
        <p:nvSpPr>
          <p:cNvPr id="17" name="Shape 17"/>
          <p:cNvSpPr/>
          <p:nvPr/>
        </p:nvSpPr>
        <p:spPr>
          <a:xfrm>
            <a:off x="2743200" y="2633472"/>
            <a:ext cx="26700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8" name="Shape 18"/>
          <p:cNvSpPr/>
          <p:nvPr/>
        </p:nvSpPr>
        <p:spPr>
          <a:xfrm>
            <a:off x="5468112" y="2633472"/>
            <a:ext cx="26700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9" name="Shape 19"/>
          <p:cNvSpPr/>
          <p:nvPr/>
        </p:nvSpPr>
        <p:spPr>
          <a:xfrm>
            <a:off x="548640" y="3236976"/>
            <a:ext cx="2148840" cy="548640"/>
          </a:xfrm>
          <a:prstGeom prst="rect">
            <a:avLst/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2D2D8A"/>
                </a:solidFill>
                <a:latin typeface="Arial"/>
                <a:cs typeface="Arial"/>
              </a:rPr>
              <a:t>Interviews</a:t>
            </a:r>
            <a:endParaRPr lang="en-GB" sz="1150" dirty="0"/>
          </a:p>
        </p:txBody>
      </p:sp>
      <p:sp>
        <p:nvSpPr>
          <p:cNvPr id="20" name="Shape 20"/>
          <p:cNvSpPr/>
          <p:nvPr/>
        </p:nvSpPr>
        <p:spPr>
          <a:xfrm>
            <a:off x="2743200" y="3236976"/>
            <a:ext cx="26700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1" name="Shape 21"/>
          <p:cNvSpPr/>
          <p:nvPr/>
        </p:nvSpPr>
        <p:spPr>
          <a:xfrm>
            <a:off x="5468112" y="3236976"/>
            <a:ext cx="26700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2" name="Shape 22"/>
          <p:cNvSpPr/>
          <p:nvPr/>
        </p:nvSpPr>
        <p:spPr>
          <a:xfrm>
            <a:off x="548640" y="3840480"/>
            <a:ext cx="2148840" cy="548640"/>
          </a:xfrm>
          <a:prstGeom prst="rect">
            <a:avLst/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2D2D8A"/>
                </a:solidFill>
                <a:latin typeface="Arial"/>
                <a:cs typeface="Arial"/>
              </a:rPr>
              <a:t>Workshops / focus groups</a:t>
            </a:r>
            <a:endParaRPr lang="en-GB" sz="1150" dirty="0"/>
          </a:p>
        </p:txBody>
      </p:sp>
      <p:sp>
        <p:nvSpPr>
          <p:cNvPr id="23" name="Shape 23"/>
          <p:cNvSpPr/>
          <p:nvPr/>
        </p:nvSpPr>
        <p:spPr>
          <a:xfrm>
            <a:off x="2743200" y="3840480"/>
            <a:ext cx="26700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4" name="Shape 24"/>
          <p:cNvSpPr/>
          <p:nvPr/>
        </p:nvSpPr>
        <p:spPr>
          <a:xfrm>
            <a:off x="5468112" y="3840480"/>
            <a:ext cx="26700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5" name="Shape 25"/>
          <p:cNvSpPr/>
          <p:nvPr/>
        </p:nvSpPr>
        <p:spPr>
          <a:xfrm>
            <a:off x="548640" y="4443984"/>
            <a:ext cx="2148840" cy="548640"/>
          </a:xfrm>
          <a:prstGeom prst="rect">
            <a:avLst/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2D2D8A"/>
                </a:solidFill>
                <a:latin typeface="Arial"/>
                <a:cs typeface="Arial"/>
              </a:rPr>
              <a:t>Naturalistic observation</a:t>
            </a:r>
            <a:endParaRPr lang="en-GB" sz="1150" dirty="0"/>
          </a:p>
        </p:txBody>
      </p:sp>
      <p:sp>
        <p:nvSpPr>
          <p:cNvPr id="26" name="Shape 26"/>
          <p:cNvSpPr/>
          <p:nvPr/>
        </p:nvSpPr>
        <p:spPr>
          <a:xfrm>
            <a:off x="2743200" y="4443984"/>
            <a:ext cx="26700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7" name="Shape 27"/>
          <p:cNvSpPr/>
          <p:nvPr/>
        </p:nvSpPr>
        <p:spPr>
          <a:xfrm>
            <a:off x="5468112" y="4443984"/>
            <a:ext cx="26700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8" name="Shape 28"/>
          <p:cNvSpPr/>
          <p:nvPr/>
        </p:nvSpPr>
        <p:spPr>
          <a:xfrm>
            <a:off x="548640" y="5047488"/>
            <a:ext cx="2148840" cy="548640"/>
          </a:xfrm>
          <a:prstGeom prst="rect">
            <a:avLst/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2D2D8A"/>
                </a:solidFill>
                <a:latin typeface="Arial"/>
                <a:cs typeface="Arial"/>
              </a:rPr>
              <a:t>Ethnography</a:t>
            </a:r>
            <a:endParaRPr lang="en-GB" sz="1150" dirty="0"/>
          </a:p>
        </p:txBody>
      </p:sp>
      <p:sp>
        <p:nvSpPr>
          <p:cNvPr id="29" name="Shape 29"/>
          <p:cNvSpPr/>
          <p:nvPr/>
        </p:nvSpPr>
        <p:spPr>
          <a:xfrm>
            <a:off x="2743200" y="5047488"/>
            <a:ext cx="26700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0" name="Shape 30"/>
          <p:cNvSpPr/>
          <p:nvPr/>
        </p:nvSpPr>
        <p:spPr>
          <a:xfrm>
            <a:off x="5468112" y="5047488"/>
            <a:ext cx="26700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1" name="Shape 31"/>
          <p:cNvSpPr/>
          <p:nvPr/>
        </p:nvSpPr>
        <p:spPr>
          <a:xfrm>
            <a:off x="548640" y="5650992"/>
            <a:ext cx="2148840" cy="548640"/>
          </a:xfrm>
          <a:prstGeom prst="rect">
            <a:avLst/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2D2D8A"/>
                </a:solidFill>
                <a:latin typeface="Arial"/>
                <a:cs typeface="Arial"/>
              </a:rPr>
              <a:t>Studying documentation</a:t>
            </a:r>
            <a:endParaRPr lang="en-GB" sz="1150" dirty="0"/>
          </a:p>
        </p:txBody>
      </p:sp>
      <p:sp>
        <p:nvSpPr>
          <p:cNvPr id="32" name="Shape 32"/>
          <p:cNvSpPr/>
          <p:nvPr/>
        </p:nvSpPr>
        <p:spPr>
          <a:xfrm>
            <a:off x="2743200" y="5650992"/>
            <a:ext cx="26700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3" name="Shape 33"/>
          <p:cNvSpPr/>
          <p:nvPr/>
        </p:nvSpPr>
        <p:spPr>
          <a:xfrm>
            <a:off x="5468112" y="5650992"/>
            <a:ext cx="26700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Advantages, disadvantages — answers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714500" y="1810512"/>
            <a:ext cx="64236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one + and one − for each technique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40280"/>
            <a:ext cx="2148840" cy="329184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Technique</a:t>
            </a:r>
            <a:endParaRPr lang="en-GB" sz="1200" dirty="0"/>
          </a:p>
        </p:txBody>
      </p:sp>
      <p:sp>
        <p:nvSpPr>
          <p:cNvPr id="14" name="Shape 14"/>
          <p:cNvSpPr/>
          <p:nvPr/>
        </p:nvSpPr>
        <p:spPr>
          <a:xfrm>
            <a:off x="2743200" y="2240280"/>
            <a:ext cx="2670048" cy="329184"/>
          </a:xfrm>
          <a:prstGeom prst="rect">
            <a:avLst/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+ Advantage</a:t>
            </a:r>
            <a:endParaRPr lang="en-GB" sz="1200" dirty="0"/>
          </a:p>
        </p:txBody>
      </p:sp>
      <p:sp>
        <p:nvSpPr>
          <p:cNvPr id="15" name="Shape 15"/>
          <p:cNvSpPr/>
          <p:nvPr/>
        </p:nvSpPr>
        <p:spPr>
          <a:xfrm>
            <a:off x="5468112" y="2240280"/>
            <a:ext cx="2670048" cy="329184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− Disadvantage</a:t>
            </a:r>
            <a:endParaRPr lang="en-GB" sz="1200" dirty="0"/>
          </a:p>
        </p:txBody>
      </p:sp>
      <p:sp>
        <p:nvSpPr>
          <p:cNvPr id="16" name="Shape 16"/>
          <p:cNvSpPr/>
          <p:nvPr/>
        </p:nvSpPr>
        <p:spPr>
          <a:xfrm>
            <a:off x="548640" y="2633472"/>
            <a:ext cx="2148840" cy="548640"/>
          </a:xfrm>
          <a:prstGeom prst="rect">
            <a:avLst/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2D2D8A"/>
                </a:solidFill>
                <a:latin typeface="Arial"/>
                <a:cs typeface="Arial"/>
              </a:rPr>
              <a:t>Questionnaires</a:t>
            </a:r>
            <a:endParaRPr lang="en-GB" sz="1150" dirty="0"/>
          </a:p>
        </p:txBody>
      </p:sp>
      <p:sp>
        <p:nvSpPr>
          <p:cNvPr id="17" name="Shape 17"/>
          <p:cNvSpPr/>
          <p:nvPr/>
        </p:nvSpPr>
        <p:spPr>
          <a:xfrm>
            <a:off x="2743200" y="2633472"/>
            <a:ext cx="2670048" cy="548640"/>
          </a:xfrm>
          <a:prstGeom prst="rect">
            <a:avLst/>
          </a:prstGeom>
          <a:solidFill>
            <a:srgbClr val="E6EFD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Reach many people cheaply; numbers are easy to analyse</a:t>
            </a:r>
            <a:endParaRPr lang="en-GB" sz="1050" dirty="0"/>
          </a:p>
        </p:txBody>
      </p:sp>
      <p:sp>
        <p:nvSpPr>
          <p:cNvPr id="18" name="Shape 18"/>
          <p:cNvSpPr/>
          <p:nvPr/>
        </p:nvSpPr>
        <p:spPr>
          <a:xfrm>
            <a:off x="5468112" y="2633472"/>
            <a:ext cx="2670048" cy="548640"/>
          </a:xfrm>
          <a:prstGeom prst="rect">
            <a:avLst/>
          </a:prstGeom>
          <a:solidFill>
            <a:srgbClr val="F6E3E1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Nobody to explain a question; low return rate</a:t>
            </a:r>
            <a:endParaRPr lang="en-GB" sz="1050" dirty="0"/>
          </a:p>
        </p:txBody>
      </p:sp>
      <p:sp>
        <p:nvSpPr>
          <p:cNvPr id="19" name="Shape 19"/>
          <p:cNvSpPr/>
          <p:nvPr/>
        </p:nvSpPr>
        <p:spPr>
          <a:xfrm>
            <a:off x="548640" y="3236976"/>
            <a:ext cx="2148840" cy="548640"/>
          </a:xfrm>
          <a:prstGeom prst="rect">
            <a:avLst/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2D2D8A"/>
                </a:solidFill>
                <a:latin typeface="Arial"/>
                <a:cs typeface="Arial"/>
              </a:rPr>
              <a:t>Interviews</a:t>
            </a:r>
            <a:endParaRPr lang="en-GB" sz="1150" dirty="0"/>
          </a:p>
        </p:txBody>
      </p:sp>
      <p:sp>
        <p:nvSpPr>
          <p:cNvPr id="20" name="Shape 20"/>
          <p:cNvSpPr/>
          <p:nvPr/>
        </p:nvSpPr>
        <p:spPr>
          <a:xfrm>
            <a:off x="2743200" y="3236976"/>
            <a:ext cx="2670048" cy="548640"/>
          </a:xfrm>
          <a:prstGeom prst="rect">
            <a:avLst/>
          </a:prstGeom>
          <a:solidFill>
            <a:srgbClr val="E6EFD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Explore issues in depth; can follow up</a:t>
            </a:r>
            <a:endParaRPr lang="en-GB" sz="1050" dirty="0"/>
          </a:p>
        </p:txBody>
      </p:sp>
      <p:sp>
        <p:nvSpPr>
          <p:cNvPr id="21" name="Shape 21"/>
          <p:cNvSpPr/>
          <p:nvPr/>
        </p:nvSpPr>
        <p:spPr>
          <a:xfrm>
            <a:off x="5468112" y="3236976"/>
            <a:ext cx="2670048" cy="548640"/>
          </a:xfrm>
          <a:prstGeom prst="rect">
            <a:avLst/>
          </a:prstGeom>
          <a:solidFill>
            <a:srgbClr val="F6E3E1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Slow; few people; interviewer can bias answers</a:t>
            </a:r>
            <a:endParaRPr lang="en-GB" sz="1050" dirty="0"/>
          </a:p>
        </p:txBody>
      </p:sp>
      <p:sp>
        <p:nvSpPr>
          <p:cNvPr id="22" name="Shape 22"/>
          <p:cNvSpPr/>
          <p:nvPr/>
        </p:nvSpPr>
        <p:spPr>
          <a:xfrm>
            <a:off x="548640" y="3840480"/>
            <a:ext cx="2148840" cy="548640"/>
          </a:xfrm>
          <a:prstGeom prst="rect">
            <a:avLst/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2D2D8A"/>
                </a:solidFill>
                <a:latin typeface="Arial"/>
                <a:cs typeface="Arial"/>
              </a:rPr>
              <a:t>Workshops / focus groups</a:t>
            </a:r>
            <a:endParaRPr lang="en-GB" sz="1150" dirty="0"/>
          </a:p>
        </p:txBody>
      </p:sp>
      <p:sp>
        <p:nvSpPr>
          <p:cNvPr id="23" name="Shape 23"/>
          <p:cNvSpPr/>
          <p:nvPr/>
        </p:nvSpPr>
        <p:spPr>
          <a:xfrm>
            <a:off x="2743200" y="3840480"/>
            <a:ext cx="2670048" cy="548640"/>
          </a:xfrm>
          <a:prstGeom prst="rect">
            <a:avLst/>
          </a:prstGeom>
          <a:solidFill>
            <a:srgbClr val="E6EFD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Show consensus and conflict quickly</a:t>
            </a:r>
            <a:endParaRPr lang="en-GB" sz="1050" dirty="0"/>
          </a:p>
        </p:txBody>
      </p:sp>
      <p:sp>
        <p:nvSpPr>
          <p:cNvPr id="24" name="Shape 24"/>
          <p:cNvSpPr/>
          <p:nvPr/>
        </p:nvSpPr>
        <p:spPr>
          <a:xfrm>
            <a:off x="5468112" y="3840480"/>
            <a:ext cx="2670048" cy="548640"/>
          </a:xfrm>
          <a:prstGeom prst="rect">
            <a:avLst/>
          </a:prstGeom>
          <a:solidFill>
            <a:srgbClr val="F6E3E1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Need a skilled facilitator; loud voices dominate</a:t>
            </a:r>
            <a:endParaRPr lang="en-GB" sz="1050" dirty="0"/>
          </a:p>
        </p:txBody>
      </p:sp>
      <p:sp>
        <p:nvSpPr>
          <p:cNvPr id="25" name="Shape 25"/>
          <p:cNvSpPr/>
          <p:nvPr/>
        </p:nvSpPr>
        <p:spPr>
          <a:xfrm>
            <a:off x="548640" y="4443984"/>
            <a:ext cx="2148840" cy="548640"/>
          </a:xfrm>
          <a:prstGeom prst="rect">
            <a:avLst/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2D2D8A"/>
                </a:solidFill>
                <a:latin typeface="Arial"/>
                <a:cs typeface="Arial"/>
              </a:rPr>
              <a:t>Naturalistic observation</a:t>
            </a:r>
            <a:endParaRPr lang="en-GB" sz="1150" dirty="0"/>
          </a:p>
        </p:txBody>
      </p:sp>
      <p:sp>
        <p:nvSpPr>
          <p:cNvPr id="26" name="Shape 26"/>
          <p:cNvSpPr/>
          <p:nvPr/>
        </p:nvSpPr>
        <p:spPr>
          <a:xfrm>
            <a:off x="2743200" y="4443984"/>
            <a:ext cx="2670048" cy="548640"/>
          </a:xfrm>
          <a:prstGeom prst="rect">
            <a:avLst/>
          </a:prstGeom>
          <a:solidFill>
            <a:srgbClr val="E6EFD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See real work in its real context</a:t>
            </a:r>
            <a:endParaRPr lang="en-GB" sz="1050" dirty="0"/>
          </a:p>
        </p:txBody>
      </p:sp>
      <p:sp>
        <p:nvSpPr>
          <p:cNvPr id="27" name="Shape 27"/>
          <p:cNvSpPr/>
          <p:nvPr/>
        </p:nvSpPr>
        <p:spPr>
          <a:xfrm>
            <a:off x="5468112" y="4443984"/>
            <a:ext cx="2670048" cy="548640"/>
          </a:xfrm>
          <a:prstGeom prst="rect">
            <a:avLst/>
          </a:prstGeom>
          <a:solidFill>
            <a:srgbClr val="F6E3E1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Time-consuming; people act differently when watched</a:t>
            </a:r>
            <a:endParaRPr lang="en-GB" sz="1050" dirty="0"/>
          </a:p>
        </p:txBody>
      </p:sp>
      <p:sp>
        <p:nvSpPr>
          <p:cNvPr id="28" name="Shape 28"/>
          <p:cNvSpPr/>
          <p:nvPr/>
        </p:nvSpPr>
        <p:spPr>
          <a:xfrm>
            <a:off x="548640" y="5047488"/>
            <a:ext cx="2148840" cy="548640"/>
          </a:xfrm>
          <a:prstGeom prst="rect">
            <a:avLst/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2D2D8A"/>
                </a:solidFill>
                <a:latin typeface="Arial"/>
                <a:cs typeface="Arial"/>
              </a:rPr>
              <a:t>Ethnography</a:t>
            </a:r>
            <a:endParaRPr lang="en-GB" sz="1150" dirty="0"/>
          </a:p>
        </p:txBody>
      </p:sp>
      <p:sp>
        <p:nvSpPr>
          <p:cNvPr id="29" name="Shape 29"/>
          <p:cNvSpPr/>
          <p:nvPr/>
        </p:nvSpPr>
        <p:spPr>
          <a:xfrm>
            <a:off x="2743200" y="5047488"/>
            <a:ext cx="2670048" cy="548640"/>
          </a:xfrm>
          <a:prstGeom prst="rect">
            <a:avLst/>
          </a:prstGeom>
          <a:solidFill>
            <a:srgbClr val="E6EFD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Insider view as a full participant</a:t>
            </a:r>
            <a:endParaRPr lang="en-GB" sz="1050" dirty="0"/>
          </a:p>
        </p:txBody>
      </p:sp>
      <p:sp>
        <p:nvSpPr>
          <p:cNvPr id="30" name="Shape 30"/>
          <p:cNvSpPr/>
          <p:nvPr/>
        </p:nvSpPr>
        <p:spPr>
          <a:xfrm>
            <a:off x="5468112" y="5047488"/>
            <a:ext cx="2670048" cy="548640"/>
          </a:xfrm>
          <a:prstGeom prst="rect">
            <a:avLst/>
          </a:prstGeom>
          <a:solidFill>
            <a:srgbClr val="F6E3E1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Slowest of all; hard to generalise</a:t>
            </a:r>
            <a:endParaRPr lang="en-GB" sz="1050" dirty="0"/>
          </a:p>
        </p:txBody>
      </p:sp>
      <p:sp>
        <p:nvSpPr>
          <p:cNvPr id="31" name="Shape 31"/>
          <p:cNvSpPr/>
          <p:nvPr/>
        </p:nvSpPr>
        <p:spPr>
          <a:xfrm>
            <a:off x="548640" y="5650992"/>
            <a:ext cx="2148840" cy="548640"/>
          </a:xfrm>
          <a:prstGeom prst="rect">
            <a:avLst/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2D2D8A"/>
                </a:solidFill>
                <a:latin typeface="Arial"/>
                <a:cs typeface="Arial"/>
              </a:rPr>
              <a:t>Studying documentation</a:t>
            </a:r>
            <a:endParaRPr lang="en-GB" sz="1150" dirty="0"/>
          </a:p>
        </p:txBody>
      </p:sp>
      <p:sp>
        <p:nvSpPr>
          <p:cNvPr id="32" name="Shape 32"/>
          <p:cNvSpPr/>
          <p:nvPr/>
        </p:nvSpPr>
        <p:spPr>
          <a:xfrm>
            <a:off x="2743200" y="5650992"/>
            <a:ext cx="2670048" cy="548640"/>
          </a:xfrm>
          <a:prstGeom prst="rect">
            <a:avLst/>
          </a:prstGeom>
          <a:solidFill>
            <a:srgbClr val="E6EFD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Cheap background on rules and procedures</a:t>
            </a:r>
            <a:endParaRPr lang="en-GB" sz="1050" dirty="0"/>
          </a:p>
        </p:txBody>
      </p:sp>
      <p:sp>
        <p:nvSpPr>
          <p:cNvPr id="33" name="Shape 33"/>
          <p:cNvSpPr/>
          <p:nvPr/>
        </p:nvSpPr>
        <p:spPr>
          <a:xfrm>
            <a:off x="5468112" y="5650992"/>
            <a:ext cx="2670048" cy="548640"/>
          </a:xfrm>
          <a:prstGeom prst="rect">
            <a:avLst/>
          </a:prstGeom>
          <a:solidFill>
            <a:srgbClr val="F6E3E1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Shows what should happen, not what does</a:t>
            </a:r>
            <a:endParaRPr lang="en-GB" sz="10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85800" y="396239"/>
            <a:ext cx="6858000" cy="1143000"/>
          </a:xfrm>
        </p:spPr>
        <p:txBody>
          <a:bodyPr/>
          <a:lstStyle/>
          <a:p>
            <a:r>
              <a:rPr lang="en-GB" sz="2800" dirty="0"/>
              <a:t>PROBLEMS WITH DATA GATHERING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>
          <a:xfrm>
            <a:off x="685800" y="1527810"/>
            <a:ext cx="7772400" cy="4822190"/>
          </a:xfrm>
        </p:spPr>
        <p:txBody>
          <a:bodyPr/>
          <a:lstStyle/>
          <a:p>
            <a:pPr marL="360679" indent="-342899">
              <a:buFontTx/>
              <a:buChar char="•"/>
            </a:pPr>
            <a:r>
              <a:rPr lang="en-GB" sz="2400" dirty="0"/>
              <a:t>Identifying and involving stakeholders</a:t>
            </a:r>
          </a:p>
          <a:p>
            <a:pPr marL="760729" indent="-285750">
              <a:buFontTx/>
              <a:buChar char="–"/>
            </a:pPr>
            <a:r>
              <a:rPr lang="en-GB" sz="2000" dirty="0"/>
              <a:t>Availability of key people</a:t>
            </a:r>
          </a:p>
          <a:p>
            <a:pPr marL="360679" indent="-342899">
              <a:buFontTx/>
              <a:buChar char="•"/>
            </a:pPr>
            <a:r>
              <a:rPr lang="en-GB" sz="2400" dirty="0"/>
              <a:t>Communication between parties</a:t>
            </a:r>
          </a:p>
          <a:p>
            <a:pPr marL="760729" indent="-285750">
              <a:buFontTx/>
              <a:buChar char="–"/>
            </a:pPr>
            <a:r>
              <a:rPr lang="en-GB" sz="2000" dirty="0"/>
              <a:t>Within development team (more technical)</a:t>
            </a:r>
          </a:p>
          <a:p>
            <a:pPr marL="760729" indent="-285750">
              <a:buFontTx/>
              <a:buChar char="–"/>
            </a:pPr>
            <a:r>
              <a:rPr lang="en-GB" sz="2000" dirty="0"/>
              <a:t>With customer/user (less technical)</a:t>
            </a:r>
          </a:p>
          <a:p>
            <a:pPr marL="360679" indent="-342899">
              <a:buFontTx/>
              <a:buChar char="•"/>
            </a:pPr>
            <a:r>
              <a:rPr lang="en-GB" sz="2400" dirty="0"/>
              <a:t xml:space="preserve">Between users (different parts of an </a:t>
            </a:r>
            <a:r>
              <a:rPr lang="en-GB" sz="2400" dirty="0"/>
              <a:t>organisation use different terminology</a:t>
            </a:r>
            <a:br>
              <a:rPr lang="en-GB" sz="2400" dirty="0"/>
            </a:br>
            <a:r>
              <a:rPr lang="en-GB" sz="2400" dirty="0"/>
              <a:t xml:space="preserve">e.g. End of Module Report for APIIT vs Module </a:t>
            </a:r>
            <a:r>
              <a:rPr lang="en-GB" sz="2400" dirty="0"/>
              <a:t>Report for SU)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85800" y="396239"/>
            <a:ext cx="6858000" cy="1143000"/>
          </a:xfrm>
        </p:spPr>
        <p:txBody>
          <a:bodyPr/>
          <a:lstStyle/>
          <a:p>
            <a:r>
              <a:rPr lang="en-GB" sz="2800" dirty="0"/>
              <a:t>QUESTIONNAIRE DESIGN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•"/>
            </a:pPr>
            <a:r>
              <a:rPr lang="en-GB" sz="2400" dirty="0"/>
              <a:t>Keep questions short</a:t>
            </a:r>
          </a:p>
          <a:p>
            <a:pPr marL="342900" indent="-342900">
              <a:buFontTx/>
              <a:buChar char="•"/>
            </a:pPr>
            <a:r>
              <a:rPr lang="en-GB" sz="2400" dirty="0"/>
              <a:t>Only ask a question if it contributes to design</a:t>
            </a:r>
          </a:p>
          <a:p>
            <a:pPr marL="342900" indent="-342900">
              <a:buFontTx/>
              <a:buChar char="•"/>
            </a:pPr>
            <a:r>
              <a:rPr lang="en-GB" sz="2400" dirty="0"/>
              <a:t>Use closed questions for ease of analysis</a:t>
            </a:r>
          </a:p>
          <a:p>
            <a:pPr marL="342900" indent="-342900">
              <a:buFontTx/>
              <a:buChar char="•"/>
            </a:pPr>
            <a:r>
              <a:rPr lang="en-GB" sz="2400" dirty="0"/>
              <a:t xml:space="preserve">Always pilot questionnaires/interview </a:t>
            </a:r>
            <a:r>
              <a:rPr lang="en-GB" sz="2400" dirty="0"/>
              <a:t>schedules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181100" y="914400"/>
            <a:ext cx="6781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901700" y="393700"/>
            <a:ext cx="6972300" cy="29337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901700" y="3098800"/>
            <a:ext cx="7391400" cy="36322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800100" y="228600"/>
            <a:ext cx="75438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Fix this questionnaire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632204" cy="310896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LIVE EXERCISE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2290572" y="1810512"/>
            <a:ext cx="5847588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6 min · pairs · find the flaw, rewrite the question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377440"/>
            <a:ext cx="310896" cy="310896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100" dirty="0"/>
          </a:p>
        </p:txBody>
      </p:sp>
      <p:sp>
        <p:nvSpPr>
          <p:cNvPr id="14" name="Shape 14"/>
          <p:cNvSpPr/>
          <p:nvPr/>
        </p:nvSpPr>
        <p:spPr>
          <a:xfrm>
            <a:off x="960120" y="2286000"/>
            <a:ext cx="7178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109728" tIns="109728" rIns="109728" bIns="109728" anchor="ctr" rtlCol="0">
            <a:no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How often and how easily do you use the hostel portal?</a:t>
            </a:r>
            <a:endParaRPr lang="en-GB" sz="1400" dirty="0"/>
          </a:p>
        </p:txBody>
      </p:sp>
      <p:sp>
        <p:nvSpPr>
          <p:cNvPr id="15" name="Shape 15"/>
          <p:cNvSpPr/>
          <p:nvPr/>
        </p:nvSpPr>
        <p:spPr>
          <a:xfrm>
            <a:off x="548640" y="3054096"/>
            <a:ext cx="310896" cy="310896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100" dirty="0"/>
          </a:p>
        </p:txBody>
      </p:sp>
      <p:sp>
        <p:nvSpPr>
          <p:cNvPr id="16" name="Shape 16"/>
          <p:cNvSpPr/>
          <p:nvPr/>
        </p:nvSpPr>
        <p:spPr>
          <a:xfrm>
            <a:off x="960120" y="2962656"/>
            <a:ext cx="7178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109728" tIns="109728" rIns="109728" bIns="109728" anchor="ctr" rtlCol="0">
            <a:no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Age:   ☐ 18–20    ☐ 20–22    ☐ 22+</a:t>
            </a:r>
            <a:endParaRPr lang="en-GB" sz="1400" dirty="0"/>
          </a:p>
        </p:txBody>
      </p:sp>
      <p:sp>
        <p:nvSpPr>
          <p:cNvPr id="17" name="Shape 17"/>
          <p:cNvSpPr/>
          <p:nvPr/>
        </p:nvSpPr>
        <p:spPr>
          <a:xfrm>
            <a:off x="548640" y="3730752"/>
            <a:ext cx="310896" cy="310896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100" dirty="0"/>
          </a:p>
        </p:txBody>
      </p:sp>
      <p:sp>
        <p:nvSpPr>
          <p:cNvPr id="18" name="Shape 18"/>
          <p:cNvSpPr/>
          <p:nvPr/>
        </p:nvSpPr>
        <p:spPr>
          <a:xfrm>
            <a:off x="960120" y="3639312"/>
            <a:ext cx="7178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109728" tIns="109728" rIns="109728" bIns="109728" anchor="ctr" rtlCol="0">
            <a:no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Don’t you agree the new portal is much better?</a:t>
            </a:r>
            <a:endParaRPr lang="en-GB" sz="1400" dirty="0"/>
          </a:p>
        </p:txBody>
      </p:sp>
      <p:sp>
        <p:nvSpPr>
          <p:cNvPr id="19" name="Shape 19"/>
          <p:cNvSpPr/>
          <p:nvPr/>
        </p:nvSpPr>
        <p:spPr>
          <a:xfrm>
            <a:off x="548640" y="4407408"/>
            <a:ext cx="310896" cy="310896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100" dirty="0"/>
          </a:p>
        </p:txBody>
      </p:sp>
      <p:sp>
        <p:nvSpPr>
          <p:cNvPr id="20" name="Shape 20"/>
          <p:cNvSpPr/>
          <p:nvPr/>
        </p:nvSpPr>
        <p:spPr>
          <a:xfrm>
            <a:off x="960120" y="4315968"/>
            <a:ext cx="7178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109728" tIns="109728" rIns="109728" bIns="109728" anchor="ctr" rtlCol="0">
            <a:no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What is your favourite colour?</a:t>
            </a:r>
            <a:endParaRPr lang="en-GB" sz="1400" dirty="0"/>
          </a:p>
        </p:txBody>
      </p:sp>
      <p:sp>
        <p:nvSpPr>
          <p:cNvPr id="21" name="Shape 21"/>
          <p:cNvSpPr/>
          <p:nvPr/>
        </p:nvSpPr>
        <p:spPr>
          <a:xfrm>
            <a:off x="548640" y="5084064"/>
            <a:ext cx="310896" cy="310896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GB" sz="1100" dirty="0"/>
          </a:p>
        </p:txBody>
      </p:sp>
      <p:sp>
        <p:nvSpPr>
          <p:cNvPr id="22" name="Shape 22"/>
          <p:cNvSpPr/>
          <p:nvPr/>
        </p:nvSpPr>
        <p:spPr>
          <a:xfrm>
            <a:off x="960120" y="4992624"/>
            <a:ext cx="7178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109728" tIns="109728" rIns="109728" bIns="109728" anchor="ctr" rtlCol="0">
            <a:no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Describe your experience with the system.</a:t>
            </a:r>
            <a:endParaRPr lang="en-GB" sz="1400" dirty="0"/>
          </a:p>
        </p:txBody>
      </p:sp>
      <p:sp>
        <p:nvSpPr>
          <p:cNvPr id="23" name="Shape 23"/>
          <p:cNvSpPr txBox="1"/>
          <p:nvPr/>
        </p:nvSpPr>
        <p:spPr>
          <a:xfrm>
            <a:off x="548640" y="57607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Rules from the slide: keep it short · only ask if it contributes to design · use closed questions · always pilot.</a:t>
            </a:r>
            <a:endParaRPr lang="en-GB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Fix this questionnaire — answers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714500" y="1810512"/>
            <a:ext cx="64236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flaw → fix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377440"/>
            <a:ext cx="310896" cy="310896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100" dirty="0"/>
          </a:p>
        </p:txBody>
      </p:sp>
      <p:sp>
        <p:nvSpPr>
          <p:cNvPr id="14" name="Shape 14"/>
          <p:cNvSpPr/>
          <p:nvPr/>
        </p:nvSpPr>
        <p:spPr>
          <a:xfrm>
            <a:off x="960120" y="228600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595959"/>
                </a:solidFill>
                <a:latin typeface="Arial"/>
                <a:cs typeface="Arial"/>
              </a:rPr>
              <a:t>How often and how easily do you use the hostel portal?</a:t>
            </a:r>
            <a:endParaRPr lang="en-GB" sz="1050" dirty="0"/>
          </a:p>
        </p:txBody>
      </p:sp>
      <p:sp>
        <p:nvSpPr>
          <p:cNvPr id="15" name="Shape 15"/>
          <p:cNvSpPr txBox="1"/>
          <p:nvPr/>
        </p:nvSpPr>
        <p:spPr>
          <a:xfrm>
            <a:off x="3794760" y="2286000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l">
              <a:buNone/>
            </a:pPr>
            <a:r>
              <a:rPr lang="en-GB" sz="1050" b="1" i="0" dirty="0">
                <a:solidFill>
                  <a:srgbClr val="B03A2E"/>
                </a:solidFill>
                <a:latin typeface="Arial"/>
                <a:cs typeface="Arial"/>
              </a:rPr>
              <a:t>Two questions in one</a:t>
            </a:r>
            <a:endParaRPr lang="en-GB" sz="1050" dirty="0"/>
          </a:p>
        </p:txBody>
      </p:sp>
      <p:sp>
        <p:nvSpPr>
          <p:cNvPr id="16" name="Shape 16"/>
          <p:cNvSpPr/>
          <p:nvPr/>
        </p:nvSpPr>
        <p:spPr>
          <a:xfrm>
            <a:off x="5440680" y="2286000"/>
            <a:ext cx="2697480" cy="566928"/>
          </a:xfrm>
          <a:prstGeom prst="rect">
            <a:avLst/>
          </a:prstGeom>
          <a:solidFill>
            <a:srgbClr val="E6EFD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Split: frequency and ease, each on a closed scale</a:t>
            </a:r>
            <a:endParaRPr lang="en-GB" sz="1050" dirty="0"/>
          </a:p>
        </p:txBody>
      </p:sp>
      <p:sp>
        <p:nvSpPr>
          <p:cNvPr id="17" name="Shape 17"/>
          <p:cNvSpPr/>
          <p:nvPr/>
        </p:nvSpPr>
        <p:spPr>
          <a:xfrm>
            <a:off x="548640" y="3054096"/>
            <a:ext cx="310896" cy="310896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100" dirty="0"/>
          </a:p>
        </p:txBody>
      </p:sp>
      <p:sp>
        <p:nvSpPr>
          <p:cNvPr id="18" name="Shape 18"/>
          <p:cNvSpPr/>
          <p:nvPr/>
        </p:nvSpPr>
        <p:spPr>
          <a:xfrm>
            <a:off x="960120" y="296265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595959"/>
                </a:solidFill>
                <a:latin typeface="Arial"/>
                <a:cs typeface="Arial"/>
              </a:rPr>
              <a:t>Age:   ☐ 18–20    ☐ 20–22    ☐ 22+</a:t>
            </a:r>
            <a:endParaRPr lang="en-GB" sz="1050" dirty="0"/>
          </a:p>
        </p:txBody>
      </p:sp>
      <p:sp>
        <p:nvSpPr>
          <p:cNvPr id="19" name="Shape 19"/>
          <p:cNvSpPr txBox="1"/>
          <p:nvPr/>
        </p:nvSpPr>
        <p:spPr>
          <a:xfrm>
            <a:off x="3794760" y="2962656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l">
              <a:buNone/>
            </a:pPr>
            <a:r>
              <a:rPr lang="en-GB" sz="1050" b="1" i="0" dirty="0">
                <a:solidFill>
                  <a:srgbClr val="B03A2E"/>
                </a:solidFill>
                <a:latin typeface="Arial"/>
                <a:cs typeface="Arial"/>
              </a:rPr>
              <a:t>Options overlap; under-18 missing</a:t>
            </a:r>
            <a:endParaRPr lang="en-GB" sz="1050" dirty="0"/>
          </a:p>
        </p:txBody>
      </p:sp>
      <p:sp>
        <p:nvSpPr>
          <p:cNvPr id="20" name="Shape 20"/>
          <p:cNvSpPr/>
          <p:nvPr/>
        </p:nvSpPr>
        <p:spPr>
          <a:xfrm>
            <a:off x="5440680" y="2962656"/>
            <a:ext cx="2697480" cy="566928"/>
          </a:xfrm>
          <a:prstGeom prst="rect">
            <a:avLst/>
          </a:prstGeom>
          <a:solidFill>
            <a:srgbClr val="E6EFD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Under 18 · 18–19 · 20–21 · 22 or over</a:t>
            </a:r>
            <a:endParaRPr lang="en-GB" sz="1050" dirty="0"/>
          </a:p>
        </p:txBody>
      </p:sp>
      <p:sp>
        <p:nvSpPr>
          <p:cNvPr id="21" name="Shape 21"/>
          <p:cNvSpPr/>
          <p:nvPr/>
        </p:nvSpPr>
        <p:spPr>
          <a:xfrm>
            <a:off x="548640" y="3730752"/>
            <a:ext cx="310896" cy="310896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100" dirty="0"/>
          </a:p>
        </p:txBody>
      </p:sp>
      <p:sp>
        <p:nvSpPr>
          <p:cNvPr id="22" name="Shape 22"/>
          <p:cNvSpPr/>
          <p:nvPr/>
        </p:nvSpPr>
        <p:spPr>
          <a:xfrm>
            <a:off x="960120" y="3639312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595959"/>
                </a:solidFill>
                <a:latin typeface="Arial"/>
                <a:cs typeface="Arial"/>
              </a:rPr>
              <a:t>Don’t you agree the new portal is much better?</a:t>
            </a:r>
            <a:endParaRPr lang="en-GB" sz="1050" dirty="0"/>
          </a:p>
        </p:txBody>
      </p:sp>
      <p:sp>
        <p:nvSpPr>
          <p:cNvPr id="23" name="Shape 23"/>
          <p:cNvSpPr txBox="1"/>
          <p:nvPr/>
        </p:nvSpPr>
        <p:spPr>
          <a:xfrm>
            <a:off x="3794760" y="3639312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l">
              <a:buNone/>
            </a:pPr>
            <a:r>
              <a:rPr lang="en-GB" sz="1050" b="1" i="0" dirty="0">
                <a:solidFill>
                  <a:srgbClr val="B03A2E"/>
                </a:solidFill>
                <a:latin typeface="Arial"/>
                <a:cs typeface="Arial"/>
              </a:rPr>
              <a:t>Leading question</a:t>
            </a:r>
            <a:endParaRPr lang="en-GB" sz="1050" dirty="0"/>
          </a:p>
        </p:txBody>
      </p:sp>
      <p:sp>
        <p:nvSpPr>
          <p:cNvPr id="24" name="Shape 24"/>
          <p:cNvSpPr/>
          <p:nvPr/>
        </p:nvSpPr>
        <p:spPr>
          <a:xfrm>
            <a:off x="5440680" y="3639312"/>
            <a:ext cx="2697480" cy="566928"/>
          </a:xfrm>
          <a:prstGeom prst="rect">
            <a:avLst/>
          </a:prstGeom>
          <a:solidFill>
            <a:srgbClr val="E6EFD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“Compared with the old portal, the new one is: much worse … much better”</a:t>
            </a:r>
            <a:endParaRPr lang="en-GB" sz="1050" dirty="0"/>
          </a:p>
        </p:txBody>
      </p:sp>
      <p:sp>
        <p:nvSpPr>
          <p:cNvPr id="25" name="Shape 25"/>
          <p:cNvSpPr/>
          <p:nvPr/>
        </p:nvSpPr>
        <p:spPr>
          <a:xfrm>
            <a:off x="548640" y="4407408"/>
            <a:ext cx="310896" cy="310896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100" dirty="0"/>
          </a:p>
        </p:txBody>
      </p:sp>
      <p:sp>
        <p:nvSpPr>
          <p:cNvPr id="26" name="Shape 26"/>
          <p:cNvSpPr/>
          <p:nvPr/>
        </p:nvSpPr>
        <p:spPr>
          <a:xfrm>
            <a:off x="960120" y="4315968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595959"/>
                </a:solidFill>
                <a:latin typeface="Arial"/>
                <a:cs typeface="Arial"/>
              </a:rPr>
              <a:t>What is your favourite colour?</a:t>
            </a:r>
            <a:endParaRPr lang="en-GB" sz="1050" dirty="0"/>
          </a:p>
        </p:txBody>
      </p:sp>
      <p:sp>
        <p:nvSpPr>
          <p:cNvPr id="27" name="Shape 27"/>
          <p:cNvSpPr txBox="1"/>
          <p:nvPr/>
        </p:nvSpPr>
        <p:spPr>
          <a:xfrm>
            <a:off x="3794760" y="4315968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l">
              <a:buNone/>
            </a:pPr>
            <a:r>
              <a:rPr lang="en-GB" sz="1050" b="1" i="0" dirty="0">
                <a:solidFill>
                  <a:srgbClr val="B03A2E"/>
                </a:solidFill>
                <a:latin typeface="Arial"/>
                <a:cs typeface="Arial"/>
              </a:rPr>
              <a:t>Does not contribute to design</a:t>
            </a:r>
            <a:endParaRPr lang="en-GB" sz="1050" dirty="0"/>
          </a:p>
        </p:txBody>
      </p:sp>
      <p:sp>
        <p:nvSpPr>
          <p:cNvPr id="28" name="Shape 28"/>
          <p:cNvSpPr/>
          <p:nvPr/>
        </p:nvSpPr>
        <p:spPr>
          <a:xfrm>
            <a:off x="5440680" y="4315968"/>
            <a:ext cx="2697480" cy="566928"/>
          </a:xfrm>
          <a:prstGeom prst="rect">
            <a:avLst/>
          </a:prstGeom>
          <a:solidFill>
            <a:srgbClr val="E6EFD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Delete it</a:t>
            </a:r>
            <a:endParaRPr lang="en-GB" sz="1050" dirty="0"/>
          </a:p>
        </p:txBody>
      </p:sp>
      <p:sp>
        <p:nvSpPr>
          <p:cNvPr id="29" name="Shape 29"/>
          <p:cNvSpPr/>
          <p:nvPr/>
        </p:nvSpPr>
        <p:spPr>
          <a:xfrm>
            <a:off x="548640" y="5084064"/>
            <a:ext cx="310896" cy="310896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GB" sz="1100" dirty="0"/>
          </a:p>
        </p:txBody>
      </p:sp>
      <p:sp>
        <p:nvSpPr>
          <p:cNvPr id="30" name="Shape 30"/>
          <p:cNvSpPr/>
          <p:nvPr/>
        </p:nvSpPr>
        <p:spPr>
          <a:xfrm>
            <a:off x="960120" y="4992624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595959"/>
                </a:solidFill>
                <a:latin typeface="Arial"/>
                <a:cs typeface="Arial"/>
              </a:rPr>
              <a:t>Describe your experience with the system.</a:t>
            </a:r>
            <a:endParaRPr lang="en-GB" sz="1050" dirty="0"/>
          </a:p>
        </p:txBody>
      </p:sp>
      <p:sp>
        <p:nvSpPr>
          <p:cNvPr id="31" name="Shape 31"/>
          <p:cNvSpPr txBox="1"/>
          <p:nvPr/>
        </p:nvSpPr>
        <p:spPr>
          <a:xfrm>
            <a:off x="3794760" y="4992624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l">
              <a:buNone/>
            </a:pPr>
            <a:r>
              <a:rPr lang="en-GB" sz="1050" b="1" i="0" dirty="0">
                <a:solidFill>
                  <a:srgbClr val="B03A2E"/>
                </a:solidFill>
                <a:latin typeface="Arial"/>
                <a:cs typeface="Arial"/>
              </a:rPr>
              <a:t>Open question — hard to analyse</a:t>
            </a:r>
            <a:endParaRPr lang="en-GB" sz="1050" dirty="0"/>
          </a:p>
        </p:txBody>
      </p:sp>
      <p:sp>
        <p:nvSpPr>
          <p:cNvPr id="32" name="Shape 32"/>
          <p:cNvSpPr/>
          <p:nvPr/>
        </p:nvSpPr>
        <p:spPr>
          <a:xfrm>
            <a:off x="5440680" y="4992624"/>
            <a:ext cx="2697480" cy="566928"/>
          </a:xfrm>
          <a:prstGeom prst="rect">
            <a:avLst/>
          </a:prstGeom>
          <a:solidFill>
            <a:srgbClr val="E6EFD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A closed rating, plus one optional comment box</a:t>
            </a:r>
            <a:endParaRPr lang="en-GB" sz="1050" dirty="0"/>
          </a:p>
        </p:txBody>
      </p:sp>
      <p:sp>
        <p:nvSpPr>
          <p:cNvPr id="33" name="Shape 33"/>
          <p:cNvSpPr txBox="1"/>
          <p:nvPr/>
        </p:nvSpPr>
        <p:spPr>
          <a:xfrm>
            <a:off x="548640" y="57607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Rules from the slide: keep it short · only ask if it contributes to design · use closed questions · always pilot.</a:t>
            </a:r>
            <a:endParaRPr lang="en-GB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 xml:space="preserve">Sample Technique: </a:t>
            </a:r>
            <a:r>
              <a:rPr lang="en-GB" sz="2800" dirty="0">
                <a:solidFill>
                  <a:srgbClr val="3C8C93"/>
                </a:solidFill>
              </a:rPr>
              <a:t xml:space="preserve">A step by Step procedure to get </a:t>
            </a:r>
            <a:r>
              <a:rPr lang="en-GB" sz="2800" dirty="0">
                <a:solidFill>
                  <a:srgbClr val="3C8C93"/>
                </a:solidFill>
              </a:rPr>
              <a:t>user profile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22579" indent="-322579">
              <a:buFontTx/>
              <a:buChar char="•"/>
            </a:pPr>
            <a:r>
              <a:rPr lang="en-GB" sz="2260" dirty="0"/>
              <a:t>There are two main ways to get user profile</a:t>
            </a:r>
          </a:p>
          <a:p>
            <a:pPr marL="698500" indent="-269240">
              <a:buFontTx/>
              <a:buChar char="–"/>
            </a:pPr>
            <a:r>
              <a:rPr lang="en-GB" sz="1880" dirty="0"/>
              <a:t>Questionnaires distributed to actual users</a:t>
            </a:r>
          </a:p>
          <a:p>
            <a:pPr marL="698500" indent="-269240">
              <a:buFontTx/>
              <a:buChar char="–"/>
            </a:pPr>
            <a:r>
              <a:rPr lang="en-GB" sz="1880" dirty="0"/>
              <a:t xml:space="preserve">Interview with the people knowledgeable about the </a:t>
            </a:r>
            <a:r>
              <a:rPr lang="en-GB" sz="1880" dirty="0"/>
              <a:t>whole population of users</a:t>
            </a:r>
          </a:p>
          <a:p>
            <a:pPr marL="322579" indent="-322579">
              <a:buFontTx/>
              <a:buChar char="•"/>
            </a:pPr>
            <a:r>
              <a:rPr lang="en-GB" sz="2260" dirty="0"/>
              <a:t>1. Determine user Categories</a:t>
            </a:r>
          </a:p>
          <a:p>
            <a:pPr marL="698500" indent="-269240">
              <a:buFontTx/>
              <a:buChar char="–"/>
            </a:pPr>
            <a:r>
              <a:rPr lang="en-GB" sz="1880" dirty="0"/>
              <a:t>Determine who the intended users for a product are</a:t>
            </a:r>
          </a:p>
          <a:p>
            <a:pPr marL="698500" indent="-269240">
              <a:buFontTx/>
              <a:buChar char="–"/>
            </a:pPr>
            <a:r>
              <a:rPr lang="en-GB" sz="1880" dirty="0"/>
              <a:t xml:space="preserve">Often they fall into already defined categories i.e </a:t>
            </a:r>
            <a:r>
              <a:rPr lang="en-GB" sz="1880" dirty="0"/>
              <a:t>Doctors, nurse, technicians, IT Experts etc.</a:t>
            </a:r>
          </a:p>
          <a:p>
            <a:pPr marL="698500" indent="-269240">
              <a:buFontTx/>
              <a:buChar char="–"/>
            </a:pPr>
            <a:r>
              <a:rPr lang="en-GB" sz="1880" dirty="0"/>
              <a:t>What kind of development organization you work in</a:t>
            </a:r>
          </a:p>
          <a:p>
            <a:pPr marL="1074420" indent="-214630">
              <a:buFontTx/>
              <a:buChar char="•"/>
            </a:pPr>
            <a:r>
              <a:rPr lang="en-GB" sz="1690" dirty="0"/>
              <a:t xml:space="preserve">Internal Dev. Organization have a definition of users, </a:t>
            </a:r>
            <a:r>
              <a:rPr lang="en-GB" sz="1690" dirty="0"/>
              <a:t>usually by job category.</a:t>
            </a:r>
          </a:p>
          <a:p>
            <a:pPr marL="698500" indent="-269240">
              <a:buFontTx/>
              <a:buChar char="–"/>
            </a:pPr>
            <a:r>
              <a:rPr lang="en-GB" sz="1880" dirty="0"/>
              <a:t>For Vendor company, identifying users is a bit trickier.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Continue…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•"/>
            </a:pPr>
            <a:r>
              <a:rPr lang="en-GB" sz="2400" dirty="0"/>
              <a:t>2. Determine Relevant user Characteristics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Start wit the Questionnaire and hold meeting with </a:t>
            </a:r>
            <a:r>
              <a:rPr lang="en-GB" sz="2000" dirty="0"/>
              <a:t xml:space="preserve">appropriate project team members, UI designers and </a:t>
            </a:r>
            <a:r>
              <a:rPr lang="en-GB" sz="2000" dirty="0"/>
              <a:t>Usability Engineer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Gather input on user characteristics that should be </a:t>
            </a:r>
            <a:r>
              <a:rPr lang="en-GB" sz="2000" dirty="0"/>
              <a:t>polled in user profile</a:t>
            </a:r>
          </a:p>
          <a:p>
            <a:pPr marL="342900" indent="-342900">
              <a:buFontTx/>
              <a:buChar char="•"/>
            </a:pPr>
            <a:r>
              <a:rPr lang="en-GB" sz="2400" dirty="0"/>
              <a:t>3. Develop Draft Questionnaire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Revise and Expand questionnaire to tailor it to </a:t>
            </a:r>
            <a:r>
              <a:rPr lang="en-GB" sz="2000" dirty="0"/>
              <a:t>specific organization or project needs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Write an introduction explaining the purpose and </a:t>
            </a:r>
            <a:r>
              <a:rPr lang="en-GB" sz="2000" dirty="0"/>
              <a:t>benefits of questionnaire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•"/>
            </a:pPr>
            <a:r>
              <a:rPr lang="en-GB" sz="2400" dirty="0"/>
              <a:t>4. Get Management feedback on the draft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You will need management’s input and approval on </a:t>
            </a:r>
            <a:r>
              <a:rPr lang="en-GB" sz="2000" dirty="0"/>
              <a:t>your draft questionnaire</a:t>
            </a:r>
          </a:p>
          <a:p>
            <a:pPr marL="0" indent="0">
              <a:buNone/>
            </a:pPr>
            <a:endParaRPr lang="en-GB" sz="2400" dirty="0"/>
          </a:p>
          <a:p>
            <a:pPr marL="342900" indent="-342900">
              <a:buFontTx/>
              <a:buChar char="•"/>
            </a:pPr>
            <a:r>
              <a:rPr lang="en-GB" sz="2400" dirty="0"/>
              <a:t>5. Revise the Questionnaire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To incorporate management feedback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•"/>
            </a:pPr>
            <a:r>
              <a:rPr lang="en-GB" sz="2400" dirty="0"/>
              <a:t xml:space="preserve">6. Conduct a pilot questionnaire with </a:t>
            </a:r>
            <a:r>
              <a:rPr lang="en-GB" sz="2400" dirty="0"/>
              <a:t>interviews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Conduct a mockup interviews with other members of </a:t>
            </a:r>
            <a:r>
              <a:rPr lang="en-GB" sz="2000" dirty="0"/>
              <a:t>organization or respondent users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Go through each question and check for clarity of </a:t>
            </a:r>
            <a:r>
              <a:rPr lang="en-GB" sz="2000" dirty="0"/>
              <a:t>wording, completeness, mutual exclusivity of MCQs.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•"/>
            </a:pPr>
            <a:r>
              <a:rPr lang="en-GB" sz="2400" dirty="0"/>
              <a:t>7. Revise the Questionnaire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Revise to incorporate interview feedback</a:t>
            </a:r>
          </a:p>
          <a:p>
            <a:pPr marL="342900" indent="-342900">
              <a:buFontTx/>
              <a:buChar char="•"/>
            </a:pPr>
            <a:r>
              <a:rPr lang="en-GB" sz="2400" dirty="0"/>
              <a:t>8. Select a user sample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Response rate to mailed questionnaires is about 10%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This percentage increase if questionnaire is attached </a:t>
            </a:r>
            <a:r>
              <a:rPr lang="en-GB" sz="2000" dirty="0"/>
              <a:t xml:space="preserve">with proper cover letter signed by higher authority in </a:t>
            </a:r>
            <a:r>
              <a:rPr lang="en-GB" sz="2000" dirty="0"/>
              <a:t>an organization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Decide to send to equal numbers of each known, </a:t>
            </a:r>
            <a:r>
              <a:rPr lang="en-GB" sz="2000" dirty="0"/>
              <a:t>significant user category.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•"/>
            </a:pPr>
            <a:r>
              <a:rPr lang="en-GB" sz="2400" dirty="0"/>
              <a:t>9. Distribute the Questionnaires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Use interoffice mail, regular mail or email to </a:t>
            </a:r>
            <a:r>
              <a:rPr lang="en-GB" sz="2000" dirty="0"/>
              <a:t>distribute questionnaires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Give clear return deadline</a:t>
            </a:r>
          </a:p>
          <a:p>
            <a:pPr marL="342900" indent="-342900">
              <a:buFontTx/>
              <a:buChar char="•"/>
            </a:pPr>
            <a:r>
              <a:rPr lang="en-GB" sz="2400" dirty="0"/>
              <a:t>10. Design data entry/analysis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Plan to collate and summarize any free-form </a:t>
            </a:r>
            <a:r>
              <a:rPr lang="en-GB" sz="2000" dirty="0"/>
              <a:t>comments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And plan to use spreadsheet, statistics packages or </a:t>
            </a:r>
            <a:r>
              <a:rPr lang="en-GB" sz="2000" dirty="0"/>
              <a:t>simple pen and paper to aggregate information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39090" indent="-339090">
              <a:buFontTx/>
              <a:buChar char="•"/>
            </a:pPr>
            <a:r>
              <a:rPr lang="en-GB" sz="2380" dirty="0"/>
              <a:t>11. Enter Data</a:t>
            </a:r>
          </a:p>
          <a:p>
            <a:pPr marL="735329" indent="-283209">
              <a:buFontTx/>
              <a:buChar char="–"/>
            </a:pPr>
            <a:r>
              <a:rPr lang="en-GB" sz="1980" dirty="0"/>
              <a:t>As questionnaires are received, enter data as planned</a:t>
            </a:r>
          </a:p>
          <a:p>
            <a:pPr marL="339090" indent="-339090">
              <a:buFontTx/>
              <a:buChar char="•"/>
            </a:pPr>
            <a:r>
              <a:rPr lang="en-GB" sz="2380" dirty="0"/>
              <a:t>12. Summarize Data</a:t>
            </a:r>
          </a:p>
          <a:p>
            <a:pPr marL="735329" indent="-283209">
              <a:buFontTx/>
              <a:buChar char="–"/>
            </a:pPr>
            <a:r>
              <a:rPr lang="en-GB" sz="1980" dirty="0"/>
              <a:t xml:space="preserve">When all questionnaires are returned by deadline, </a:t>
            </a:r>
            <a:r>
              <a:rPr lang="en-GB" sz="1980" dirty="0"/>
              <a:t>analyze data as planned</a:t>
            </a:r>
          </a:p>
          <a:p>
            <a:pPr marL="339090" indent="-339090">
              <a:buFontTx/>
              <a:buChar char="•"/>
            </a:pPr>
            <a:r>
              <a:rPr lang="en-GB" sz="2380" dirty="0"/>
              <a:t>13. Interpret Data</a:t>
            </a:r>
          </a:p>
          <a:p>
            <a:pPr marL="735329" indent="-283209">
              <a:buFontTx/>
              <a:buChar char="–"/>
            </a:pPr>
            <a:r>
              <a:rPr lang="en-GB" sz="1980" dirty="0"/>
              <a:t xml:space="preserve">Write a short (several pages) summary providing a </a:t>
            </a:r>
            <a:r>
              <a:rPr lang="en-GB" sz="1980" dirty="0"/>
              <a:t xml:space="preserve">synopsis of the key characteristics of each user </a:t>
            </a:r>
            <a:r>
              <a:rPr lang="en-GB" sz="1980" dirty="0"/>
              <a:t xml:space="preserve">category and draw specific implications for user </a:t>
            </a:r>
            <a:r>
              <a:rPr lang="en-GB" sz="1980" dirty="0"/>
              <a:t>interface design</a:t>
            </a:r>
          </a:p>
          <a:p>
            <a:pPr marL="735329" indent="-283209">
              <a:buFontTx/>
              <a:buChar char="–"/>
            </a:pPr>
            <a:r>
              <a:rPr lang="en-GB" sz="1980" dirty="0"/>
              <a:t>Do not make assumptions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•"/>
            </a:pPr>
            <a:r>
              <a:rPr lang="en-GB" sz="2400" dirty="0"/>
              <a:t>14. Present Results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Distribute the narrative conclusion and design </a:t>
            </a:r>
            <a:r>
              <a:rPr lang="en-GB" sz="2000" dirty="0"/>
              <a:t xml:space="preserve">implications, with data summary form as an </a:t>
            </a:r>
            <a:r>
              <a:rPr lang="en-GB" sz="2000" dirty="0"/>
              <a:t>appendix, to all interested parties.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Level Of Effort</a:t>
            </a: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286000" y="1536700"/>
            <a:ext cx="3987800" cy="45593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Quick calc: how many questionnaires?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333399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QUIZ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527048" y="1810512"/>
            <a:ext cx="6611112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2 min · alone, on paper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7589520" cy="6858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37160" tIns="137160" rIns="137160" bIns="137160" anchor="ctr" rtlCol="0">
            <a:noAutofit/>
          </a:bodyPr>
          <a:lstStyle/>
          <a:p>
            <a:pPr algn="l">
              <a:buNone/>
            </a:pPr>
            <a:r>
              <a:rPr lang="en-GB" sz="1400" b="1" i="0" dirty="0">
                <a:solidFill>
                  <a:srgbClr val="2D2D8A"/>
                </a:solidFill>
                <a:latin typeface="Arial"/>
                <a:cs typeface="Arial"/>
              </a:rPr>
              <a:t xml:space="preserve">Scenario: </a:t>
            </a: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you need about 30 usable replies from each of 3 user categories (students, teachers, admin staff).</a:t>
            </a:r>
            <a:endParaRPr lang="en-GB" sz="1400" dirty="0"/>
          </a:p>
        </p:txBody>
      </p:sp>
      <p:sp>
        <p:nvSpPr>
          <p:cNvPr id="14" name="Shape 14"/>
          <p:cNvSpPr/>
          <p:nvPr/>
        </p:nvSpPr>
        <p:spPr>
          <a:xfrm>
            <a:off x="548640" y="3154680"/>
            <a:ext cx="3703320" cy="13716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28016" tIns="128016" rIns="128016" bIns="128016" anchor="t" rtlCol="0">
            <a:noAutofit/>
          </a:bodyPr>
          <a:lstStyle/>
          <a:p>
            <a:pPr algn="l">
              <a:buNone/>
            </a:pPr>
            <a:r>
              <a:rPr lang="en-GB" sz="1250" b="1" i="0" dirty="0">
                <a:solidFill>
                  <a:srgbClr val="2D2D8A"/>
                </a:solidFill>
                <a:latin typeface="Arial"/>
                <a:cs typeface="Arial"/>
              </a:rPr>
              <a:t>Step 8 says</a:t>
            </a:r>
            <a:endParaRPr lang="en-GB" sz="1250" dirty="0"/>
          </a:p>
          <a:p>
            <a:pPr algn="l">
              <a:spcBef>
                <a:spcPts val="400"/>
              </a:spcBef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Mailed questionnaires: about 10% come back.</a:t>
            </a:r>
            <a:endParaRPr lang="en-GB" sz="1250" dirty="0"/>
          </a:p>
          <a:p>
            <a:pPr algn="l">
              <a:spcBef>
                <a:spcPts val="400"/>
              </a:spcBef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Send equal numbers to each significant user category.</a:t>
            </a:r>
            <a:endParaRPr lang="en-GB" sz="1250" dirty="0"/>
          </a:p>
        </p:txBody>
      </p:sp>
      <p:sp>
        <p:nvSpPr>
          <p:cNvPr id="15" name="Shape 15"/>
          <p:cNvSpPr/>
          <p:nvPr/>
        </p:nvSpPr>
        <p:spPr>
          <a:xfrm>
            <a:off x="4434840" y="3154680"/>
            <a:ext cx="3703320" cy="1371600"/>
          </a:xfrm>
          <a:prstGeom prst="roundRect">
            <a:avLst>
              <a:gd name="adj" fmla="val 8000"/>
            </a:avLst>
          </a:prstGeom>
          <a:solidFill>
            <a:srgbClr val="F5ECD9"/>
          </a:solidFill>
          <a:ln w="12700">
            <a:solidFill>
              <a:srgbClr val="9DB8BC"/>
            </a:solidFill>
          </a:ln>
        </p:spPr>
        <p:txBody>
          <a:bodyPr wrap="square" lIns="128016" tIns="128016" rIns="128016" bIns="128016" anchor="ctr" rtlCol="0">
            <a:noAutofit/>
          </a:bodyPr>
          <a:lstStyle/>
          <a:p>
            <a:pPr algn="l">
              <a:buNone/>
            </a:pPr>
            <a:r>
              <a:rPr lang="en-GB" sz="1500" b="1" i="0" dirty="0">
                <a:solidFill>
                  <a:srgbClr val="2D2D8A"/>
                </a:solidFill>
                <a:latin typeface="Arial"/>
                <a:cs typeface="Arial"/>
              </a:rPr>
              <a:t>How many questionnaires do you send in total?</a:t>
            </a:r>
            <a:endParaRPr lang="en-GB" sz="1250" dirty="0"/>
          </a:p>
          <a:p>
            <a:pPr algn="l">
              <a:spcBef>
                <a:spcPts val="600"/>
              </a:spcBef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Write the calculation, not just the number.</a:t>
            </a:r>
            <a:endParaRPr lang="en-GB" sz="12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Quick calc: how many questionnaires? — answer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714500" y="1810512"/>
            <a:ext cx="64236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step 8 in numbers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7589520" cy="6858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37160" tIns="137160" rIns="137160" bIns="137160" anchor="ctr" rtlCol="0">
            <a:noAutofit/>
          </a:bodyPr>
          <a:lstStyle/>
          <a:p>
            <a:pPr algn="l">
              <a:buNone/>
            </a:pPr>
            <a:r>
              <a:rPr lang="en-GB" sz="1400" b="1" i="0" dirty="0">
                <a:solidFill>
                  <a:srgbClr val="2D2D8A"/>
                </a:solidFill>
                <a:latin typeface="Arial"/>
                <a:cs typeface="Arial"/>
              </a:rPr>
              <a:t xml:space="preserve">Scenario: </a:t>
            </a: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you need about 30 usable replies from each of 3 user categories (students, teachers, admin staff).</a:t>
            </a:r>
            <a:endParaRPr lang="en-GB" sz="1400" dirty="0"/>
          </a:p>
        </p:txBody>
      </p:sp>
      <p:sp>
        <p:nvSpPr>
          <p:cNvPr id="14" name="Shape 14"/>
          <p:cNvSpPr/>
          <p:nvPr/>
        </p:nvSpPr>
        <p:spPr>
          <a:xfrm>
            <a:off x="548640" y="3154680"/>
            <a:ext cx="3703320" cy="13716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28016" tIns="128016" rIns="128016" bIns="128016" anchor="t" rtlCol="0">
            <a:noAutofit/>
          </a:bodyPr>
          <a:lstStyle/>
          <a:p>
            <a:pPr algn="l">
              <a:buNone/>
            </a:pPr>
            <a:r>
              <a:rPr lang="en-GB" sz="1250" b="1" i="0" dirty="0">
                <a:solidFill>
                  <a:srgbClr val="2D2D8A"/>
                </a:solidFill>
                <a:latin typeface="Arial"/>
                <a:cs typeface="Arial"/>
              </a:rPr>
              <a:t>Step 8 says</a:t>
            </a:r>
            <a:endParaRPr lang="en-GB" sz="1250" dirty="0"/>
          </a:p>
          <a:p>
            <a:pPr algn="l">
              <a:spcBef>
                <a:spcPts val="400"/>
              </a:spcBef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Mailed questionnaires: about 10% come back.</a:t>
            </a:r>
            <a:endParaRPr lang="en-GB" sz="1250" dirty="0"/>
          </a:p>
          <a:p>
            <a:pPr algn="l">
              <a:spcBef>
                <a:spcPts val="400"/>
              </a:spcBef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Send equal numbers to each significant user category.</a:t>
            </a:r>
            <a:endParaRPr lang="en-GB" sz="1250" dirty="0"/>
          </a:p>
        </p:txBody>
      </p:sp>
      <p:sp>
        <p:nvSpPr>
          <p:cNvPr id="15" name="Shape 15"/>
          <p:cNvSpPr/>
          <p:nvPr/>
        </p:nvSpPr>
        <p:spPr>
          <a:xfrm>
            <a:off x="4434840" y="3154680"/>
            <a:ext cx="3703320" cy="1371600"/>
          </a:xfrm>
          <a:prstGeom prst="roundRect">
            <a:avLst>
              <a:gd name="adj" fmla="val 8000"/>
            </a:avLst>
          </a:prstGeom>
          <a:solidFill>
            <a:srgbClr val="E6EFD9"/>
          </a:solidFill>
          <a:ln w="12700">
            <a:solidFill>
              <a:srgbClr val="9DB8BC"/>
            </a:solidFill>
          </a:ln>
        </p:spPr>
        <p:txBody>
          <a:bodyPr wrap="square" lIns="128016" tIns="128016" rIns="128016" bIns="128016" anchor="ctr" rtlCol="0">
            <a:noAutofit/>
          </a:bodyPr>
          <a:lstStyle/>
          <a:p>
            <a:pPr algn="l">
              <a:buNone/>
            </a:pPr>
            <a:r>
              <a:rPr lang="en-GB" sz="1500" b="1" i="0" dirty="0">
                <a:solidFill>
                  <a:srgbClr val="4E7A12"/>
                </a:solidFill>
                <a:latin typeface="Arial"/>
                <a:cs typeface="Arial"/>
              </a:rPr>
              <a:t>30 ÷ 0.10 = 300 per category</a:t>
            </a:r>
            <a:endParaRPr lang="en-GB" sz="1250" dirty="0"/>
          </a:p>
          <a:p>
            <a:pPr algn="l">
              <a:spcBef>
                <a:spcPts val="600"/>
              </a:spcBef>
              <a:buNone/>
            </a:pPr>
            <a:r>
              <a:rPr lang="en-GB" sz="1500" b="1" i="0" dirty="0">
                <a:solidFill>
                  <a:srgbClr val="1A1A1A"/>
                </a:solidFill>
                <a:latin typeface="Arial"/>
                <a:cs typeface="Arial"/>
              </a:rPr>
              <a:t>× 3 categories = 900 questionnaires</a:t>
            </a:r>
            <a:endParaRPr lang="en-GB" sz="1250" dirty="0"/>
          </a:p>
        </p:txBody>
      </p:sp>
      <p:sp>
        <p:nvSpPr>
          <p:cNvPr id="16" name="Shape 16"/>
          <p:cNvSpPr/>
          <p:nvPr/>
        </p:nvSpPr>
        <p:spPr>
          <a:xfrm>
            <a:off x="548640" y="4709160"/>
            <a:ext cx="7589520" cy="86868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28016" tIns="128016" rIns="128016" bIns="128016" anchor="ctr" rtlCol="0">
            <a:noAutofit/>
          </a:bodyPr>
          <a:lstStyle/>
          <a:p>
            <a:pPr algn="l">
              <a:buNone/>
            </a:pPr>
            <a:r>
              <a:rPr lang="en-GB" sz="1250" b="1" i="0" dirty="0">
                <a:solidFill>
                  <a:srgbClr val="2D2D8A"/>
                </a:solidFill>
                <a:latin typeface="Arial"/>
                <a:cs typeface="Arial"/>
              </a:rPr>
              <a:t xml:space="preserve">And the effort? </a:t>
            </a: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Mayhew’s level-of-effort table totals 140 hours ≈ 3½ working weeks for one analyst. A cover letter signed by someone senior raises the return rate.</a:t>
            </a:r>
            <a:endParaRPr lang="en-GB" sz="12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Reference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•"/>
            </a:pPr>
            <a:r>
              <a:rPr lang="en-GB" sz="2400" dirty="0"/>
              <a:t xml:space="preserve">The Usability Engineering Lifecycle by Deborah </a:t>
            </a:r>
            <a:r>
              <a:rPr lang="en-GB" sz="2400" dirty="0"/>
              <a:t>J.Mayhew, Chapter 02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10-minute break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824228" cy="310896"/>
          </a:xfrm>
          <a:prstGeom prst="roundRect">
            <a:avLst>
              <a:gd name="adj" fmla="val 50000"/>
            </a:avLst>
          </a:prstGeom>
          <a:solidFill>
            <a:srgbClr val="2D2D8A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HOW TODAY WORKS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2482596" y="1810512"/>
            <a:ext cx="565556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back in 10 minutes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377440"/>
            <a:ext cx="7589520" cy="146304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82880" tIns="182880" rIns="182880" bIns="182880" anchor="ctr" rtlCol="0">
            <a:noAutofit/>
          </a:bodyPr>
          <a:lstStyle/>
          <a:p>
            <a:pPr algn="l">
              <a:buNone/>
            </a:pPr>
            <a:r>
              <a:rPr lang="en-GB" sz="1500" b="1" i="0" dirty="0">
                <a:solidFill>
                  <a:srgbClr val="2D2D8A"/>
                </a:solidFill>
                <a:latin typeface="Arial"/>
                <a:cs typeface="Arial"/>
              </a:rPr>
              <a:t xml:space="preserve">Part A done: </a:t>
            </a:r>
            <a:r>
              <a:rPr lang="en-GB" sz="1500" b="0" i="0" dirty="0">
                <a:solidFill>
                  <a:srgbClr val="1A1A1A"/>
                </a:solidFill>
                <a:latin typeface="Arial"/>
                <a:cs typeface="Arial"/>
              </a:rPr>
              <a:t>who the users are, where they work, how often and how urgently — and how to gather that data.</a:t>
            </a:r>
            <a:endParaRPr lang="en-GB" sz="1500" dirty="0"/>
          </a:p>
          <a:p>
            <a:pPr algn="l">
              <a:spcBef>
                <a:spcPts val="800"/>
              </a:spcBef>
              <a:buNone/>
            </a:pPr>
            <a:r>
              <a:rPr lang="en-GB" sz="1500" b="1" i="0" dirty="0">
                <a:solidFill>
                  <a:srgbClr val="2D2D8A"/>
                </a:solidFill>
                <a:latin typeface="Arial"/>
                <a:cs typeface="Arial"/>
              </a:rPr>
              <a:t xml:space="preserve">Part B next: </a:t>
            </a:r>
            <a:r>
              <a:rPr lang="en-GB" sz="1500" b="0" i="0" dirty="0">
                <a:solidFill>
                  <a:srgbClr val="1A1A1A"/>
                </a:solidFill>
                <a:latin typeface="Arial"/>
                <a:cs typeface="Arial"/>
              </a:rPr>
              <a:t>task analysis — what users do, what they act on, and what they need to know.</a:t>
            </a:r>
            <a:endParaRPr lang="en-GB" sz="15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How you will define Usability?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>
          <a:xfrm>
            <a:off x="685800" y="2122170"/>
            <a:ext cx="7772400" cy="4227830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/>
              <a:t xml:space="preserve">•How easy to learn the user interface is for </a:t>
            </a:r>
            <a:r>
              <a:rPr lang="en-GB" sz="2400" dirty="0"/>
              <a:t>novice and casual users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FontTx/>
              <a:buChar char="•"/>
            </a:pPr>
            <a:r>
              <a:rPr lang="en-GB" sz="2400" dirty="0"/>
              <a:t xml:space="preserve">How easy to use (Efficient, flexible, Powerful) </a:t>
            </a:r>
            <a:r>
              <a:rPr lang="en-GB" sz="2400" dirty="0"/>
              <a:t xml:space="preserve">the user interface is for frequent and proficient </a:t>
            </a:r>
            <a:r>
              <a:rPr lang="en-GB" sz="2400" dirty="0"/>
              <a:t xml:space="preserve">users, after they have mastered the initial </a:t>
            </a:r>
            <a:r>
              <a:rPr lang="en-GB" sz="2400" dirty="0"/>
              <a:t>learning of the interface.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 xml:space="preserve">•Usability is achieved through a process called </a:t>
            </a:r>
            <a:r>
              <a:rPr lang="en-GB" sz="2400" b="1" dirty="0"/>
              <a:t>Usability Engineering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 xml:space="preserve">Benefits of more usable or user friendly </a:t>
            </a:r>
            <a:r>
              <a:rPr lang="en-GB" sz="3600" dirty="0"/>
              <a:t>products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>
          <a:xfrm>
            <a:off x="685800" y="1791970"/>
            <a:ext cx="7772400" cy="4558030"/>
          </a:xfrm>
        </p:spPr>
        <p:txBody>
          <a:bodyPr/>
          <a:lstStyle/>
          <a:p>
            <a:pPr marL="342900" indent="-342900">
              <a:buFontTx/>
              <a:buChar char="•"/>
            </a:pPr>
            <a:r>
              <a:rPr lang="en-GB" sz="2000" dirty="0"/>
              <a:t xml:space="preserve">Increased productivity </a:t>
            </a:r>
          </a:p>
          <a:p>
            <a:pPr marL="342900" indent="-342900">
              <a:buFontTx/>
              <a:buChar char="•"/>
            </a:pPr>
            <a:r>
              <a:rPr lang="en-GB" sz="2000" dirty="0"/>
              <a:t>Decreased user training time and cost</a:t>
            </a:r>
          </a:p>
          <a:p>
            <a:pPr marL="342900" indent="-342900">
              <a:buFontTx/>
              <a:buChar char="•"/>
            </a:pPr>
            <a:r>
              <a:rPr lang="en-GB" sz="2000" dirty="0"/>
              <a:t>Decreased user errors</a:t>
            </a:r>
          </a:p>
          <a:p>
            <a:pPr marL="342900" indent="-342900">
              <a:buFontTx/>
              <a:buChar char="•"/>
            </a:pPr>
            <a:r>
              <a:rPr lang="en-GB" sz="2000" dirty="0"/>
              <a:t>Increased accuracy of data input and data interpretation</a:t>
            </a:r>
          </a:p>
          <a:p>
            <a:pPr marL="342900" indent="-342900">
              <a:buFontTx/>
              <a:buChar char="•"/>
            </a:pPr>
            <a:r>
              <a:rPr lang="en-GB" sz="2000" dirty="0"/>
              <a:t>Decreased need for ongoing technical support</a:t>
            </a:r>
          </a:p>
          <a:p>
            <a:pPr marL="342900" indent="-342900">
              <a:buFontTx/>
              <a:buChar char="•"/>
            </a:pPr>
            <a:r>
              <a:rPr lang="en-GB" sz="2000" dirty="0"/>
              <a:t xml:space="preserve">Greater profits due to more competitive </a:t>
            </a:r>
            <a:r>
              <a:rPr lang="en-GB" sz="2000" dirty="0"/>
              <a:t>products/services</a:t>
            </a:r>
          </a:p>
          <a:p>
            <a:pPr marL="342900" indent="-342900">
              <a:buFontTx/>
              <a:buChar char="•"/>
            </a:pPr>
            <a:r>
              <a:rPr lang="en-GB" sz="2000" dirty="0"/>
              <a:t xml:space="preserve">Decreased overall development and maintenances </a:t>
            </a:r>
            <a:r>
              <a:rPr lang="en-GB" sz="2000" dirty="0"/>
              <a:t>costs</a:t>
            </a:r>
          </a:p>
          <a:p>
            <a:pPr marL="342900" indent="-342900">
              <a:buFontTx/>
              <a:buChar char="•"/>
            </a:pPr>
            <a:r>
              <a:rPr lang="en-GB" sz="2000" dirty="0"/>
              <a:t>More Follow-on business due to satisfied customers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Usability Engineering Lifecycle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•"/>
            </a:pPr>
            <a:r>
              <a:rPr lang="en-GB" sz="2800" dirty="0"/>
              <a:t>Phase 1</a:t>
            </a:r>
          </a:p>
          <a:p>
            <a:pPr marL="742950" indent="-285750">
              <a:buFontTx/>
              <a:buChar char="–"/>
            </a:pPr>
            <a:r>
              <a:rPr lang="en-GB" sz="2400" dirty="0"/>
              <a:t xml:space="preserve">User Profile </a:t>
            </a:r>
          </a:p>
          <a:p>
            <a:pPr marL="742950" indent="-285750">
              <a:buFontTx/>
              <a:buChar char="–"/>
            </a:pPr>
            <a:r>
              <a:rPr lang="en-GB" sz="2400" dirty="0"/>
              <a:t>Contextual Task Analyses</a:t>
            </a:r>
          </a:p>
          <a:p>
            <a:pPr marL="742950" indent="-285750">
              <a:buFontTx/>
              <a:buChar char="–"/>
            </a:pPr>
            <a:r>
              <a:rPr lang="en-GB" sz="2400" dirty="0"/>
              <a:t>Usability Goal Setting</a:t>
            </a:r>
          </a:p>
          <a:p>
            <a:pPr marL="742950" indent="-285750">
              <a:buFontTx/>
              <a:buChar char="–"/>
            </a:pPr>
            <a:r>
              <a:rPr lang="en-GB" sz="2400" dirty="0"/>
              <a:t>Platform capabilities and Constraints</a:t>
            </a:r>
          </a:p>
          <a:p>
            <a:pPr marL="742950" indent="-285750">
              <a:buFontTx/>
              <a:buChar char="–"/>
            </a:pPr>
            <a:r>
              <a:rPr lang="en-GB" sz="2400" dirty="0"/>
              <a:t>General Design Guidelines</a:t>
            </a:r>
          </a:p>
          <a:p>
            <a:pPr marL="342900" indent="-342900">
              <a:buFontTx/>
              <a:buChar char="•"/>
            </a:pPr>
            <a:r>
              <a:rPr lang="en-GB" sz="2800" dirty="0"/>
              <a:t>Phase 2</a:t>
            </a:r>
          </a:p>
          <a:p>
            <a:pPr marL="742950" indent="-285750">
              <a:buFontTx/>
              <a:buChar char="–"/>
            </a:pPr>
            <a:r>
              <a:rPr lang="en-GB" sz="2400" dirty="0"/>
              <a:t>Design, Testing and Development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What is Task Analysis?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•"/>
            </a:pPr>
            <a:r>
              <a:rPr lang="en-GB" sz="2800" dirty="0"/>
              <a:t xml:space="preserve">The process of analyzing the way </a:t>
            </a:r>
            <a:r>
              <a:rPr lang="en-GB" sz="2800" dirty="0"/>
              <a:t>people perform their jobs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The things they do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 xml:space="preserve">The things they act on </a:t>
            </a:r>
          </a:p>
          <a:p>
            <a:pPr marL="742950" indent="-285750">
              <a:buFontTx/>
              <a:buChar char="–"/>
            </a:pPr>
            <a:r>
              <a:rPr lang="en-GB" sz="2000" dirty="0"/>
              <a:t>The things they need to know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Approaches to task analysis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4479" indent="-284479">
              <a:buFontTx/>
              <a:buChar char="•"/>
            </a:pPr>
            <a:r>
              <a:rPr lang="en-GB" sz="2000" dirty="0"/>
              <a:t>Task decomposition</a:t>
            </a:r>
          </a:p>
          <a:p>
            <a:pPr marL="858520" indent="-383540">
              <a:buFontTx/>
              <a:buChar char="–"/>
            </a:pPr>
            <a:r>
              <a:rPr lang="en-GB" sz="1800" dirty="0"/>
              <a:t>splitting task into (ordered) subtasks</a:t>
            </a:r>
          </a:p>
          <a:p>
            <a:pPr marL="284479" indent="-284479">
              <a:buFontTx/>
              <a:buChar char="•"/>
            </a:pPr>
            <a:r>
              <a:rPr lang="en-GB" sz="2000" dirty="0"/>
              <a:t>Knowledge based techniques</a:t>
            </a:r>
          </a:p>
          <a:p>
            <a:pPr marL="858520" indent="-383540">
              <a:buFontTx/>
              <a:buChar char="–"/>
            </a:pPr>
            <a:r>
              <a:rPr lang="en-GB" sz="1800" dirty="0"/>
              <a:t xml:space="preserve">what the user knows about the objects and actions </a:t>
            </a:r>
            <a:r>
              <a:rPr lang="en-GB" sz="1800" dirty="0"/>
              <a:t>involved in a task and how that knowledge organised</a:t>
            </a:r>
          </a:p>
          <a:p>
            <a:pPr marL="284479" indent="-284479">
              <a:buFontTx/>
              <a:buChar char="•"/>
            </a:pPr>
            <a:r>
              <a:rPr lang="en-GB" sz="2000" dirty="0"/>
              <a:t>Entity/object  based analysis</a:t>
            </a:r>
          </a:p>
          <a:p>
            <a:pPr marL="858520" indent="-383540">
              <a:buFontTx/>
              <a:buChar char="–"/>
            </a:pPr>
            <a:r>
              <a:rPr lang="en-GB" sz="1800" dirty="0"/>
              <a:t xml:space="preserve">Object-based approach where emphasis on the actors and </a:t>
            </a:r>
            <a:r>
              <a:rPr lang="en-GB" sz="1800" dirty="0"/>
              <a:t xml:space="preserve">objects </a:t>
            </a:r>
          </a:p>
          <a:p>
            <a:pPr marL="858520" indent="-383540">
              <a:buFontTx/>
              <a:buChar char="–"/>
            </a:pPr>
            <a:r>
              <a:rPr lang="en-GB" sz="1800" dirty="0"/>
              <a:t xml:space="preserve">relationships between them and the people who perform </a:t>
            </a:r>
            <a:r>
              <a:rPr lang="en-GB" sz="1800" dirty="0"/>
              <a:t>them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Generating the hierarchy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/>
              <a:t>1. Get list of tasks</a:t>
            </a:r>
          </a:p>
          <a:p>
            <a:pPr marL="0" indent="0">
              <a:buNone/>
            </a:pPr>
            <a:r>
              <a:rPr lang="en-GB" sz="2400" dirty="0"/>
              <a:t>2. Group tasks into higher level tasks</a:t>
            </a:r>
            <a:br>
              <a:rPr lang="en-GB" sz="2400" dirty="0"/>
            </a:br>
            <a:r>
              <a:rPr lang="en-GB" sz="2400" dirty="0"/>
              <a:t>3. Decompose lowest level tasks further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Your turn: “what are you doing now?”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4E7A12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THINK-PAIR-SHARE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2578608" y="1810512"/>
            <a:ext cx="5559552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3 min · pairs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2011680" y="5257800"/>
            <a:ext cx="2377440" cy="475488"/>
          </a:xfrm>
          <a:prstGeom prst="roundRect">
            <a:avLst>
              <a:gd name="adj" fmla="val 20000"/>
            </a:avLst>
          </a:prstGeom>
          <a:solidFill>
            <a:srgbClr val="2D2D8A"/>
          </a:solidFill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300" b="1" i="0" dirty="0">
                <a:solidFill>
                  <a:srgbClr val="FFFFFF"/>
                </a:solidFill>
                <a:latin typeface="Arial"/>
                <a:cs typeface="Arial"/>
              </a:rPr>
              <a:t>pressing Pay in JazzCash</a:t>
            </a:r>
            <a:endParaRPr lang="en-GB" sz="1300" dirty="0"/>
          </a:p>
        </p:txBody>
      </p:sp>
      <p:sp>
        <p:nvSpPr>
          <p:cNvPr id="14" name="Shape 14"/>
          <p:cNvSpPr/>
          <p:nvPr/>
        </p:nvSpPr>
        <p:spPr>
          <a:xfrm>
            <a:off x="1805940" y="4636008"/>
            <a:ext cx="278892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300" b="0" i="0" dirty="0">
                <a:solidFill>
                  <a:srgbClr val="595959"/>
                </a:solidFill>
                <a:latin typeface="Arial"/>
                <a:cs typeface="Arial"/>
              </a:rPr>
              <a:t>?</a:t>
            </a:r>
            <a:endParaRPr lang="en-GB" sz="1300" dirty="0"/>
          </a:p>
        </p:txBody>
      </p:sp>
      <p:sp>
        <p:nvSpPr>
          <p:cNvPr id="15" name="Shape 15"/>
          <p:cNvSpPr/>
          <p:nvPr/>
        </p:nvSpPr>
        <p:spPr>
          <a:xfrm>
            <a:off x="1600200" y="4014216"/>
            <a:ext cx="320040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300" b="0" i="0" dirty="0">
                <a:solidFill>
                  <a:srgbClr val="595959"/>
                </a:solidFill>
                <a:latin typeface="Arial"/>
                <a:cs typeface="Arial"/>
              </a:rPr>
              <a:t>?</a:t>
            </a:r>
            <a:endParaRPr lang="en-GB" sz="1300" dirty="0"/>
          </a:p>
        </p:txBody>
      </p:sp>
      <p:sp>
        <p:nvSpPr>
          <p:cNvPr id="16" name="Shape 16"/>
          <p:cNvSpPr/>
          <p:nvPr/>
        </p:nvSpPr>
        <p:spPr>
          <a:xfrm>
            <a:off x="1394460" y="3392424"/>
            <a:ext cx="361188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300" b="0" i="0" dirty="0">
                <a:solidFill>
                  <a:srgbClr val="595959"/>
                </a:solidFill>
                <a:latin typeface="Arial"/>
                <a:cs typeface="Arial"/>
              </a:rPr>
              <a:t>?</a:t>
            </a:r>
            <a:endParaRPr lang="en-GB" sz="1300" dirty="0"/>
          </a:p>
        </p:txBody>
      </p:sp>
      <p:sp>
        <p:nvSpPr>
          <p:cNvPr id="17" name="Shape 17"/>
          <p:cNvSpPr/>
          <p:nvPr/>
        </p:nvSpPr>
        <p:spPr>
          <a:xfrm>
            <a:off x="1188720" y="2770632"/>
            <a:ext cx="402336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300" b="0" i="0" dirty="0">
                <a:solidFill>
                  <a:srgbClr val="595959"/>
                </a:solidFill>
                <a:latin typeface="Arial"/>
                <a:cs typeface="Arial"/>
              </a:rPr>
              <a:t>?</a:t>
            </a:r>
            <a:endParaRPr lang="en-GB" sz="1300" dirty="0"/>
          </a:p>
        </p:txBody>
      </p:sp>
      <p:cxnSp>
        <p:nvCxnSpPr>
          <p:cNvPr id="18" name="Connector 18"/>
          <p:cNvCxnSpPr/>
          <p:nvPr/>
        </p:nvCxnSpPr>
        <p:spPr>
          <a:xfrm flipV="1">
            <a:off x="685800" y="2514600"/>
            <a:ext cx="0" cy="3154680"/>
          </a:xfrm>
          <a:prstGeom prst="line">
            <a:avLst/>
          </a:prstGeom>
          <a:ln w="25400">
            <a:solidFill>
              <a:srgbClr val="4E7A12"/>
            </a:solidFill>
            <a:tailEnd type="triangle" w="med" len="med"/>
          </a:ln>
        </p:spPr>
      </p:cxnSp>
      <p:sp>
        <p:nvSpPr>
          <p:cNvPr id="19" name="Shape 19"/>
          <p:cNvSpPr txBox="1"/>
          <p:nvPr/>
        </p:nvSpPr>
        <p:spPr>
          <a:xfrm>
            <a:off x="777240" y="23774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4E7A12"/>
                </a:solidFill>
                <a:latin typeface="Arial"/>
                <a:cs typeface="Arial"/>
              </a:rPr>
              <a:t>why?</a:t>
            </a:r>
            <a:endParaRPr lang="en-GB" sz="1200" dirty="0"/>
          </a:p>
        </p:txBody>
      </p:sp>
      <p:sp>
        <p:nvSpPr>
          <p:cNvPr id="20" name="Shape 20"/>
          <p:cNvSpPr/>
          <p:nvPr/>
        </p:nvSpPr>
        <p:spPr>
          <a:xfrm>
            <a:off x="4800600" y="2377440"/>
            <a:ext cx="3337560" cy="3337560"/>
          </a:xfrm>
          <a:prstGeom prst="roundRect">
            <a:avLst>
              <a:gd name="adj" fmla="val 8000"/>
            </a:avLst>
          </a:prstGeom>
          <a:solidFill>
            <a:srgbClr val="E6EFD9"/>
          </a:solidFill>
          <a:ln w="12700">
            <a:solidFill>
              <a:srgbClr val="9DB8BC"/>
            </a:solidFill>
          </a:ln>
        </p:spPr>
        <p:txBody>
          <a:bodyPr wrap="square" lIns="146304" tIns="146304" rIns="146304" bIns="146304" anchor="t" rtlCol="0">
            <a:noAutofit/>
          </a:bodyPr>
          <a:lstStyle/>
          <a:p>
            <a:pPr algn="l">
              <a:buNone/>
            </a:pPr>
            <a:r>
              <a:rPr lang="en-GB" sz="1500" b="1" i="0" dirty="0">
                <a:solidFill>
                  <a:srgbClr val="2D2D8A"/>
                </a:solidFill>
                <a:latin typeface="Arial"/>
                <a:cs typeface="Arial"/>
              </a:rPr>
              <a:t>Build the ladder</a:t>
            </a:r>
            <a:endParaRPr lang="en-GB" sz="1300" dirty="0"/>
          </a:p>
          <a:p>
            <a:pPr algn="l">
              <a:spcBef>
                <a:spcPts val="600"/>
              </a:spcBef>
              <a:buNone/>
            </a:pP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Same action, four answers above it — like “typing ctrl-B … writing a letter”.</a:t>
            </a:r>
            <a:endParaRPr lang="en-GB" sz="1300" dirty="0"/>
          </a:p>
          <a:p>
            <a:pPr algn="l">
              <a:spcBef>
                <a:spcPts val="600"/>
              </a:spcBef>
              <a:buNone/>
            </a:pP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Ask “why?” to go up, “how?” to go down.</a:t>
            </a:r>
            <a:endParaRPr lang="en-GB" sz="1300" dirty="0"/>
          </a:p>
          <a:p>
            <a:pPr algn="l">
              <a:spcBef>
                <a:spcPts val="600"/>
              </a:spcBef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Where would you stop if you were designing the app?</a:t>
            </a:r>
            <a:endParaRPr lang="en-GB" sz="13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Name the plan type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333399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QUIZ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527048" y="1810512"/>
            <a:ext cx="6611112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4 min · alone · mobile-wallet top-up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4" name="Shape 14"/>
          <p:cNvSpPr/>
          <p:nvPr/>
        </p:nvSpPr>
        <p:spPr>
          <a:xfrm>
            <a:off x="658368" y="2395728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100" dirty="0"/>
          </a:p>
        </p:txBody>
      </p:sp>
      <p:sp>
        <p:nvSpPr>
          <p:cNvPr id="15" name="Shape 15"/>
          <p:cNvSpPr txBox="1"/>
          <p:nvPr/>
        </p:nvSpPr>
        <p:spPr>
          <a:xfrm>
            <a:off x="1051560" y="2340864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Open the app, choose Mobile Load, enter the number — in that order</a:t>
            </a:r>
            <a:endParaRPr lang="en-GB" sz="1250" dirty="0"/>
          </a:p>
        </p:txBody>
      </p:sp>
      <p:sp>
        <p:nvSpPr>
          <p:cNvPr id="16" name="Shape 16"/>
          <p:cNvSpPr/>
          <p:nvPr/>
        </p:nvSpPr>
        <p:spPr>
          <a:xfrm>
            <a:off x="4389120" y="228600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7" name="Shape 17"/>
          <p:cNvSpPr/>
          <p:nvPr/>
        </p:nvSpPr>
        <p:spPr>
          <a:xfrm>
            <a:off x="4498848" y="2395728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100" dirty="0"/>
          </a:p>
        </p:txBody>
      </p:sp>
      <p:sp>
        <p:nvSpPr>
          <p:cNvPr id="18" name="Shape 18"/>
          <p:cNvSpPr txBox="1"/>
          <p:nvPr/>
        </p:nvSpPr>
        <p:spPr>
          <a:xfrm>
            <a:off x="4892040" y="2340864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If the number is saved, pick it from contacts</a:t>
            </a:r>
            <a:endParaRPr lang="en-GB" sz="1250" dirty="0"/>
          </a:p>
        </p:txBody>
      </p:sp>
      <p:sp>
        <p:nvSpPr>
          <p:cNvPr id="19" name="Shape 19"/>
          <p:cNvSpPr/>
          <p:nvPr/>
        </p:nvSpPr>
        <p:spPr>
          <a:xfrm>
            <a:off x="548640" y="347472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0" name="Shape 20"/>
          <p:cNvSpPr/>
          <p:nvPr/>
        </p:nvSpPr>
        <p:spPr>
          <a:xfrm>
            <a:off x="658368" y="3584448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100" dirty="0"/>
          </a:p>
        </p:txBody>
      </p:sp>
      <p:sp>
        <p:nvSpPr>
          <p:cNvPr id="21" name="Shape 21"/>
          <p:cNvSpPr txBox="1"/>
          <p:nvPr/>
        </p:nvSpPr>
        <p:spPr>
          <a:xfrm>
            <a:off x="1051560" y="3529584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When the OTP arrives, enter it</a:t>
            </a:r>
            <a:endParaRPr lang="en-GB" sz="1250" dirty="0"/>
          </a:p>
        </p:txBody>
      </p:sp>
      <p:sp>
        <p:nvSpPr>
          <p:cNvPr id="22" name="Shape 22"/>
          <p:cNvSpPr/>
          <p:nvPr/>
        </p:nvSpPr>
        <p:spPr>
          <a:xfrm>
            <a:off x="4389120" y="347472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3" name="Shape 23"/>
          <p:cNvSpPr/>
          <p:nvPr/>
        </p:nvSpPr>
        <p:spPr>
          <a:xfrm>
            <a:off x="4498848" y="3584448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100" dirty="0"/>
          </a:p>
        </p:txBody>
      </p:sp>
      <p:sp>
        <p:nvSpPr>
          <p:cNvPr id="24" name="Shape 24"/>
          <p:cNvSpPr txBox="1"/>
          <p:nvPr/>
        </p:nvSpPr>
        <p:spPr>
          <a:xfrm>
            <a:off x="4892040" y="3529584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Repeat for each family member’s phone</a:t>
            </a:r>
            <a:endParaRPr lang="en-GB" sz="1250" dirty="0"/>
          </a:p>
        </p:txBody>
      </p:sp>
      <p:sp>
        <p:nvSpPr>
          <p:cNvPr id="25" name="Shape 25"/>
          <p:cNvSpPr/>
          <p:nvPr/>
        </p:nvSpPr>
        <p:spPr>
          <a:xfrm>
            <a:off x="548640" y="466344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6" name="Shape 26"/>
          <p:cNvSpPr/>
          <p:nvPr/>
        </p:nvSpPr>
        <p:spPr>
          <a:xfrm>
            <a:off x="658368" y="4773168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GB" sz="1100" dirty="0"/>
          </a:p>
        </p:txBody>
      </p:sp>
      <p:sp>
        <p:nvSpPr>
          <p:cNvPr id="27" name="Shape 27"/>
          <p:cNvSpPr txBox="1"/>
          <p:nvPr/>
        </p:nvSpPr>
        <p:spPr>
          <a:xfrm>
            <a:off x="1051560" y="4718304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While the payment processes, check the balance by SMS</a:t>
            </a:r>
            <a:endParaRPr lang="en-GB" sz="1250" dirty="0"/>
          </a:p>
        </p:txBody>
      </p:sp>
      <p:sp>
        <p:nvSpPr>
          <p:cNvPr id="28" name="Shape 28"/>
          <p:cNvSpPr/>
          <p:nvPr/>
        </p:nvSpPr>
        <p:spPr>
          <a:xfrm>
            <a:off x="4389120" y="466344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9" name="Shape 29"/>
          <p:cNvSpPr/>
          <p:nvPr/>
        </p:nvSpPr>
        <p:spPr>
          <a:xfrm>
            <a:off x="4498848" y="4773168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en-GB" sz="1100" dirty="0"/>
          </a:p>
        </p:txBody>
      </p:sp>
      <p:sp>
        <p:nvSpPr>
          <p:cNvPr id="30" name="Shape 30"/>
          <p:cNvSpPr txBox="1"/>
          <p:nvPr/>
        </p:nvSpPr>
        <p:spPr>
          <a:xfrm>
            <a:off x="4892040" y="4718304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Enter the amount and choose the network, in either order</a:t>
            </a:r>
            <a:endParaRPr lang="en-GB" sz="1250" dirty="0"/>
          </a:p>
        </p:txBody>
      </p:sp>
      <p:sp>
        <p:nvSpPr>
          <p:cNvPr id="31" name="Shape 31"/>
          <p:cNvSpPr txBox="1"/>
          <p:nvPr/>
        </p:nvSpPr>
        <p:spPr>
          <a:xfrm>
            <a:off x="548640" y="589788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fixed sequence · optional · wait for events · cycles · time-sharing · discretionary · mixtures</a:t>
            </a:r>
            <a:endParaRPr lang="en-GB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Name the plan type — answers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714500" y="1810512"/>
            <a:ext cx="64236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mobile-wallet top-up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4" name="Shape 14"/>
          <p:cNvSpPr/>
          <p:nvPr/>
        </p:nvSpPr>
        <p:spPr>
          <a:xfrm>
            <a:off x="658368" y="2395728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100" dirty="0"/>
          </a:p>
        </p:txBody>
      </p:sp>
      <p:sp>
        <p:nvSpPr>
          <p:cNvPr id="15" name="Shape 15"/>
          <p:cNvSpPr txBox="1"/>
          <p:nvPr/>
        </p:nvSpPr>
        <p:spPr>
          <a:xfrm>
            <a:off x="1051560" y="2340864"/>
            <a:ext cx="310896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595959"/>
                </a:solidFill>
                <a:latin typeface="Arial"/>
                <a:cs typeface="Arial"/>
              </a:rPr>
              <a:t>Open the app, choose Mobile Load, enter the number — in that order</a:t>
            </a:r>
            <a:endParaRPr lang="en-GB" sz="1050" dirty="0"/>
          </a:p>
        </p:txBody>
      </p:sp>
      <p:sp>
        <p:nvSpPr>
          <p:cNvPr id="16" name="Shape 16"/>
          <p:cNvSpPr/>
          <p:nvPr/>
        </p:nvSpPr>
        <p:spPr>
          <a:xfrm>
            <a:off x="685800" y="2926080"/>
            <a:ext cx="3429000" cy="329184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Fixed sequence</a:t>
            </a:r>
            <a:endParaRPr lang="en-GB" sz="1100" dirty="0"/>
          </a:p>
        </p:txBody>
      </p:sp>
      <p:sp>
        <p:nvSpPr>
          <p:cNvPr id="17" name="Shape 17"/>
          <p:cNvSpPr/>
          <p:nvPr/>
        </p:nvSpPr>
        <p:spPr>
          <a:xfrm>
            <a:off x="4389120" y="228600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8" name="Shape 18"/>
          <p:cNvSpPr/>
          <p:nvPr/>
        </p:nvSpPr>
        <p:spPr>
          <a:xfrm>
            <a:off x="4498848" y="2395728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100" dirty="0"/>
          </a:p>
        </p:txBody>
      </p:sp>
      <p:sp>
        <p:nvSpPr>
          <p:cNvPr id="19" name="Shape 19"/>
          <p:cNvSpPr txBox="1"/>
          <p:nvPr/>
        </p:nvSpPr>
        <p:spPr>
          <a:xfrm>
            <a:off x="4892040" y="2340864"/>
            <a:ext cx="310896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595959"/>
                </a:solidFill>
                <a:latin typeface="Arial"/>
                <a:cs typeface="Arial"/>
              </a:rPr>
              <a:t>If the number is saved, pick it from contacts</a:t>
            </a:r>
            <a:endParaRPr lang="en-GB" sz="1050" dirty="0"/>
          </a:p>
        </p:txBody>
      </p:sp>
      <p:sp>
        <p:nvSpPr>
          <p:cNvPr id="20" name="Shape 20"/>
          <p:cNvSpPr/>
          <p:nvPr/>
        </p:nvSpPr>
        <p:spPr>
          <a:xfrm>
            <a:off x="4526280" y="2926080"/>
            <a:ext cx="3429000" cy="329184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Optional task</a:t>
            </a:r>
            <a:endParaRPr lang="en-GB" sz="1100" dirty="0"/>
          </a:p>
        </p:txBody>
      </p:sp>
      <p:sp>
        <p:nvSpPr>
          <p:cNvPr id="21" name="Shape 21"/>
          <p:cNvSpPr/>
          <p:nvPr/>
        </p:nvSpPr>
        <p:spPr>
          <a:xfrm>
            <a:off x="548640" y="347472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2" name="Shape 22"/>
          <p:cNvSpPr/>
          <p:nvPr/>
        </p:nvSpPr>
        <p:spPr>
          <a:xfrm>
            <a:off x="658368" y="3584448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100" dirty="0"/>
          </a:p>
        </p:txBody>
      </p:sp>
      <p:sp>
        <p:nvSpPr>
          <p:cNvPr id="23" name="Shape 23"/>
          <p:cNvSpPr txBox="1"/>
          <p:nvPr/>
        </p:nvSpPr>
        <p:spPr>
          <a:xfrm>
            <a:off x="1051560" y="3529584"/>
            <a:ext cx="310896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595959"/>
                </a:solidFill>
                <a:latin typeface="Arial"/>
                <a:cs typeface="Arial"/>
              </a:rPr>
              <a:t>When the OTP arrives, enter it</a:t>
            </a:r>
            <a:endParaRPr lang="en-GB" sz="1050" dirty="0"/>
          </a:p>
        </p:txBody>
      </p:sp>
      <p:sp>
        <p:nvSpPr>
          <p:cNvPr id="24" name="Shape 24"/>
          <p:cNvSpPr/>
          <p:nvPr/>
        </p:nvSpPr>
        <p:spPr>
          <a:xfrm>
            <a:off x="685800" y="4114800"/>
            <a:ext cx="3429000" cy="329184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Wait for event</a:t>
            </a:r>
            <a:endParaRPr lang="en-GB" sz="1100" dirty="0"/>
          </a:p>
        </p:txBody>
      </p:sp>
      <p:sp>
        <p:nvSpPr>
          <p:cNvPr id="25" name="Shape 25"/>
          <p:cNvSpPr/>
          <p:nvPr/>
        </p:nvSpPr>
        <p:spPr>
          <a:xfrm>
            <a:off x="4389120" y="347472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6" name="Shape 26"/>
          <p:cNvSpPr/>
          <p:nvPr/>
        </p:nvSpPr>
        <p:spPr>
          <a:xfrm>
            <a:off x="4498848" y="3584448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100" dirty="0"/>
          </a:p>
        </p:txBody>
      </p:sp>
      <p:sp>
        <p:nvSpPr>
          <p:cNvPr id="27" name="Shape 27"/>
          <p:cNvSpPr txBox="1"/>
          <p:nvPr/>
        </p:nvSpPr>
        <p:spPr>
          <a:xfrm>
            <a:off x="4892040" y="3529584"/>
            <a:ext cx="310896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595959"/>
                </a:solidFill>
                <a:latin typeface="Arial"/>
                <a:cs typeface="Arial"/>
              </a:rPr>
              <a:t>Repeat for each family member’s phone</a:t>
            </a:r>
            <a:endParaRPr lang="en-GB" sz="1050" dirty="0"/>
          </a:p>
        </p:txBody>
      </p:sp>
      <p:sp>
        <p:nvSpPr>
          <p:cNvPr id="28" name="Shape 28"/>
          <p:cNvSpPr/>
          <p:nvPr/>
        </p:nvSpPr>
        <p:spPr>
          <a:xfrm>
            <a:off x="4526280" y="4114800"/>
            <a:ext cx="3429000" cy="329184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Cycle</a:t>
            </a:r>
            <a:endParaRPr lang="en-GB" sz="1100" dirty="0"/>
          </a:p>
        </p:txBody>
      </p:sp>
      <p:sp>
        <p:nvSpPr>
          <p:cNvPr id="29" name="Shape 29"/>
          <p:cNvSpPr/>
          <p:nvPr/>
        </p:nvSpPr>
        <p:spPr>
          <a:xfrm>
            <a:off x="548640" y="466344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0" name="Shape 30"/>
          <p:cNvSpPr/>
          <p:nvPr/>
        </p:nvSpPr>
        <p:spPr>
          <a:xfrm>
            <a:off x="658368" y="4773168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GB" sz="1100" dirty="0"/>
          </a:p>
        </p:txBody>
      </p:sp>
      <p:sp>
        <p:nvSpPr>
          <p:cNvPr id="31" name="Shape 31"/>
          <p:cNvSpPr txBox="1"/>
          <p:nvPr/>
        </p:nvSpPr>
        <p:spPr>
          <a:xfrm>
            <a:off x="1051560" y="4718304"/>
            <a:ext cx="310896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595959"/>
                </a:solidFill>
                <a:latin typeface="Arial"/>
                <a:cs typeface="Arial"/>
              </a:rPr>
              <a:t>While the payment processes, check the balance by SMS</a:t>
            </a:r>
            <a:endParaRPr lang="en-GB" sz="1050" dirty="0"/>
          </a:p>
        </p:txBody>
      </p:sp>
      <p:sp>
        <p:nvSpPr>
          <p:cNvPr id="32" name="Shape 32"/>
          <p:cNvSpPr/>
          <p:nvPr/>
        </p:nvSpPr>
        <p:spPr>
          <a:xfrm>
            <a:off x="685800" y="5303520"/>
            <a:ext cx="3429000" cy="329184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Time-sharing</a:t>
            </a:r>
            <a:endParaRPr lang="en-GB" sz="1100" dirty="0"/>
          </a:p>
        </p:txBody>
      </p:sp>
      <p:sp>
        <p:nvSpPr>
          <p:cNvPr id="33" name="Shape 33"/>
          <p:cNvSpPr/>
          <p:nvPr/>
        </p:nvSpPr>
        <p:spPr>
          <a:xfrm>
            <a:off x="4389120" y="466344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4" name="Shape 34"/>
          <p:cNvSpPr/>
          <p:nvPr/>
        </p:nvSpPr>
        <p:spPr>
          <a:xfrm>
            <a:off x="4498848" y="4773168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en-GB" sz="1100" dirty="0"/>
          </a:p>
        </p:txBody>
      </p:sp>
      <p:sp>
        <p:nvSpPr>
          <p:cNvPr id="35" name="Shape 35"/>
          <p:cNvSpPr txBox="1"/>
          <p:nvPr/>
        </p:nvSpPr>
        <p:spPr>
          <a:xfrm>
            <a:off x="4892040" y="4718304"/>
            <a:ext cx="310896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595959"/>
                </a:solidFill>
                <a:latin typeface="Arial"/>
                <a:cs typeface="Arial"/>
              </a:rPr>
              <a:t>Enter the amount and choose the network, in either order</a:t>
            </a:r>
            <a:endParaRPr lang="en-GB" sz="1050" dirty="0"/>
          </a:p>
        </p:txBody>
      </p:sp>
      <p:sp>
        <p:nvSpPr>
          <p:cNvPr id="36" name="Shape 36"/>
          <p:cNvSpPr/>
          <p:nvPr/>
        </p:nvSpPr>
        <p:spPr>
          <a:xfrm>
            <a:off x="4526280" y="5303520"/>
            <a:ext cx="3429000" cy="329184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Discretionary</a:t>
            </a:r>
            <a:endParaRPr lang="en-GB" sz="1100" dirty="0"/>
          </a:p>
        </p:txBody>
      </p:sp>
      <p:sp>
        <p:nvSpPr>
          <p:cNvPr id="37" name="Shape 37"/>
          <p:cNvSpPr txBox="1"/>
          <p:nvPr/>
        </p:nvSpPr>
        <p:spPr>
          <a:xfrm>
            <a:off x="548640" y="589788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Put together, the whole top-up plan is a mixture — most plans are.</a:t>
            </a:r>
            <a:endParaRPr lang="en-GB" sz="1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685800" y="1993900"/>
            <a:ext cx="7531100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Worked Exercise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•"/>
            </a:pPr>
            <a:r>
              <a:rPr lang="en-GB" sz="2800" dirty="0"/>
              <a:t xml:space="preserve">Produce a high-level hierarchical task </a:t>
            </a:r>
            <a:r>
              <a:rPr lang="en-GB" sz="2800" dirty="0"/>
              <a:t xml:space="preserve">analysis showing how you would </a:t>
            </a:r>
            <a:r>
              <a:rPr lang="en-GB" sz="2800" dirty="0">
                <a:solidFill>
                  <a:srgbClr val="FF0000"/>
                </a:solidFill>
              </a:rPr>
              <a:t>find</a:t>
            </a:r>
            <a:r>
              <a:rPr lang="en-GB" sz="2800" dirty="0"/>
              <a:t xml:space="preserve"> </a:t>
            </a:r>
            <a:r>
              <a:rPr lang="en-GB" sz="2800" dirty="0"/>
              <a:t xml:space="preserve">information on a website. Assume the </a:t>
            </a:r>
            <a:r>
              <a:rPr lang="en-GB" sz="2800" dirty="0"/>
              <a:t xml:space="preserve">site has a </a:t>
            </a:r>
            <a:r>
              <a:rPr lang="en-GB" sz="2800" dirty="0">
                <a:solidFill>
                  <a:srgbClr val="FF0000"/>
                </a:solidFill>
              </a:rPr>
              <a:t>search</a:t>
            </a:r>
            <a:r>
              <a:rPr lang="en-GB" sz="2800" dirty="0"/>
              <a:t xml:space="preserve"> facility as well as </a:t>
            </a:r>
            <a:r>
              <a:rPr lang="en-GB" sz="2800" dirty="0">
                <a:solidFill>
                  <a:srgbClr val="FF0000"/>
                </a:solidFill>
              </a:rPr>
              <a:t>normal links.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Worked exercise — a model answer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714500" y="1810512"/>
            <a:ext cx="64236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after 8 minutes in pairs, on paper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3246120" y="2240280"/>
            <a:ext cx="2194560" cy="475488"/>
          </a:xfrm>
          <a:prstGeom prst="rect">
            <a:avLst/>
          </a:prstGeom>
          <a:solidFill>
            <a:srgbClr val="F5ECD9"/>
          </a:solidFill>
          <a:ln w="12700">
            <a:solidFill>
              <a:srgbClr val="2D2D8A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pPr algn="l">
              <a:buNone/>
            </a:pPr>
            <a:r>
              <a:rPr lang="en-GB" sz="800" b="1" i="0" dirty="0">
                <a:solidFill>
                  <a:srgbClr val="00726F"/>
                </a:solidFill>
                <a:latin typeface="Arial"/>
                <a:cs typeface="Arial"/>
              </a:rPr>
              <a:t>0</a:t>
            </a:r>
            <a:endParaRPr lang="en-GB" sz="1100" dirty="0"/>
          </a:p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find information on a website</a:t>
            </a:r>
            <a:endParaRPr lang="en-GB" sz="1100" dirty="0"/>
          </a:p>
        </p:txBody>
      </p:sp>
      <p:cxnSp>
        <p:nvCxnSpPr>
          <p:cNvPr id="14" name="Connector 14"/>
          <p:cNvCxnSpPr/>
          <p:nvPr/>
        </p:nvCxnSpPr>
        <p:spPr>
          <a:xfrm>
            <a:off x="4343400" y="2715768"/>
            <a:ext cx="0" cy="137160"/>
          </a:xfrm>
          <a:prstGeom prst="line">
            <a:avLst/>
          </a:prstGeom>
          <a:ln w="19050">
            <a:solidFill>
              <a:srgbClr val="595959"/>
            </a:solidFill>
          </a:ln>
        </p:spPr>
      </p:cxnSp>
      <p:cxnSp>
        <p:nvCxnSpPr>
          <p:cNvPr id="15" name="Connector 15"/>
          <p:cNvCxnSpPr/>
          <p:nvPr/>
        </p:nvCxnSpPr>
        <p:spPr>
          <a:xfrm>
            <a:off x="1234440" y="2852928"/>
            <a:ext cx="6108192" cy="0"/>
          </a:xfrm>
          <a:prstGeom prst="line">
            <a:avLst/>
          </a:prstGeom>
          <a:ln w="19050">
            <a:solidFill>
              <a:srgbClr val="595959"/>
            </a:solidFill>
          </a:ln>
        </p:spPr>
      </p:cxnSp>
      <p:cxnSp>
        <p:nvCxnSpPr>
          <p:cNvPr id="16" name="Connector 16"/>
          <p:cNvCxnSpPr/>
          <p:nvPr/>
        </p:nvCxnSpPr>
        <p:spPr>
          <a:xfrm>
            <a:off x="1234440" y="2852928"/>
            <a:ext cx="0" cy="137160"/>
          </a:xfrm>
          <a:prstGeom prst="line">
            <a:avLst/>
          </a:prstGeom>
          <a:ln w="19050">
            <a:solidFill>
              <a:srgbClr val="595959"/>
            </a:solidFill>
          </a:ln>
        </p:spPr>
      </p:cxnSp>
      <p:sp>
        <p:nvSpPr>
          <p:cNvPr id="17" name="Shape 17"/>
          <p:cNvSpPr/>
          <p:nvPr/>
        </p:nvSpPr>
        <p:spPr>
          <a:xfrm>
            <a:off x="548640" y="2990088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2D8A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pPr algn="l">
              <a:buNone/>
            </a:pPr>
            <a:r>
              <a:rPr lang="en-GB" sz="800" b="1" i="0" dirty="0">
                <a:solidFill>
                  <a:srgbClr val="00726F"/>
                </a:solidFill>
                <a:latin typeface="Arial"/>
                <a:cs typeface="Arial"/>
              </a:rPr>
              <a:t>1</a:t>
            </a:r>
            <a:endParaRPr lang="en-GB" sz="1100" dirty="0"/>
          </a:p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decide how to look</a:t>
            </a:r>
            <a:endParaRPr lang="en-GB" sz="1100" dirty="0"/>
          </a:p>
        </p:txBody>
      </p:sp>
      <p:cxnSp>
        <p:nvCxnSpPr>
          <p:cNvPr id="18" name="Connector 18"/>
          <p:cNvCxnSpPr/>
          <p:nvPr/>
        </p:nvCxnSpPr>
        <p:spPr>
          <a:xfrm>
            <a:off x="2761488" y="2852928"/>
            <a:ext cx="0" cy="137160"/>
          </a:xfrm>
          <a:prstGeom prst="line">
            <a:avLst/>
          </a:prstGeom>
          <a:ln w="19050">
            <a:solidFill>
              <a:srgbClr val="595959"/>
            </a:solidFill>
          </a:ln>
        </p:spPr>
      </p:cxnSp>
      <p:sp>
        <p:nvSpPr>
          <p:cNvPr id="19" name="Shape 19"/>
          <p:cNvSpPr/>
          <p:nvPr/>
        </p:nvSpPr>
        <p:spPr>
          <a:xfrm>
            <a:off x="2075688" y="2990088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2D8A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pPr algn="l">
              <a:buNone/>
            </a:pPr>
            <a:r>
              <a:rPr lang="en-GB" sz="800" b="1" i="0" dirty="0">
                <a:solidFill>
                  <a:srgbClr val="00726F"/>
                </a:solidFill>
                <a:latin typeface="Arial"/>
                <a:cs typeface="Arial"/>
              </a:rPr>
              <a:t>2</a:t>
            </a:r>
            <a:endParaRPr lang="en-GB" sz="1100" dirty="0"/>
          </a:p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search</a:t>
            </a:r>
            <a:endParaRPr lang="en-GB" sz="1100" dirty="0"/>
          </a:p>
        </p:txBody>
      </p:sp>
      <p:cxnSp>
        <p:nvCxnSpPr>
          <p:cNvPr id="20" name="Connector 20"/>
          <p:cNvCxnSpPr/>
          <p:nvPr/>
        </p:nvCxnSpPr>
        <p:spPr>
          <a:xfrm>
            <a:off x="4288536" y="2852928"/>
            <a:ext cx="0" cy="137160"/>
          </a:xfrm>
          <a:prstGeom prst="line">
            <a:avLst/>
          </a:prstGeom>
          <a:ln w="19050">
            <a:solidFill>
              <a:srgbClr val="595959"/>
            </a:solidFill>
          </a:ln>
        </p:spPr>
      </p:cxnSp>
      <p:sp>
        <p:nvSpPr>
          <p:cNvPr id="21" name="Shape 21"/>
          <p:cNvSpPr/>
          <p:nvPr/>
        </p:nvSpPr>
        <p:spPr>
          <a:xfrm>
            <a:off x="3602736" y="2990088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2D8A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pPr algn="l">
              <a:buNone/>
            </a:pPr>
            <a:r>
              <a:rPr lang="en-GB" sz="800" b="1" i="0" dirty="0">
                <a:solidFill>
                  <a:srgbClr val="00726F"/>
                </a:solidFill>
                <a:latin typeface="Arial"/>
                <a:cs typeface="Arial"/>
              </a:rPr>
              <a:t>3</a:t>
            </a:r>
            <a:endParaRPr lang="en-GB" sz="1100" dirty="0"/>
          </a:p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follow links</a:t>
            </a:r>
            <a:endParaRPr lang="en-GB" sz="1100" dirty="0"/>
          </a:p>
        </p:txBody>
      </p:sp>
      <p:cxnSp>
        <p:nvCxnSpPr>
          <p:cNvPr id="22" name="Connector 22"/>
          <p:cNvCxnSpPr/>
          <p:nvPr/>
        </p:nvCxnSpPr>
        <p:spPr>
          <a:xfrm>
            <a:off x="5815584" y="2852928"/>
            <a:ext cx="0" cy="137160"/>
          </a:xfrm>
          <a:prstGeom prst="line">
            <a:avLst/>
          </a:prstGeom>
          <a:ln w="19050">
            <a:solidFill>
              <a:srgbClr val="595959"/>
            </a:solidFill>
          </a:ln>
        </p:spPr>
      </p:cxnSp>
      <p:sp>
        <p:nvSpPr>
          <p:cNvPr id="23" name="Shape 23"/>
          <p:cNvSpPr/>
          <p:nvPr/>
        </p:nvSpPr>
        <p:spPr>
          <a:xfrm>
            <a:off x="5129784" y="2990088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2D8A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pPr algn="l">
              <a:buNone/>
            </a:pPr>
            <a:r>
              <a:rPr lang="en-GB" sz="800" b="1" i="0" dirty="0">
                <a:solidFill>
                  <a:srgbClr val="00726F"/>
                </a:solidFill>
                <a:latin typeface="Arial"/>
                <a:cs typeface="Arial"/>
              </a:rPr>
              <a:t>4</a:t>
            </a:r>
            <a:endParaRPr lang="en-GB" sz="1100" dirty="0"/>
          </a:p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read the page</a:t>
            </a:r>
            <a:endParaRPr lang="en-GB" sz="1100" dirty="0"/>
          </a:p>
        </p:txBody>
      </p:sp>
      <p:cxnSp>
        <p:nvCxnSpPr>
          <p:cNvPr id="24" name="Connector 24"/>
          <p:cNvCxnSpPr/>
          <p:nvPr/>
        </p:nvCxnSpPr>
        <p:spPr>
          <a:xfrm>
            <a:off x="7342632" y="2852928"/>
            <a:ext cx="0" cy="137160"/>
          </a:xfrm>
          <a:prstGeom prst="line">
            <a:avLst/>
          </a:prstGeom>
          <a:ln w="19050">
            <a:solidFill>
              <a:srgbClr val="595959"/>
            </a:solidFill>
          </a:ln>
        </p:spPr>
      </p:cxnSp>
      <p:sp>
        <p:nvSpPr>
          <p:cNvPr id="25" name="Shape 25"/>
          <p:cNvSpPr/>
          <p:nvPr/>
        </p:nvSpPr>
        <p:spPr>
          <a:xfrm>
            <a:off x="6656832" y="2990088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2D8A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pPr algn="l">
              <a:buNone/>
            </a:pPr>
            <a:r>
              <a:rPr lang="en-GB" sz="800" b="1" i="0" dirty="0">
                <a:solidFill>
                  <a:srgbClr val="00726F"/>
                </a:solidFill>
                <a:latin typeface="Arial"/>
                <a:cs typeface="Arial"/>
              </a:rPr>
              <a:t>5</a:t>
            </a:r>
            <a:endParaRPr lang="en-GB" sz="1100" dirty="0"/>
          </a:p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note the information</a:t>
            </a:r>
            <a:endParaRPr lang="en-GB" sz="1100" dirty="0"/>
          </a:p>
        </p:txBody>
      </p:sp>
      <p:cxnSp>
        <p:nvCxnSpPr>
          <p:cNvPr id="26" name="Connector 26"/>
          <p:cNvCxnSpPr/>
          <p:nvPr/>
        </p:nvCxnSpPr>
        <p:spPr>
          <a:xfrm>
            <a:off x="2761488" y="3493008"/>
            <a:ext cx="0" cy="137160"/>
          </a:xfrm>
          <a:prstGeom prst="line">
            <a:avLst/>
          </a:prstGeom>
          <a:ln w="19050">
            <a:solidFill>
              <a:srgbClr val="595959"/>
            </a:solidFill>
          </a:ln>
        </p:spPr>
      </p:cxnSp>
      <p:cxnSp>
        <p:nvCxnSpPr>
          <p:cNvPr id="27" name="Connector 27"/>
          <p:cNvCxnSpPr/>
          <p:nvPr/>
        </p:nvCxnSpPr>
        <p:spPr>
          <a:xfrm>
            <a:off x="1097280" y="3630168"/>
            <a:ext cx="2560320" cy="0"/>
          </a:xfrm>
          <a:prstGeom prst="line">
            <a:avLst/>
          </a:prstGeom>
          <a:ln w="19050">
            <a:solidFill>
              <a:srgbClr val="595959"/>
            </a:solidFill>
          </a:ln>
        </p:spPr>
      </p:cxnSp>
      <p:cxnSp>
        <p:nvCxnSpPr>
          <p:cNvPr id="28" name="Connector 28"/>
          <p:cNvCxnSpPr/>
          <p:nvPr/>
        </p:nvCxnSpPr>
        <p:spPr>
          <a:xfrm>
            <a:off x="1097280" y="3630168"/>
            <a:ext cx="0" cy="137160"/>
          </a:xfrm>
          <a:prstGeom prst="line">
            <a:avLst/>
          </a:prstGeom>
          <a:ln w="19050">
            <a:solidFill>
              <a:srgbClr val="595959"/>
            </a:solidFill>
          </a:ln>
        </p:spPr>
      </p:cxnSp>
      <p:sp>
        <p:nvSpPr>
          <p:cNvPr id="29" name="Shape 29"/>
          <p:cNvSpPr/>
          <p:nvPr/>
        </p:nvSpPr>
        <p:spPr>
          <a:xfrm>
            <a:off x="548640" y="3767328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2D8A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pPr algn="l">
              <a:buNone/>
            </a:pPr>
            <a:r>
              <a:rPr lang="en-GB" sz="800" b="1" i="0" dirty="0">
                <a:solidFill>
                  <a:srgbClr val="00726F"/>
                </a:solidFill>
                <a:latin typeface="Arial"/>
                <a:cs typeface="Arial"/>
              </a:rPr>
              <a:t>2.1</a:t>
            </a:r>
            <a:endParaRPr lang="en-GB" sz="1000" dirty="0"/>
          </a:p>
          <a:p>
            <a:pPr algn="ctr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type keywords</a:t>
            </a:r>
            <a:endParaRPr lang="en-GB" sz="1000" dirty="0"/>
          </a:p>
        </p:txBody>
      </p:sp>
      <p:cxnSp>
        <p:nvCxnSpPr>
          <p:cNvPr id="30" name="Connector 30"/>
          <p:cNvCxnSpPr/>
          <p:nvPr/>
        </p:nvCxnSpPr>
        <p:spPr>
          <a:xfrm>
            <a:off x="2377440" y="3630168"/>
            <a:ext cx="0" cy="137160"/>
          </a:xfrm>
          <a:prstGeom prst="line">
            <a:avLst/>
          </a:prstGeom>
          <a:ln w="19050">
            <a:solidFill>
              <a:srgbClr val="595959"/>
            </a:solidFill>
          </a:ln>
        </p:spPr>
      </p:cxnSp>
      <p:sp>
        <p:nvSpPr>
          <p:cNvPr id="31" name="Shape 31"/>
          <p:cNvSpPr/>
          <p:nvPr/>
        </p:nvSpPr>
        <p:spPr>
          <a:xfrm>
            <a:off x="1828800" y="3767328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2D8A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pPr algn="l">
              <a:buNone/>
            </a:pPr>
            <a:r>
              <a:rPr lang="en-GB" sz="800" b="1" i="0" dirty="0">
                <a:solidFill>
                  <a:srgbClr val="00726F"/>
                </a:solidFill>
                <a:latin typeface="Arial"/>
                <a:cs typeface="Arial"/>
              </a:rPr>
              <a:t>2.2</a:t>
            </a:r>
            <a:endParaRPr lang="en-GB" sz="1000" dirty="0"/>
          </a:p>
          <a:p>
            <a:pPr algn="ctr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submit</a:t>
            </a:r>
            <a:endParaRPr lang="en-GB" sz="1000" dirty="0"/>
          </a:p>
        </p:txBody>
      </p:sp>
      <p:cxnSp>
        <p:nvCxnSpPr>
          <p:cNvPr id="32" name="Connector 32"/>
          <p:cNvCxnSpPr/>
          <p:nvPr/>
        </p:nvCxnSpPr>
        <p:spPr>
          <a:xfrm>
            <a:off x="3657600" y="3630168"/>
            <a:ext cx="0" cy="137160"/>
          </a:xfrm>
          <a:prstGeom prst="line">
            <a:avLst/>
          </a:prstGeom>
          <a:ln w="19050">
            <a:solidFill>
              <a:srgbClr val="595959"/>
            </a:solidFill>
          </a:ln>
        </p:spPr>
      </p:cxnSp>
      <p:sp>
        <p:nvSpPr>
          <p:cNvPr id="33" name="Shape 33"/>
          <p:cNvSpPr/>
          <p:nvPr/>
        </p:nvSpPr>
        <p:spPr>
          <a:xfrm>
            <a:off x="3108960" y="3767328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2D8A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pPr algn="l">
              <a:buNone/>
            </a:pPr>
            <a:r>
              <a:rPr lang="en-GB" sz="800" b="1" i="0" dirty="0">
                <a:solidFill>
                  <a:srgbClr val="00726F"/>
                </a:solidFill>
                <a:latin typeface="Arial"/>
                <a:cs typeface="Arial"/>
              </a:rPr>
              <a:t>2.3</a:t>
            </a:r>
            <a:endParaRPr lang="en-GB" sz="1000" dirty="0"/>
          </a:p>
          <a:p>
            <a:pPr algn="ctr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scan results</a:t>
            </a:r>
            <a:endParaRPr lang="en-GB" sz="1000" dirty="0"/>
          </a:p>
        </p:txBody>
      </p:sp>
      <p:cxnSp>
        <p:nvCxnSpPr>
          <p:cNvPr id="34" name="Connector 34"/>
          <p:cNvCxnSpPr/>
          <p:nvPr/>
        </p:nvCxnSpPr>
        <p:spPr>
          <a:xfrm>
            <a:off x="4288536" y="3493008"/>
            <a:ext cx="0" cy="137160"/>
          </a:xfrm>
          <a:prstGeom prst="line">
            <a:avLst/>
          </a:prstGeom>
          <a:ln w="19050">
            <a:solidFill>
              <a:srgbClr val="595959"/>
            </a:solidFill>
          </a:ln>
        </p:spPr>
      </p:cxnSp>
      <p:cxnSp>
        <p:nvCxnSpPr>
          <p:cNvPr id="35" name="Connector 35"/>
          <p:cNvCxnSpPr/>
          <p:nvPr/>
        </p:nvCxnSpPr>
        <p:spPr>
          <a:xfrm>
            <a:off x="4288536" y="3630168"/>
            <a:ext cx="3163824" cy="0"/>
          </a:xfrm>
          <a:prstGeom prst="line">
            <a:avLst/>
          </a:prstGeom>
          <a:ln w="19050">
            <a:solidFill>
              <a:srgbClr val="595959"/>
            </a:solidFill>
          </a:ln>
        </p:spPr>
      </p:cxnSp>
      <p:cxnSp>
        <p:nvCxnSpPr>
          <p:cNvPr id="36" name="Connector 36"/>
          <p:cNvCxnSpPr/>
          <p:nvPr/>
        </p:nvCxnSpPr>
        <p:spPr>
          <a:xfrm>
            <a:off x="4892040" y="3630168"/>
            <a:ext cx="0" cy="137160"/>
          </a:xfrm>
          <a:prstGeom prst="line">
            <a:avLst/>
          </a:prstGeom>
          <a:ln w="19050">
            <a:solidFill>
              <a:srgbClr val="595959"/>
            </a:solidFill>
          </a:ln>
        </p:spPr>
      </p:cxnSp>
      <p:sp>
        <p:nvSpPr>
          <p:cNvPr id="37" name="Shape 37"/>
          <p:cNvSpPr/>
          <p:nvPr/>
        </p:nvSpPr>
        <p:spPr>
          <a:xfrm>
            <a:off x="4343400" y="3767328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2D8A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pPr algn="l">
              <a:buNone/>
            </a:pPr>
            <a:r>
              <a:rPr lang="en-GB" sz="800" b="1" i="0" dirty="0">
                <a:solidFill>
                  <a:srgbClr val="00726F"/>
                </a:solidFill>
                <a:latin typeface="Arial"/>
                <a:cs typeface="Arial"/>
              </a:rPr>
              <a:t>3.1</a:t>
            </a:r>
            <a:endParaRPr lang="en-GB" sz="1000" dirty="0"/>
          </a:p>
          <a:p>
            <a:pPr algn="ctr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scan the page</a:t>
            </a:r>
            <a:endParaRPr lang="en-GB" sz="1000" dirty="0"/>
          </a:p>
        </p:txBody>
      </p:sp>
      <p:cxnSp>
        <p:nvCxnSpPr>
          <p:cNvPr id="38" name="Connector 38"/>
          <p:cNvCxnSpPr/>
          <p:nvPr/>
        </p:nvCxnSpPr>
        <p:spPr>
          <a:xfrm>
            <a:off x="6172200" y="3630168"/>
            <a:ext cx="0" cy="137160"/>
          </a:xfrm>
          <a:prstGeom prst="line">
            <a:avLst/>
          </a:prstGeom>
          <a:ln w="19050">
            <a:solidFill>
              <a:srgbClr val="595959"/>
            </a:solidFill>
          </a:ln>
        </p:spPr>
      </p:cxnSp>
      <p:sp>
        <p:nvSpPr>
          <p:cNvPr id="39" name="Shape 39"/>
          <p:cNvSpPr/>
          <p:nvPr/>
        </p:nvSpPr>
        <p:spPr>
          <a:xfrm>
            <a:off x="5623560" y="3767328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2D8A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pPr algn="l">
              <a:buNone/>
            </a:pPr>
            <a:r>
              <a:rPr lang="en-GB" sz="800" b="1" i="0" dirty="0">
                <a:solidFill>
                  <a:srgbClr val="00726F"/>
                </a:solidFill>
                <a:latin typeface="Arial"/>
                <a:cs typeface="Arial"/>
              </a:rPr>
              <a:t>3.2</a:t>
            </a:r>
            <a:endParaRPr lang="en-GB" sz="1000" dirty="0"/>
          </a:p>
          <a:p>
            <a:pPr algn="ctr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choose a link</a:t>
            </a:r>
            <a:endParaRPr lang="en-GB" sz="1000" dirty="0"/>
          </a:p>
        </p:txBody>
      </p:sp>
      <p:cxnSp>
        <p:nvCxnSpPr>
          <p:cNvPr id="40" name="Connector 40"/>
          <p:cNvCxnSpPr/>
          <p:nvPr/>
        </p:nvCxnSpPr>
        <p:spPr>
          <a:xfrm>
            <a:off x="7452360" y="3630168"/>
            <a:ext cx="0" cy="137160"/>
          </a:xfrm>
          <a:prstGeom prst="line">
            <a:avLst/>
          </a:prstGeom>
          <a:ln w="19050">
            <a:solidFill>
              <a:srgbClr val="595959"/>
            </a:solidFill>
          </a:ln>
        </p:spPr>
      </p:cxnSp>
      <p:sp>
        <p:nvSpPr>
          <p:cNvPr id="41" name="Shape 41"/>
          <p:cNvSpPr/>
          <p:nvPr/>
        </p:nvSpPr>
        <p:spPr>
          <a:xfrm>
            <a:off x="6903720" y="3767328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2D8A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pPr algn="l">
              <a:buNone/>
            </a:pPr>
            <a:r>
              <a:rPr lang="en-GB" sz="800" b="1" i="0" dirty="0">
                <a:solidFill>
                  <a:srgbClr val="00726F"/>
                </a:solidFill>
                <a:latin typeface="Arial"/>
                <a:cs typeface="Arial"/>
              </a:rPr>
              <a:t>3.3</a:t>
            </a:r>
            <a:endParaRPr lang="en-GB" sz="1000" dirty="0"/>
          </a:p>
          <a:p>
            <a:pPr algn="ctr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follow it</a:t>
            </a:r>
            <a:endParaRPr lang="en-GB" sz="1000" dirty="0"/>
          </a:p>
        </p:txBody>
      </p:sp>
      <p:sp>
        <p:nvSpPr>
          <p:cNvPr id="42" name="Shape 42"/>
          <p:cNvSpPr/>
          <p:nvPr/>
        </p:nvSpPr>
        <p:spPr>
          <a:xfrm>
            <a:off x="548640" y="4526280"/>
            <a:ext cx="7589520" cy="1143000"/>
          </a:xfrm>
          <a:prstGeom prst="roundRect">
            <a:avLst>
              <a:gd name="adj" fmla="val 8000"/>
            </a:avLst>
          </a:prstGeom>
          <a:solidFill>
            <a:srgbClr val="E6EFD9"/>
          </a:solidFill>
          <a:ln w="12700">
            <a:solidFill>
              <a:srgbClr val="9DB8BC"/>
            </a:solidFill>
          </a:ln>
        </p:spPr>
        <p:txBody>
          <a:bodyPr wrap="square" lIns="146304" tIns="146304" rIns="146304" bIns="146304" anchor="ctr" rtlCol="0">
            <a:no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4E7A12"/>
                </a:solidFill>
                <a:latin typeface="Arial"/>
                <a:cs typeface="Arial"/>
              </a:rPr>
              <a:t xml:space="preserve">Plan 0: </a:t>
            </a: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do 1; if searching do 2, else do 3; then 4; if found do 5, if not go back to 1</a:t>
            </a:r>
            <a:endParaRPr lang="en-GB" sz="1300" dirty="0"/>
          </a:p>
          <a:p>
            <a:pPr algn="l">
              <a:spcBef>
                <a:spcPts val="600"/>
              </a:spcBef>
              <a:buNone/>
            </a:pPr>
            <a:r>
              <a:rPr lang="en-GB" sz="1300" b="1" i="0" dirty="0">
                <a:solidFill>
                  <a:srgbClr val="4E7A12"/>
                </a:solidFill>
                <a:latin typeface="Arial"/>
                <a:cs typeface="Arial"/>
              </a:rPr>
              <a:t xml:space="preserve">Plan 2: </a:t>
            </a: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 xml:space="preserve">2.1 – 2.2 – 2.3          </a:t>
            </a:r>
            <a:r>
              <a:rPr lang="en-GB" sz="1300" b="1" i="0" dirty="0">
                <a:solidFill>
                  <a:srgbClr val="4E7A12"/>
                </a:solidFill>
                <a:latin typeface="Arial"/>
                <a:cs typeface="Arial"/>
              </a:rPr>
              <a:t xml:space="preserve">Plan 3: </a:t>
            </a: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3.1 – 3.2 – 3.3, repeat until a likely page</a:t>
            </a:r>
            <a:endParaRPr lang="en-GB" sz="1300" dirty="0"/>
          </a:p>
        </p:txBody>
      </p:sp>
      <p:sp>
        <p:nvSpPr>
          <p:cNvPr id="43" name="Shape 43"/>
          <p:cNvSpPr txBox="1"/>
          <p:nvPr/>
        </p:nvSpPr>
        <p:spPr>
          <a:xfrm>
            <a:off x="548640" y="580644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Many correct answers exist. Check yours has: sensible levels · a choice (search or browse) · a cycle back.</a:t>
            </a:r>
            <a:endParaRPr lang="en-GB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XOR, AND or OR?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333399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QUIZ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527048" y="1810512"/>
            <a:ext cx="6611112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3 min · alone · LMS classifications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3703320" cy="15087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4" name="Shape 14"/>
          <p:cNvSpPr/>
          <p:nvPr/>
        </p:nvSpPr>
        <p:spPr>
          <a:xfrm>
            <a:off x="658368" y="2414016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100" dirty="0"/>
          </a:p>
        </p:txBody>
      </p:sp>
      <p:sp>
        <p:nvSpPr>
          <p:cNvPr id="15" name="Shape 15"/>
          <p:cNvSpPr txBox="1"/>
          <p:nvPr/>
        </p:nvSpPr>
        <p:spPr>
          <a:xfrm>
            <a:off x="1051560" y="2377440"/>
            <a:ext cx="3108960" cy="12801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Each course item is exactly one of: lecture, quiz or assignment</a:t>
            </a:r>
            <a:endParaRPr lang="en-GB" sz="1300" dirty="0"/>
          </a:p>
        </p:txBody>
      </p:sp>
      <p:sp>
        <p:nvSpPr>
          <p:cNvPr id="16" name="Shape 16"/>
          <p:cNvSpPr/>
          <p:nvPr/>
        </p:nvSpPr>
        <p:spPr>
          <a:xfrm>
            <a:off x="4389120" y="2286000"/>
            <a:ext cx="3703320" cy="15087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7" name="Shape 17"/>
          <p:cNvSpPr/>
          <p:nvPr/>
        </p:nvSpPr>
        <p:spPr>
          <a:xfrm>
            <a:off x="4498848" y="2414016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100" dirty="0"/>
          </a:p>
        </p:txBody>
      </p:sp>
      <p:sp>
        <p:nvSpPr>
          <p:cNvPr id="18" name="Shape 18"/>
          <p:cNvSpPr txBox="1"/>
          <p:nvPr/>
        </p:nvSpPr>
        <p:spPr>
          <a:xfrm>
            <a:off x="4892040" y="2377440"/>
            <a:ext cx="3108960" cy="12801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Every course item is classified by both its type and its week</a:t>
            </a:r>
            <a:endParaRPr lang="en-GB" sz="1300" dirty="0"/>
          </a:p>
        </p:txBody>
      </p:sp>
      <p:sp>
        <p:nvSpPr>
          <p:cNvPr id="19" name="Shape 19"/>
          <p:cNvSpPr/>
          <p:nvPr/>
        </p:nvSpPr>
        <p:spPr>
          <a:xfrm>
            <a:off x="548640" y="3977640"/>
            <a:ext cx="3703320" cy="15087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0" name="Shape 20"/>
          <p:cNvSpPr/>
          <p:nvPr/>
        </p:nvSpPr>
        <p:spPr>
          <a:xfrm>
            <a:off x="658368" y="4105656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100" dirty="0"/>
          </a:p>
        </p:txBody>
      </p:sp>
      <p:sp>
        <p:nvSpPr>
          <p:cNvPr id="21" name="Shape 21"/>
          <p:cNvSpPr txBox="1"/>
          <p:nvPr/>
        </p:nvSpPr>
        <p:spPr>
          <a:xfrm>
            <a:off x="1051560" y="4069080"/>
            <a:ext cx="3108960" cy="12801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A resource can carry any of the tags exam-prep, lab, optional — or none</a:t>
            </a:r>
            <a:endParaRPr lang="en-GB" sz="1300" dirty="0"/>
          </a:p>
        </p:txBody>
      </p:sp>
      <p:sp>
        <p:nvSpPr>
          <p:cNvPr id="22" name="Shape 22"/>
          <p:cNvSpPr/>
          <p:nvPr/>
        </p:nvSpPr>
        <p:spPr>
          <a:xfrm>
            <a:off x="4389120" y="3977640"/>
            <a:ext cx="3703320" cy="15087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3" name="Shape 23"/>
          <p:cNvSpPr/>
          <p:nvPr/>
        </p:nvSpPr>
        <p:spPr>
          <a:xfrm>
            <a:off x="4498848" y="4105656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100" dirty="0"/>
          </a:p>
        </p:txBody>
      </p:sp>
      <p:sp>
        <p:nvSpPr>
          <p:cNvPr id="24" name="Shape 24"/>
          <p:cNvSpPr txBox="1"/>
          <p:nvPr/>
        </p:nvSpPr>
        <p:spPr>
          <a:xfrm>
            <a:off x="4892040" y="4069080"/>
            <a:ext cx="3108960" cy="12801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Each portal user is a student, a teacher or an admin</a:t>
            </a:r>
            <a:endParaRPr lang="en-GB" sz="1300" dirty="0"/>
          </a:p>
        </p:txBody>
      </p:sp>
      <p:sp>
        <p:nvSpPr>
          <p:cNvPr id="25" name="Shape 25"/>
          <p:cNvSpPr txBox="1"/>
          <p:nvPr/>
        </p:nvSpPr>
        <p:spPr>
          <a:xfrm>
            <a:off x="548640" y="57607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XOR  |    AND  /    OR  {</a:t>
            </a:r>
            <a:endParaRPr lang="en-GB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XOR, AND or OR? — answers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714500" y="1810512"/>
            <a:ext cx="64236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branch types in a TDH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3703320" cy="15087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4" name="Shape 14"/>
          <p:cNvSpPr/>
          <p:nvPr/>
        </p:nvSpPr>
        <p:spPr>
          <a:xfrm>
            <a:off x="658368" y="2414016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100" dirty="0"/>
          </a:p>
        </p:txBody>
      </p:sp>
      <p:sp>
        <p:nvSpPr>
          <p:cNvPr id="15" name="Shape 15"/>
          <p:cNvSpPr txBox="1"/>
          <p:nvPr/>
        </p:nvSpPr>
        <p:spPr>
          <a:xfrm>
            <a:off x="1051560" y="2377440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Each course item is exactly one of: lecture, quiz or assignment</a:t>
            </a:r>
            <a:endParaRPr lang="en-GB" sz="1300" dirty="0"/>
          </a:p>
        </p:txBody>
      </p:sp>
      <p:sp>
        <p:nvSpPr>
          <p:cNvPr id="16" name="Shape 16"/>
          <p:cNvSpPr/>
          <p:nvPr/>
        </p:nvSpPr>
        <p:spPr>
          <a:xfrm>
            <a:off x="685800" y="3246120"/>
            <a:ext cx="3429000" cy="411480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FFFFFF"/>
                </a:solidFill>
                <a:latin typeface="Arial"/>
                <a:cs typeface="Arial"/>
              </a:rPr>
              <a:t>XOR — one and only one branch</a:t>
            </a:r>
            <a:endParaRPr lang="en-GB" sz="1150" dirty="0"/>
          </a:p>
        </p:txBody>
      </p:sp>
      <p:sp>
        <p:nvSpPr>
          <p:cNvPr id="17" name="Shape 17"/>
          <p:cNvSpPr/>
          <p:nvPr/>
        </p:nvSpPr>
        <p:spPr>
          <a:xfrm>
            <a:off x="4389120" y="2286000"/>
            <a:ext cx="3703320" cy="15087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8" name="Shape 18"/>
          <p:cNvSpPr/>
          <p:nvPr/>
        </p:nvSpPr>
        <p:spPr>
          <a:xfrm>
            <a:off x="4498848" y="2414016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100" dirty="0"/>
          </a:p>
        </p:txBody>
      </p:sp>
      <p:sp>
        <p:nvSpPr>
          <p:cNvPr id="19" name="Shape 19"/>
          <p:cNvSpPr txBox="1"/>
          <p:nvPr/>
        </p:nvSpPr>
        <p:spPr>
          <a:xfrm>
            <a:off x="4892040" y="2377440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Every course item is classified by both its type and its week</a:t>
            </a:r>
            <a:endParaRPr lang="en-GB" sz="1300" dirty="0"/>
          </a:p>
        </p:txBody>
      </p:sp>
      <p:sp>
        <p:nvSpPr>
          <p:cNvPr id="20" name="Shape 20"/>
          <p:cNvSpPr/>
          <p:nvPr/>
        </p:nvSpPr>
        <p:spPr>
          <a:xfrm>
            <a:off x="4526280" y="3246120"/>
            <a:ext cx="3429000" cy="411480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FFFFFF"/>
                </a:solidFill>
                <a:latin typeface="Arial"/>
                <a:cs typeface="Arial"/>
              </a:rPr>
              <a:t>AND — multiple classifications</a:t>
            </a:r>
            <a:endParaRPr lang="en-GB" sz="1150" dirty="0"/>
          </a:p>
        </p:txBody>
      </p:sp>
      <p:sp>
        <p:nvSpPr>
          <p:cNvPr id="21" name="Shape 21"/>
          <p:cNvSpPr/>
          <p:nvPr/>
        </p:nvSpPr>
        <p:spPr>
          <a:xfrm>
            <a:off x="548640" y="3977640"/>
            <a:ext cx="3703320" cy="15087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2" name="Shape 22"/>
          <p:cNvSpPr/>
          <p:nvPr/>
        </p:nvSpPr>
        <p:spPr>
          <a:xfrm>
            <a:off x="658368" y="4105656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100" dirty="0"/>
          </a:p>
        </p:txBody>
      </p:sp>
      <p:sp>
        <p:nvSpPr>
          <p:cNvPr id="23" name="Shape 23"/>
          <p:cNvSpPr txBox="1"/>
          <p:nvPr/>
        </p:nvSpPr>
        <p:spPr>
          <a:xfrm>
            <a:off x="1051560" y="4069080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A resource can carry any of the tags exam-prep, lab, optional — or none</a:t>
            </a:r>
            <a:endParaRPr lang="en-GB" sz="1300" dirty="0"/>
          </a:p>
        </p:txBody>
      </p:sp>
      <p:sp>
        <p:nvSpPr>
          <p:cNvPr id="24" name="Shape 24"/>
          <p:cNvSpPr/>
          <p:nvPr/>
        </p:nvSpPr>
        <p:spPr>
          <a:xfrm>
            <a:off x="685800" y="4937760"/>
            <a:ext cx="3429000" cy="411480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FFFFFF"/>
                </a:solidFill>
                <a:latin typeface="Arial"/>
                <a:cs typeface="Arial"/>
              </a:rPr>
              <a:t>OR — one, many or none</a:t>
            </a:r>
            <a:endParaRPr lang="en-GB" sz="1150" dirty="0"/>
          </a:p>
        </p:txBody>
      </p:sp>
      <p:sp>
        <p:nvSpPr>
          <p:cNvPr id="25" name="Shape 25"/>
          <p:cNvSpPr/>
          <p:nvPr/>
        </p:nvSpPr>
        <p:spPr>
          <a:xfrm>
            <a:off x="4389120" y="3977640"/>
            <a:ext cx="3703320" cy="15087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6" name="Shape 26"/>
          <p:cNvSpPr/>
          <p:nvPr/>
        </p:nvSpPr>
        <p:spPr>
          <a:xfrm>
            <a:off x="4498848" y="4105656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100" dirty="0"/>
          </a:p>
        </p:txBody>
      </p:sp>
      <p:sp>
        <p:nvSpPr>
          <p:cNvPr id="27" name="Shape 27"/>
          <p:cNvSpPr txBox="1"/>
          <p:nvPr/>
        </p:nvSpPr>
        <p:spPr>
          <a:xfrm>
            <a:off x="4892040" y="4069080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Each portal user is a student, a teacher or an admin</a:t>
            </a:r>
            <a:endParaRPr lang="en-GB" sz="1300" dirty="0"/>
          </a:p>
        </p:txBody>
      </p:sp>
      <p:sp>
        <p:nvSpPr>
          <p:cNvPr id="28" name="Shape 28"/>
          <p:cNvSpPr/>
          <p:nvPr/>
        </p:nvSpPr>
        <p:spPr>
          <a:xfrm>
            <a:off x="4526280" y="4937760"/>
            <a:ext cx="3429000" cy="411480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FFFFFF"/>
                </a:solidFill>
                <a:latin typeface="Arial"/>
                <a:cs typeface="Arial"/>
              </a:rPr>
              <a:t>XOR … unless someone is both: then OR</a:t>
            </a:r>
            <a:endParaRPr lang="en-GB" sz="1150" dirty="0"/>
          </a:p>
        </p:txBody>
      </p:sp>
      <p:sp>
        <p:nvSpPr>
          <p:cNvPr id="29" name="Shape 29"/>
          <p:cNvSpPr txBox="1"/>
          <p:nvPr/>
        </p:nvSpPr>
        <p:spPr>
          <a:xfrm>
            <a:off x="548640" y="57607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Item 4: a PhD scholar who also teaches is both — real data breaks neat taxonomies. Check the uniqueness rule against real users.</a:t>
            </a:r>
            <a:endParaRPr lang="en-GB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Agent, patient, instrument — or hidden?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440180" cy="310896"/>
          </a:xfrm>
          <a:prstGeom prst="roundRect">
            <a:avLst>
              <a:gd name="adj" fmla="val 50000"/>
            </a:avLst>
          </a:prstGeom>
          <a:solidFill>
            <a:srgbClr val="8A5A0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CASE PUZZLE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2098548" y="1810512"/>
            <a:ext cx="6039612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5 min · pairs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3703320" cy="15087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4" name="Shape 14"/>
          <p:cNvSpPr/>
          <p:nvPr/>
        </p:nvSpPr>
        <p:spPr>
          <a:xfrm>
            <a:off x="658368" y="2414016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100" dirty="0"/>
          </a:p>
        </p:txBody>
      </p:sp>
      <p:sp>
        <p:nvSpPr>
          <p:cNvPr id="15" name="Shape 15"/>
          <p:cNvSpPr txBox="1"/>
          <p:nvPr/>
        </p:nvSpPr>
        <p:spPr>
          <a:xfrm>
            <a:off x="1051560" y="2377440"/>
            <a:ext cx="3108960" cy="12801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300" b="0" i="1" dirty="0">
                <a:solidFill>
                  <a:srgbClr val="1A1A1A"/>
                </a:solidFill>
                <a:latin typeface="Arial"/>
                <a:cs typeface="Arial"/>
              </a:rPr>
              <a:t>“Ayesha paid the LESCO bill with JazzCash.”</a:t>
            </a:r>
            <a:endParaRPr lang="en-GB" sz="1300" dirty="0"/>
          </a:p>
        </p:txBody>
      </p:sp>
      <p:sp>
        <p:nvSpPr>
          <p:cNvPr id="16" name="Shape 16"/>
          <p:cNvSpPr/>
          <p:nvPr/>
        </p:nvSpPr>
        <p:spPr>
          <a:xfrm>
            <a:off x="4389120" y="2286000"/>
            <a:ext cx="3703320" cy="15087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7" name="Shape 17"/>
          <p:cNvSpPr/>
          <p:nvPr/>
        </p:nvSpPr>
        <p:spPr>
          <a:xfrm>
            <a:off x="4498848" y="2414016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100" dirty="0"/>
          </a:p>
        </p:txBody>
      </p:sp>
      <p:sp>
        <p:nvSpPr>
          <p:cNvPr id="18" name="Shape 18"/>
          <p:cNvSpPr txBox="1"/>
          <p:nvPr/>
        </p:nvSpPr>
        <p:spPr>
          <a:xfrm>
            <a:off x="4892040" y="2377440"/>
            <a:ext cx="3108960" cy="12801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300" b="0" i="1" dirty="0">
                <a:solidFill>
                  <a:srgbClr val="1A1A1A"/>
                </a:solidFill>
                <a:latin typeface="Arial"/>
                <a:cs typeface="Arial"/>
              </a:rPr>
              <a:t>“The fee challan was verified.”</a:t>
            </a:r>
            <a:endParaRPr lang="en-GB" sz="1300" dirty="0"/>
          </a:p>
        </p:txBody>
      </p:sp>
      <p:sp>
        <p:nvSpPr>
          <p:cNvPr id="19" name="Shape 19"/>
          <p:cNvSpPr/>
          <p:nvPr/>
        </p:nvSpPr>
        <p:spPr>
          <a:xfrm>
            <a:off x="548640" y="3977640"/>
            <a:ext cx="3703320" cy="15087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0" name="Shape 20"/>
          <p:cNvSpPr/>
          <p:nvPr/>
        </p:nvSpPr>
        <p:spPr>
          <a:xfrm>
            <a:off x="658368" y="4105656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100" dirty="0"/>
          </a:p>
        </p:txBody>
      </p:sp>
      <p:sp>
        <p:nvSpPr>
          <p:cNvPr id="21" name="Shape 21"/>
          <p:cNvSpPr txBox="1"/>
          <p:nvPr/>
        </p:nvSpPr>
        <p:spPr>
          <a:xfrm>
            <a:off x="1051560" y="4069080"/>
            <a:ext cx="3108960" cy="12801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300" b="0" i="1" dirty="0">
                <a:solidFill>
                  <a:srgbClr val="1A1A1A"/>
                </a:solidFill>
                <a:latin typeface="Arial"/>
                <a:cs typeface="Arial"/>
              </a:rPr>
              <a:t>“Sir Imran set the LMS to close submissions at midnight.”</a:t>
            </a:r>
            <a:endParaRPr lang="en-GB" sz="1300" dirty="0"/>
          </a:p>
        </p:txBody>
      </p:sp>
      <p:sp>
        <p:nvSpPr>
          <p:cNvPr id="22" name="Shape 22"/>
          <p:cNvSpPr/>
          <p:nvPr/>
        </p:nvSpPr>
        <p:spPr>
          <a:xfrm>
            <a:off x="4389120" y="3977640"/>
            <a:ext cx="3703320" cy="15087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3" name="Shape 23"/>
          <p:cNvSpPr/>
          <p:nvPr/>
        </p:nvSpPr>
        <p:spPr>
          <a:xfrm>
            <a:off x="4498848" y="4105656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100" dirty="0"/>
          </a:p>
        </p:txBody>
      </p:sp>
      <p:sp>
        <p:nvSpPr>
          <p:cNvPr id="24" name="Shape 24"/>
          <p:cNvSpPr txBox="1"/>
          <p:nvPr/>
        </p:nvSpPr>
        <p:spPr>
          <a:xfrm>
            <a:off x="4892040" y="4069080"/>
            <a:ext cx="3108960" cy="12801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300" b="0" i="1" dirty="0">
                <a:solidFill>
                  <a:srgbClr val="1A1A1A"/>
                </a:solidFill>
                <a:latin typeface="Arial"/>
                <a:cs typeface="Arial"/>
              </a:rPr>
              <a:t>“The warden told Bilal to fix the fan.”</a:t>
            </a:r>
            <a:endParaRPr lang="en-GB" sz="1300" dirty="0"/>
          </a:p>
        </p:txBody>
      </p:sp>
      <p:sp>
        <p:nvSpPr>
          <p:cNvPr id="25" name="Shape 25"/>
          <p:cNvSpPr txBox="1"/>
          <p:nvPr/>
        </p:nvSpPr>
        <p:spPr>
          <a:xfrm>
            <a:off x="548640" y="57607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For each sentence: agent? action? patient? instrument? Anything special — implicit agent, indirect agency, message, rôle, event?</a:t>
            </a:r>
            <a:endParaRPr lang="en-GB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Agent, patient, instrument — or hidden? — answers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714500" y="1810512"/>
            <a:ext cx="64236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actions, rôles and events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3703320" cy="15087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4" name="Shape 14"/>
          <p:cNvSpPr/>
          <p:nvPr/>
        </p:nvSpPr>
        <p:spPr>
          <a:xfrm>
            <a:off x="658368" y="2414016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100" dirty="0"/>
          </a:p>
        </p:txBody>
      </p:sp>
      <p:sp>
        <p:nvSpPr>
          <p:cNvPr id="15" name="Shape 15"/>
          <p:cNvSpPr txBox="1"/>
          <p:nvPr/>
        </p:nvSpPr>
        <p:spPr>
          <a:xfrm>
            <a:off x="1051560" y="237744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300" b="0" i="1" dirty="0">
                <a:solidFill>
                  <a:srgbClr val="1A1A1A"/>
                </a:solidFill>
                <a:latin typeface="Arial"/>
                <a:cs typeface="Arial"/>
              </a:rPr>
              <a:t>“Ayesha paid the LESCO bill with JazzCash.”</a:t>
            </a:r>
            <a:endParaRPr lang="en-GB" sz="1300" dirty="0"/>
          </a:p>
        </p:txBody>
      </p:sp>
      <p:sp>
        <p:nvSpPr>
          <p:cNvPr id="16" name="Shape 16"/>
          <p:cNvSpPr/>
          <p:nvPr/>
        </p:nvSpPr>
        <p:spPr>
          <a:xfrm>
            <a:off x="685800" y="3063240"/>
            <a:ext cx="3429000" cy="621792"/>
          </a:xfrm>
          <a:prstGeom prst="roundRect">
            <a:avLst>
              <a:gd name="adj" fmla="val 20000"/>
            </a:avLst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1" i="0" dirty="0">
                <a:solidFill>
                  <a:srgbClr val="FFFFFF"/>
                </a:solidFill>
                <a:latin typeface="Arial"/>
                <a:cs typeface="Arial"/>
              </a:rPr>
              <a:t>agent Ayesha · action pay · patient the bill · instrument JazzCash</a:t>
            </a:r>
            <a:endParaRPr lang="en-GB" sz="1050" dirty="0"/>
          </a:p>
        </p:txBody>
      </p:sp>
      <p:sp>
        <p:nvSpPr>
          <p:cNvPr id="17" name="Shape 17"/>
          <p:cNvSpPr/>
          <p:nvPr/>
        </p:nvSpPr>
        <p:spPr>
          <a:xfrm>
            <a:off x="4389120" y="2286000"/>
            <a:ext cx="3703320" cy="15087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8" name="Shape 18"/>
          <p:cNvSpPr/>
          <p:nvPr/>
        </p:nvSpPr>
        <p:spPr>
          <a:xfrm>
            <a:off x="4498848" y="2414016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100" dirty="0"/>
          </a:p>
        </p:txBody>
      </p:sp>
      <p:sp>
        <p:nvSpPr>
          <p:cNvPr id="19" name="Shape 19"/>
          <p:cNvSpPr txBox="1"/>
          <p:nvPr/>
        </p:nvSpPr>
        <p:spPr>
          <a:xfrm>
            <a:off x="4892040" y="237744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300" b="0" i="1" dirty="0">
                <a:solidFill>
                  <a:srgbClr val="1A1A1A"/>
                </a:solidFill>
                <a:latin typeface="Arial"/>
                <a:cs typeface="Arial"/>
              </a:rPr>
              <a:t>“The fee challan was verified.”</a:t>
            </a:r>
            <a:endParaRPr lang="en-GB" sz="1300" dirty="0"/>
          </a:p>
        </p:txBody>
      </p:sp>
      <p:sp>
        <p:nvSpPr>
          <p:cNvPr id="20" name="Shape 20"/>
          <p:cNvSpPr/>
          <p:nvPr/>
        </p:nvSpPr>
        <p:spPr>
          <a:xfrm>
            <a:off x="4526280" y="3063240"/>
            <a:ext cx="3429000" cy="621792"/>
          </a:xfrm>
          <a:prstGeom prst="roundRect">
            <a:avLst>
              <a:gd name="adj" fmla="val 20000"/>
            </a:avLst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1" i="0" dirty="0">
                <a:solidFill>
                  <a:srgbClr val="FFFFFF"/>
                </a:solidFill>
                <a:latin typeface="Arial"/>
                <a:cs typeface="Arial"/>
              </a:rPr>
              <a:t>implicit agent — by whom? A bank officer, or the system? Ask.</a:t>
            </a:r>
            <a:endParaRPr lang="en-GB" sz="1050" dirty="0"/>
          </a:p>
        </p:txBody>
      </p:sp>
      <p:sp>
        <p:nvSpPr>
          <p:cNvPr id="21" name="Shape 21"/>
          <p:cNvSpPr/>
          <p:nvPr/>
        </p:nvSpPr>
        <p:spPr>
          <a:xfrm>
            <a:off x="548640" y="3977640"/>
            <a:ext cx="3703320" cy="15087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2" name="Shape 22"/>
          <p:cNvSpPr/>
          <p:nvPr/>
        </p:nvSpPr>
        <p:spPr>
          <a:xfrm>
            <a:off x="658368" y="4105656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100" dirty="0"/>
          </a:p>
        </p:txBody>
      </p:sp>
      <p:sp>
        <p:nvSpPr>
          <p:cNvPr id="23" name="Shape 23"/>
          <p:cNvSpPr txBox="1"/>
          <p:nvPr/>
        </p:nvSpPr>
        <p:spPr>
          <a:xfrm>
            <a:off x="1051560" y="406908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300" b="0" i="1" dirty="0">
                <a:solidFill>
                  <a:srgbClr val="1A1A1A"/>
                </a:solidFill>
                <a:latin typeface="Arial"/>
                <a:cs typeface="Arial"/>
              </a:rPr>
              <a:t>“Sir Imran set the LMS to close submissions at midnight.”</a:t>
            </a:r>
            <a:endParaRPr lang="en-GB" sz="1300" dirty="0"/>
          </a:p>
        </p:txBody>
      </p:sp>
      <p:sp>
        <p:nvSpPr>
          <p:cNvPr id="24" name="Shape 24"/>
          <p:cNvSpPr/>
          <p:nvPr/>
        </p:nvSpPr>
        <p:spPr>
          <a:xfrm>
            <a:off x="685800" y="4754880"/>
            <a:ext cx="3429000" cy="621792"/>
          </a:xfrm>
          <a:prstGeom prst="roundRect">
            <a:avLst>
              <a:gd name="adj" fmla="val 20000"/>
            </a:avLst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1" i="0" dirty="0">
                <a:solidFill>
                  <a:srgbClr val="FFFFFF"/>
                </a:solidFill>
                <a:latin typeface="Arial"/>
                <a:cs typeface="Arial"/>
              </a:rPr>
              <a:t>indirect agency — Sir Imran is the real agent; midnight is a timed event</a:t>
            </a:r>
            <a:endParaRPr lang="en-GB" sz="1050" dirty="0"/>
          </a:p>
        </p:txBody>
      </p:sp>
      <p:sp>
        <p:nvSpPr>
          <p:cNvPr id="25" name="Shape 25"/>
          <p:cNvSpPr/>
          <p:nvPr/>
        </p:nvSpPr>
        <p:spPr>
          <a:xfrm>
            <a:off x="4389120" y="3977640"/>
            <a:ext cx="3703320" cy="15087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6" name="Shape 26"/>
          <p:cNvSpPr/>
          <p:nvPr/>
        </p:nvSpPr>
        <p:spPr>
          <a:xfrm>
            <a:off x="4498848" y="4105656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100" dirty="0"/>
          </a:p>
        </p:txBody>
      </p:sp>
      <p:sp>
        <p:nvSpPr>
          <p:cNvPr id="27" name="Shape 27"/>
          <p:cNvSpPr txBox="1"/>
          <p:nvPr/>
        </p:nvSpPr>
        <p:spPr>
          <a:xfrm>
            <a:off x="4892040" y="406908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300" b="0" i="1" dirty="0">
                <a:solidFill>
                  <a:srgbClr val="1A1A1A"/>
                </a:solidFill>
                <a:latin typeface="Arial"/>
                <a:cs typeface="Arial"/>
              </a:rPr>
              <a:t>“The warden told Bilal to fix the fan.”</a:t>
            </a:r>
            <a:endParaRPr lang="en-GB" sz="1300" dirty="0"/>
          </a:p>
        </p:txBody>
      </p:sp>
      <p:sp>
        <p:nvSpPr>
          <p:cNvPr id="28" name="Shape 28"/>
          <p:cNvSpPr/>
          <p:nvPr/>
        </p:nvSpPr>
        <p:spPr>
          <a:xfrm>
            <a:off x="4526280" y="4754880"/>
            <a:ext cx="3429000" cy="621792"/>
          </a:xfrm>
          <a:prstGeom prst="roundRect">
            <a:avLst>
              <a:gd name="adj" fmla="val 20000"/>
            </a:avLst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1" i="0" dirty="0">
                <a:solidFill>
                  <a:srgbClr val="FFFFFF"/>
                </a:solidFill>
                <a:latin typeface="Arial"/>
                <a:cs typeface="Arial"/>
              </a:rPr>
              <a:t>a message; warden acting in a manager rôle; Bilal agent of “fix”, the fan its patient</a:t>
            </a:r>
            <a:endParaRPr lang="en-GB" sz="1050" dirty="0"/>
          </a:p>
        </p:txBody>
      </p:sp>
      <p:sp>
        <p:nvSpPr>
          <p:cNvPr id="29" name="Shape 29"/>
          <p:cNvSpPr txBox="1"/>
          <p:nvPr/>
        </p:nvSpPr>
        <p:spPr>
          <a:xfrm>
            <a:off x="548640" y="57607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Item 2 is the design lesson: documents full of passive sentences hide who actually does the work. Ask “by whom?”.</a:t>
            </a:r>
            <a:endParaRPr lang="en-GB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/>
              <a:t>Exit ticket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632204" cy="310896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LIVE EXERCISE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2290572" y="1810512"/>
            <a:ext cx="5847588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5 min · alone, on paper · hand in at the door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487168"/>
            <a:ext cx="384048" cy="384048"/>
          </a:xfrm>
          <a:prstGeom prst="ellipse">
            <a:avLst/>
          </a:prstGeom>
          <a:solidFill>
            <a:srgbClr val="2D2D8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3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300" dirty="0"/>
          </a:p>
        </p:txBody>
      </p:sp>
      <p:sp>
        <p:nvSpPr>
          <p:cNvPr id="14" name="Shape 14"/>
          <p:cNvSpPr/>
          <p:nvPr/>
        </p:nvSpPr>
        <p:spPr>
          <a:xfrm>
            <a:off x="1097280" y="2286000"/>
            <a:ext cx="7040880" cy="804672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46304" tIns="146304" rIns="146304" bIns="146304" anchor="ctr" rtlCol="0">
            <a:no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Name two user-profile questions you would ask about your Lab 5 project users, and one design consequence of each.</a:t>
            </a:r>
            <a:endParaRPr lang="en-GB" sz="1400" dirty="0"/>
          </a:p>
        </p:txBody>
      </p:sp>
      <p:sp>
        <p:nvSpPr>
          <p:cNvPr id="15" name="Shape 15"/>
          <p:cNvSpPr/>
          <p:nvPr/>
        </p:nvSpPr>
        <p:spPr>
          <a:xfrm>
            <a:off x="548640" y="3447288"/>
            <a:ext cx="384048" cy="384048"/>
          </a:xfrm>
          <a:prstGeom prst="ellipse">
            <a:avLst/>
          </a:prstGeom>
          <a:solidFill>
            <a:srgbClr val="2D2D8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3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300" dirty="0"/>
          </a:p>
        </p:txBody>
      </p:sp>
      <p:sp>
        <p:nvSpPr>
          <p:cNvPr id="16" name="Shape 16"/>
          <p:cNvSpPr/>
          <p:nvPr/>
        </p:nvSpPr>
        <p:spPr>
          <a:xfrm>
            <a:off x="1097280" y="3246120"/>
            <a:ext cx="7040880" cy="804672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46304" tIns="146304" rIns="146304" bIns="146304" anchor="ctr" rtlCol="0">
            <a:no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Draw a two-level HTA for “pay hostel dues online”, with plan 0.</a:t>
            </a:r>
            <a:endParaRPr lang="en-GB" sz="1400" dirty="0"/>
          </a:p>
        </p:txBody>
      </p:sp>
      <p:sp>
        <p:nvSpPr>
          <p:cNvPr id="17" name="Shape 17"/>
          <p:cNvSpPr/>
          <p:nvPr/>
        </p:nvSpPr>
        <p:spPr>
          <a:xfrm>
            <a:off x="548640" y="4407408"/>
            <a:ext cx="384048" cy="384048"/>
          </a:xfrm>
          <a:prstGeom prst="ellipse">
            <a:avLst/>
          </a:prstGeom>
          <a:solidFill>
            <a:srgbClr val="2D2D8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3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300" dirty="0"/>
          </a:p>
        </p:txBody>
      </p:sp>
      <p:sp>
        <p:nvSpPr>
          <p:cNvPr id="18" name="Shape 18"/>
          <p:cNvSpPr/>
          <p:nvPr/>
        </p:nvSpPr>
        <p:spPr>
          <a:xfrm>
            <a:off x="1097280" y="4206240"/>
            <a:ext cx="7040880" cy="804672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46304" tIns="146304" rIns="146304" bIns="146304" anchor="ctr" rtlCol="0">
            <a:no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What is still unclear after today?</a:t>
            </a:r>
            <a:endParaRPr lang="en-GB" sz="1400" dirty="0"/>
          </a:p>
        </p:txBody>
      </p:sp>
      <p:sp>
        <p:nvSpPr>
          <p:cNvPr id="19" name="Shape 19"/>
          <p:cNvSpPr/>
          <p:nvPr/>
        </p:nvSpPr>
        <p:spPr>
          <a:xfrm>
            <a:off x="548640" y="5257800"/>
            <a:ext cx="7589520" cy="685800"/>
          </a:xfrm>
          <a:prstGeom prst="roundRect">
            <a:avLst>
              <a:gd name="adj" fmla="val 8000"/>
            </a:avLst>
          </a:prstGeom>
          <a:solidFill>
            <a:srgbClr val="F5ECD9"/>
          </a:solidFill>
          <a:ln w="12700">
            <a:solidFill>
              <a:srgbClr val="9DB8BC"/>
            </a:solidFill>
          </a:ln>
        </p:spPr>
        <p:txBody>
          <a:bodyPr wrap="square" lIns="146304" tIns="146304" rIns="146304" bIns="146304" anchor="ctr" rtlCol="0">
            <a:no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2D2D8A"/>
                </a:solidFill>
                <a:latin typeface="Arial"/>
                <a:cs typeface="Arial"/>
              </a:rPr>
              <a:t xml:space="preserve">Lab 5 — Know Your Users (Figma): </a:t>
            </a: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bring your pre-lab interview notes. Task analysis feeds Lab 6.</a:t>
            </a:r>
            <a:endParaRPr lang="en-GB" sz="13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946400"/>
            <a:ext cx="7315200" cy="965200"/>
          </a:xfrm>
        </p:spPr>
        <p:txBody>
          <a:bodyPr/>
          <a:lstStyle/>
          <a:p>
            <a:pPr algn="ctr"/>
            <a:r>
              <a:rPr lang="en-GB" dirty="0"/>
              <a:t>End of the Lecture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Comic Sans MS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2431</Words>
  <Application>Microsoft Macintosh PowerPoint</Application>
  <PresentationFormat>On-screen Show (4:3)</PresentationFormat>
  <Paragraphs>412</Paragraphs>
  <Slides>36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Comic Sans MS</vt:lpstr>
      <vt:lpstr>Courier New</vt:lpstr>
      <vt:lpstr>Monotype Sorts</vt:lpstr>
      <vt:lpstr>Symbol</vt:lpstr>
      <vt:lpstr>Times</vt:lpstr>
      <vt:lpstr>Verdana</vt:lpstr>
      <vt:lpstr>Blank</vt:lpstr>
      <vt:lpstr>Bitmap Image</vt:lpstr>
      <vt:lpstr>chapter 15</vt:lpstr>
      <vt:lpstr>What is Task Analysis?</vt:lpstr>
      <vt:lpstr>An Example</vt:lpstr>
      <vt:lpstr>Approaches to task analysis</vt:lpstr>
      <vt:lpstr>general method</vt:lpstr>
      <vt:lpstr>Differences from other techniques</vt:lpstr>
      <vt:lpstr>Task Decomposition</vt:lpstr>
      <vt:lpstr>Textual HTA description</vt:lpstr>
      <vt:lpstr>Generating the hierarchy</vt:lpstr>
      <vt:lpstr>Tasks as explanation</vt:lpstr>
      <vt:lpstr>HTA as grammar</vt:lpstr>
      <vt:lpstr>parse scenario using HTA</vt:lpstr>
      <vt:lpstr>Diagrammatic HTA</vt:lpstr>
      <vt:lpstr>Refining the description</vt:lpstr>
      <vt:lpstr>Refined HTA for making tea </vt:lpstr>
      <vt:lpstr>Types of plan</vt:lpstr>
      <vt:lpstr>waiting …</vt:lpstr>
      <vt:lpstr>Knowledge Based Analyses</vt:lpstr>
      <vt:lpstr>Knowledge–Based Example …</vt:lpstr>
      <vt:lpstr>Task Description Hierarchy</vt:lpstr>
      <vt:lpstr>Larger TDH example</vt:lpstr>
      <vt:lpstr>More on TDH</vt:lpstr>
      <vt:lpstr>Abstraction and cuts</vt:lpstr>
      <vt:lpstr>Entity-Relationship Techniques</vt:lpstr>
      <vt:lpstr>Objects</vt:lpstr>
      <vt:lpstr>Attributes</vt:lpstr>
      <vt:lpstr>Actions</vt:lpstr>
      <vt:lpstr>Actions (ctd) </vt:lpstr>
      <vt:lpstr>example – objects and actions</vt:lpstr>
      <vt:lpstr>Events</vt:lpstr>
      <vt:lpstr>Relationships</vt:lpstr>
      <vt:lpstr>example – events and relations</vt:lpstr>
      <vt:lpstr>Sources of Information</vt:lpstr>
      <vt:lpstr>Early analysis</vt:lpstr>
      <vt:lpstr>Uses – manuals &amp; documentation</vt:lpstr>
      <vt:lpstr>Uses – requirements &amp; design</vt:lpstr>
    </vt:vector>
  </TitlesOfParts>
  <Company>Lancaster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Alan Dix</dc:creator>
  <cp:lastModifiedBy>Alan Dix</cp:lastModifiedBy>
  <cp:revision>10</cp:revision>
  <dcterms:created xsi:type="dcterms:W3CDTF">2003-08-07T14:10:51Z</dcterms:created>
  <dcterms:modified xsi:type="dcterms:W3CDTF">2025-03-02T10:25:20Z</dcterms:modified>
</cp:coreProperties>
</file>