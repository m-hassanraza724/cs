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audio1.bin" ContentType="audio/unknown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48" r:id="rId1"/>
  </p:sldMasterIdLst>
  <p:notesMasterIdLst>
    <p:notesMasterId r:id="rId72"/>
  </p:notesMasterIdLst>
  <p:sldIdLst>
    <p:sldId id="320" r:id="rId2"/>
    <p:sldId id="379" r:id="rId77"/>
    <p:sldId id="380" r:id="rId78"/>
    <p:sldId id="364" r:id="rId33"/>
    <p:sldId id="381" r:id="rId79"/>
    <p:sldId id="382" r:id="rId80"/>
    <p:sldId id="337" r:id="rId34"/>
    <p:sldId id="338" r:id="rId35"/>
    <p:sldId id="339" r:id="rId36"/>
    <p:sldId id="340" r:id="rId37"/>
    <p:sldId id="341" r:id="rId38"/>
    <p:sldId id="383" r:id="rId81"/>
    <p:sldId id="384" r:id="rId82"/>
    <p:sldId id="342" r:id="rId39"/>
    <p:sldId id="343" r:id="rId40"/>
    <p:sldId id="345" r:id="rId41"/>
    <p:sldId id="385" r:id="rId83"/>
    <p:sldId id="386" r:id="rId84"/>
    <p:sldId id="366" r:id="rId42"/>
    <p:sldId id="347" r:id="rId43"/>
    <p:sldId id="346" r:id="rId44"/>
    <p:sldId id="387" r:id="rId85"/>
    <p:sldId id="388" r:id="rId86"/>
    <p:sldId id="367" r:id="rId45"/>
    <p:sldId id="368" r:id="rId46"/>
    <p:sldId id="369" r:id="rId47"/>
    <p:sldId id="370" r:id="rId48"/>
    <p:sldId id="372" r:id="rId49"/>
    <p:sldId id="389" r:id="rId87"/>
    <p:sldId id="348" r:id="rId50"/>
    <p:sldId id="390" r:id="rId88"/>
    <p:sldId id="377" r:id="rId51"/>
    <p:sldId id="378" r:id="rId52"/>
    <p:sldId id="391" r:id="rId89"/>
    <p:sldId id="302" r:id="rId53"/>
    <p:sldId id="303" r:id="rId54"/>
    <p:sldId id="304" r:id="rId55"/>
    <p:sldId id="305" r:id="rId56"/>
    <p:sldId id="307" r:id="rId57"/>
    <p:sldId id="392" r:id="rId90"/>
    <p:sldId id="393" r:id="rId91"/>
    <p:sldId id="373" r:id="rId58"/>
    <p:sldId id="374" r:id="rId59"/>
    <p:sldId id="394" r:id="rId92"/>
    <p:sldId id="395" r:id="rId93"/>
    <p:sldId id="291" r:id="rId60"/>
    <p:sldId id="292" r:id="rId61"/>
    <p:sldId id="293" r:id="rId62"/>
    <p:sldId id="294" r:id="rId63"/>
    <p:sldId id="295" r:id="rId64"/>
    <p:sldId id="296" r:id="rId65"/>
    <p:sldId id="396" r:id="rId94"/>
    <p:sldId id="297" r:id="rId66"/>
    <p:sldId id="298" r:id="rId67"/>
    <p:sldId id="301" r:id="rId68"/>
    <p:sldId id="397" r:id="rId95"/>
    <p:sldId id="398" r:id="rId96"/>
    <p:sldId id="376" r:id="rId69"/>
    <p:sldId id="399" r:id="rId97"/>
    <p:sldId id="400" r:id="rId98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2" autoAdjust="0"/>
    <p:restoredTop sz="90929"/>
  </p:normalViewPr>
  <p:slideViewPr>
    <p:cSldViewPr>
      <p:cViewPr varScale="1">
        <p:scale>
          <a:sx n="123" d="100"/>
          <a:sy n="123" d="100"/>
        </p:scale>
        <p:origin x="152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8752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61" Type="http://schemas.openxmlformats.org/officeDocument/2006/relationships/slide" Target="slides/slide60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  <Relationship Id="rId77" Type="http://schemas.openxmlformats.org/officeDocument/2006/relationships/slide" Target="slides/slide71.xml"/>
  <Relationship Id="rId78" Type="http://schemas.openxmlformats.org/officeDocument/2006/relationships/slide" Target="slides/slide72.xml"/>
  <Relationship Id="rId79" Type="http://schemas.openxmlformats.org/officeDocument/2006/relationships/slide" Target="slides/slide73.xml"/>
  <Relationship Id="rId80" Type="http://schemas.openxmlformats.org/officeDocument/2006/relationships/slide" Target="slides/slide74.xml"/>
  <Relationship Id="rId81" Type="http://schemas.openxmlformats.org/officeDocument/2006/relationships/slide" Target="slides/slide75.xml"/>
  <Relationship Id="rId82" Type="http://schemas.openxmlformats.org/officeDocument/2006/relationships/slide" Target="slides/slide76.xml"/>
  <Relationship Id="rId83" Type="http://schemas.openxmlformats.org/officeDocument/2006/relationships/slide" Target="slides/slide77.xml"/>
  <Relationship Id="rId84" Type="http://schemas.openxmlformats.org/officeDocument/2006/relationships/slide" Target="slides/slide78.xml"/>
  <Relationship Id="rId85" Type="http://schemas.openxmlformats.org/officeDocument/2006/relationships/slide" Target="slides/slide79.xml"/>
  <Relationship Id="rId86" Type="http://schemas.openxmlformats.org/officeDocument/2006/relationships/slide" Target="slides/slide80.xml"/>
  <Relationship Id="rId87" Type="http://schemas.openxmlformats.org/officeDocument/2006/relationships/slide" Target="slides/slide81.xml"/>
  <Relationship Id="rId88" Type="http://schemas.openxmlformats.org/officeDocument/2006/relationships/slide" Target="slides/slide82.xml"/>
  <Relationship Id="rId89" Type="http://schemas.openxmlformats.org/officeDocument/2006/relationships/slide" Target="slides/slide83.xml"/>
  <Relationship Id="rId90" Type="http://schemas.openxmlformats.org/officeDocument/2006/relationships/slide" Target="slides/slide84.xml"/>
  <Relationship Id="rId91" Type="http://schemas.openxmlformats.org/officeDocument/2006/relationships/slide" Target="slides/slide85.xml"/>
  <Relationship Id="rId92" Type="http://schemas.openxmlformats.org/officeDocument/2006/relationships/slide" Target="slides/slide86.xml"/>
  <Relationship Id="rId93" Type="http://schemas.openxmlformats.org/officeDocument/2006/relationships/slide" Target="slides/slide87.xml"/>
  <Relationship Id="rId94" Type="http://schemas.openxmlformats.org/officeDocument/2006/relationships/slide" Target="slides/slide88.xml"/>
  <Relationship Id="rId95" Type="http://schemas.openxmlformats.org/officeDocument/2006/relationships/slide" Target="slides/slide89.xml"/>
  <Relationship Id="rId96" Type="http://schemas.openxmlformats.org/officeDocument/2006/relationships/slide" Target="slides/slide90.xml"/>
  <Relationship Id="rId97" Type="http://schemas.openxmlformats.org/officeDocument/2006/relationships/slide" Target="slides/slide91.xml"/>
  <Relationship Id="rId98" Type="http://schemas.openxmlformats.org/officeDocument/2006/relationships/slide" Target="slides/slide9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24D4C2F5-7987-DFC4-ADC0-96169826F92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AA13208-CE36-C690-7E43-5F72329BD5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 altLang="en-US"/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8D2EDF46-B331-2A0B-5614-09F9E69D138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74CC6DF0-F7C1-0CE4-6A0F-EA46DB4611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50182" name="Rectangle 6">
            <a:extLst>
              <a:ext uri="{FF2B5EF4-FFF2-40B4-BE49-F238E27FC236}">
                <a16:creationId xmlns:a16="http://schemas.microsoft.com/office/drawing/2014/main" id="{2513375E-048D-76B8-EDE6-ABD477908EC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altLang="en-US"/>
          </a:p>
        </p:txBody>
      </p:sp>
      <p:sp>
        <p:nvSpPr>
          <p:cNvPr id="50183" name="Rectangle 7">
            <a:extLst>
              <a:ext uri="{FF2B5EF4-FFF2-40B4-BE49-F238E27FC236}">
                <a16:creationId xmlns:a16="http://schemas.microsoft.com/office/drawing/2014/main" id="{8221D367-4687-3EF7-8FE0-38F0E4089F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A325B86-FF21-554E-A87D-229A32C74F0D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0C028C7-5AE7-936E-8EBF-3F6A01FEC4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E2170B-7BED-8447-9D96-E337F6FB07DC}" type="slidenum">
              <a:rPr lang="en-GB" altLang="en-US"/>
              <a:pPr/>
              <a:t>52</a:t>
            </a:fld>
            <a:endParaRPr lang="en-GB" altLang="en-US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096BC474-8C28-107B-C77B-3C4163903EC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B10A2950-05E2-0055-DBEB-31F19A7841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38751E7-8621-BEC4-CFA6-A363EA412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C11481-3EE8-854D-8939-A0869943F721}" type="slidenum">
              <a:rPr lang="en-GB" altLang="en-US"/>
              <a:pPr/>
              <a:t>53</a:t>
            </a:fld>
            <a:endParaRPr lang="en-GB" altLang="en-US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691E3D08-950C-1B28-0780-4C2A05911E2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230704A-CC99-86E2-8815-A88E4BD7C0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CA69F10-E703-DE6D-45D4-5CC4A56619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E664F6-34CC-4A4A-B8D0-301434F67B50}" type="slidenum">
              <a:rPr lang="en-GB" altLang="en-US"/>
              <a:pPr/>
              <a:t>54</a:t>
            </a:fld>
            <a:endParaRPr lang="en-GB" altLang="en-US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BD8C7DCF-6CB3-620F-3AEE-612537BFDB8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FE2C8D7-FE7C-3A6E-5A5B-08B2EF8144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Set expectations. The flow poll and the physical-design hunt are the easiest to drop if time is short.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QUIZ, 2 minutes, answered out loud as a class.</a:t>
            </a:r>
          </a:p>
          <a:p>
            <a:r>
              <a:rPr lang="en-GB" dirty="0"/>
              <a:t>Answers: 1 evaluation (b), 2 slip (a), 3 menus (b).</a:t>
            </a:r>
          </a:p>
          <a:p>
            <a:r>
              <a:rPr lang="en-GB" dirty="0"/>
              <a:t>If many get 1 wrong, spend one extra minute on 'how to do it' vs 'what happened'.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THINK-PAIR-SHARE, 3 minutes. Phones out, one minute of looking, two minutes comparing with a neighbour.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Suggested answers. Ask: where do phones still use a real pointer? (Stylus, or a mouse plugged into a tablet — the cursor comes back.)</a:t>
            </a:r>
          </a:p>
          <a:p>
            <a:r>
              <a:rPr lang="en-GB" dirty="0"/>
              <a:t>Link to Week 1: a fingertip is a fat, imprecise pointer, so Fitts' law says targets must grow.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QUIZ, 2 minutes. Recall Week 1: MT = a + b·log2(D/W + 1). Ask for a show of hands for A vs B, then ask one student to justify it using D and W.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 B. Slide 37 said pie menus are easier (larger target area) and quicker (same distance to any option) — that is exactly the two Fitts levers.</a:t>
            </a:r>
          </a:p>
          <a:p>
            <a:r>
              <a:rPr lang="en-GB" dirty="0"/>
              <a:t>Why not everywhere? Labels get cramped beyond about 8 items, and they break the familiar list layout. Many games use them (weapon wheels) — ask who has seen one.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QUIZ, 2 minutes. Students write R or C for each field. Ask them why the 'Hostel' field could be argued either way.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Answers: Semester R, Electives C, Hostel R (a single check box 'I need a hostel room' also works), Notifications C, Payment R.</a:t>
            </a:r>
          </a:p>
          <a:p>
            <a:r>
              <a:rPr lang="en-GB" dirty="0"/>
              <a:t>'Up to 3' electives is a check box plus a rule the form must enforce and explain — a good example of error prevention.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LIVE EXERCISE, 3 minutes in pairs. Let them struggle with question 1 — nobody can answer it confidently, which is the point.</a:t>
            </a:r>
          </a:p>
          <a:p>
            <a:r>
              <a:rPr lang="en-GB" dirty="0"/>
              <a:t>Collect two redesigns on the board before revealing.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One good redesign. The same pattern is used by most modern word processors: Save / Don't save / Cancel.</a:t>
            </a:r>
          </a:p>
          <a:p>
            <a:r>
              <a:rPr lang="en-GB" dirty="0"/>
              <a:t>Link to slide 47: this is a modal dialog — justified here because the step is essential (data loss), but use modality with care.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LIVE EXERCISE, 5 minutes. Pairs; 2 minutes per role, 1 minute debrief.</a:t>
            </a:r>
          </a:p>
          <a:p>
            <a:r>
              <a:rPr lang="en-GB" dirty="0"/>
              <a:t>Point back to slide 48: the system cannot avoid errors, but by reflecting back its understanding it makes errors easy to detect, and 'yes/no' is recognised reliably.</a:t>
            </a:r>
          </a:p>
          <a:p>
            <a:r>
              <a:rPr lang="en-GB" dirty="0"/>
              <a:t>Everyday example: bank phone lines that read your request back to you before acting.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THINK-PAIR-SHARE, 3 minutes. Each pair finds at least one reason per column.</a:t>
            </a:r>
          </a:p>
          <a:p>
            <a:r>
              <a:rPr lang="en-GB" dirty="0"/>
              <a:t>Typical answers — Other people: the boss still signs paper; nobody wants to be the first to 'get it wrong' online. Motivation: paper is familiar; no personal benefit shown. Inadequate system: login problems, no mobile version, no confirmation that the leave was approved.</a:t>
            </a:r>
          </a:p>
          <a:p>
            <a:r>
              <a:rPr lang="en-GB" dirty="0"/>
              <a:t>Takeaway: a usable system can still fail because of its social and organisational context.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POLL, 1–2 minutes. Draw attention to the channel: challenge rises as skill rises (Csikszentmihalyi).</a:t>
            </a:r>
          </a:p>
          <a:p>
            <a:r>
              <a:rPr lang="en-GB" dirty="0"/>
              <a:t>Games are designed to keep you in it with levels; learning tools use the 'zone of proximal development' — tasks you can just do with help.</a:t>
            </a:r>
          </a:p>
          <a:p>
            <a:r>
              <a:rPr lang="en-GB" dirty="0"/>
              <a:t>Q3 is a trap: a fee portal should be efficient and calm, not 'engaging'. Experience design must fit the purpose.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CASE PUZZLE, 5 minutes, groups of three. This is the crackers analysis (slide 56) moved to a Pakistani tradition.</a:t>
            </a:r>
          </a:p>
          <a:p>
            <a:r>
              <a:rPr lang="en-GB" dirty="0"/>
              <a:t>Groups design the right-hand column. Push for 'co-experience' and 'suspense' — those are the hardest to carry over to a screen, exactly as with the virtual cracker.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One group's design. Ask: which effect is weakest in the digital version? (Usually co-experience — the elder is not there to see your face.)</a:t>
            </a:r>
          </a:p>
          <a:p>
            <a:r>
              <a:rPr lang="en-GB" dirty="0"/>
              <a:t>Design idea some groups propose: the elder records a short video that plays as the envelope opens.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QUIZ, 2 minutes. Categories from slide 57. Answers on the next slide.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 as shown. Follow-up: the tube-well switch is also a safety issue — ask for another example where two categories pull in different directions (e.g. the MiniDisc remote on slide 58: ergonomics vs physical size).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LIVE EXERCISE, 3 minutes. Students fill two rows with devices they have on them.</a:t>
            </a:r>
          </a:p>
          <a:p>
            <a:r>
              <a:rPr lang="en-GB" dirty="0"/>
              <a:t>Good finds: phone volume buttons (spring back, state only on screen), a clicky pen (state visible — tip out), a laptop lid (fluid: open = on).</a:t>
            </a:r>
          </a:p>
          <a:p>
            <a:r>
              <a:rPr lang="en-GB" dirty="0"/>
              <a:t>Connect to slides 59–64: fluidity, spring-back controls and compliant interaction.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POLL, 1 minute vote, 2 minutes to calculate in pairs. Record the vote on the board.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Semester: 16 × 10 = 160 min ≈ 2.7 h — less than the 3 h cost. Year: 52 × 10 = 520 min ≈ 8.7 h — clearly worth it.</a:t>
            </a:r>
          </a:p>
          <a:p>
            <a:r>
              <a:rPr lang="en-GB" dirty="0"/>
              <a:t>Yet most students vote B or C even when they plan to use notes all year: that is the 'discounted future' of slide 67. Designers respond with low barriers and high present value.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Exit ticket, 3 minutes. Collect at the door.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Answers: 1b, 2a, 3b, 4a, 5b. Close by linking back to Lecture 1: every element today either narrows a gulf or widens it.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7972-CD6E-AEEE-1EE0-EDEA0DFF5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EE27B-955F-C226-CE49-69ED101F5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F5DE-7DF3-42C3-D836-AADCC681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2E5A9-633D-CCE1-9B27-FE826A744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9A4F9-65C0-40F1-691E-629352821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6685E1-E53B-4849-8902-7A79952EDBB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06809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1859-8C3B-56B3-BB8F-E0C01C18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A0A0-CCB8-88E1-3C85-90E9B5EF2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A6198-D6F1-12A8-9300-0178E146E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7BDD-3C71-609F-0006-D210BA04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8936F-C8D0-D943-0821-30B45C02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8785E2-8180-294C-8793-38A01713CB2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21953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D9E9-23C4-B0AD-0EF3-A3A17BB97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DD433-2AB2-9A7D-5E61-434B90CEC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85EE3-C603-AAC9-9C11-C1BDE532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0446F-2FD2-71A1-4E61-07E8FF820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221D1-4665-7C4A-CECB-4A55E1A8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B44206-84B8-744C-BFFE-6449E2BCFD9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7533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11A7-D6A2-464B-FD98-82CD0D5F0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2D1FA-B831-45EF-28C4-0293CD88C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061F4-68C2-2863-5710-9C1904EE5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01E9B-CB4B-5077-F953-BDE98766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CF655-5C7C-6149-994C-2FADBC69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20C77-7BDA-2067-FBD1-B3854DBD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40247A-55D6-C24A-A361-C846F4E5F89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0462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9A12-4714-3048-18BE-85334170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72E74-1EAD-442A-115E-5B6A0DB7F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237CB-B738-AFBD-D436-8BEB3D28B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4355B-2E30-5499-3342-0B379B1C6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BB196B-9F88-130C-CEB5-532EB1745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3A0F87-8C26-6F82-D4B1-5E7873783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BEC24A-78B4-E88D-4AFC-D43B1AE3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CA3BD-E7E9-25ED-989D-34940068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62FA2C-F75A-9C42-AE67-6EFF8B08451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4910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136BB-0097-1230-A8A1-2F2BD0DB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E2F07C-BF31-B8DE-9016-CF1566ED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BB9B9-D6B9-FAA9-735B-D0872A27C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922F7-90D1-D789-5B62-1E443C61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4709DB-C150-8C4C-A200-0ECE9C6DCAF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5681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A92F5-134F-5FF5-355B-E3C0B289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8F02E-B2FC-5CF5-B0DD-494392D0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9B229-3624-9167-0FAA-FF651D86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4221C4-AF95-5044-881A-6F1E9FEE17B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404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DE8F5-774C-9C5C-E933-5B3FC775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25728-61FC-9496-DCF1-52DAFE744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55B62-ACEA-188C-19CD-D141395B8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5C76D-CDCD-B7E5-C216-80FA56F8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217BA-C232-EAF8-0E00-C29573BA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673F8-F7CF-4834-D8E9-8D880CEA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40A992-1161-7341-9114-7F2124F13A0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075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21C8-5F1C-20DB-6387-D1E5215BD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AC3F74-056A-C9AB-C6F8-5774D69F3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2C760-393B-EF90-E612-032897A3D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16A36-9136-606D-2D3A-A63EF590C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9CBCE-315E-BD4B-0DDD-18A9AA3B8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E4FCA-E7F3-50F8-F029-66799584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36F705-75D1-8C41-9FDA-11B70B8BEE6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4226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81161-9DF4-9AE1-1873-CBAD1CAD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0FCDA-1B59-083F-3ECE-7D95D1C6C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37EA6-B774-F41E-B7DC-C840C23F4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B374E-C0F0-8F52-4FDB-69513498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6BBEE-CC6F-8B67-D51A-8B3CEA526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B8CD09-8CC0-4C4F-87C3-43CB5D96E6B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75657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29659F-2FCC-D7FA-534C-D28E3735A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6EFBC-0D08-C9C2-7DDE-41D16A51C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5858C-3697-0D56-C067-5EE01FF3E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EBF57-C899-413A-86A4-4E724D4B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7BB98-B0B3-7CFB-5760-106EAE6B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B2BF48-FD03-5B4D-BA72-ED437AC866E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9115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Picture 15">
            <a:extLst>
              <a:ext uri="{FF2B5EF4-FFF2-40B4-BE49-F238E27FC236}">
                <a16:creationId xmlns:a16="http://schemas.microsoft.com/office/drawing/2014/main" id="{D00888DB-ABAA-0E3E-B597-1AA809F25C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688" y="1066800"/>
            <a:ext cx="87312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6" name="Rectangle 2">
            <a:extLst>
              <a:ext uri="{FF2B5EF4-FFF2-40B4-BE49-F238E27FC236}">
                <a16:creationId xmlns:a16="http://schemas.microsoft.com/office/drawing/2014/main" id="{43526912-79D4-33D4-DBA5-13FDF0D3BF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6C4DFBD-D01E-87F0-85FF-FEDE9EF0B8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6FCA186-E0F1-BDB6-CF5C-3BF70840BC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FA0ACB1-470D-6F44-5C84-A9D38F1C72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4648626-FEB8-F840-AB29-3974AB749D7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CCE56F1-F677-3B4C-97A3-2B7120DE588B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1043" name="Group 19">
            <a:extLst>
              <a:ext uri="{FF2B5EF4-FFF2-40B4-BE49-F238E27FC236}">
                <a16:creationId xmlns:a16="http://schemas.microsoft.com/office/drawing/2014/main" id="{9F476DFD-CCC5-EA4A-F2AB-461C4EA3884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28600"/>
            <a:ext cx="9144000" cy="838200"/>
            <a:chOff x="0" y="192"/>
            <a:chExt cx="5760" cy="528"/>
          </a:xfrm>
        </p:grpSpPr>
        <p:sp>
          <p:nvSpPr>
            <p:cNvPr id="1042" name="Rectangle 18">
              <a:extLst>
                <a:ext uri="{FF2B5EF4-FFF2-40B4-BE49-F238E27FC236}">
                  <a16:creationId xmlns:a16="http://schemas.microsoft.com/office/drawing/2014/main" id="{A29FEAF0-F5F9-45FC-6036-04F45E156C2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32" y="52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41" name="Line 17">
              <a:extLst>
                <a:ext uri="{FF2B5EF4-FFF2-40B4-BE49-F238E27FC236}">
                  <a16:creationId xmlns:a16="http://schemas.microsoft.com/office/drawing/2014/main" id="{E0BCCA36-99FF-5984-94A4-49875849966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872" y="192"/>
              <a:ext cx="297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F87B5129-69BF-B96D-C11B-186EC033EE5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9" y="192"/>
              <a:ext cx="1063" cy="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7" name="Picture 13">
              <a:extLst>
                <a:ext uri="{FF2B5EF4-FFF2-40B4-BE49-F238E27FC236}">
                  <a16:creationId xmlns:a16="http://schemas.microsoft.com/office/drawing/2014/main" id="{C8B256ED-ECC3-BDC1-7100-D0E900BD800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92"/>
              <a:ext cx="2016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AB46C820-B7F2-88E2-B296-0A1DD737D4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2" y="192"/>
              <a:ext cx="1008" cy="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bin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hyperlink" Target="web/Rock-around-the-Clock" TargetMode="External"/><Relationship Id="rId3" Type="http://schemas.openxmlformats.org/officeDocument/2006/relationships/image" Target="../media/image22.png"/><Relationship Id="rId7" Type="http://schemas.openxmlformats.org/officeDocument/2006/relationships/hyperlink" Target="web/Closed-Cracker" TargetMode="External"/><Relationship Id="rId12" Type="http://schemas.openxmlformats.org/officeDocument/2006/relationships/hyperlink" Target="web/Your-cracker-mask!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hyperlink" Target="web/Open-Cracker" TargetMode="External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4.xml"/></Relationships>
</file>

<file path=ppt/slides/_rels/slide7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5.xml"/></Relationships>
</file>

<file path=ppt/slides/_rels/slide7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6.xml"/></Relationships>
</file>

<file path=ppt/slides/_rels/slide7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7.xml"/></Relationships>
</file>

<file path=ppt/slides/_rels/slide7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8.xml"/></Relationships>
</file>

<file path=ppt/slides/_rels/slide7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9.xml"/></Relationships>
</file>

<file path=ppt/slides/_rels/slide7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0.xml"/></Relationships>
</file>

<file path=ppt/slides/_rels/slide7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1.xml"/></Relationships>
</file>

<file path=ppt/slides/_rels/slide7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2.xml"/></Relationships>
</file>

<file path=ppt/slides/_rels/slide8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3.xml"/></Relationships>
</file>

<file path=ppt/slides/_rels/slide8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4.xml"/></Relationships>
</file>

<file path=ppt/slides/_rels/slide8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5.xml"/></Relationships>
</file>

<file path=ppt/slides/_rels/slide8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6.xml"/></Relationships>
</file>

<file path=ppt/slides/_rels/slide8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7.xml"/></Relationships>
</file>

<file path=ppt/slides/_rels/slide8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8.xml"/></Relationships>
</file>

<file path=ppt/slides/_rels/slide8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9.xml"/></Relationships>
</file>

<file path=ppt/slides/_rels/slide8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0.xml"/></Relationships>
</file>

<file path=ppt/slides/_rels/slide8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1.xml"/></Relationships>
</file>

<file path=ppt/slides/_rels/slide8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2.xml"/></Relationships>
</file>

<file path=ppt/slides/_rels/slide9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3.xml"/></Relationships>
</file>

<file path=ppt/slides/_rels/slide9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4.xml"/></Relationships>
</file>

<file path=ppt/slides/_rels/slide9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5ACB81B5-3A66-AC9D-8CA3-F380961E13B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981200"/>
            <a:ext cx="6629400" cy="1219200"/>
          </a:xfrm>
        </p:spPr>
        <p:txBody>
          <a:bodyPr anchor="ctr"/>
          <a:lstStyle/>
          <a:p>
            <a:pPr>
              <a:spcAft>
                <a:spcPct val="30000"/>
              </a:spcAft>
            </a:pPr>
            <a:r>
              <a:rPr lang="en-GB" altLang="en-US" sz="4000">
                <a:solidFill>
                  <a:srgbClr val="2E005D"/>
                </a:solidFill>
                <a:latin typeface="Verdana" panose="020B0604030504040204" pitchFamily="34" charset="0"/>
              </a:rPr>
              <a:t>chapter 3</a:t>
            </a:r>
            <a:endParaRPr lang="en-GB" altLang="en-US" sz="4000">
              <a:solidFill>
                <a:srgbClr val="2E005D"/>
              </a:solidFill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F240CEBE-8A16-8F03-A5DA-54ED6B82FC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52800"/>
            <a:ext cx="6400800" cy="2286000"/>
          </a:xfrm>
        </p:spPr>
        <p:txBody>
          <a:bodyPr/>
          <a:lstStyle/>
          <a:p>
            <a:r>
              <a:rPr lang="en-GB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the interaction</a:t>
            </a:r>
          </a:p>
        </p:txBody>
      </p:sp>
      <p:grpSp>
        <p:nvGrpSpPr>
          <p:cNvPr id="71684" name="Group 4">
            <a:extLst>
              <a:ext uri="{FF2B5EF4-FFF2-40B4-BE49-F238E27FC236}">
                <a16:creationId xmlns:a16="http://schemas.microsoft.com/office/drawing/2014/main" id="{7635EE47-6C2F-5954-923C-202D219BFEC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71685" name="Rectangle 5">
              <a:extLst>
                <a:ext uri="{FF2B5EF4-FFF2-40B4-BE49-F238E27FC236}">
                  <a16:creationId xmlns:a16="http://schemas.microsoft.com/office/drawing/2014/main" id="{204EB6FA-1E23-72C6-E088-C018CBAE5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528"/>
              <a:ext cx="624" cy="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1686" name="Rectangle 6">
              <a:extLst>
                <a:ext uri="{FF2B5EF4-FFF2-40B4-BE49-F238E27FC236}">
                  <a16:creationId xmlns:a16="http://schemas.microsoft.com/office/drawing/2014/main" id="{14373BB3-48A3-9C43-E13B-884CCD01D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672"/>
            </a:xfrm>
            <a:prstGeom prst="rect">
              <a:avLst/>
            </a:prstGeom>
            <a:solidFill>
              <a:srgbClr val="2E005D"/>
            </a:solidFill>
            <a:ln w="9525">
              <a:solidFill>
                <a:srgbClr val="2E005D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71687" name="Picture 7">
              <a:extLst>
                <a:ext uri="{FF2B5EF4-FFF2-40B4-BE49-F238E27FC236}">
                  <a16:creationId xmlns:a16="http://schemas.microsoft.com/office/drawing/2014/main" id="{10F24705-2379-28D4-8C45-DB13043D56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0"/>
              <a:ext cx="3264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688" name="Picture 8">
              <a:extLst>
                <a:ext uri="{FF2B5EF4-FFF2-40B4-BE49-F238E27FC236}">
                  <a16:creationId xmlns:a16="http://schemas.microsoft.com/office/drawing/2014/main" id="{598B8AA9-4892-18D1-F613-F34D9B790E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0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689" name="Picture 9">
              <a:extLst>
                <a:ext uri="{FF2B5EF4-FFF2-40B4-BE49-F238E27FC236}">
                  <a16:creationId xmlns:a16="http://schemas.microsoft.com/office/drawing/2014/main" id="{94B60A0E-D0E9-49BF-976E-E3BF932221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690" name="Picture 10">
              <a:extLst>
                <a:ext uri="{FF2B5EF4-FFF2-40B4-BE49-F238E27FC236}">
                  <a16:creationId xmlns:a16="http://schemas.microsoft.com/office/drawing/2014/main" id="{3A4B4538-9EEE-E732-74EE-41F4D33809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0" y="0"/>
              <a:ext cx="176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691" name="Picture 11">
              <a:extLst>
                <a:ext uri="{FF2B5EF4-FFF2-40B4-BE49-F238E27FC236}">
                  <a16:creationId xmlns:a16="http://schemas.microsoft.com/office/drawing/2014/main" id="{51048362-6FE3-47C9-D5F9-8A611E5394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4" y="0"/>
              <a:ext cx="176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01" name="Shape 901"/>
          <p:cNvSpPr txBox="1"/>
          <p:nvPr/>
        </p:nvSpPr>
        <p:spPr>
          <a:xfrm>
            <a:off x="914400" y="47091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GB" sz="2000" b="1" i="0" dirty="0">
                <a:solidFill>
                  <a:srgbClr val="2D2D8A"/>
                </a:solidFill>
                <a:latin typeface="Arial"/>
                <a:cs typeface="Arial"/>
              </a:rPr>
              <a:t>Week 3 · Lecture 2</a:t>
            </a:r>
            <a:endParaRPr lang="en-GB" sz="2000" dirty="0"/>
          </a:p>
          <a:p>
            <a:pPr algn="ctr">
              <a:buNone/>
            </a:pPr>
            <a:r>
              <a:rPr lang="en-GB" sz="1400" b="0" i="1" dirty="0">
                <a:solidFill>
                  <a:srgbClr val="595959"/>
                </a:solidFill>
                <a:latin typeface="Arial"/>
                <a:cs typeface="Arial"/>
              </a:rPr>
              <a:t>WIMP elements, interactivity, context, experience and value</a:t>
            </a:r>
            <a:endParaRPr lang="en-GB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0B2FB6AC-2985-1940-58B3-E4F1E497D2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elements of the wimp interface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89E3184C-DB9A-3E7C-177D-1C7A41A5C1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19200" y="3886200"/>
            <a:ext cx="6705600" cy="1752600"/>
          </a:xfrm>
        </p:spPr>
        <p:txBody>
          <a:bodyPr/>
          <a:lstStyle/>
          <a:p>
            <a:r>
              <a:rPr lang="en-GB" altLang="en-US" sz="2800"/>
              <a:t>windows, icons, menus, pointers</a:t>
            </a:r>
          </a:p>
          <a:p>
            <a:r>
              <a:rPr lang="en-GB" altLang="en-US" sz="2800"/>
              <a:t>+++</a:t>
            </a:r>
          </a:p>
          <a:p>
            <a:r>
              <a:rPr lang="en-GB" altLang="en-US" sz="2800"/>
              <a:t>buttons, toolbars, </a:t>
            </a:r>
            <a:br>
              <a:rPr lang="en-GB" altLang="en-US" sz="2800"/>
            </a:br>
            <a:r>
              <a:rPr lang="en-GB" altLang="en-US" sz="2800"/>
              <a:t>palettes, dialog boxes </a:t>
            </a:r>
          </a:p>
        </p:txBody>
      </p:sp>
      <p:sp>
        <p:nvSpPr>
          <p:cNvPr id="117764" name="Text Box 4">
            <a:extLst>
              <a:ext uri="{FF2B5EF4-FFF2-40B4-BE49-F238E27FC236}">
                <a16:creationId xmlns:a16="http://schemas.microsoft.com/office/drawing/2014/main" id="{1BEA3FE8-8EB6-59BD-95D5-6CA57A35B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6248400"/>
            <a:ext cx="273685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GB" altLang="en-US" sz="1200">
                <a:solidFill>
                  <a:schemeClr val="bg2"/>
                </a:solidFill>
                <a:latin typeface="Verdana" panose="020B0604030504040204" pitchFamily="34" charset="0"/>
              </a:rPr>
              <a:t>also see supplementary  material</a:t>
            </a:r>
            <a:br>
              <a:rPr lang="en-GB" altLang="en-US" sz="1200">
                <a:solidFill>
                  <a:schemeClr val="bg2"/>
                </a:solidFill>
                <a:latin typeface="Verdana" panose="020B0604030504040204" pitchFamily="34" charset="0"/>
              </a:rPr>
            </a:br>
            <a:r>
              <a:rPr lang="en-GB" altLang="en-US" sz="1200">
                <a:solidFill>
                  <a:schemeClr val="bg2"/>
                </a:solidFill>
                <a:latin typeface="Verdana" panose="020B0604030504040204" pitchFamily="34" charset="0"/>
              </a:rPr>
              <a:t>on choosing wimp elements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2CF16EF0-15A2-7CF0-187C-07D2F423D5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Windows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3EB7C65-F9D2-168A-AE95-0060DAFA5F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Areas of the screen that behave as if they were independent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can contain text or graphics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can be moved or resized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can overlap and obscure each other, or can be laid out next to one another (tiled)</a:t>
            </a:r>
          </a:p>
          <a:p>
            <a:pPr lvl="1"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400"/>
              <a:t>scrollbars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allow the user to move the contents of the window up and down or from side to side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title bars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describe the name of the window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2C04AA52-31DB-0F33-7D55-D9399E54C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Icons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0A2410FC-858F-BB9D-8422-D2925D64B0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small picture or image</a:t>
            </a:r>
          </a:p>
          <a:p>
            <a:pPr>
              <a:lnSpc>
                <a:spcPct val="90000"/>
              </a:lnSpc>
            </a:pPr>
            <a:r>
              <a:rPr lang="en-GB" altLang="en-US"/>
              <a:t>represents some object in the interface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often a window or action</a:t>
            </a:r>
          </a:p>
          <a:p>
            <a:pPr>
              <a:lnSpc>
                <a:spcPct val="90000"/>
              </a:lnSpc>
            </a:pPr>
            <a:r>
              <a:rPr lang="en-GB" altLang="en-US"/>
              <a:t>windows can be closed down (iconised)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small representation ﬁ many accessible windows</a:t>
            </a:r>
          </a:p>
          <a:p>
            <a:pPr>
              <a:lnSpc>
                <a:spcPct val="90000"/>
              </a:lnSpc>
            </a:pPr>
            <a:r>
              <a:rPr lang="en-GB" altLang="en-US"/>
              <a:t>icons can be many and various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highly stylized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realistic representations.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649A05F5-CFFF-2D02-B96C-AD9D38EBA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Pointers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778D854C-64D4-38D5-84AF-7985B0EE12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important component</a:t>
            </a:r>
          </a:p>
          <a:p>
            <a:pPr lvl="1"/>
            <a:r>
              <a:rPr lang="en-GB" altLang="en-US" sz="2000"/>
              <a:t>WIMP style relies on pointing and selecting things</a:t>
            </a:r>
          </a:p>
          <a:p>
            <a:r>
              <a:rPr lang="en-GB" altLang="en-US" sz="2400"/>
              <a:t>uses mouse, trackpad, joystick, trackball, cursor keys or keyboard shortcuts</a:t>
            </a:r>
          </a:p>
          <a:p>
            <a:r>
              <a:rPr lang="en-GB" altLang="en-US" sz="2400"/>
              <a:t>wide variety of graphical images</a:t>
            </a:r>
          </a:p>
        </p:txBody>
      </p:sp>
      <p:pic>
        <p:nvPicPr>
          <p:cNvPr id="3" name="Picture 2" descr="A white arrows pointing to a black background&#10;&#10;AI-generated content may be incorrect.">
            <a:extLst>
              <a:ext uri="{FF2B5EF4-FFF2-40B4-BE49-F238E27FC236}">
                <a16:creationId xmlns:a16="http://schemas.microsoft.com/office/drawing/2014/main" id="{015B7A62-9516-0F26-B9AF-518335DE0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4221088"/>
            <a:ext cx="3992273" cy="231969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D7C43AE7-EC2C-4395-23D8-E127985D4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Menus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B831D118-E290-D4E7-4C7D-EFBC4B7BFA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981200"/>
            <a:ext cx="7924800" cy="4419600"/>
          </a:xfrm>
        </p:spPr>
        <p:txBody>
          <a:bodyPr/>
          <a:lstStyle/>
          <a:p>
            <a:r>
              <a:rPr lang="en-GB" altLang="en-US" sz="2000" dirty="0"/>
              <a:t>Choice of operations or services offered on the screen</a:t>
            </a:r>
          </a:p>
          <a:p>
            <a:r>
              <a:rPr lang="en-GB" altLang="en-US" sz="2000" dirty="0"/>
              <a:t>Required option selected with pointer</a:t>
            </a:r>
          </a:p>
          <a:p>
            <a:endParaRPr lang="en-GB" altLang="en-US" sz="2000" dirty="0"/>
          </a:p>
          <a:p>
            <a:endParaRPr lang="en-GB" altLang="en-US" sz="2000" dirty="0"/>
          </a:p>
          <a:p>
            <a:endParaRPr lang="en-GB" altLang="en-US" sz="2000" dirty="0"/>
          </a:p>
          <a:p>
            <a:endParaRPr lang="en-GB" altLang="en-US" sz="2000" dirty="0"/>
          </a:p>
          <a:p>
            <a:endParaRPr lang="en-GB" altLang="en-US" sz="2000" dirty="0"/>
          </a:p>
          <a:p>
            <a:endParaRPr lang="en-GB" altLang="en-US" sz="2000" dirty="0"/>
          </a:p>
          <a:p>
            <a:pPr>
              <a:buFontTx/>
              <a:buNone/>
            </a:pPr>
            <a:endParaRPr lang="en-GB" altLang="en-US" sz="2000" dirty="0"/>
          </a:p>
          <a:p>
            <a:pPr>
              <a:buFontTx/>
              <a:buNone/>
            </a:pPr>
            <a:r>
              <a:rPr lang="en-GB" altLang="en-US" sz="2000" dirty="0"/>
              <a:t>problem – take a lot of screen space</a:t>
            </a:r>
          </a:p>
          <a:p>
            <a:pPr>
              <a:buFontTx/>
              <a:buNone/>
            </a:pPr>
            <a:r>
              <a:rPr lang="en-GB" altLang="en-US" sz="2000" dirty="0"/>
              <a:t>solution – pop-up: menu appears when needed</a:t>
            </a:r>
          </a:p>
        </p:txBody>
      </p:sp>
      <p:pic>
        <p:nvPicPr>
          <p:cNvPr id="3" name="Picture 2" descr="A grey rectangular object with black text&#10;&#10;AI-generated content may be incorrect.">
            <a:extLst>
              <a:ext uri="{FF2B5EF4-FFF2-40B4-BE49-F238E27FC236}">
                <a16:creationId xmlns:a16="http://schemas.microsoft.com/office/drawing/2014/main" id="{BBE633D9-1410-17C7-0538-E1CACC152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900" y="2852936"/>
            <a:ext cx="6372200" cy="22565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C40737B8-C89E-561D-29D5-ECD204320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Kinds of Menus 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23BD7852-00D6-E39A-18ED-169A7C7F53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Menu Bar at top of screen (normally), menu drags down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pull-down menu - mouse hold and drag down menu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drop-down menu - mouse click reveals menu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fall-down menus - mouse just moves over bar!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</a:pPr>
            <a:r>
              <a:rPr lang="en-GB" altLang="en-US" sz="2400"/>
              <a:t>Contextual menu appears where you are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pop-up menus - actions for selected object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pie menus - arranged in a circle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easier to select item (larger target area)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quicker (same distance to any option)</a:t>
            </a:r>
            <a:br>
              <a:rPr lang="en-GB" altLang="en-US" sz="1800"/>
            </a:br>
            <a:r>
              <a:rPr lang="en-GB" altLang="en-US" sz="1800"/>
              <a:t>…  but not widely used!</a:t>
            </a:r>
          </a:p>
          <a:p>
            <a:pPr>
              <a:lnSpc>
                <a:spcPct val="90000"/>
              </a:lnSpc>
            </a:pPr>
            <a:endParaRPr lang="en-GB" alt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924E3CD1-450F-BAA8-7D3E-936CDAE6EA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Menus extras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F80CD3A2-ADCF-F78B-1C7B-619563D7AE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Cascading menus</a:t>
            </a:r>
          </a:p>
          <a:p>
            <a:pPr lvl="1"/>
            <a:r>
              <a:rPr lang="en-GB" altLang="en-US" sz="2000"/>
              <a:t>hierarchical menu structure</a:t>
            </a:r>
          </a:p>
          <a:p>
            <a:pPr lvl="1"/>
            <a:r>
              <a:rPr lang="en-GB" altLang="en-US" sz="2000"/>
              <a:t>menu selection opens new menu</a:t>
            </a:r>
          </a:p>
          <a:p>
            <a:pPr lvl="1"/>
            <a:r>
              <a:rPr lang="en-GB" altLang="en-US" sz="2000"/>
              <a:t>and so in ad infinitum</a:t>
            </a:r>
          </a:p>
          <a:p>
            <a:endParaRPr lang="en-GB" altLang="en-US" sz="1200"/>
          </a:p>
          <a:p>
            <a:r>
              <a:rPr lang="en-GB" altLang="en-US" sz="2400"/>
              <a:t>Keyboard accelerators</a:t>
            </a:r>
          </a:p>
          <a:p>
            <a:pPr lvl="1"/>
            <a:r>
              <a:rPr lang="en-GB" altLang="en-US" sz="2000"/>
              <a:t>key combinations - same effect as menu item</a:t>
            </a:r>
          </a:p>
          <a:p>
            <a:pPr lvl="1"/>
            <a:r>
              <a:rPr lang="en-GB" altLang="en-US" sz="2000"/>
              <a:t>two kinds</a:t>
            </a:r>
          </a:p>
          <a:p>
            <a:pPr lvl="2"/>
            <a:r>
              <a:rPr lang="en-GB" altLang="en-US" sz="1800"/>
              <a:t>active when menu open – usually first letter</a:t>
            </a:r>
          </a:p>
          <a:p>
            <a:pPr lvl="2"/>
            <a:r>
              <a:rPr lang="en-GB" altLang="en-US" sz="1800"/>
              <a:t>active when menu closed – usually Ctrl + letter</a:t>
            </a:r>
          </a:p>
          <a:p>
            <a:pPr lvl="1">
              <a:buFontTx/>
              <a:buChar char=" "/>
            </a:pPr>
            <a:r>
              <a:rPr lang="en-GB" altLang="en-US" sz="2000"/>
              <a:t>usually different !!!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4F41D1D0-062F-C906-9A87-69C3CF4E33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Menus design issues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CA6A2EE7-8226-7F80-6523-40C50F356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GB" altLang="en-US" sz="2400"/>
              <a:t>which kind to use</a:t>
            </a:r>
          </a:p>
          <a:p>
            <a:pPr>
              <a:spcBef>
                <a:spcPct val="50000"/>
              </a:spcBef>
            </a:pPr>
            <a:r>
              <a:rPr lang="en-GB" altLang="en-US" sz="2400"/>
              <a:t>what to include in menus at all</a:t>
            </a:r>
          </a:p>
          <a:p>
            <a:pPr>
              <a:spcBef>
                <a:spcPct val="50000"/>
              </a:spcBef>
            </a:pPr>
            <a:r>
              <a:rPr lang="en-GB" altLang="en-US" sz="2400"/>
              <a:t>words to use (action or description)</a:t>
            </a:r>
          </a:p>
          <a:p>
            <a:pPr>
              <a:spcBef>
                <a:spcPct val="50000"/>
              </a:spcBef>
            </a:pPr>
            <a:r>
              <a:rPr lang="en-GB" altLang="en-US" sz="2400"/>
              <a:t>how to group items</a:t>
            </a:r>
          </a:p>
          <a:p>
            <a:pPr>
              <a:spcBef>
                <a:spcPct val="50000"/>
              </a:spcBef>
            </a:pPr>
            <a:r>
              <a:rPr lang="en-GB" altLang="en-US" sz="2400"/>
              <a:t>choice of keyboard accelerators</a:t>
            </a:r>
          </a:p>
          <a:p>
            <a:endParaRPr lang="en-GB" altLang="en-US"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5FABF0AB-33F3-1DE3-70A5-57DA8FE02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Buttons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A646C8D4-6B41-BCB7-3C55-20C9B035F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1336675" algn="l"/>
              </a:tabLst>
            </a:pPr>
            <a:r>
              <a:rPr lang="en-GB" altLang="en-US"/>
              <a:t>individual and isolated regions within a display that can be selected to invoke an action  </a:t>
            </a:r>
          </a:p>
          <a:p>
            <a:pPr>
              <a:lnSpc>
                <a:spcPct val="90000"/>
              </a:lnSpc>
              <a:tabLst>
                <a:tab pos="1336675" algn="l"/>
              </a:tabLst>
            </a:pPr>
            <a:endParaRPr lang="en-GB" altLang="en-US"/>
          </a:p>
          <a:p>
            <a:pPr>
              <a:lnSpc>
                <a:spcPct val="90000"/>
              </a:lnSpc>
              <a:tabLst>
                <a:tab pos="1336675" algn="l"/>
              </a:tabLst>
            </a:pPr>
            <a:endParaRPr lang="en-GB" altLang="en-US"/>
          </a:p>
          <a:p>
            <a:pPr>
              <a:lnSpc>
                <a:spcPct val="90000"/>
              </a:lnSpc>
              <a:tabLst>
                <a:tab pos="1336675" algn="l"/>
              </a:tabLst>
            </a:pPr>
            <a:r>
              <a:rPr lang="en-GB" altLang="en-US"/>
              <a:t>Special kinds</a:t>
            </a:r>
          </a:p>
          <a:p>
            <a:pPr lvl="1">
              <a:lnSpc>
                <a:spcPct val="90000"/>
              </a:lnSpc>
              <a:tabLst>
                <a:tab pos="1336675" algn="l"/>
              </a:tabLst>
            </a:pPr>
            <a:r>
              <a:rPr lang="en-GB" altLang="en-US"/>
              <a:t>radio buttons</a:t>
            </a:r>
            <a:br>
              <a:rPr lang="en-GB" altLang="en-US"/>
            </a:br>
            <a:r>
              <a:rPr lang="en-GB" altLang="en-US"/>
              <a:t>	–  set of mutually exclusive choices</a:t>
            </a:r>
          </a:p>
          <a:p>
            <a:pPr lvl="1">
              <a:lnSpc>
                <a:spcPct val="90000"/>
              </a:lnSpc>
              <a:tabLst>
                <a:tab pos="1336675" algn="l"/>
              </a:tabLst>
            </a:pPr>
            <a:r>
              <a:rPr lang="en-GB" altLang="en-US"/>
              <a:t>check boxes</a:t>
            </a:r>
            <a:br>
              <a:rPr lang="en-GB" altLang="en-US"/>
            </a:br>
            <a:r>
              <a:rPr lang="en-GB" altLang="en-US"/>
              <a:t>	–  set of non-exclusive choices</a:t>
            </a:r>
          </a:p>
        </p:txBody>
      </p:sp>
      <p:pic>
        <p:nvPicPr>
          <p:cNvPr id="97285" name="Picture 5">
            <a:extLst>
              <a:ext uri="{FF2B5EF4-FFF2-40B4-BE49-F238E27FC236}">
                <a16:creationId xmlns:a16="http://schemas.microsoft.com/office/drawing/2014/main" id="{2357DE5F-8EEB-244C-A47E-4F233DF3E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048000"/>
            <a:ext cx="4622800" cy="13716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0CB5DBA8-16AB-83C7-A284-BDE2E250E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Toolbars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2B1105A7-0858-7B65-E77D-782E30943F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long lines of icons …</a:t>
            </a:r>
            <a:br>
              <a:rPr lang="en-GB" altLang="en-US"/>
            </a:br>
            <a:r>
              <a:rPr lang="en-GB" altLang="en-US"/>
              <a:t>	… but what do they do?</a:t>
            </a:r>
          </a:p>
          <a:p>
            <a:endParaRPr lang="en-GB" altLang="en-US" sz="1800"/>
          </a:p>
          <a:p>
            <a:r>
              <a:rPr lang="en-GB" altLang="en-US"/>
              <a:t>fast access to common actions</a:t>
            </a:r>
          </a:p>
          <a:p>
            <a:endParaRPr lang="en-GB" altLang="en-US" sz="1800"/>
          </a:p>
          <a:p>
            <a:r>
              <a:rPr lang="en-GB" altLang="en-US"/>
              <a:t>often customizable:</a:t>
            </a:r>
          </a:p>
          <a:p>
            <a:pPr lvl="1"/>
            <a:r>
              <a:rPr lang="en-GB" altLang="en-US"/>
              <a:t>choose </a:t>
            </a:r>
            <a:r>
              <a:rPr lang="en-GB" altLang="en-US" i="1"/>
              <a:t>which</a:t>
            </a:r>
            <a:r>
              <a:rPr lang="en-GB" altLang="en-US"/>
              <a:t> toolbars to see</a:t>
            </a:r>
          </a:p>
          <a:p>
            <a:pPr lvl="1"/>
            <a:r>
              <a:rPr lang="en-GB" altLang="en-US"/>
              <a:t>choose </a:t>
            </a:r>
            <a:r>
              <a:rPr lang="en-GB" altLang="en-US" i="1"/>
              <a:t>what</a:t>
            </a:r>
            <a:r>
              <a:rPr lang="en-GB" altLang="en-US"/>
              <a:t> options are on it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4C9985D1-EDD7-734E-462D-FEA1CC5E86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Palettes and tear-off menus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A0599193-A329-69E3-0092-E9363006D0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Problem</a:t>
            </a:r>
            <a:br>
              <a:rPr lang="en-GB" altLang="en-US" sz="2400"/>
            </a:br>
            <a:r>
              <a:rPr lang="en-GB" altLang="en-US" sz="2400"/>
              <a:t>	menu not there when you want it</a:t>
            </a:r>
          </a:p>
          <a:p>
            <a:endParaRPr lang="en-GB" altLang="en-US" sz="2400"/>
          </a:p>
          <a:p>
            <a:r>
              <a:rPr lang="en-GB" altLang="en-US" sz="2400"/>
              <a:t>Solution</a:t>
            </a:r>
            <a:br>
              <a:rPr lang="en-GB" altLang="en-US" sz="2400"/>
            </a:br>
            <a:r>
              <a:rPr lang="en-GB" altLang="en-US" sz="2400"/>
              <a:t>	palettes – little windows of actions</a:t>
            </a:r>
          </a:p>
          <a:p>
            <a:pPr marL="1520825" lvl="1"/>
            <a:r>
              <a:rPr lang="en-GB" altLang="en-US" sz="2000"/>
              <a:t>shown/hidden via menu option</a:t>
            </a:r>
            <a:br>
              <a:rPr lang="en-GB" altLang="en-US" sz="2000"/>
            </a:br>
            <a:r>
              <a:rPr lang="en-GB" altLang="en-US" sz="2000"/>
              <a:t>e.g. available shapes in drawing package</a:t>
            </a:r>
          </a:p>
          <a:p>
            <a:pPr>
              <a:buFontTx/>
              <a:buChar char=" "/>
            </a:pPr>
            <a:r>
              <a:rPr lang="en-GB" altLang="en-US" sz="2400"/>
              <a:t>	tear-off and pin-up menus</a:t>
            </a:r>
          </a:p>
          <a:p>
            <a:pPr marL="1520825" lvl="1"/>
            <a:r>
              <a:rPr lang="en-GB" altLang="en-US" sz="2000"/>
              <a:t>menu ‘tears off’ to become palette </a:t>
            </a:r>
          </a:p>
          <a:p>
            <a:endParaRPr lang="en-GB" altLang="en-US"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B5A4ED9E-8D38-E8DE-7FA8-B6FC360DC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Dialogue boxes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F704AA6B-7C01-EB3B-DF6D-60A0B07C07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information windows that pop up to inform of an important event or request information.</a:t>
            </a:r>
          </a:p>
          <a:p>
            <a:endParaRPr lang="en-GB" altLang="en-US"/>
          </a:p>
          <a:p>
            <a:pPr lvl="1">
              <a:buFontTx/>
              <a:buChar char=" "/>
            </a:pPr>
            <a:r>
              <a:rPr lang="en-GB" altLang="en-US"/>
              <a:t>e.g:  when saving a file, a dialogue box is displayed to allow the user to specify the filename and location.  Once the file is saved, the box disappears.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163AFC5A-0C1F-AE78-942D-1E37498BB9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interactivity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1FE7A6C2-6C75-3FFB-D4FC-7B955C8E5E1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easy to focus on look</a:t>
            </a:r>
          </a:p>
          <a:p>
            <a:r>
              <a:rPr lang="en-GB" altLang="en-US" sz="2800"/>
              <a:t>what about feel?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FBACCB86-98C3-7BB7-5218-213A38AAA2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Speech–driven interfaces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517C417A-47E0-DC93-785A-2330CFD18E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rapidly improving …</a:t>
            </a:r>
            <a:br>
              <a:rPr lang="en-GB" altLang="en-US"/>
            </a:br>
            <a:r>
              <a:rPr lang="en-GB" altLang="en-US"/>
              <a:t>	… but still inaccurate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</a:pPr>
            <a:r>
              <a:rPr lang="en-GB" altLang="en-US"/>
              <a:t>how to have robust dialogue?</a:t>
            </a:r>
            <a:br>
              <a:rPr lang="en-GB" altLang="en-US"/>
            </a:br>
            <a:r>
              <a:rPr lang="en-GB" altLang="en-US"/>
              <a:t>	… interaction of course!</a:t>
            </a:r>
          </a:p>
          <a:p>
            <a:pPr>
              <a:lnSpc>
                <a:spcPct val="90000"/>
              </a:lnSpc>
            </a:pPr>
            <a:endParaRPr lang="en-GB" altLang="en-US"/>
          </a:p>
          <a:p>
            <a:pPr>
              <a:lnSpc>
                <a:spcPct val="90000"/>
              </a:lnSpc>
              <a:buFontTx/>
              <a:buChar char=" "/>
            </a:pPr>
            <a:r>
              <a:rPr lang="en-GB" altLang="en-US" sz="2400"/>
              <a:t>e.g. airline reservation:</a:t>
            </a:r>
            <a:br>
              <a:rPr lang="en-GB" altLang="en-US" sz="2400"/>
            </a:br>
            <a:r>
              <a:rPr lang="en-GB" altLang="en-US" sz="2400"/>
              <a:t>	reliable “yes” and “no”</a:t>
            </a:r>
            <a:br>
              <a:rPr lang="en-GB" altLang="en-US" sz="2400"/>
            </a:br>
            <a:r>
              <a:rPr lang="en-GB" altLang="en-US" sz="2400"/>
              <a:t>	+ system reflects back its understanding</a:t>
            </a:r>
            <a:br>
              <a:rPr lang="en-GB" altLang="en-US" sz="2400"/>
            </a:br>
            <a:r>
              <a:rPr lang="en-GB" altLang="en-US" sz="2400"/>
              <a:t>	</a:t>
            </a:r>
            <a:r>
              <a:rPr lang="en-GB" altLang="en-US" sz="2000"/>
              <a:t>“you want a ticket from New York to Boston?”</a:t>
            </a:r>
            <a:endParaRPr lang="en-GB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4E7AC7C3-B749-9AFB-3188-5EFB4A4EB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Look and … feel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5D7905F-6A15-1422-BB60-85BEA1EBED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WIMP systems have the same elements:</a:t>
            </a:r>
            <a:br>
              <a:rPr lang="en-GB" altLang="en-US" sz="2400"/>
            </a:br>
            <a:r>
              <a:rPr lang="en-GB" altLang="en-US" sz="2400"/>
              <a:t>	</a:t>
            </a:r>
            <a:r>
              <a:rPr lang="en-GB" altLang="en-US" sz="1800"/>
              <a:t>windows, icons., menus, pointers, buttons, etc.</a:t>
            </a:r>
          </a:p>
          <a:p>
            <a:endParaRPr lang="en-GB" altLang="en-US" sz="1200"/>
          </a:p>
          <a:p>
            <a:r>
              <a:rPr lang="en-GB" altLang="en-US" sz="2400"/>
              <a:t>but different window systems</a:t>
            </a:r>
            <a:br>
              <a:rPr lang="en-GB" altLang="en-US" sz="2400"/>
            </a:br>
            <a:r>
              <a:rPr lang="en-GB" altLang="en-US" sz="2400"/>
              <a:t>	… </a:t>
            </a:r>
            <a:r>
              <a:rPr lang="en-GB" altLang="en-US" sz="2400" i="1"/>
              <a:t>behave</a:t>
            </a:r>
            <a:r>
              <a:rPr lang="en-GB" altLang="en-US" sz="2400"/>
              <a:t> differently</a:t>
            </a:r>
          </a:p>
          <a:p>
            <a:endParaRPr lang="en-GB" altLang="en-US" sz="1200"/>
          </a:p>
          <a:p>
            <a:pPr lvl="1">
              <a:buFontTx/>
              <a:buChar char=" "/>
            </a:pPr>
            <a:r>
              <a:rPr lang="en-GB" altLang="en-US" sz="2000"/>
              <a:t>e.g. MacOS vs Windows menus</a:t>
            </a:r>
          </a:p>
          <a:p>
            <a:endParaRPr lang="en-GB" altLang="en-US" sz="2400"/>
          </a:p>
          <a:p>
            <a:endParaRPr lang="en-GB" altLang="en-US" sz="1200"/>
          </a:p>
          <a:p>
            <a:pPr>
              <a:buFontTx/>
              <a:buChar char=" "/>
            </a:pPr>
            <a:r>
              <a:rPr lang="en-GB" altLang="en-US" sz="2400"/>
              <a:t>appearance + behaviour   =   look and feel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94F312B0-132B-B612-AECF-DE2B7951F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Initiative 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3EE1FFB4-1A8B-4F17-6112-8606BFED49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143000" algn="l"/>
                <a:tab pos="4572000" algn="l"/>
              </a:tabLst>
            </a:pPr>
            <a:r>
              <a:rPr lang="en-GB" altLang="en-US" sz="2400"/>
              <a:t>who has the initiative?</a:t>
            </a:r>
            <a:br>
              <a:rPr lang="en-GB" altLang="en-US" sz="2400"/>
            </a:br>
            <a:r>
              <a:rPr lang="en-GB" altLang="en-US" sz="2400"/>
              <a:t>	old question–answer	–  computer</a:t>
            </a:r>
            <a:br>
              <a:rPr lang="en-GB" altLang="en-US" sz="2400"/>
            </a:br>
            <a:r>
              <a:rPr lang="en-GB" altLang="en-US" sz="2400"/>
              <a:t>	WIMP interface	–  user</a:t>
            </a:r>
          </a:p>
          <a:p>
            <a:pPr>
              <a:tabLst>
                <a:tab pos="1143000" algn="l"/>
                <a:tab pos="4572000" algn="l"/>
              </a:tabLst>
            </a:pPr>
            <a:endParaRPr lang="en-GB" altLang="en-US" sz="1200"/>
          </a:p>
          <a:p>
            <a:pPr>
              <a:tabLst>
                <a:tab pos="1143000" algn="l"/>
                <a:tab pos="4572000" algn="l"/>
              </a:tabLst>
            </a:pPr>
            <a:r>
              <a:rPr lang="en-GB" altLang="en-US" sz="2400"/>
              <a:t>WIMP exceptions …</a:t>
            </a:r>
            <a:br>
              <a:rPr lang="en-GB" altLang="en-US" sz="2400"/>
            </a:br>
            <a:r>
              <a:rPr lang="en-GB" altLang="en-US" sz="2400"/>
              <a:t>	</a:t>
            </a:r>
            <a:r>
              <a:rPr lang="en-GB" altLang="en-US" sz="2400" i="1"/>
              <a:t>pre-emptive</a:t>
            </a:r>
            <a:r>
              <a:rPr lang="en-GB" altLang="en-US" sz="2400"/>
              <a:t> parts of the interface</a:t>
            </a:r>
          </a:p>
          <a:p>
            <a:pPr>
              <a:tabLst>
                <a:tab pos="1143000" algn="l"/>
                <a:tab pos="4572000" algn="l"/>
              </a:tabLst>
            </a:pPr>
            <a:endParaRPr lang="en-GB" altLang="en-US" sz="1200"/>
          </a:p>
          <a:p>
            <a:pPr>
              <a:tabLst>
                <a:tab pos="1143000" algn="l"/>
                <a:tab pos="4572000" algn="l"/>
              </a:tabLst>
            </a:pPr>
            <a:r>
              <a:rPr lang="en-GB" altLang="en-US" sz="2400"/>
              <a:t>modal dialog boxes</a:t>
            </a:r>
          </a:p>
          <a:p>
            <a:pPr lvl="1">
              <a:tabLst>
                <a:tab pos="1143000" algn="l"/>
                <a:tab pos="4572000" algn="l"/>
              </a:tabLst>
            </a:pPr>
            <a:r>
              <a:rPr lang="en-GB" altLang="en-US" sz="2000"/>
              <a:t>come and won’t go away!</a:t>
            </a:r>
          </a:p>
          <a:p>
            <a:pPr lvl="1">
              <a:tabLst>
                <a:tab pos="1143000" algn="l"/>
                <a:tab pos="4572000" algn="l"/>
              </a:tabLst>
            </a:pPr>
            <a:r>
              <a:rPr lang="en-GB" altLang="en-US" sz="2000"/>
              <a:t>good for errors, essential steps</a:t>
            </a:r>
          </a:p>
          <a:p>
            <a:pPr lvl="1">
              <a:tabLst>
                <a:tab pos="1143000" algn="l"/>
                <a:tab pos="4572000" algn="l"/>
              </a:tabLst>
            </a:pPr>
            <a:r>
              <a:rPr lang="en-GB" altLang="en-US" sz="2000"/>
              <a:t>but use with care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3CDB3492-B16D-0158-9D7E-F03EA5DE98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Error and repair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56D0CC7-3A64-567D-7C85-E93662F23E8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620000" cy="1905000"/>
          </a:xfrm>
        </p:spPr>
        <p:txBody>
          <a:bodyPr/>
          <a:lstStyle/>
          <a:p>
            <a:pPr marL="0" indent="0">
              <a:buFontTx/>
              <a:buChar char=" "/>
              <a:tabLst>
                <a:tab pos="381000" algn="l"/>
              </a:tabLst>
            </a:pPr>
            <a:r>
              <a:rPr lang="en-GB" altLang="en-US" sz="2400"/>
              <a:t>can’t always avoid errors …</a:t>
            </a:r>
            <a:br>
              <a:rPr lang="en-GB" altLang="en-US" sz="2400"/>
            </a:br>
            <a:r>
              <a:rPr lang="en-GB" altLang="en-US" sz="2400"/>
              <a:t>	… but we can put them right</a:t>
            </a:r>
          </a:p>
          <a:p>
            <a:pPr marL="0" indent="0">
              <a:buFontTx/>
              <a:buChar char=" "/>
              <a:tabLst>
                <a:tab pos="381000" algn="l"/>
              </a:tabLst>
            </a:pPr>
            <a:endParaRPr lang="en-GB" altLang="en-US" sz="1000"/>
          </a:p>
          <a:p>
            <a:pPr marL="0" indent="0">
              <a:buFontTx/>
              <a:buChar char=" "/>
              <a:tabLst>
                <a:tab pos="381000" algn="l"/>
              </a:tabLst>
            </a:pPr>
            <a:r>
              <a:rPr lang="en-GB" altLang="en-US" sz="2400"/>
              <a:t>make it easy to </a:t>
            </a:r>
            <a:r>
              <a:rPr lang="en-GB" altLang="en-US" sz="2400" i="1"/>
              <a:t>detect</a:t>
            </a:r>
            <a:r>
              <a:rPr lang="en-GB" altLang="en-US" sz="2400"/>
              <a:t> errors</a:t>
            </a:r>
            <a:br>
              <a:rPr lang="en-GB" altLang="en-US" sz="2400"/>
            </a:br>
            <a:r>
              <a:rPr lang="en-GB" altLang="en-US" sz="2400"/>
              <a:t>	… then the user can </a:t>
            </a:r>
            <a:r>
              <a:rPr lang="en-GB" altLang="en-US" sz="2400" i="1"/>
              <a:t>repair</a:t>
            </a:r>
            <a:r>
              <a:rPr lang="en-GB" altLang="en-US" sz="2400"/>
              <a:t> them</a:t>
            </a:r>
          </a:p>
        </p:txBody>
      </p:sp>
      <p:sp>
        <p:nvSpPr>
          <p:cNvPr id="128004" name="Rectangle 4">
            <a:extLst>
              <a:ext uri="{FF2B5EF4-FFF2-40B4-BE49-F238E27FC236}">
                <a16:creationId xmlns:a16="http://schemas.microsoft.com/office/drawing/2014/main" id="{9E12C3B7-55E4-822D-A67F-D83006B487B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124200" y="4038600"/>
            <a:ext cx="5181600" cy="2514600"/>
          </a:xfrm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GB" altLang="en-US" sz="1400"/>
              <a:t>hello, this is the Go Faster booking system</a:t>
            </a:r>
          </a:p>
          <a:p>
            <a:pPr>
              <a:buFontTx/>
              <a:buNone/>
            </a:pPr>
            <a:r>
              <a:rPr lang="en-GB" altLang="en-US" sz="1400"/>
              <a:t>what would you like?</a:t>
            </a:r>
          </a:p>
          <a:p>
            <a:pPr>
              <a:buFontTx/>
              <a:buNone/>
            </a:pPr>
            <a:r>
              <a:rPr lang="en-GB" altLang="en-US" sz="1400"/>
              <a:t>(user) </a:t>
            </a:r>
            <a:r>
              <a:rPr lang="en-GB" altLang="en-US" sz="1400" i="1"/>
              <a:t>I want to fly from New York to London</a:t>
            </a:r>
            <a:endParaRPr lang="en-GB" altLang="en-US" sz="1400"/>
          </a:p>
          <a:p>
            <a:pPr>
              <a:buFontTx/>
              <a:buNone/>
            </a:pPr>
            <a:r>
              <a:rPr lang="en-GB" altLang="en-US" sz="1400"/>
              <a:t>you want a ticket from New York to Boston</a:t>
            </a:r>
          </a:p>
          <a:p>
            <a:pPr>
              <a:buFontTx/>
              <a:buNone/>
            </a:pPr>
            <a:r>
              <a:rPr lang="en-GB" altLang="en-US" sz="1400"/>
              <a:t>(user) </a:t>
            </a:r>
            <a:r>
              <a:rPr lang="en-GB" altLang="en-US" sz="1400" i="1"/>
              <a:t>no</a:t>
            </a:r>
            <a:endParaRPr lang="en-GB" altLang="en-US" sz="1400"/>
          </a:p>
          <a:p>
            <a:pPr>
              <a:buFontTx/>
              <a:buNone/>
            </a:pPr>
            <a:r>
              <a:rPr lang="en-GB" altLang="en-US" sz="1400"/>
              <a:t>sorry, please confirm one at a time</a:t>
            </a:r>
          </a:p>
          <a:p>
            <a:pPr>
              <a:buFontTx/>
              <a:buNone/>
            </a:pPr>
            <a:r>
              <a:rPr lang="en-GB" altLang="en-US" sz="1400"/>
              <a:t>do you want to fly from New York</a:t>
            </a:r>
          </a:p>
          <a:p>
            <a:pPr>
              <a:buFontTx/>
              <a:buNone/>
            </a:pPr>
            <a:r>
              <a:rPr lang="en-GB" altLang="en-US" sz="1400"/>
              <a:t>(user) yes</a:t>
            </a:r>
          </a:p>
          <a:p>
            <a:pPr>
              <a:buFontTx/>
              <a:buNone/>
            </a:pPr>
            <a:r>
              <a:rPr lang="en-GB" altLang="en-US" sz="1400"/>
              <a:t>… … 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D81C2BC4-5C01-16D4-94AD-D1EBD8E69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Context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1994D663-6944-932B-EA51-E32B0CD73B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 sz="2400"/>
              <a:t>Interaction affected by social and organizational context</a:t>
            </a:r>
          </a:p>
          <a:p>
            <a:endParaRPr lang="en-GB" altLang="en-US" sz="1800"/>
          </a:p>
          <a:p>
            <a:r>
              <a:rPr lang="en-GB" altLang="en-US" sz="2400"/>
              <a:t>other people</a:t>
            </a:r>
          </a:p>
          <a:p>
            <a:pPr lvl="1"/>
            <a:r>
              <a:rPr lang="en-GB" altLang="en-US" sz="2000"/>
              <a:t>desire to impress, competition, fear of failure</a:t>
            </a:r>
          </a:p>
          <a:p>
            <a:r>
              <a:rPr lang="en-GB" altLang="en-US" sz="2400"/>
              <a:t>motivation</a:t>
            </a:r>
          </a:p>
          <a:p>
            <a:pPr lvl="1"/>
            <a:r>
              <a:rPr lang="en-GB" altLang="en-US" sz="2000"/>
              <a:t>fear, allegiance, ambition, self-satisfaction</a:t>
            </a:r>
          </a:p>
          <a:p>
            <a:r>
              <a:rPr lang="en-GB" altLang="en-US" sz="2400"/>
              <a:t>inadequate systems</a:t>
            </a:r>
          </a:p>
          <a:p>
            <a:pPr lvl="1"/>
            <a:r>
              <a:rPr lang="en-GB" altLang="en-US" sz="2000"/>
              <a:t>cause frustration and lack of motivation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AA8A51AC-7E78-4880-E523-2A3E92FD2C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pPr algn="l"/>
            <a:r>
              <a:rPr lang="en-GB" altLang="en-US" sz="3600"/>
              <a:t>Experience, engagement and fun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252F2A65-A366-8D3C-DEA8-8E02324EEB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designing experience</a:t>
            </a:r>
          </a:p>
          <a:p>
            <a:r>
              <a:rPr lang="en-GB" altLang="en-US" sz="2800"/>
              <a:t>physical engagement</a:t>
            </a:r>
          </a:p>
          <a:p>
            <a:r>
              <a:rPr lang="en-GB" altLang="en-US" sz="2800"/>
              <a:t>managing value</a:t>
            </a:r>
          </a:p>
        </p:txBody>
      </p:sp>
      <p:graphicFrame>
        <p:nvGraphicFramePr>
          <p:cNvPr id="133124" name="Object 4">
            <a:extLst>
              <a:ext uri="{FF2B5EF4-FFF2-40B4-BE49-F238E27FC236}">
                <a16:creationId xmlns:a16="http://schemas.microsoft.com/office/drawing/2014/main" id="{77E83294-2CD0-DDF1-502B-5902D2ACD8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3382963"/>
          <a:ext cx="14986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143750" imgH="7143750" progId="Word.Document.8">
                  <p:embed/>
                </p:oleObj>
              </mc:Choice>
              <mc:Fallback>
                <p:oleObj name="Document" r:id="rId2" imgW="7143750" imgH="714375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382963"/>
                        <a:ext cx="14986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7A4E91B7-44C9-AF00-E255-96EDC6299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Experience?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30AB938A-6571-7D39-943C-E3F871FE4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home, entertainment, shopping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not enough that people can use a system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they must want to use it!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</a:pPr>
            <a:r>
              <a:rPr lang="en-GB" altLang="en-US" sz="2000"/>
              <a:t>psychology of experience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flow (Csikszentimihalyi)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balance between anxiety and boredom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</a:pPr>
            <a:r>
              <a:rPr lang="en-GB" altLang="en-US" sz="2000"/>
              <a:t>education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zone of proximal development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things you can just do with help</a:t>
            </a:r>
          </a:p>
          <a:p>
            <a:pPr>
              <a:lnSpc>
                <a:spcPct val="90000"/>
              </a:lnSpc>
            </a:pPr>
            <a:endParaRPr lang="en-GB" altLang="en-US" sz="1200"/>
          </a:p>
          <a:p>
            <a:pPr>
              <a:lnSpc>
                <a:spcPct val="90000"/>
              </a:lnSpc>
            </a:pPr>
            <a:r>
              <a:rPr lang="en-GB" altLang="en-US" sz="2000"/>
              <a:t>wider ...</a:t>
            </a:r>
          </a:p>
          <a:p>
            <a:pPr lvl="1">
              <a:lnSpc>
                <a:spcPct val="90000"/>
              </a:lnSpc>
            </a:pPr>
            <a:r>
              <a:rPr lang="en-GB" altLang="en-US" sz="1800"/>
              <a:t>literary analysis, film studies, drama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7735451C-B1AE-8570-C080-E7F100A2F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Designing experience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30E5D4A-3C2F-D1F7-A372-B5384FB2D4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4114800"/>
          </a:xfrm>
        </p:spPr>
        <p:txBody>
          <a:bodyPr/>
          <a:lstStyle/>
          <a:p>
            <a:endParaRPr lang="en-GB" altLang="en-US"/>
          </a:p>
          <a:p>
            <a:endParaRPr lang="en-GB" altLang="en-US"/>
          </a:p>
          <a:p>
            <a:r>
              <a:rPr lang="en-GB" altLang="en-US"/>
              <a:t>real crackers</a:t>
            </a:r>
          </a:p>
          <a:p>
            <a:pPr lvl="1"/>
            <a:r>
              <a:rPr lang="en-GB" altLang="en-US"/>
              <a:t>cheap and cheerful!</a:t>
            </a:r>
          </a:p>
          <a:p>
            <a:pPr lvl="1"/>
            <a:r>
              <a:rPr lang="en-GB" altLang="en-US"/>
              <a:t>bad joke, plastic toy, paper hat </a:t>
            </a:r>
          </a:p>
          <a:p>
            <a:pPr lvl="1"/>
            <a:r>
              <a:rPr lang="en-GB" altLang="en-US"/>
              <a:t>pull and bang</a:t>
            </a:r>
          </a:p>
        </p:txBody>
      </p:sp>
      <p:pic>
        <p:nvPicPr>
          <p:cNvPr id="49156" name="Picture 4">
            <a:extLst>
              <a:ext uri="{FF2B5EF4-FFF2-40B4-BE49-F238E27FC236}">
                <a16:creationId xmlns:a16="http://schemas.microsoft.com/office/drawing/2014/main" id="{D6288207-AFD1-7016-0D01-D8D838748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1600200"/>
            <a:ext cx="2882900" cy="134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57" name="Picture 5">
            <a:extLst>
              <a:ext uri="{FF2B5EF4-FFF2-40B4-BE49-F238E27FC236}">
                <a16:creationId xmlns:a16="http://schemas.microsoft.com/office/drawing/2014/main" id="{E438295D-0DA1-A28F-7764-67CED5729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600200"/>
            <a:ext cx="2882900" cy="134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69D2F43F-10C4-1211-865B-FF8AF72413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Designing experience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4B540C5-2FE5-4866-AE50-288BA88B53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4114800"/>
          </a:xfrm>
        </p:spPr>
        <p:txBody>
          <a:bodyPr/>
          <a:lstStyle/>
          <a:p>
            <a:endParaRPr lang="en-GB" altLang="en-US"/>
          </a:p>
          <a:p>
            <a:endParaRPr lang="en-GB" altLang="en-US"/>
          </a:p>
          <a:p>
            <a:r>
              <a:rPr lang="en-GB" altLang="en-US"/>
              <a:t>virtual crackers</a:t>
            </a:r>
          </a:p>
          <a:p>
            <a:pPr lvl="1"/>
            <a:r>
              <a:rPr lang="en-GB" altLang="en-US"/>
              <a:t>cheap and cheerful</a:t>
            </a:r>
          </a:p>
          <a:p>
            <a:pPr lvl="1"/>
            <a:r>
              <a:rPr lang="en-GB" altLang="en-US"/>
              <a:t>bad joke, web toy, cut-out mask </a:t>
            </a:r>
          </a:p>
          <a:p>
            <a:pPr lvl="1"/>
            <a:r>
              <a:rPr lang="en-GB" altLang="en-US"/>
              <a:t>click and bang</a:t>
            </a:r>
          </a:p>
        </p:txBody>
      </p:sp>
      <p:pic>
        <p:nvPicPr>
          <p:cNvPr id="52228" name="Picture 4">
            <a:extLst>
              <a:ext uri="{FF2B5EF4-FFF2-40B4-BE49-F238E27FC236}">
                <a16:creationId xmlns:a16="http://schemas.microsoft.com/office/drawing/2014/main" id="{75280229-29B6-C9B5-15AB-87A17399A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1600200"/>
            <a:ext cx="2882900" cy="134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29" name="Picture 5">
            <a:extLst>
              <a:ext uri="{FF2B5EF4-FFF2-40B4-BE49-F238E27FC236}">
                <a16:creationId xmlns:a16="http://schemas.microsoft.com/office/drawing/2014/main" id="{FCDA5711-AD15-33C6-1AA9-409C6CD1E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600200"/>
            <a:ext cx="2882900" cy="134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779417B6-7822-9ACA-0112-78BDDD7B71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Designing experience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292614BE-B028-540D-D37B-D09EA8AE8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4114800"/>
          </a:xfrm>
        </p:spPr>
        <p:txBody>
          <a:bodyPr/>
          <a:lstStyle/>
          <a:p>
            <a:endParaRPr lang="en-GB" altLang="en-US"/>
          </a:p>
          <a:p>
            <a:endParaRPr lang="en-GB" altLang="en-US"/>
          </a:p>
          <a:p>
            <a:r>
              <a:rPr lang="en-GB" altLang="en-US"/>
              <a:t>virtual crackers</a:t>
            </a:r>
          </a:p>
          <a:p>
            <a:pPr lvl="1"/>
            <a:r>
              <a:rPr lang="en-GB" altLang="en-US"/>
              <a:t>cheap and cheerful</a:t>
            </a:r>
          </a:p>
          <a:p>
            <a:pPr lvl="1"/>
            <a:r>
              <a:rPr lang="en-GB" altLang="en-US"/>
              <a:t>bad joke, web toy, cut-out mask </a:t>
            </a:r>
          </a:p>
          <a:p>
            <a:pPr lvl="1"/>
            <a:r>
              <a:rPr lang="en-GB" altLang="en-US"/>
              <a:t>click and bang</a:t>
            </a:r>
          </a:p>
        </p:txBody>
      </p:sp>
      <p:pic>
        <p:nvPicPr>
          <p:cNvPr id="54276" name="Picture 4">
            <a:extLst>
              <a:ext uri="{FF2B5EF4-FFF2-40B4-BE49-F238E27FC236}">
                <a16:creationId xmlns:a16="http://schemas.microsoft.com/office/drawing/2014/main" id="{26690550-1875-E32D-27A5-D07879FFE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00200"/>
            <a:ext cx="2882900" cy="134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77" name="Picture 5">
            <a:extLst>
              <a:ext uri="{FF2B5EF4-FFF2-40B4-BE49-F238E27FC236}">
                <a16:creationId xmlns:a16="http://schemas.microsoft.com/office/drawing/2014/main" id="{10A4D3BC-E8CF-F1A5-B557-9391A7F4B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0" y="1600200"/>
            <a:ext cx="2882900" cy="134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78" name="Picture 6">
            <a:extLst>
              <a:ext uri="{FF2B5EF4-FFF2-40B4-BE49-F238E27FC236}">
                <a16:creationId xmlns:a16="http://schemas.microsoft.com/office/drawing/2014/main" id="{1B9576D9-20FE-928F-338F-181AFE5FB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3716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79" name="Picture 7">
            <a:hlinkClick r:id="" action="ppaction://media"/>
            <a:extLst>
              <a:ext uri="{FF2B5EF4-FFF2-40B4-BE49-F238E27FC236}">
                <a16:creationId xmlns:a16="http://schemas.microsoft.com/office/drawing/2014/main" id="{9562C3D6-95E9-E4A9-969C-6CD265B57840}"/>
              </a:ext>
            </a:extLst>
          </p:cNvPr>
          <p:cNvPicPr>
            <a:picLocks noChangeAspect="1" noChangeArrowheads="1"/>
          </p:cNvPicPr>
          <p:nvPr>
            <a:wavAudioFile r:embed="rId1" name="Embedded Sound 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60960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280" name="Rectangle 8">
            <a:extLst>
              <a:ext uri="{FF2B5EF4-FFF2-40B4-BE49-F238E27FC236}">
                <a16:creationId xmlns:a16="http://schemas.microsoft.com/office/drawing/2014/main" id="{FE464505-6223-1AD7-D46A-FF0919820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638800"/>
            <a:ext cx="10668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42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4279"/>
                </p:tgtEl>
              </p:cMediaNode>
            </p:audio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7EEB8EAA-47A2-7DFB-847D-0D8641F496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7772400" cy="1143000"/>
          </a:xfrm>
        </p:spPr>
        <p:txBody>
          <a:bodyPr/>
          <a:lstStyle/>
          <a:p>
            <a:r>
              <a:rPr lang="en-GB" altLang="en-US"/>
              <a:t>how crackers work</a:t>
            </a:r>
            <a:endParaRPr lang="en-GB" altLang="en-US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grpSp>
        <p:nvGrpSpPr>
          <p:cNvPr id="56323" name="Group 3">
            <a:extLst>
              <a:ext uri="{FF2B5EF4-FFF2-40B4-BE49-F238E27FC236}">
                <a16:creationId xmlns:a16="http://schemas.microsoft.com/office/drawing/2014/main" id="{9CCEA423-F332-CD9F-43DB-E5352F23A387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341438"/>
            <a:ext cx="2625725" cy="1447800"/>
            <a:chOff x="1296" y="749"/>
            <a:chExt cx="1654" cy="912"/>
          </a:xfrm>
        </p:grpSpPr>
        <p:grpSp>
          <p:nvGrpSpPr>
            <p:cNvPr id="56324" name="Group 4">
              <a:extLst>
                <a:ext uri="{FF2B5EF4-FFF2-40B4-BE49-F238E27FC236}">
                  <a16:creationId xmlns:a16="http://schemas.microsoft.com/office/drawing/2014/main" id="{8B2F528D-F889-5C3E-B927-FF7E610DBF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749"/>
              <a:ext cx="556" cy="615"/>
              <a:chOff x="662" y="2064"/>
              <a:chExt cx="556" cy="615"/>
            </a:xfrm>
          </p:grpSpPr>
          <p:pic>
            <p:nvPicPr>
              <p:cNvPr id="56325" name="Picture 5">
                <a:extLst>
                  <a:ext uri="{FF2B5EF4-FFF2-40B4-BE49-F238E27FC236}">
                    <a16:creationId xmlns:a16="http://schemas.microsoft.com/office/drawing/2014/main" id="{1E95CA35-661E-19BA-40E3-4BA142B234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8" y="2064"/>
                <a:ext cx="424" cy="4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6326" name="Text Box 6">
                <a:extLst>
                  <a:ext uri="{FF2B5EF4-FFF2-40B4-BE49-F238E27FC236}">
                    <a16:creationId xmlns:a16="http://schemas.microsoft.com/office/drawing/2014/main" id="{6A67A0F8-58DD-810A-549B-87B20E1B6E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" y="2448"/>
                <a:ext cx="5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en-US" sz="1800">
                    <a:latin typeface="Arial" panose="020B0604020202020204" pitchFamily="34" charset="0"/>
                  </a:rPr>
                  <a:t>sender</a:t>
                </a:r>
              </a:p>
            </p:txBody>
          </p:sp>
        </p:grpSp>
        <p:sp>
          <p:nvSpPr>
            <p:cNvPr id="56327" name="Text Box 7">
              <a:extLst>
                <a:ext uri="{FF2B5EF4-FFF2-40B4-BE49-F238E27FC236}">
                  <a16:creationId xmlns:a16="http://schemas.microsoft.com/office/drawing/2014/main" id="{B20C79C1-E4BF-2284-2950-2933E8903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828"/>
              <a:ext cx="9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600">
                  <a:latin typeface="Arial" panose="020B0604020202020204" pitchFamily="34" charset="0"/>
                </a:rPr>
                <a:t>fill in web form</a:t>
              </a:r>
            </a:p>
          </p:txBody>
        </p:sp>
        <p:grpSp>
          <p:nvGrpSpPr>
            <p:cNvPr id="56328" name="Group 8">
              <a:extLst>
                <a:ext uri="{FF2B5EF4-FFF2-40B4-BE49-F238E27FC236}">
                  <a16:creationId xmlns:a16="http://schemas.microsoft.com/office/drawing/2014/main" id="{1D0788FE-F152-4E5D-78F2-B6F714841C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1085"/>
              <a:ext cx="480" cy="576"/>
              <a:chOff x="1632" y="672"/>
              <a:chExt cx="480" cy="576"/>
            </a:xfrm>
          </p:grpSpPr>
          <p:sp>
            <p:nvSpPr>
              <p:cNvPr id="56329" name="AutoShape 9">
                <a:extLst>
                  <a:ext uri="{FF2B5EF4-FFF2-40B4-BE49-F238E27FC236}">
                    <a16:creationId xmlns:a16="http://schemas.microsoft.com/office/drawing/2014/main" id="{8ED5D406-2B87-7CF7-69E1-F10A14E31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672"/>
                <a:ext cx="480" cy="576"/>
              </a:xfrm>
              <a:prstGeom prst="foldedCorner">
                <a:avLst>
                  <a:gd name="adj" fmla="val 27083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 altLang="en-US" sz="1200">
                  <a:latin typeface="Arial" panose="020B0604020202020204" pitchFamily="34" charset="0"/>
                </a:endParaRPr>
              </a:p>
              <a:p>
                <a:endParaRPr lang="en-GB" altLang="en-US" sz="1200">
                  <a:latin typeface="Arial" panose="020B0604020202020204" pitchFamily="34" charset="0"/>
                </a:endParaRPr>
              </a:p>
              <a:p>
                <a:r>
                  <a:rPr lang="en-GB" altLang="en-US" sz="1200">
                    <a:latin typeface="Arial" panose="020B0604020202020204" pitchFamily="34" charset="0"/>
                  </a:rPr>
                  <a:t>To: wxv</a:t>
                </a:r>
              </a:p>
              <a:p>
                <a:r>
                  <a:rPr lang="en-GB" altLang="en-US" sz="1200">
                    <a:latin typeface="Arial" panose="020B0604020202020204" pitchFamily="34" charset="0"/>
                  </a:rPr>
                  <a:t>From: ..</a:t>
                </a:r>
              </a:p>
            </p:txBody>
          </p:sp>
          <p:pic>
            <p:nvPicPr>
              <p:cNvPr id="56330" name="Picture 10">
                <a:extLst>
                  <a:ext uri="{FF2B5EF4-FFF2-40B4-BE49-F238E27FC236}">
                    <a16:creationId xmlns:a16="http://schemas.microsoft.com/office/drawing/2014/main" id="{C295BFE9-9EB8-107C-0FB5-B88FB86EB3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68" y="720"/>
                <a:ext cx="119" cy="1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6331" name="Picture 11">
                <a:extLst>
                  <a:ext uri="{FF2B5EF4-FFF2-40B4-BE49-F238E27FC236}">
                    <a16:creationId xmlns:a16="http://schemas.microsoft.com/office/drawing/2014/main" id="{DEF600A2-0FEE-3546-34A7-6FDD90ACC4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80" y="720"/>
                <a:ext cx="95" cy="1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6332" name="Group 12">
            <a:extLst>
              <a:ext uri="{FF2B5EF4-FFF2-40B4-BE49-F238E27FC236}">
                <a16:creationId xmlns:a16="http://schemas.microsoft.com/office/drawing/2014/main" id="{0952015F-4A3E-F8C1-8FD6-2DE66D765FF1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341438"/>
            <a:ext cx="3790950" cy="1600200"/>
            <a:chOff x="2832" y="749"/>
            <a:chExt cx="2388" cy="1008"/>
          </a:xfrm>
        </p:grpSpPr>
        <p:sp>
          <p:nvSpPr>
            <p:cNvPr id="56333" name="Text Box 13">
              <a:extLst>
                <a:ext uri="{FF2B5EF4-FFF2-40B4-BE49-F238E27FC236}">
                  <a16:creationId xmlns:a16="http://schemas.microsoft.com/office/drawing/2014/main" id="{88F8ACB4-507C-CAEE-C255-47B5D409D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0" y="1164"/>
              <a:ext cx="86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600">
                  <a:latin typeface="Arial" panose="020B0604020202020204" pitchFamily="34" charset="0"/>
                </a:rPr>
                <a:t>receive email</a:t>
              </a:r>
            </a:p>
          </p:txBody>
        </p:sp>
        <p:grpSp>
          <p:nvGrpSpPr>
            <p:cNvPr id="56334" name="Group 14">
              <a:extLst>
                <a:ext uri="{FF2B5EF4-FFF2-40B4-BE49-F238E27FC236}">
                  <a16:creationId xmlns:a16="http://schemas.microsoft.com/office/drawing/2014/main" id="{B6C2BC01-B6CA-5161-A348-B6A873C749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749"/>
              <a:ext cx="2388" cy="1008"/>
              <a:chOff x="2832" y="749"/>
              <a:chExt cx="2388" cy="1008"/>
            </a:xfrm>
          </p:grpSpPr>
          <p:grpSp>
            <p:nvGrpSpPr>
              <p:cNvPr id="56335" name="Group 15">
                <a:extLst>
                  <a:ext uri="{FF2B5EF4-FFF2-40B4-BE49-F238E27FC236}">
                    <a16:creationId xmlns:a16="http://schemas.microsoft.com/office/drawing/2014/main" id="{784E4112-6F4C-FAD1-B90C-24FFF92D9C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60" y="749"/>
                <a:ext cx="660" cy="615"/>
                <a:chOff x="4636" y="2160"/>
                <a:chExt cx="660" cy="615"/>
              </a:xfrm>
            </p:grpSpPr>
            <p:pic>
              <p:nvPicPr>
                <p:cNvPr id="56336" name="Picture 16">
                  <a:extLst>
                    <a:ext uri="{FF2B5EF4-FFF2-40B4-BE49-F238E27FC236}">
                      <a16:creationId xmlns:a16="http://schemas.microsoft.com/office/drawing/2014/main" id="{94BDFD64-99BF-F553-5FB5-1E1368C5668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752" y="2160"/>
                  <a:ext cx="424" cy="4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56337" name="Text Box 17">
                  <a:extLst>
                    <a:ext uri="{FF2B5EF4-FFF2-40B4-BE49-F238E27FC236}">
                      <a16:creationId xmlns:a16="http://schemas.microsoft.com/office/drawing/2014/main" id="{621E558E-0CAD-9758-6558-144AA78363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36" y="2544"/>
                  <a:ext cx="66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GB" altLang="en-US" sz="1800">
                      <a:latin typeface="Arial" panose="020B0604020202020204" pitchFamily="34" charset="0"/>
                    </a:rPr>
                    <a:t>recipient</a:t>
                  </a:r>
                </a:p>
              </p:txBody>
            </p:sp>
          </p:grpSp>
          <p:grpSp>
            <p:nvGrpSpPr>
              <p:cNvPr id="56338" name="Group 18">
                <a:extLst>
                  <a:ext uri="{FF2B5EF4-FFF2-40B4-BE49-F238E27FC236}">
                    <a16:creationId xmlns:a16="http://schemas.microsoft.com/office/drawing/2014/main" id="{65421B0F-5016-4E40-AE5C-204590F60C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2" y="1421"/>
                <a:ext cx="432" cy="336"/>
                <a:chOff x="2976" y="1152"/>
                <a:chExt cx="432" cy="336"/>
              </a:xfrm>
            </p:grpSpPr>
            <p:sp>
              <p:nvSpPr>
                <p:cNvPr id="56339" name="Rectangle 19">
                  <a:extLst>
                    <a:ext uri="{FF2B5EF4-FFF2-40B4-BE49-F238E27FC236}">
                      <a16:creationId xmlns:a16="http://schemas.microsoft.com/office/drawing/2014/main" id="{7FF2FC80-86A0-BEFF-5D29-B2906F8355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6" y="1152"/>
                  <a:ext cx="432" cy="336"/>
                </a:xfrm>
                <a:prstGeom prst="rect">
                  <a:avLst/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340" name="AutoShape 20">
                  <a:extLst>
                    <a:ext uri="{FF2B5EF4-FFF2-40B4-BE49-F238E27FC236}">
                      <a16:creationId xmlns:a16="http://schemas.microsoft.com/office/drawing/2014/main" id="{01B86F44-06EB-38DB-26F8-220FE537B3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6" y="1248"/>
                  <a:ext cx="432" cy="24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341" name="AutoShape 21">
                  <a:extLst>
                    <a:ext uri="{FF2B5EF4-FFF2-40B4-BE49-F238E27FC236}">
                      <a16:creationId xmlns:a16="http://schemas.microsoft.com/office/drawing/2014/main" id="{A5288F07-8DC1-1E6D-9A38-E016CD4D6B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976" y="1152"/>
                  <a:ext cx="432" cy="24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hlink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56342" name="Line 22">
                <a:extLst>
                  <a:ext uri="{FF2B5EF4-FFF2-40B4-BE49-F238E27FC236}">
                    <a16:creationId xmlns:a16="http://schemas.microsoft.com/office/drawing/2014/main" id="{845E2DF5-4C93-ADC8-62BF-906A590C62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133"/>
                <a:ext cx="768" cy="192"/>
              </a:xfrm>
              <a:prstGeom prst="line">
                <a:avLst/>
              </a:prstGeom>
              <a:noFill/>
              <a:ln w="76200">
                <a:solidFill>
                  <a:srgbClr val="990033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56343" name="Group 23">
            <a:extLst>
              <a:ext uri="{FF2B5EF4-FFF2-40B4-BE49-F238E27FC236}">
                <a16:creationId xmlns:a16="http://schemas.microsoft.com/office/drawing/2014/main" id="{48021E86-7063-9208-610C-F9EDDAF52235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2865438"/>
            <a:ext cx="1676400" cy="1524000"/>
            <a:chOff x="2976" y="1709"/>
            <a:chExt cx="1056" cy="960"/>
          </a:xfrm>
        </p:grpSpPr>
        <p:grpSp>
          <p:nvGrpSpPr>
            <p:cNvPr id="56344" name="Group 24">
              <a:extLst>
                <a:ext uri="{FF2B5EF4-FFF2-40B4-BE49-F238E27FC236}">
                  <a16:creationId xmlns:a16="http://schemas.microsoft.com/office/drawing/2014/main" id="{9AB1A721-69E1-3C97-BC1F-4E12B03EB2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709"/>
              <a:ext cx="1056" cy="960"/>
              <a:chOff x="2976" y="1709"/>
              <a:chExt cx="1056" cy="960"/>
            </a:xfrm>
          </p:grpSpPr>
          <p:sp>
            <p:nvSpPr>
              <p:cNvPr id="56345" name="Text Box 25">
                <a:extLst>
                  <a:ext uri="{FF2B5EF4-FFF2-40B4-BE49-F238E27FC236}">
                    <a16:creationId xmlns:a16="http://schemas.microsoft.com/office/drawing/2014/main" id="{1160F632-CB48-2771-CCD4-9C52C51426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1757"/>
                <a:ext cx="66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en-US" sz="1600">
                    <a:latin typeface="Arial" panose="020B0604020202020204" pitchFamily="34" charset="0"/>
                  </a:rPr>
                  <a:t>closed</a:t>
                </a:r>
                <a:br>
                  <a:rPr lang="en-GB" altLang="en-US" sz="1600">
                    <a:latin typeface="Arial" panose="020B0604020202020204" pitchFamily="34" charset="0"/>
                  </a:rPr>
                </a:br>
                <a:r>
                  <a:rPr lang="en-GB" altLang="en-US" sz="1200">
                    <a:latin typeface="Arial" panose="020B0604020202020204" pitchFamily="34" charset="0"/>
                  </a:rPr>
                  <a:t>cracker page</a:t>
                </a:r>
                <a:endParaRPr lang="en-GB" altLang="en-US" sz="1600">
                  <a:latin typeface="Arial" panose="020B0604020202020204" pitchFamily="34" charset="0"/>
                </a:endParaRPr>
              </a:p>
            </p:txBody>
          </p:sp>
          <p:grpSp>
            <p:nvGrpSpPr>
              <p:cNvPr id="56346" name="Group 26">
                <a:extLst>
                  <a:ext uri="{FF2B5EF4-FFF2-40B4-BE49-F238E27FC236}">
                    <a16:creationId xmlns:a16="http://schemas.microsoft.com/office/drawing/2014/main" id="{5690DF1B-3077-D784-A029-8F45B5A5C2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6" y="2093"/>
                <a:ext cx="560" cy="576"/>
                <a:chOff x="2304" y="1968"/>
                <a:chExt cx="560" cy="576"/>
              </a:xfrm>
            </p:grpSpPr>
            <p:sp>
              <p:nvSpPr>
                <p:cNvPr id="56347" name="AutoShape 27">
                  <a:extLst>
                    <a:ext uri="{FF2B5EF4-FFF2-40B4-BE49-F238E27FC236}">
                      <a16:creationId xmlns:a16="http://schemas.microsoft.com/office/drawing/2014/main" id="{4809E0D9-20A4-A997-C420-7703E05BFD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1968"/>
                  <a:ext cx="560" cy="576"/>
                </a:xfrm>
                <a:prstGeom prst="foldedCorner">
                  <a:avLst>
                    <a:gd name="adj" fmla="val 27083"/>
                  </a:avLst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GB" altLang="en-US" sz="1600">
                    <a:latin typeface="Arial" panose="020B0604020202020204" pitchFamily="34" charset="0"/>
                  </a:endParaRPr>
                </a:p>
                <a:p>
                  <a:pPr algn="ctr"/>
                  <a:r>
                    <a:rPr lang="en-GB" altLang="en-US" sz="1200" b="1" u="sng">
                      <a:solidFill>
                        <a:schemeClr val="accent2"/>
                      </a:solidFill>
                      <a:latin typeface="Arial" panose="020B0604020202020204" pitchFamily="34" charset="0"/>
                    </a:rPr>
                    <a:t>open</a:t>
                  </a:r>
                  <a:endParaRPr lang="en-GB" altLang="en-US" sz="1200">
                    <a:latin typeface="Arial" panose="020B0604020202020204" pitchFamily="34" charset="0"/>
                  </a:endParaRPr>
                </a:p>
                <a:p>
                  <a:pPr algn="ctr"/>
                  <a:endParaRPr lang="en-GB" altLang="en-US" sz="400">
                    <a:latin typeface="Arial" panose="020B0604020202020204" pitchFamily="34" charset="0"/>
                  </a:endParaRPr>
                </a:p>
                <a:p>
                  <a:pPr algn="ctr"/>
                  <a:r>
                    <a:rPr lang="en-GB" altLang="en-US" sz="1200">
                      <a:latin typeface="Arial" panose="020B0604020202020204" pitchFamily="34" charset="0"/>
                    </a:rPr>
                    <a:t>message</a:t>
                  </a:r>
                </a:p>
              </p:txBody>
            </p:sp>
            <p:pic>
              <p:nvPicPr>
                <p:cNvPr id="56348" name="Picture 28">
                  <a:extLst>
                    <a:ext uri="{FF2B5EF4-FFF2-40B4-BE49-F238E27FC236}">
                      <a16:creationId xmlns:a16="http://schemas.microsoft.com/office/drawing/2014/main" id="{D0036160-2A23-7685-8A44-B6990C40AED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352" y="2016"/>
                  <a:ext cx="480" cy="11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56349" name="Line 29">
                <a:extLst>
                  <a:ext uri="{FF2B5EF4-FFF2-40B4-BE49-F238E27FC236}">
                    <a16:creationId xmlns:a16="http://schemas.microsoft.com/office/drawing/2014/main" id="{F250D98B-0A52-16D9-229D-71364ACCA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2" y="1709"/>
                <a:ext cx="240" cy="336"/>
              </a:xfrm>
              <a:prstGeom prst="line">
                <a:avLst/>
              </a:prstGeom>
              <a:noFill/>
              <a:ln w="76200">
                <a:solidFill>
                  <a:srgbClr val="990033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pic>
          <p:nvPicPr>
            <p:cNvPr id="56350" name="Picture 30">
              <a:extLst>
                <a:ext uri="{FF2B5EF4-FFF2-40B4-BE49-F238E27FC236}">
                  <a16:creationId xmlns:a16="http://schemas.microsoft.com/office/drawing/2014/main" id="{6C34DB60-2A5A-03E6-706F-9C5BA5ED48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1" y="2425"/>
              <a:ext cx="450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6351" name="AutoShape 31">
            <a:hlinkClick r:id="rId7" action="ppaction://hlinkfile" highlightClick="1"/>
            <a:extLst>
              <a:ext uri="{FF2B5EF4-FFF2-40B4-BE49-F238E27FC236}">
                <a16:creationId xmlns:a16="http://schemas.microsoft.com/office/drawing/2014/main" id="{7018FDC7-B984-FB20-7C10-CA64EB559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5029200"/>
            <a:ext cx="228600" cy="304800"/>
          </a:xfrm>
          <a:prstGeom prst="actionButton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6352" name="Group 32">
            <a:extLst>
              <a:ext uri="{FF2B5EF4-FFF2-40B4-BE49-F238E27FC236}">
                <a16:creationId xmlns:a16="http://schemas.microsoft.com/office/drawing/2014/main" id="{8C55053D-A19A-D451-77C4-2907B0C7F7B2}"/>
              </a:ext>
            </a:extLst>
          </p:cNvPr>
          <p:cNvGrpSpPr>
            <a:grpSpLocks/>
          </p:cNvGrpSpPr>
          <p:nvPr/>
        </p:nvGrpSpPr>
        <p:grpSpPr bwMode="auto">
          <a:xfrm>
            <a:off x="5238750" y="3703638"/>
            <a:ext cx="2590800" cy="838200"/>
            <a:chOff x="3696" y="2285"/>
            <a:chExt cx="1632" cy="528"/>
          </a:xfrm>
        </p:grpSpPr>
        <p:sp>
          <p:nvSpPr>
            <p:cNvPr id="56353" name="Line 33">
              <a:extLst>
                <a:ext uri="{FF2B5EF4-FFF2-40B4-BE49-F238E27FC236}">
                  <a16:creationId xmlns:a16="http://schemas.microsoft.com/office/drawing/2014/main" id="{9B568B14-9E10-A5F6-3D47-E8EC15341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381"/>
              <a:ext cx="528" cy="432"/>
            </a:xfrm>
            <a:prstGeom prst="line">
              <a:avLst/>
            </a:prstGeom>
            <a:noFill/>
            <a:ln w="76200">
              <a:solidFill>
                <a:srgbClr val="9900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6354" name="Text Box 34">
              <a:extLst>
                <a:ext uri="{FF2B5EF4-FFF2-40B4-BE49-F238E27FC236}">
                  <a16:creationId xmlns:a16="http://schemas.microsoft.com/office/drawing/2014/main" id="{7F38A7C3-3E3B-4135-E1C3-47B798D1F9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4" y="2285"/>
              <a:ext cx="1064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recipient clicks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cracker opens ...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very slowly</a:t>
              </a:r>
            </a:p>
          </p:txBody>
        </p:sp>
      </p:grpSp>
      <p:grpSp>
        <p:nvGrpSpPr>
          <p:cNvPr id="56355" name="Group 35">
            <a:extLst>
              <a:ext uri="{FF2B5EF4-FFF2-40B4-BE49-F238E27FC236}">
                <a16:creationId xmlns:a16="http://schemas.microsoft.com/office/drawing/2014/main" id="{242D6E42-3A78-DE55-B79F-5EFD8E4D712F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4541838"/>
            <a:ext cx="2841625" cy="2163762"/>
            <a:chOff x="3216" y="2765"/>
            <a:chExt cx="1790" cy="1363"/>
          </a:xfrm>
        </p:grpSpPr>
        <p:grpSp>
          <p:nvGrpSpPr>
            <p:cNvPr id="56356" name="Group 36">
              <a:extLst>
                <a:ext uri="{FF2B5EF4-FFF2-40B4-BE49-F238E27FC236}">
                  <a16:creationId xmlns:a16="http://schemas.microsoft.com/office/drawing/2014/main" id="{EA007119-AB0F-21B7-1122-CF77B51177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2861"/>
              <a:ext cx="1649" cy="1267"/>
              <a:chOff x="3264" y="2861"/>
              <a:chExt cx="1649" cy="1267"/>
            </a:xfrm>
          </p:grpSpPr>
          <p:pic>
            <p:nvPicPr>
              <p:cNvPr id="56357" name="Picture 37">
                <a:extLst>
                  <a:ext uri="{FF2B5EF4-FFF2-40B4-BE49-F238E27FC236}">
                    <a16:creationId xmlns:a16="http://schemas.microsoft.com/office/drawing/2014/main" id="{99ABE5B8-43B4-EE1B-6320-7A2EE892DF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64" y="3677"/>
                <a:ext cx="449" cy="45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6358" name="Picture 38">
                <a:extLst>
                  <a:ext uri="{FF2B5EF4-FFF2-40B4-BE49-F238E27FC236}">
                    <a16:creationId xmlns:a16="http://schemas.microsoft.com/office/drawing/2014/main" id="{6BCD57E4-0DC5-1E0E-F3BE-F4ED3B7EB8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V="1">
                <a:off x="3264" y="3677"/>
                <a:ext cx="886" cy="3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56359" name="Group 39">
                <a:extLst>
                  <a:ext uri="{FF2B5EF4-FFF2-40B4-BE49-F238E27FC236}">
                    <a16:creationId xmlns:a16="http://schemas.microsoft.com/office/drawing/2014/main" id="{617A5BAA-4C9B-CDEA-26BD-8F6DB5C0BE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2861"/>
                <a:ext cx="560" cy="576"/>
                <a:chOff x="3648" y="1872"/>
                <a:chExt cx="560" cy="576"/>
              </a:xfrm>
            </p:grpSpPr>
            <p:sp>
              <p:nvSpPr>
                <p:cNvPr id="56360" name="AutoShape 40">
                  <a:extLst>
                    <a:ext uri="{FF2B5EF4-FFF2-40B4-BE49-F238E27FC236}">
                      <a16:creationId xmlns:a16="http://schemas.microsoft.com/office/drawing/2014/main" id="{17D43078-2ACC-B33C-1338-2997AEC459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1872"/>
                  <a:ext cx="560" cy="576"/>
                </a:xfrm>
                <a:prstGeom prst="foldedCorner">
                  <a:avLst>
                    <a:gd name="adj" fmla="val 27083"/>
                  </a:avLst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GB" altLang="en-US" sz="1600">
                    <a:latin typeface="Arial" panose="020B0604020202020204" pitchFamily="34" charset="0"/>
                  </a:endParaRPr>
                </a:p>
                <a:p>
                  <a:pPr algn="ctr"/>
                  <a:endParaRPr lang="en-GB" altLang="en-US" sz="400">
                    <a:latin typeface="Arial" panose="020B0604020202020204" pitchFamily="34" charset="0"/>
                  </a:endParaRPr>
                </a:p>
                <a:p>
                  <a:pPr algn="ctr"/>
                  <a:endParaRPr lang="en-GB" altLang="en-US" sz="400">
                    <a:latin typeface="Arial" panose="020B0604020202020204" pitchFamily="34" charset="0"/>
                  </a:endParaRPr>
                </a:p>
                <a:p>
                  <a:pPr algn="ctr"/>
                  <a:r>
                    <a:rPr lang="en-GB" altLang="en-US" sz="1200">
                      <a:latin typeface="Arial" panose="020B0604020202020204" pitchFamily="34" charset="0"/>
                    </a:rPr>
                    <a:t>joke</a:t>
                  </a:r>
                </a:p>
                <a:p>
                  <a:pPr algn="ctr"/>
                  <a:r>
                    <a:rPr lang="en-GB" altLang="en-US" sz="1200" u="sng">
                      <a:solidFill>
                        <a:schemeClr val="accent2"/>
                      </a:solidFill>
                      <a:latin typeface="Arial" panose="020B0604020202020204" pitchFamily="34" charset="0"/>
                    </a:rPr>
                    <a:t>links</a:t>
                  </a:r>
                  <a:endParaRPr lang="en-GB" altLang="en-US" sz="1200">
                    <a:latin typeface="Arial" panose="020B0604020202020204" pitchFamily="34" charset="0"/>
                  </a:endParaRPr>
                </a:p>
              </p:txBody>
            </p:sp>
            <p:pic>
              <p:nvPicPr>
                <p:cNvPr id="56361" name="Picture 41">
                  <a:extLst>
                    <a:ext uri="{FF2B5EF4-FFF2-40B4-BE49-F238E27FC236}">
                      <a16:creationId xmlns:a16="http://schemas.microsoft.com/office/drawing/2014/main" id="{E188D405-214C-2594-C495-AC7602C3BFD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64" y="1968"/>
                  <a:ext cx="528" cy="12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56362" name="Line 42">
                <a:extLst>
                  <a:ext uri="{FF2B5EF4-FFF2-40B4-BE49-F238E27FC236}">
                    <a16:creationId xmlns:a16="http://schemas.microsoft.com/office/drawing/2014/main" id="{A0EB9027-6078-0B20-2A09-002E7811D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3341"/>
                <a:ext cx="240" cy="2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6363" name="Line 43">
                <a:extLst>
                  <a:ext uri="{FF2B5EF4-FFF2-40B4-BE49-F238E27FC236}">
                    <a16:creationId xmlns:a16="http://schemas.microsoft.com/office/drawing/2014/main" id="{4DD7085F-46B9-813D-F6C9-6AFD14136C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3341"/>
                <a:ext cx="240" cy="2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56364" name="Text Box 44">
              <a:extLst>
                <a:ext uri="{FF2B5EF4-FFF2-40B4-BE49-F238E27FC236}">
                  <a16:creationId xmlns:a16="http://schemas.microsoft.com/office/drawing/2014/main" id="{EBEC3678-DE16-47E9-10A0-4F44F3F3F8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765"/>
              <a:ext cx="66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GB" altLang="en-US" sz="1600">
                  <a:latin typeface="Arial" panose="020B0604020202020204" pitchFamily="34" charset="0"/>
                </a:rPr>
                <a:t>open</a:t>
              </a:r>
              <a:br>
                <a:rPr lang="en-GB" altLang="en-US" sz="1600">
                  <a:latin typeface="Arial" panose="020B0604020202020204" pitchFamily="34" charset="0"/>
                </a:rPr>
              </a:br>
              <a:r>
                <a:rPr lang="en-GB" altLang="en-US" sz="1200">
                  <a:latin typeface="Arial" panose="020B0604020202020204" pitchFamily="34" charset="0"/>
                </a:rPr>
                <a:t>cracker page</a:t>
              </a:r>
              <a:endParaRPr lang="en-GB" altLang="en-US" sz="1600">
                <a:latin typeface="Arial" panose="020B0604020202020204" pitchFamily="34" charset="0"/>
              </a:endParaRPr>
            </a:p>
          </p:txBody>
        </p:sp>
        <p:sp>
          <p:nvSpPr>
            <p:cNvPr id="56365" name="Text Box 45">
              <a:extLst>
                <a:ext uri="{FF2B5EF4-FFF2-40B4-BE49-F238E27FC236}">
                  <a16:creationId xmlns:a16="http://schemas.microsoft.com/office/drawing/2014/main" id="{13CE8D04-D6F7-3025-7183-2452698D5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485"/>
              <a:ext cx="44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GB" altLang="en-US" sz="1200">
                  <a:latin typeface="Arial" panose="020B0604020202020204" pitchFamily="34" charset="0"/>
                </a:rPr>
                <a:t>web toy</a:t>
              </a:r>
              <a:endParaRPr lang="en-GB" altLang="en-US" sz="1600">
                <a:latin typeface="Arial" panose="020B0604020202020204" pitchFamily="34" charset="0"/>
              </a:endParaRPr>
            </a:p>
          </p:txBody>
        </p:sp>
        <p:sp>
          <p:nvSpPr>
            <p:cNvPr id="56366" name="Text Box 46">
              <a:extLst>
                <a:ext uri="{FF2B5EF4-FFF2-40B4-BE49-F238E27FC236}">
                  <a16:creationId xmlns:a16="http://schemas.microsoft.com/office/drawing/2014/main" id="{0007F06E-D092-3274-22FA-5E0E430A8E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9" y="3533"/>
              <a:ext cx="34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GB" altLang="en-US" sz="1200">
                  <a:latin typeface="Arial" panose="020B0604020202020204" pitchFamily="34" charset="0"/>
                </a:rPr>
                <a:t>mask</a:t>
              </a:r>
              <a:endParaRPr lang="en-GB" altLang="en-US" sz="1600">
                <a:latin typeface="Arial" panose="020B0604020202020204" pitchFamily="34" charset="0"/>
              </a:endParaRPr>
            </a:p>
          </p:txBody>
        </p:sp>
      </p:grpSp>
      <p:sp>
        <p:nvSpPr>
          <p:cNvPr id="56367" name="AutoShape 47">
            <a:hlinkClick r:id="rId11" action="ppaction://hlinkfile" highlightClick="1"/>
            <a:extLst>
              <a:ext uri="{FF2B5EF4-FFF2-40B4-BE49-F238E27FC236}">
                <a16:creationId xmlns:a16="http://schemas.microsoft.com/office/drawing/2014/main" id="{7718C554-704E-38F6-63AC-4676EF26F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5486400"/>
            <a:ext cx="228600" cy="304800"/>
          </a:xfrm>
          <a:prstGeom prst="actionButton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6368" name="AutoShape 48">
            <a:hlinkClick r:id="rId12" action="ppaction://hlinkfile" highlightClick="1"/>
            <a:extLst>
              <a:ext uri="{FF2B5EF4-FFF2-40B4-BE49-F238E27FC236}">
                <a16:creationId xmlns:a16="http://schemas.microsoft.com/office/drawing/2014/main" id="{969CB2CA-D16E-0185-DAE8-3BCA4EBBC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5943600"/>
            <a:ext cx="228600" cy="304800"/>
          </a:xfrm>
          <a:prstGeom prst="actionButton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6369" name="AutoShape 49">
            <a:hlinkClick r:id="rId13" action="ppaction://hlinkfile" highlightClick="1"/>
            <a:extLst>
              <a:ext uri="{FF2B5EF4-FFF2-40B4-BE49-F238E27FC236}">
                <a16:creationId xmlns:a16="http://schemas.microsoft.com/office/drawing/2014/main" id="{E3B88D8F-851A-E427-A0F7-95E8D90D5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6400800"/>
            <a:ext cx="228600" cy="304800"/>
          </a:xfrm>
          <a:prstGeom prst="actionButton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6370" name="Group 50">
            <a:extLst>
              <a:ext uri="{FF2B5EF4-FFF2-40B4-BE49-F238E27FC236}">
                <a16:creationId xmlns:a16="http://schemas.microsoft.com/office/drawing/2014/main" id="{C5C27CEE-8852-B136-0B01-7285D5A3BFFE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3779838"/>
            <a:ext cx="3733800" cy="1600200"/>
            <a:chOff x="1344" y="2285"/>
            <a:chExt cx="2352" cy="1008"/>
          </a:xfrm>
        </p:grpSpPr>
        <p:grpSp>
          <p:nvGrpSpPr>
            <p:cNvPr id="56371" name="Group 51">
              <a:extLst>
                <a:ext uri="{FF2B5EF4-FFF2-40B4-BE49-F238E27FC236}">
                  <a16:creationId xmlns:a16="http://schemas.microsoft.com/office/drawing/2014/main" id="{081E1025-E05D-728D-E915-BD29D961CB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621"/>
              <a:ext cx="556" cy="615"/>
              <a:chOff x="662" y="2064"/>
              <a:chExt cx="556" cy="615"/>
            </a:xfrm>
          </p:grpSpPr>
          <p:pic>
            <p:nvPicPr>
              <p:cNvPr id="56372" name="Picture 52">
                <a:extLst>
                  <a:ext uri="{FF2B5EF4-FFF2-40B4-BE49-F238E27FC236}">
                    <a16:creationId xmlns:a16="http://schemas.microsoft.com/office/drawing/2014/main" id="{34512B1E-951F-090C-B25D-60E3A9864F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8" y="2064"/>
                <a:ext cx="424" cy="4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6373" name="Text Box 53">
                <a:extLst>
                  <a:ext uri="{FF2B5EF4-FFF2-40B4-BE49-F238E27FC236}">
                    <a16:creationId xmlns:a16="http://schemas.microsoft.com/office/drawing/2014/main" id="{16EF4666-5A5A-6444-4584-55A121473C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" y="2448"/>
                <a:ext cx="5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altLang="en-US" sz="1800">
                    <a:latin typeface="Arial" panose="020B0604020202020204" pitchFamily="34" charset="0"/>
                  </a:rPr>
                  <a:t>sender</a:t>
                </a:r>
              </a:p>
            </p:txBody>
          </p:sp>
        </p:grpSp>
        <p:sp>
          <p:nvSpPr>
            <p:cNvPr id="56374" name="Line 54">
              <a:extLst>
                <a:ext uri="{FF2B5EF4-FFF2-40B4-BE49-F238E27FC236}">
                  <a16:creationId xmlns:a16="http://schemas.microsoft.com/office/drawing/2014/main" id="{81C7C07C-55C7-5A34-83D1-592EE35D83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429"/>
              <a:ext cx="1104" cy="384"/>
            </a:xfrm>
            <a:prstGeom prst="line">
              <a:avLst/>
            </a:prstGeom>
            <a:noFill/>
            <a:ln w="76200">
              <a:solidFill>
                <a:srgbClr val="990033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6375" name="Line 55">
              <a:extLst>
                <a:ext uri="{FF2B5EF4-FFF2-40B4-BE49-F238E27FC236}">
                  <a16:creationId xmlns:a16="http://schemas.microsoft.com/office/drawing/2014/main" id="{8FF66D1A-4F75-E2D0-8244-72347D105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957"/>
              <a:ext cx="1728" cy="336"/>
            </a:xfrm>
            <a:prstGeom prst="line">
              <a:avLst/>
            </a:prstGeom>
            <a:noFill/>
            <a:ln w="76200">
              <a:solidFill>
                <a:srgbClr val="990033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6376" name="Text Box 56">
              <a:extLst>
                <a:ext uri="{FF2B5EF4-FFF2-40B4-BE49-F238E27FC236}">
                  <a16:creationId xmlns:a16="http://schemas.microsoft.com/office/drawing/2014/main" id="{DB7C6AB7-1257-79A1-11E6-930D7B0414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85"/>
              <a:ext cx="61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GB" altLang="en-US" sz="1600">
                  <a:latin typeface="Arial" panose="020B0604020202020204" pitchFamily="34" charset="0"/>
                </a:rPr>
                <a:t>watches</a:t>
              </a:r>
            </a:p>
            <a:p>
              <a:pPr algn="ctr"/>
              <a:r>
                <a:rPr lang="en-GB" altLang="en-US" sz="1600">
                  <a:latin typeface="Arial" panose="020B0604020202020204" pitchFamily="34" charset="0"/>
                </a:rPr>
                <a:t>progress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0" fill="hold"/>
                                        <p:tgtEl>
                                          <p:spTgt spid="56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0" fill="hold"/>
                                        <p:tgtEl>
                                          <p:spTgt spid="56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45F5745-48EA-F246-F0C7-F215BDB31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crackers experience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E8C7EF18-4952-9B14-E6E0-FECD9E0C0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90500" indent="-190500">
              <a:lnSpc>
                <a:spcPct val="90000"/>
              </a:lnSpc>
              <a:buFontTx/>
              <a:buChar char=" "/>
              <a:tabLst>
                <a:tab pos="482600" algn="l"/>
                <a:tab pos="2197100" algn="l"/>
                <a:tab pos="4762500" algn="l"/>
              </a:tabLst>
            </a:pPr>
            <a:r>
              <a:rPr lang="en-GB" altLang="en-US" sz="1400" b="1"/>
              <a:t>		</a:t>
            </a:r>
            <a:r>
              <a:rPr lang="en-GB" altLang="en-US" sz="1600" b="1"/>
              <a:t>real cracker	virtual cracker	</a:t>
            </a:r>
          </a:p>
          <a:p>
            <a:pPr marL="190500" indent="-190500">
              <a:lnSpc>
                <a:spcPct val="90000"/>
              </a:lnSpc>
              <a:spcBef>
                <a:spcPct val="40000"/>
              </a:spcBef>
              <a:buFontTx/>
              <a:buChar char=" "/>
              <a:tabLst>
                <a:tab pos="482600" algn="l"/>
                <a:tab pos="2197100" algn="l"/>
                <a:tab pos="4762500" algn="l"/>
              </a:tabLst>
            </a:pPr>
            <a:r>
              <a:rPr lang="en-GB" altLang="en-US" sz="1600"/>
              <a:t>Surface elements</a:t>
            </a:r>
          </a:p>
          <a:p>
            <a:pPr marL="190500" indent="-190500">
              <a:lnSpc>
                <a:spcPct val="90000"/>
              </a:lnSpc>
              <a:spcBef>
                <a:spcPct val="40000"/>
              </a:spcBef>
              <a:buFontTx/>
              <a:buChar char=" "/>
              <a:tabLst>
                <a:tab pos="482600" algn="l"/>
                <a:tab pos="2197100" algn="l"/>
                <a:tab pos="4762500" algn="l"/>
              </a:tabLst>
            </a:pPr>
            <a:r>
              <a:rPr lang="en-GB" altLang="en-US" sz="1600"/>
              <a:t>	design	cheap and cheerful	simple page/graphics	</a:t>
            </a:r>
          </a:p>
          <a:p>
            <a:pPr marL="190500" indent="-190500">
              <a:lnSpc>
                <a:spcPct val="90000"/>
              </a:lnSpc>
              <a:spcBef>
                <a:spcPct val="40000"/>
              </a:spcBef>
              <a:buFontTx/>
              <a:buChar char=" "/>
              <a:tabLst>
                <a:tab pos="482600" algn="l"/>
                <a:tab pos="2197100" algn="l"/>
                <a:tab pos="4762500" algn="l"/>
              </a:tabLst>
            </a:pPr>
            <a:r>
              <a:rPr lang="en-GB" altLang="en-US" sz="1600"/>
              <a:t>	play	plastic toy and joke	web toy and joke	</a:t>
            </a:r>
          </a:p>
          <a:p>
            <a:pPr marL="190500" indent="-190500">
              <a:lnSpc>
                <a:spcPct val="90000"/>
              </a:lnSpc>
              <a:spcBef>
                <a:spcPct val="40000"/>
              </a:spcBef>
              <a:buFontTx/>
              <a:buChar char=" "/>
              <a:tabLst>
                <a:tab pos="482600" algn="l"/>
                <a:tab pos="2197100" algn="l"/>
                <a:tab pos="4762500" algn="l"/>
              </a:tabLst>
            </a:pPr>
            <a:r>
              <a:rPr lang="en-GB" altLang="en-US" sz="1600"/>
              <a:t>	dressing up	paper hat	mask to cut out</a:t>
            </a:r>
          </a:p>
          <a:p>
            <a:pPr marL="190500" indent="-190500">
              <a:lnSpc>
                <a:spcPct val="90000"/>
              </a:lnSpc>
              <a:spcBef>
                <a:spcPct val="40000"/>
              </a:spcBef>
              <a:buFontTx/>
              <a:buChar char=" "/>
              <a:tabLst>
                <a:tab pos="482600" algn="l"/>
                <a:tab pos="2197100" algn="l"/>
                <a:tab pos="4762500" algn="l"/>
              </a:tabLst>
            </a:pPr>
            <a:r>
              <a:rPr lang="en-GB" altLang="en-US" sz="1600"/>
              <a:t>Experienced effects</a:t>
            </a:r>
          </a:p>
          <a:p>
            <a:pPr marL="190500" indent="-190500">
              <a:lnSpc>
                <a:spcPct val="90000"/>
              </a:lnSpc>
              <a:spcBef>
                <a:spcPct val="40000"/>
              </a:spcBef>
              <a:buFontTx/>
              <a:buChar char=" "/>
              <a:tabLst>
                <a:tab pos="482600" algn="l"/>
                <a:tab pos="2197100" algn="l"/>
                <a:tab pos="4762500" algn="l"/>
              </a:tabLst>
            </a:pPr>
            <a:r>
              <a:rPr lang="en-GB" altLang="en-US" sz="1600"/>
              <a:t>	shared	offered to another	sent by email message</a:t>
            </a:r>
          </a:p>
          <a:p>
            <a:pPr marL="190500" indent="-190500">
              <a:lnSpc>
                <a:spcPct val="90000"/>
              </a:lnSpc>
              <a:spcBef>
                <a:spcPct val="40000"/>
              </a:spcBef>
              <a:buFontTx/>
              <a:buChar char=" "/>
              <a:tabLst>
                <a:tab pos="482600" algn="l"/>
                <a:tab pos="2197100" algn="l"/>
                <a:tab pos="4762500" algn="l"/>
              </a:tabLst>
            </a:pPr>
            <a:r>
              <a:rPr lang="en-GB" altLang="en-US" sz="1600"/>
              <a:t>	co-experience	pulled together	sender can't see content 			until opened by recipient	</a:t>
            </a:r>
          </a:p>
          <a:p>
            <a:pPr marL="190500" indent="-190500">
              <a:lnSpc>
                <a:spcPct val="90000"/>
              </a:lnSpc>
              <a:spcBef>
                <a:spcPct val="40000"/>
              </a:spcBef>
              <a:buFontTx/>
              <a:buChar char=" "/>
              <a:tabLst>
                <a:tab pos="482600" algn="l"/>
                <a:tab pos="2197100" algn="l"/>
                <a:tab pos="4762500" algn="l"/>
              </a:tabLst>
            </a:pPr>
            <a:r>
              <a:rPr lang="en-GB" altLang="en-US" sz="1600"/>
              <a:t>	excitement	cultural connotations	recruited expectation	</a:t>
            </a:r>
          </a:p>
          <a:p>
            <a:pPr marL="190500" indent="-190500">
              <a:lnSpc>
                <a:spcPct val="90000"/>
              </a:lnSpc>
              <a:spcBef>
                <a:spcPct val="40000"/>
              </a:spcBef>
              <a:buFontTx/>
              <a:buChar char=" "/>
              <a:tabLst>
                <a:tab pos="482600" algn="l"/>
                <a:tab pos="2197100" algn="l"/>
                <a:tab pos="4762500" algn="l"/>
              </a:tabLst>
            </a:pPr>
            <a:r>
              <a:rPr lang="en-GB" altLang="en-US" sz="1600"/>
              <a:t>	hiddenness	contents inside	first page - no contents</a:t>
            </a:r>
          </a:p>
          <a:p>
            <a:pPr marL="190500" indent="-190500">
              <a:lnSpc>
                <a:spcPct val="90000"/>
              </a:lnSpc>
              <a:spcBef>
                <a:spcPct val="40000"/>
              </a:spcBef>
              <a:buFontTx/>
              <a:buChar char=" "/>
              <a:tabLst>
                <a:tab pos="482600" algn="l"/>
                <a:tab pos="2197100" algn="l"/>
                <a:tab pos="4762500" algn="l"/>
              </a:tabLst>
            </a:pPr>
            <a:r>
              <a:rPr lang="en-GB" altLang="en-US" sz="1600"/>
              <a:t>	suspense	pulling cracker	slow ... page change	</a:t>
            </a:r>
          </a:p>
          <a:p>
            <a:pPr marL="190500" indent="-190500">
              <a:lnSpc>
                <a:spcPct val="90000"/>
              </a:lnSpc>
              <a:spcBef>
                <a:spcPct val="40000"/>
              </a:spcBef>
              <a:buFontTx/>
              <a:buChar char=" "/>
              <a:tabLst>
                <a:tab pos="482600" algn="l"/>
                <a:tab pos="2197100" algn="l"/>
                <a:tab pos="4762500" algn="l"/>
              </a:tabLst>
            </a:pPr>
            <a:r>
              <a:rPr lang="en-GB" altLang="en-US" sz="1600"/>
              <a:t>	surprise	bang (when it works)	WAV file (when it works)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9140B89-6866-9343-BE5C-6367D13F7D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Physical design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C7116EF8-1D62-DFBD-65C4-DF4029E95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many constraints:</a:t>
            </a:r>
          </a:p>
          <a:p>
            <a:pPr lvl="1"/>
            <a:r>
              <a:rPr lang="en-GB" altLang="en-US"/>
              <a:t>ergonomic  –  </a:t>
            </a:r>
            <a:r>
              <a:rPr lang="en-GB" altLang="en-US" sz="2000"/>
              <a:t>minimum button size</a:t>
            </a:r>
            <a:endParaRPr lang="en-GB" altLang="en-US"/>
          </a:p>
          <a:p>
            <a:pPr lvl="1"/>
            <a:r>
              <a:rPr lang="en-GB" altLang="en-US"/>
              <a:t>physical  –  </a:t>
            </a:r>
            <a:r>
              <a:rPr lang="en-GB" altLang="en-US" sz="2000"/>
              <a:t>high-voltage switches are big</a:t>
            </a:r>
          </a:p>
          <a:p>
            <a:pPr lvl="1"/>
            <a:r>
              <a:rPr lang="en-GB" altLang="en-US"/>
              <a:t>legal and safety  –  </a:t>
            </a:r>
            <a:r>
              <a:rPr lang="en-GB" altLang="en-US" sz="2000"/>
              <a:t>high cooker controls</a:t>
            </a:r>
            <a:endParaRPr lang="en-GB" altLang="en-US"/>
          </a:p>
          <a:p>
            <a:pPr lvl="1"/>
            <a:r>
              <a:rPr lang="en-GB" altLang="en-US"/>
              <a:t>context and environment  –  </a:t>
            </a:r>
            <a:r>
              <a:rPr lang="en-GB" altLang="en-US" sz="2000"/>
              <a:t>easy to clean</a:t>
            </a:r>
            <a:endParaRPr lang="en-GB" altLang="en-US"/>
          </a:p>
          <a:p>
            <a:pPr lvl="1"/>
            <a:r>
              <a:rPr lang="en-GB" altLang="en-US"/>
              <a:t>aesthetic  –  </a:t>
            </a:r>
            <a:r>
              <a:rPr lang="en-GB" altLang="en-US" sz="2000"/>
              <a:t>must look good</a:t>
            </a:r>
            <a:endParaRPr lang="en-GB" altLang="en-US"/>
          </a:p>
          <a:p>
            <a:pPr lvl="1"/>
            <a:r>
              <a:rPr lang="en-GB" altLang="en-US"/>
              <a:t>economic  – … </a:t>
            </a:r>
            <a:r>
              <a:rPr lang="en-GB" altLang="en-US" sz="2000"/>
              <a:t>and not cost too much!</a:t>
            </a:r>
            <a:endParaRPr lang="en-GB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90912FA-874A-D1F3-B887-B5C818307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Design trade-offs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B7CE588B-40B8-0331-A57F-34516F4A9B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90500" indent="-190500">
              <a:buFontTx/>
              <a:buNone/>
            </a:pPr>
            <a:r>
              <a:rPr lang="en-GB" altLang="en-US" sz="2400"/>
              <a:t>constraints are contradictory … need trade-offs</a:t>
            </a:r>
          </a:p>
          <a:p>
            <a:pPr marL="190500" indent="-190500"/>
            <a:endParaRPr lang="en-GB" altLang="en-US" sz="1000"/>
          </a:p>
          <a:p>
            <a:pPr marL="190500" indent="-190500">
              <a:buFontTx/>
              <a:buNone/>
            </a:pPr>
            <a:r>
              <a:rPr lang="en-GB" altLang="en-US" sz="2000"/>
              <a:t>within categories:</a:t>
            </a:r>
          </a:p>
          <a:p>
            <a:pPr marL="565150" lvl="1" indent="-184150">
              <a:buFontTx/>
              <a:buChar char=" "/>
            </a:pPr>
            <a:r>
              <a:rPr lang="en-GB" altLang="en-US" sz="2000"/>
              <a:t>e.g. safety – cooker controls</a:t>
            </a:r>
          </a:p>
          <a:p>
            <a:pPr marL="946150" lvl="2" indent="-190500">
              <a:buFontTx/>
              <a:buChar char=" "/>
            </a:pPr>
            <a:r>
              <a:rPr lang="en-GB" altLang="en-US" sz="1800"/>
              <a:t>front panel  –  safer for adult</a:t>
            </a:r>
          </a:p>
          <a:p>
            <a:pPr marL="946150" lvl="2" indent="-190500">
              <a:buFontTx/>
              <a:buChar char=" "/>
            </a:pPr>
            <a:r>
              <a:rPr lang="en-GB" altLang="en-US" sz="1800"/>
              <a:t>rear panel  – safer for child </a:t>
            </a:r>
          </a:p>
          <a:p>
            <a:pPr marL="190500" indent="-190500">
              <a:buFontTx/>
              <a:buNone/>
            </a:pPr>
            <a:endParaRPr lang="en-GB" altLang="en-US" sz="1200"/>
          </a:p>
          <a:p>
            <a:pPr marL="190500" indent="-190500">
              <a:buFontTx/>
              <a:buNone/>
            </a:pPr>
            <a:r>
              <a:rPr lang="en-GB" altLang="en-US" sz="2000"/>
              <a:t>between categories</a:t>
            </a:r>
          </a:p>
          <a:p>
            <a:pPr marL="565150" lvl="1" indent="-184150">
              <a:buFontTx/>
              <a:buChar char=" "/>
            </a:pPr>
            <a:r>
              <a:rPr lang="en-GB" altLang="en-US" sz="2000"/>
              <a:t>e.g. ergonomics vs. physical – MiniDisc remote</a:t>
            </a:r>
          </a:p>
          <a:p>
            <a:pPr marL="946150" lvl="2" indent="-190500">
              <a:buFontTx/>
              <a:buChar char=" "/>
            </a:pPr>
            <a:r>
              <a:rPr lang="en-GB" altLang="en-US" sz="1800"/>
              <a:t>ergonomics  –  controls need to be bigger</a:t>
            </a:r>
          </a:p>
          <a:p>
            <a:pPr marL="946150" lvl="2" indent="-190500">
              <a:buFontTx/>
              <a:buChar char=" "/>
            </a:pPr>
            <a:r>
              <a:rPr lang="en-GB" altLang="en-US" sz="1800"/>
              <a:t>physical – no room!</a:t>
            </a:r>
          </a:p>
          <a:p>
            <a:pPr marL="946150" lvl="2" indent="-190500">
              <a:buFontTx/>
              <a:buChar char=" "/>
            </a:pPr>
            <a:r>
              <a:rPr lang="en-GB" altLang="en-US" sz="1800"/>
              <a:t>solution –  multifunction controls &amp; reduced functionality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C30C0CA-3329-7080-F996-B8C984F74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Fluidity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3C22D81-9BCB-0375-8265-483BD1035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625600" algn="l"/>
              </a:tabLst>
            </a:pPr>
            <a:r>
              <a:rPr lang="en-GB" altLang="en-US"/>
              <a:t>do external physical aspects reflect logical effect?</a:t>
            </a:r>
          </a:p>
          <a:p>
            <a:pPr lvl="1">
              <a:tabLst>
                <a:tab pos="1625600" algn="l"/>
              </a:tabLst>
            </a:pPr>
            <a:r>
              <a:rPr lang="en-GB" altLang="en-US"/>
              <a:t>related to affordance (chap 5)</a:t>
            </a:r>
          </a:p>
          <a:p>
            <a:pPr lvl="1">
              <a:buFontTx/>
              <a:buNone/>
              <a:tabLst>
                <a:tab pos="1625600" algn="l"/>
              </a:tabLst>
            </a:pPr>
            <a:endParaRPr lang="en-GB" altLang="en-US"/>
          </a:p>
          <a:p>
            <a:pPr lvl="1">
              <a:buFontTx/>
              <a:buNone/>
              <a:tabLst>
                <a:tab pos="1625600" algn="l"/>
              </a:tabLst>
            </a:pPr>
            <a:r>
              <a:rPr lang="en-GB" altLang="en-US"/>
              <a:t>logical state revealed in physical state?</a:t>
            </a:r>
          </a:p>
          <a:p>
            <a:pPr lvl="3">
              <a:buFontTx/>
              <a:buNone/>
              <a:tabLst>
                <a:tab pos="1625600" algn="l"/>
              </a:tabLst>
            </a:pPr>
            <a:r>
              <a:rPr lang="en-GB" altLang="en-US"/>
              <a:t>e.g. on/off buttons</a:t>
            </a:r>
          </a:p>
          <a:p>
            <a:pPr lvl="1">
              <a:buFontTx/>
              <a:buNone/>
              <a:tabLst>
                <a:tab pos="1625600" algn="l"/>
              </a:tabLst>
            </a:pPr>
            <a:endParaRPr lang="en-GB" altLang="en-US"/>
          </a:p>
          <a:p>
            <a:pPr lvl="1">
              <a:buFontTx/>
              <a:buNone/>
              <a:tabLst>
                <a:tab pos="1625600" algn="l"/>
              </a:tabLst>
            </a:pPr>
            <a:r>
              <a:rPr lang="en-GB" altLang="en-US"/>
              <a:t>inverse actions inverse effects?</a:t>
            </a:r>
          </a:p>
          <a:p>
            <a:pPr lvl="3">
              <a:buFontTx/>
              <a:buNone/>
              <a:tabLst>
                <a:tab pos="1625600" algn="l"/>
              </a:tabLst>
            </a:pPr>
            <a:r>
              <a:rPr lang="en-GB" altLang="en-US"/>
              <a:t>e.g. arrow buttons, twist controls</a:t>
            </a:r>
          </a:p>
          <a:p>
            <a:pPr lvl="1">
              <a:buFontTx/>
              <a:buNone/>
              <a:tabLst>
                <a:tab pos="1625600" algn="l"/>
              </a:tabLst>
            </a:pPr>
            <a:endParaRPr lang="en-GB" altLang="en-US" sz="8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FBC60F6-95CD-4FA5-B559-CCF2E62684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inverse actions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8E82C11-3D2A-C763-EE79-8277C43E8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5029200" cy="4114800"/>
          </a:xfrm>
        </p:spPr>
        <p:txBody>
          <a:bodyPr/>
          <a:lstStyle/>
          <a:p>
            <a:r>
              <a:rPr lang="en-GB" altLang="en-US"/>
              <a:t>yes/no buttons</a:t>
            </a:r>
          </a:p>
          <a:p>
            <a:pPr lvl="1"/>
            <a:r>
              <a:rPr lang="en-GB" altLang="en-US"/>
              <a:t>well sort of</a:t>
            </a:r>
          </a:p>
          <a:p>
            <a:pPr lvl="1"/>
            <a:endParaRPr lang="en-GB" altLang="en-US"/>
          </a:p>
          <a:p>
            <a:r>
              <a:rPr lang="en-GB" altLang="en-US"/>
              <a:t>‘joystick’</a:t>
            </a:r>
          </a:p>
          <a:p>
            <a:endParaRPr lang="en-GB" altLang="en-US"/>
          </a:p>
          <a:p>
            <a:r>
              <a:rPr lang="en-GB" altLang="en-US"/>
              <a:t>also left side control</a:t>
            </a:r>
          </a:p>
        </p:txBody>
      </p:sp>
      <p:pic>
        <p:nvPicPr>
          <p:cNvPr id="38917" name="Picture 5">
            <a:extLst>
              <a:ext uri="{FF2B5EF4-FFF2-40B4-BE49-F238E27FC236}">
                <a16:creationId xmlns:a16="http://schemas.microsoft.com/office/drawing/2014/main" id="{AC984A02-774B-0E4D-CCA5-50753F8D4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905000"/>
            <a:ext cx="2971800" cy="458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921" name="Group 9">
            <a:extLst>
              <a:ext uri="{FF2B5EF4-FFF2-40B4-BE49-F238E27FC236}">
                <a16:creationId xmlns:a16="http://schemas.microsoft.com/office/drawing/2014/main" id="{04FC1A59-9492-6D0F-0350-3941A9EE9D7C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733800"/>
            <a:ext cx="3124200" cy="762000"/>
            <a:chOff x="3600" y="2352"/>
            <a:chExt cx="1968" cy="480"/>
          </a:xfrm>
        </p:grpSpPr>
        <p:sp>
          <p:nvSpPr>
            <p:cNvPr id="38918" name="Line 6">
              <a:extLst>
                <a:ext uri="{FF2B5EF4-FFF2-40B4-BE49-F238E27FC236}">
                  <a16:creationId xmlns:a16="http://schemas.microsoft.com/office/drawing/2014/main" id="{FA1D8A54-C2C0-D9FB-2A03-828BD5E32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352"/>
              <a:ext cx="432" cy="43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8919" name="Line 7">
              <a:extLst>
                <a:ext uri="{FF2B5EF4-FFF2-40B4-BE49-F238E27FC236}">
                  <a16:creationId xmlns:a16="http://schemas.microsoft.com/office/drawing/2014/main" id="{A5A63A63-FBE4-67FA-ECD8-ED11634A88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44" y="2400"/>
              <a:ext cx="624" cy="43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8920" name="Line 8">
            <a:extLst>
              <a:ext uri="{FF2B5EF4-FFF2-40B4-BE49-F238E27FC236}">
                <a16:creationId xmlns:a16="http://schemas.microsoft.com/office/drawing/2014/main" id="{79BDE8E6-F652-A5AF-3B3B-4A5042DE18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4800600"/>
            <a:ext cx="1066800" cy="6858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8922" name="Line 10">
            <a:extLst>
              <a:ext uri="{FF2B5EF4-FFF2-40B4-BE49-F238E27FC236}">
                <a16:creationId xmlns:a16="http://schemas.microsoft.com/office/drawing/2014/main" id="{081892D3-6340-9953-DF6D-2D4D2E3EE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209800"/>
            <a:ext cx="990600" cy="381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29605ED-7EA4-8639-6E0A-61CE02495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spring back controls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09D8DA7-E974-8F9E-67CD-DB7CBBBB31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one-shot buttons</a:t>
            </a:r>
          </a:p>
          <a:p>
            <a:pPr>
              <a:lnSpc>
                <a:spcPct val="90000"/>
              </a:lnSpc>
            </a:pPr>
            <a:r>
              <a:rPr lang="en-GB" altLang="en-US"/>
              <a:t>joystick</a:t>
            </a:r>
          </a:p>
          <a:p>
            <a:pPr>
              <a:lnSpc>
                <a:spcPct val="90000"/>
              </a:lnSpc>
            </a:pPr>
            <a:r>
              <a:rPr lang="en-GB" altLang="en-US"/>
              <a:t>some sliders</a:t>
            </a:r>
          </a:p>
          <a:p>
            <a:pPr>
              <a:lnSpc>
                <a:spcPct val="90000"/>
              </a:lnSpc>
            </a:pPr>
            <a:endParaRPr lang="en-GB" altLang="en-US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/>
              <a:t>good – large selection sets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/>
              <a:t>bad – hidden state</a:t>
            </a:r>
          </a:p>
          <a:p>
            <a:pPr>
              <a:lnSpc>
                <a:spcPct val="90000"/>
              </a:lnSpc>
            </a:pPr>
            <a:endParaRPr lang="en-GB" altLang="en-US"/>
          </a:p>
        </p:txBody>
      </p:sp>
      <p:pic>
        <p:nvPicPr>
          <p:cNvPr id="39941" name="Picture 5">
            <a:extLst>
              <a:ext uri="{FF2B5EF4-FFF2-40B4-BE49-F238E27FC236}">
                <a16:creationId xmlns:a16="http://schemas.microsoft.com/office/drawing/2014/main" id="{AEF58267-7F7F-1965-1410-C435A5B8A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905000"/>
            <a:ext cx="2971800" cy="458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8" name="Picture 18">
            <a:extLst>
              <a:ext uri="{FF2B5EF4-FFF2-40B4-BE49-F238E27FC236}">
                <a16:creationId xmlns:a16="http://schemas.microsoft.com/office/drawing/2014/main" id="{75514830-F849-554F-FE10-464CA98AD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638300"/>
            <a:ext cx="8904287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62" name="Rectangle 2">
            <a:extLst>
              <a:ext uri="{FF2B5EF4-FFF2-40B4-BE49-F238E27FC236}">
                <a16:creationId xmlns:a16="http://schemas.microsoft.com/office/drawing/2014/main" id="{9153EF77-F85F-BD3D-8876-B023B0675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 minidisk controller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7F8AFEA4-7C9F-3A6F-7606-09499AB5113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5486400"/>
            <a:ext cx="4191000" cy="10668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GB" altLang="en-US" sz="1600"/>
              <a:t>series of spring-back controls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600"/>
              <a:t>each cycle through some options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600"/>
              <a:t>–natural inverse back/forward</a:t>
            </a:r>
          </a:p>
        </p:txBody>
      </p:sp>
      <p:grpSp>
        <p:nvGrpSpPr>
          <p:cNvPr id="40977" name="Group 17">
            <a:extLst>
              <a:ext uri="{FF2B5EF4-FFF2-40B4-BE49-F238E27FC236}">
                <a16:creationId xmlns:a16="http://schemas.microsoft.com/office/drawing/2014/main" id="{08787A0C-9ECD-EE40-456A-1D78C0997FCE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971800"/>
            <a:ext cx="2286000" cy="2438400"/>
            <a:chOff x="1536" y="1872"/>
            <a:chExt cx="1440" cy="1536"/>
          </a:xfrm>
        </p:grpSpPr>
        <p:sp>
          <p:nvSpPr>
            <p:cNvPr id="40970" name="Oval 10">
              <a:extLst>
                <a:ext uri="{FF2B5EF4-FFF2-40B4-BE49-F238E27FC236}">
                  <a16:creationId xmlns:a16="http://schemas.microsoft.com/office/drawing/2014/main" id="{B0925CAF-3263-19B8-EB1F-A6241E7B4BD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728" y="1872"/>
              <a:ext cx="576" cy="555"/>
            </a:xfrm>
            <a:prstGeom prst="ellipse">
              <a:avLst/>
            </a:prstGeom>
            <a:noFill/>
            <a:ln w="57150">
              <a:solidFill>
                <a:srgbClr val="ED181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971" name="Line 11">
              <a:extLst>
                <a:ext uri="{FF2B5EF4-FFF2-40B4-BE49-F238E27FC236}">
                  <a16:creationId xmlns:a16="http://schemas.microsoft.com/office/drawing/2014/main" id="{A5A0EE80-E169-07F9-360C-3D266EA1BF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2448"/>
              <a:ext cx="192" cy="960"/>
            </a:xfrm>
            <a:prstGeom prst="line">
              <a:avLst/>
            </a:prstGeom>
            <a:noFill/>
            <a:ln w="38100">
              <a:solidFill>
                <a:srgbClr val="ED181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972" name="Line 12">
              <a:extLst>
                <a:ext uri="{FF2B5EF4-FFF2-40B4-BE49-F238E27FC236}">
                  <a16:creationId xmlns:a16="http://schemas.microsoft.com/office/drawing/2014/main" id="{8DDA2ADF-E399-6850-B772-B1D3B1E91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304"/>
              <a:ext cx="96" cy="1104"/>
            </a:xfrm>
            <a:prstGeom prst="line">
              <a:avLst/>
            </a:prstGeom>
            <a:noFill/>
            <a:ln w="38100">
              <a:solidFill>
                <a:srgbClr val="ED181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973" name="Line 13">
              <a:extLst>
                <a:ext uri="{FF2B5EF4-FFF2-40B4-BE49-F238E27FC236}">
                  <a16:creationId xmlns:a16="http://schemas.microsoft.com/office/drawing/2014/main" id="{84F7CFE5-B19F-7BC7-7817-F743F5FA59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2304"/>
              <a:ext cx="672" cy="1104"/>
            </a:xfrm>
            <a:prstGeom prst="line">
              <a:avLst/>
            </a:prstGeom>
            <a:noFill/>
            <a:ln w="38100">
              <a:solidFill>
                <a:srgbClr val="ED181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974" name="Line 14">
              <a:extLst>
                <a:ext uri="{FF2B5EF4-FFF2-40B4-BE49-F238E27FC236}">
                  <a16:creationId xmlns:a16="http://schemas.microsoft.com/office/drawing/2014/main" id="{312BAA53-3DCC-C0A9-8969-D1E08DA9BC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2304"/>
              <a:ext cx="912" cy="1104"/>
            </a:xfrm>
            <a:prstGeom prst="line">
              <a:avLst/>
            </a:prstGeom>
            <a:noFill/>
            <a:ln w="38100">
              <a:solidFill>
                <a:srgbClr val="ED181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4699848-2F75-4596-3A56-5DC77175832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791200" y="5334000"/>
            <a:ext cx="2971800" cy="1295400"/>
          </a:xfrm>
          <a:solidFill>
            <a:schemeClr val="bg1"/>
          </a:solidFill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GB" altLang="en-US" sz="1600"/>
              <a:t>twist for track movement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600"/>
              <a:t>pull and twist for volume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600"/>
              <a:t>– spring back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600"/>
              <a:t>– natural inverse for twist</a:t>
            </a:r>
          </a:p>
        </p:txBody>
      </p:sp>
      <p:grpSp>
        <p:nvGrpSpPr>
          <p:cNvPr id="40976" name="Group 16">
            <a:extLst>
              <a:ext uri="{FF2B5EF4-FFF2-40B4-BE49-F238E27FC236}">
                <a16:creationId xmlns:a16="http://schemas.microsoft.com/office/drawing/2014/main" id="{32B97562-524F-63E6-2F06-7FB7D0DF60F6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667000"/>
            <a:ext cx="2057400" cy="2667000"/>
            <a:chOff x="3840" y="1680"/>
            <a:chExt cx="1296" cy="1680"/>
          </a:xfrm>
        </p:grpSpPr>
        <p:sp>
          <p:nvSpPr>
            <p:cNvPr id="40967" name="Oval 7">
              <a:extLst>
                <a:ext uri="{FF2B5EF4-FFF2-40B4-BE49-F238E27FC236}">
                  <a16:creationId xmlns:a16="http://schemas.microsoft.com/office/drawing/2014/main" id="{9A206D98-55B2-46AB-EF37-23A72AB92A3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840" y="1680"/>
              <a:ext cx="1296" cy="1248"/>
            </a:xfrm>
            <a:prstGeom prst="ellipse">
              <a:avLst/>
            </a:prstGeom>
            <a:noFill/>
            <a:ln w="57150">
              <a:solidFill>
                <a:srgbClr val="ED181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968" name="Line 8">
              <a:extLst>
                <a:ext uri="{FF2B5EF4-FFF2-40B4-BE49-F238E27FC236}">
                  <a16:creationId xmlns:a16="http://schemas.microsoft.com/office/drawing/2014/main" id="{548A39EF-EEC3-6BB4-64E3-0F4C96489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928"/>
              <a:ext cx="96" cy="432"/>
            </a:xfrm>
            <a:prstGeom prst="line">
              <a:avLst/>
            </a:prstGeom>
            <a:noFill/>
            <a:ln w="38100">
              <a:solidFill>
                <a:srgbClr val="ED181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3042F3D-5937-0E5B-92E3-0C37A5E4A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physical layout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A006962-89EF-5524-D6E0-09AF9FBA6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5334000" cy="4114800"/>
          </a:xfrm>
        </p:spPr>
        <p:txBody>
          <a:bodyPr/>
          <a:lstStyle/>
          <a:p>
            <a:pPr>
              <a:buFontTx/>
              <a:buNone/>
              <a:tabLst>
                <a:tab pos="762000" algn="l"/>
                <a:tab pos="1524000" algn="l"/>
              </a:tabLst>
            </a:pPr>
            <a:endParaRPr lang="en-GB" altLang="en-US"/>
          </a:p>
          <a:p>
            <a:pPr>
              <a:buFontTx/>
              <a:buNone/>
              <a:tabLst>
                <a:tab pos="762000" algn="l"/>
                <a:tab pos="1524000" algn="l"/>
              </a:tabLst>
            </a:pPr>
            <a:r>
              <a:rPr lang="en-GB" altLang="en-US"/>
              <a:t>controls:</a:t>
            </a:r>
          </a:p>
          <a:p>
            <a:pPr>
              <a:buFontTx/>
              <a:buNone/>
              <a:tabLst>
                <a:tab pos="762000" algn="l"/>
                <a:tab pos="1524000" algn="l"/>
              </a:tabLst>
            </a:pPr>
            <a:r>
              <a:rPr lang="en-GB" altLang="en-US"/>
              <a:t>	 logical relationship </a:t>
            </a:r>
            <a:br>
              <a:rPr lang="en-GB" altLang="en-US"/>
            </a:br>
            <a:r>
              <a:rPr lang="en-GB" altLang="en-US"/>
              <a:t>	~	spatial grouping</a:t>
            </a:r>
          </a:p>
          <a:p>
            <a:pPr>
              <a:buFontTx/>
              <a:buNone/>
              <a:tabLst>
                <a:tab pos="762000" algn="l"/>
                <a:tab pos="1524000" algn="l"/>
              </a:tabLst>
            </a:pPr>
            <a:endParaRPr lang="en-GB" altLang="en-US"/>
          </a:p>
        </p:txBody>
      </p:sp>
      <p:pic>
        <p:nvPicPr>
          <p:cNvPr id="41989" name="Picture 5">
            <a:extLst>
              <a:ext uri="{FF2B5EF4-FFF2-40B4-BE49-F238E27FC236}">
                <a16:creationId xmlns:a16="http://schemas.microsoft.com/office/drawing/2014/main" id="{78201823-168C-398A-D25D-C0EFB82CE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175" y="1600200"/>
            <a:ext cx="2384425" cy="499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20" name="Picture 12">
            <a:extLst>
              <a:ext uri="{FF2B5EF4-FFF2-40B4-BE49-F238E27FC236}">
                <a16:creationId xmlns:a16="http://schemas.microsoft.com/office/drawing/2014/main" id="{7F5BE5F5-7657-4FD2-FF13-D3B8EDB5E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16100"/>
            <a:ext cx="8382000" cy="313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0" name="Rectangle 2">
            <a:extLst>
              <a:ext uri="{FF2B5EF4-FFF2-40B4-BE49-F238E27FC236}">
                <a16:creationId xmlns:a16="http://schemas.microsoft.com/office/drawing/2014/main" id="{77B798B3-A939-6406-E1C3-157009D09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compliant interaction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9B3021A-8102-F91A-32CE-DAAB4CAF6DB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5334000"/>
            <a:ext cx="3810000" cy="9144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GB" altLang="en-US" sz="1800"/>
              <a:t>state evident in</a:t>
            </a:r>
            <a:br>
              <a:rPr lang="en-GB" altLang="en-US" sz="1800"/>
            </a:br>
            <a:r>
              <a:rPr lang="en-GB" altLang="en-US" sz="1800"/>
              <a:t>mechanical buttons</a:t>
            </a:r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494A017C-8921-6D2F-AB37-9C775D3CA14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5334000"/>
            <a:ext cx="3810000" cy="914400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buFontTx/>
              <a:buNone/>
            </a:pPr>
            <a:r>
              <a:rPr lang="en-GB" altLang="en-US" sz="1600"/>
              <a:t>rotary knobs reveal internal state and can be controlled by both user and machine</a:t>
            </a:r>
          </a:p>
        </p:txBody>
      </p:sp>
      <p:sp>
        <p:nvSpPr>
          <p:cNvPr id="43014" name="Oval 6">
            <a:extLst>
              <a:ext uri="{FF2B5EF4-FFF2-40B4-BE49-F238E27FC236}">
                <a16:creationId xmlns:a16="http://schemas.microsoft.com/office/drawing/2014/main" id="{9F8289B6-35A1-B9AD-4EB0-5EECD56FD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286000"/>
            <a:ext cx="2057400" cy="1981200"/>
          </a:xfrm>
          <a:prstGeom prst="ellipse">
            <a:avLst/>
          </a:prstGeom>
          <a:noFill/>
          <a:ln w="57150">
            <a:solidFill>
              <a:srgbClr val="ED181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3015" name="Line 7">
            <a:extLst>
              <a:ext uri="{FF2B5EF4-FFF2-40B4-BE49-F238E27FC236}">
                <a16:creationId xmlns:a16="http://schemas.microsoft.com/office/drawing/2014/main" id="{95D73508-5DAA-2A12-5312-A380A21C8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267200"/>
            <a:ext cx="228600" cy="1066800"/>
          </a:xfrm>
          <a:prstGeom prst="line">
            <a:avLst/>
          </a:prstGeom>
          <a:noFill/>
          <a:ln w="38100">
            <a:solidFill>
              <a:srgbClr val="ED181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3016" name="Oval 8">
            <a:extLst>
              <a:ext uri="{FF2B5EF4-FFF2-40B4-BE49-F238E27FC236}">
                <a16:creationId xmlns:a16="http://schemas.microsoft.com/office/drawing/2014/main" id="{6F14D7F6-4CB4-2DC5-6D7C-2A278B04F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514600"/>
            <a:ext cx="2057400" cy="1981200"/>
          </a:xfrm>
          <a:prstGeom prst="ellipse">
            <a:avLst/>
          </a:prstGeom>
          <a:noFill/>
          <a:ln w="57150">
            <a:solidFill>
              <a:srgbClr val="ED181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3017" name="Oval 9">
            <a:extLst>
              <a:ext uri="{FF2B5EF4-FFF2-40B4-BE49-F238E27FC236}">
                <a16:creationId xmlns:a16="http://schemas.microsoft.com/office/drawing/2014/main" id="{1009612E-FB9F-513F-C233-D35FA813F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514600"/>
            <a:ext cx="2057400" cy="1981200"/>
          </a:xfrm>
          <a:prstGeom prst="ellipse">
            <a:avLst/>
          </a:prstGeom>
          <a:noFill/>
          <a:ln w="57150">
            <a:solidFill>
              <a:srgbClr val="ED181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3018" name="Line 10">
            <a:extLst>
              <a:ext uri="{FF2B5EF4-FFF2-40B4-BE49-F238E27FC236}">
                <a16:creationId xmlns:a16="http://schemas.microsoft.com/office/drawing/2014/main" id="{0CA87EAE-5206-6426-0664-F3A4D3DB5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343400"/>
            <a:ext cx="762000" cy="990600"/>
          </a:xfrm>
          <a:prstGeom prst="line">
            <a:avLst/>
          </a:prstGeom>
          <a:noFill/>
          <a:ln w="38100">
            <a:solidFill>
              <a:srgbClr val="ED181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3019" name="Line 11">
            <a:extLst>
              <a:ext uri="{FF2B5EF4-FFF2-40B4-BE49-F238E27FC236}">
                <a16:creationId xmlns:a16="http://schemas.microsoft.com/office/drawing/2014/main" id="{D5849EE2-4096-64E6-026A-877D980486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419600"/>
            <a:ext cx="533400" cy="914400"/>
          </a:xfrm>
          <a:prstGeom prst="line">
            <a:avLst/>
          </a:prstGeom>
          <a:noFill/>
          <a:ln w="38100">
            <a:solidFill>
              <a:srgbClr val="ED181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5A4F568-DE8B-E2D8-6DE8-F6EB574EF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Managing value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CB99D31-8F49-848E-7B4C-A9188EAFBE6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543800" cy="25146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2400"/>
              <a:t>people use something</a:t>
            </a:r>
            <a:br>
              <a:rPr lang="en-GB" altLang="en-US" sz="2400"/>
            </a:br>
            <a:r>
              <a:rPr lang="en-GB" altLang="en-US" sz="2400"/>
              <a:t>	</a:t>
            </a:r>
            <a:r>
              <a:rPr lang="en-GB" altLang="en-US" sz="2400" b="1">
                <a:solidFill>
                  <a:srgbClr val="993333"/>
                </a:solidFill>
              </a:rPr>
              <a:t>ONLY  IF</a:t>
            </a:r>
            <a:br>
              <a:rPr lang="en-GB" altLang="en-US" sz="2400"/>
            </a:br>
            <a:r>
              <a:rPr lang="en-GB" altLang="en-US" sz="2400"/>
              <a:t>		it has perceived value</a:t>
            </a:r>
            <a:br>
              <a:rPr lang="en-GB" altLang="en-US" sz="2400"/>
            </a:br>
            <a:r>
              <a:rPr lang="en-GB" altLang="en-US" sz="2400"/>
              <a:t>	</a:t>
            </a:r>
            <a:r>
              <a:rPr lang="en-GB" altLang="en-US" sz="2400" b="1">
                <a:solidFill>
                  <a:srgbClr val="993333"/>
                </a:solidFill>
              </a:rPr>
              <a:t>AND</a:t>
            </a:r>
            <a:br>
              <a:rPr lang="en-GB" altLang="en-US" sz="2400"/>
            </a:br>
            <a:r>
              <a:rPr lang="en-GB" altLang="en-US" sz="2400"/>
              <a:t>		value exceeds cost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B94882D9-97D2-FD89-B17A-E7485FABB09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4724400"/>
            <a:ext cx="8001000" cy="1676400"/>
          </a:xfrm>
        </p:spPr>
        <p:txBody>
          <a:bodyPr/>
          <a:lstStyle/>
          <a:p>
            <a:pPr marL="292100" indent="-292100" defTabSz="571500">
              <a:buFontTx/>
              <a:buNone/>
            </a:pPr>
            <a:r>
              <a:rPr lang="en-GB" altLang="en-US" sz="2000" b="1">
                <a:solidFill>
                  <a:srgbClr val="993333"/>
                </a:solidFill>
              </a:rPr>
              <a:t>BUT NOTE</a:t>
            </a:r>
            <a:endParaRPr lang="en-GB" altLang="en-US" sz="2000"/>
          </a:p>
          <a:p>
            <a:pPr marL="292100" indent="-292100" defTabSz="571500"/>
            <a:r>
              <a:rPr lang="en-GB" altLang="en-US" sz="2000"/>
              <a:t>exceptions (e.g. habit)</a:t>
            </a:r>
          </a:p>
          <a:p>
            <a:pPr marL="292100" indent="-292100" defTabSz="571500"/>
            <a:r>
              <a:rPr lang="en-GB" altLang="en-US" sz="2000"/>
              <a:t>value </a:t>
            </a:r>
            <a:r>
              <a:rPr lang="en-GB" altLang="en-US" sz="2000" b="1">
                <a:solidFill>
                  <a:srgbClr val="993333"/>
                </a:solidFill>
              </a:rPr>
              <a:t>NOT</a:t>
            </a:r>
            <a:r>
              <a:rPr lang="en-GB" altLang="en-US" sz="2000"/>
              <a:t> necessarily personal gain or money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uild="p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21F00E3-AA10-4D1B-E870-7F03154F0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Weighing up value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5D8DC43D-DF2F-21D3-6085-60239BCA66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/>
              <a:t>value</a:t>
            </a:r>
          </a:p>
          <a:p>
            <a:pPr lvl="2"/>
            <a:r>
              <a:rPr lang="en-GB" altLang="en-US"/>
              <a:t>helps me get my work done</a:t>
            </a:r>
          </a:p>
          <a:p>
            <a:pPr lvl="2"/>
            <a:r>
              <a:rPr lang="en-GB" altLang="en-US"/>
              <a:t>fun</a:t>
            </a:r>
          </a:p>
          <a:p>
            <a:pPr lvl="2"/>
            <a:r>
              <a:rPr lang="en-GB" altLang="en-US"/>
              <a:t>good for others</a:t>
            </a:r>
          </a:p>
          <a:p>
            <a:pPr>
              <a:buFontTx/>
              <a:buNone/>
            </a:pPr>
            <a:r>
              <a:rPr lang="en-GB" altLang="en-US"/>
              <a:t>cost</a:t>
            </a:r>
          </a:p>
          <a:p>
            <a:pPr lvl="2"/>
            <a:r>
              <a:rPr lang="en-GB" altLang="en-US"/>
              <a:t>download time</a:t>
            </a:r>
          </a:p>
          <a:p>
            <a:pPr lvl="2"/>
            <a:r>
              <a:rPr lang="en-GB" altLang="en-US"/>
              <a:t>money  £, $, €</a:t>
            </a:r>
          </a:p>
          <a:p>
            <a:pPr lvl="2"/>
            <a:r>
              <a:rPr lang="en-GB" altLang="en-US"/>
              <a:t>learning effort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>
            <a:extLst>
              <a:ext uri="{FF2B5EF4-FFF2-40B4-BE49-F238E27FC236}">
                <a16:creationId xmlns:a16="http://schemas.microsoft.com/office/drawing/2014/main" id="{6E36AF9C-820E-73EE-A7D3-F3E4B94375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in economics Net Present Value:</a:t>
            </a:r>
          </a:p>
          <a:p>
            <a:pPr lvl="1"/>
            <a:r>
              <a:rPr lang="en-GB" altLang="en-US"/>
              <a:t>discount by (1+rate)</a:t>
            </a:r>
            <a:r>
              <a:rPr lang="en-GB" altLang="en-US" baseline="30000"/>
              <a:t>years to wait</a:t>
            </a:r>
            <a:endParaRPr lang="en-GB" altLang="en-US"/>
          </a:p>
          <a:p>
            <a:pPr lvl="4"/>
            <a:endParaRPr lang="en-GB" altLang="en-US"/>
          </a:p>
          <a:p>
            <a:r>
              <a:rPr lang="en-GB" altLang="en-US"/>
              <a:t>in life people heavily discount</a:t>
            </a:r>
          </a:p>
          <a:p>
            <a:pPr lvl="1"/>
            <a:r>
              <a:rPr lang="en-GB" altLang="en-US"/>
              <a:t>future value and future cost</a:t>
            </a:r>
          </a:p>
          <a:p>
            <a:pPr lvl="1"/>
            <a:r>
              <a:rPr lang="en-GB" altLang="en-US"/>
              <a:t>hence resistance to learning</a:t>
            </a:r>
          </a:p>
          <a:p>
            <a:pPr lvl="1"/>
            <a:r>
              <a:rPr lang="en-GB" altLang="en-US"/>
              <a:t>need low barriers</a:t>
            </a:r>
            <a:br>
              <a:rPr lang="en-GB" altLang="en-US"/>
            </a:br>
            <a:r>
              <a:rPr lang="en-GB" altLang="en-US"/>
              <a:t>and high perceived present value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22279DBD-6D93-4BE9-1AE5-57B1CDAAA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Discounted future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4918CF37-B696-DCED-77A2-4CB189D99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example – HCI book search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22862B0C-915B-C2B9-3242-F73C7308BF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value for people </a:t>
            </a:r>
            <a:r>
              <a:rPr lang="en-GB" altLang="en-US" sz="2400" i="1"/>
              <a:t>who have</a:t>
            </a:r>
            <a:r>
              <a:rPr lang="en-GB" altLang="en-US" sz="2400"/>
              <a:t> the book</a:t>
            </a:r>
            <a:br>
              <a:rPr lang="en-GB" altLang="en-US" sz="2400"/>
            </a:br>
            <a:r>
              <a:rPr lang="en-GB" altLang="en-US" sz="2400"/>
              <a:t>	helps you to look up things</a:t>
            </a:r>
          </a:p>
          <a:p>
            <a:pPr lvl="3"/>
            <a:r>
              <a:rPr lang="en-GB" altLang="en-US" sz="1600"/>
              <a:t>chapter and page number</a:t>
            </a:r>
          </a:p>
          <a:p>
            <a:pPr lvl="3"/>
            <a:endParaRPr lang="en-GB" altLang="en-US" sz="1600"/>
          </a:p>
          <a:p>
            <a:r>
              <a:rPr lang="en-GB" altLang="en-US" sz="2400"/>
              <a:t>value for those </a:t>
            </a:r>
            <a:r>
              <a:rPr lang="en-GB" altLang="en-US" sz="2400" i="1"/>
              <a:t>who don’t</a:t>
            </a:r>
            <a:r>
              <a:rPr lang="en-GB" altLang="en-US" sz="2400"/>
              <a:t> …</a:t>
            </a:r>
            <a:br>
              <a:rPr lang="en-GB" altLang="en-US" sz="2400"/>
            </a:br>
            <a:r>
              <a:rPr lang="en-GB" altLang="en-US" sz="2400"/>
              <a:t>	sort of online mini-encyclopaedia</a:t>
            </a:r>
          </a:p>
          <a:p>
            <a:pPr lvl="3"/>
            <a:r>
              <a:rPr lang="en-GB" altLang="en-US" sz="1600"/>
              <a:t>full paragraph of context</a:t>
            </a:r>
          </a:p>
          <a:p>
            <a:pPr lvl="3"/>
            <a:endParaRPr lang="en-GB" altLang="en-US" sz="1600"/>
          </a:p>
          <a:p>
            <a:pPr>
              <a:buFontTx/>
              <a:buChar char=" "/>
            </a:pPr>
            <a:r>
              <a:rPr lang="en-GB" altLang="en-US" sz="2400"/>
              <a:t>… but also says “buy me”!!</a:t>
            </a:r>
          </a:p>
        </p:txBody>
      </p:sp>
      <p:sp>
        <p:nvSpPr>
          <p:cNvPr id="132101" name="Rectangle 5">
            <a:extLst>
              <a:ext uri="{FF2B5EF4-FFF2-40B4-BE49-F238E27FC236}">
                <a16:creationId xmlns:a16="http://schemas.microsoft.com/office/drawing/2014/main" id="{0B1727DD-7BA5-B80E-7276-F3836100A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800600"/>
            <a:ext cx="51816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100" name="Rectangle 4">
            <a:extLst>
              <a:ext uri="{FF2B5EF4-FFF2-40B4-BE49-F238E27FC236}">
                <a16:creationId xmlns:a16="http://schemas.microsoft.com/office/drawing/2014/main" id="{B1324B34-E7A6-1E24-4C72-49C770DA9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4953000"/>
            <a:ext cx="43338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>
                <a:latin typeface="Verdana" panose="020B0604030504040204" pitchFamily="34" charset="0"/>
              </a:rPr>
              <a:t>… but also says “buy me”!!</a:t>
            </a:r>
          </a:p>
        </p:txBody>
      </p:sp>
      <p:pic>
        <p:nvPicPr>
          <p:cNvPr id="132102" name="Picture 6">
            <a:extLst>
              <a:ext uri="{FF2B5EF4-FFF2-40B4-BE49-F238E27FC236}">
                <a16:creationId xmlns:a16="http://schemas.microsoft.com/office/drawing/2014/main" id="{72ED439B-86BF-E551-6935-9C1EAC9A6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828800"/>
            <a:ext cx="1195388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2106" name="Group 10">
            <a:extLst>
              <a:ext uri="{FF2B5EF4-FFF2-40B4-BE49-F238E27FC236}">
                <a16:creationId xmlns:a16="http://schemas.microsoft.com/office/drawing/2014/main" id="{DB522A94-1E54-4FA3-1C16-68845884DF1E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429000"/>
            <a:ext cx="2362200" cy="3287713"/>
            <a:chOff x="3936" y="2160"/>
            <a:chExt cx="1488" cy="2071"/>
          </a:xfrm>
        </p:grpSpPr>
        <p:pic>
          <p:nvPicPr>
            <p:cNvPr id="132104" name="Picture 8">
              <a:extLst>
                <a:ext uri="{FF2B5EF4-FFF2-40B4-BE49-F238E27FC236}">
                  <a16:creationId xmlns:a16="http://schemas.microsoft.com/office/drawing/2014/main" id="{9B48495E-3A5C-4548-9C26-D46CB0CDD5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6" y="2763"/>
              <a:ext cx="1488" cy="1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2105" name="Line 9">
              <a:extLst>
                <a:ext uri="{FF2B5EF4-FFF2-40B4-BE49-F238E27FC236}">
                  <a16:creationId xmlns:a16="http://schemas.microsoft.com/office/drawing/2014/main" id="{4183772B-D5BA-7CCF-9887-83D7B2C60D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2160"/>
              <a:ext cx="240" cy="52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0" grpId="0" build="p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How today’s lecture works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641348" cy="310896"/>
          </a:xfrm>
          <a:prstGeom prst="roundRect">
            <a:avLst>
              <a:gd name="adj" fmla="val 50000"/>
            </a:avLst>
          </a:prstGeom>
          <a:solidFill>
            <a:srgbClr val="2D2D8A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HOW TODAY WORKS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299716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look for these badges in the top-left of a slide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3172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00726F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POLL</a:t>
            </a:r>
            <a:endParaRPr lang="en-GB" sz="1100" dirty="0"/>
          </a:p>
        </p:txBody>
      </p:sp>
      <p:sp>
        <p:nvSpPr>
          <p:cNvPr id="14" name="Shape 14"/>
          <p:cNvSpPr txBox="1"/>
          <p:nvPr/>
        </p:nvSpPr>
        <p:spPr>
          <a:xfrm>
            <a:off x="2697480" y="2286000"/>
            <a:ext cx="57607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Vote with your hands (1 or 2 fingers) — everyone answers, no one is wrong.</a:t>
            </a:r>
            <a:endParaRPr lang="en-GB" sz="1400" dirty="0"/>
          </a:p>
        </p:txBody>
      </p:sp>
      <p:sp>
        <p:nvSpPr>
          <p:cNvPr id="15" name="Shape 15"/>
          <p:cNvSpPr/>
          <p:nvPr/>
        </p:nvSpPr>
        <p:spPr>
          <a:xfrm>
            <a:off x="548640" y="288036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6" name="Shape 16"/>
          <p:cNvSpPr txBox="1"/>
          <p:nvPr/>
        </p:nvSpPr>
        <p:spPr>
          <a:xfrm>
            <a:off x="2697480" y="2834640"/>
            <a:ext cx="57607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Answer on paper first; the next slide reveals the answer.</a:t>
            </a:r>
            <a:endParaRPr lang="en-GB" sz="1400" dirty="0"/>
          </a:p>
        </p:txBody>
      </p:sp>
      <p:sp>
        <p:nvSpPr>
          <p:cNvPr id="17" name="Shape 17"/>
          <p:cNvSpPr/>
          <p:nvPr/>
        </p:nvSpPr>
        <p:spPr>
          <a:xfrm>
            <a:off x="548640" y="342900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THINK-PAIR-SHARE</a:t>
            </a:r>
            <a:endParaRPr lang="en-GB" sz="1100" dirty="0"/>
          </a:p>
        </p:txBody>
      </p:sp>
      <p:sp>
        <p:nvSpPr>
          <p:cNvPr id="18" name="Shape 18"/>
          <p:cNvSpPr txBox="1"/>
          <p:nvPr/>
        </p:nvSpPr>
        <p:spPr>
          <a:xfrm>
            <a:off x="2697480" y="3383280"/>
            <a:ext cx="57607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1 min alone → 2 min with your neighbour → a few pairs share.</a:t>
            </a:r>
            <a:endParaRPr lang="en-GB" sz="1400" dirty="0"/>
          </a:p>
        </p:txBody>
      </p:sp>
      <p:sp>
        <p:nvSpPr>
          <p:cNvPr id="19" name="Shape 19"/>
          <p:cNvSpPr/>
          <p:nvPr/>
        </p:nvSpPr>
        <p:spPr>
          <a:xfrm>
            <a:off x="548640" y="397764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LIVE EXERCISE</a:t>
            </a:r>
            <a:endParaRPr lang="en-GB" sz="1100" dirty="0"/>
          </a:p>
        </p:txBody>
      </p:sp>
      <p:sp>
        <p:nvSpPr>
          <p:cNvPr id="20" name="Shape 20"/>
          <p:cNvSpPr txBox="1"/>
          <p:nvPr/>
        </p:nvSpPr>
        <p:spPr>
          <a:xfrm>
            <a:off x="2697480" y="3931920"/>
            <a:ext cx="57607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Do it now, in class, with the device or room around you.</a:t>
            </a:r>
            <a:endParaRPr lang="en-GB" sz="1400" dirty="0"/>
          </a:p>
        </p:txBody>
      </p:sp>
      <p:sp>
        <p:nvSpPr>
          <p:cNvPr id="21" name="Shape 21"/>
          <p:cNvSpPr/>
          <p:nvPr/>
        </p:nvSpPr>
        <p:spPr>
          <a:xfrm>
            <a:off x="548640" y="4526280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CASE PUZZLE</a:t>
            </a:r>
            <a:endParaRPr lang="en-GB" sz="1100" dirty="0"/>
          </a:p>
        </p:txBody>
      </p:sp>
      <p:sp>
        <p:nvSpPr>
          <p:cNvPr id="22" name="Shape 22"/>
          <p:cNvSpPr txBox="1"/>
          <p:nvPr/>
        </p:nvSpPr>
        <p:spPr>
          <a:xfrm>
            <a:off x="2697480" y="4480560"/>
            <a:ext cx="57607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A real system you use; apply the model to it in small groups.</a:t>
            </a:r>
            <a:endParaRPr lang="en-GB" sz="1400" dirty="0"/>
          </a:p>
        </p:txBody>
      </p:sp>
      <p:sp>
        <p:nvSpPr>
          <p:cNvPr id="23" name="Shape 23"/>
          <p:cNvSpPr/>
          <p:nvPr/>
        </p:nvSpPr>
        <p:spPr>
          <a:xfrm>
            <a:off x="548640" y="5166360"/>
            <a:ext cx="7955280" cy="8686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ctr" rtlCol="0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GB" sz="13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Today: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WIMP elements → interactivity → context → experience → physical design → value, with 13 short activities (~35 min; two are optional)</a:t>
            </a:r>
            <a:endParaRPr lang="en-GB" sz="1300" dirty="0"/>
          </a:p>
          <a:p>
            <a:pPr algn="l">
              <a:buNone/>
            </a:pPr>
            <a:r>
              <a:rPr lang="en-GB" sz="13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Have ready: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a sheet of paper, your phone, and one everyday object (pen, remote, keys)</a:t>
            </a:r>
            <a:endParaRPr lang="en-GB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Recap: three quick questions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243584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2 min · last lecture in three questions — answer out loud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5000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200" dirty="0"/>
          </a:p>
        </p:txBody>
      </p:sp>
      <p:sp>
        <p:nvSpPr>
          <p:cNvPr id="14" name="Shape 14"/>
          <p:cNvSpPr txBox="1"/>
          <p:nvPr/>
        </p:nvSpPr>
        <p:spPr>
          <a:xfrm>
            <a:off x="1005840" y="2331720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I can’t tell whether my fee payment went through. Which gulf?</a:t>
            </a:r>
            <a:endParaRPr lang="en-GB" sz="1300" dirty="0"/>
          </a:p>
        </p:txBody>
      </p:sp>
      <p:sp>
        <p:nvSpPr>
          <p:cNvPr id="15" name="Shape 15"/>
          <p:cNvSpPr/>
          <p:nvPr/>
        </p:nvSpPr>
        <p:spPr>
          <a:xfrm>
            <a:off x="1005840" y="269748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a)  execution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3520440" y="269748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b)  evaluation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6035040" y="269748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neither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548640" y="326440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200" dirty="0"/>
          </a:p>
        </p:txBody>
      </p:sp>
      <p:sp>
        <p:nvSpPr>
          <p:cNvPr id="19" name="Shape 19"/>
          <p:cNvSpPr txBox="1"/>
          <p:nvPr/>
        </p:nvSpPr>
        <p:spPr>
          <a:xfrm>
            <a:off x="1005840" y="3246120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Typing a password with Caps Lock on is a…</a:t>
            </a:r>
            <a:endParaRPr lang="en-GB" sz="1300" dirty="0"/>
          </a:p>
        </p:txBody>
      </p:sp>
      <p:sp>
        <p:nvSpPr>
          <p:cNvPr id="20" name="Shape 20"/>
          <p:cNvSpPr/>
          <p:nvPr/>
        </p:nvSpPr>
        <p:spPr>
          <a:xfrm>
            <a:off x="1005840" y="361188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a)  slip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3520440" y="361188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b)  mistake</a:t>
            </a:r>
            <a:endParaRPr lang="en-GB" sz="1100" dirty="0"/>
          </a:p>
        </p:txBody>
      </p:sp>
      <p:sp>
        <p:nvSpPr>
          <p:cNvPr id="22" name="Shape 22"/>
          <p:cNvSpPr/>
          <p:nvPr/>
        </p:nvSpPr>
        <p:spPr>
          <a:xfrm>
            <a:off x="6035040" y="361188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goal</a:t>
            </a:r>
            <a:endParaRPr lang="en-GB" sz="1100" dirty="0"/>
          </a:p>
        </p:txBody>
      </p:sp>
      <p:sp>
        <p:nvSpPr>
          <p:cNvPr id="23" name="Shape 23"/>
          <p:cNvSpPr/>
          <p:nvPr/>
        </p:nvSpPr>
        <p:spPr>
          <a:xfrm>
            <a:off x="548640" y="417880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200" dirty="0"/>
          </a:p>
        </p:txBody>
      </p:sp>
      <p:sp>
        <p:nvSpPr>
          <p:cNvPr id="24" name="Shape 24"/>
          <p:cNvSpPr txBox="1"/>
          <p:nvPr/>
        </p:nvSpPr>
        <p:spPr>
          <a:xfrm>
            <a:off x="1005840" y="4160520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An ATM’s numbered option list is which style?</a:t>
            </a:r>
            <a:endParaRPr lang="en-GB" sz="1300" dirty="0"/>
          </a:p>
        </p:txBody>
      </p:sp>
      <p:sp>
        <p:nvSpPr>
          <p:cNvPr id="25" name="Shape 25"/>
          <p:cNvSpPr/>
          <p:nvPr/>
        </p:nvSpPr>
        <p:spPr>
          <a:xfrm>
            <a:off x="1005840" y="452628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a)  command line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3520440" y="452628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b)  menus</a:t>
            </a:r>
            <a:endParaRPr lang="en-GB" sz="1100" dirty="0"/>
          </a:p>
        </p:txBody>
      </p:sp>
      <p:sp>
        <p:nvSpPr>
          <p:cNvPr id="27" name="Shape 27"/>
          <p:cNvSpPr/>
          <p:nvPr/>
        </p:nvSpPr>
        <p:spPr>
          <a:xfrm>
            <a:off x="6035040" y="452628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natural language</a:t>
            </a:r>
            <a:endParaRPr lang="en-GB" sz="1100" dirty="0"/>
          </a:p>
        </p:txBody>
      </p:sp>
      <p:sp>
        <p:nvSpPr>
          <p:cNvPr id="28" name="Shape 28"/>
          <p:cNvSpPr/>
          <p:nvPr/>
        </p:nvSpPr>
        <p:spPr>
          <a:xfrm>
            <a:off x="548640" y="5257800"/>
            <a:ext cx="7955280" cy="8229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Today: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the elements of WIMP → interactivity → context → experience → physical design → value.</a:t>
            </a:r>
            <a:endParaRPr lang="en-GB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Is WIMP dead on your phone?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THINK-PAIR-SHARE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395728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3 min · take out your phone</a:t>
            </a:r>
            <a:endParaRPr lang="en-GB" sz="1200" dirty="0"/>
          </a:p>
        </p:txBody>
      </p:sp>
      <p:sp>
        <p:nvSpPr>
          <p:cNvPr id="13" name="Shape 13"/>
          <p:cNvSpPr txBox="1"/>
          <p:nvPr/>
        </p:nvSpPr>
        <p:spPr>
          <a:xfrm>
            <a:off x="548640" y="224028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2D2D8A"/>
                </a:solidFill>
                <a:latin typeface="Arial"/>
                <a:cs typeface="Arial"/>
              </a:rPr>
              <a:t>Which of the four WIMP elements survived on your touch-screen phone — and what replaced the rest?</a:t>
            </a:r>
            <a:endParaRPr lang="en-GB" sz="1400" dirty="0"/>
          </a:p>
        </p:txBody>
      </p:sp>
      <p:sp>
        <p:nvSpPr>
          <p:cNvPr id="14" name="Shape 14"/>
          <p:cNvSpPr/>
          <p:nvPr/>
        </p:nvSpPr>
        <p:spPr>
          <a:xfrm>
            <a:off x="548640" y="2834640"/>
            <a:ext cx="1828800" cy="411480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FFFFFF"/>
                </a:solidFill>
                <a:latin typeface="Arial"/>
                <a:cs typeface="Arial"/>
              </a:rPr>
              <a:t>WIMP element</a:t>
            </a:r>
            <a:endParaRPr lang="en-GB" sz="1300" dirty="0"/>
          </a:p>
        </p:txBody>
      </p:sp>
      <p:sp>
        <p:nvSpPr>
          <p:cNvPr id="15" name="Shape 15"/>
          <p:cNvSpPr/>
          <p:nvPr/>
        </p:nvSpPr>
        <p:spPr>
          <a:xfrm>
            <a:off x="2377440" y="2834640"/>
            <a:ext cx="6035040" cy="411480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FFFFFF"/>
                </a:solidFill>
                <a:latin typeface="Arial"/>
                <a:cs typeface="Arial"/>
              </a:rPr>
              <a:t>On your phone?  What replaced it?</a:t>
            </a:r>
            <a:endParaRPr lang="en-GB" sz="1300" dirty="0"/>
          </a:p>
        </p:txBody>
      </p:sp>
      <p:sp>
        <p:nvSpPr>
          <p:cNvPr id="16" name="Shape 16"/>
          <p:cNvSpPr/>
          <p:nvPr/>
        </p:nvSpPr>
        <p:spPr>
          <a:xfrm>
            <a:off x="548640" y="3246120"/>
            <a:ext cx="1828800" cy="658368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1A1A1A"/>
                </a:solidFill>
                <a:latin typeface="Arial"/>
                <a:cs typeface="Arial"/>
              </a:rPr>
              <a:t>Windows</a:t>
            </a:r>
            <a:endParaRPr lang="en-GB" sz="1400" dirty="0"/>
          </a:p>
        </p:txBody>
      </p:sp>
      <p:sp>
        <p:nvSpPr>
          <p:cNvPr id="17" name="Shape 17"/>
          <p:cNvSpPr/>
          <p:nvPr/>
        </p:nvSpPr>
        <p:spPr>
          <a:xfrm>
            <a:off x="2377440" y="3246120"/>
            <a:ext cx="6035040" cy="658368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300" dirty="0"/>
          </a:p>
        </p:txBody>
      </p:sp>
      <p:sp>
        <p:nvSpPr>
          <p:cNvPr id="18" name="Shape 18"/>
          <p:cNvSpPr/>
          <p:nvPr/>
        </p:nvSpPr>
        <p:spPr>
          <a:xfrm>
            <a:off x="548640" y="3904488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1A1A1A"/>
                </a:solidFill>
                <a:latin typeface="Arial"/>
                <a:cs typeface="Arial"/>
              </a:rPr>
              <a:t>Icons</a:t>
            </a:r>
            <a:endParaRPr lang="en-GB" sz="1400" dirty="0"/>
          </a:p>
        </p:txBody>
      </p:sp>
      <p:sp>
        <p:nvSpPr>
          <p:cNvPr id="19" name="Shape 19"/>
          <p:cNvSpPr/>
          <p:nvPr/>
        </p:nvSpPr>
        <p:spPr>
          <a:xfrm>
            <a:off x="2377440" y="3904488"/>
            <a:ext cx="60350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300" dirty="0"/>
          </a:p>
        </p:txBody>
      </p:sp>
      <p:sp>
        <p:nvSpPr>
          <p:cNvPr id="20" name="Shape 20"/>
          <p:cNvSpPr/>
          <p:nvPr/>
        </p:nvSpPr>
        <p:spPr>
          <a:xfrm>
            <a:off x="548640" y="4562856"/>
            <a:ext cx="1828800" cy="658368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1A1A1A"/>
                </a:solidFill>
                <a:latin typeface="Arial"/>
                <a:cs typeface="Arial"/>
              </a:rPr>
              <a:t>Menus</a:t>
            </a:r>
            <a:endParaRPr lang="en-GB" sz="1400" dirty="0"/>
          </a:p>
        </p:txBody>
      </p:sp>
      <p:sp>
        <p:nvSpPr>
          <p:cNvPr id="21" name="Shape 21"/>
          <p:cNvSpPr/>
          <p:nvPr/>
        </p:nvSpPr>
        <p:spPr>
          <a:xfrm>
            <a:off x="2377440" y="4562856"/>
            <a:ext cx="6035040" cy="658368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300" dirty="0"/>
          </a:p>
        </p:txBody>
      </p:sp>
      <p:sp>
        <p:nvSpPr>
          <p:cNvPr id="22" name="Shape 22"/>
          <p:cNvSpPr/>
          <p:nvPr/>
        </p:nvSpPr>
        <p:spPr>
          <a:xfrm>
            <a:off x="548640" y="5221224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1A1A1A"/>
                </a:solidFill>
                <a:latin typeface="Arial"/>
                <a:cs typeface="Arial"/>
              </a:rPr>
              <a:t>Pointers</a:t>
            </a:r>
            <a:endParaRPr lang="en-GB" sz="1400" dirty="0"/>
          </a:p>
        </p:txBody>
      </p:sp>
      <p:sp>
        <p:nvSpPr>
          <p:cNvPr id="23" name="Shape 23"/>
          <p:cNvSpPr/>
          <p:nvPr/>
        </p:nvSpPr>
        <p:spPr>
          <a:xfrm>
            <a:off x="2377440" y="5221224"/>
            <a:ext cx="60350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Is WIMP dead on your phone?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7325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31620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what most pairs find</a:t>
            </a:r>
            <a:endParaRPr lang="en-GB" sz="1200" dirty="0"/>
          </a:p>
        </p:txBody>
      </p:sp>
      <p:sp>
        <p:nvSpPr>
          <p:cNvPr id="13" name="Shape 13"/>
          <p:cNvSpPr txBox="1"/>
          <p:nvPr/>
        </p:nvSpPr>
        <p:spPr>
          <a:xfrm>
            <a:off x="548640" y="224028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2D2D8A"/>
                </a:solidFill>
                <a:latin typeface="Arial"/>
                <a:cs typeface="Arial"/>
              </a:rPr>
              <a:t>Which of the four WIMP elements survived on your touch-screen phone — and what replaced the rest?</a:t>
            </a:r>
            <a:endParaRPr lang="en-GB" sz="1400" dirty="0"/>
          </a:p>
        </p:txBody>
      </p:sp>
      <p:sp>
        <p:nvSpPr>
          <p:cNvPr id="14" name="Shape 14"/>
          <p:cNvSpPr/>
          <p:nvPr/>
        </p:nvSpPr>
        <p:spPr>
          <a:xfrm>
            <a:off x="548640" y="2834640"/>
            <a:ext cx="1828800" cy="411480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FFFFFF"/>
                </a:solidFill>
                <a:latin typeface="Arial"/>
                <a:cs typeface="Arial"/>
              </a:rPr>
              <a:t>WIMP element</a:t>
            </a:r>
            <a:endParaRPr lang="en-GB" sz="1300" dirty="0"/>
          </a:p>
        </p:txBody>
      </p:sp>
      <p:sp>
        <p:nvSpPr>
          <p:cNvPr id="15" name="Shape 15"/>
          <p:cNvSpPr/>
          <p:nvPr/>
        </p:nvSpPr>
        <p:spPr>
          <a:xfrm>
            <a:off x="2377440" y="2834640"/>
            <a:ext cx="6035040" cy="411480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FFFFFF"/>
                </a:solidFill>
                <a:latin typeface="Arial"/>
                <a:cs typeface="Arial"/>
              </a:rPr>
              <a:t>On your phone?  What replaced it?</a:t>
            </a:r>
            <a:endParaRPr lang="en-GB" sz="1300" dirty="0"/>
          </a:p>
        </p:txBody>
      </p:sp>
      <p:sp>
        <p:nvSpPr>
          <p:cNvPr id="16" name="Shape 16"/>
          <p:cNvSpPr/>
          <p:nvPr/>
        </p:nvSpPr>
        <p:spPr>
          <a:xfrm>
            <a:off x="548640" y="3246120"/>
            <a:ext cx="1828800" cy="658368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1A1A1A"/>
                </a:solidFill>
                <a:latin typeface="Arial"/>
                <a:cs typeface="Arial"/>
              </a:rPr>
              <a:t>Windows</a:t>
            </a:r>
            <a:endParaRPr lang="en-GB" sz="1400" dirty="0"/>
          </a:p>
        </p:txBody>
      </p:sp>
      <p:sp>
        <p:nvSpPr>
          <p:cNvPr id="17" name="Shape 17"/>
          <p:cNvSpPr/>
          <p:nvPr/>
        </p:nvSpPr>
        <p:spPr>
          <a:xfrm>
            <a:off x="2377440" y="3246120"/>
            <a:ext cx="6035040" cy="658368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Mostly gone: full-screen apps; split screen and the ‘recent apps’ cards remain</a:t>
            </a:r>
            <a:endParaRPr lang="en-GB" sz="1300" dirty="0"/>
          </a:p>
        </p:txBody>
      </p:sp>
      <p:sp>
        <p:nvSpPr>
          <p:cNvPr id="18" name="Shape 18"/>
          <p:cNvSpPr/>
          <p:nvPr/>
        </p:nvSpPr>
        <p:spPr>
          <a:xfrm>
            <a:off x="548640" y="3904488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1A1A1A"/>
                </a:solidFill>
                <a:latin typeface="Arial"/>
                <a:cs typeface="Arial"/>
              </a:rPr>
              <a:t>Icons</a:t>
            </a:r>
            <a:endParaRPr lang="en-GB" sz="1400" dirty="0"/>
          </a:p>
        </p:txBody>
      </p:sp>
      <p:sp>
        <p:nvSpPr>
          <p:cNvPr id="19" name="Shape 19"/>
          <p:cNvSpPr/>
          <p:nvPr/>
        </p:nvSpPr>
        <p:spPr>
          <a:xfrm>
            <a:off x="2377440" y="3904488"/>
            <a:ext cx="60350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Everywhere — the home screen is a grid of icons</a:t>
            </a:r>
            <a:endParaRPr lang="en-GB" sz="1300" dirty="0"/>
          </a:p>
        </p:txBody>
      </p:sp>
      <p:sp>
        <p:nvSpPr>
          <p:cNvPr id="20" name="Shape 20"/>
          <p:cNvSpPr/>
          <p:nvPr/>
        </p:nvSpPr>
        <p:spPr>
          <a:xfrm>
            <a:off x="548640" y="4562856"/>
            <a:ext cx="1828800" cy="658368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1A1A1A"/>
                </a:solidFill>
                <a:latin typeface="Arial"/>
                <a:cs typeface="Arial"/>
              </a:rPr>
              <a:t>Menus</a:t>
            </a:r>
            <a:endParaRPr lang="en-GB" sz="1400" dirty="0"/>
          </a:p>
        </p:txBody>
      </p:sp>
      <p:sp>
        <p:nvSpPr>
          <p:cNvPr id="21" name="Shape 21"/>
          <p:cNvSpPr/>
          <p:nvPr/>
        </p:nvSpPr>
        <p:spPr>
          <a:xfrm>
            <a:off x="2377440" y="4562856"/>
            <a:ext cx="6035040" cy="658368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Became the three-line “hamburger” menu, long-press context menus and bottom sheets</a:t>
            </a:r>
            <a:endParaRPr lang="en-GB" sz="1300" dirty="0"/>
          </a:p>
        </p:txBody>
      </p:sp>
      <p:sp>
        <p:nvSpPr>
          <p:cNvPr id="22" name="Shape 22"/>
          <p:cNvSpPr/>
          <p:nvPr/>
        </p:nvSpPr>
        <p:spPr>
          <a:xfrm>
            <a:off x="548640" y="5221224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1A1A1A"/>
                </a:solidFill>
                <a:latin typeface="Arial"/>
                <a:cs typeface="Arial"/>
              </a:rPr>
              <a:t>Pointers</a:t>
            </a:r>
            <a:endParaRPr lang="en-GB" sz="1400" dirty="0"/>
          </a:p>
        </p:txBody>
      </p:sp>
      <p:sp>
        <p:nvSpPr>
          <p:cNvPr id="23" name="Shape 23"/>
          <p:cNvSpPr/>
          <p:nvPr/>
        </p:nvSpPr>
        <p:spPr>
          <a:xfrm>
            <a:off x="2377440" y="5221224"/>
            <a:ext cx="60350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Your finger — no hover, so no tooltips, and targets must be bigger (Fitts, Week 1)</a:t>
            </a:r>
            <a:endParaRPr lang="en-GB" sz="1300" dirty="0"/>
          </a:p>
        </p:txBody>
      </p:sp>
      <p:sp>
        <p:nvSpPr>
          <p:cNvPr id="24" name="Shape 24"/>
          <p:cNvSpPr txBox="1"/>
          <p:nvPr/>
        </p:nvSpPr>
        <p:spPr>
          <a:xfrm>
            <a:off x="548640" y="598932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Loss of hover is the big one: every hint that a mouse gives for free must be designed in some other way on touch.</a:t>
            </a:r>
            <a:endParaRPr lang="en-GB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Why are pie menus fast?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243584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2 min · remember Fitts’ law from Week 1</a:t>
            </a:r>
            <a:endParaRPr lang="en-GB" sz="1200" dirty="0"/>
          </a:p>
        </p:txBody>
      </p:sp>
      <p:sp>
        <p:nvSpPr>
          <p:cNvPr id="13" name="Shape 13"/>
          <p:cNvSpPr txBox="1"/>
          <p:nvPr/>
        </p:nvSpPr>
        <p:spPr>
          <a:xfrm>
            <a:off x="548640" y="224028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2D2D8A"/>
                </a:solidFill>
                <a:latin typeface="Arial"/>
                <a:cs typeface="Arial"/>
              </a:rPr>
              <a:t>The cursor starts at the dot. Which menu gets you to ‘Share’ faster — and why?</a:t>
            </a:r>
            <a:endParaRPr lang="en-GB" sz="1400" dirty="0"/>
          </a:p>
        </p:txBody>
      </p:sp>
      <p:sp>
        <p:nvSpPr>
          <p:cNvPr id="14" name="Shape 14"/>
          <p:cNvSpPr txBox="1"/>
          <p:nvPr/>
        </p:nvSpPr>
        <p:spPr>
          <a:xfrm>
            <a:off x="914400" y="29260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00726F"/>
                </a:solidFill>
                <a:latin typeface="Arial"/>
                <a:cs typeface="Arial"/>
              </a:rPr>
              <a:t>A   Linear pop-up menu</a:t>
            </a:r>
            <a:endParaRPr lang="en-GB" sz="1300" dirty="0"/>
          </a:p>
        </p:txBody>
      </p:sp>
      <p:sp>
        <p:nvSpPr>
          <p:cNvPr id="15" name="Shape 15"/>
          <p:cNvSpPr/>
          <p:nvPr/>
        </p:nvSpPr>
        <p:spPr>
          <a:xfrm>
            <a:off x="914400" y="3291840"/>
            <a:ext cx="2011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Cut</a:t>
            </a:r>
            <a:endParaRPr lang="en-GB" sz="1200" dirty="0"/>
          </a:p>
        </p:txBody>
      </p:sp>
      <p:sp>
        <p:nvSpPr>
          <p:cNvPr id="16" name="Shape 16"/>
          <p:cNvSpPr/>
          <p:nvPr/>
        </p:nvSpPr>
        <p:spPr>
          <a:xfrm>
            <a:off x="914400" y="3703320"/>
            <a:ext cx="2011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Copy</a:t>
            </a:r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914400" y="4114800"/>
            <a:ext cx="2011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Paste</a:t>
            </a:r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914400" y="4526280"/>
            <a:ext cx="2011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Delete</a:t>
            </a:r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914400" y="4937760"/>
            <a:ext cx="2011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Rename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914400" y="5349240"/>
            <a:ext cx="2011680" cy="411480"/>
          </a:xfrm>
          <a:prstGeom prst="rect">
            <a:avLst/>
          </a:prstGeom>
          <a:solidFill>
            <a:srgbClr val="DAEDEF"/>
          </a:solidFill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Share</a:t>
            </a:r>
            <a:endParaRPr lang="en-GB" sz="1200" dirty="0"/>
          </a:p>
        </p:txBody>
      </p:sp>
      <p:sp>
        <p:nvSpPr>
          <p:cNvPr id="21" name="Shape 21"/>
          <p:cNvSpPr/>
          <p:nvPr/>
        </p:nvSpPr>
        <p:spPr>
          <a:xfrm>
            <a:off x="841248" y="3218688"/>
            <a:ext cx="146304" cy="14630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cxnSp>
        <p:nvCxnSpPr>
          <p:cNvPr id="22" name="Line 22"/>
          <p:cNvCxnSpPr/>
          <p:nvPr/>
        </p:nvCxnSpPr>
        <p:spPr>
          <a:xfrm>
            <a:off x="914400" y="3291840"/>
            <a:ext cx="1005840" cy="2258568"/>
          </a:xfrm>
          <a:prstGeom prst="line">
            <a:avLst/>
          </a:prstGeom>
          <a:ln w="19050">
            <a:solidFill>
              <a:srgbClr val="B03A2E"/>
            </a:solidFill>
            <a:prstDash val="dash"/>
            <a:tailEnd type="triangle" w="med" len="med"/>
          </a:ln>
        </p:spPr>
      </p:cxnSp>
      <p:sp>
        <p:nvSpPr>
          <p:cNvPr id="23" name="Shape 23"/>
          <p:cNvSpPr txBox="1"/>
          <p:nvPr/>
        </p:nvSpPr>
        <p:spPr>
          <a:xfrm>
            <a:off x="3337560" y="2926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ctr">
              <a:buNone/>
            </a:pPr>
            <a:r>
              <a:rPr lang="en-GB" sz="1300" b="1" i="0" dirty="0">
                <a:solidFill>
                  <a:srgbClr val="00726F"/>
                </a:solidFill>
                <a:latin typeface="Arial"/>
                <a:cs typeface="Arial"/>
              </a:rPr>
              <a:t>B   Pie menu</a:t>
            </a:r>
            <a:endParaRPr lang="en-GB" sz="1300" dirty="0"/>
          </a:p>
        </p:txBody>
      </p:sp>
      <p:sp>
        <p:nvSpPr>
          <p:cNvPr id="24" name="Shape 24"/>
          <p:cNvSpPr/>
          <p:nvPr/>
        </p:nvSpPr>
        <p:spPr>
          <a:xfrm>
            <a:off x="3337560" y="3246120"/>
            <a:ext cx="2377440" cy="2377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cxnSp>
        <p:nvCxnSpPr>
          <p:cNvPr id="25" name="Line 25"/>
          <p:cNvCxnSpPr/>
          <p:nvPr/>
        </p:nvCxnSpPr>
        <p:spPr>
          <a:xfrm>
            <a:off x="3337560" y="4434840"/>
            <a:ext cx="2377440" cy="0"/>
          </a:xfrm>
          <a:prstGeom prst="line">
            <a:avLst/>
          </a:prstGeom>
          <a:ln w="12700">
            <a:solidFill>
              <a:srgbClr val="9DB8BC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3931920" y="3405378"/>
            <a:ext cx="1188720" cy="2058923"/>
          </a:xfrm>
          <a:prstGeom prst="line">
            <a:avLst/>
          </a:prstGeom>
          <a:ln w="12700">
            <a:solidFill>
              <a:srgbClr val="9DB8BC"/>
            </a:solidFill>
          </a:ln>
        </p:spPr>
      </p:cxnSp>
      <p:cxnSp>
        <p:nvCxnSpPr>
          <p:cNvPr id="27" name="Line 27"/>
          <p:cNvCxnSpPr/>
          <p:nvPr/>
        </p:nvCxnSpPr>
        <p:spPr>
          <a:xfrm flipH="1">
            <a:off x="3931920" y="3405378"/>
            <a:ext cx="1188720" cy="2058923"/>
          </a:xfrm>
          <a:prstGeom prst="line">
            <a:avLst/>
          </a:prstGeom>
          <a:ln w="12700">
            <a:solidFill>
              <a:srgbClr val="9DB8BC"/>
            </a:solidFill>
          </a:ln>
        </p:spPr>
      </p:cxnSp>
      <p:sp>
        <p:nvSpPr>
          <p:cNvPr id="28" name="Shape 28"/>
          <p:cNvSpPr txBox="1"/>
          <p:nvPr/>
        </p:nvSpPr>
        <p:spPr>
          <a:xfrm>
            <a:off x="4958959" y="3810305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Cut</a:t>
            </a:r>
            <a:endParaRPr lang="en-GB" sz="1100" dirty="0"/>
          </a:p>
        </p:txBody>
      </p:sp>
      <p:sp>
        <p:nvSpPr>
          <p:cNvPr id="29" name="Shape 29"/>
          <p:cNvSpPr txBox="1"/>
          <p:nvPr/>
        </p:nvSpPr>
        <p:spPr>
          <a:xfrm>
            <a:off x="4958959" y="4785055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Copy</a:t>
            </a:r>
            <a:endParaRPr lang="en-GB" sz="1100" dirty="0"/>
          </a:p>
        </p:txBody>
      </p:sp>
      <p:sp>
        <p:nvSpPr>
          <p:cNvPr id="30" name="Shape 30"/>
          <p:cNvSpPr txBox="1"/>
          <p:nvPr/>
        </p:nvSpPr>
        <p:spPr>
          <a:xfrm>
            <a:off x="4114800" y="527243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Paste</a:t>
            </a:r>
            <a:endParaRPr lang="en-GB" sz="1100" dirty="0"/>
          </a:p>
        </p:txBody>
      </p:sp>
      <p:sp>
        <p:nvSpPr>
          <p:cNvPr id="31" name="Shape 31"/>
          <p:cNvSpPr txBox="1"/>
          <p:nvPr/>
        </p:nvSpPr>
        <p:spPr>
          <a:xfrm>
            <a:off x="3270641" y="4785055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Delete</a:t>
            </a:r>
            <a:endParaRPr lang="en-GB" sz="1100" dirty="0"/>
          </a:p>
        </p:txBody>
      </p:sp>
      <p:sp>
        <p:nvSpPr>
          <p:cNvPr id="32" name="Shape 32"/>
          <p:cNvSpPr txBox="1"/>
          <p:nvPr/>
        </p:nvSpPr>
        <p:spPr>
          <a:xfrm>
            <a:off x="3270641" y="3810305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Rename</a:t>
            </a:r>
            <a:endParaRPr lang="en-GB" sz="1100" dirty="0"/>
          </a:p>
        </p:txBody>
      </p:sp>
      <p:sp>
        <p:nvSpPr>
          <p:cNvPr id="33" name="Shape 33"/>
          <p:cNvSpPr txBox="1"/>
          <p:nvPr/>
        </p:nvSpPr>
        <p:spPr>
          <a:xfrm>
            <a:off x="4114800" y="332293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Share</a:t>
            </a:r>
            <a:endParaRPr lang="en-GB" sz="1100" dirty="0"/>
          </a:p>
        </p:txBody>
      </p:sp>
      <p:sp>
        <p:nvSpPr>
          <p:cNvPr id="34" name="Shape 34"/>
          <p:cNvSpPr/>
          <p:nvPr/>
        </p:nvSpPr>
        <p:spPr>
          <a:xfrm>
            <a:off x="4453128" y="4361688"/>
            <a:ext cx="146304" cy="14630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cxnSp>
        <p:nvCxnSpPr>
          <p:cNvPr id="35" name="Line 35"/>
          <p:cNvCxnSpPr/>
          <p:nvPr/>
        </p:nvCxnSpPr>
        <p:spPr>
          <a:xfrm flipV="1">
            <a:off x="4526280" y="3781044"/>
            <a:ext cx="0" cy="653796"/>
          </a:xfrm>
          <a:prstGeom prst="line">
            <a:avLst/>
          </a:prstGeom>
          <a:ln w="19050">
            <a:solidFill>
              <a:srgbClr val="B03A2E"/>
            </a:solidFill>
            <a:prstDash val="dash"/>
            <a:tailEnd type="triangle" w="med" len="med"/>
          </a:ln>
        </p:spPr>
      </p:cxnSp>
      <p:sp>
        <p:nvSpPr>
          <p:cNvPr id="36" name="Shape 36"/>
          <p:cNvSpPr/>
          <p:nvPr/>
        </p:nvSpPr>
        <p:spPr>
          <a:xfrm>
            <a:off x="6126480" y="2926080"/>
            <a:ext cx="2377440" cy="31089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109728" tIns="109728" rIns="109728" bIns="109728" anchor="t" rtlCol="0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GB" sz="1400" b="1" i="0" dirty="0">
                <a:solidFill>
                  <a:srgbClr val="2D2D8A"/>
                </a:solidFill>
                <a:latin typeface="Arial"/>
                <a:cs typeface="Arial"/>
              </a:rPr>
              <a:t>Your answer</a:t>
            </a:r>
            <a:endParaRPr lang="en-GB" sz="14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 or B?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Use the two Fitts levers: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D = distance to target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W = width of target</a:t>
            </a:r>
            <a:endParaRPr lang="en-GB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Why are pie menus fast?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7325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31620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Fitts’ law explains it</a:t>
            </a:r>
            <a:endParaRPr lang="en-GB" sz="1200" dirty="0"/>
          </a:p>
        </p:txBody>
      </p:sp>
      <p:sp>
        <p:nvSpPr>
          <p:cNvPr id="13" name="Shape 13"/>
          <p:cNvSpPr txBox="1"/>
          <p:nvPr/>
        </p:nvSpPr>
        <p:spPr>
          <a:xfrm>
            <a:off x="548640" y="224028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2D2D8A"/>
                </a:solidFill>
                <a:latin typeface="Arial"/>
                <a:cs typeface="Arial"/>
              </a:rPr>
              <a:t>The cursor starts at the dot. Which menu gets you to ‘Share’ faster — and why?</a:t>
            </a:r>
            <a:endParaRPr lang="en-GB" sz="1400" dirty="0"/>
          </a:p>
        </p:txBody>
      </p:sp>
      <p:sp>
        <p:nvSpPr>
          <p:cNvPr id="14" name="Shape 14"/>
          <p:cNvSpPr txBox="1"/>
          <p:nvPr/>
        </p:nvSpPr>
        <p:spPr>
          <a:xfrm>
            <a:off x="914400" y="29260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00726F"/>
                </a:solidFill>
                <a:latin typeface="Arial"/>
                <a:cs typeface="Arial"/>
              </a:rPr>
              <a:t>A   Linear pop-up menu</a:t>
            </a:r>
            <a:endParaRPr lang="en-GB" sz="1300" dirty="0"/>
          </a:p>
        </p:txBody>
      </p:sp>
      <p:sp>
        <p:nvSpPr>
          <p:cNvPr id="15" name="Shape 15"/>
          <p:cNvSpPr/>
          <p:nvPr/>
        </p:nvSpPr>
        <p:spPr>
          <a:xfrm>
            <a:off x="914400" y="3291840"/>
            <a:ext cx="2011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Cut</a:t>
            </a:r>
            <a:endParaRPr lang="en-GB" sz="1200" dirty="0"/>
          </a:p>
        </p:txBody>
      </p:sp>
      <p:sp>
        <p:nvSpPr>
          <p:cNvPr id="16" name="Shape 16"/>
          <p:cNvSpPr/>
          <p:nvPr/>
        </p:nvSpPr>
        <p:spPr>
          <a:xfrm>
            <a:off x="914400" y="3703320"/>
            <a:ext cx="2011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Copy</a:t>
            </a:r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914400" y="4114800"/>
            <a:ext cx="2011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Paste</a:t>
            </a:r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914400" y="4526280"/>
            <a:ext cx="2011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Delete</a:t>
            </a:r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914400" y="4937760"/>
            <a:ext cx="2011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Rename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914400" y="5349240"/>
            <a:ext cx="2011680" cy="411480"/>
          </a:xfrm>
          <a:prstGeom prst="rect">
            <a:avLst/>
          </a:prstGeom>
          <a:solidFill>
            <a:srgbClr val="DAEDEF"/>
          </a:solidFill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Share</a:t>
            </a:r>
            <a:endParaRPr lang="en-GB" sz="1200" dirty="0"/>
          </a:p>
        </p:txBody>
      </p:sp>
      <p:sp>
        <p:nvSpPr>
          <p:cNvPr id="21" name="Shape 21"/>
          <p:cNvSpPr/>
          <p:nvPr/>
        </p:nvSpPr>
        <p:spPr>
          <a:xfrm>
            <a:off x="841248" y="3218688"/>
            <a:ext cx="146304" cy="14630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cxnSp>
        <p:nvCxnSpPr>
          <p:cNvPr id="22" name="Line 22"/>
          <p:cNvCxnSpPr/>
          <p:nvPr/>
        </p:nvCxnSpPr>
        <p:spPr>
          <a:xfrm>
            <a:off x="914400" y="3291840"/>
            <a:ext cx="1005840" cy="2258568"/>
          </a:xfrm>
          <a:prstGeom prst="line">
            <a:avLst/>
          </a:prstGeom>
          <a:ln w="19050">
            <a:solidFill>
              <a:srgbClr val="B03A2E"/>
            </a:solidFill>
            <a:prstDash val="dash"/>
            <a:tailEnd type="triangle" w="med" len="med"/>
          </a:ln>
        </p:spPr>
      </p:cxnSp>
      <p:sp>
        <p:nvSpPr>
          <p:cNvPr id="23" name="Shape 23"/>
          <p:cNvSpPr txBox="1"/>
          <p:nvPr/>
        </p:nvSpPr>
        <p:spPr>
          <a:xfrm>
            <a:off x="3337560" y="2926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ctr">
              <a:buNone/>
            </a:pPr>
            <a:r>
              <a:rPr lang="en-GB" sz="1300" b="1" i="0" dirty="0">
                <a:solidFill>
                  <a:srgbClr val="00726F"/>
                </a:solidFill>
                <a:latin typeface="Arial"/>
                <a:cs typeface="Arial"/>
              </a:rPr>
              <a:t>B   Pie menu</a:t>
            </a:r>
            <a:endParaRPr lang="en-GB" sz="1300" dirty="0"/>
          </a:p>
        </p:txBody>
      </p:sp>
      <p:sp>
        <p:nvSpPr>
          <p:cNvPr id="24" name="Shape 24"/>
          <p:cNvSpPr/>
          <p:nvPr/>
        </p:nvSpPr>
        <p:spPr>
          <a:xfrm>
            <a:off x="3337560" y="3246120"/>
            <a:ext cx="2377440" cy="2377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cxnSp>
        <p:nvCxnSpPr>
          <p:cNvPr id="25" name="Line 25"/>
          <p:cNvCxnSpPr/>
          <p:nvPr/>
        </p:nvCxnSpPr>
        <p:spPr>
          <a:xfrm>
            <a:off x="3337560" y="4434840"/>
            <a:ext cx="2377440" cy="0"/>
          </a:xfrm>
          <a:prstGeom prst="line">
            <a:avLst/>
          </a:prstGeom>
          <a:ln w="12700">
            <a:solidFill>
              <a:srgbClr val="9DB8BC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3931920" y="3405378"/>
            <a:ext cx="1188720" cy="2058923"/>
          </a:xfrm>
          <a:prstGeom prst="line">
            <a:avLst/>
          </a:prstGeom>
          <a:ln w="12700">
            <a:solidFill>
              <a:srgbClr val="9DB8BC"/>
            </a:solidFill>
          </a:ln>
        </p:spPr>
      </p:cxnSp>
      <p:cxnSp>
        <p:nvCxnSpPr>
          <p:cNvPr id="27" name="Line 27"/>
          <p:cNvCxnSpPr/>
          <p:nvPr/>
        </p:nvCxnSpPr>
        <p:spPr>
          <a:xfrm flipH="1">
            <a:off x="3931920" y="3405378"/>
            <a:ext cx="1188720" cy="2058923"/>
          </a:xfrm>
          <a:prstGeom prst="line">
            <a:avLst/>
          </a:prstGeom>
          <a:ln w="12700">
            <a:solidFill>
              <a:srgbClr val="9DB8BC"/>
            </a:solidFill>
          </a:ln>
        </p:spPr>
      </p:cxnSp>
      <p:sp>
        <p:nvSpPr>
          <p:cNvPr id="28" name="Shape 28"/>
          <p:cNvSpPr txBox="1"/>
          <p:nvPr/>
        </p:nvSpPr>
        <p:spPr>
          <a:xfrm>
            <a:off x="4958959" y="3810305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Cut</a:t>
            </a:r>
            <a:endParaRPr lang="en-GB" sz="1100" dirty="0"/>
          </a:p>
        </p:txBody>
      </p:sp>
      <p:sp>
        <p:nvSpPr>
          <p:cNvPr id="29" name="Shape 29"/>
          <p:cNvSpPr txBox="1"/>
          <p:nvPr/>
        </p:nvSpPr>
        <p:spPr>
          <a:xfrm>
            <a:off x="4958959" y="4785055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Copy</a:t>
            </a:r>
            <a:endParaRPr lang="en-GB" sz="1100" dirty="0"/>
          </a:p>
        </p:txBody>
      </p:sp>
      <p:sp>
        <p:nvSpPr>
          <p:cNvPr id="30" name="Shape 30"/>
          <p:cNvSpPr txBox="1"/>
          <p:nvPr/>
        </p:nvSpPr>
        <p:spPr>
          <a:xfrm>
            <a:off x="4114800" y="527243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Paste</a:t>
            </a:r>
            <a:endParaRPr lang="en-GB" sz="1100" dirty="0"/>
          </a:p>
        </p:txBody>
      </p:sp>
      <p:sp>
        <p:nvSpPr>
          <p:cNvPr id="31" name="Shape 31"/>
          <p:cNvSpPr txBox="1"/>
          <p:nvPr/>
        </p:nvSpPr>
        <p:spPr>
          <a:xfrm>
            <a:off x="3270641" y="4785055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Delete</a:t>
            </a:r>
            <a:endParaRPr lang="en-GB" sz="1100" dirty="0"/>
          </a:p>
        </p:txBody>
      </p:sp>
      <p:sp>
        <p:nvSpPr>
          <p:cNvPr id="32" name="Shape 32"/>
          <p:cNvSpPr txBox="1"/>
          <p:nvPr/>
        </p:nvSpPr>
        <p:spPr>
          <a:xfrm>
            <a:off x="3270641" y="3810305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Rename</a:t>
            </a:r>
            <a:endParaRPr lang="en-GB" sz="1100" dirty="0"/>
          </a:p>
        </p:txBody>
      </p:sp>
      <p:sp>
        <p:nvSpPr>
          <p:cNvPr id="33" name="Shape 33"/>
          <p:cNvSpPr txBox="1"/>
          <p:nvPr/>
        </p:nvSpPr>
        <p:spPr>
          <a:xfrm>
            <a:off x="4114800" y="332293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Share</a:t>
            </a:r>
            <a:endParaRPr lang="en-GB" sz="1100" dirty="0"/>
          </a:p>
        </p:txBody>
      </p:sp>
      <p:sp>
        <p:nvSpPr>
          <p:cNvPr id="34" name="Shape 34"/>
          <p:cNvSpPr/>
          <p:nvPr/>
        </p:nvSpPr>
        <p:spPr>
          <a:xfrm>
            <a:off x="4453128" y="4361688"/>
            <a:ext cx="146304" cy="14630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cxnSp>
        <p:nvCxnSpPr>
          <p:cNvPr id="35" name="Line 35"/>
          <p:cNvCxnSpPr/>
          <p:nvPr/>
        </p:nvCxnSpPr>
        <p:spPr>
          <a:xfrm flipV="1">
            <a:off x="4526280" y="3781044"/>
            <a:ext cx="0" cy="653796"/>
          </a:xfrm>
          <a:prstGeom prst="line">
            <a:avLst/>
          </a:prstGeom>
          <a:ln w="19050">
            <a:solidFill>
              <a:srgbClr val="B03A2E"/>
            </a:solidFill>
            <a:prstDash val="dash"/>
            <a:tailEnd type="triangle" w="med" len="med"/>
          </a:ln>
        </p:spPr>
      </p:cxnSp>
      <p:sp>
        <p:nvSpPr>
          <p:cNvPr id="36" name="Shape 36"/>
          <p:cNvSpPr/>
          <p:nvPr/>
        </p:nvSpPr>
        <p:spPr>
          <a:xfrm>
            <a:off x="6126480" y="2926080"/>
            <a:ext cx="2377440" cy="31089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109728" tIns="109728" rIns="109728" bIns="109728" anchor="t" rtlCol="0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GB" sz="1400" b="1" i="0" dirty="0">
                <a:solidFill>
                  <a:srgbClr val="4E7A12"/>
                </a:solidFill>
                <a:latin typeface="Arial"/>
                <a:cs typeface="Arial"/>
              </a:rPr>
              <a:t>B is faster</a:t>
            </a:r>
            <a:endParaRPr lang="en-GB" sz="1400" dirty="0"/>
          </a:p>
          <a:p>
            <a:pPr algn="l"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Distance D: the same short hop to every item — no item is ‘at the bottom’.</a:t>
            </a:r>
            <a:endParaRPr lang="en-GB" sz="1100" dirty="0"/>
          </a:p>
          <a:p>
            <a:pPr algn="l"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Width W: each wedge widens as you move out; overshooting still lands inside.</a:t>
            </a:r>
            <a:endParaRPr lang="en-GB" sz="1100" dirty="0"/>
          </a:p>
          <a:p>
            <a:pPr algn="l">
              <a:spcAft>
                <a:spcPts val="200"/>
              </a:spcAft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So D/W is small for all six items → lower index of difficulty.</a:t>
            </a:r>
            <a:endParaRPr lang="en-GB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Radio button or check box?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243584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2 min · a course-registration form: R or C for each field?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7955280" cy="621792"/>
          </a:xfrm>
          <a:prstGeom prst="rect">
            <a:avLst/>
          </a:prstGeom>
          <a:solidFill>
            <a:srgbClr val="F3F8F9"/>
          </a:solidFill>
          <a:ln w="6350">
            <a:solidFill>
              <a:srgbClr val="9DB8BC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14" name="Shape 14"/>
          <p:cNvSpPr txBox="1"/>
          <p:nvPr/>
        </p:nvSpPr>
        <p:spPr>
          <a:xfrm>
            <a:off x="658368" y="228600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Semester</a:t>
            </a:r>
            <a:endParaRPr lang="en-GB" sz="1300" dirty="0"/>
          </a:p>
        </p:txBody>
      </p:sp>
      <p:sp>
        <p:nvSpPr>
          <p:cNvPr id="15" name="Shape 15"/>
          <p:cNvSpPr/>
          <p:nvPr/>
        </p:nvSpPr>
        <p:spPr>
          <a:xfrm>
            <a:off x="3383280" y="250545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16" name="Shape 16"/>
          <p:cNvSpPr txBox="1"/>
          <p:nvPr/>
        </p:nvSpPr>
        <p:spPr>
          <a:xfrm>
            <a:off x="3621024" y="228600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Fall</a:t>
            </a:r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4215384" y="250545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18" name="Shape 18"/>
          <p:cNvSpPr txBox="1"/>
          <p:nvPr/>
        </p:nvSpPr>
        <p:spPr>
          <a:xfrm>
            <a:off x="4453128" y="228600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Spring</a:t>
            </a:r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5230368" y="250545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0" name="Shape 20"/>
          <p:cNvSpPr txBox="1"/>
          <p:nvPr/>
        </p:nvSpPr>
        <p:spPr>
          <a:xfrm>
            <a:off x="5468112" y="228600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Summer</a:t>
            </a:r>
            <a:endParaRPr lang="en-GB" sz="1200" dirty="0"/>
          </a:p>
        </p:txBody>
      </p:sp>
      <p:sp>
        <p:nvSpPr>
          <p:cNvPr id="21" name="Shape 21"/>
          <p:cNvSpPr/>
          <p:nvPr/>
        </p:nvSpPr>
        <p:spPr>
          <a:xfrm>
            <a:off x="7269480" y="2450592"/>
            <a:ext cx="10972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595959"/>
                </a:solidFill>
                <a:latin typeface="Arial"/>
                <a:cs typeface="Arial"/>
              </a:rPr>
              <a:t>R  /  C</a:t>
            </a:r>
            <a:endParaRPr lang="en-GB" sz="1200" dirty="0"/>
          </a:p>
        </p:txBody>
      </p:sp>
      <p:sp>
        <p:nvSpPr>
          <p:cNvPr id="22" name="Shape 22"/>
          <p:cNvSpPr/>
          <p:nvPr/>
        </p:nvSpPr>
        <p:spPr>
          <a:xfrm>
            <a:off x="548640" y="3017520"/>
            <a:ext cx="7955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9DB8BC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3" name="Shape 23"/>
          <p:cNvSpPr txBox="1"/>
          <p:nvPr/>
        </p:nvSpPr>
        <p:spPr>
          <a:xfrm>
            <a:off x="658368" y="301752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Electives to register (up to 3)</a:t>
            </a:r>
            <a:endParaRPr lang="en-GB" sz="1300" dirty="0"/>
          </a:p>
        </p:txBody>
      </p:sp>
      <p:sp>
        <p:nvSpPr>
          <p:cNvPr id="24" name="Shape 24"/>
          <p:cNvSpPr/>
          <p:nvPr/>
        </p:nvSpPr>
        <p:spPr>
          <a:xfrm>
            <a:off x="3383280" y="323697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5" name="Shape 25"/>
          <p:cNvSpPr txBox="1"/>
          <p:nvPr/>
        </p:nvSpPr>
        <p:spPr>
          <a:xfrm>
            <a:off x="3621024" y="301752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HCI</a:t>
            </a:r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4123944" y="323697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7" name="Shape 27"/>
          <p:cNvSpPr txBox="1"/>
          <p:nvPr/>
        </p:nvSpPr>
        <p:spPr>
          <a:xfrm>
            <a:off x="4361688" y="301752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NLP</a:t>
            </a:r>
            <a:endParaRPr lang="en-GB" sz="1200" dirty="0"/>
          </a:p>
        </p:txBody>
      </p:sp>
      <p:sp>
        <p:nvSpPr>
          <p:cNvPr id="28" name="Shape 28"/>
          <p:cNvSpPr/>
          <p:nvPr/>
        </p:nvSpPr>
        <p:spPr>
          <a:xfrm>
            <a:off x="4864608" y="323697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9" name="Shape 29"/>
          <p:cNvSpPr txBox="1"/>
          <p:nvPr/>
        </p:nvSpPr>
        <p:spPr>
          <a:xfrm>
            <a:off x="5102352" y="301752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Cloud</a:t>
            </a:r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5788152" y="323697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31" name="Shape 31"/>
          <p:cNvSpPr txBox="1"/>
          <p:nvPr/>
        </p:nvSpPr>
        <p:spPr>
          <a:xfrm>
            <a:off x="6025896" y="301752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Graphics</a:t>
            </a:r>
            <a:endParaRPr lang="en-GB" sz="1200" dirty="0"/>
          </a:p>
        </p:txBody>
      </p:sp>
      <p:sp>
        <p:nvSpPr>
          <p:cNvPr id="32" name="Shape 32"/>
          <p:cNvSpPr/>
          <p:nvPr/>
        </p:nvSpPr>
        <p:spPr>
          <a:xfrm>
            <a:off x="7269480" y="3182112"/>
            <a:ext cx="10972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595959"/>
                </a:solidFill>
                <a:latin typeface="Arial"/>
                <a:cs typeface="Arial"/>
              </a:rPr>
              <a:t>R  /  C</a:t>
            </a:r>
            <a:endParaRPr lang="en-GB" sz="1200" dirty="0"/>
          </a:p>
        </p:txBody>
      </p:sp>
      <p:sp>
        <p:nvSpPr>
          <p:cNvPr id="33" name="Shape 33"/>
          <p:cNvSpPr/>
          <p:nvPr/>
        </p:nvSpPr>
        <p:spPr>
          <a:xfrm>
            <a:off x="548640" y="3749040"/>
            <a:ext cx="7955280" cy="621792"/>
          </a:xfrm>
          <a:prstGeom prst="rect">
            <a:avLst/>
          </a:prstGeom>
          <a:solidFill>
            <a:srgbClr val="F3F8F9"/>
          </a:solidFill>
          <a:ln w="6350">
            <a:solidFill>
              <a:srgbClr val="9DB8BC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34" name="Shape 34"/>
          <p:cNvSpPr txBox="1"/>
          <p:nvPr/>
        </p:nvSpPr>
        <p:spPr>
          <a:xfrm>
            <a:off x="658368" y="374904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Hostel required?</a:t>
            </a:r>
            <a:endParaRPr lang="en-GB" sz="1300" dirty="0"/>
          </a:p>
        </p:txBody>
      </p:sp>
      <p:sp>
        <p:nvSpPr>
          <p:cNvPr id="35" name="Shape 35"/>
          <p:cNvSpPr/>
          <p:nvPr/>
        </p:nvSpPr>
        <p:spPr>
          <a:xfrm>
            <a:off x="3383280" y="396849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36" name="Shape 36"/>
          <p:cNvSpPr txBox="1"/>
          <p:nvPr/>
        </p:nvSpPr>
        <p:spPr>
          <a:xfrm>
            <a:off x="3621024" y="374904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Yes</a:t>
            </a:r>
            <a:endParaRPr lang="en-GB" sz="1200" dirty="0"/>
          </a:p>
        </p:txBody>
      </p:sp>
      <p:sp>
        <p:nvSpPr>
          <p:cNvPr id="37" name="Shape 37"/>
          <p:cNvSpPr/>
          <p:nvPr/>
        </p:nvSpPr>
        <p:spPr>
          <a:xfrm>
            <a:off x="4123944" y="396849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38" name="Shape 38"/>
          <p:cNvSpPr txBox="1"/>
          <p:nvPr/>
        </p:nvSpPr>
        <p:spPr>
          <a:xfrm>
            <a:off x="4361688" y="374904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No</a:t>
            </a:r>
            <a:endParaRPr lang="en-GB" sz="1200" dirty="0"/>
          </a:p>
        </p:txBody>
      </p:sp>
      <p:sp>
        <p:nvSpPr>
          <p:cNvPr id="39" name="Shape 39"/>
          <p:cNvSpPr/>
          <p:nvPr/>
        </p:nvSpPr>
        <p:spPr>
          <a:xfrm>
            <a:off x="7269480" y="3913632"/>
            <a:ext cx="10972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595959"/>
                </a:solidFill>
                <a:latin typeface="Arial"/>
                <a:cs typeface="Arial"/>
              </a:rPr>
              <a:t>R  /  C</a:t>
            </a:r>
            <a:endParaRPr lang="en-GB" sz="1200" dirty="0"/>
          </a:p>
        </p:txBody>
      </p:sp>
      <p:sp>
        <p:nvSpPr>
          <p:cNvPr id="40" name="Shape 40"/>
          <p:cNvSpPr/>
          <p:nvPr/>
        </p:nvSpPr>
        <p:spPr>
          <a:xfrm>
            <a:off x="548640" y="4480560"/>
            <a:ext cx="7955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9DB8BC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41" name="Shape 41"/>
          <p:cNvSpPr txBox="1"/>
          <p:nvPr/>
        </p:nvSpPr>
        <p:spPr>
          <a:xfrm>
            <a:off x="658368" y="448056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Send notifications by</a:t>
            </a:r>
            <a:endParaRPr lang="en-GB" sz="1300" dirty="0"/>
          </a:p>
        </p:txBody>
      </p:sp>
      <p:sp>
        <p:nvSpPr>
          <p:cNvPr id="42" name="Shape 42"/>
          <p:cNvSpPr/>
          <p:nvPr/>
        </p:nvSpPr>
        <p:spPr>
          <a:xfrm>
            <a:off x="3383280" y="47000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43" name="Shape 43"/>
          <p:cNvSpPr txBox="1"/>
          <p:nvPr/>
        </p:nvSpPr>
        <p:spPr>
          <a:xfrm>
            <a:off x="3621024" y="448056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SMS</a:t>
            </a:r>
            <a:endParaRPr lang="en-GB" sz="1200" dirty="0"/>
          </a:p>
        </p:txBody>
      </p:sp>
      <p:sp>
        <p:nvSpPr>
          <p:cNvPr id="44" name="Shape 44"/>
          <p:cNvSpPr/>
          <p:nvPr/>
        </p:nvSpPr>
        <p:spPr>
          <a:xfrm>
            <a:off x="4123944" y="47000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45" name="Shape 45"/>
          <p:cNvSpPr txBox="1"/>
          <p:nvPr/>
        </p:nvSpPr>
        <p:spPr>
          <a:xfrm>
            <a:off x="4361688" y="448056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Email</a:t>
            </a:r>
            <a:endParaRPr lang="en-GB" sz="1200" dirty="0"/>
          </a:p>
        </p:txBody>
      </p:sp>
      <p:sp>
        <p:nvSpPr>
          <p:cNvPr id="46" name="Shape 46"/>
          <p:cNvSpPr/>
          <p:nvPr/>
        </p:nvSpPr>
        <p:spPr>
          <a:xfrm>
            <a:off x="5047488" y="47000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47" name="Shape 47"/>
          <p:cNvSpPr txBox="1"/>
          <p:nvPr/>
        </p:nvSpPr>
        <p:spPr>
          <a:xfrm>
            <a:off x="5285232" y="448056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App</a:t>
            </a:r>
            <a:endParaRPr lang="en-GB" sz="1200" dirty="0"/>
          </a:p>
        </p:txBody>
      </p:sp>
      <p:sp>
        <p:nvSpPr>
          <p:cNvPr id="48" name="Shape 48"/>
          <p:cNvSpPr/>
          <p:nvPr/>
        </p:nvSpPr>
        <p:spPr>
          <a:xfrm>
            <a:off x="7269480" y="4645152"/>
            <a:ext cx="10972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595959"/>
                </a:solidFill>
                <a:latin typeface="Arial"/>
                <a:cs typeface="Arial"/>
              </a:rPr>
              <a:t>R  /  C</a:t>
            </a:r>
            <a:endParaRPr lang="en-GB" sz="1200" dirty="0"/>
          </a:p>
        </p:txBody>
      </p:sp>
      <p:sp>
        <p:nvSpPr>
          <p:cNvPr id="49" name="Shape 49"/>
          <p:cNvSpPr/>
          <p:nvPr/>
        </p:nvSpPr>
        <p:spPr>
          <a:xfrm>
            <a:off x="548640" y="5212080"/>
            <a:ext cx="7955280" cy="621792"/>
          </a:xfrm>
          <a:prstGeom prst="rect">
            <a:avLst/>
          </a:prstGeom>
          <a:solidFill>
            <a:srgbClr val="F3F8F9"/>
          </a:solidFill>
          <a:ln w="6350">
            <a:solidFill>
              <a:srgbClr val="9DB8BC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50" name="Shape 50"/>
          <p:cNvSpPr txBox="1"/>
          <p:nvPr/>
        </p:nvSpPr>
        <p:spPr>
          <a:xfrm>
            <a:off x="658368" y="521208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Fee payment method</a:t>
            </a:r>
            <a:endParaRPr lang="en-GB" sz="1300" dirty="0"/>
          </a:p>
        </p:txBody>
      </p:sp>
      <p:sp>
        <p:nvSpPr>
          <p:cNvPr id="51" name="Shape 51"/>
          <p:cNvSpPr/>
          <p:nvPr/>
        </p:nvSpPr>
        <p:spPr>
          <a:xfrm>
            <a:off x="3383280" y="543153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52" name="Shape 52"/>
          <p:cNvSpPr txBox="1"/>
          <p:nvPr/>
        </p:nvSpPr>
        <p:spPr>
          <a:xfrm>
            <a:off x="3621024" y="521208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Bank challan</a:t>
            </a:r>
            <a:endParaRPr lang="en-GB" sz="1200" dirty="0"/>
          </a:p>
        </p:txBody>
      </p:sp>
      <p:sp>
        <p:nvSpPr>
          <p:cNvPr id="53" name="Shape 53"/>
          <p:cNvSpPr/>
          <p:nvPr/>
        </p:nvSpPr>
        <p:spPr>
          <a:xfrm>
            <a:off x="4946904" y="543153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54" name="Shape 54"/>
          <p:cNvSpPr txBox="1"/>
          <p:nvPr/>
        </p:nvSpPr>
        <p:spPr>
          <a:xfrm>
            <a:off x="5184648" y="521208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Card</a:t>
            </a:r>
            <a:endParaRPr lang="en-GB" sz="1200" dirty="0"/>
          </a:p>
        </p:txBody>
      </p:sp>
      <p:sp>
        <p:nvSpPr>
          <p:cNvPr id="55" name="Shape 55"/>
          <p:cNvSpPr/>
          <p:nvPr/>
        </p:nvSpPr>
        <p:spPr>
          <a:xfrm>
            <a:off x="5779008" y="543153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56" name="Shape 56"/>
          <p:cNvSpPr txBox="1"/>
          <p:nvPr/>
        </p:nvSpPr>
        <p:spPr>
          <a:xfrm>
            <a:off x="6016752" y="521208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Wallet</a:t>
            </a:r>
            <a:endParaRPr lang="en-GB" sz="1200" dirty="0"/>
          </a:p>
        </p:txBody>
      </p:sp>
      <p:sp>
        <p:nvSpPr>
          <p:cNvPr id="57" name="Shape 57"/>
          <p:cNvSpPr/>
          <p:nvPr/>
        </p:nvSpPr>
        <p:spPr>
          <a:xfrm>
            <a:off x="7269480" y="5376672"/>
            <a:ext cx="10972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595959"/>
                </a:solidFill>
                <a:latin typeface="Arial"/>
                <a:cs typeface="Arial"/>
              </a:rPr>
              <a:t>R  /  C</a:t>
            </a:r>
            <a:endParaRPr lang="en-GB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Radio button or check box?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7325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31620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radio = pick exactly one · check box = pick any number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7955280" cy="621792"/>
          </a:xfrm>
          <a:prstGeom prst="rect">
            <a:avLst/>
          </a:prstGeom>
          <a:solidFill>
            <a:srgbClr val="F3F8F9"/>
          </a:solidFill>
          <a:ln w="6350">
            <a:solidFill>
              <a:srgbClr val="9DB8BC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14" name="Shape 14"/>
          <p:cNvSpPr txBox="1"/>
          <p:nvPr/>
        </p:nvSpPr>
        <p:spPr>
          <a:xfrm>
            <a:off x="658368" y="228600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Semester</a:t>
            </a:r>
            <a:endParaRPr lang="en-GB" sz="1300" dirty="0"/>
          </a:p>
        </p:txBody>
      </p:sp>
      <p:sp>
        <p:nvSpPr>
          <p:cNvPr id="15" name="Shape 15"/>
          <p:cNvSpPr/>
          <p:nvPr/>
        </p:nvSpPr>
        <p:spPr>
          <a:xfrm>
            <a:off x="3383280" y="2505456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399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16" name="Shape 16"/>
          <p:cNvSpPr txBox="1"/>
          <p:nvPr/>
        </p:nvSpPr>
        <p:spPr>
          <a:xfrm>
            <a:off x="3621024" y="228600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Fall</a:t>
            </a:r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4215384" y="2505456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399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18" name="Shape 18"/>
          <p:cNvSpPr txBox="1"/>
          <p:nvPr/>
        </p:nvSpPr>
        <p:spPr>
          <a:xfrm>
            <a:off x="4453128" y="228600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Spring</a:t>
            </a:r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5230368" y="2505456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399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0" name="Shape 20"/>
          <p:cNvSpPr txBox="1"/>
          <p:nvPr/>
        </p:nvSpPr>
        <p:spPr>
          <a:xfrm>
            <a:off x="5468112" y="228600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Summer</a:t>
            </a:r>
            <a:endParaRPr lang="en-GB" sz="1200" dirty="0"/>
          </a:p>
        </p:txBody>
      </p:sp>
      <p:sp>
        <p:nvSpPr>
          <p:cNvPr id="21" name="Shape 21"/>
          <p:cNvSpPr/>
          <p:nvPr/>
        </p:nvSpPr>
        <p:spPr>
          <a:xfrm>
            <a:off x="7269480" y="245059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000" b="1" i="0" dirty="0">
                <a:solidFill>
                  <a:srgbClr val="FFFFFF"/>
                </a:solidFill>
                <a:latin typeface="Arial"/>
                <a:cs typeface="Arial"/>
              </a:rPr>
              <a:t>RADIO</a:t>
            </a:r>
            <a:endParaRPr lang="en-GB" sz="1000" dirty="0"/>
          </a:p>
        </p:txBody>
      </p:sp>
      <p:sp>
        <p:nvSpPr>
          <p:cNvPr id="22" name="Shape 22"/>
          <p:cNvSpPr/>
          <p:nvPr/>
        </p:nvSpPr>
        <p:spPr>
          <a:xfrm>
            <a:off x="548640" y="3017520"/>
            <a:ext cx="7955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9DB8BC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3" name="Shape 23"/>
          <p:cNvSpPr txBox="1"/>
          <p:nvPr/>
        </p:nvSpPr>
        <p:spPr>
          <a:xfrm>
            <a:off x="658368" y="301752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Electives to register (up to 3)</a:t>
            </a:r>
            <a:endParaRPr lang="en-GB" sz="1300" dirty="0"/>
          </a:p>
        </p:txBody>
      </p:sp>
      <p:sp>
        <p:nvSpPr>
          <p:cNvPr id="24" name="Shape 24"/>
          <p:cNvSpPr/>
          <p:nvPr/>
        </p:nvSpPr>
        <p:spPr>
          <a:xfrm>
            <a:off x="3383280" y="323697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7A12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5" name="Shape 25"/>
          <p:cNvSpPr txBox="1"/>
          <p:nvPr/>
        </p:nvSpPr>
        <p:spPr>
          <a:xfrm>
            <a:off x="3621024" y="301752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HCI</a:t>
            </a:r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4123944" y="323697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7A12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7" name="Shape 27"/>
          <p:cNvSpPr txBox="1"/>
          <p:nvPr/>
        </p:nvSpPr>
        <p:spPr>
          <a:xfrm>
            <a:off x="4361688" y="301752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NLP</a:t>
            </a:r>
            <a:endParaRPr lang="en-GB" sz="1200" dirty="0"/>
          </a:p>
        </p:txBody>
      </p:sp>
      <p:sp>
        <p:nvSpPr>
          <p:cNvPr id="28" name="Shape 28"/>
          <p:cNvSpPr/>
          <p:nvPr/>
        </p:nvSpPr>
        <p:spPr>
          <a:xfrm>
            <a:off x="4864608" y="323697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7A12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9" name="Shape 29"/>
          <p:cNvSpPr txBox="1"/>
          <p:nvPr/>
        </p:nvSpPr>
        <p:spPr>
          <a:xfrm>
            <a:off x="5102352" y="301752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Cloud</a:t>
            </a:r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5788152" y="323697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7A12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31" name="Shape 31"/>
          <p:cNvSpPr txBox="1"/>
          <p:nvPr/>
        </p:nvSpPr>
        <p:spPr>
          <a:xfrm>
            <a:off x="6025896" y="301752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Graphics</a:t>
            </a:r>
            <a:endParaRPr lang="en-GB" sz="1200" dirty="0"/>
          </a:p>
        </p:txBody>
      </p:sp>
      <p:sp>
        <p:nvSpPr>
          <p:cNvPr id="32" name="Shape 32"/>
          <p:cNvSpPr/>
          <p:nvPr/>
        </p:nvSpPr>
        <p:spPr>
          <a:xfrm>
            <a:off x="7269480" y="318211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000" b="1" i="0" dirty="0">
                <a:solidFill>
                  <a:srgbClr val="FFFFFF"/>
                </a:solidFill>
                <a:latin typeface="Arial"/>
                <a:cs typeface="Arial"/>
              </a:rPr>
              <a:t>CHECK BOX</a:t>
            </a:r>
            <a:endParaRPr lang="en-GB" sz="1000" dirty="0"/>
          </a:p>
        </p:txBody>
      </p:sp>
      <p:sp>
        <p:nvSpPr>
          <p:cNvPr id="33" name="Shape 33"/>
          <p:cNvSpPr/>
          <p:nvPr/>
        </p:nvSpPr>
        <p:spPr>
          <a:xfrm>
            <a:off x="548640" y="3749040"/>
            <a:ext cx="7955280" cy="621792"/>
          </a:xfrm>
          <a:prstGeom prst="rect">
            <a:avLst/>
          </a:prstGeom>
          <a:solidFill>
            <a:srgbClr val="F3F8F9"/>
          </a:solidFill>
          <a:ln w="6350">
            <a:solidFill>
              <a:srgbClr val="9DB8BC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34" name="Shape 34"/>
          <p:cNvSpPr txBox="1"/>
          <p:nvPr/>
        </p:nvSpPr>
        <p:spPr>
          <a:xfrm>
            <a:off x="658368" y="374904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Hostel required?</a:t>
            </a:r>
            <a:endParaRPr lang="en-GB" sz="1300" dirty="0"/>
          </a:p>
        </p:txBody>
      </p:sp>
      <p:sp>
        <p:nvSpPr>
          <p:cNvPr id="35" name="Shape 35"/>
          <p:cNvSpPr/>
          <p:nvPr/>
        </p:nvSpPr>
        <p:spPr>
          <a:xfrm>
            <a:off x="3383280" y="3968496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399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36" name="Shape 36"/>
          <p:cNvSpPr txBox="1"/>
          <p:nvPr/>
        </p:nvSpPr>
        <p:spPr>
          <a:xfrm>
            <a:off x="3621024" y="374904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Yes</a:t>
            </a:r>
            <a:endParaRPr lang="en-GB" sz="1200" dirty="0"/>
          </a:p>
        </p:txBody>
      </p:sp>
      <p:sp>
        <p:nvSpPr>
          <p:cNvPr id="37" name="Shape 37"/>
          <p:cNvSpPr/>
          <p:nvPr/>
        </p:nvSpPr>
        <p:spPr>
          <a:xfrm>
            <a:off x="4123944" y="3968496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399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38" name="Shape 38"/>
          <p:cNvSpPr txBox="1"/>
          <p:nvPr/>
        </p:nvSpPr>
        <p:spPr>
          <a:xfrm>
            <a:off x="4361688" y="374904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No</a:t>
            </a:r>
            <a:endParaRPr lang="en-GB" sz="1200" dirty="0"/>
          </a:p>
        </p:txBody>
      </p:sp>
      <p:sp>
        <p:nvSpPr>
          <p:cNvPr id="39" name="Shape 39"/>
          <p:cNvSpPr/>
          <p:nvPr/>
        </p:nvSpPr>
        <p:spPr>
          <a:xfrm>
            <a:off x="7269480" y="3913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000" b="1" i="0" dirty="0">
                <a:solidFill>
                  <a:srgbClr val="FFFFFF"/>
                </a:solidFill>
                <a:latin typeface="Arial"/>
                <a:cs typeface="Arial"/>
              </a:rPr>
              <a:t>RADIO</a:t>
            </a:r>
            <a:endParaRPr lang="en-GB" sz="1000" dirty="0"/>
          </a:p>
        </p:txBody>
      </p:sp>
      <p:sp>
        <p:nvSpPr>
          <p:cNvPr id="40" name="Shape 40"/>
          <p:cNvSpPr/>
          <p:nvPr/>
        </p:nvSpPr>
        <p:spPr>
          <a:xfrm>
            <a:off x="548640" y="4480560"/>
            <a:ext cx="7955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9DB8BC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41" name="Shape 41"/>
          <p:cNvSpPr txBox="1"/>
          <p:nvPr/>
        </p:nvSpPr>
        <p:spPr>
          <a:xfrm>
            <a:off x="658368" y="448056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Send notifications by</a:t>
            </a:r>
            <a:endParaRPr lang="en-GB" sz="1300" dirty="0"/>
          </a:p>
        </p:txBody>
      </p:sp>
      <p:sp>
        <p:nvSpPr>
          <p:cNvPr id="42" name="Shape 42"/>
          <p:cNvSpPr/>
          <p:nvPr/>
        </p:nvSpPr>
        <p:spPr>
          <a:xfrm>
            <a:off x="3383280" y="470001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7A12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43" name="Shape 43"/>
          <p:cNvSpPr txBox="1"/>
          <p:nvPr/>
        </p:nvSpPr>
        <p:spPr>
          <a:xfrm>
            <a:off x="3621024" y="448056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SMS</a:t>
            </a:r>
            <a:endParaRPr lang="en-GB" sz="1200" dirty="0"/>
          </a:p>
        </p:txBody>
      </p:sp>
      <p:sp>
        <p:nvSpPr>
          <p:cNvPr id="44" name="Shape 44"/>
          <p:cNvSpPr/>
          <p:nvPr/>
        </p:nvSpPr>
        <p:spPr>
          <a:xfrm>
            <a:off x="4123944" y="470001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7A12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45" name="Shape 45"/>
          <p:cNvSpPr txBox="1"/>
          <p:nvPr/>
        </p:nvSpPr>
        <p:spPr>
          <a:xfrm>
            <a:off x="4361688" y="448056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Email</a:t>
            </a:r>
            <a:endParaRPr lang="en-GB" sz="1200" dirty="0"/>
          </a:p>
        </p:txBody>
      </p:sp>
      <p:sp>
        <p:nvSpPr>
          <p:cNvPr id="46" name="Shape 46"/>
          <p:cNvSpPr/>
          <p:nvPr/>
        </p:nvSpPr>
        <p:spPr>
          <a:xfrm>
            <a:off x="5047488" y="470001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7A12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47" name="Shape 47"/>
          <p:cNvSpPr txBox="1"/>
          <p:nvPr/>
        </p:nvSpPr>
        <p:spPr>
          <a:xfrm>
            <a:off x="5285232" y="448056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App</a:t>
            </a:r>
            <a:endParaRPr lang="en-GB" sz="1200" dirty="0"/>
          </a:p>
        </p:txBody>
      </p:sp>
      <p:sp>
        <p:nvSpPr>
          <p:cNvPr id="48" name="Shape 48"/>
          <p:cNvSpPr/>
          <p:nvPr/>
        </p:nvSpPr>
        <p:spPr>
          <a:xfrm>
            <a:off x="7269480" y="464515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000" b="1" i="0" dirty="0">
                <a:solidFill>
                  <a:srgbClr val="FFFFFF"/>
                </a:solidFill>
                <a:latin typeface="Arial"/>
                <a:cs typeface="Arial"/>
              </a:rPr>
              <a:t>CHECK BOX</a:t>
            </a:r>
            <a:endParaRPr lang="en-GB" sz="1000" dirty="0"/>
          </a:p>
        </p:txBody>
      </p:sp>
      <p:sp>
        <p:nvSpPr>
          <p:cNvPr id="49" name="Shape 49"/>
          <p:cNvSpPr/>
          <p:nvPr/>
        </p:nvSpPr>
        <p:spPr>
          <a:xfrm>
            <a:off x="548640" y="5212080"/>
            <a:ext cx="7955280" cy="621792"/>
          </a:xfrm>
          <a:prstGeom prst="rect">
            <a:avLst/>
          </a:prstGeom>
          <a:solidFill>
            <a:srgbClr val="F3F8F9"/>
          </a:solidFill>
          <a:ln w="6350">
            <a:solidFill>
              <a:srgbClr val="9DB8BC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50" name="Shape 50"/>
          <p:cNvSpPr txBox="1"/>
          <p:nvPr/>
        </p:nvSpPr>
        <p:spPr>
          <a:xfrm>
            <a:off x="658368" y="521208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Fee payment method</a:t>
            </a:r>
            <a:endParaRPr lang="en-GB" sz="1300" dirty="0"/>
          </a:p>
        </p:txBody>
      </p:sp>
      <p:sp>
        <p:nvSpPr>
          <p:cNvPr id="51" name="Shape 51"/>
          <p:cNvSpPr/>
          <p:nvPr/>
        </p:nvSpPr>
        <p:spPr>
          <a:xfrm>
            <a:off x="3383280" y="5431536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399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52" name="Shape 52"/>
          <p:cNvSpPr txBox="1"/>
          <p:nvPr/>
        </p:nvSpPr>
        <p:spPr>
          <a:xfrm>
            <a:off x="3621024" y="521208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Bank challan</a:t>
            </a:r>
            <a:endParaRPr lang="en-GB" sz="1200" dirty="0"/>
          </a:p>
        </p:txBody>
      </p:sp>
      <p:sp>
        <p:nvSpPr>
          <p:cNvPr id="53" name="Shape 53"/>
          <p:cNvSpPr/>
          <p:nvPr/>
        </p:nvSpPr>
        <p:spPr>
          <a:xfrm>
            <a:off x="4946904" y="5431536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399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54" name="Shape 54"/>
          <p:cNvSpPr txBox="1"/>
          <p:nvPr/>
        </p:nvSpPr>
        <p:spPr>
          <a:xfrm>
            <a:off x="5184648" y="521208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Card</a:t>
            </a:r>
            <a:endParaRPr lang="en-GB" sz="1200" dirty="0"/>
          </a:p>
        </p:txBody>
      </p:sp>
      <p:sp>
        <p:nvSpPr>
          <p:cNvPr id="55" name="Shape 55"/>
          <p:cNvSpPr/>
          <p:nvPr/>
        </p:nvSpPr>
        <p:spPr>
          <a:xfrm>
            <a:off x="5779008" y="5431536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399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56" name="Shape 56"/>
          <p:cNvSpPr txBox="1"/>
          <p:nvPr/>
        </p:nvSpPr>
        <p:spPr>
          <a:xfrm>
            <a:off x="6016752" y="5212080"/>
            <a:ext cx="960120" cy="621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Wallet</a:t>
            </a:r>
            <a:endParaRPr lang="en-GB" sz="1200" dirty="0"/>
          </a:p>
        </p:txBody>
      </p:sp>
      <p:sp>
        <p:nvSpPr>
          <p:cNvPr id="57" name="Shape 57"/>
          <p:cNvSpPr/>
          <p:nvPr/>
        </p:nvSpPr>
        <p:spPr>
          <a:xfrm>
            <a:off x="7269480" y="537667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000" b="1" i="0" dirty="0">
                <a:solidFill>
                  <a:srgbClr val="FFFFFF"/>
                </a:solidFill>
                <a:latin typeface="Arial"/>
                <a:cs typeface="Arial"/>
              </a:rPr>
              <a:t>RADIO</a:t>
            </a:r>
            <a:endParaRPr lang="en-GB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Fix this dialog box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449324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LIVE EXERCISE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107692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3 min · pairs · rewrite this dialog on paper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7744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14" name="Shape 14"/>
          <p:cNvSpPr/>
          <p:nvPr/>
        </p:nvSpPr>
        <p:spPr>
          <a:xfrm>
            <a:off x="548640" y="2377440"/>
            <a:ext cx="4206240" cy="365760"/>
          </a:xfrm>
          <a:prstGeom prst="rect">
            <a:avLst/>
          </a:prstGeom>
          <a:solidFill>
            <a:srgbClr val="4F4F7F"/>
          </a:solidFill>
          <a:ln>
            <a:noFill/>
          </a:ln>
        </p:spPr>
        <p:txBody>
          <a:bodyPr wrap="square" lIns="109728" tIns="109728" rIns="109728" bIns="109728" anchor="ctr" rtlCol="0">
            <a:norm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Warning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C9A000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2000" b="1" i="0" dirty="0">
                <a:solidFill>
                  <a:srgbClr val="FFFFFF"/>
                </a:solidFill>
                <a:latin typeface="Arial"/>
                <a:cs typeface="Arial"/>
              </a:rPr>
              <a:t>!</a:t>
            </a:r>
            <a:endParaRPr lang="en-GB" sz="2000" dirty="0"/>
          </a:p>
        </p:txBody>
      </p:sp>
      <p:sp>
        <p:nvSpPr>
          <p:cNvPr id="16" name="Shape 16"/>
          <p:cNvSpPr txBox="1"/>
          <p:nvPr/>
        </p:nvSpPr>
        <p:spPr>
          <a:xfrm>
            <a:off x="1417320" y="2926080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Do you not want to discard the unsaved changes to the document before exiting?</a:t>
            </a:r>
            <a:endParaRPr lang="en-GB" sz="1300" dirty="0"/>
          </a:p>
        </p:txBody>
      </p:sp>
      <p:sp>
        <p:nvSpPr>
          <p:cNvPr id="17" name="Shape 17"/>
          <p:cNvSpPr/>
          <p:nvPr/>
        </p:nvSpPr>
        <p:spPr>
          <a:xfrm>
            <a:off x="822960" y="443484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 w="9525">
            <a:solidFill>
              <a:srgbClr val="7F7F7F"/>
            </a:solidFill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Yes</a:t>
            </a:r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1783080" y="443484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 w="9525">
            <a:solidFill>
              <a:srgbClr val="7F7F7F"/>
            </a:solidFill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No</a:t>
            </a:r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2743200" y="443484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 w="9525">
            <a:solidFill>
              <a:srgbClr val="7F7F7F"/>
            </a:solidFill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Cancel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3703320" y="443484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 w="9525">
            <a:solidFill>
              <a:srgbClr val="7F7F7F"/>
            </a:solidFill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OK</a:t>
            </a:r>
            <a:endParaRPr lang="en-GB" sz="1200" dirty="0"/>
          </a:p>
        </p:txBody>
      </p:sp>
      <p:sp>
        <p:nvSpPr>
          <p:cNvPr id="21" name="Shape 21"/>
          <p:cNvSpPr/>
          <p:nvPr/>
        </p:nvSpPr>
        <p:spPr>
          <a:xfrm>
            <a:off x="5029200" y="2377440"/>
            <a:ext cx="3474720" cy="2651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109728" tIns="109728" rIns="109728" bIns="109728" anchor="t" rtlCol="0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GB" sz="1400" b="1" i="0" dirty="0">
                <a:solidFill>
                  <a:srgbClr val="2D2D8A"/>
                </a:solidFill>
                <a:latin typeface="Arial"/>
                <a:cs typeface="Arial"/>
              </a:rPr>
              <a:t>Your task</a:t>
            </a:r>
            <a:endParaRPr lang="en-GB" sz="14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1.  If you click ‘Yes’, is your work saved or lost?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2.  What is the difference between ‘OK’ and ‘Yes’?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3.  Rewrite the title, the message and the buttons.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Hint: this is a gulf of execution AND of evaluation in one small box.</a:t>
            </a:r>
            <a:endParaRPr lang="en-GB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Fix this dialog box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7325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31620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one good redesign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7744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14" name="Shape 14"/>
          <p:cNvSpPr/>
          <p:nvPr/>
        </p:nvSpPr>
        <p:spPr>
          <a:xfrm>
            <a:off x="548640" y="2377440"/>
            <a:ext cx="4206240" cy="365760"/>
          </a:xfrm>
          <a:prstGeom prst="rect">
            <a:avLst/>
          </a:prstGeom>
          <a:solidFill>
            <a:srgbClr val="4F4F7F"/>
          </a:solidFill>
          <a:ln>
            <a:noFill/>
          </a:ln>
        </p:spPr>
        <p:txBody>
          <a:bodyPr wrap="square" lIns="109728" tIns="109728" rIns="109728" bIns="109728" anchor="ctr" rtlCol="0">
            <a:norm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Save changes to Assignment3.docx?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2000" b="1" i="0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lang="en-GB" sz="2000" dirty="0"/>
          </a:p>
        </p:txBody>
      </p:sp>
      <p:sp>
        <p:nvSpPr>
          <p:cNvPr id="16" name="Shape 16"/>
          <p:cNvSpPr txBox="1"/>
          <p:nvPr/>
        </p:nvSpPr>
        <p:spPr>
          <a:xfrm>
            <a:off x="1417320" y="2926080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Your changes will be lost if you don’t save them.</a:t>
            </a:r>
            <a:endParaRPr lang="en-GB" sz="1300" dirty="0"/>
          </a:p>
        </p:txBody>
      </p:sp>
      <p:sp>
        <p:nvSpPr>
          <p:cNvPr id="17" name="Shape 17"/>
          <p:cNvSpPr/>
          <p:nvPr/>
        </p:nvSpPr>
        <p:spPr>
          <a:xfrm>
            <a:off x="960120" y="443484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333399"/>
          </a:solidFill>
          <a:ln w="9525">
            <a:solidFill>
              <a:srgbClr val="7F7F7F"/>
            </a:solidFill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Save</a:t>
            </a:r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2194560" y="443484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 w="9525">
            <a:solidFill>
              <a:srgbClr val="7F7F7F"/>
            </a:solidFill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Don’t save</a:t>
            </a:r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3429000" y="443484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 w="9525">
            <a:solidFill>
              <a:srgbClr val="7F7F7F"/>
            </a:solidFill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Cancel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5029200" y="2377440"/>
            <a:ext cx="3474720" cy="26517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109728" tIns="109728" rIns="109728" bIns="109728" anchor="t" rtlCol="0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GB" sz="1400" b="1" i="0" dirty="0">
                <a:solidFill>
                  <a:srgbClr val="4E7A12"/>
                </a:solidFill>
                <a:latin typeface="Arial"/>
                <a:cs typeface="Arial"/>
              </a:rPr>
              <a:t>What changed</a:t>
            </a:r>
            <a:endParaRPr lang="en-GB" sz="14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Title names the object and the question.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No double negatives.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Says the consequence in plain words.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Buttons are verbs — you can answer without reading the text.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Default (bold) is the safe action; Cancel always escapes.</a:t>
            </a:r>
            <a:endParaRPr lang="en-GB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Be the booking system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449324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LIVE EXERCISE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107692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5 min · pairs · role-play, then swap roles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3840480" cy="237744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109728" tIns="109728" rIns="109728" bIns="109728" anchor="t" rtlCol="0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GB" sz="1400" b="1" i="0" dirty="0">
                <a:solidFill>
                  <a:srgbClr val="B03A2E"/>
                </a:solidFill>
                <a:latin typeface="Arial"/>
                <a:cs typeface="Arial"/>
              </a:rPr>
              <a:t>Student A — the booking system</a:t>
            </a:r>
            <a:endParaRPr lang="en-GB" sz="14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You are a speech-driven train-booking line.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You may only speak short sentences.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Mishear ONE thing on purpose (e.g. Karachi → Quetta).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Confirm every item before you book.</a:t>
            </a:r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4663440" y="2286000"/>
            <a:ext cx="3840480" cy="237744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109728" tIns="109728" rIns="109728" bIns="109728" anchor="t" rtlCol="0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GB" sz="1400" b="1" i="0" dirty="0">
                <a:solidFill>
                  <a:srgbClr val="333399"/>
                </a:solidFill>
                <a:latin typeface="Arial"/>
                <a:cs typeface="Arial"/>
              </a:rPr>
              <a:t>Student B — the caller</a:t>
            </a:r>
            <a:endParaRPr lang="en-GB" sz="14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Your goal: 2 seats, Lahore → Karachi, Friday evening.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After your first sentence you may answer only ‘yes’ or ‘no’.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Notice when and how you catch the error.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548640" y="4892040"/>
            <a:ext cx="7955280" cy="1234440"/>
          </a:xfrm>
          <a:prstGeom prst="roundRect">
            <a:avLst>
              <a:gd name="adj" fmla="val 8000"/>
            </a:avLst>
          </a:prstGeom>
          <a:solidFill>
            <a:srgbClr val="DAEDEF"/>
          </a:solidFill>
          <a:ln>
            <a:noFill/>
          </a:ln>
        </p:spPr>
        <p:txBody>
          <a:bodyPr wrap="square" lIns="137160" tIns="137160" rIns="137160" bIns="137160" anchor="ctr" rtlCol="0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GB" sz="1400" b="1" i="0" dirty="0">
                <a:solidFill>
                  <a:srgbClr val="2D2D8A"/>
                </a:solidFill>
                <a:latin typeface="Arial"/>
                <a:cs typeface="Arial"/>
              </a:rPr>
              <a:t>Debrief</a:t>
            </a:r>
            <a:endParaRPr lang="en-GB" sz="1400" dirty="0"/>
          </a:p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How many turns did the booking take?  ·  When was the misheard city caught?  ·  Would ‘confirm one at a time’ annoy an expert caller?</a:t>
            </a:r>
            <a:endParaRPr lang="en-GB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Why won’t they use it?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THINK-PAIR-SHARE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395728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3 min · pairs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7955280" cy="822960"/>
          </a:xfrm>
          <a:prstGeom prst="roundRect">
            <a:avLst>
              <a:gd name="adj" fmla="val 1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ctr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8A5A00"/>
                </a:solidFill>
                <a:latin typeface="Arial"/>
                <a:cs typeface="Arial"/>
              </a:rPr>
              <a:t xml:space="preserve">Case: </a:t>
            </a: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the university launches an online leave-application portal. A month later most staff still hand in paper forms. Why?</a:t>
            </a:r>
            <a:endParaRPr lang="en-GB" sz="1400" dirty="0"/>
          </a:p>
        </p:txBody>
      </p:sp>
      <p:sp>
        <p:nvSpPr>
          <p:cNvPr id="14" name="Shape 14"/>
          <p:cNvSpPr/>
          <p:nvPr/>
        </p:nvSpPr>
        <p:spPr>
          <a:xfrm>
            <a:off x="548640" y="3337560"/>
            <a:ext cx="2514600" cy="685800"/>
          </a:xfrm>
          <a:prstGeom prst="roundRect">
            <a:avLst>
              <a:gd name="adj" fmla="val 10000"/>
            </a:avLst>
          </a:prstGeom>
          <a:solidFill>
            <a:srgbClr val="333399"/>
          </a:solidFill>
          <a:ln>
            <a:noFill/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ctr">
              <a:buNone/>
            </a:pPr>
            <a:r>
              <a:rPr lang="en-GB" sz="1400" b="1" i="0" dirty="0">
                <a:solidFill>
                  <a:srgbClr val="FFFFFF"/>
                </a:solidFill>
                <a:latin typeface="Arial"/>
                <a:cs typeface="Arial"/>
              </a:rPr>
              <a:t>Other people</a:t>
            </a:r>
            <a:endParaRPr lang="en-GB" sz="1400" dirty="0"/>
          </a:p>
          <a:p>
            <a:pPr algn="ctr">
              <a:buNone/>
            </a:pPr>
            <a:r>
              <a:rPr lang="en-GB" sz="1000" b="0" i="1" dirty="0">
                <a:solidFill>
                  <a:srgbClr val="FFFFFF"/>
                </a:solidFill>
                <a:latin typeface="Arial"/>
                <a:cs typeface="Arial"/>
              </a:rPr>
              <a:t>desire to impress, competition, fear of failure</a:t>
            </a:r>
            <a:endParaRPr lang="en-GB" sz="1000" dirty="0"/>
          </a:p>
        </p:txBody>
      </p:sp>
      <p:sp>
        <p:nvSpPr>
          <p:cNvPr id="15" name="Shape 15"/>
          <p:cNvSpPr/>
          <p:nvPr/>
        </p:nvSpPr>
        <p:spPr>
          <a:xfrm>
            <a:off x="548640" y="4114800"/>
            <a:ext cx="2514600" cy="20116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109728" tIns="109728" rIns="109728" bIns="109728" anchor="t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A6A6A6"/>
                </a:solidFill>
                <a:latin typeface="Arial"/>
                <a:cs typeface="Arial"/>
              </a:rPr>
              <a:t>your reasons…</a:t>
            </a:r>
            <a:endParaRPr lang="en-GB" sz="1200" dirty="0"/>
          </a:p>
        </p:txBody>
      </p:sp>
      <p:sp>
        <p:nvSpPr>
          <p:cNvPr id="16" name="Shape 16"/>
          <p:cNvSpPr/>
          <p:nvPr/>
        </p:nvSpPr>
        <p:spPr>
          <a:xfrm>
            <a:off x="3246120" y="3337560"/>
            <a:ext cx="2514600" cy="685800"/>
          </a:xfrm>
          <a:prstGeom prst="roundRect">
            <a:avLst>
              <a:gd name="adj" fmla="val 10000"/>
            </a:avLst>
          </a:prstGeom>
          <a:solidFill>
            <a:srgbClr val="333399"/>
          </a:solidFill>
          <a:ln>
            <a:noFill/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ctr">
              <a:buNone/>
            </a:pPr>
            <a:r>
              <a:rPr lang="en-GB" sz="1400" b="1" i="0" dirty="0">
                <a:solidFill>
                  <a:srgbClr val="FFFFFF"/>
                </a:solidFill>
                <a:latin typeface="Arial"/>
                <a:cs typeface="Arial"/>
              </a:rPr>
              <a:t>Motivation</a:t>
            </a:r>
            <a:endParaRPr lang="en-GB" sz="1400" dirty="0"/>
          </a:p>
          <a:p>
            <a:pPr algn="ctr">
              <a:buNone/>
            </a:pPr>
            <a:r>
              <a:rPr lang="en-GB" sz="1000" b="0" i="1" dirty="0">
                <a:solidFill>
                  <a:srgbClr val="FFFFFF"/>
                </a:solidFill>
                <a:latin typeface="Arial"/>
                <a:cs typeface="Arial"/>
              </a:rPr>
              <a:t>fear, allegiance, ambition, self-satisfaction</a:t>
            </a:r>
            <a:endParaRPr lang="en-GB" sz="1000" dirty="0"/>
          </a:p>
        </p:txBody>
      </p:sp>
      <p:sp>
        <p:nvSpPr>
          <p:cNvPr id="17" name="Shape 17"/>
          <p:cNvSpPr/>
          <p:nvPr/>
        </p:nvSpPr>
        <p:spPr>
          <a:xfrm>
            <a:off x="3246120" y="4114800"/>
            <a:ext cx="2514600" cy="20116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109728" tIns="109728" rIns="109728" bIns="109728" anchor="t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A6A6A6"/>
                </a:solidFill>
                <a:latin typeface="Arial"/>
                <a:cs typeface="Arial"/>
              </a:rPr>
              <a:t>your reasons…</a:t>
            </a:r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5943600" y="3337560"/>
            <a:ext cx="2514600" cy="685800"/>
          </a:xfrm>
          <a:prstGeom prst="roundRect">
            <a:avLst>
              <a:gd name="adj" fmla="val 10000"/>
            </a:avLst>
          </a:prstGeom>
          <a:solidFill>
            <a:srgbClr val="333399"/>
          </a:solidFill>
          <a:ln>
            <a:noFill/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ctr">
              <a:buNone/>
            </a:pPr>
            <a:r>
              <a:rPr lang="en-GB" sz="1400" b="1" i="0" dirty="0">
                <a:solidFill>
                  <a:srgbClr val="FFFFFF"/>
                </a:solidFill>
                <a:latin typeface="Arial"/>
                <a:cs typeface="Arial"/>
              </a:rPr>
              <a:t>Inadequate system</a:t>
            </a:r>
            <a:endParaRPr lang="en-GB" sz="1400" dirty="0"/>
          </a:p>
          <a:p>
            <a:pPr algn="ctr">
              <a:buNone/>
            </a:pPr>
            <a:r>
              <a:rPr lang="en-GB" sz="1000" b="0" i="1" dirty="0">
                <a:solidFill>
                  <a:srgbClr val="FFFFFF"/>
                </a:solidFill>
                <a:latin typeface="Arial"/>
                <a:cs typeface="Arial"/>
              </a:rPr>
              <a:t>frustration, lack of motivation</a:t>
            </a:r>
            <a:endParaRPr lang="en-GB" sz="1000" dirty="0"/>
          </a:p>
        </p:txBody>
      </p:sp>
      <p:sp>
        <p:nvSpPr>
          <p:cNvPr id="19" name="Shape 19"/>
          <p:cNvSpPr/>
          <p:nvPr/>
        </p:nvSpPr>
        <p:spPr>
          <a:xfrm>
            <a:off x="5943600" y="4114800"/>
            <a:ext cx="2514600" cy="20116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109728" tIns="109728" rIns="109728" bIns="109728" anchor="t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A6A6A6"/>
                </a:solidFill>
                <a:latin typeface="Arial"/>
                <a:cs typeface="Arial"/>
              </a:rPr>
              <a:t>your reasons…</a:t>
            </a:r>
            <a:endParaRPr lang="en-GB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Where is your flow?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00726F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POLL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243584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1 min · hands up · where are you on this chart?</a:t>
            </a:r>
            <a:endParaRPr lang="en-GB" sz="1200" dirty="0"/>
          </a:p>
        </p:txBody>
      </p:sp>
      <p:cxnSp>
        <p:nvCxnSpPr>
          <p:cNvPr id="13" name="Line 13"/>
          <p:cNvCxnSpPr/>
          <p:nvPr/>
        </p:nvCxnSpPr>
        <p:spPr>
          <a:xfrm>
            <a:off x="1097280" y="5852160"/>
            <a:ext cx="338328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</p:cxnSp>
      <p:cxnSp>
        <p:nvCxnSpPr>
          <p:cNvPr id="14" name="Line 14"/>
          <p:cNvCxnSpPr/>
          <p:nvPr/>
        </p:nvCxnSpPr>
        <p:spPr>
          <a:xfrm flipV="1">
            <a:off x="1097280" y="2468880"/>
            <a:ext cx="0" cy="338328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</p:cxnSp>
      <p:sp>
        <p:nvSpPr>
          <p:cNvPr id="15" name="Shape 15"/>
          <p:cNvSpPr txBox="1"/>
          <p:nvPr/>
        </p:nvSpPr>
        <p:spPr>
          <a:xfrm>
            <a:off x="1097280" y="58978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>your skill →</a:t>
            </a:r>
            <a:endParaRPr lang="en-GB" sz="1100" dirty="0"/>
          </a:p>
        </p:txBody>
      </p:sp>
      <p:sp>
        <p:nvSpPr>
          <p:cNvPr id="16" name="Shape 16"/>
          <p:cNvSpPr txBox="1"/>
          <p:nvPr/>
        </p:nvSpPr>
        <p:spPr>
          <a:xfrm>
            <a:off x="822960" y="212140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>↑ challenge</a:t>
            </a:r>
            <a:endParaRPr lang="en-GB" sz="1100" dirty="0"/>
          </a:p>
        </p:txBody>
      </p:sp>
      <p:cxnSp>
        <p:nvCxnSpPr>
          <p:cNvPr id="17" name="Line 17"/>
          <p:cNvCxnSpPr/>
          <p:nvPr/>
        </p:nvCxnSpPr>
        <p:spPr>
          <a:xfrm flipV="1">
            <a:off x="1188720" y="2560320"/>
            <a:ext cx="2468880" cy="2468880"/>
          </a:xfrm>
          <a:prstGeom prst="line">
            <a:avLst/>
          </a:prstGeom>
          <a:ln w="31750">
            <a:solidFill>
              <a:srgbClr val="4E7A12"/>
            </a:solidFill>
          </a:ln>
        </p:spPr>
      </p:cxnSp>
      <p:cxnSp>
        <p:nvCxnSpPr>
          <p:cNvPr id="18" name="Line 18"/>
          <p:cNvCxnSpPr/>
          <p:nvPr/>
        </p:nvCxnSpPr>
        <p:spPr>
          <a:xfrm flipV="1">
            <a:off x="1920240" y="3291840"/>
            <a:ext cx="2468880" cy="2468880"/>
          </a:xfrm>
          <a:prstGeom prst="line">
            <a:avLst/>
          </a:prstGeom>
          <a:ln w="31750">
            <a:solidFill>
              <a:srgbClr val="4E7A12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2286000" y="38404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600" b="1" i="0" dirty="0">
                <a:solidFill>
                  <a:srgbClr val="4E7A12"/>
                </a:solidFill>
                <a:latin typeface="Arial"/>
                <a:cs typeface="Arial"/>
              </a:rPr>
              <a:t>FLOW</a:t>
            </a:r>
            <a:endParaRPr lang="en-GB" sz="1600" dirty="0"/>
          </a:p>
        </p:txBody>
      </p:sp>
      <p:sp>
        <p:nvSpPr>
          <p:cNvPr id="20" name="Shape 20"/>
          <p:cNvSpPr txBox="1"/>
          <p:nvPr/>
        </p:nvSpPr>
        <p:spPr>
          <a:xfrm>
            <a:off x="1188720" y="25603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B03A2E"/>
                </a:solidFill>
                <a:latin typeface="Arial"/>
                <a:cs typeface="Arial"/>
              </a:rPr>
              <a:t>ANXIETY</a:t>
            </a:r>
            <a:endParaRPr lang="en-GB" sz="1400" dirty="0"/>
          </a:p>
        </p:txBody>
      </p:sp>
      <p:sp>
        <p:nvSpPr>
          <p:cNvPr id="21" name="Shape 21"/>
          <p:cNvSpPr txBox="1"/>
          <p:nvPr/>
        </p:nvSpPr>
        <p:spPr>
          <a:xfrm>
            <a:off x="2926080" y="53492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r">
              <a:buNone/>
            </a:pPr>
            <a:r>
              <a:rPr lang="en-GB" sz="1400" b="1" i="0" dirty="0">
                <a:solidFill>
                  <a:srgbClr val="00726F"/>
                </a:solidFill>
                <a:latin typeface="Arial"/>
                <a:cs typeface="Arial"/>
              </a:rPr>
              <a:t>BOREDOM</a:t>
            </a:r>
            <a:endParaRPr lang="en-GB" sz="1400" dirty="0"/>
          </a:p>
        </p:txBody>
      </p:sp>
      <p:sp>
        <p:nvSpPr>
          <p:cNvPr id="22" name="Shape 22"/>
          <p:cNvSpPr/>
          <p:nvPr/>
        </p:nvSpPr>
        <p:spPr>
          <a:xfrm>
            <a:off x="5120640" y="2286000"/>
            <a:ext cx="3383280" cy="374904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109728" tIns="109728" rIns="109728" bIns="109728" anchor="t" rtlCol="0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GB" sz="1400" b="1" i="0" dirty="0">
                <a:solidFill>
                  <a:srgbClr val="2D2D8A"/>
                </a:solidFill>
                <a:latin typeface="Arial"/>
                <a:cs typeface="Arial"/>
              </a:rPr>
              <a:t>Vote with your hand</a:t>
            </a:r>
            <a:endParaRPr lang="en-GB" sz="14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1.  Name an app or game where you lost track of time. What kept you in the channel?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2.  Your first week learning a new programming language: anxiety, flow or boredom?</a:t>
            </a:r>
            <a:endParaRPr lang="en-GB" sz="1200" dirty="0"/>
          </a:p>
          <a:p>
            <a:pPr algn="l">
              <a:spcAft>
                <a:spcPts val="200"/>
              </a:spcAft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3.  The university portal: which region is it in — and should it try to give you ‘flow’?</a:t>
            </a:r>
            <a:endParaRPr lang="en-GB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Design a digital Eidi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257300" cy="31089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CASE PUZZLE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915668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5 min · groups of 3 · like the crackers table, for Eid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40280"/>
            <a:ext cx="1417320" cy="347472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endParaRPr lang="en-GB" sz="1100" dirty="0"/>
          </a:p>
        </p:txBody>
      </p:sp>
      <p:sp>
        <p:nvSpPr>
          <p:cNvPr id="14" name="Shape 14"/>
          <p:cNvSpPr/>
          <p:nvPr/>
        </p:nvSpPr>
        <p:spPr>
          <a:xfrm>
            <a:off x="1965960" y="2240280"/>
            <a:ext cx="3108960" cy="347472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Real Eidi (cash)</a:t>
            </a:r>
            <a:endParaRPr lang="en-GB" sz="1100" dirty="0"/>
          </a:p>
        </p:txBody>
      </p:sp>
      <p:sp>
        <p:nvSpPr>
          <p:cNvPr id="15" name="Shape 15"/>
          <p:cNvSpPr/>
          <p:nvPr/>
        </p:nvSpPr>
        <p:spPr>
          <a:xfrm>
            <a:off x="5074920" y="2240280"/>
            <a:ext cx="3429000" cy="347472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Digital Eidi — your design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548640" y="2587752"/>
            <a:ext cx="1417320" cy="374904"/>
          </a:xfrm>
          <a:prstGeom prst="rect">
            <a:avLst/>
          </a:prstGeom>
          <a:solidFill>
            <a:srgbClr val="DAEDE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design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1965960" y="2587752"/>
            <a:ext cx="310896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Crisp new notes in a decorated envelope</a:t>
            </a:r>
            <a:endParaRPr lang="en-GB" sz="1000" dirty="0"/>
          </a:p>
        </p:txBody>
      </p:sp>
      <p:sp>
        <p:nvSpPr>
          <p:cNvPr id="18" name="Shape 18"/>
          <p:cNvSpPr/>
          <p:nvPr/>
        </p:nvSpPr>
        <p:spPr>
          <a:xfrm>
            <a:off x="5074920" y="2587752"/>
            <a:ext cx="342900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000" dirty="0"/>
          </a:p>
        </p:txBody>
      </p:sp>
      <p:sp>
        <p:nvSpPr>
          <p:cNvPr id="19" name="Shape 19"/>
          <p:cNvSpPr/>
          <p:nvPr/>
        </p:nvSpPr>
        <p:spPr>
          <a:xfrm>
            <a:off x="548640" y="2962656"/>
            <a:ext cx="1417320" cy="374904"/>
          </a:xfrm>
          <a:prstGeom prst="rect">
            <a:avLst/>
          </a:prstGeom>
          <a:solidFill>
            <a:srgbClr val="DAEDE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play</a:t>
            </a:r>
            <a:endParaRPr lang="en-GB" sz="1100" dirty="0"/>
          </a:p>
        </p:txBody>
      </p:sp>
      <p:sp>
        <p:nvSpPr>
          <p:cNvPr id="20" name="Shape 20"/>
          <p:cNvSpPr/>
          <p:nvPr/>
        </p:nvSpPr>
        <p:spPr>
          <a:xfrm>
            <a:off x="1965960" y="2962656"/>
            <a:ext cx="31089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Guessing and counting the notes</a:t>
            </a:r>
            <a:endParaRPr lang="en-GB" sz="1000" dirty="0"/>
          </a:p>
        </p:txBody>
      </p:sp>
      <p:sp>
        <p:nvSpPr>
          <p:cNvPr id="21" name="Shape 21"/>
          <p:cNvSpPr/>
          <p:nvPr/>
        </p:nvSpPr>
        <p:spPr>
          <a:xfrm>
            <a:off x="5074920" y="2962656"/>
            <a:ext cx="34290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000" dirty="0"/>
          </a:p>
        </p:txBody>
      </p:sp>
      <p:sp>
        <p:nvSpPr>
          <p:cNvPr id="22" name="Shape 22"/>
          <p:cNvSpPr/>
          <p:nvPr/>
        </p:nvSpPr>
        <p:spPr>
          <a:xfrm>
            <a:off x="548640" y="3337560"/>
            <a:ext cx="1417320" cy="374904"/>
          </a:xfrm>
          <a:prstGeom prst="rect">
            <a:avLst/>
          </a:prstGeom>
          <a:solidFill>
            <a:srgbClr val="DAEDE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dressing up</a:t>
            </a:r>
            <a:endParaRPr lang="en-GB" sz="1100" dirty="0"/>
          </a:p>
        </p:txBody>
      </p:sp>
      <p:sp>
        <p:nvSpPr>
          <p:cNvPr id="23" name="Shape 23"/>
          <p:cNvSpPr/>
          <p:nvPr/>
        </p:nvSpPr>
        <p:spPr>
          <a:xfrm>
            <a:off x="1965960" y="3337560"/>
            <a:ext cx="310896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New clothes, Eid greetings</a:t>
            </a:r>
            <a:endParaRPr lang="en-GB" sz="1000" dirty="0"/>
          </a:p>
        </p:txBody>
      </p:sp>
      <p:sp>
        <p:nvSpPr>
          <p:cNvPr id="24" name="Shape 24"/>
          <p:cNvSpPr/>
          <p:nvPr/>
        </p:nvSpPr>
        <p:spPr>
          <a:xfrm>
            <a:off x="5074920" y="3337560"/>
            <a:ext cx="342900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000" dirty="0"/>
          </a:p>
        </p:txBody>
      </p:sp>
      <p:sp>
        <p:nvSpPr>
          <p:cNvPr id="25" name="Shape 25"/>
          <p:cNvSpPr/>
          <p:nvPr/>
        </p:nvSpPr>
        <p:spPr>
          <a:xfrm>
            <a:off x="548640" y="3712464"/>
            <a:ext cx="1417320" cy="374904"/>
          </a:xfrm>
          <a:prstGeom prst="rect">
            <a:avLst/>
          </a:prstGeom>
          <a:solidFill>
            <a:srgbClr val="E6EFD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shared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1965960" y="3712464"/>
            <a:ext cx="31089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Handed over in person by an elder</a:t>
            </a:r>
            <a:endParaRPr lang="en-GB" sz="1000" dirty="0"/>
          </a:p>
        </p:txBody>
      </p:sp>
      <p:sp>
        <p:nvSpPr>
          <p:cNvPr id="27" name="Shape 27"/>
          <p:cNvSpPr/>
          <p:nvPr/>
        </p:nvSpPr>
        <p:spPr>
          <a:xfrm>
            <a:off x="5074920" y="3712464"/>
            <a:ext cx="34290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000" dirty="0"/>
          </a:p>
        </p:txBody>
      </p:sp>
      <p:sp>
        <p:nvSpPr>
          <p:cNvPr id="28" name="Shape 28"/>
          <p:cNvSpPr/>
          <p:nvPr/>
        </p:nvSpPr>
        <p:spPr>
          <a:xfrm>
            <a:off x="548640" y="4087368"/>
            <a:ext cx="1417320" cy="374904"/>
          </a:xfrm>
          <a:prstGeom prst="rect">
            <a:avLst/>
          </a:prstGeom>
          <a:solidFill>
            <a:srgbClr val="E6EFD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co-experience</a:t>
            </a:r>
            <a:endParaRPr lang="en-GB" sz="1100" dirty="0"/>
          </a:p>
        </p:txBody>
      </p:sp>
      <p:sp>
        <p:nvSpPr>
          <p:cNvPr id="29" name="Shape 29"/>
          <p:cNvSpPr/>
          <p:nvPr/>
        </p:nvSpPr>
        <p:spPr>
          <a:xfrm>
            <a:off x="1965960" y="4087368"/>
            <a:ext cx="310896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Whole family present, cousins compare</a:t>
            </a:r>
            <a:endParaRPr lang="en-GB" sz="1000" dirty="0"/>
          </a:p>
        </p:txBody>
      </p:sp>
      <p:sp>
        <p:nvSpPr>
          <p:cNvPr id="30" name="Shape 30"/>
          <p:cNvSpPr/>
          <p:nvPr/>
        </p:nvSpPr>
        <p:spPr>
          <a:xfrm>
            <a:off x="5074920" y="4087368"/>
            <a:ext cx="342900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000" dirty="0"/>
          </a:p>
        </p:txBody>
      </p:sp>
      <p:sp>
        <p:nvSpPr>
          <p:cNvPr id="31" name="Shape 31"/>
          <p:cNvSpPr/>
          <p:nvPr/>
        </p:nvSpPr>
        <p:spPr>
          <a:xfrm>
            <a:off x="548640" y="4462272"/>
            <a:ext cx="1417320" cy="374904"/>
          </a:xfrm>
          <a:prstGeom prst="rect">
            <a:avLst/>
          </a:prstGeom>
          <a:solidFill>
            <a:srgbClr val="E6EFD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excitement</a:t>
            </a:r>
            <a:endParaRPr lang="en-GB" sz="1100" dirty="0"/>
          </a:p>
        </p:txBody>
      </p:sp>
      <p:sp>
        <p:nvSpPr>
          <p:cNvPr id="32" name="Shape 32"/>
          <p:cNvSpPr/>
          <p:nvPr/>
        </p:nvSpPr>
        <p:spPr>
          <a:xfrm>
            <a:off x="1965960" y="4462272"/>
            <a:ext cx="31089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The build-up of Eid morning</a:t>
            </a:r>
            <a:endParaRPr lang="en-GB" sz="1000" dirty="0"/>
          </a:p>
        </p:txBody>
      </p:sp>
      <p:sp>
        <p:nvSpPr>
          <p:cNvPr id="33" name="Shape 33"/>
          <p:cNvSpPr/>
          <p:nvPr/>
        </p:nvSpPr>
        <p:spPr>
          <a:xfrm>
            <a:off x="5074920" y="4462272"/>
            <a:ext cx="34290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000" dirty="0"/>
          </a:p>
        </p:txBody>
      </p:sp>
      <p:sp>
        <p:nvSpPr>
          <p:cNvPr id="34" name="Shape 34"/>
          <p:cNvSpPr/>
          <p:nvPr/>
        </p:nvSpPr>
        <p:spPr>
          <a:xfrm>
            <a:off x="548640" y="4837176"/>
            <a:ext cx="1417320" cy="374904"/>
          </a:xfrm>
          <a:prstGeom prst="rect">
            <a:avLst/>
          </a:prstGeom>
          <a:solidFill>
            <a:srgbClr val="E6EFD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hiddenness</a:t>
            </a:r>
            <a:endParaRPr lang="en-GB" sz="1100" dirty="0"/>
          </a:p>
        </p:txBody>
      </p:sp>
      <p:sp>
        <p:nvSpPr>
          <p:cNvPr id="35" name="Shape 35"/>
          <p:cNvSpPr/>
          <p:nvPr/>
        </p:nvSpPr>
        <p:spPr>
          <a:xfrm>
            <a:off x="1965960" y="4837176"/>
            <a:ext cx="310896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The envelope is sealed</a:t>
            </a:r>
            <a:endParaRPr lang="en-GB" sz="1000" dirty="0"/>
          </a:p>
        </p:txBody>
      </p:sp>
      <p:sp>
        <p:nvSpPr>
          <p:cNvPr id="36" name="Shape 36"/>
          <p:cNvSpPr/>
          <p:nvPr/>
        </p:nvSpPr>
        <p:spPr>
          <a:xfrm>
            <a:off x="5074920" y="4837176"/>
            <a:ext cx="342900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000" dirty="0"/>
          </a:p>
        </p:txBody>
      </p:sp>
      <p:sp>
        <p:nvSpPr>
          <p:cNvPr id="37" name="Shape 37"/>
          <p:cNvSpPr/>
          <p:nvPr/>
        </p:nvSpPr>
        <p:spPr>
          <a:xfrm>
            <a:off x="548640" y="5212080"/>
            <a:ext cx="1417320" cy="374904"/>
          </a:xfrm>
          <a:prstGeom prst="rect">
            <a:avLst/>
          </a:prstGeom>
          <a:solidFill>
            <a:srgbClr val="E6EFD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suspense</a:t>
            </a:r>
            <a:endParaRPr lang="en-GB" sz="1100" dirty="0"/>
          </a:p>
        </p:txBody>
      </p:sp>
      <p:sp>
        <p:nvSpPr>
          <p:cNvPr id="38" name="Shape 38"/>
          <p:cNvSpPr/>
          <p:nvPr/>
        </p:nvSpPr>
        <p:spPr>
          <a:xfrm>
            <a:off x="1965960" y="5212080"/>
            <a:ext cx="31089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Opening the envelope slowly</a:t>
            </a:r>
            <a:endParaRPr lang="en-GB" sz="1000" dirty="0"/>
          </a:p>
        </p:txBody>
      </p:sp>
      <p:sp>
        <p:nvSpPr>
          <p:cNvPr id="39" name="Shape 39"/>
          <p:cNvSpPr/>
          <p:nvPr/>
        </p:nvSpPr>
        <p:spPr>
          <a:xfrm>
            <a:off x="5074920" y="5212080"/>
            <a:ext cx="34290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000" dirty="0"/>
          </a:p>
        </p:txBody>
      </p:sp>
      <p:sp>
        <p:nvSpPr>
          <p:cNvPr id="40" name="Shape 40"/>
          <p:cNvSpPr/>
          <p:nvPr/>
        </p:nvSpPr>
        <p:spPr>
          <a:xfrm>
            <a:off x="548640" y="5586984"/>
            <a:ext cx="1417320" cy="374904"/>
          </a:xfrm>
          <a:prstGeom prst="rect">
            <a:avLst/>
          </a:prstGeom>
          <a:solidFill>
            <a:srgbClr val="E6EFD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surprise</a:t>
            </a:r>
            <a:endParaRPr lang="en-GB" sz="1100" dirty="0"/>
          </a:p>
        </p:txBody>
      </p:sp>
      <p:sp>
        <p:nvSpPr>
          <p:cNvPr id="41" name="Shape 41"/>
          <p:cNvSpPr/>
          <p:nvPr/>
        </p:nvSpPr>
        <p:spPr>
          <a:xfrm>
            <a:off x="1965960" y="5586984"/>
            <a:ext cx="310896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The amount — and the new notes</a:t>
            </a:r>
            <a:endParaRPr lang="en-GB" sz="1000" dirty="0"/>
          </a:p>
        </p:txBody>
      </p:sp>
      <p:sp>
        <p:nvSpPr>
          <p:cNvPr id="42" name="Shape 42"/>
          <p:cNvSpPr/>
          <p:nvPr/>
        </p:nvSpPr>
        <p:spPr>
          <a:xfrm>
            <a:off x="5074920" y="5586984"/>
            <a:ext cx="342900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000" dirty="0"/>
          </a:p>
        </p:txBody>
      </p:sp>
      <p:sp>
        <p:nvSpPr>
          <p:cNvPr id="43" name="Shape 43"/>
          <p:cNvSpPr txBox="1"/>
          <p:nvPr/>
        </p:nvSpPr>
        <p:spPr>
          <a:xfrm>
            <a:off x="548640" y="603504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333399"/>
                </a:solidFill>
                <a:latin typeface="Arial"/>
                <a:cs typeface="Arial"/>
              </a:rPr>
              <a:t>Blue rows</a:t>
            </a: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 xml:space="preserve"> = surface elements  ·  </a:t>
            </a:r>
            <a:r>
              <a:rPr lang="en-GB" sz="1100" b="1" i="0" dirty="0">
                <a:solidFill>
                  <a:srgbClr val="4E7A12"/>
                </a:solidFill>
                <a:latin typeface="Arial"/>
                <a:cs typeface="Arial"/>
              </a:rPr>
              <a:t>green rows</a:t>
            </a: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 xml:space="preserve"> = experienced effects (from the crackers slide)</a:t>
            </a:r>
            <a:endParaRPr lang="en-GB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Design a digital Eidi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7325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31620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one group’s design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40280"/>
            <a:ext cx="1417320" cy="347472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endParaRPr lang="en-GB" sz="1100" dirty="0"/>
          </a:p>
        </p:txBody>
      </p:sp>
      <p:sp>
        <p:nvSpPr>
          <p:cNvPr id="14" name="Shape 14"/>
          <p:cNvSpPr/>
          <p:nvPr/>
        </p:nvSpPr>
        <p:spPr>
          <a:xfrm>
            <a:off x="1965960" y="2240280"/>
            <a:ext cx="3108960" cy="347472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Real Eidi (cash)</a:t>
            </a:r>
            <a:endParaRPr lang="en-GB" sz="1100" dirty="0"/>
          </a:p>
        </p:txBody>
      </p:sp>
      <p:sp>
        <p:nvSpPr>
          <p:cNvPr id="15" name="Shape 15"/>
          <p:cNvSpPr/>
          <p:nvPr/>
        </p:nvSpPr>
        <p:spPr>
          <a:xfrm>
            <a:off x="5074920" y="2240280"/>
            <a:ext cx="3429000" cy="347472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Digital Eidi — your design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548640" y="2587752"/>
            <a:ext cx="1417320" cy="374904"/>
          </a:xfrm>
          <a:prstGeom prst="rect">
            <a:avLst/>
          </a:prstGeom>
          <a:solidFill>
            <a:srgbClr val="DAEDE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design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1965960" y="2587752"/>
            <a:ext cx="310896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Crisp new notes in a decorated envelope</a:t>
            </a:r>
            <a:endParaRPr lang="en-GB" sz="1000" dirty="0"/>
          </a:p>
        </p:txBody>
      </p:sp>
      <p:sp>
        <p:nvSpPr>
          <p:cNvPr id="18" name="Shape 18"/>
          <p:cNvSpPr/>
          <p:nvPr/>
        </p:nvSpPr>
        <p:spPr>
          <a:xfrm>
            <a:off x="5074920" y="2587752"/>
            <a:ext cx="342900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1" i="0" dirty="0">
                <a:solidFill>
                  <a:srgbClr val="4E7A12"/>
                </a:solidFill>
                <a:latin typeface="Arial"/>
                <a:cs typeface="Arial"/>
              </a:rPr>
              <a:t>Animated envelope card with an Eid theme</a:t>
            </a:r>
            <a:endParaRPr lang="en-GB" sz="1000" dirty="0"/>
          </a:p>
        </p:txBody>
      </p:sp>
      <p:sp>
        <p:nvSpPr>
          <p:cNvPr id="19" name="Shape 19"/>
          <p:cNvSpPr/>
          <p:nvPr/>
        </p:nvSpPr>
        <p:spPr>
          <a:xfrm>
            <a:off x="548640" y="2962656"/>
            <a:ext cx="1417320" cy="374904"/>
          </a:xfrm>
          <a:prstGeom prst="rect">
            <a:avLst/>
          </a:prstGeom>
          <a:solidFill>
            <a:srgbClr val="DAEDE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play</a:t>
            </a:r>
            <a:endParaRPr lang="en-GB" sz="1100" dirty="0"/>
          </a:p>
        </p:txBody>
      </p:sp>
      <p:sp>
        <p:nvSpPr>
          <p:cNvPr id="20" name="Shape 20"/>
          <p:cNvSpPr/>
          <p:nvPr/>
        </p:nvSpPr>
        <p:spPr>
          <a:xfrm>
            <a:off x="1965960" y="2962656"/>
            <a:ext cx="31089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Guessing and counting the notes</a:t>
            </a:r>
            <a:endParaRPr lang="en-GB" sz="1000" dirty="0"/>
          </a:p>
        </p:txBody>
      </p:sp>
      <p:sp>
        <p:nvSpPr>
          <p:cNvPr id="21" name="Shape 21"/>
          <p:cNvSpPr/>
          <p:nvPr/>
        </p:nvSpPr>
        <p:spPr>
          <a:xfrm>
            <a:off x="5074920" y="2962656"/>
            <a:ext cx="34290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1" i="0" dirty="0">
                <a:solidFill>
                  <a:srgbClr val="4E7A12"/>
                </a:solidFill>
                <a:latin typeface="Arial"/>
                <a:cs typeface="Arial"/>
              </a:rPr>
              <a:t>Tap-to-open or scratch-card reveal</a:t>
            </a:r>
            <a:endParaRPr lang="en-GB" sz="1000" dirty="0"/>
          </a:p>
        </p:txBody>
      </p:sp>
      <p:sp>
        <p:nvSpPr>
          <p:cNvPr id="22" name="Shape 22"/>
          <p:cNvSpPr/>
          <p:nvPr/>
        </p:nvSpPr>
        <p:spPr>
          <a:xfrm>
            <a:off x="548640" y="3337560"/>
            <a:ext cx="1417320" cy="374904"/>
          </a:xfrm>
          <a:prstGeom prst="rect">
            <a:avLst/>
          </a:prstGeom>
          <a:solidFill>
            <a:srgbClr val="DAEDE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dressing up</a:t>
            </a:r>
            <a:endParaRPr lang="en-GB" sz="1100" dirty="0"/>
          </a:p>
        </p:txBody>
      </p:sp>
      <p:sp>
        <p:nvSpPr>
          <p:cNvPr id="23" name="Shape 23"/>
          <p:cNvSpPr/>
          <p:nvPr/>
        </p:nvSpPr>
        <p:spPr>
          <a:xfrm>
            <a:off x="1965960" y="3337560"/>
            <a:ext cx="310896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New clothes, Eid greetings</a:t>
            </a:r>
            <a:endParaRPr lang="en-GB" sz="1000" dirty="0"/>
          </a:p>
        </p:txBody>
      </p:sp>
      <p:sp>
        <p:nvSpPr>
          <p:cNvPr id="24" name="Shape 24"/>
          <p:cNvSpPr/>
          <p:nvPr/>
        </p:nvSpPr>
        <p:spPr>
          <a:xfrm>
            <a:off x="5074920" y="3337560"/>
            <a:ext cx="342900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1" i="0" dirty="0">
                <a:solidFill>
                  <a:srgbClr val="4E7A12"/>
                </a:solidFill>
                <a:latin typeface="Arial"/>
                <a:cs typeface="Arial"/>
              </a:rPr>
              <a:t>Personal message or voice note from the sender</a:t>
            </a:r>
            <a:endParaRPr lang="en-GB" sz="1000" dirty="0"/>
          </a:p>
        </p:txBody>
      </p:sp>
      <p:sp>
        <p:nvSpPr>
          <p:cNvPr id="25" name="Shape 25"/>
          <p:cNvSpPr/>
          <p:nvPr/>
        </p:nvSpPr>
        <p:spPr>
          <a:xfrm>
            <a:off x="548640" y="3712464"/>
            <a:ext cx="1417320" cy="374904"/>
          </a:xfrm>
          <a:prstGeom prst="rect">
            <a:avLst/>
          </a:prstGeom>
          <a:solidFill>
            <a:srgbClr val="E6EFD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shared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1965960" y="3712464"/>
            <a:ext cx="31089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Handed over in person by an elder</a:t>
            </a:r>
            <a:endParaRPr lang="en-GB" sz="1000" dirty="0"/>
          </a:p>
        </p:txBody>
      </p:sp>
      <p:sp>
        <p:nvSpPr>
          <p:cNvPr id="27" name="Shape 27"/>
          <p:cNvSpPr/>
          <p:nvPr/>
        </p:nvSpPr>
        <p:spPr>
          <a:xfrm>
            <a:off x="5074920" y="3712464"/>
            <a:ext cx="34290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1" i="0" dirty="0">
                <a:solidFill>
                  <a:srgbClr val="4E7A12"/>
                </a:solidFill>
                <a:latin typeface="Arial"/>
                <a:cs typeface="Arial"/>
              </a:rPr>
              <a:t>Sent to the recipient with a notification</a:t>
            </a:r>
            <a:endParaRPr lang="en-GB" sz="1000" dirty="0"/>
          </a:p>
        </p:txBody>
      </p:sp>
      <p:sp>
        <p:nvSpPr>
          <p:cNvPr id="28" name="Shape 28"/>
          <p:cNvSpPr/>
          <p:nvPr/>
        </p:nvSpPr>
        <p:spPr>
          <a:xfrm>
            <a:off x="548640" y="4087368"/>
            <a:ext cx="1417320" cy="374904"/>
          </a:xfrm>
          <a:prstGeom prst="rect">
            <a:avLst/>
          </a:prstGeom>
          <a:solidFill>
            <a:srgbClr val="E6EFD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co-experience</a:t>
            </a:r>
            <a:endParaRPr lang="en-GB" sz="1100" dirty="0"/>
          </a:p>
        </p:txBody>
      </p:sp>
      <p:sp>
        <p:nvSpPr>
          <p:cNvPr id="29" name="Shape 29"/>
          <p:cNvSpPr/>
          <p:nvPr/>
        </p:nvSpPr>
        <p:spPr>
          <a:xfrm>
            <a:off x="1965960" y="4087368"/>
            <a:ext cx="310896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Whole family present, cousins compare</a:t>
            </a:r>
            <a:endParaRPr lang="en-GB" sz="1000" dirty="0"/>
          </a:p>
        </p:txBody>
      </p:sp>
      <p:sp>
        <p:nvSpPr>
          <p:cNvPr id="30" name="Shape 30"/>
          <p:cNvSpPr/>
          <p:nvPr/>
        </p:nvSpPr>
        <p:spPr>
          <a:xfrm>
            <a:off x="5074920" y="4087368"/>
            <a:ext cx="342900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1" i="0" dirty="0">
                <a:solidFill>
                  <a:srgbClr val="4E7A12"/>
                </a:solidFill>
                <a:latin typeface="Arial"/>
                <a:cs typeface="Arial"/>
              </a:rPr>
              <a:t>Family-group reveal; thank-you sticker back</a:t>
            </a:r>
            <a:endParaRPr lang="en-GB" sz="1000" dirty="0"/>
          </a:p>
        </p:txBody>
      </p:sp>
      <p:sp>
        <p:nvSpPr>
          <p:cNvPr id="31" name="Shape 31"/>
          <p:cNvSpPr/>
          <p:nvPr/>
        </p:nvSpPr>
        <p:spPr>
          <a:xfrm>
            <a:off x="548640" y="4462272"/>
            <a:ext cx="1417320" cy="374904"/>
          </a:xfrm>
          <a:prstGeom prst="rect">
            <a:avLst/>
          </a:prstGeom>
          <a:solidFill>
            <a:srgbClr val="E6EFD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excitement</a:t>
            </a:r>
            <a:endParaRPr lang="en-GB" sz="1100" dirty="0"/>
          </a:p>
        </p:txBody>
      </p:sp>
      <p:sp>
        <p:nvSpPr>
          <p:cNvPr id="32" name="Shape 32"/>
          <p:cNvSpPr/>
          <p:nvPr/>
        </p:nvSpPr>
        <p:spPr>
          <a:xfrm>
            <a:off x="1965960" y="4462272"/>
            <a:ext cx="31089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The build-up of Eid morning</a:t>
            </a:r>
            <a:endParaRPr lang="en-GB" sz="1000" dirty="0"/>
          </a:p>
        </p:txBody>
      </p:sp>
      <p:sp>
        <p:nvSpPr>
          <p:cNvPr id="33" name="Shape 33"/>
          <p:cNvSpPr/>
          <p:nvPr/>
        </p:nvSpPr>
        <p:spPr>
          <a:xfrm>
            <a:off x="5074920" y="4462272"/>
            <a:ext cx="34290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1" i="0" dirty="0">
                <a:solidFill>
                  <a:srgbClr val="4E7A12"/>
                </a:solidFill>
                <a:latin typeface="Arial"/>
                <a:cs typeface="Arial"/>
              </a:rPr>
              <a:t>“You’ve received Eidi from Phuppo!”</a:t>
            </a:r>
            <a:endParaRPr lang="en-GB" sz="1000" dirty="0"/>
          </a:p>
        </p:txBody>
      </p:sp>
      <p:sp>
        <p:nvSpPr>
          <p:cNvPr id="34" name="Shape 34"/>
          <p:cNvSpPr/>
          <p:nvPr/>
        </p:nvSpPr>
        <p:spPr>
          <a:xfrm>
            <a:off x="548640" y="4837176"/>
            <a:ext cx="1417320" cy="374904"/>
          </a:xfrm>
          <a:prstGeom prst="rect">
            <a:avLst/>
          </a:prstGeom>
          <a:solidFill>
            <a:srgbClr val="E6EFD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hiddenness</a:t>
            </a:r>
            <a:endParaRPr lang="en-GB" sz="1100" dirty="0"/>
          </a:p>
        </p:txBody>
      </p:sp>
      <p:sp>
        <p:nvSpPr>
          <p:cNvPr id="35" name="Shape 35"/>
          <p:cNvSpPr/>
          <p:nvPr/>
        </p:nvSpPr>
        <p:spPr>
          <a:xfrm>
            <a:off x="1965960" y="4837176"/>
            <a:ext cx="310896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The envelope is sealed</a:t>
            </a:r>
            <a:endParaRPr lang="en-GB" sz="1000" dirty="0"/>
          </a:p>
        </p:txBody>
      </p:sp>
      <p:sp>
        <p:nvSpPr>
          <p:cNvPr id="36" name="Shape 36"/>
          <p:cNvSpPr/>
          <p:nvPr/>
        </p:nvSpPr>
        <p:spPr>
          <a:xfrm>
            <a:off x="5074920" y="4837176"/>
            <a:ext cx="342900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1" i="0" dirty="0">
                <a:solidFill>
                  <a:srgbClr val="4E7A12"/>
                </a:solidFill>
                <a:latin typeface="Arial"/>
                <a:cs typeface="Arial"/>
              </a:rPr>
              <a:t>Amount hidden until opened</a:t>
            </a:r>
            <a:endParaRPr lang="en-GB" sz="1000" dirty="0"/>
          </a:p>
        </p:txBody>
      </p:sp>
      <p:sp>
        <p:nvSpPr>
          <p:cNvPr id="37" name="Shape 37"/>
          <p:cNvSpPr/>
          <p:nvPr/>
        </p:nvSpPr>
        <p:spPr>
          <a:xfrm>
            <a:off x="548640" y="5212080"/>
            <a:ext cx="1417320" cy="374904"/>
          </a:xfrm>
          <a:prstGeom prst="rect">
            <a:avLst/>
          </a:prstGeom>
          <a:solidFill>
            <a:srgbClr val="E6EFD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suspense</a:t>
            </a:r>
            <a:endParaRPr lang="en-GB" sz="1100" dirty="0"/>
          </a:p>
        </p:txBody>
      </p:sp>
      <p:sp>
        <p:nvSpPr>
          <p:cNvPr id="38" name="Shape 38"/>
          <p:cNvSpPr/>
          <p:nvPr/>
        </p:nvSpPr>
        <p:spPr>
          <a:xfrm>
            <a:off x="1965960" y="5212080"/>
            <a:ext cx="310896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Opening the envelope slowly</a:t>
            </a:r>
            <a:endParaRPr lang="en-GB" sz="1000" dirty="0"/>
          </a:p>
        </p:txBody>
      </p:sp>
      <p:sp>
        <p:nvSpPr>
          <p:cNvPr id="39" name="Shape 39"/>
          <p:cNvSpPr/>
          <p:nvPr/>
        </p:nvSpPr>
        <p:spPr>
          <a:xfrm>
            <a:off x="5074920" y="5212080"/>
            <a:ext cx="34290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1" i="0" dirty="0">
                <a:solidFill>
                  <a:srgbClr val="4E7A12"/>
                </a:solidFill>
                <a:latin typeface="Arial"/>
                <a:cs typeface="Arial"/>
              </a:rPr>
              <a:t>Slow opening animation</a:t>
            </a:r>
            <a:endParaRPr lang="en-GB" sz="1000" dirty="0"/>
          </a:p>
        </p:txBody>
      </p:sp>
      <p:sp>
        <p:nvSpPr>
          <p:cNvPr id="40" name="Shape 40"/>
          <p:cNvSpPr/>
          <p:nvPr/>
        </p:nvSpPr>
        <p:spPr>
          <a:xfrm>
            <a:off x="548640" y="5586984"/>
            <a:ext cx="1417320" cy="374904"/>
          </a:xfrm>
          <a:prstGeom prst="rect">
            <a:avLst/>
          </a:prstGeom>
          <a:solidFill>
            <a:srgbClr val="E6EFD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surprise</a:t>
            </a:r>
            <a:endParaRPr lang="en-GB" sz="1100" dirty="0"/>
          </a:p>
        </p:txBody>
      </p:sp>
      <p:sp>
        <p:nvSpPr>
          <p:cNvPr id="41" name="Shape 41"/>
          <p:cNvSpPr/>
          <p:nvPr/>
        </p:nvSpPr>
        <p:spPr>
          <a:xfrm>
            <a:off x="1965960" y="5586984"/>
            <a:ext cx="310896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The amount — and the new notes</a:t>
            </a:r>
            <a:endParaRPr lang="en-GB" sz="1000" dirty="0"/>
          </a:p>
        </p:txBody>
      </p:sp>
      <p:sp>
        <p:nvSpPr>
          <p:cNvPr id="42" name="Shape 42"/>
          <p:cNvSpPr/>
          <p:nvPr/>
        </p:nvSpPr>
        <p:spPr>
          <a:xfrm>
            <a:off x="5074920" y="5586984"/>
            <a:ext cx="3429000" cy="374904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000" b="1" i="0" dirty="0">
                <a:solidFill>
                  <a:srgbClr val="4E7A12"/>
                </a:solidFill>
                <a:latin typeface="Arial"/>
                <a:cs typeface="Arial"/>
              </a:rPr>
              <a:t>Amount and message revealed together</a:t>
            </a:r>
            <a:endParaRPr lang="en-GB" sz="1000" dirty="0"/>
          </a:p>
        </p:txBody>
      </p:sp>
      <p:sp>
        <p:nvSpPr>
          <p:cNvPr id="43" name="Shape 43"/>
          <p:cNvSpPr txBox="1"/>
          <p:nvPr/>
        </p:nvSpPr>
        <p:spPr>
          <a:xfrm>
            <a:off x="548640" y="603504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333399"/>
                </a:solidFill>
                <a:latin typeface="Arial"/>
                <a:cs typeface="Arial"/>
              </a:rPr>
              <a:t>Blue rows</a:t>
            </a: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 xml:space="preserve"> = surface elements  ·  </a:t>
            </a:r>
            <a:r>
              <a:rPr lang="en-GB" sz="1100" b="1" i="0" dirty="0">
                <a:solidFill>
                  <a:srgbClr val="4E7A12"/>
                </a:solidFill>
                <a:latin typeface="Arial"/>
                <a:cs typeface="Arial"/>
              </a:rPr>
              <a:t>green rows</a:t>
            </a: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 xml:space="preserve"> = experienced effects (from the crackers slide)</a:t>
            </a:r>
            <a:endParaRPr lang="en-GB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Name the constraint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243584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2 min · name the constraint behind each design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22576"/>
            <a:ext cx="365760" cy="36576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1005840" y="2286000"/>
            <a:ext cx="4937760" cy="457200"/>
          </a:xfrm>
          <a:prstGeom prst="rect">
            <a:avLst/>
          </a:prstGeom>
          <a:noFill/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 hospital keyboard must survive disinfectant wipes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6080760" y="2359152"/>
            <a:ext cx="237744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16" name="Shape 16"/>
          <p:cNvSpPr/>
          <p:nvPr/>
        </p:nvSpPr>
        <p:spPr>
          <a:xfrm>
            <a:off x="548640" y="2889504"/>
            <a:ext cx="365760" cy="36576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1005840" y="2852928"/>
            <a:ext cx="4937760" cy="457200"/>
          </a:xfrm>
          <a:prstGeom prst="rect">
            <a:avLst/>
          </a:prstGeom>
          <a:noFill/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 phone’s power button must be at least fingertip-sized</a:t>
            </a:r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6080760" y="2926080"/>
            <a:ext cx="237744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19" name="Shape 19"/>
          <p:cNvSpPr/>
          <p:nvPr/>
        </p:nvSpPr>
        <p:spPr>
          <a:xfrm>
            <a:off x="548640" y="3456432"/>
            <a:ext cx="365760" cy="36576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1005840" y="3419856"/>
            <a:ext cx="4937760" cy="457200"/>
          </a:xfrm>
          <a:prstGeom prst="rect">
            <a:avLst/>
          </a:prstGeom>
          <a:noFill/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Stove knobs are placed where toddlers can’t reach them</a:t>
            </a:r>
            <a:endParaRPr lang="en-GB" sz="1200" dirty="0"/>
          </a:p>
        </p:txBody>
      </p:sp>
      <p:sp>
        <p:nvSpPr>
          <p:cNvPr id="21" name="Shape 21"/>
          <p:cNvSpPr/>
          <p:nvPr/>
        </p:nvSpPr>
        <p:spPr>
          <a:xfrm>
            <a:off x="6080760" y="3493008"/>
            <a:ext cx="237744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2" name="Shape 22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200" dirty="0"/>
          </a:p>
        </p:txBody>
      </p:sp>
      <p:sp>
        <p:nvSpPr>
          <p:cNvPr id="23" name="Shape 23"/>
          <p:cNvSpPr/>
          <p:nvPr/>
        </p:nvSpPr>
        <p:spPr>
          <a:xfrm>
            <a:off x="1005840" y="3986784"/>
            <a:ext cx="4937760" cy="457200"/>
          </a:xfrm>
          <a:prstGeom prst="rect">
            <a:avLst/>
          </a:prstGeom>
          <a:noFill/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 cheap TV remote uses rubber keys, not metal</a:t>
            </a:r>
            <a:endParaRPr lang="en-GB" sz="1200" dirty="0"/>
          </a:p>
        </p:txBody>
      </p:sp>
      <p:sp>
        <p:nvSpPr>
          <p:cNvPr id="24" name="Shape 24"/>
          <p:cNvSpPr/>
          <p:nvPr/>
        </p:nvSpPr>
        <p:spPr>
          <a:xfrm>
            <a:off x="6080760" y="4059936"/>
            <a:ext cx="237744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5" name="Shape 25"/>
          <p:cNvSpPr/>
          <p:nvPr/>
        </p:nvSpPr>
        <p:spPr>
          <a:xfrm>
            <a:off x="548640" y="4590288"/>
            <a:ext cx="365760" cy="36576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1005840" y="4553712"/>
            <a:ext cx="4937760" cy="457200"/>
          </a:xfrm>
          <a:prstGeom prst="rect">
            <a:avLst/>
          </a:prstGeom>
          <a:noFill/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The switch on a tube-well motor must be large to carry the current</a:t>
            </a:r>
            <a:endParaRPr lang="en-GB" sz="1200" dirty="0"/>
          </a:p>
        </p:txBody>
      </p:sp>
      <p:sp>
        <p:nvSpPr>
          <p:cNvPr id="27" name="Shape 27"/>
          <p:cNvSpPr/>
          <p:nvPr/>
        </p:nvSpPr>
        <p:spPr>
          <a:xfrm>
            <a:off x="6080760" y="4626864"/>
            <a:ext cx="237744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8" name="Shape 28"/>
          <p:cNvSpPr/>
          <p:nvPr/>
        </p:nvSpPr>
        <p:spPr>
          <a:xfrm>
            <a:off x="548640" y="5157216"/>
            <a:ext cx="365760" cy="36576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GB" sz="1200" dirty="0"/>
          </a:p>
        </p:txBody>
      </p:sp>
      <p:sp>
        <p:nvSpPr>
          <p:cNvPr id="29" name="Shape 29"/>
          <p:cNvSpPr/>
          <p:nvPr/>
        </p:nvSpPr>
        <p:spPr>
          <a:xfrm>
            <a:off x="1005840" y="5120640"/>
            <a:ext cx="4937760" cy="457200"/>
          </a:xfrm>
          <a:prstGeom prst="rect">
            <a:avLst/>
          </a:prstGeom>
          <a:noFill/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 smartwatch must look like jewellery</a:t>
            </a:r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6080760" y="5193792"/>
            <a:ext cx="237744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31" name="Shape 31"/>
          <p:cNvSpPr txBox="1"/>
          <p:nvPr/>
        </p:nvSpPr>
        <p:spPr>
          <a:xfrm>
            <a:off x="548640" y="576072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Choose from:  Ergonomic  ·  Physical  ·  Legal &amp; safety  ·  Context &amp; environment  ·  Aesthetic  ·  Economic</a:t>
            </a:r>
            <a:endParaRPr lang="en-GB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Name the constraint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7325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/>
          <p:nvPr/>
        </p:nvSpPr>
        <p:spPr>
          <a:xfrm>
            <a:off x="548640" y="2322576"/>
            <a:ext cx="365760" cy="36576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1005840" y="2286000"/>
            <a:ext cx="4937760" cy="457200"/>
          </a:xfrm>
          <a:prstGeom prst="rect">
            <a:avLst/>
          </a:prstGeom>
          <a:noFill/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 hospital keyboard must survive disinfectant wipes</a:t>
            </a:r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080760" y="2359152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Context &amp; environment</a:t>
            </a:r>
            <a:endParaRPr lang="en-GB" sz="1100" dirty="0"/>
          </a:p>
        </p:txBody>
      </p:sp>
      <p:sp>
        <p:nvSpPr>
          <p:cNvPr id="15" name="Shape 15"/>
          <p:cNvSpPr/>
          <p:nvPr/>
        </p:nvSpPr>
        <p:spPr>
          <a:xfrm>
            <a:off x="548640" y="2889504"/>
            <a:ext cx="365760" cy="36576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200" dirty="0"/>
          </a:p>
        </p:txBody>
      </p:sp>
      <p:sp>
        <p:nvSpPr>
          <p:cNvPr id="16" name="Shape 16"/>
          <p:cNvSpPr/>
          <p:nvPr/>
        </p:nvSpPr>
        <p:spPr>
          <a:xfrm>
            <a:off x="1005840" y="2852928"/>
            <a:ext cx="4937760" cy="457200"/>
          </a:xfrm>
          <a:prstGeom prst="rect">
            <a:avLst/>
          </a:prstGeom>
          <a:noFill/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 phone’s power button must be at least fingertip-sized</a:t>
            </a:r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6080760" y="29260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Ergonomic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548640" y="3456432"/>
            <a:ext cx="365760" cy="36576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1005840" y="3419856"/>
            <a:ext cx="4937760" cy="457200"/>
          </a:xfrm>
          <a:prstGeom prst="rect">
            <a:avLst/>
          </a:prstGeom>
          <a:noFill/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Stove knobs are placed where toddlers can’t reach them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6080760" y="349300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Legal &amp; safety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200" dirty="0"/>
          </a:p>
        </p:txBody>
      </p:sp>
      <p:sp>
        <p:nvSpPr>
          <p:cNvPr id="22" name="Shape 22"/>
          <p:cNvSpPr/>
          <p:nvPr/>
        </p:nvSpPr>
        <p:spPr>
          <a:xfrm>
            <a:off x="1005840" y="3986784"/>
            <a:ext cx="4937760" cy="457200"/>
          </a:xfrm>
          <a:prstGeom prst="rect">
            <a:avLst/>
          </a:prstGeom>
          <a:noFill/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 cheap TV remote uses rubber keys, not metal</a:t>
            </a:r>
            <a:endParaRPr lang="en-GB" sz="1200" dirty="0"/>
          </a:p>
        </p:txBody>
      </p:sp>
      <p:sp>
        <p:nvSpPr>
          <p:cNvPr id="23" name="Shape 23"/>
          <p:cNvSpPr/>
          <p:nvPr/>
        </p:nvSpPr>
        <p:spPr>
          <a:xfrm>
            <a:off x="6080760" y="405993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Economic</a:t>
            </a:r>
            <a:endParaRPr lang="en-GB" sz="1100" dirty="0"/>
          </a:p>
        </p:txBody>
      </p:sp>
      <p:sp>
        <p:nvSpPr>
          <p:cNvPr id="24" name="Shape 24"/>
          <p:cNvSpPr/>
          <p:nvPr/>
        </p:nvSpPr>
        <p:spPr>
          <a:xfrm>
            <a:off x="548640" y="4590288"/>
            <a:ext cx="365760" cy="36576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200" dirty="0"/>
          </a:p>
        </p:txBody>
      </p:sp>
      <p:sp>
        <p:nvSpPr>
          <p:cNvPr id="25" name="Shape 25"/>
          <p:cNvSpPr/>
          <p:nvPr/>
        </p:nvSpPr>
        <p:spPr>
          <a:xfrm>
            <a:off x="1005840" y="4553712"/>
            <a:ext cx="4937760" cy="457200"/>
          </a:xfrm>
          <a:prstGeom prst="rect">
            <a:avLst/>
          </a:prstGeom>
          <a:noFill/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The switch on a tube-well motor must be large to carry the current</a:t>
            </a:r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6080760" y="46268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Physical</a:t>
            </a:r>
            <a:endParaRPr lang="en-GB" sz="1100" dirty="0"/>
          </a:p>
        </p:txBody>
      </p:sp>
      <p:sp>
        <p:nvSpPr>
          <p:cNvPr id="27" name="Shape 27"/>
          <p:cNvSpPr/>
          <p:nvPr/>
        </p:nvSpPr>
        <p:spPr>
          <a:xfrm>
            <a:off x="548640" y="5157216"/>
            <a:ext cx="365760" cy="365760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GB" sz="1200" dirty="0"/>
          </a:p>
        </p:txBody>
      </p:sp>
      <p:sp>
        <p:nvSpPr>
          <p:cNvPr id="28" name="Shape 28"/>
          <p:cNvSpPr/>
          <p:nvPr/>
        </p:nvSpPr>
        <p:spPr>
          <a:xfrm>
            <a:off x="1005840" y="5120640"/>
            <a:ext cx="4937760" cy="457200"/>
          </a:xfrm>
          <a:prstGeom prst="rect">
            <a:avLst/>
          </a:prstGeom>
          <a:noFill/>
          <a:ln w="9525">
            <a:solidFill>
              <a:srgbClr val="9DB8BC"/>
            </a:solidFill>
          </a:ln>
        </p:spPr>
        <p:txBody>
          <a:bodyPr wrap="square" lIns="91440" tIns="91440" rIns="91440" bIns="91440" anchor="ctr" rtlCol="0">
            <a:norm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 smartwatch must look like jewellery</a:t>
            </a:r>
            <a:endParaRPr lang="en-GB" sz="1200" dirty="0"/>
          </a:p>
        </p:txBody>
      </p:sp>
      <p:sp>
        <p:nvSpPr>
          <p:cNvPr id="29" name="Shape 29"/>
          <p:cNvSpPr/>
          <p:nvPr/>
        </p:nvSpPr>
        <p:spPr>
          <a:xfrm>
            <a:off x="6080760" y="5193792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Aesthetic</a:t>
            </a:r>
            <a:endParaRPr lang="en-GB" sz="1100" dirty="0"/>
          </a:p>
        </p:txBody>
      </p:sp>
      <p:sp>
        <p:nvSpPr>
          <p:cNvPr id="30" name="Shape 30"/>
          <p:cNvSpPr txBox="1"/>
          <p:nvPr/>
        </p:nvSpPr>
        <p:spPr>
          <a:xfrm>
            <a:off x="548640" y="576072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Real products face several at once — which is where the trade-offs come from.</a:t>
            </a:r>
            <a:endParaRPr lang="en-GB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Physical design hunt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449324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LIVE EXERCISE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107692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3 min · use a device you have with you right now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1554480" cy="685800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Device</a:t>
            </a:r>
            <a:endParaRPr lang="en-GB" sz="1100" dirty="0"/>
          </a:p>
        </p:txBody>
      </p:sp>
      <p:sp>
        <p:nvSpPr>
          <p:cNvPr id="14" name="Shape 14"/>
          <p:cNvSpPr/>
          <p:nvPr/>
        </p:nvSpPr>
        <p:spPr>
          <a:xfrm>
            <a:off x="2103120" y="2286000"/>
            <a:ext cx="2148840" cy="685800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Is the logical state visible in the physical state?</a:t>
            </a:r>
            <a:endParaRPr lang="en-GB" sz="1100" dirty="0"/>
          </a:p>
        </p:txBody>
      </p:sp>
      <p:sp>
        <p:nvSpPr>
          <p:cNvPr id="15" name="Shape 15"/>
          <p:cNvSpPr/>
          <p:nvPr/>
        </p:nvSpPr>
        <p:spPr>
          <a:xfrm>
            <a:off x="4251960" y="2286000"/>
            <a:ext cx="2057400" cy="685800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Do inverse actions give inverse effects?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6309360" y="2286000"/>
            <a:ext cx="2194560" cy="685800"/>
          </a:xfrm>
          <a:prstGeom prst="rect">
            <a:avLst/>
          </a:prstGeom>
          <a:solidFill>
            <a:srgbClr val="33339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Any spring-back controls? What do they hide?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548640" y="2971800"/>
            <a:ext cx="1554480" cy="640080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Ceiling-fan regulator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2103120" y="2971800"/>
            <a:ext cx="2148840" cy="640080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Yes — knob position = speed</a:t>
            </a:r>
            <a:endParaRPr lang="en-GB" sz="1100" dirty="0"/>
          </a:p>
        </p:txBody>
      </p:sp>
      <p:sp>
        <p:nvSpPr>
          <p:cNvPr id="19" name="Shape 19"/>
          <p:cNvSpPr/>
          <p:nvPr/>
        </p:nvSpPr>
        <p:spPr>
          <a:xfrm>
            <a:off x="4251960" y="2971800"/>
            <a:ext cx="2057400" cy="640080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Yes — turn back = slower</a:t>
            </a:r>
            <a:endParaRPr lang="en-GB" sz="1100" dirty="0"/>
          </a:p>
        </p:txBody>
      </p:sp>
      <p:sp>
        <p:nvSpPr>
          <p:cNvPr id="20" name="Shape 20"/>
          <p:cNvSpPr/>
          <p:nvPr/>
        </p:nvSpPr>
        <p:spPr>
          <a:xfrm>
            <a:off x="6309360" y="2971800"/>
            <a:ext cx="2194560" cy="640080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No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548640" y="361188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AC remote</a:t>
            </a:r>
            <a:endParaRPr lang="en-GB" sz="1100" dirty="0"/>
          </a:p>
        </p:txBody>
      </p:sp>
      <p:sp>
        <p:nvSpPr>
          <p:cNvPr id="22" name="Shape 22"/>
          <p:cNvSpPr/>
          <p:nvPr/>
        </p:nvSpPr>
        <p:spPr>
          <a:xfrm>
            <a:off x="2103120" y="3611880"/>
            <a:ext cx="2148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No — the state lives in the AC unit</a:t>
            </a:r>
            <a:endParaRPr lang="en-GB" sz="1100" dirty="0"/>
          </a:p>
        </p:txBody>
      </p:sp>
      <p:sp>
        <p:nvSpPr>
          <p:cNvPr id="23" name="Shape 23"/>
          <p:cNvSpPr/>
          <p:nvPr/>
        </p:nvSpPr>
        <p:spPr>
          <a:xfrm>
            <a:off x="4251960" y="3611880"/>
            <a:ext cx="2057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Yes — ▲ / ▼ temperature</a:t>
            </a:r>
            <a:endParaRPr lang="en-GB" sz="1100" dirty="0"/>
          </a:p>
        </p:txBody>
      </p:sp>
      <p:sp>
        <p:nvSpPr>
          <p:cNvPr id="24" name="Shape 24"/>
          <p:cNvSpPr/>
          <p:nvPr/>
        </p:nvSpPr>
        <p:spPr>
          <a:xfrm>
            <a:off x="6309360" y="3611880"/>
            <a:ext cx="21945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All buttons spring back: is ‘swing’ on?</a:t>
            </a:r>
            <a:endParaRPr lang="en-GB" sz="1100" dirty="0"/>
          </a:p>
        </p:txBody>
      </p:sp>
      <p:sp>
        <p:nvSpPr>
          <p:cNvPr id="25" name="Shape 25"/>
          <p:cNvSpPr/>
          <p:nvPr/>
        </p:nvSpPr>
        <p:spPr>
          <a:xfrm>
            <a:off x="548640" y="4251960"/>
            <a:ext cx="1554480" cy="640080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B03A2E"/>
                </a:solidFill>
                <a:latin typeface="Arial"/>
                <a:cs typeface="Arial"/>
              </a:rPr>
              <a:t>Your device: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2103120" y="4251960"/>
            <a:ext cx="2148840" cy="640080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100" dirty="0"/>
          </a:p>
        </p:txBody>
      </p:sp>
      <p:sp>
        <p:nvSpPr>
          <p:cNvPr id="27" name="Shape 27"/>
          <p:cNvSpPr/>
          <p:nvPr/>
        </p:nvSpPr>
        <p:spPr>
          <a:xfrm>
            <a:off x="4251960" y="4251960"/>
            <a:ext cx="2057400" cy="640080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100" dirty="0"/>
          </a:p>
        </p:txBody>
      </p:sp>
      <p:sp>
        <p:nvSpPr>
          <p:cNvPr id="28" name="Shape 28"/>
          <p:cNvSpPr/>
          <p:nvPr/>
        </p:nvSpPr>
        <p:spPr>
          <a:xfrm>
            <a:off x="6309360" y="4251960"/>
            <a:ext cx="2194560" cy="640080"/>
          </a:xfrm>
          <a:prstGeom prst="rect">
            <a:avLst/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100" dirty="0"/>
          </a:p>
        </p:txBody>
      </p:sp>
      <p:sp>
        <p:nvSpPr>
          <p:cNvPr id="29" name="Shape 29"/>
          <p:cNvSpPr/>
          <p:nvPr/>
        </p:nvSpPr>
        <p:spPr>
          <a:xfrm>
            <a:off x="548640" y="489204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B03A2E"/>
                </a:solidFill>
                <a:latin typeface="Arial"/>
                <a:cs typeface="Arial"/>
              </a:rPr>
              <a:t>Your device:</a:t>
            </a:r>
            <a:endParaRPr lang="en-GB" sz="1100" dirty="0"/>
          </a:p>
        </p:txBody>
      </p:sp>
      <p:sp>
        <p:nvSpPr>
          <p:cNvPr id="30" name="Shape 30"/>
          <p:cNvSpPr/>
          <p:nvPr/>
        </p:nvSpPr>
        <p:spPr>
          <a:xfrm>
            <a:off x="2103120" y="4892040"/>
            <a:ext cx="2148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100" dirty="0"/>
          </a:p>
        </p:txBody>
      </p:sp>
      <p:sp>
        <p:nvSpPr>
          <p:cNvPr id="31" name="Shape 31"/>
          <p:cNvSpPr/>
          <p:nvPr/>
        </p:nvSpPr>
        <p:spPr>
          <a:xfrm>
            <a:off x="4251960" y="4892040"/>
            <a:ext cx="2057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100" dirty="0"/>
          </a:p>
        </p:txBody>
      </p:sp>
      <p:sp>
        <p:nvSpPr>
          <p:cNvPr id="32" name="Shape 32"/>
          <p:cNvSpPr/>
          <p:nvPr/>
        </p:nvSpPr>
        <p:spPr>
          <a:xfrm>
            <a:off x="6309360" y="4892040"/>
            <a:ext cx="21945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/>
            </a:r>
            <a:endParaRPr lang="en-GB" sz="1100" dirty="0"/>
          </a:p>
        </p:txBody>
      </p:sp>
      <p:sp>
        <p:nvSpPr>
          <p:cNvPr id="33" name="Shape 33"/>
          <p:cNvSpPr txBox="1"/>
          <p:nvPr/>
        </p:nvSpPr>
        <p:spPr>
          <a:xfrm>
            <a:off x="548640" y="571500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Try: your phone’s volume buttons, a laptop lid, a pen click, the light switches, a water tap.</a:t>
            </a:r>
            <a:endParaRPr lang="en-GB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Would you switch?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00726F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POLL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243584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1 min vote, then 2 min to calculate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7955280" cy="777240"/>
          </a:xfrm>
          <a:prstGeom prst="roundRect">
            <a:avLst>
              <a:gd name="adj" fmla="val 1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ctr" rtlCol="0">
            <a:normAutofit/>
          </a:bodyPr>
          <a:lstStyle/>
          <a:p>
            <a:pPr algn="l">
              <a:buNone/>
            </a:pPr>
            <a:r>
              <a:rPr lang="en-GB" sz="1500" b="0" i="0" dirty="0">
                <a:solidFill>
                  <a:srgbClr val="1A1A1A"/>
                </a:solidFill>
                <a:latin typeface="Arial"/>
                <a:cs typeface="Arial"/>
              </a:rPr>
              <a:t xml:space="preserve">A new note-taking app </a:t>
            </a:r>
            <a:r>
              <a:rPr lang="en-GB" sz="1500" b="1" i="0" dirty="0">
                <a:solidFill>
                  <a:srgbClr val="1A1A1A"/>
                </a:solidFill>
                <a:latin typeface="Arial"/>
                <a:cs typeface="Arial"/>
              </a:rPr>
              <a:t>saves you 10 minutes a week</a:t>
            </a:r>
            <a:r>
              <a:rPr lang="en-GB" sz="1500" b="0" i="0" dirty="0">
                <a:solidFill>
                  <a:srgbClr val="1A1A1A"/>
                </a:solidFill>
                <a:latin typeface="Arial"/>
                <a:cs typeface="Arial"/>
              </a:rPr>
              <a:t xml:space="preserve">, but learning it </a:t>
            </a:r>
            <a:r>
              <a:rPr lang="en-GB" sz="1500" b="1" i="0" dirty="0">
                <a:solidFill>
                  <a:srgbClr val="1A1A1A"/>
                </a:solidFill>
                <a:latin typeface="Arial"/>
                <a:cs typeface="Arial"/>
              </a:rPr>
              <a:t>costs 3 hours this weekend</a:t>
            </a:r>
            <a:r>
              <a:rPr lang="en-GB" sz="1500" b="0" i="0" dirty="0">
                <a:solidFill>
                  <a:srgbClr val="1A1A1A"/>
                </a:solidFill>
                <a:latin typeface="Arial"/>
                <a:cs typeface="Arial"/>
              </a:rPr>
              <a:t>. Do you switch?</a:t>
            </a:r>
            <a:endParaRPr lang="en-GB" sz="1500" dirty="0"/>
          </a:p>
        </p:txBody>
      </p:sp>
      <p:sp>
        <p:nvSpPr>
          <p:cNvPr id="14" name="Shape 14"/>
          <p:cNvSpPr/>
          <p:nvPr/>
        </p:nvSpPr>
        <p:spPr>
          <a:xfrm>
            <a:off x="548640" y="3337560"/>
            <a:ext cx="2514600" cy="9144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00726F"/>
            </a:solidFill>
          </a:ln>
        </p:spPr>
        <p:txBody>
          <a:bodyPr wrap="square" lIns="73152" tIns="73152" rIns="73152" bIns="73152" anchor="ctr" rtlCol="0">
            <a:normAutofit/>
          </a:bodyPr>
          <a:lstStyle/>
          <a:p>
            <a:pPr algn="ctr">
              <a:buNone/>
            </a:pPr>
            <a:r>
              <a:rPr lang="en-GB" sz="2000" b="1" i="0" dirty="0">
                <a:solidFill>
                  <a:srgbClr val="00726F"/>
                </a:solidFill>
                <a:latin typeface="Arial"/>
                <a:cs typeface="Arial"/>
              </a:rPr>
              <a:t xml:space="preserve">A   </a:t>
            </a: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Yes, switch now</a:t>
            </a:r>
            <a:endParaRPr lang="en-GB" sz="1400" dirty="0"/>
          </a:p>
        </p:txBody>
      </p:sp>
      <p:sp>
        <p:nvSpPr>
          <p:cNvPr id="15" name="Shape 15"/>
          <p:cNvSpPr/>
          <p:nvPr/>
        </p:nvSpPr>
        <p:spPr>
          <a:xfrm>
            <a:off x="3246120" y="3337560"/>
            <a:ext cx="2514600" cy="9144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00726F"/>
            </a:solidFill>
          </a:ln>
        </p:spPr>
        <p:txBody>
          <a:bodyPr wrap="square" lIns="73152" tIns="73152" rIns="73152" bIns="73152" anchor="ctr" rtlCol="0">
            <a:normAutofit/>
          </a:bodyPr>
          <a:lstStyle/>
          <a:p>
            <a:pPr algn="ctr">
              <a:buNone/>
            </a:pPr>
            <a:r>
              <a:rPr lang="en-GB" sz="2000" b="1" i="0" dirty="0">
                <a:solidFill>
                  <a:srgbClr val="00726F"/>
                </a:solidFill>
                <a:latin typeface="Arial"/>
                <a:cs typeface="Arial"/>
              </a:rPr>
              <a:t xml:space="preserve">B   </a:t>
            </a: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No, not worth it</a:t>
            </a:r>
            <a:endParaRPr lang="en-GB" sz="1400" dirty="0"/>
          </a:p>
        </p:txBody>
      </p:sp>
      <p:sp>
        <p:nvSpPr>
          <p:cNvPr id="16" name="Shape 16"/>
          <p:cNvSpPr/>
          <p:nvPr/>
        </p:nvSpPr>
        <p:spPr>
          <a:xfrm>
            <a:off x="5943600" y="3337560"/>
            <a:ext cx="2514600" cy="9144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00726F"/>
            </a:solidFill>
          </a:ln>
        </p:spPr>
        <p:txBody>
          <a:bodyPr wrap="square" lIns="73152" tIns="73152" rIns="73152" bIns="73152" anchor="ctr" rtlCol="0">
            <a:normAutofit/>
          </a:bodyPr>
          <a:lstStyle/>
          <a:p>
            <a:pPr algn="ctr">
              <a:buNone/>
            </a:pPr>
            <a:r>
              <a:rPr lang="en-GB" sz="2000" b="1" i="0" dirty="0">
                <a:solidFill>
                  <a:srgbClr val="00726F"/>
                </a:solidFill>
                <a:latin typeface="Arial"/>
                <a:cs typeface="Arial"/>
              </a:rPr>
              <a:t xml:space="preserve">C   </a:t>
            </a: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Maybe after exams</a:t>
            </a:r>
            <a:endParaRPr lang="en-GB" sz="1400" dirty="0"/>
          </a:p>
        </p:txBody>
      </p:sp>
      <p:sp>
        <p:nvSpPr>
          <p:cNvPr id="17" name="Shape 17"/>
          <p:cNvSpPr txBox="1"/>
          <p:nvPr/>
        </p:nvSpPr>
        <p:spPr>
          <a:xfrm>
            <a:off x="548640" y="4572000"/>
            <a:ext cx="7955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GB" sz="1400" b="1" i="0" dirty="0">
                <a:solidFill>
                  <a:srgbClr val="2D2D8A"/>
                </a:solidFill>
                <a:latin typeface="Arial"/>
                <a:cs typeface="Arial"/>
              </a:rPr>
              <a:t>Then calculate: how much time do you save by the end of this 16-week semester? By the end of one year?</a:t>
            </a:r>
            <a:endParaRPr lang="en-GB" sz="1400" dirty="0"/>
          </a:p>
          <a:p>
            <a:pPr algn="l">
              <a:buNone/>
            </a:pPr>
            <a:r>
              <a:rPr lang="en-GB" sz="1300" b="0" i="1" dirty="0">
                <a:solidFill>
                  <a:srgbClr val="595959"/>
                </a:solidFill>
                <a:latin typeface="Arial"/>
                <a:cs typeface="Arial"/>
              </a:rPr>
              <a:t>Is your vote consistent with the numbers?</a:t>
            </a:r>
            <a:endParaRPr lang="en-GB" sz="13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Would you switch?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7325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31620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the arithmetic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7955280" cy="777240"/>
          </a:xfrm>
          <a:prstGeom prst="roundRect">
            <a:avLst>
              <a:gd name="adj" fmla="val 1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ctr" rtlCol="0">
            <a:normAutofit/>
          </a:bodyPr>
          <a:lstStyle/>
          <a:p>
            <a:pPr algn="l">
              <a:buNone/>
            </a:pPr>
            <a:r>
              <a:rPr lang="en-GB" sz="1500" b="0" i="0" dirty="0">
                <a:solidFill>
                  <a:srgbClr val="1A1A1A"/>
                </a:solidFill>
                <a:latin typeface="Arial"/>
                <a:cs typeface="Arial"/>
              </a:rPr>
              <a:t xml:space="preserve">A new note-taking app </a:t>
            </a:r>
            <a:r>
              <a:rPr lang="en-GB" sz="1500" b="1" i="0" dirty="0">
                <a:solidFill>
                  <a:srgbClr val="1A1A1A"/>
                </a:solidFill>
                <a:latin typeface="Arial"/>
                <a:cs typeface="Arial"/>
              </a:rPr>
              <a:t>saves you 10 minutes a week</a:t>
            </a:r>
            <a:r>
              <a:rPr lang="en-GB" sz="1500" b="0" i="0" dirty="0">
                <a:solidFill>
                  <a:srgbClr val="1A1A1A"/>
                </a:solidFill>
                <a:latin typeface="Arial"/>
                <a:cs typeface="Arial"/>
              </a:rPr>
              <a:t xml:space="preserve">, but learning it </a:t>
            </a:r>
            <a:r>
              <a:rPr lang="en-GB" sz="1500" b="1" i="0" dirty="0">
                <a:solidFill>
                  <a:srgbClr val="1A1A1A"/>
                </a:solidFill>
                <a:latin typeface="Arial"/>
                <a:cs typeface="Arial"/>
              </a:rPr>
              <a:t>costs 3 hours this weekend</a:t>
            </a:r>
            <a:r>
              <a:rPr lang="en-GB" sz="1500" b="0" i="0" dirty="0">
                <a:solidFill>
                  <a:srgbClr val="1A1A1A"/>
                </a:solidFill>
                <a:latin typeface="Arial"/>
                <a:cs typeface="Arial"/>
              </a:rPr>
              <a:t>. Do you switch?</a:t>
            </a:r>
            <a:endParaRPr lang="en-GB" sz="1500" dirty="0"/>
          </a:p>
        </p:txBody>
      </p:sp>
      <p:sp>
        <p:nvSpPr>
          <p:cNvPr id="14" name="Shape 14"/>
          <p:cNvSpPr txBox="1"/>
          <p:nvPr/>
        </p:nvSpPr>
        <p:spPr>
          <a:xfrm>
            <a:off x="548640" y="33375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Cost now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3383280" y="3410712"/>
            <a:ext cx="1508760" cy="36576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16" name="Shape 16"/>
          <p:cNvSpPr txBox="1"/>
          <p:nvPr/>
        </p:nvSpPr>
        <p:spPr>
          <a:xfrm>
            <a:off x="4983480" y="333756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B03A2E"/>
                </a:solidFill>
                <a:latin typeface="Arial"/>
                <a:cs typeface="Arial"/>
              </a:rPr>
              <a:t>3.0 h</a:t>
            </a:r>
            <a:endParaRPr lang="en-GB" sz="1200" dirty="0"/>
          </a:p>
        </p:txBody>
      </p:sp>
      <p:sp>
        <p:nvSpPr>
          <p:cNvPr id="17" name="Shape 17"/>
          <p:cNvSpPr txBox="1"/>
          <p:nvPr/>
        </p:nvSpPr>
        <p:spPr>
          <a:xfrm>
            <a:off x="548640" y="40233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Saving by end of semester (16 wk)</a:t>
            </a:r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3383280" y="4096512"/>
            <a:ext cx="1341120" cy="365760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19" name="Shape 19"/>
          <p:cNvSpPr txBox="1"/>
          <p:nvPr/>
        </p:nvSpPr>
        <p:spPr>
          <a:xfrm>
            <a:off x="4815840" y="402336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8A5A00"/>
                </a:solidFill>
                <a:latin typeface="Arial"/>
                <a:cs typeface="Arial"/>
              </a:rPr>
              <a:t>2.7 h</a:t>
            </a:r>
            <a:endParaRPr lang="en-GB" sz="1200" dirty="0"/>
          </a:p>
        </p:txBody>
      </p:sp>
      <p:sp>
        <p:nvSpPr>
          <p:cNvPr id="20" name="Shape 20"/>
          <p:cNvSpPr txBox="1"/>
          <p:nvPr/>
        </p:nvSpPr>
        <p:spPr>
          <a:xfrm>
            <a:off x="548640" y="47091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Saving after one year (52 wk)</a:t>
            </a:r>
            <a:endParaRPr lang="en-GB" sz="1200" dirty="0"/>
          </a:p>
        </p:txBody>
      </p:sp>
      <p:sp>
        <p:nvSpPr>
          <p:cNvPr id="21" name="Shape 21"/>
          <p:cNvSpPr/>
          <p:nvPr/>
        </p:nvSpPr>
        <p:spPr>
          <a:xfrm>
            <a:off x="3383280" y="4782312"/>
            <a:ext cx="4358640" cy="365760"/>
          </a:xfrm>
          <a:prstGeom prst="rect">
            <a:avLst/>
          </a:prstGeom>
          <a:solidFill>
            <a:srgbClr val="4E7A12"/>
          </a:solidFill>
          <a:ln>
            <a:noFill/>
          </a:ln>
        </p:spPr>
        <p:txBody>
          <a:bodyPr wrap="square" lIns="73152" tIns="73152" rIns="73152" bIns="73152" anchor="t" rtlCol="0">
            <a:normAutofit/>
          </a:bodyPr>
          <a:lstStyle/>
          <a:p>
            <a:endParaRPr lang="en-GB" dirty="0"/>
          </a:p>
        </p:txBody>
      </p:sp>
      <p:sp>
        <p:nvSpPr>
          <p:cNvPr id="22" name="Shape 22"/>
          <p:cNvSpPr txBox="1"/>
          <p:nvPr/>
        </p:nvSpPr>
        <p:spPr>
          <a:xfrm>
            <a:off x="7833360" y="470916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4E7A12"/>
                </a:solidFill>
                <a:latin typeface="Arial"/>
                <a:cs typeface="Arial"/>
              </a:rPr>
              <a:t>8.7 h</a:t>
            </a:r>
            <a:endParaRPr lang="en-GB" sz="1200" dirty="0"/>
          </a:p>
        </p:txBody>
      </p:sp>
      <p:sp>
        <p:nvSpPr>
          <p:cNvPr id="23" name="Shape 23"/>
          <p:cNvSpPr txBox="1"/>
          <p:nvPr/>
        </p:nvSpPr>
        <p:spPr>
          <a:xfrm>
            <a:off x="548640" y="5440680"/>
            <a:ext cx="795528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Design lesson: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people discount future value heavily, so lower the barrier today — import old notes automatically, a 5-minute start — and show value in the first session.</a:t>
            </a:r>
            <a:endParaRPr lang="en-GB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Exit ticket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243584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3 min · exit ticket · write a, b or c and hand it in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0428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200" dirty="0"/>
          </a:p>
        </p:txBody>
      </p:sp>
      <p:sp>
        <p:nvSpPr>
          <p:cNvPr id="14" name="Shape 14"/>
          <p:cNvSpPr txBox="1"/>
          <p:nvPr/>
        </p:nvSpPr>
        <p:spPr>
          <a:xfrm>
            <a:off x="1005840" y="2286000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A modal dialog box is best used for…</a:t>
            </a:r>
            <a:endParaRPr lang="en-GB" sz="1300" dirty="0"/>
          </a:p>
        </p:txBody>
      </p:sp>
      <p:sp>
        <p:nvSpPr>
          <p:cNvPr id="15" name="Shape 15"/>
          <p:cNvSpPr/>
          <p:nvPr/>
        </p:nvSpPr>
        <p:spPr>
          <a:xfrm>
            <a:off x="1005840" y="265176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a)  every notification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3520440" y="265176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b)  errors and essential steps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6035040" y="265176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toolbars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548640" y="3090672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200" dirty="0"/>
          </a:p>
        </p:txBody>
      </p:sp>
      <p:sp>
        <p:nvSpPr>
          <p:cNvPr id="19" name="Shape 19"/>
          <p:cNvSpPr txBox="1"/>
          <p:nvPr/>
        </p:nvSpPr>
        <p:spPr>
          <a:xfrm>
            <a:off x="1005840" y="3072384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Radio buttons are for…</a:t>
            </a:r>
            <a:endParaRPr lang="en-GB" sz="1300" dirty="0"/>
          </a:p>
        </p:txBody>
      </p:sp>
      <p:sp>
        <p:nvSpPr>
          <p:cNvPr id="20" name="Shape 20"/>
          <p:cNvSpPr/>
          <p:nvPr/>
        </p:nvSpPr>
        <p:spPr>
          <a:xfrm>
            <a:off x="1005840" y="3438144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a)  mutually exclusive choices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3520440" y="3438144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b)  non-exclusive choices</a:t>
            </a:r>
            <a:endParaRPr lang="en-GB" sz="1100" dirty="0"/>
          </a:p>
        </p:txBody>
      </p:sp>
      <p:sp>
        <p:nvSpPr>
          <p:cNvPr id="22" name="Shape 22"/>
          <p:cNvSpPr/>
          <p:nvPr/>
        </p:nvSpPr>
        <p:spPr>
          <a:xfrm>
            <a:off x="6035040" y="3438144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free text</a:t>
            </a:r>
            <a:endParaRPr lang="en-GB" sz="1100" dirty="0"/>
          </a:p>
        </p:txBody>
      </p:sp>
      <p:sp>
        <p:nvSpPr>
          <p:cNvPr id="23" name="Shape 23"/>
          <p:cNvSpPr/>
          <p:nvPr/>
        </p:nvSpPr>
        <p:spPr>
          <a:xfrm>
            <a:off x="548640" y="3877056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200" dirty="0"/>
          </a:p>
        </p:txBody>
      </p:sp>
      <p:sp>
        <p:nvSpPr>
          <p:cNvPr id="24" name="Shape 24"/>
          <p:cNvSpPr txBox="1"/>
          <p:nvPr/>
        </p:nvSpPr>
        <p:spPr>
          <a:xfrm>
            <a:off x="1005840" y="3858768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In ‘look and feel’, feel means…</a:t>
            </a:r>
            <a:endParaRPr lang="en-GB" sz="1300" dirty="0"/>
          </a:p>
        </p:txBody>
      </p:sp>
      <p:sp>
        <p:nvSpPr>
          <p:cNvPr id="25" name="Shape 25"/>
          <p:cNvSpPr/>
          <p:nvPr/>
        </p:nvSpPr>
        <p:spPr>
          <a:xfrm>
            <a:off x="1005840" y="4224528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a)  the colours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3520440" y="4224528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b)  the behaviour</a:t>
            </a:r>
            <a:endParaRPr lang="en-GB" sz="1100" dirty="0"/>
          </a:p>
        </p:txBody>
      </p:sp>
      <p:sp>
        <p:nvSpPr>
          <p:cNvPr id="27" name="Shape 27"/>
          <p:cNvSpPr/>
          <p:nvPr/>
        </p:nvSpPr>
        <p:spPr>
          <a:xfrm>
            <a:off x="6035040" y="4224528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the font</a:t>
            </a:r>
            <a:endParaRPr lang="en-GB" sz="1100" dirty="0"/>
          </a:p>
        </p:txBody>
      </p:sp>
      <p:sp>
        <p:nvSpPr>
          <p:cNvPr id="28" name="Shape 28"/>
          <p:cNvSpPr/>
          <p:nvPr/>
        </p:nvSpPr>
        <p:spPr>
          <a:xfrm>
            <a:off x="548640" y="4663440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200" dirty="0"/>
          </a:p>
        </p:txBody>
      </p:sp>
      <p:sp>
        <p:nvSpPr>
          <p:cNvPr id="29" name="Shape 29"/>
          <p:cNvSpPr txBox="1"/>
          <p:nvPr/>
        </p:nvSpPr>
        <p:spPr>
          <a:xfrm>
            <a:off x="1005840" y="4645152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Flow lies between…</a:t>
            </a:r>
            <a:endParaRPr lang="en-GB" sz="1300" dirty="0"/>
          </a:p>
        </p:txBody>
      </p:sp>
      <p:sp>
        <p:nvSpPr>
          <p:cNvPr id="30" name="Shape 30"/>
          <p:cNvSpPr/>
          <p:nvPr/>
        </p:nvSpPr>
        <p:spPr>
          <a:xfrm>
            <a:off x="1005840" y="5010912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a)  anxiety and boredom</a:t>
            </a:r>
            <a:endParaRPr lang="en-GB" sz="1100" dirty="0"/>
          </a:p>
        </p:txBody>
      </p:sp>
      <p:sp>
        <p:nvSpPr>
          <p:cNvPr id="31" name="Shape 31"/>
          <p:cNvSpPr/>
          <p:nvPr/>
        </p:nvSpPr>
        <p:spPr>
          <a:xfrm>
            <a:off x="3520440" y="5010912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b)  skill and money</a:t>
            </a:r>
            <a:endParaRPr lang="en-GB" sz="1100" dirty="0"/>
          </a:p>
        </p:txBody>
      </p:sp>
      <p:sp>
        <p:nvSpPr>
          <p:cNvPr id="32" name="Shape 32"/>
          <p:cNvSpPr/>
          <p:nvPr/>
        </p:nvSpPr>
        <p:spPr>
          <a:xfrm>
            <a:off x="6035040" y="5010912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input and output</a:t>
            </a:r>
            <a:endParaRPr lang="en-GB" sz="1100" dirty="0"/>
          </a:p>
        </p:txBody>
      </p:sp>
      <p:sp>
        <p:nvSpPr>
          <p:cNvPr id="33" name="Shape 33"/>
          <p:cNvSpPr/>
          <p:nvPr/>
        </p:nvSpPr>
        <p:spPr>
          <a:xfrm>
            <a:off x="548640" y="5449824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200" dirty="0"/>
          </a:p>
        </p:txBody>
      </p:sp>
      <p:sp>
        <p:nvSpPr>
          <p:cNvPr id="34" name="Shape 34"/>
          <p:cNvSpPr txBox="1"/>
          <p:nvPr/>
        </p:nvSpPr>
        <p:spPr>
          <a:xfrm>
            <a:off x="1005840" y="5431536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People use a system only if its perceived value…</a:t>
            </a:r>
            <a:endParaRPr lang="en-GB" sz="1300" dirty="0"/>
          </a:p>
        </p:txBody>
      </p:sp>
      <p:sp>
        <p:nvSpPr>
          <p:cNvPr id="35" name="Shape 35"/>
          <p:cNvSpPr/>
          <p:nvPr/>
        </p:nvSpPr>
        <p:spPr>
          <a:xfrm>
            <a:off x="1005840" y="5797296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a)  is free</a:t>
            </a:r>
            <a:endParaRPr lang="en-GB" sz="1100" dirty="0"/>
          </a:p>
        </p:txBody>
      </p:sp>
      <p:sp>
        <p:nvSpPr>
          <p:cNvPr id="36" name="Shape 36"/>
          <p:cNvSpPr/>
          <p:nvPr/>
        </p:nvSpPr>
        <p:spPr>
          <a:xfrm>
            <a:off x="3520440" y="5797296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b)  exceeds its cost</a:t>
            </a:r>
            <a:endParaRPr lang="en-GB" sz="1100" dirty="0"/>
          </a:p>
        </p:txBody>
      </p:sp>
      <p:sp>
        <p:nvSpPr>
          <p:cNvPr id="37" name="Shape 37"/>
          <p:cNvSpPr/>
          <p:nvPr/>
        </p:nvSpPr>
        <p:spPr>
          <a:xfrm>
            <a:off x="6035040" y="5797296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is fun</a:t>
            </a:r>
            <a:endParaRPr lang="en-GB" sz="11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Exit ticket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7325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rm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31620" y="18105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check yourself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0428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200" dirty="0"/>
          </a:p>
        </p:txBody>
      </p:sp>
      <p:sp>
        <p:nvSpPr>
          <p:cNvPr id="14" name="Shape 14"/>
          <p:cNvSpPr txBox="1"/>
          <p:nvPr/>
        </p:nvSpPr>
        <p:spPr>
          <a:xfrm>
            <a:off x="1005840" y="2286000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A modal dialog box is best used for…</a:t>
            </a:r>
            <a:endParaRPr lang="en-GB" sz="1300" dirty="0"/>
          </a:p>
        </p:txBody>
      </p:sp>
      <p:sp>
        <p:nvSpPr>
          <p:cNvPr id="15" name="Shape 15"/>
          <p:cNvSpPr/>
          <p:nvPr/>
        </p:nvSpPr>
        <p:spPr>
          <a:xfrm>
            <a:off x="1005840" y="265176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a)  every notification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3520440" y="265176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b)  errors and essential steps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6035040" y="2651760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toolbars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548640" y="3090672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200" dirty="0"/>
          </a:p>
        </p:txBody>
      </p:sp>
      <p:sp>
        <p:nvSpPr>
          <p:cNvPr id="19" name="Shape 19"/>
          <p:cNvSpPr txBox="1"/>
          <p:nvPr/>
        </p:nvSpPr>
        <p:spPr>
          <a:xfrm>
            <a:off x="1005840" y="3072384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Radio buttons are for…</a:t>
            </a:r>
            <a:endParaRPr lang="en-GB" sz="1300" dirty="0"/>
          </a:p>
        </p:txBody>
      </p:sp>
      <p:sp>
        <p:nvSpPr>
          <p:cNvPr id="20" name="Shape 20"/>
          <p:cNvSpPr/>
          <p:nvPr/>
        </p:nvSpPr>
        <p:spPr>
          <a:xfrm>
            <a:off x="1005840" y="3438144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a)  mutually exclusive choices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3520440" y="3438144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b)  non-exclusive choices</a:t>
            </a:r>
            <a:endParaRPr lang="en-GB" sz="1100" dirty="0"/>
          </a:p>
        </p:txBody>
      </p:sp>
      <p:sp>
        <p:nvSpPr>
          <p:cNvPr id="22" name="Shape 22"/>
          <p:cNvSpPr/>
          <p:nvPr/>
        </p:nvSpPr>
        <p:spPr>
          <a:xfrm>
            <a:off x="6035040" y="3438144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free text</a:t>
            </a:r>
            <a:endParaRPr lang="en-GB" sz="1100" dirty="0"/>
          </a:p>
        </p:txBody>
      </p:sp>
      <p:sp>
        <p:nvSpPr>
          <p:cNvPr id="23" name="Shape 23"/>
          <p:cNvSpPr/>
          <p:nvPr/>
        </p:nvSpPr>
        <p:spPr>
          <a:xfrm>
            <a:off x="548640" y="3877056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200" dirty="0"/>
          </a:p>
        </p:txBody>
      </p:sp>
      <p:sp>
        <p:nvSpPr>
          <p:cNvPr id="24" name="Shape 24"/>
          <p:cNvSpPr txBox="1"/>
          <p:nvPr/>
        </p:nvSpPr>
        <p:spPr>
          <a:xfrm>
            <a:off x="1005840" y="3858768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In ‘look and feel’, feel means…</a:t>
            </a:r>
            <a:endParaRPr lang="en-GB" sz="1300" dirty="0"/>
          </a:p>
        </p:txBody>
      </p:sp>
      <p:sp>
        <p:nvSpPr>
          <p:cNvPr id="25" name="Shape 25"/>
          <p:cNvSpPr/>
          <p:nvPr/>
        </p:nvSpPr>
        <p:spPr>
          <a:xfrm>
            <a:off x="1005840" y="4224528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a)  the colours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3520440" y="4224528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b)  the behaviour</a:t>
            </a:r>
            <a:endParaRPr lang="en-GB" sz="1100" dirty="0"/>
          </a:p>
        </p:txBody>
      </p:sp>
      <p:sp>
        <p:nvSpPr>
          <p:cNvPr id="27" name="Shape 27"/>
          <p:cNvSpPr/>
          <p:nvPr/>
        </p:nvSpPr>
        <p:spPr>
          <a:xfrm>
            <a:off x="6035040" y="4224528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the font</a:t>
            </a:r>
            <a:endParaRPr lang="en-GB" sz="1100" dirty="0"/>
          </a:p>
        </p:txBody>
      </p:sp>
      <p:sp>
        <p:nvSpPr>
          <p:cNvPr id="28" name="Shape 28"/>
          <p:cNvSpPr/>
          <p:nvPr/>
        </p:nvSpPr>
        <p:spPr>
          <a:xfrm>
            <a:off x="548640" y="4663440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200" dirty="0"/>
          </a:p>
        </p:txBody>
      </p:sp>
      <p:sp>
        <p:nvSpPr>
          <p:cNvPr id="29" name="Shape 29"/>
          <p:cNvSpPr txBox="1"/>
          <p:nvPr/>
        </p:nvSpPr>
        <p:spPr>
          <a:xfrm>
            <a:off x="1005840" y="4645152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Flow lies between…</a:t>
            </a:r>
            <a:endParaRPr lang="en-GB" sz="1300" dirty="0"/>
          </a:p>
        </p:txBody>
      </p:sp>
      <p:sp>
        <p:nvSpPr>
          <p:cNvPr id="30" name="Shape 30"/>
          <p:cNvSpPr/>
          <p:nvPr/>
        </p:nvSpPr>
        <p:spPr>
          <a:xfrm>
            <a:off x="1005840" y="5010912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a)  anxiety and boredom</a:t>
            </a:r>
            <a:endParaRPr lang="en-GB" sz="1100" dirty="0"/>
          </a:p>
        </p:txBody>
      </p:sp>
      <p:sp>
        <p:nvSpPr>
          <p:cNvPr id="31" name="Shape 31"/>
          <p:cNvSpPr/>
          <p:nvPr/>
        </p:nvSpPr>
        <p:spPr>
          <a:xfrm>
            <a:off x="3520440" y="5010912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b)  skill and money</a:t>
            </a:r>
            <a:endParaRPr lang="en-GB" sz="1100" dirty="0"/>
          </a:p>
        </p:txBody>
      </p:sp>
      <p:sp>
        <p:nvSpPr>
          <p:cNvPr id="32" name="Shape 32"/>
          <p:cNvSpPr/>
          <p:nvPr/>
        </p:nvSpPr>
        <p:spPr>
          <a:xfrm>
            <a:off x="6035040" y="5010912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input and output</a:t>
            </a:r>
            <a:endParaRPr lang="en-GB" sz="1100" dirty="0"/>
          </a:p>
        </p:txBody>
      </p:sp>
      <p:sp>
        <p:nvSpPr>
          <p:cNvPr id="33" name="Shape 33"/>
          <p:cNvSpPr/>
          <p:nvPr/>
        </p:nvSpPr>
        <p:spPr>
          <a:xfrm>
            <a:off x="548640" y="5449824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200" dirty="0"/>
          </a:p>
        </p:txBody>
      </p:sp>
      <p:sp>
        <p:nvSpPr>
          <p:cNvPr id="34" name="Shape 34"/>
          <p:cNvSpPr txBox="1"/>
          <p:nvPr/>
        </p:nvSpPr>
        <p:spPr>
          <a:xfrm>
            <a:off x="1005840" y="5431536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rm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1A1A1A"/>
                </a:solidFill>
                <a:latin typeface="Arial"/>
                <a:cs typeface="Arial"/>
              </a:rPr>
              <a:t>People use a system only if its perceived value…</a:t>
            </a:r>
            <a:endParaRPr lang="en-GB" sz="1300" dirty="0"/>
          </a:p>
        </p:txBody>
      </p:sp>
      <p:sp>
        <p:nvSpPr>
          <p:cNvPr id="35" name="Shape 35"/>
          <p:cNvSpPr/>
          <p:nvPr/>
        </p:nvSpPr>
        <p:spPr>
          <a:xfrm>
            <a:off x="1005840" y="5797296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a)  is free</a:t>
            </a:r>
            <a:endParaRPr lang="en-GB" sz="1100" dirty="0"/>
          </a:p>
        </p:txBody>
      </p:sp>
      <p:sp>
        <p:nvSpPr>
          <p:cNvPr id="36" name="Shape 36"/>
          <p:cNvSpPr/>
          <p:nvPr/>
        </p:nvSpPr>
        <p:spPr>
          <a:xfrm>
            <a:off x="3520440" y="5797296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b)  exceeds its cost</a:t>
            </a:r>
            <a:endParaRPr lang="en-GB" sz="1100" dirty="0"/>
          </a:p>
        </p:txBody>
      </p:sp>
      <p:sp>
        <p:nvSpPr>
          <p:cNvPr id="37" name="Shape 37"/>
          <p:cNvSpPr/>
          <p:nvPr/>
        </p:nvSpPr>
        <p:spPr>
          <a:xfrm>
            <a:off x="6035040" y="5797296"/>
            <a:ext cx="242316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9525">
            <a:solidFill>
              <a:srgbClr val="9DB8BC"/>
            </a:solidFill>
          </a:ln>
        </p:spPr>
        <p:txBody>
          <a:bodyPr wrap="square" lIns="54864" tIns="54864" rIns="54864" bIns="54864" anchor="ctr" rtlCol="0">
            <a:norm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c)  is fun</a:t>
            </a:r>
            <a:endParaRPr lang="en-GB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Comic Sans MS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2863</Words>
  <Application>Microsoft Macintosh PowerPoint</Application>
  <PresentationFormat>On-screen Show (4:3)</PresentationFormat>
  <Paragraphs>651</Paragraphs>
  <Slides>70</Slides>
  <Notes>3</Notes>
  <HiddenSlides>0</HiddenSlides>
  <MMClips>1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0" baseType="lpstr">
      <vt:lpstr>Arial</vt:lpstr>
      <vt:lpstr>Comic Sans MS</vt:lpstr>
      <vt:lpstr>Helvetica</vt:lpstr>
      <vt:lpstr>Monotype Sorts</vt:lpstr>
      <vt:lpstr>Symbol</vt:lpstr>
      <vt:lpstr>Times</vt:lpstr>
      <vt:lpstr>Times New Roman</vt:lpstr>
      <vt:lpstr>Verdana</vt:lpstr>
      <vt:lpstr>Blank</vt:lpstr>
      <vt:lpstr>Document</vt:lpstr>
      <vt:lpstr>chapter 3</vt:lpstr>
      <vt:lpstr>The Interaction</vt:lpstr>
      <vt:lpstr>What is interaction?</vt:lpstr>
      <vt:lpstr>models of interaction</vt:lpstr>
      <vt:lpstr>Some terms of interaction</vt:lpstr>
      <vt:lpstr>Donald Norman’s model</vt:lpstr>
      <vt:lpstr>execution/evaluation loop</vt:lpstr>
      <vt:lpstr>execution/evaluation loop</vt:lpstr>
      <vt:lpstr>execution/evaluation loop</vt:lpstr>
      <vt:lpstr>execution/evaluation loop</vt:lpstr>
      <vt:lpstr>Using Norman’s model</vt:lpstr>
      <vt:lpstr>Human error - slips and mistakes</vt:lpstr>
      <vt:lpstr>Abowd and Beale framework</vt:lpstr>
      <vt:lpstr>Using Abowd &amp; Beale’s model</vt:lpstr>
      <vt:lpstr>ergonomics</vt:lpstr>
      <vt:lpstr>Ergonomics</vt:lpstr>
      <vt:lpstr>Ergonomics - examples</vt:lpstr>
      <vt:lpstr>Industrial interfaces</vt:lpstr>
      <vt:lpstr>Glass interfaces ?</vt:lpstr>
      <vt:lpstr>Indirect manipulation</vt:lpstr>
      <vt:lpstr>interaction styles</vt:lpstr>
      <vt:lpstr>Common interaction styles</vt:lpstr>
      <vt:lpstr>Command line interface</vt:lpstr>
      <vt:lpstr>Menus</vt:lpstr>
      <vt:lpstr>Natural language</vt:lpstr>
      <vt:lpstr>Query interfaces</vt:lpstr>
      <vt:lpstr>Form-fills</vt:lpstr>
      <vt:lpstr>Spreadsheets</vt:lpstr>
      <vt:lpstr>WIMP Interface</vt:lpstr>
      <vt:lpstr>Point and click interfaces</vt:lpstr>
      <vt:lpstr>Three dimensional interfaces</vt:lpstr>
      <vt:lpstr>elements of the wimp interface</vt:lpstr>
      <vt:lpstr>Windows</vt:lpstr>
      <vt:lpstr>Icons</vt:lpstr>
      <vt:lpstr>Pointers</vt:lpstr>
      <vt:lpstr>Menus</vt:lpstr>
      <vt:lpstr>Kinds of Menus </vt:lpstr>
      <vt:lpstr>Menus extras</vt:lpstr>
      <vt:lpstr>Menus design issues</vt:lpstr>
      <vt:lpstr>Buttons</vt:lpstr>
      <vt:lpstr>Toolbars</vt:lpstr>
      <vt:lpstr>Palettes and tear-off menus</vt:lpstr>
      <vt:lpstr>Dialogue boxes</vt:lpstr>
      <vt:lpstr>interactivity</vt:lpstr>
      <vt:lpstr>Speech–driven interfaces</vt:lpstr>
      <vt:lpstr>Look and … feel</vt:lpstr>
      <vt:lpstr>Initiative </vt:lpstr>
      <vt:lpstr>Error and repair</vt:lpstr>
      <vt:lpstr>Context</vt:lpstr>
      <vt:lpstr>Experience, engagement and fun</vt:lpstr>
      <vt:lpstr>Experience?</vt:lpstr>
      <vt:lpstr>Designing experience</vt:lpstr>
      <vt:lpstr>Designing experience</vt:lpstr>
      <vt:lpstr>Designing experience</vt:lpstr>
      <vt:lpstr>how crackers work</vt:lpstr>
      <vt:lpstr>The crackers experience</vt:lpstr>
      <vt:lpstr>Physical design</vt:lpstr>
      <vt:lpstr>Design trade-offs</vt:lpstr>
      <vt:lpstr>Fluidity</vt:lpstr>
      <vt:lpstr>inverse actions</vt:lpstr>
      <vt:lpstr>spring back controls</vt:lpstr>
      <vt:lpstr>a minidisk controller</vt:lpstr>
      <vt:lpstr>physical layout</vt:lpstr>
      <vt:lpstr>compliant interaction</vt:lpstr>
      <vt:lpstr>Managing value</vt:lpstr>
      <vt:lpstr>Weighing up value</vt:lpstr>
      <vt:lpstr>Discounted future</vt:lpstr>
      <vt:lpstr>example – HCI book search</vt:lpstr>
      <vt:lpstr>Value and organisational design</vt:lpstr>
      <vt:lpstr>General lesson …</vt:lpstr>
    </vt:vector>
  </TitlesOfParts>
  <Company>Lancaster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 Dix</dc:creator>
  <cp:lastModifiedBy>Alan Dix</cp:lastModifiedBy>
  <cp:revision>19</cp:revision>
  <dcterms:created xsi:type="dcterms:W3CDTF">2003-08-07T14:10:51Z</dcterms:created>
  <dcterms:modified xsi:type="dcterms:W3CDTF">2025-03-02T09:59:26Z</dcterms:modified>
</cp:coreProperties>
</file>