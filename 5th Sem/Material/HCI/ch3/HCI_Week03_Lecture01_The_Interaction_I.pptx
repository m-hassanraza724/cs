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compatMode="1" strictFirstAndLastChars="0" saveSubsetFonts="1" autoCompressPictures="0">
  <p:sldMasterIdLst>
    <p:sldMasterId id="2147483648" r:id="rId1"/>
  </p:sldMasterIdLst>
  <p:notesMasterIdLst>
    <p:notesMasterId r:id="rId72"/>
  </p:notesMasterIdLst>
  <p:sldIdLst>
    <p:sldId id="320" r:id="rId2"/>
    <p:sldId id="379" r:id="rId77"/>
    <p:sldId id="349" r:id="rId3"/>
    <p:sldId id="321" r:id="rId4"/>
    <p:sldId id="380" r:id="rId78"/>
    <p:sldId id="352" r:id="rId5"/>
    <p:sldId id="350" r:id="rId6"/>
    <p:sldId id="381" r:id="rId79"/>
    <p:sldId id="382" r:id="rId80"/>
    <p:sldId id="322" r:id="rId7"/>
    <p:sldId id="285" r:id="rId8"/>
    <p:sldId id="286" r:id="rId9"/>
    <p:sldId id="287" r:id="rId10"/>
    <p:sldId id="288" r:id="rId11"/>
    <p:sldId id="383" r:id="rId81"/>
    <p:sldId id="384" r:id="rId82"/>
    <p:sldId id="323" r:id="rId12"/>
    <p:sldId id="385" r:id="rId83"/>
    <p:sldId id="386" r:id="rId84"/>
    <p:sldId id="353" r:id="rId13"/>
    <p:sldId id="387" r:id="rId85"/>
    <p:sldId id="388" r:id="rId86"/>
    <p:sldId id="324" r:id="rId14"/>
    <p:sldId id="326" r:id="rId15"/>
    <p:sldId id="389" r:id="rId87"/>
    <p:sldId id="390" r:id="rId88"/>
    <p:sldId id="359" r:id="rId16"/>
    <p:sldId id="327" r:id="rId17"/>
    <p:sldId id="328" r:id="rId18"/>
    <p:sldId id="391" r:id="rId89"/>
    <p:sldId id="354" r:id="rId19"/>
    <p:sldId id="355" r:id="rId20"/>
    <p:sldId id="358" r:id="rId21"/>
    <p:sldId id="392" r:id="rId90"/>
    <p:sldId id="360" r:id="rId22"/>
    <p:sldId id="329" r:id="rId23"/>
    <p:sldId id="330" r:id="rId24"/>
    <p:sldId id="331" r:id="rId25"/>
    <p:sldId id="332" r:id="rId26"/>
    <p:sldId id="333" r:id="rId27"/>
    <p:sldId id="334" r:id="rId28"/>
    <p:sldId id="335" r:id="rId29"/>
    <p:sldId id="336" r:id="rId30"/>
    <p:sldId id="361" r:id="rId31"/>
    <p:sldId id="363" r:id="rId32"/>
    <p:sldId id="393" r:id="rId91"/>
    <p:sldId id="394" r:id="rId92"/>
    <p:sldId id="395" r:id="rId93"/>
    <p:sldId id="396" r:id="rId94"/>
  </p:sldIdLst>
  <p:sldSz cx="9144000" cy="6858000" type="screen4x3"/>
  <p:notesSz cx="6858000" cy="9144000"/>
  <p:defaultTextStyle>
    <a:defPPr>
      <a:defRPr lang="en-GB"/>
    </a:defPPr>
    <a:lvl1pPr algn="l" rtl="0" eaLnBrk="0" fontAlgn="base" hangingPunct="0">
      <a:spcBef>
        <a:spcPct val="0"/>
      </a:spcBef>
      <a:spcAft>
        <a:spcPct val="0"/>
      </a:spcAft>
      <a:defRPr sz="2800" kern="1200">
        <a:solidFill>
          <a:schemeClr val="tx1"/>
        </a:solidFill>
        <a:latin typeface="Times" charset="0"/>
        <a:ea typeface="+mn-ea"/>
        <a:cs typeface="+mn-cs"/>
      </a:defRPr>
    </a:lvl1pPr>
    <a:lvl2pPr marL="457200" algn="l" rtl="0" eaLnBrk="0" fontAlgn="base" hangingPunct="0">
      <a:spcBef>
        <a:spcPct val="0"/>
      </a:spcBef>
      <a:spcAft>
        <a:spcPct val="0"/>
      </a:spcAft>
      <a:defRPr sz="2800" kern="1200">
        <a:solidFill>
          <a:schemeClr val="tx1"/>
        </a:solidFill>
        <a:latin typeface="Times" charset="0"/>
        <a:ea typeface="+mn-ea"/>
        <a:cs typeface="+mn-cs"/>
      </a:defRPr>
    </a:lvl2pPr>
    <a:lvl3pPr marL="914400" algn="l" rtl="0" eaLnBrk="0" fontAlgn="base" hangingPunct="0">
      <a:spcBef>
        <a:spcPct val="0"/>
      </a:spcBef>
      <a:spcAft>
        <a:spcPct val="0"/>
      </a:spcAft>
      <a:defRPr sz="2800" kern="1200">
        <a:solidFill>
          <a:schemeClr val="tx1"/>
        </a:solidFill>
        <a:latin typeface="Times" charset="0"/>
        <a:ea typeface="+mn-ea"/>
        <a:cs typeface="+mn-cs"/>
      </a:defRPr>
    </a:lvl3pPr>
    <a:lvl4pPr marL="1371600" algn="l" rtl="0" eaLnBrk="0" fontAlgn="base" hangingPunct="0">
      <a:spcBef>
        <a:spcPct val="0"/>
      </a:spcBef>
      <a:spcAft>
        <a:spcPct val="0"/>
      </a:spcAft>
      <a:defRPr sz="2800" kern="1200">
        <a:solidFill>
          <a:schemeClr val="tx1"/>
        </a:solidFill>
        <a:latin typeface="Times" charset="0"/>
        <a:ea typeface="+mn-ea"/>
        <a:cs typeface="+mn-cs"/>
      </a:defRPr>
    </a:lvl4pPr>
    <a:lvl5pPr marL="1828800" algn="l" rtl="0" eaLnBrk="0" fontAlgn="base" hangingPunct="0">
      <a:spcBef>
        <a:spcPct val="0"/>
      </a:spcBef>
      <a:spcAft>
        <a:spcPct val="0"/>
      </a:spcAft>
      <a:defRPr sz="2800" kern="1200">
        <a:solidFill>
          <a:schemeClr val="tx1"/>
        </a:solidFill>
        <a:latin typeface="Times" charset="0"/>
        <a:ea typeface="+mn-ea"/>
        <a:cs typeface="+mn-cs"/>
      </a:defRPr>
    </a:lvl5pPr>
    <a:lvl6pPr marL="2286000" algn="l" defTabSz="914400" rtl="0" eaLnBrk="1" latinLnBrk="0" hangingPunct="1">
      <a:defRPr sz="2800" kern="1200">
        <a:solidFill>
          <a:schemeClr val="tx1"/>
        </a:solidFill>
        <a:latin typeface="Times" charset="0"/>
        <a:ea typeface="+mn-ea"/>
        <a:cs typeface="+mn-cs"/>
      </a:defRPr>
    </a:lvl6pPr>
    <a:lvl7pPr marL="2743200" algn="l" defTabSz="914400" rtl="0" eaLnBrk="1" latinLnBrk="0" hangingPunct="1">
      <a:defRPr sz="2800" kern="1200">
        <a:solidFill>
          <a:schemeClr val="tx1"/>
        </a:solidFill>
        <a:latin typeface="Times" charset="0"/>
        <a:ea typeface="+mn-ea"/>
        <a:cs typeface="+mn-cs"/>
      </a:defRPr>
    </a:lvl7pPr>
    <a:lvl8pPr marL="3200400" algn="l" defTabSz="914400" rtl="0" eaLnBrk="1" latinLnBrk="0" hangingPunct="1">
      <a:defRPr sz="2800" kern="1200">
        <a:solidFill>
          <a:schemeClr val="tx1"/>
        </a:solidFill>
        <a:latin typeface="Times" charset="0"/>
        <a:ea typeface="+mn-ea"/>
        <a:cs typeface="+mn-cs"/>
      </a:defRPr>
    </a:lvl8pPr>
    <a:lvl9pPr marL="3657600" algn="l" defTabSz="914400" rtl="0" eaLnBrk="1" latinLnBrk="0" hangingPunct="1">
      <a:defRPr sz="2800" kern="1200">
        <a:solidFill>
          <a:schemeClr val="tx1"/>
        </a:solidFill>
        <a:latin typeface="Times"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632" autoAdjust="0"/>
    <p:restoredTop sz="90929"/>
  </p:normalViewPr>
  <p:slideViewPr>
    <p:cSldViewPr>
      <p:cViewPr varScale="1">
        <p:scale>
          <a:sx n="123" d="100"/>
          <a:sy n="123" d="100"/>
        </p:scale>
        <p:origin x="1528" y="1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18752"/>
    </p:cViewPr>
  </p:sorterViewPr>
  <p:gridSpacing cx="72008" cy="72008"/>
</p:viewPr>
</file>

<file path=ppt/_rels/presentation.xml.rels><?xml version="1.0" encoding="utf-8"?><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74"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0" Type="http://schemas.openxmlformats.org/officeDocument/2006/relationships/slide" Target="slides/slide1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31" Type="http://schemas.openxmlformats.org/officeDocument/2006/relationships/slide" Target="slides/slide30.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76" Type="http://schemas.openxmlformats.org/officeDocument/2006/relationships/tableStyles" Target="tableStyles.xml"/><Relationship Id="rId7" Type="http://schemas.openxmlformats.org/officeDocument/2006/relationships/slide" Target="slides/slide6.xml"/>  <Relationship Id="rId77" Type="http://schemas.openxmlformats.org/officeDocument/2006/relationships/slide" Target="slides/slide71.xml"/>
  <Relationship Id="rId78" Type="http://schemas.openxmlformats.org/officeDocument/2006/relationships/slide" Target="slides/slide72.xml"/>
  <Relationship Id="rId79" Type="http://schemas.openxmlformats.org/officeDocument/2006/relationships/slide" Target="slides/slide73.xml"/>
  <Relationship Id="rId80" Type="http://schemas.openxmlformats.org/officeDocument/2006/relationships/slide" Target="slides/slide74.xml"/>
  <Relationship Id="rId81" Type="http://schemas.openxmlformats.org/officeDocument/2006/relationships/slide" Target="slides/slide75.xml"/>
  <Relationship Id="rId82" Type="http://schemas.openxmlformats.org/officeDocument/2006/relationships/slide" Target="slides/slide76.xml"/>
  <Relationship Id="rId83" Type="http://schemas.openxmlformats.org/officeDocument/2006/relationships/slide" Target="slides/slide77.xml"/>
  <Relationship Id="rId84" Type="http://schemas.openxmlformats.org/officeDocument/2006/relationships/slide" Target="slides/slide78.xml"/>
  <Relationship Id="rId85" Type="http://schemas.openxmlformats.org/officeDocument/2006/relationships/slide" Target="slides/slide79.xml"/>
  <Relationship Id="rId86" Type="http://schemas.openxmlformats.org/officeDocument/2006/relationships/slide" Target="slides/slide80.xml"/>
  <Relationship Id="rId87" Type="http://schemas.openxmlformats.org/officeDocument/2006/relationships/slide" Target="slides/slide81.xml"/>
  <Relationship Id="rId88" Type="http://schemas.openxmlformats.org/officeDocument/2006/relationships/slide" Target="slides/slide82.xml"/>
  <Relationship Id="rId89" Type="http://schemas.openxmlformats.org/officeDocument/2006/relationships/slide" Target="slides/slide83.xml"/>
  <Relationship Id="rId90" Type="http://schemas.openxmlformats.org/officeDocument/2006/relationships/slide" Target="slides/slide84.xml"/>
  <Relationship Id="rId91" Type="http://schemas.openxmlformats.org/officeDocument/2006/relationships/slide" Target="slides/slide85.xml"/>
  <Relationship Id="rId92" Type="http://schemas.openxmlformats.org/officeDocument/2006/relationships/slide" Target="slides/slide86.xml"/>
  <Relationship Id="rId93" Type="http://schemas.openxmlformats.org/officeDocument/2006/relationships/slide" Target="slides/slide87.xml"/>
  <Relationship Id="rId94" Type="http://schemas.openxmlformats.org/officeDocument/2006/relationships/slide" Target="slides/slide88.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24D4C2F5-7987-DFC4-ADC0-96169826F927}"/>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en-GB" altLang="en-US"/>
          </a:p>
        </p:txBody>
      </p:sp>
      <p:sp>
        <p:nvSpPr>
          <p:cNvPr id="50179" name="Rectangle 3">
            <a:extLst>
              <a:ext uri="{FF2B5EF4-FFF2-40B4-BE49-F238E27FC236}">
                <a16:creationId xmlns:a16="http://schemas.microsoft.com/office/drawing/2014/main" id="{0AA13208-CE36-C690-7E43-5F72329BD52F}"/>
              </a:ext>
            </a:extLst>
          </p:cNvPr>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en-GB" altLang="en-US"/>
          </a:p>
        </p:txBody>
      </p:sp>
      <p:sp>
        <p:nvSpPr>
          <p:cNvPr id="50180" name="Rectangle 4">
            <a:extLst>
              <a:ext uri="{FF2B5EF4-FFF2-40B4-BE49-F238E27FC236}">
                <a16:creationId xmlns:a16="http://schemas.microsoft.com/office/drawing/2014/main" id="{8D2EDF46-B331-2A0B-5614-09F9E69D138E}"/>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50181" name="Rectangle 5">
            <a:extLst>
              <a:ext uri="{FF2B5EF4-FFF2-40B4-BE49-F238E27FC236}">
                <a16:creationId xmlns:a16="http://schemas.microsoft.com/office/drawing/2014/main" id="{74CC6DF0-F7C1-0CE4-6A0F-EA46DB46111C}"/>
              </a:ext>
            </a:extLst>
          </p:cNvPr>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p>
        </p:txBody>
      </p:sp>
      <p:sp>
        <p:nvSpPr>
          <p:cNvPr id="50182" name="Rectangle 6">
            <a:extLst>
              <a:ext uri="{FF2B5EF4-FFF2-40B4-BE49-F238E27FC236}">
                <a16:creationId xmlns:a16="http://schemas.microsoft.com/office/drawing/2014/main" id="{2513375E-048D-76B8-EDE6-ABD477908EC5}"/>
              </a:ext>
            </a:extLst>
          </p:cNvPr>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endParaRPr lang="en-GB" altLang="en-US"/>
          </a:p>
        </p:txBody>
      </p:sp>
      <p:sp>
        <p:nvSpPr>
          <p:cNvPr id="50183" name="Rectangle 7">
            <a:extLst>
              <a:ext uri="{FF2B5EF4-FFF2-40B4-BE49-F238E27FC236}">
                <a16:creationId xmlns:a16="http://schemas.microsoft.com/office/drawing/2014/main" id="{8221D367-4687-3EF7-8FE0-38F0E4089FEE}"/>
              </a:ext>
            </a:extLst>
          </p:cNvPr>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DA325B86-FF21-554E-A87D-229A32C74F0D}" type="slidenum">
              <a:rPr lang="en-GB" altLang="en-US"/>
              <a:pPr/>
              <a:t>‹#›</a:t>
            </a:fld>
            <a:endParaRPr lang="en-GB" alt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charset="0"/>
        <a:ea typeface="+mn-ea"/>
        <a:cs typeface="+mn-cs"/>
      </a:defRPr>
    </a:lvl1pPr>
    <a:lvl2pPr marL="457200" algn="l" rtl="0" fontAlgn="base">
      <a:spcBef>
        <a:spcPct val="30000"/>
      </a:spcBef>
      <a:spcAft>
        <a:spcPct val="0"/>
      </a:spcAft>
      <a:defRPr sz="1200" kern="1200">
        <a:solidFill>
          <a:schemeClr val="tx1"/>
        </a:solidFill>
        <a:latin typeface="Times" charset="0"/>
        <a:ea typeface="+mn-ea"/>
        <a:cs typeface="+mn-cs"/>
      </a:defRPr>
    </a:lvl2pPr>
    <a:lvl3pPr marL="914400" algn="l" rtl="0" fontAlgn="base">
      <a:spcBef>
        <a:spcPct val="30000"/>
      </a:spcBef>
      <a:spcAft>
        <a:spcPct val="0"/>
      </a:spcAft>
      <a:defRPr sz="1200" kern="1200">
        <a:solidFill>
          <a:schemeClr val="tx1"/>
        </a:solidFill>
        <a:latin typeface="Times" charset="0"/>
        <a:ea typeface="+mn-ea"/>
        <a:cs typeface="+mn-cs"/>
      </a:defRPr>
    </a:lvl3pPr>
    <a:lvl4pPr marL="1371600" algn="l" rtl="0" fontAlgn="base">
      <a:spcBef>
        <a:spcPct val="30000"/>
      </a:spcBef>
      <a:spcAft>
        <a:spcPct val="0"/>
      </a:spcAft>
      <a:defRPr sz="1200" kern="1200">
        <a:solidFill>
          <a:schemeClr val="tx1"/>
        </a:solidFill>
        <a:latin typeface="Times" charset="0"/>
        <a:ea typeface="+mn-ea"/>
        <a:cs typeface="+mn-cs"/>
      </a:defRPr>
    </a:lvl4pPr>
    <a:lvl5pPr marL="1828800" algn="l" rtl="0" fontAlgn="base">
      <a:spcBef>
        <a:spcPct val="30000"/>
      </a:spcBef>
      <a:spcAft>
        <a:spcPct val="0"/>
      </a:spcAft>
      <a:defRPr sz="1200" kern="1200">
        <a:solidFill>
          <a:schemeClr val="tx1"/>
        </a:solidFill>
        <a:latin typeface="Times"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Set expectations. Timing guide: models ~20 min incl. 5 activities; ergonomics ~10 min; styles ~20 min; exit ticket 3 min.</a:t>
            </a:r>
          </a:p>
          <a:p>
            <a:r>
              <a:rPr lang="en-GB" dirty="0"/>
              <a:t>The two activities marked 'skip if short of time' (ergonomic audit, car-controls poll) can be dropped without breaking the flow.</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THINK-PAIR-SHARE, 3 minutes.</a:t>
            </a:r>
          </a:p>
          <a:p>
            <a:r>
              <a:rPr lang="en-GB" dirty="0"/>
              <a:t>Ask everyone to write three short lines: what they wanted, what they did, what happened.</a:t>
            </a:r>
          </a:p>
          <a:p>
            <a:r>
              <a:rPr lang="en-GB" dirty="0"/>
              <a:t>Walk the room; pick two good examples to reuse later (ATM and fee-portal stories usually come up).</a:t>
            </a:r>
          </a:p>
          <a:p>
            <a:r>
              <a:rPr lang="en-GB" dirty="0"/>
              <a:t>Tell them to keep the sheet — it returns at the 'Spot the gulf' slide.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QUIZ, 2 minutes. Read the scenario aloud. Students write D, G or T for lines a–e.</a:t>
            </a:r>
          </a:p>
          <a:p>
            <a:r>
              <a:rPr lang="en-GB" dirty="0"/>
              <a:t>Hands up for each line before revealing — expect disagreement on (d) and (e); that is the point.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Answers: a Domain, b Goal, c Task, d Task (a single action within the task), e Goal at a higher level.</a:t>
            </a:r>
          </a:p>
          <a:p>
            <a:r>
              <a:rPr lang="en-GB" dirty="0"/>
              <a:t>Discussion: (e) shows goals nest — 'send Eidi' is itself a step towards 'manage my money'.</a:t>
            </a:r>
          </a:p>
          <a:p>
            <a:r>
              <a:rPr lang="en-GB" dirty="0"/>
              <a:t>Link back to slide 5: 'use of terms differs a lot especially task/goal'.</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LIVE EXERCISE, 4 minutes. Students actually set (then delete) an alarm on their phone and fill the right-hand column.</a:t>
            </a:r>
          </a:p>
          <a:p>
            <a:r>
              <a:rPr lang="en-GB" dirty="0"/>
              <a:t>Stages 1–4 are the execution side; 5–7 are evaluation.</a:t>
            </a:r>
          </a:p>
          <a:p>
            <a:r>
              <a:rPr lang="en-GB" dirty="0"/>
              <a:t>Ask one Android and one iPhone user to read out stage 3 — the action sequences differ, the goal does not.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One possible answer. Point at stage 7: the user is not sure the goal is met.</a:t>
            </a:r>
          </a:p>
          <a:p>
            <a:r>
              <a:rPr lang="en-GB" dirty="0"/>
              <a:t>Many phones now show a message such as 'Alarm set for 7 hours 12 minutes from now' — that is the designer bridging the evaluation side for you.</a:t>
            </a:r>
          </a:p>
          <a:p>
            <a:r>
              <a:rPr lang="en-GB" dirty="0"/>
              <a:t>Question to class: which stage would a first-time smartphone user struggle with most? (Usually 3 — specifying actions.)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POLL, 2 minutes. Read each card; the class shows 1 finger (execution) or 2 fingers (evaluation).</a:t>
            </a:r>
          </a:p>
          <a:p>
            <a:r>
              <a:rPr lang="en-GB" dirty="0"/>
              <a:t>Rule of thumb to give them: 'I don't know HOW to do it' = execution; 'I don't know WHAT HAPPENED' = evaluation.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Answers: 1 Execution, 2 Evaluation, 3 Execution, 4 Evaluation.</a:t>
            </a:r>
          </a:p>
          <a:p>
            <a:r>
              <a:rPr lang="en-GB" dirty="0"/>
              <a:t>Now return to the warm-up sheets: ask three students which gulf their own frustration was. Most real stories are evaluation problems — systems are bad at telling us what they did.</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QUIZ, 2 minutes. Students write S or M for each line. Take a quick show of hands for line 4 — it splits the room.</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Answers: 1 slip, 2 mistake, 3 slip, 4 mistake, 5 slip (a 'capture' slip — a familiar action takes over).</a:t>
            </a:r>
          </a:p>
          <a:p>
            <a:r>
              <a:rPr lang="en-GB" dirty="0"/>
              <a:t>Key message from slide 12: the fixes do not transfer. Training does not stop Caps-Lock slips; a better button does not fix a wrong mental model.</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CASE PUZZLE, 4 minutes, groups of three.</a:t>
            </a:r>
          </a:p>
          <a:p>
            <a:r>
              <a:rPr lang="en-GB" dirty="0"/>
              <a:t>The four numbered arrows are the four translations Dix et al. name for the framework: articulation, performance, presentation, observation.</a:t>
            </a:r>
          </a:p>
          <a:p>
            <a:r>
              <a:rPr lang="en-GB" dirty="0"/>
              <a:t>Each group fills both columns for booking a ride to campus. Nudge them: 'where could the message get lost at each arrow?'</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One group's answer. Emphasise slide 13: problems in interaction = problems in translation.</a:t>
            </a:r>
          </a:p>
          <a:p>
            <a:r>
              <a:rPr lang="en-GB" dirty="0"/>
              <a:t>Ask: which arrow does the number-plate fix repair? (4, observation.) Which arrow did the 'Spot the gulf' spinner break? (3/4 — presentation and observation, the evaluation side.)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LIVE EXERCISE, 4 minutes — optional if time is short.</a:t>
            </a:r>
          </a:p>
          <a:p>
            <a:r>
              <a:rPr lang="en-GB" dirty="0"/>
              <a:t>Typical findings: unlabelled bank of light switches (controls), fixed benches that don't fit tall students (environment), projector washed out by window light (health/lighting), red-on-blue slides (colour).</a:t>
            </a:r>
          </a:p>
          <a:p>
            <a:r>
              <a:rPr lang="en-GB" dirty="0"/>
              <a:t>Link: ergonomics gives standards and guidelines — e.g. switches grouped and ordered to match the lights they control.</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POLL, 1 minute, then 2 minutes of argument — optional.</a:t>
            </a:r>
          </a:p>
          <a:p>
            <a:r>
              <a:rPr lang="en-GB" dirty="0"/>
              <a:t>Most classes split between A and C. Push the 'industrial' framing from slide 18: the driver's attention belongs to the road.</a:t>
            </a:r>
          </a:p>
          <a:p>
            <a:r>
              <a:rPr lang="en-GB" dirty="0"/>
              <a:t>Real-world note to share cautiously: several car makers have brought back physical buttons after driver feedback, and Euro NCAP announced that from 2026 its top ratings expect physical controls for key functions (indicators, hazards, horn, wipers). Check the latest before quoting details.</a:t>
            </a:r>
          </a:p>
          <a:p>
            <a:r>
              <a:rPr lang="en-GB" dirty="0"/>
              <a:t>'May need both' (slide 19) is usually the defensible answer.</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QUIZ, 3 minutes in pairs. Styles A–H are deliberately scrambled.</a:t>
            </a:r>
          </a:p>
          <a:p>
            <a:r>
              <a:rPr lang="en-GB" dirty="0"/>
              <a:t>Bonus question for fast pairs: which style is a chatbot such as ChatGPT? (Typed natural language — with question/answer dialogue on top.)</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Answers: 1C, 2E, 3G, 4B, 5H, 6A, 7F, 8D.</a:t>
            </a:r>
          </a:p>
          <a:p>
            <a:r>
              <a:rPr lang="en-GB" dirty="0"/>
              <a:t>Discuss 2: an ATM menu is selection by number keys — a restricted menu system, not full WIMP (slide 24).</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Exit ticket, 3 minutes. Collect slips at the door — a quick count shows which idea needs revisiting next lecture.</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Answers: 1b, 2c, 3b, 4b, 5a.</a:t>
            </a:r>
          </a:p>
          <a:p>
            <a:r>
              <a:rPr lang="en-GB" dirty="0"/>
              <a:t>Preview of Lecture 2: the elements of WIMP interfaces, interactivity, context, experience and physical design.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27972-CD6E-AEEE-1EE0-EDEA0DFF58E9}"/>
              </a:ext>
            </a:extLst>
          </p:cNvPr>
          <p:cNvSpPr>
            <a:spLocks noGrp="1"/>
          </p:cNvSpPr>
          <p:nvPr>
            <p:ph type="ctrTitle"/>
          </p:nvPr>
        </p:nvSpPr>
        <p:spPr>
          <a:xfrm>
            <a:off x="1143000" y="1122363"/>
            <a:ext cx="6858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215EE27B-955F-C226-CE49-69ED101F5BCA}"/>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6B06F5DE-7DF3-42C3-D836-AADCC6817FFE}"/>
              </a:ext>
            </a:extLst>
          </p:cNvPr>
          <p:cNvSpPr>
            <a:spLocks noGrp="1"/>
          </p:cNvSpPr>
          <p:nvPr>
            <p:ph type="dt" sz="half" idx="10"/>
          </p:nvPr>
        </p:nvSpPr>
        <p:spPr/>
        <p:txBody>
          <a:bodyPr/>
          <a:lstStyle>
            <a:lvl1pPr>
              <a:defRPr/>
            </a:lvl1pPr>
          </a:lstStyle>
          <a:p>
            <a:endParaRPr lang="en-GB" altLang="en-US"/>
          </a:p>
        </p:txBody>
      </p:sp>
      <p:sp>
        <p:nvSpPr>
          <p:cNvPr id="5" name="Footer Placeholder 4">
            <a:extLst>
              <a:ext uri="{FF2B5EF4-FFF2-40B4-BE49-F238E27FC236}">
                <a16:creationId xmlns:a16="http://schemas.microsoft.com/office/drawing/2014/main" id="{41D2E5A9-633D-CCE1-9B27-FE826A744A6B}"/>
              </a:ext>
            </a:extLst>
          </p:cNvPr>
          <p:cNvSpPr>
            <a:spLocks noGrp="1"/>
          </p:cNvSpPr>
          <p:nvPr>
            <p:ph type="ftr" sz="quarter" idx="11"/>
          </p:nvPr>
        </p:nvSpPr>
        <p:spPr/>
        <p:txBody>
          <a:bodyPr/>
          <a:lstStyle>
            <a:lvl1pPr>
              <a:defRPr/>
            </a:lvl1pPr>
          </a:lstStyle>
          <a:p>
            <a:endParaRPr lang="en-GB" altLang="en-US"/>
          </a:p>
        </p:txBody>
      </p:sp>
      <p:sp>
        <p:nvSpPr>
          <p:cNvPr id="6" name="Slide Number Placeholder 5">
            <a:extLst>
              <a:ext uri="{FF2B5EF4-FFF2-40B4-BE49-F238E27FC236}">
                <a16:creationId xmlns:a16="http://schemas.microsoft.com/office/drawing/2014/main" id="{8429A4F9-65C0-40F1-691E-62935282164B}"/>
              </a:ext>
            </a:extLst>
          </p:cNvPr>
          <p:cNvSpPr>
            <a:spLocks noGrp="1"/>
          </p:cNvSpPr>
          <p:nvPr>
            <p:ph type="sldNum" sz="quarter" idx="12"/>
          </p:nvPr>
        </p:nvSpPr>
        <p:spPr/>
        <p:txBody>
          <a:bodyPr/>
          <a:lstStyle>
            <a:lvl1pPr>
              <a:defRPr/>
            </a:lvl1pPr>
          </a:lstStyle>
          <a:p>
            <a:fld id="{6B6685E1-E53B-4849-8902-7A79952EDBB7}" type="slidenum">
              <a:rPr lang="en-GB" altLang="en-US"/>
              <a:pPr/>
              <a:t>‹#›</a:t>
            </a:fld>
            <a:endParaRPr lang="en-GB" altLang="en-US"/>
          </a:p>
        </p:txBody>
      </p:sp>
    </p:spTree>
    <p:extLst>
      <p:ext uri="{BB962C8B-B14F-4D97-AF65-F5344CB8AC3E}">
        <p14:creationId xmlns:p14="http://schemas.microsoft.com/office/powerpoint/2010/main" val="28068090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01859-8C3B-56B3-BB8F-E0C01C1867CE}"/>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D4AFA0A0-CCB8-88E1-3C85-90E9B5EF2F1C}"/>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B1BA6198-D6F1-12A8-9300-0178E146EEBF}"/>
              </a:ext>
            </a:extLst>
          </p:cNvPr>
          <p:cNvSpPr>
            <a:spLocks noGrp="1"/>
          </p:cNvSpPr>
          <p:nvPr>
            <p:ph type="dt" sz="half" idx="10"/>
          </p:nvPr>
        </p:nvSpPr>
        <p:spPr/>
        <p:txBody>
          <a:bodyPr/>
          <a:lstStyle>
            <a:lvl1pPr>
              <a:defRPr/>
            </a:lvl1pPr>
          </a:lstStyle>
          <a:p>
            <a:endParaRPr lang="en-GB" altLang="en-US"/>
          </a:p>
        </p:txBody>
      </p:sp>
      <p:sp>
        <p:nvSpPr>
          <p:cNvPr id="5" name="Footer Placeholder 4">
            <a:extLst>
              <a:ext uri="{FF2B5EF4-FFF2-40B4-BE49-F238E27FC236}">
                <a16:creationId xmlns:a16="http://schemas.microsoft.com/office/drawing/2014/main" id="{7BA17BDD-3C71-609F-0006-D210BA04CDC5}"/>
              </a:ext>
            </a:extLst>
          </p:cNvPr>
          <p:cNvSpPr>
            <a:spLocks noGrp="1"/>
          </p:cNvSpPr>
          <p:nvPr>
            <p:ph type="ftr" sz="quarter" idx="11"/>
          </p:nvPr>
        </p:nvSpPr>
        <p:spPr/>
        <p:txBody>
          <a:bodyPr/>
          <a:lstStyle>
            <a:lvl1pPr>
              <a:defRPr/>
            </a:lvl1pPr>
          </a:lstStyle>
          <a:p>
            <a:endParaRPr lang="en-GB" altLang="en-US"/>
          </a:p>
        </p:txBody>
      </p:sp>
      <p:sp>
        <p:nvSpPr>
          <p:cNvPr id="6" name="Slide Number Placeholder 5">
            <a:extLst>
              <a:ext uri="{FF2B5EF4-FFF2-40B4-BE49-F238E27FC236}">
                <a16:creationId xmlns:a16="http://schemas.microsoft.com/office/drawing/2014/main" id="{1468936F-C8D0-D943-0821-30B45C02744A}"/>
              </a:ext>
            </a:extLst>
          </p:cNvPr>
          <p:cNvSpPr>
            <a:spLocks noGrp="1"/>
          </p:cNvSpPr>
          <p:nvPr>
            <p:ph type="sldNum" sz="quarter" idx="12"/>
          </p:nvPr>
        </p:nvSpPr>
        <p:spPr/>
        <p:txBody>
          <a:bodyPr/>
          <a:lstStyle>
            <a:lvl1pPr>
              <a:defRPr/>
            </a:lvl1pPr>
          </a:lstStyle>
          <a:p>
            <a:fld id="{0D8785E2-8180-294C-8793-38A01713CB24}" type="slidenum">
              <a:rPr lang="en-GB" altLang="en-US"/>
              <a:pPr/>
              <a:t>‹#›</a:t>
            </a:fld>
            <a:endParaRPr lang="en-GB" altLang="en-US"/>
          </a:p>
        </p:txBody>
      </p:sp>
    </p:spTree>
    <p:extLst>
      <p:ext uri="{BB962C8B-B14F-4D97-AF65-F5344CB8AC3E}">
        <p14:creationId xmlns:p14="http://schemas.microsoft.com/office/powerpoint/2010/main" val="8219535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D7D9E9-23C4-B0AD-0EF3-A3A17BB97DB7}"/>
              </a:ext>
            </a:extLst>
          </p:cNvPr>
          <p:cNvSpPr>
            <a:spLocks noGrp="1"/>
          </p:cNvSpPr>
          <p:nvPr>
            <p:ph type="title"/>
          </p:nvPr>
        </p:nvSpPr>
        <p:spPr>
          <a:xfrm>
            <a:off x="623888" y="1709738"/>
            <a:ext cx="78867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B85DD433-2AB2-9A7D-5E61-434B90CECCB8}"/>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GB"/>
              <a:t>Click to edit Master text styles</a:t>
            </a:r>
          </a:p>
        </p:txBody>
      </p:sp>
      <p:sp>
        <p:nvSpPr>
          <p:cNvPr id="4" name="Date Placeholder 3">
            <a:extLst>
              <a:ext uri="{FF2B5EF4-FFF2-40B4-BE49-F238E27FC236}">
                <a16:creationId xmlns:a16="http://schemas.microsoft.com/office/drawing/2014/main" id="{AF885EE3-C603-AAC9-9C11-C1BDE532DAF1}"/>
              </a:ext>
            </a:extLst>
          </p:cNvPr>
          <p:cNvSpPr>
            <a:spLocks noGrp="1"/>
          </p:cNvSpPr>
          <p:nvPr>
            <p:ph type="dt" sz="half" idx="10"/>
          </p:nvPr>
        </p:nvSpPr>
        <p:spPr/>
        <p:txBody>
          <a:bodyPr/>
          <a:lstStyle>
            <a:lvl1pPr>
              <a:defRPr/>
            </a:lvl1pPr>
          </a:lstStyle>
          <a:p>
            <a:endParaRPr lang="en-GB" altLang="en-US"/>
          </a:p>
        </p:txBody>
      </p:sp>
      <p:sp>
        <p:nvSpPr>
          <p:cNvPr id="5" name="Footer Placeholder 4">
            <a:extLst>
              <a:ext uri="{FF2B5EF4-FFF2-40B4-BE49-F238E27FC236}">
                <a16:creationId xmlns:a16="http://schemas.microsoft.com/office/drawing/2014/main" id="{A0B0446F-2FD2-71A1-4E61-07E8FF820545}"/>
              </a:ext>
            </a:extLst>
          </p:cNvPr>
          <p:cNvSpPr>
            <a:spLocks noGrp="1"/>
          </p:cNvSpPr>
          <p:nvPr>
            <p:ph type="ftr" sz="quarter" idx="11"/>
          </p:nvPr>
        </p:nvSpPr>
        <p:spPr/>
        <p:txBody>
          <a:bodyPr/>
          <a:lstStyle>
            <a:lvl1pPr>
              <a:defRPr/>
            </a:lvl1pPr>
          </a:lstStyle>
          <a:p>
            <a:endParaRPr lang="en-GB" altLang="en-US"/>
          </a:p>
        </p:txBody>
      </p:sp>
      <p:sp>
        <p:nvSpPr>
          <p:cNvPr id="6" name="Slide Number Placeholder 5">
            <a:extLst>
              <a:ext uri="{FF2B5EF4-FFF2-40B4-BE49-F238E27FC236}">
                <a16:creationId xmlns:a16="http://schemas.microsoft.com/office/drawing/2014/main" id="{43B221D1-4665-7C4A-CECB-4A55E1A87AC5}"/>
              </a:ext>
            </a:extLst>
          </p:cNvPr>
          <p:cNvSpPr>
            <a:spLocks noGrp="1"/>
          </p:cNvSpPr>
          <p:nvPr>
            <p:ph type="sldNum" sz="quarter" idx="12"/>
          </p:nvPr>
        </p:nvSpPr>
        <p:spPr/>
        <p:txBody>
          <a:bodyPr/>
          <a:lstStyle>
            <a:lvl1pPr>
              <a:defRPr/>
            </a:lvl1pPr>
          </a:lstStyle>
          <a:p>
            <a:fld id="{22B44206-84B8-744C-BFFE-6449E2BCFD98}" type="slidenum">
              <a:rPr lang="en-GB" altLang="en-US"/>
              <a:pPr/>
              <a:t>‹#›</a:t>
            </a:fld>
            <a:endParaRPr lang="en-GB" altLang="en-US"/>
          </a:p>
        </p:txBody>
      </p:sp>
    </p:spTree>
    <p:extLst>
      <p:ext uri="{BB962C8B-B14F-4D97-AF65-F5344CB8AC3E}">
        <p14:creationId xmlns:p14="http://schemas.microsoft.com/office/powerpoint/2010/main" val="13753348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B11A7-D6A2-464B-FD98-82CD0D5F0940}"/>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C6D2D1FA-B831-45EF-28C4-0293CD88C133}"/>
              </a:ext>
            </a:extLst>
          </p:cNvPr>
          <p:cNvSpPr>
            <a:spLocks noGrp="1"/>
          </p:cNvSpPr>
          <p:nvPr>
            <p:ph sz="half" idx="1"/>
          </p:nvPr>
        </p:nvSpPr>
        <p:spPr>
          <a:xfrm>
            <a:off x="685800" y="1981200"/>
            <a:ext cx="3810000" cy="41148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59D061F4-68C2-2863-5710-9C1904EE5534}"/>
              </a:ext>
            </a:extLst>
          </p:cNvPr>
          <p:cNvSpPr>
            <a:spLocks noGrp="1"/>
          </p:cNvSpPr>
          <p:nvPr>
            <p:ph sz="half" idx="2"/>
          </p:nvPr>
        </p:nvSpPr>
        <p:spPr>
          <a:xfrm>
            <a:off x="4648200" y="1981200"/>
            <a:ext cx="3810000" cy="41148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3BE01E9B-CB4B-5077-F953-BDE98766463F}"/>
              </a:ext>
            </a:extLst>
          </p:cNvPr>
          <p:cNvSpPr>
            <a:spLocks noGrp="1"/>
          </p:cNvSpPr>
          <p:nvPr>
            <p:ph type="dt" sz="half" idx="10"/>
          </p:nvPr>
        </p:nvSpPr>
        <p:spPr/>
        <p:txBody>
          <a:bodyPr/>
          <a:lstStyle>
            <a:lvl1pPr>
              <a:defRPr/>
            </a:lvl1pPr>
          </a:lstStyle>
          <a:p>
            <a:endParaRPr lang="en-GB" altLang="en-US"/>
          </a:p>
        </p:txBody>
      </p:sp>
      <p:sp>
        <p:nvSpPr>
          <p:cNvPr id="6" name="Footer Placeholder 5">
            <a:extLst>
              <a:ext uri="{FF2B5EF4-FFF2-40B4-BE49-F238E27FC236}">
                <a16:creationId xmlns:a16="http://schemas.microsoft.com/office/drawing/2014/main" id="{A77CF655-5C7C-6149-994C-2FADBC69AECE}"/>
              </a:ext>
            </a:extLst>
          </p:cNvPr>
          <p:cNvSpPr>
            <a:spLocks noGrp="1"/>
          </p:cNvSpPr>
          <p:nvPr>
            <p:ph type="ftr" sz="quarter" idx="11"/>
          </p:nvPr>
        </p:nvSpPr>
        <p:spPr/>
        <p:txBody>
          <a:bodyPr/>
          <a:lstStyle>
            <a:lvl1pPr>
              <a:defRPr/>
            </a:lvl1pPr>
          </a:lstStyle>
          <a:p>
            <a:endParaRPr lang="en-GB" altLang="en-US"/>
          </a:p>
        </p:txBody>
      </p:sp>
      <p:sp>
        <p:nvSpPr>
          <p:cNvPr id="7" name="Slide Number Placeholder 6">
            <a:extLst>
              <a:ext uri="{FF2B5EF4-FFF2-40B4-BE49-F238E27FC236}">
                <a16:creationId xmlns:a16="http://schemas.microsoft.com/office/drawing/2014/main" id="{51220C77-7BDA-2067-FBD1-B3854DBDAA56}"/>
              </a:ext>
            </a:extLst>
          </p:cNvPr>
          <p:cNvSpPr>
            <a:spLocks noGrp="1"/>
          </p:cNvSpPr>
          <p:nvPr>
            <p:ph type="sldNum" sz="quarter" idx="12"/>
          </p:nvPr>
        </p:nvSpPr>
        <p:spPr/>
        <p:txBody>
          <a:bodyPr/>
          <a:lstStyle>
            <a:lvl1pPr>
              <a:defRPr/>
            </a:lvl1pPr>
          </a:lstStyle>
          <a:p>
            <a:fld id="{4140247A-55D6-C24A-A361-C846F4E5F896}" type="slidenum">
              <a:rPr lang="en-GB" altLang="en-US"/>
              <a:pPr/>
              <a:t>‹#›</a:t>
            </a:fld>
            <a:endParaRPr lang="en-GB" altLang="en-US"/>
          </a:p>
        </p:txBody>
      </p:sp>
    </p:spTree>
    <p:extLst>
      <p:ext uri="{BB962C8B-B14F-4D97-AF65-F5344CB8AC3E}">
        <p14:creationId xmlns:p14="http://schemas.microsoft.com/office/powerpoint/2010/main" val="2304628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79A12-4714-3048-18BE-8533417081C2}"/>
              </a:ext>
            </a:extLst>
          </p:cNvPr>
          <p:cNvSpPr>
            <a:spLocks noGrp="1"/>
          </p:cNvSpPr>
          <p:nvPr>
            <p:ph type="title"/>
          </p:nvPr>
        </p:nvSpPr>
        <p:spPr>
          <a:xfrm>
            <a:off x="630238" y="365125"/>
            <a:ext cx="78867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C1272E74-1EAD-442A-115E-5B6A0DB7F589}"/>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83D237CB-B738-AFBD-D436-8BEB3D28BC82}"/>
              </a:ext>
            </a:extLst>
          </p:cNvPr>
          <p:cNvSpPr>
            <a:spLocks noGrp="1"/>
          </p:cNvSpPr>
          <p:nvPr>
            <p:ph sz="half" idx="2"/>
          </p:nvPr>
        </p:nvSpPr>
        <p:spPr>
          <a:xfrm>
            <a:off x="630238" y="2505075"/>
            <a:ext cx="386873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1FC4355B-2E30-5499-3342-0B379B1C6B66}"/>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77BB196B-9F88-130C-CEB5-532EB1745737}"/>
              </a:ext>
            </a:extLst>
          </p:cNvPr>
          <p:cNvSpPr>
            <a:spLocks noGrp="1"/>
          </p:cNvSpPr>
          <p:nvPr>
            <p:ph sz="quarter" idx="4"/>
          </p:nvPr>
        </p:nvSpPr>
        <p:spPr>
          <a:xfrm>
            <a:off x="4629150" y="2505075"/>
            <a:ext cx="38877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153A0F87-8C26-6F82-D4B1-5E7873783C2A}"/>
              </a:ext>
            </a:extLst>
          </p:cNvPr>
          <p:cNvSpPr>
            <a:spLocks noGrp="1"/>
          </p:cNvSpPr>
          <p:nvPr>
            <p:ph type="dt" sz="half" idx="10"/>
          </p:nvPr>
        </p:nvSpPr>
        <p:spPr/>
        <p:txBody>
          <a:bodyPr/>
          <a:lstStyle>
            <a:lvl1pPr>
              <a:defRPr/>
            </a:lvl1pPr>
          </a:lstStyle>
          <a:p>
            <a:endParaRPr lang="en-GB" altLang="en-US"/>
          </a:p>
        </p:txBody>
      </p:sp>
      <p:sp>
        <p:nvSpPr>
          <p:cNvPr id="8" name="Footer Placeholder 7">
            <a:extLst>
              <a:ext uri="{FF2B5EF4-FFF2-40B4-BE49-F238E27FC236}">
                <a16:creationId xmlns:a16="http://schemas.microsoft.com/office/drawing/2014/main" id="{0CBEC24A-78B4-E88D-4AFC-D43B1AE3DB73}"/>
              </a:ext>
            </a:extLst>
          </p:cNvPr>
          <p:cNvSpPr>
            <a:spLocks noGrp="1"/>
          </p:cNvSpPr>
          <p:nvPr>
            <p:ph type="ftr" sz="quarter" idx="11"/>
          </p:nvPr>
        </p:nvSpPr>
        <p:spPr/>
        <p:txBody>
          <a:bodyPr/>
          <a:lstStyle>
            <a:lvl1pPr>
              <a:defRPr/>
            </a:lvl1pPr>
          </a:lstStyle>
          <a:p>
            <a:endParaRPr lang="en-GB" altLang="en-US"/>
          </a:p>
        </p:txBody>
      </p:sp>
      <p:sp>
        <p:nvSpPr>
          <p:cNvPr id="9" name="Slide Number Placeholder 8">
            <a:extLst>
              <a:ext uri="{FF2B5EF4-FFF2-40B4-BE49-F238E27FC236}">
                <a16:creationId xmlns:a16="http://schemas.microsoft.com/office/drawing/2014/main" id="{78FCA3BD-E7E9-25ED-989D-34940068F407}"/>
              </a:ext>
            </a:extLst>
          </p:cNvPr>
          <p:cNvSpPr>
            <a:spLocks noGrp="1"/>
          </p:cNvSpPr>
          <p:nvPr>
            <p:ph type="sldNum" sz="quarter" idx="12"/>
          </p:nvPr>
        </p:nvSpPr>
        <p:spPr/>
        <p:txBody>
          <a:bodyPr/>
          <a:lstStyle>
            <a:lvl1pPr>
              <a:defRPr/>
            </a:lvl1pPr>
          </a:lstStyle>
          <a:p>
            <a:fld id="{DC62FA2C-F75A-9C42-AE67-6EFF8B084516}" type="slidenum">
              <a:rPr lang="en-GB" altLang="en-US"/>
              <a:pPr/>
              <a:t>‹#›</a:t>
            </a:fld>
            <a:endParaRPr lang="en-GB" altLang="en-US"/>
          </a:p>
        </p:txBody>
      </p:sp>
    </p:spTree>
    <p:extLst>
      <p:ext uri="{BB962C8B-B14F-4D97-AF65-F5344CB8AC3E}">
        <p14:creationId xmlns:p14="http://schemas.microsoft.com/office/powerpoint/2010/main" val="13491075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136BB-0097-1230-A8A1-2F2BD0DBF1E3}"/>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3BE2F07C-BF31-B8DE-9016-CF1566EDB5DC}"/>
              </a:ext>
            </a:extLst>
          </p:cNvPr>
          <p:cNvSpPr>
            <a:spLocks noGrp="1"/>
          </p:cNvSpPr>
          <p:nvPr>
            <p:ph type="dt" sz="half" idx="10"/>
          </p:nvPr>
        </p:nvSpPr>
        <p:spPr/>
        <p:txBody>
          <a:bodyPr/>
          <a:lstStyle>
            <a:lvl1pPr>
              <a:defRPr/>
            </a:lvl1pPr>
          </a:lstStyle>
          <a:p>
            <a:endParaRPr lang="en-GB" altLang="en-US"/>
          </a:p>
        </p:txBody>
      </p:sp>
      <p:sp>
        <p:nvSpPr>
          <p:cNvPr id="4" name="Footer Placeholder 3">
            <a:extLst>
              <a:ext uri="{FF2B5EF4-FFF2-40B4-BE49-F238E27FC236}">
                <a16:creationId xmlns:a16="http://schemas.microsoft.com/office/drawing/2014/main" id="{06FBB9B9-D6B9-FAA9-735B-D0872A27CACB}"/>
              </a:ext>
            </a:extLst>
          </p:cNvPr>
          <p:cNvSpPr>
            <a:spLocks noGrp="1"/>
          </p:cNvSpPr>
          <p:nvPr>
            <p:ph type="ftr" sz="quarter" idx="11"/>
          </p:nvPr>
        </p:nvSpPr>
        <p:spPr/>
        <p:txBody>
          <a:bodyPr/>
          <a:lstStyle>
            <a:lvl1pPr>
              <a:defRPr/>
            </a:lvl1pPr>
          </a:lstStyle>
          <a:p>
            <a:endParaRPr lang="en-GB" altLang="en-US"/>
          </a:p>
        </p:txBody>
      </p:sp>
      <p:sp>
        <p:nvSpPr>
          <p:cNvPr id="5" name="Slide Number Placeholder 4">
            <a:extLst>
              <a:ext uri="{FF2B5EF4-FFF2-40B4-BE49-F238E27FC236}">
                <a16:creationId xmlns:a16="http://schemas.microsoft.com/office/drawing/2014/main" id="{0ED922F7-90D1-D789-5B62-1E443C612321}"/>
              </a:ext>
            </a:extLst>
          </p:cNvPr>
          <p:cNvSpPr>
            <a:spLocks noGrp="1"/>
          </p:cNvSpPr>
          <p:nvPr>
            <p:ph type="sldNum" sz="quarter" idx="12"/>
          </p:nvPr>
        </p:nvSpPr>
        <p:spPr/>
        <p:txBody>
          <a:bodyPr/>
          <a:lstStyle>
            <a:lvl1pPr>
              <a:defRPr/>
            </a:lvl1pPr>
          </a:lstStyle>
          <a:p>
            <a:fld id="{DD4709DB-C150-8C4C-A200-0ECE9C6DCAF3}" type="slidenum">
              <a:rPr lang="en-GB" altLang="en-US"/>
              <a:pPr/>
              <a:t>‹#›</a:t>
            </a:fld>
            <a:endParaRPr lang="en-GB" altLang="en-US"/>
          </a:p>
        </p:txBody>
      </p:sp>
    </p:spTree>
    <p:extLst>
      <p:ext uri="{BB962C8B-B14F-4D97-AF65-F5344CB8AC3E}">
        <p14:creationId xmlns:p14="http://schemas.microsoft.com/office/powerpoint/2010/main" val="38568111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A6A92F5-134F-5FF5-355B-E3C0B289679B}"/>
              </a:ext>
            </a:extLst>
          </p:cNvPr>
          <p:cNvSpPr>
            <a:spLocks noGrp="1"/>
          </p:cNvSpPr>
          <p:nvPr>
            <p:ph type="dt" sz="half" idx="10"/>
          </p:nvPr>
        </p:nvSpPr>
        <p:spPr/>
        <p:txBody>
          <a:bodyPr/>
          <a:lstStyle>
            <a:lvl1pPr>
              <a:defRPr/>
            </a:lvl1pPr>
          </a:lstStyle>
          <a:p>
            <a:endParaRPr lang="en-GB" altLang="en-US"/>
          </a:p>
        </p:txBody>
      </p:sp>
      <p:sp>
        <p:nvSpPr>
          <p:cNvPr id="3" name="Footer Placeholder 2">
            <a:extLst>
              <a:ext uri="{FF2B5EF4-FFF2-40B4-BE49-F238E27FC236}">
                <a16:creationId xmlns:a16="http://schemas.microsoft.com/office/drawing/2014/main" id="{3A78F02E-B2FC-5CF5-B0DD-494392D067A1}"/>
              </a:ext>
            </a:extLst>
          </p:cNvPr>
          <p:cNvSpPr>
            <a:spLocks noGrp="1"/>
          </p:cNvSpPr>
          <p:nvPr>
            <p:ph type="ftr" sz="quarter" idx="11"/>
          </p:nvPr>
        </p:nvSpPr>
        <p:spPr/>
        <p:txBody>
          <a:bodyPr/>
          <a:lstStyle>
            <a:lvl1pPr>
              <a:defRPr/>
            </a:lvl1pPr>
          </a:lstStyle>
          <a:p>
            <a:endParaRPr lang="en-GB" altLang="en-US"/>
          </a:p>
        </p:txBody>
      </p:sp>
      <p:sp>
        <p:nvSpPr>
          <p:cNvPr id="4" name="Slide Number Placeholder 3">
            <a:extLst>
              <a:ext uri="{FF2B5EF4-FFF2-40B4-BE49-F238E27FC236}">
                <a16:creationId xmlns:a16="http://schemas.microsoft.com/office/drawing/2014/main" id="{57F9B229-3624-9167-0FAA-FF651D86C80D}"/>
              </a:ext>
            </a:extLst>
          </p:cNvPr>
          <p:cNvSpPr>
            <a:spLocks noGrp="1"/>
          </p:cNvSpPr>
          <p:nvPr>
            <p:ph type="sldNum" sz="quarter" idx="12"/>
          </p:nvPr>
        </p:nvSpPr>
        <p:spPr/>
        <p:txBody>
          <a:bodyPr/>
          <a:lstStyle>
            <a:lvl1pPr>
              <a:defRPr/>
            </a:lvl1pPr>
          </a:lstStyle>
          <a:p>
            <a:fld id="{644221C4-AF95-5044-881A-6F1E9FEE17B1}" type="slidenum">
              <a:rPr lang="en-GB" altLang="en-US"/>
              <a:pPr/>
              <a:t>‹#›</a:t>
            </a:fld>
            <a:endParaRPr lang="en-GB" altLang="en-US"/>
          </a:p>
        </p:txBody>
      </p:sp>
    </p:spTree>
    <p:extLst>
      <p:ext uri="{BB962C8B-B14F-4D97-AF65-F5344CB8AC3E}">
        <p14:creationId xmlns:p14="http://schemas.microsoft.com/office/powerpoint/2010/main" val="1840425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DE8F5-774C-9C5C-E933-5B3FC77555DB}"/>
              </a:ext>
            </a:extLst>
          </p:cNvPr>
          <p:cNvSpPr>
            <a:spLocks noGrp="1"/>
          </p:cNvSpPr>
          <p:nvPr>
            <p:ph type="title"/>
          </p:nvPr>
        </p:nvSpPr>
        <p:spPr>
          <a:xfrm>
            <a:off x="630238" y="457200"/>
            <a:ext cx="2949575"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49A25728-61FC-9496-DCF1-52DAFE744546}"/>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51E55B62-ACEA-188C-19CD-D141395B8E39}"/>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F45C76D-CDCD-B7E5-C216-80FA56F8F315}"/>
              </a:ext>
            </a:extLst>
          </p:cNvPr>
          <p:cNvSpPr>
            <a:spLocks noGrp="1"/>
          </p:cNvSpPr>
          <p:nvPr>
            <p:ph type="dt" sz="half" idx="10"/>
          </p:nvPr>
        </p:nvSpPr>
        <p:spPr/>
        <p:txBody>
          <a:bodyPr/>
          <a:lstStyle>
            <a:lvl1pPr>
              <a:defRPr/>
            </a:lvl1pPr>
          </a:lstStyle>
          <a:p>
            <a:endParaRPr lang="en-GB" altLang="en-US"/>
          </a:p>
        </p:txBody>
      </p:sp>
      <p:sp>
        <p:nvSpPr>
          <p:cNvPr id="6" name="Footer Placeholder 5">
            <a:extLst>
              <a:ext uri="{FF2B5EF4-FFF2-40B4-BE49-F238E27FC236}">
                <a16:creationId xmlns:a16="http://schemas.microsoft.com/office/drawing/2014/main" id="{A80217BA-C232-EAF8-0E00-C29573BA3880}"/>
              </a:ext>
            </a:extLst>
          </p:cNvPr>
          <p:cNvSpPr>
            <a:spLocks noGrp="1"/>
          </p:cNvSpPr>
          <p:nvPr>
            <p:ph type="ftr" sz="quarter" idx="11"/>
          </p:nvPr>
        </p:nvSpPr>
        <p:spPr/>
        <p:txBody>
          <a:bodyPr/>
          <a:lstStyle>
            <a:lvl1pPr>
              <a:defRPr/>
            </a:lvl1pPr>
          </a:lstStyle>
          <a:p>
            <a:endParaRPr lang="en-GB" altLang="en-US"/>
          </a:p>
        </p:txBody>
      </p:sp>
      <p:sp>
        <p:nvSpPr>
          <p:cNvPr id="7" name="Slide Number Placeholder 6">
            <a:extLst>
              <a:ext uri="{FF2B5EF4-FFF2-40B4-BE49-F238E27FC236}">
                <a16:creationId xmlns:a16="http://schemas.microsoft.com/office/drawing/2014/main" id="{F0D673F8-F7CF-4834-D8E9-8D880CEA9BE2}"/>
              </a:ext>
            </a:extLst>
          </p:cNvPr>
          <p:cNvSpPr>
            <a:spLocks noGrp="1"/>
          </p:cNvSpPr>
          <p:nvPr>
            <p:ph type="sldNum" sz="quarter" idx="12"/>
          </p:nvPr>
        </p:nvSpPr>
        <p:spPr/>
        <p:txBody>
          <a:bodyPr/>
          <a:lstStyle>
            <a:lvl1pPr>
              <a:defRPr/>
            </a:lvl1pPr>
          </a:lstStyle>
          <a:p>
            <a:fld id="{ED40A992-1161-7341-9114-7F2124F13A0C}" type="slidenum">
              <a:rPr lang="en-GB" altLang="en-US"/>
              <a:pPr/>
              <a:t>‹#›</a:t>
            </a:fld>
            <a:endParaRPr lang="en-GB" altLang="en-US"/>
          </a:p>
        </p:txBody>
      </p:sp>
    </p:spTree>
    <p:extLst>
      <p:ext uri="{BB962C8B-B14F-4D97-AF65-F5344CB8AC3E}">
        <p14:creationId xmlns:p14="http://schemas.microsoft.com/office/powerpoint/2010/main" val="1807584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021C8-5F1C-20DB-6387-D1E5215BDBFE}"/>
              </a:ext>
            </a:extLst>
          </p:cNvPr>
          <p:cNvSpPr>
            <a:spLocks noGrp="1"/>
          </p:cNvSpPr>
          <p:nvPr>
            <p:ph type="title"/>
          </p:nvPr>
        </p:nvSpPr>
        <p:spPr>
          <a:xfrm>
            <a:off x="630238" y="457200"/>
            <a:ext cx="2949575"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12AC3F74-056A-C9AB-C6F8-5774D69F3CE5}"/>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8232C760-393B-EF90-E612-032897A3DE99}"/>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E416A36-9136-606D-2D3A-A63EF590CC30}"/>
              </a:ext>
            </a:extLst>
          </p:cNvPr>
          <p:cNvSpPr>
            <a:spLocks noGrp="1"/>
          </p:cNvSpPr>
          <p:nvPr>
            <p:ph type="dt" sz="half" idx="10"/>
          </p:nvPr>
        </p:nvSpPr>
        <p:spPr/>
        <p:txBody>
          <a:bodyPr/>
          <a:lstStyle>
            <a:lvl1pPr>
              <a:defRPr/>
            </a:lvl1pPr>
          </a:lstStyle>
          <a:p>
            <a:endParaRPr lang="en-GB" altLang="en-US"/>
          </a:p>
        </p:txBody>
      </p:sp>
      <p:sp>
        <p:nvSpPr>
          <p:cNvPr id="6" name="Footer Placeholder 5">
            <a:extLst>
              <a:ext uri="{FF2B5EF4-FFF2-40B4-BE49-F238E27FC236}">
                <a16:creationId xmlns:a16="http://schemas.microsoft.com/office/drawing/2014/main" id="{0389CBCE-315E-BD4B-0DDD-18A9AA3B8312}"/>
              </a:ext>
            </a:extLst>
          </p:cNvPr>
          <p:cNvSpPr>
            <a:spLocks noGrp="1"/>
          </p:cNvSpPr>
          <p:nvPr>
            <p:ph type="ftr" sz="quarter" idx="11"/>
          </p:nvPr>
        </p:nvSpPr>
        <p:spPr/>
        <p:txBody>
          <a:bodyPr/>
          <a:lstStyle>
            <a:lvl1pPr>
              <a:defRPr/>
            </a:lvl1pPr>
          </a:lstStyle>
          <a:p>
            <a:endParaRPr lang="en-GB" altLang="en-US"/>
          </a:p>
        </p:txBody>
      </p:sp>
      <p:sp>
        <p:nvSpPr>
          <p:cNvPr id="7" name="Slide Number Placeholder 6">
            <a:extLst>
              <a:ext uri="{FF2B5EF4-FFF2-40B4-BE49-F238E27FC236}">
                <a16:creationId xmlns:a16="http://schemas.microsoft.com/office/drawing/2014/main" id="{458E4FCA-E7F3-50F8-F029-667995845CA0}"/>
              </a:ext>
            </a:extLst>
          </p:cNvPr>
          <p:cNvSpPr>
            <a:spLocks noGrp="1"/>
          </p:cNvSpPr>
          <p:nvPr>
            <p:ph type="sldNum" sz="quarter" idx="12"/>
          </p:nvPr>
        </p:nvSpPr>
        <p:spPr/>
        <p:txBody>
          <a:bodyPr/>
          <a:lstStyle>
            <a:lvl1pPr>
              <a:defRPr/>
            </a:lvl1pPr>
          </a:lstStyle>
          <a:p>
            <a:fld id="{8A36F705-75D1-8C41-9FDA-11B70B8BEE65}" type="slidenum">
              <a:rPr lang="en-GB" altLang="en-US"/>
              <a:pPr/>
              <a:t>‹#›</a:t>
            </a:fld>
            <a:endParaRPr lang="en-GB" altLang="en-US"/>
          </a:p>
        </p:txBody>
      </p:sp>
    </p:spTree>
    <p:extLst>
      <p:ext uri="{BB962C8B-B14F-4D97-AF65-F5344CB8AC3E}">
        <p14:creationId xmlns:p14="http://schemas.microsoft.com/office/powerpoint/2010/main" val="6422653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81161-9DF4-9AE1-1873-CBAD1CAD9A82}"/>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8370FCDA-1B59-083F-3ECE-7D95D1C6C9FF}"/>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30437EA6-B774-F41E-B7DC-C840C23F473A}"/>
              </a:ext>
            </a:extLst>
          </p:cNvPr>
          <p:cNvSpPr>
            <a:spLocks noGrp="1"/>
          </p:cNvSpPr>
          <p:nvPr>
            <p:ph type="dt" sz="half" idx="10"/>
          </p:nvPr>
        </p:nvSpPr>
        <p:spPr/>
        <p:txBody>
          <a:bodyPr/>
          <a:lstStyle>
            <a:lvl1pPr>
              <a:defRPr/>
            </a:lvl1pPr>
          </a:lstStyle>
          <a:p>
            <a:endParaRPr lang="en-GB" altLang="en-US"/>
          </a:p>
        </p:txBody>
      </p:sp>
      <p:sp>
        <p:nvSpPr>
          <p:cNvPr id="5" name="Footer Placeholder 4">
            <a:extLst>
              <a:ext uri="{FF2B5EF4-FFF2-40B4-BE49-F238E27FC236}">
                <a16:creationId xmlns:a16="http://schemas.microsoft.com/office/drawing/2014/main" id="{404B374E-C0F0-8F52-4FDB-6951349896EF}"/>
              </a:ext>
            </a:extLst>
          </p:cNvPr>
          <p:cNvSpPr>
            <a:spLocks noGrp="1"/>
          </p:cNvSpPr>
          <p:nvPr>
            <p:ph type="ftr" sz="quarter" idx="11"/>
          </p:nvPr>
        </p:nvSpPr>
        <p:spPr/>
        <p:txBody>
          <a:bodyPr/>
          <a:lstStyle>
            <a:lvl1pPr>
              <a:defRPr/>
            </a:lvl1pPr>
          </a:lstStyle>
          <a:p>
            <a:endParaRPr lang="en-GB" altLang="en-US"/>
          </a:p>
        </p:txBody>
      </p:sp>
      <p:sp>
        <p:nvSpPr>
          <p:cNvPr id="6" name="Slide Number Placeholder 5">
            <a:extLst>
              <a:ext uri="{FF2B5EF4-FFF2-40B4-BE49-F238E27FC236}">
                <a16:creationId xmlns:a16="http://schemas.microsoft.com/office/drawing/2014/main" id="{A836BBEE-CC6F-8B67-D51A-8B3CEA526CE1}"/>
              </a:ext>
            </a:extLst>
          </p:cNvPr>
          <p:cNvSpPr>
            <a:spLocks noGrp="1"/>
          </p:cNvSpPr>
          <p:nvPr>
            <p:ph type="sldNum" sz="quarter" idx="12"/>
          </p:nvPr>
        </p:nvSpPr>
        <p:spPr/>
        <p:txBody>
          <a:bodyPr/>
          <a:lstStyle>
            <a:lvl1pPr>
              <a:defRPr/>
            </a:lvl1pPr>
          </a:lstStyle>
          <a:p>
            <a:fld id="{84B8CD09-8CC0-4C4F-87C3-43CB5D96E6BD}" type="slidenum">
              <a:rPr lang="en-GB" altLang="en-US"/>
              <a:pPr/>
              <a:t>‹#›</a:t>
            </a:fld>
            <a:endParaRPr lang="en-GB" altLang="en-US"/>
          </a:p>
        </p:txBody>
      </p:sp>
    </p:spTree>
    <p:extLst>
      <p:ext uri="{BB962C8B-B14F-4D97-AF65-F5344CB8AC3E}">
        <p14:creationId xmlns:p14="http://schemas.microsoft.com/office/powerpoint/2010/main" val="41756572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529659F-2FCC-D7FA-534C-D28E3735AEB1}"/>
              </a:ext>
            </a:extLst>
          </p:cNvPr>
          <p:cNvSpPr>
            <a:spLocks noGrp="1"/>
          </p:cNvSpPr>
          <p:nvPr>
            <p:ph type="title" orient="vert"/>
          </p:nvPr>
        </p:nvSpPr>
        <p:spPr>
          <a:xfrm>
            <a:off x="6515100" y="609600"/>
            <a:ext cx="1943100" cy="5486400"/>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60F6EFBC-0D08-C9C2-7DDE-41D16A51C92C}"/>
              </a:ext>
            </a:extLst>
          </p:cNvPr>
          <p:cNvSpPr>
            <a:spLocks noGrp="1"/>
          </p:cNvSpPr>
          <p:nvPr>
            <p:ph type="body" orient="vert" idx="1"/>
          </p:nvPr>
        </p:nvSpPr>
        <p:spPr>
          <a:xfrm>
            <a:off x="685800" y="609600"/>
            <a:ext cx="5676900" cy="548640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D405858C-3697-0D56-C067-5EE01FF3E572}"/>
              </a:ext>
            </a:extLst>
          </p:cNvPr>
          <p:cNvSpPr>
            <a:spLocks noGrp="1"/>
          </p:cNvSpPr>
          <p:nvPr>
            <p:ph type="dt" sz="half" idx="10"/>
          </p:nvPr>
        </p:nvSpPr>
        <p:spPr/>
        <p:txBody>
          <a:bodyPr/>
          <a:lstStyle>
            <a:lvl1pPr>
              <a:defRPr/>
            </a:lvl1pPr>
          </a:lstStyle>
          <a:p>
            <a:endParaRPr lang="en-GB" altLang="en-US"/>
          </a:p>
        </p:txBody>
      </p:sp>
      <p:sp>
        <p:nvSpPr>
          <p:cNvPr id="5" name="Footer Placeholder 4">
            <a:extLst>
              <a:ext uri="{FF2B5EF4-FFF2-40B4-BE49-F238E27FC236}">
                <a16:creationId xmlns:a16="http://schemas.microsoft.com/office/drawing/2014/main" id="{FE8EBF57-C899-413A-86A4-4E724D4B2E7C}"/>
              </a:ext>
            </a:extLst>
          </p:cNvPr>
          <p:cNvSpPr>
            <a:spLocks noGrp="1"/>
          </p:cNvSpPr>
          <p:nvPr>
            <p:ph type="ftr" sz="quarter" idx="11"/>
          </p:nvPr>
        </p:nvSpPr>
        <p:spPr/>
        <p:txBody>
          <a:bodyPr/>
          <a:lstStyle>
            <a:lvl1pPr>
              <a:defRPr/>
            </a:lvl1pPr>
          </a:lstStyle>
          <a:p>
            <a:endParaRPr lang="en-GB" altLang="en-US"/>
          </a:p>
        </p:txBody>
      </p:sp>
      <p:sp>
        <p:nvSpPr>
          <p:cNvPr id="6" name="Slide Number Placeholder 5">
            <a:extLst>
              <a:ext uri="{FF2B5EF4-FFF2-40B4-BE49-F238E27FC236}">
                <a16:creationId xmlns:a16="http://schemas.microsoft.com/office/drawing/2014/main" id="{83E7BB98-B0B3-7CFB-5760-106EAE6B74E3}"/>
              </a:ext>
            </a:extLst>
          </p:cNvPr>
          <p:cNvSpPr>
            <a:spLocks noGrp="1"/>
          </p:cNvSpPr>
          <p:nvPr>
            <p:ph type="sldNum" sz="quarter" idx="12"/>
          </p:nvPr>
        </p:nvSpPr>
        <p:spPr/>
        <p:txBody>
          <a:bodyPr/>
          <a:lstStyle>
            <a:lvl1pPr>
              <a:defRPr/>
            </a:lvl1pPr>
          </a:lstStyle>
          <a:p>
            <a:fld id="{67B2BF48-FD03-5B4D-BA72-ED437AC866EB}" type="slidenum">
              <a:rPr lang="en-GB" altLang="en-US"/>
              <a:pPr/>
              <a:t>‹#›</a:t>
            </a:fld>
            <a:endParaRPr lang="en-GB" altLang="en-US"/>
          </a:p>
        </p:txBody>
      </p:sp>
    </p:spTree>
    <p:extLst>
      <p:ext uri="{BB962C8B-B14F-4D97-AF65-F5344CB8AC3E}">
        <p14:creationId xmlns:p14="http://schemas.microsoft.com/office/powerpoint/2010/main" val="26491157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39" name="Picture 15">
            <a:extLst>
              <a:ext uri="{FF2B5EF4-FFF2-40B4-BE49-F238E27FC236}">
                <a16:creationId xmlns:a16="http://schemas.microsoft.com/office/drawing/2014/main" id="{D00888DB-ABAA-0E3E-B597-1AA809F25C2B}"/>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9056688" y="1066800"/>
            <a:ext cx="87312" cy="579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26" name="Rectangle 2">
            <a:extLst>
              <a:ext uri="{FF2B5EF4-FFF2-40B4-BE49-F238E27FC236}">
                <a16:creationId xmlns:a16="http://schemas.microsoft.com/office/drawing/2014/main" id="{43526912-79D4-33D4-DBA5-13FDF0D3BF41}"/>
              </a:ext>
            </a:extLst>
          </p:cNvPr>
          <p:cNvSpPr>
            <a:spLocks noGrp="1" noChangeArrowheads="1"/>
          </p:cNvSpPr>
          <p:nvPr>
            <p:ph type="title"/>
          </p:nvPr>
        </p:nvSpPr>
        <p:spPr bwMode="auto">
          <a:xfrm>
            <a:off x="685800" y="609600"/>
            <a:ext cx="68580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GB" altLang="en-US" dirty="0"/>
              <a:t>Click to edit Master title style</a:t>
            </a:r>
          </a:p>
        </p:txBody>
      </p:sp>
      <p:sp>
        <p:nvSpPr>
          <p:cNvPr id="1027" name="Rectangle 3">
            <a:extLst>
              <a:ext uri="{FF2B5EF4-FFF2-40B4-BE49-F238E27FC236}">
                <a16:creationId xmlns:a16="http://schemas.microsoft.com/office/drawing/2014/main" id="{86C4DFBD-D01E-87F0-85FF-FEDE9EF0B847}"/>
              </a:ext>
            </a:extLst>
          </p:cNvPr>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p>
        </p:txBody>
      </p:sp>
      <p:sp>
        <p:nvSpPr>
          <p:cNvPr id="1028" name="Rectangle 4">
            <a:extLst>
              <a:ext uri="{FF2B5EF4-FFF2-40B4-BE49-F238E27FC236}">
                <a16:creationId xmlns:a16="http://schemas.microsoft.com/office/drawing/2014/main" id="{76FCA186-E0F1-BDB6-CF5C-3BF70840BCBF}"/>
              </a:ext>
            </a:extLst>
          </p:cNvPr>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endParaRPr lang="en-GB" altLang="en-US"/>
          </a:p>
        </p:txBody>
      </p:sp>
      <p:sp>
        <p:nvSpPr>
          <p:cNvPr id="1029" name="Rectangle 5">
            <a:extLst>
              <a:ext uri="{FF2B5EF4-FFF2-40B4-BE49-F238E27FC236}">
                <a16:creationId xmlns:a16="http://schemas.microsoft.com/office/drawing/2014/main" id="{BFA0ACB1-470D-6F44-5C84-A9D38F1C721C}"/>
              </a:ext>
            </a:extLst>
          </p:cNvPr>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endParaRPr lang="en-GB" altLang="en-US"/>
          </a:p>
        </p:txBody>
      </p:sp>
      <p:sp>
        <p:nvSpPr>
          <p:cNvPr id="1030" name="Rectangle 6">
            <a:extLst>
              <a:ext uri="{FF2B5EF4-FFF2-40B4-BE49-F238E27FC236}">
                <a16:creationId xmlns:a16="http://schemas.microsoft.com/office/drawing/2014/main" id="{34648626-FEB8-F840-AB29-3974AB749D7F}"/>
              </a:ext>
            </a:extLst>
          </p:cNvPr>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DCCE56F1-F677-3B4C-97A3-2B7120DE588B}" type="slidenum">
              <a:rPr lang="en-GB" altLang="en-US"/>
              <a:pPr/>
              <a:t>‹#›</a:t>
            </a:fld>
            <a:endParaRPr lang="en-GB" altLang="en-US"/>
          </a:p>
        </p:txBody>
      </p:sp>
      <p:grpSp>
        <p:nvGrpSpPr>
          <p:cNvPr id="1043" name="Group 19">
            <a:extLst>
              <a:ext uri="{FF2B5EF4-FFF2-40B4-BE49-F238E27FC236}">
                <a16:creationId xmlns:a16="http://schemas.microsoft.com/office/drawing/2014/main" id="{9F476DFD-CCC5-EA4A-F2AB-461C4EA38847}"/>
              </a:ext>
            </a:extLst>
          </p:cNvPr>
          <p:cNvGrpSpPr>
            <a:grpSpLocks/>
          </p:cNvGrpSpPr>
          <p:nvPr userDrawn="1"/>
        </p:nvGrpSpPr>
        <p:grpSpPr bwMode="auto">
          <a:xfrm>
            <a:off x="0" y="228600"/>
            <a:ext cx="9144000" cy="838200"/>
            <a:chOff x="0" y="192"/>
            <a:chExt cx="5760" cy="528"/>
          </a:xfrm>
        </p:grpSpPr>
        <p:sp>
          <p:nvSpPr>
            <p:cNvPr id="1042" name="Rectangle 18">
              <a:extLst>
                <a:ext uri="{FF2B5EF4-FFF2-40B4-BE49-F238E27FC236}">
                  <a16:creationId xmlns:a16="http://schemas.microsoft.com/office/drawing/2014/main" id="{A29FEAF0-F5F9-45FC-6036-04F45E156C2B}"/>
                </a:ext>
              </a:extLst>
            </p:cNvPr>
            <p:cNvSpPr>
              <a:spLocks noChangeArrowheads="1"/>
            </p:cNvSpPr>
            <p:nvPr userDrawn="1"/>
          </p:nvSpPr>
          <p:spPr bwMode="auto">
            <a:xfrm>
              <a:off x="5232" y="528"/>
              <a:ext cx="528" cy="192"/>
            </a:xfrm>
            <a:prstGeom prst="rect">
              <a:avLst/>
            </a:prstGeom>
            <a:solidFill>
              <a:schemeClr val="bg1"/>
            </a:soli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041" name="Line 17">
              <a:extLst>
                <a:ext uri="{FF2B5EF4-FFF2-40B4-BE49-F238E27FC236}">
                  <a16:creationId xmlns:a16="http://schemas.microsoft.com/office/drawing/2014/main" id="{E0BCCA36-99FF-5984-94A4-498758499664}"/>
                </a:ext>
              </a:extLst>
            </p:cNvPr>
            <p:cNvSpPr>
              <a:spLocks noChangeShapeType="1"/>
            </p:cNvSpPr>
            <p:nvPr userDrawn="1"/>
          </p:nvSpPr>
          <p:spPr bwMode="auto">
            <a:xfrm>
              <a:off x="1872" y="192"/>
              <a:ext cx="2976" cy="0"/>
            </a:xfrm>
            <a:prstGeom prst="line">
              <a:avLst/>
            </a:prstGeom>
            <a:noFill/>
            <a:ln w="127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pic>
          <p:nvPicPr>
            <p:cNvPr id="1040" name="Picture 16">
              <a:extLst>
                <a:ext uri="{FF2B5EF4-FFF2-40B4-BE49-F238E27FC236}">
                  <a16:creationId xmlns:a16="http://schemas.microsoft.com/office/drawing/2014/main" id="{F87B5129-69BF-B96D-C11B-186EC033EE5D}"/>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3449" y="192"/>
              <a:ext cx="1063" cy="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7" name="Picture 13">
              <a:extLst>
                <a:ext uri="{FF2B5EF4-FFF2-40B4-BE49-F238E27FC236}">
                  <a16:creationId xmlns:a16="http://schemas.microsoft.com/office/drawing/2014/main" id="{C8B256ED-ECC3-BDC1-7100-D0E900BD800D}"/>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0" y="192"/>
              <a:ext cx="2016" cy="1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8" name="Picture 14">
              <a:extLst>
                <a:ext uri="{FF2B5EF4-FFF2-40B4-BE49-F238E27FC236}">
                  <a16:creationId xmlns:a16="http://schemas.microsoft.com/office/drawing/2014/main" id="{AB46C820-B7F2-88E2-B296-0A1DD737D44B}"/>
                </a:ext>
              </a:extLst>
            </p:cNvPr>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a:fillRect/>
            </a:stretch>
          </p:blipFill>
          <p:spPr bwMode="auto">
            <a:xfrm>
              <a:off x="4752" y="192"/>
              <a:ext cx="1008" cy="4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fontAlgn="base">
        <a:spcBef>
          <a:spcPct val="0"/>
        </a:spcBef>
        <a:spcAft>
          <a:spcPct val="0"/>
        </a:spcAft>
        <a:defRPr sz="3600" kern="1200">
          <a:solidFill>
            <a:schemeClr val="tx2"/>
          </a:solidFill>
          <a:latin typeface="Arial" panose="020B0604020202020204" pitchFamily="34" charset="0"/>
          <a:ea typeface="+mj-ea"/>
          <a:cs typeface="Arial" panose="020B0604020202020204" pitchFamily="34" charset="0"/>
        </a:defRPr>
      </a:lvl1pPr>
      <a:lvl2pPr algn="l" rtl="0" fontAlgn="base">
        <a:spcBef>
          <a:spcPct val="0"/>
        </a:spcBef>
        <a:spcAft>
          <a:spcPct val="0"/>
        </a:spcAft>
        <a:defRPr sz="3600">
          <a:solidFill>
            <a:schemeClr val="tx2"/>
          </a:solidFill>
          <a:latin typeface="Comic Sans MS" panose="030F0902030302020204" pitchFamily="66" charset="0"/>
        </a:defRPr>
      </a:lvl2pPr>
      <a:lvl3pPr algn="l" rtl="0" fontAlgn="base">
        <a:spcBef>
          <a:spcPct val="0"/>
        </a:spcBef>
        <a:spcAft>
          <a:spcPct val="0"/>
        </a:spcAft>
        <a:defRPr sz="3600">
          <a:solidFill>
            <a:schemeClr val="tx2"/>
          </a:solidFill>
          <a:latin typeface="Comic Sans MS" panose="030F0902030302020204" pitchFamily="66" charset="0"/>
        </a:defRPr>
      </a:lvl3pPr>
      <a:lvl4pPr algn="l" rtl="0" fontAlgn="base">
        <a:spcBef>
          <a:spcPct val="0"/>
        </a:spcBef>
        <a:spcAft>
          <a:spcPct val="0"/>
        </a:spcAft>
        <a:defRPr sz="3600">
          <a:solidFill>
            <a:schemeClr val="tx2"/>
          </a:solidFill>
          <a:latin typeface="Comic Sans MS" panose="030F0902030302020204" pitchFamily="66" charset="0"/>
        </a:defRPr>
      </a:lvl4pPr>
      <a:lvl5pPr algn="l" rtl="0" fontAlgn="base">
        <a:spcBef>
          <a:spcPct val="0"/>
        </a:spcBef>
        <a:spcAft>
          <a:spcPct val="0"/>
        </a:spcAft>
        <a:defRPr sz="3600">
          <a:solidFill>
            <a:schemeClr val="tx2"/>
          </a:solidFill>
          <a:latin typeface="Comic Sans MS" panose="030F0902030302020204" pitchFamily="66" charset="0"/>
        </a:defRPr>
      </a:lvl5pPr>
      <a:lvl6pPr marL="457200" algn="l" rtl="0" fontAlgn="base">
        <a:spcBef>
          <a:spcPct val="0"/>
        </a:spcBef>
        <a:spcAft>
          <a:spcPct val="0"/>
        </a:spcAft>
        <a:defRPr sz="3600">
          <a:solidFill>
            <a:schemeClr val="tx2"/>
          </a:solidFill>
          <a:latin typeface="Comic Sans MS" panose="030F0902030302020204" pitchFamily="66" charset="0"/>
        </a:defRPr>
      </a:lvl6pPr>
      <a:lvl7pPr marL="914400" algn="l" rtl="0" fontAlgn="base">
        <a:spcBef>
          <a:spcPct val="0"/>
        </a:spcBef>
        <a:spcAft>
          <a:spcPct val="0"/>
        </a:spcAft>
        <a:defRPr sz="3600">
          <a:solidFill>
            <a:schemeClr val="tx2"/>
          </a:solidFill>
          <a:latin typeface="Comic Sans MS" panose="030F0902030302020204" pitchFamily="66" charset="0"/>
        </a:defRPr>
      </a:lvl7pPr>
      <a:lvl8pPr marL="1371600" algn="l" rtl="0" fontAlgn="base">
        <a:spcBef>
          <a:spcPct val="0"/>
        </a:spcBef>
        <a:spcAft>
          <a:spcPct val="0"/>
        </a:spcAft>
        <a:defRPr sz="3600">
          <a:solidFill>
            <a:schemeClr val="tx2"/>
          </a:solidFill>
          <a:latin typeface="Comic Sans MS" panose="030F0902030302020204" pitchFamily="66" charset="0"/>
        </a:defRPr>
      </a:lvl8pPr>
      <a:lvl9pPr marL="1828800" algn="l" rtl="0" fontAlgn="base">
        <a:spcBef>
          <a:spcPct val="0"/>
        </a:spcBef>
        <a:spcAft>
          <a:spcPct val="0"/>
        </a:spcAft>
        <a:defRPr sz="3600">
          <a:solidFill>
            <a:schemeClr val="tx2"/>
          </a:solidFill>
          <a:latin typeface="Comic Sans MS" panose="030F0902030302020204" pitchFamily="66" charset="0"/>
        </a:defRPr>
      </a:lvl9pPr>
    </p:titleStyle>
    <p:bodyStyle>
      <a:lvl1pPr marL="342900" indent="-342900" algn="l" rtl="0" fontAlgn="base">
        <a:spcBef>
          <a:spcPct val="20000"/>
        </a:spcBef>
        <a:spcAft>
          <a:spcPct val="0"/>
        </a:spcAft>
        <a:buChar char="•"/>
        <a:defRPr sz="2800" kern="1200">
          <a:solidFill>
            <a:schemeClr val="tx1"/>
          </a:solidFill>
          <a:latin typeface="+mn-lt"/>
          <a:ea typeface="+mn-ea"/>
          <a:cs typeface="+mn-cs"/>
        </a:defRPr>
      </a:lvl1pPr>
      <a:lvl2pPr marL="742950" indent="-285750" algn="l" rtl="0" fontAlgn="base">
        <a:spcBef>
          <a:spcPct val="20000"/>
        </a:spcBef>
        <a:spcAft>
          <a:spcPct val="0"/>
        </a:spcAft>
        <a:buChar char="–"/>
        <a:defRPr sz="2400" kern="1200">
          <a:solidFill>
            <a:schemeClr val="tx1"/>
          </a:solidFill>
          <a:latin typeface="+mn-lt"/>
          <a:ea typeface="+mn-ea"/>
          <a:cs typeface="+mn-cs"/>
        </a:defRPr>
      </a:lvl2pPr>
      <a:lvl3pPr marL="1143000" indent="-228600" algn="l" rtl="0" fontAlgn="base">
        <a:spcBef>
          <a:spcPct val="20000"/>
        </a:spcBef>
        <a:spcAft>
          <a:spcPct val="0"/>
        </a:spcAft>
        <a:buChar char="•"/>
        <a:defRPr sz="2000" kern="1200">
          <a:solidFill>
            <a:schemeClr val="tx1"/>
          </a:solidFill>
          <a:latin typeface="+mn-lt"/>
          <a:ea typeface="+mn-ea"/>
          <a:cs typeface="+mn-cs"/>
        </a:defRPr>
      </a:lvl3pPr>
      <a:lvl4pPr marL="1600200" indent="-228600" algn="l" rtl="0" fontAlgn="base">
        <a:spcBef>
          <a:spcPct val="20000"/>
        </a:spcBef>
        <a:spcAft>
          <a:spcPct val="0"/>
        </a:spcAft>
        <a:buChar char="–"/>
        <a:defRPr kern="1200">
          <a:solidFill>
            <a:schemeClr val="tx1"/>
          </a:solidFill>
          <a:latin typeface="+mn-lt"/>
          <a:ea typeface="+mn-ea"/>
          <a:cs typeface="+mn-cs"/>
        </a:defRPr>
      </a:lvl4pPr>
      <a:lvl5pPr marL="2057400" indent="-228600" algn="l" rtl="0" fontAlgn="base">
        <a:spcBef>
          <a:spcPct val="20000"/>
        </a:spcBef>
        <a:spcAft>
          <a:spcPct val="0"/>
        </a:spcAft>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
  <Relationship Id="rId1" Type="http://schemas.openxmlformats.org/officeDocument/2006/relationships/slideLayout" Target="../slideLayouts/slideLayout6.xml"/>
<Relationship Id="rIdN1" Type="http://schemas.openxmlformats.org/officeDocument/2006/relationships/notesSlide" Target="../notesSlides/notesSlide1.xml"/></Relationships>
</file>

<file path=ppt/slides/_rels/slide72.xml.rels><?xml version="1.0" encoding="UTF-8" standalone="yes"?>
<Relationships xmlns="http://schemas.openxmlformats.org/package/2006/relationships">
  <Relationship Id="rId1" Type="http://schemas.openxmlformats.org/officeDocument/2006/relationships/slideLayout" Target="../slideLayouts/slideLayout6.xml"/>
<Relationship Id="rIdN1" Type="http://schemas.openxmlformats.org/officeDocument/2006/relationships/notesSlide" Target="../notesSlides/notesSlide2.xml"/></Relationships>
</file>

<file path=ppt/slides/_rels/slide73.xml.rels><?xml version="1.0" encoding="UTF-8" standalone="yes"?>
<Relationships xmlns="http://schemas.openxmlformats.org/package/2006/relationships">
  <Relationship Id="rId1" Type="http://schemas.openxmlformats.org/officeDocument/2006/relationships/slideLayout" Target="../slideLayouts/slideLayout6.xml"/>
<Relationship Id="rIdN1" Type="http://schemas.openxmlformats.org/officeDocument/2006/relationships/notesSlide" Target="../notesSlides/notesSlide3.xml"/></Relationships>
</file>

<file path=ppt/slides/_rels/slide74.xml.rels><?xml version="1.0" encoding="UTF-8" standalone="yes"?>
<Relationships xmlns="http://schemas.openxmlformats.org/package/2006/relationships">
  <Relationship Id="rId1" Type="http://schemas.openxmlformats.org/officeDocument/2006/relationships/slideLayout" Target="../slideLayouts/slideLayout6.xml"/>
<Relationship Id="rIdN1" Type="http://schemas.openxmlformats.org/officeDocument/2006/relationships/notesSlide" Target="../notesSlides/notesSlide4.xml"/></Relationships>
</file>

<file path=ppt/slides/_rels/slide75.xml.rels><?xml version="1.0" encoding="UTF-8" standalone="yes"?>
<Relationships xmlns="http://schemas.openxmlformats.org/package/2006/relationships">
  <Relationship Id="rId1" Type="http://schemas.openxmlformats.org/officeDocument/2006/relationships/slideLayout" Target="../slideLayouts/slideLayout6.xml"/>
<Relationship Id="rIdN1" Type="http://schemas.openxmlformats.org/officeDocument/2006/relationships/notesSlide" Target="../notesSlides/notesSlide5.xml"/></Relationships>
</file>

<file path=ppt/slides/_rels/slide76.xml.rels><?xml version="1.0" encoding="UTF-8" standalone="yes"?>
<Relationships xmlns="http://schemas.openxmlformats.org/package/2006/relationships">
  <Relationship Id="rId1" Type="http://schemas.openxmlformats.org/officeDocument/2006/relationships/slideLayout" Target="../slideLayouts/slideLayout6.xml"/>
<Relationship Id="rIdN1" Type="http://schemas.openxmlformats.org/officeDocument/2006/relationships/notesSlide" Target="../notesSlides/notesSlide6.xml"/></Relationships>
</file>

<file path=ppt/slides/_rels/slide77.xml.rels><?xml version="1.0" encoding="UTF-8" standalone="yes"?>
<Relationships xmlns="http://schemas.openxmlformats.org/package/2006/relationships">
  <Relationship Id="rId1" Type="http://schemas.openxmlformats.org/officeDocument/2006/relationships/slideLayout" Target="../slideLayouts/slideLayout6.xml"/>
<Relationship Id="rIdN1" Type="http://schemas.openxmlformats.org/officeDocument/2006/relationships/notesSlide" Target="../notesSlides/notesSlide7.xml"/></Relationships>
</file>

<file path=ppt/slides/_rels/slide78.xml.rels><?xml version="1.0" encoding="UTF-8" standalone="yes"?>
<Relationships xmlns="http://schemas.openxmlformats.org/package/2006/relationships">
  <Relationship Id="rId1" Type="http://schemas.openxmlformats.org/officeDocument/2006/relationships/slideLayout" Target="../slideLayouts/slideLayout6.xml"/>
<Relationship Id="rIdN1" Type="http://schemas.openxmlformats.org/officeDocument/2006/relationships/notesSlide" Target="../notesSlides/notesSlide8.xml"/></Relationships>
</file>

<file path=ppt/slides/_rels/slide79.xml.rels><?xml version="1.0" encoding="UTF-8" standalone="yes"?>
<Relationships xmlns="http://schemas.openxmlformats.org/package/2006/relationships">
  <Relationship Id="rId1" Type="http://schemas.openxmlformats.org/officeDocument/2006/relationships/slideLayout" Target="../slideLayouts/slideLayout6.xml"/>
<Relationship Id="rIdN1" Type="http://schemas.openxmlformats.org/officeDocument/2006/relationships/notesSlide" Target="../notesSlides/notesSlide9.xml"/></Relationships>
</file>

<file path=ppt/slides/_rels/slide80.xml.rels><?xml version="1.0" encoding="UTF-8" standalone="yes"?>
<Relationships xmlns="http://schemas.openxmlformats.org/package/2006/relationships">
  <Relationship Id="rId1" Type="http://schemas.openxmlformats.org/officeDocument/2006/relationships/slideLayout" Target="../slideLayouts/slideLayout6.xml"/>
<Relationship Id="rIdN1" Type="http://schemas.openxmlformats.org/officeDocument/2006/relationships/notesSlide" Target="../notesSlides/notesSlide10.xml"/></Relationships>
</file>

<file path=ppt/slides/_rels/slide81.xml.rels><?xml version="1.0" encoding="UTF-8" standalone="yes"?>
<Relationships xmlns="http://schemas.openxmlformats.org/package/2006/relationships">
  <Relationship Id="rId1" Type="http://schemas.openxmlformats.org/officeDocument/2006/relationships/slideLayout" Target="../slideLayouts/slideLayout6.xml"/>
<Relationship Id="rIdN1" Type="http://schemas.openxmlformats.org/officeDocument/2006/relationships/notesSlide" Target="../notesSlides/notesSlide11.xml"/></Relationships>
</file>

<file path=ppt/slides/_rels/slide82.xml.rels><?xml version="1.0" encoding="UTF-8" standalone="yes"?>
<Relationships xmlns="http://schemas.openxmlformats.org/package/2006/relationships">
  <Relationship Id="rId1" Type="http://schemas.openxmlformats.org/officeDocument/2006/relationships/slideLayout" Target="../slideLayouts/slideLayout6.xml"/>
<Relationship Id="rIdN1" Type="http://schemas.openxmlformats.org/officeDocument/2006/relationships/notesSlide" Target="../notesSlides/notesSlide12.xml"/></Relationships>
</file>

<file path=ppt/slides/_rels/slide83.xml.rels><?xml version="1.0" encoding="UTF-8" standalone="yes"?>
<Relationships xmlns="http://schemas.openxmlformats.org/package/2006/relationships">
  <Relationship Id="rId1" Type="http://schemas.openxmlformats.org/officeDocument/2006/relationships/slideLayout" Target="../slideLayouts/slideLayout6.xml"/>
<Relationship Id="rIdN1" Type="http://schemas.openxmlformats.org/officeDocument/2006/relationships/notesSlide" Target="../notesSlides/notesSlide13.xml"/></Relationships>
</file>

<file path=ppt/slides/_rels/slide84.xml.rels><?xml version="1.0" encoding="UTF-8" standalone="yes"?>
<Relationships xmlns="http://schemas.openxmlformats.org/package/2006/relationships">
  <Relationship Id="rId1" Type="http://schemas.openxmlformats.org/officeDocument/2006/relationships/slideLayout" Target="../slideLayouts/slideLayout6.xml"/>
<Relationship Id="rIdN1" Type="http://schemas.openxmlformats.org/officeDocument/2006/relationships/notesSlide" Target="../notesSlides/notesSlide14.xml"/></Relationships>
</file>

<file path=ppt/slides/_rels/slide85.xml.rels><?xml version="1.0" encoding="UTF-8" standalone="yes"?>
<Relationships xmlns="http://schemas.openxmlformats.org/package/2006/relationships">
  <Relationship Id="rId1" Type="http://schemas.openxmlformats.org/officeDocument/2006/relationships/slideLayout" Target="../slideLayouts/slideLayout6.xml"/>
<Relationship Id="rIdN1" Type="http://schemas.openxmlformats.org/officeDocument/2006/relationships/notesSlide" Target="../notesSlides/notesSlide15.xml"/></Relationships>
</file>

<file path=ppt/slides/_rels/slide86.xml.rels><?xml version="1.0" encoding="UTF-8" standalone="yes"?>
<Relationships xmlns="http://schemas.openxmlformats.org/package/2006/relationships">
  <Relationship Id="rId1" Type="http://schemas.openxmlformats.org/officeDocument/2006/relationships/slideLayout" Target="../slideLayouts/slideLayout6.xml"/>
<Relationship Id="rIdN1" Type="http://schemas.openxmlformats.org/officeDocument/2006/relationships/notesSlide" Target="../notesSlides/notesSlide16.xml"/></Relationships>
</file>

<file path=ppt/slides/_rels/slide87.xml.rels><?xml version="1.0" encoding="UTF-8" standalone="yes"?>
<Relationships xmlns="http://schemas.openxmlformats.org/package/2006/relationships">
  <Relationship Id="rId1" Type="http://schemas.openxmlformats.org/officeDocument/2006/relationships/slideLayout" Target="../slideLayouts/slideLayout6.xml"/>
<Relationship Id="rIdN1" Type="http://schemas.openxmlformats.org/officeDocument/2006/relationships/notesSlide" Target="../notesSlides/notesSlide17.xml"/></Relationships>
</file>

<file path=ppt/slides/_rels/slide88.xml.rels><?xml version="1.0" encoding="UTF-8" standalone="yes"?>
<Relationships xmlns="http://schemas.openxmlformats.org/package/2006/relationships">
  <Relationship Id="rId1" Type="http://schemas.openxmlformats.org/officeDocument/2006/relationships/slideLayout" Target="../slideLayouts/slideLayout6.xml"/>
<Relationship Id="rIdN1"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5ACB81B5-3A66-AC9D-8CA3-F380961E13B9}"/>
              </a:ext>
            </a:extLst>
          </p:cNvPr>
          <p:cNvSpPr>
            <a:spLocks noGrp="1" noChangeArrowheads="1"/>
          </p:cNvSpPr>
          <p:nvPr>
            <p:ph type="ctrTitle"/>
          </p:nvPr>
        </p:nvSpPr>
        <p:spPr>
          <a:xfrm>
            <a:off x="1219200" y="1981200"/>
            <a:ext cx="6629400" cy="1219200"/>
          </a:xfrm>
        </p:spPr>
        <p:txBody>
          <a:bodyPr anchor="ctr"/>
          <a:lstStyle/>
          <a:p>
            <a:pPr>
              <a:spcAft>
                <a:spcPct val="30000"/>
              </a:spcAft>
            </a:pPr>
            <a:r>
              <a:rPr lang="en-GB" altLang="en-US" sz="4000">
                <a:solidFill>
                  <a:srgbClr val="2E005D"/>
                </a:solidFill>
                <a:latin typeface="Verdana" panose="020B0604030504040204" pitchFamily="34" charset="0"/>
              </a:rPr>
              <a:t>chapter 3</a:t>
            </a:r>
            <a:endParaRPr lang="en-GB" altLang="en-US" sz="4000">
              <a:solidFill>
                <a:srgbClr val="2E005D"/>
              </a:solidFill>
            </a:endParaRPr>
          </a:p>
        </p:txBody>
      </p:sp>
      <p:sp>
        <p:nvSpPr>
          <p:cNvPr id="71683" name="Rectangle 3">
            <a:extLst>
              <a:ext uri="{FF2B5EF4-FFF2-40B4-BE49-F238E27FC236}">
                <a16:creationId xmlns:a16="http://schemas.microsoft.com/office/drawing/2014/main" id="{F240CEBE-8A16-8F03-A5DA-54ED6B82FCB2}"/>
              </a:ext>
            </a:extLst>
          </p:cNvPr>
          <p:cNvSpPr>
            <a:spLocks noGrp="1" noChangeArrowheads="1"/>
          </p:cNvSpPr>
          <p:nvPr>
            <p:ph type="subTitle" idx="1"/>
          </p:nvPr>
        </p:nvSpPr>
        <p:spPr>
          <a:xfrm>
            <a:off x="1371600" y="3352800"/>
            <a:ext cx="6400800" cy="2286000"/>
          </a:xfrm>
        </p:spPr>
        <p:txBody>
          <a:bodyPr/>
          <a:lstStyle/>
          <a:p>
            <a:r>
              <a:rPr lang="en-GB" altLang="en-US" sz="4400" dirty="0">
                <a:latin typeface="Arial" panose="020B0604020202020204" pitchFamily="34" charset="0"/>
                <a:cs typeface="Arial" panose="020B0604020202020204" pitchFamily="34" charset="0"/>
              </a:rPr>
              <a:t>the interaction</a:t>
            </a:r>
          </a:p>
        </p:txBody>
      </p:sp>
      <p:grpSp>
        <p:nvGrpSpPr>
          <p:cNvPr id="71684" name="Group 4">
            <a:extLst>
              <a:ext uri="{FF2B5EF4-FFF2-40B4-BE49-F238E27FC236}">
                <a16:creationId xmlns:a16="http://schemas.microsoft.com/office/drawing/2014/main" id="{7635EE47-6C2F-5954-923C-202D219BFEC7}"/>
              </a:ext>
            </a:extLst>
          </p:cNvPr>
          <p:cNvGrpSpPr>
            <a:grpSpLocks/>
          </p:cNvGrpSpPr>
          <p:nvPr/>
        </p:nvGrpSpPr>
        <p:grpSpPr bwMode="auto">
          <a:xfrm>
            <a:off x="0" y="0"/>
            <a:ext cx="9144000" cy="6858000"/>
            <a:chOff x="0" y="0"/>
            <a:chExt cx="5760" cy="4320"/>
          </a:xfrm>
        </p:grpSpPr>
        <p:sp>
          <p:nvSpPr>
            <p:cNvPr id="71685" name="Rectangle 5">
              <a:extLst>
                <a:ext uri="{FF2B5EF4-FFF2-40B4-BE49-F238E27FC236}">
                  <a16:creationId xmlns:a16="http://schemas.microsoft.com/office/drawing/2014/main" id="{204EB6FA-1E23-72C6-E088-C018CBAE5376}"/>
                </a:ext>
              </a:extLst>
            </p:cNvPr>
            <p:cNvSpPr>
              <a:spLocks noChangeArrowheads="1"/>
            </p:cNvSpPr>
            <p:nvPr/>
          </p:nvSpPr>
          <p:spPr bwMode="auto">
            <a:xfrm>
              <a:off x="5136" y="528"/>
              <a:ext cx="624" cy="3792"/>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1686" name="Rectangle 6">
              <a:extLst>
                <a:ext uri="{FF2B5EF4-FFF2-40B4-BE49-F238E27FC236}">
                  <a16:creationId xmlns:a16="http://schemas.microsoft.com/office/drawing/2014/main" id="{14373BB3-48A3-9C43-E13B-884CCD01D3CF}"/>
                </a:ext>
              </a:extLst>
            </p:cNvPr>
            <p:cNvSpPr>
              <a:spLocks noChangeArrowheads="1"/>
            </p:cNvSpPr>
            <p:nvPr/>
          </p:nvSpPr>
          <p:spPr bwMode="auto">
            <a:xfrm>
              <a:off x="0" y="0"/>
              <a:ext cx="5760" cy="672"/>
            </a:xfrm>
            <a:prstGeom prst="rect">
              <a:avLst/>
            </a:prstGeom>
            <a:solidFill>
              <a:srgbClr val="2E005D"/>
            </a:solidFill>
            <a:ln w="9525">
              <a:solidFill>
                <a:srgbClr val="2E005D"/>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pic>
          <p:nvPicPr>
            <p:cNvPr id="71687" name="Picture 7">
              <a:extLst>
                <a:ext uri="{FF2B5EF4-FFF2-40B4-BE49-F238E27FC236}">
                  <a16:creationId xmlns:a16="http://schemas.microsoft.com/office/drawing/2014/main" id="{10F24705-2379-28D4-8C45-DB13043D56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2" y="0"/>
              <a:ext cx="3264" cy="6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688" name="Picture 8">
              <a:extLst>
                <a:ext uri="{FF2B5EF4-FFF2-40B4-BE49-F238E27FC236}">
                  <a16:creationId xmlns:a16="http://schemas.microsoft.com/office/drawing/2014/main" id="{598B8AA9-4892-18D1-F613-F34D9B790E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0" y="0"/>
              <a:ext cx="672" cy="6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689" name="Picture 9">
              <a:extLst>
                <a:ext uri="{FF2B5EF4-FFF2-40B4-BE49-F238E27FC236}">
                  <a16:creationId xmlns:a16="http://schemas.microsoft.com/office/drawing/2014/main" id="{94B60A0E-D0E9-49BF-976E-E3BF9322213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672" cy="6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690" name="Picture 10">
              <a:extLst>
                <a:ext uri="{FF2B5EF4-FFF2-40B4-BE49-F238E27FC236}">
                  <a16:creationId xmlns:a16="http://schemas.microsoft.com/office/drawing/2014/main" id="{3A4B4538-9EEE-E732-74EE-41F4D33809A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80" y="0"/>
              <a:ext cx="176" cy="6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691" name="Picture 11">
              <a:extLst>
                <a:ext uri="{FF2B5EF4-FFF2-40B4-BE49-F238E27FC236}">
                  <a16:creationId xmlns:a16="http://schemas.microsoft.com/office/drawing/2014/main" id="{51048362-6FE3-47C9-D5F9-8A611E53941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84" y="0"/>
              <a:ext cx="176" cy="6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901" name="Shape 901"/>
          <p:cNvSpPr txBox="1"/>
          <p:nvPr/>
        </p:nvSpPr>
        <p:spPr>
          <a:xfrm>
            <a:off x="914400" y="4709160"/>
            <a:ext cx="7315200" cy="822960"/>
          </a:xfrm>
          <a:prstGeom prst="rect">
            <a:avLst/>
          </a:prstGeom>
          <a:noFill/>
          <a:ln>
            <a:noFill/>
          </a:ln>
        </p:spPr>
        <p:txBody>
          <a:bodyPr wrap="square" lIns="18288" tIns="18288" rIns="18288" bIns="18288" anchor="t" rtlCol="0">
            <a:normAutofit/>
          </a:bodyPr>
          <a:lstStyle/>
          <a:p>
            <a:pPr algn="ctr">
              <a:spcAft>
                <a:spcPts val="400"/>
              </a:spcAft>
              <a:buNone/>
            </a:pPr>
            <a:r>
              <a:rPr lang="en-GB" sz="2000" b="1" i="0" dirty="0">
                <a:solidFill>
                  <a:srgbClr val="2D2D8A"/>
                </a:solidFill>
                <a:latin typeface="Arial"/>
                <a:cs typeface="Arial"/>
              </a:rPr>
              <a:t>Week 3 · Lecture 1</a:t>
            </a:r>
            <a:endParaRPr lang="en-GB" sz="2000" dirty="0"/>
          </a:p>
          <a:p>
            <a:pPr algn="ctr">
              <a:buNone/>
            </a:pPr>
            <a:r>
              <a:rPr lang="en-GB" sz="1400" b="0" i="1" dirty="0">
                <a:solidFill>
                  <a:srgbClr val="595959"/>
                </a:solidFill>
                <a:latin typeface="Arial"/>
                <a:cs typeface="Arial"/>
              </a:rPr>
              <a:t>models of interaction, ergonomics and interaction styles</a:t>
            </a:r>
            <a:endParaRPr lang="en-GB"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a:extLst>
              <a:ext uri="{FF2B5EF4-FFF2-40B4-BE49-F238E27FC236}">
                <a16:creationId xmlns:a16="http://schemas.microsoft.com/office/drawing/2014/main" id="{D8F60178-7C6D-9CFF-9EB5-E77151996535}"/>
              </a:ext>
            </a:extLst>
          </p:cNvPr>
          <p:cNvSpPr>
            <a:spLocks noGrp="1" noChangeArrowheads="1"/>
          </p:cNvSpPr>
          <p:nvPr>
            <p:ph type="title"/>
          </p:nvPr>
        </p:nvSpPr>
        <p:spPr/>
        <p:txBody>
          <a:bodyPr/>
          <a:lstStyle/>
          <a:p>
            <a:r>
              <a:rPr lang="en-US" altLang="en-US">
                <a:cs typeface="Times New Roman" panose="02020603050405020304" pitchFamily="18" charset="0"/>
              </a:rPr>
              <a:t>The Interaction</a:t>
            </a:r>
            <a:endParaRPr lang="en-GB" altLang="en-US">
              <a:cs typeface="Times New Roman" panose="02020603050405020304" pitchFamily="18" charset="0"/>
            </a:endParaRPr>
          </a:p>
        </p:txBody>
      </p:sp>
      <p:sp>
        <p:nvSpPr>
          <p:cNvPr id="101379" name="Rectangle 3">
            <a:extLst>
              <a:ext uri="{FF2B5EF4-FFF2-40B4-BE49-F238E27FC236}">
                <a16:creationId xmlns:a16="http://schemas.microsoft.com/office/drawing/2014/main" id="{4EDF85F4-5D46-772E-BC0A-62488F04C1A4}"/>
              </a:ext>
            </a:extLst>
          </p:cNvPr>
          <p:cNvSpPr>
            <a:spLocks noGrp="1" noChangeArrowheads="1"/>
          </p:cNvSpPr>
          <p:nvPr>
            <p:ph type="body" idx="1"/>
          </p:nvPr>
        </p:nvSpPr>
        <p:spPr/>
        <p:txBody>
          <a:bodyPr/>
          <a:lstStyle/>
          <a:p>
            <a:r>
              <a:rPr lang="en-GB" altLang="en-US"/>
              <a:t>interaction models</a:t>
            </a:r>
          </a:p>
          <a:p>
            <a:pPr lvl="1"/>
            <a:r>
              <a:rPr lang="en-GB" altLang="en-US"/>
              <a:t>translations between user and system</a:t>
            </a:r>
            <a:endParaRPr lang="en-GB" altLang="en-US" sz="2800"/>
          </a:p>
          <a:p>
            <a:r>
              <a:rPr lang="en-GB" altLang="en-US"/>
              <a:t>ergonomics</a:t>
            </a:r>
          </a:p>
          <a:p>
            <a:pPr lvl="1"/>
            <a:r>
              <a:rPr lang="en-GB" altLang="en-US"/>
              <a:t>physical characteristics of interaction</a:t>
            </a:r>
          </a:p>
          <a:p>
            <a:r>
              <a:rPr lang="en-GB" altLang="en-US"/>
              <a:t>interaction styles</a:t>
            </a:r>
          </a:p>
          <a:p>
            <a:pPr lvl="1"/>
            <a:r>
              <a:rPr lang="en-GB" altLang="en-US"/>
              <a:t>the nature of user/system dialog</a:t>
            </a:r>
          </a:p>
          <a:p>
            <a:r>
              <a:rPr lang="en-GB" altLang="en-US"/>
              <a:t>context</a:t>
            </a:r>
          </a:p>
          <a:p>
            <a:pPr lvl="1"/>
            <a:r>
              <a:rPr lang="en-GB" altLang="en-US"/>
              <a:t>social, organizational, motivational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28ABF71E-DE2C-3DB4-BDF7-E7225ED41D01}"/>
              </a:ext>
            </a:extLst>
          </p:cNvPr>
          <p:cNvSpPr>
            <a:spLocks noGrp="1" noChangeArrowheads="1"/>
          </p:cNvSpPr>
          <p:nvPr>
            <p:ph type="title"/>
          </p:nvPr>
        </p:nvSpPr>
        <p:spPr/>
        <p:txBody>
          <a:bodyPr/>
          <a:lstStyle/>
          <a:p>
            <a:r>
              <a:rPr lang="en-GB" altLang="en-US"/>
              <a:t>What is interaction?</a:t>
            </a:r>
          </a:p>
        </p:txBody>
      </p:sp>
      <p:sp>
        <p:nvSpPr>
          <p:cNvPr id="72707" name="Rectangle 3">
            <a:extLst>
              <a:ext uri="{FF2B5EF4-FFF2-40B4-BE49-F238E27FC236}">
                <a16:creationId xmlns:a16="http://schemas.microsoft.com/office/drawing/2014/main" id="{4FDBD84B-0FA2-A9AB-C6D4-E4DA704DFC95}"/>
              </a:ext>
            </a:extLst>
          </p:cNvPr>
          <p:cNvSpPr>
            <a:spLocks noGrp="1" noChangeArrowheads="1"/>
          </p:cNvSpPr>
          <p:nvPr>
            <p:ph type="body" idx="1"/>
          </p:nvPr>
        </p:nvSpPr>
        <p:spPr/>
        <p:txBody>
          <a:bodyPr/>
          <a:lstStyle/>
          <a:p>
            <a:pPr>
              <a:buFontTx/>
              <a:buChar char=" "/>
            </a:pPr>
            <a:r>
              <a:rPr lang="en-GB" altLang="en-US"/>
              <a:t>communication</a:t>
            </a:r>
          </a:p>
          <a:p>
            <a:pPr>
              <a:buFontTx/>
              <a:buChar char=" "/>
            </a:pPr>
            <a:endParaRPr lang="en-GB" altLang="en-US" sz="1200"/>
          </a:p>
          <a:p>
            <a:pPr>
              <a:buFontTx/>
              <a:buChar char=" "/>
            </a:pPr>
            <a:r>
              <a:rPr lang="en-GB" altLang="en-US"/>
              <a:t>		user   </a:t>
            </a:r>
            <a:r>
              <a:rPr lang="en-GB" altLang="en-US">
                <a:sym typeface="Monotype Sorts" pitchFamily="2" charset="2"/>
              </a:rPr>
              <a:t></a:t>
            </a:r>
            <a:r>
              <a:rPr lang="en-GB" altLang="en-US"/>
              <a:t>    system</a:t>
            </a:r>
          </a:p>
          <a:p>
            <a:endParaRPr lang="en-GB" altLang="en-US"/>
          </a:p>
          <a:p>
            <a:endParaRPr lang="en-GB" altLang="en-US"/>
          </a:p>
          <a:p>
            <a:pPr>
              <a:buFontTx/>
              <a:buChar char=" "/>
            </a:pPr>
            <a:endParaRPr lang="en-GB" altLang="en-US" sz="2400"/>
          </a:p>
          <a:p>
            <a:pPr>
              <a:buFontTx/>
              <a:buChar char=" "/>
            </a:pPr>
            <a:r>
              <a:rPr lang="en-GB" altLang="en-US" sz="2400"/>
              <a:t>but is that all … ?</a:t>
            </a:r>
          </a:p>
          <a:p>
            <a:pPr lvl="1"/>
            <a:r>
              <a:rPr lang="en-GB" altLang="en-US"/>
              <a:t>see “language and action” in chapter 4 …</a:t>
            </a:r>
          </a:p>
        </p:txBody>
      </p:sp>
      <p:sp>
        <p:nvSpPr>
          <p:cNvPr id="72708" name="Rectangle 4">
            <a:extLst>
              <a:ext uri="{FF2B5EF4-FFF2-40B4-BE49-F238E27FC236}">
                <a16:creationId xmlns:a16="http://schemas.microsoft.com/office/drawing/2014/main" id="{B98C7F18-695E-B2D6-BD60-3106380C2572}"/>
              </a:ext>
            </a:extLst>
          </p:cNvPr>
          <p:cNvSpPr>
            <a:spLocks noChangeArrowheads="1"/>
          </p:cNvSpPr>
          <p:nvPr/>
        </p:nvSpPr>
        <p:spPr bwMode="auto">
          <a:xfrm>
            <a:off x="3429000" y="2571750"/>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sz="2400"/>
          </a:p>
        </p:txBody>
      </p:sp>
      <p:grpSp>
        <p:nvGrpSpPr>
          <p:cNvPr id="72711" name="Group 7">
            <a:extLst>
              <a:ext uri="{FF2B5EF4-FFF2-40B4-BE49-F238E27FC236}">
                <a16:creationId xmlns:a16="http://schemas.microsoft.com/office/drawing/2014/main" id="{1CD51DA2-CCF2-5E0C-345C-D4B147582E01}"/>
              </a:ext>
            </a:extLst>
          </p:cNvPr>
          <p:cNvGrpSpPr>
            <a:grpSpLocks/>
          </p:cNvGrpSpPr>
          <p:nvPr/>
        </p:nvGrpSpPr>
        <p:grpSpPr bwMode="auto">
          <a:xfrm>
            <a:off x="3581400" y="2743200"/>
            <a:ext cx="838200" cy="457200"/>
            <a:chOff x="2208" y="1632"/>
            <a:chExt cx="480" cy="288"/>
          </a:xfrm>
        </p:grpSpPr>
        <p:sp>
          <p:nvSpPr>
            <p:cNvPr id="72710" name="Rectangle 6">
              <a:extLst>
                <a:ext uri="{FF2B5EF4-FFF2-40B4-BE49-F238E27FC236}">
                  <a16:creationId xmlns:a16="http://schemas.microsoft.com/office/drawing/2014/main" id="{8E44FC0F-EE1D-EEA8-1C26-FE3CD928C7B9}"/>
                </a:ext>
              </a:extLst>
            </p:cNvPr>
            <p:cNvSpPr>
              <a:spLocks noChangeArrowheads="1"/>
            </p:cNvSpPr>
            <p:nvPr/>
          </p:nvSpPr>
          <p:spPr bwMode="auto">
            <a:xfrm>
              <a:off x="2208" y="1632"/>
              <a:ext cx="480" cy="28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2709" name="AutoShape 5">
              <a:extLst>
                <a:ext uri="{FF2B5EF4-FFF2-40B4-BE49-F238E27FC236}">
                  <a16:creationId xmlns:a16="http://schemas.microsoft.com/office/drawing/2014/main" id="{59216C67-3B50-C9E6-A96F-8FA39C0C4531}"/>
                </a:ext>
              </a:extLst>
            </p:cNvPr>
            <p:cNvSpPr>
              <a:spLocks noChangeArrowheads="1"/>
            </p:cNvSpPr>
            <p:nvPr/>
          </p:nvSpPr>
          <p:spPr bwMode="auto">
            <a:xfrm>
              <a:off x="2256" y="1680"/>
              <a:ext cx="384" cy="192"/>
            </a:xfrm>
            <a:prstGeom prst="leftRightArrow">
              <a:avLst>
                <a:gd name="adj1" fmla="val 50000"/>
                <a:gd name="adj2" fmla="val 40000"/>
              </a:avLst>
            </a:prstGeom>
            <a:solidFill>
              <a:srgbClr val="262464"/>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a:extLst>
              <a:ext uri="{FF2B5EF4-FFF2-40B4-BE49-F238E27FC236}">
                <a16:creationId xmlns:a16="http://schemas.microsoft.com/office/drawing/2014/main" id="{1130BC34-2A18-C0FB-BA68-835FA23A69F6}"/>
              </a:ext>
            </a:extLst>
          </p:cNvPr>
          <p:cNvSpPr>
            <a:spLocks noGrp="1" noChangeArrowheads="1"/>
          </p:cNvSpPr>
          <p:nvPr>
            <p:ph type="ctrTitle"/>
          </p:nvPr>
        </p:nvSpPr>
        <p:spPr>
          <a:xfrm>
            <a:off x="685800" y="2286000"/>
            <a:ext cx="7772400" cy="1143000"/>
          </a:xfrm>
        </p:spPr>
        <p:txBody>
          <a:bodyPr anchor="ctr"/>
          <a:lstStyle/>
          <a:p>
            <a:r>
              <a:rPr lang="en-GB" altLang="en-US" sz="3600"/>
              <a:t>models of interaction</a:t>
            </a:r>
          </a:p>
        </p:txBody>
      </p:sp>
      <p:sp>
        <p:nvSpPr>
          <p:cNvPr id="104451" name="Rectangle 3">
            <a:extLst>
              <a:ext uri="{FF2B5EF4-FFF2-40B4-BE49-F238E27FC236}">
                <a16:creationId xmlns:a16="http://schemas.microsoft.com/office/drawing/2014/main" id="{F447ACD7-BAB2-0C0E-30C4-F3AE5F098348}"/>
              </a:ext>
            </a:extLst>
          </p:cNvPr>
          <p:cNvSpPr>
            <a:spLocks noGrp="1" noChangeArrowheads="1"/>
          </p:cNvSpPr>
          <p:nvPr>
            <p:ph type="subTitle" idx="1"/>
          </p:nvPr>
        </p:nvSpPr>
        <p:spPr>
          <a:xfrm>
            <a:off x="1371600" y="3886200"/>
            <a:ext cx="6400800" cy="1752600"/>
          </a:xfrm>
        </p:spPr>
        <p:txBody>
          <a:bodyPr/>
          <a:lstStyle/>
          <a:p>
            <a:r>
              <a:rPr lang="en-GB" altLang="en-US" sz="2800"/>
              <a:t>terms of interaction</a:t>
            </a:r>
          </a:p>
          <a:p>
            <a:r>
              <a:rPr lang="en-GB" altLang="en-US" sz="2800"/>
              <a:t>Norman model</a:t>
            </a:r>
          </a:p>
          <a:p>
            <a:r>
              <a:rPr lang="en-GB" altLang="en-US" sz="2800"/>
              <a:t>interaction framework</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a:extLst>
              <a:ext uri="{FF2B5EF4-FFF2-40B4-BE49-F238E27FC236}">
                <a16:creationId xmlns:a16="http://schemas.microsoft.com/office/drawing/2014/main" id="{CAB80D15-16D6-DC83-ABA4-03962BB76D24}"/>
              </a:ext>
            </a:extLst>
          </p:cNvPr>
          <p:cNvSpPr>
            <a:spLocks noGrp="1" noChangeArrowheads="1"/>
          </p:cNvSpPr>
          <p:nvPr>
            <p:ph type="title"/>
          </p:nvPr>
        </p:nvSpPr>
        <p:spPr/>
        <p:txBody>
          <a:bodyPr/>
          <a:lstStyle/>
          <a:p>
            <a:r>
              <a:rPr lang="en-GB" altLang="en-US"/>
              <a:t>Some terms of interaction</a:t>
            </a:r>
          </a:p>
        </p:txBody>
      </p:sp>
      <p:sp>
        <p:nvSpPr>
          <p:cNvPr id="102403" name="Rectangle 3">
            <a:extLst>
              <a:ext uri="{FF2B5EF4-FFF2-40B4-BE49-F238E27FC236}">
                <a16:creationId xmlns:a16="http://schemas.microsoft.com/office/drawing/2014/main" id="{5C6A25A9-4291-FF9C-3366-B684F2C07FF0}"/>
              </a:ext>
            </a:extLst>
          </p:cNvPr>
          <p:cNvSpPr>
            <a:spLocks noGrp="1" noChangeArrowheads="1"/>
          </p:cNvSpPr>
          <p:nvPr>
            <p:ph type="body" idx="1"/>
          </p:nvPr>
        </p:nvSpPr>
        <p:spPr/>
        <p:txBody>
          <a:bodyPr/>
          <a:lstStyle/>
          <a:p>
            <a:pPr>
              <a:lnSpc>
                <a:spcPct val="90000"/>
              </a:lnSpc>
              <a:buFontTx/>
              <a:buNone/>
              <a:tabLst>
                <a:tab pos="1338263" algn="l"/>
                <a:tab pos="2282825" algn="l"/>
              </a:tabLst>
            </a:pPr>
            <a:r>
              <a:rPr lang="en-GB" altLang="en-US" sz="2400"/>
              <a:t>domain	</a:t>
            </a:r>
            <a:r>
              <a:rPr lang="en-GB" altLang="en-US" sz="2000"/>
              <a:t>– the area of work under study</a:t>
            </a:r>
            <a:endParaRPr lang="en-GB" altLang="en-US" sz="2400"/>
          </a:p>
          <a:p>
            <a:pPr lvl="1">
              <a:lnSpc>
                <a:spcPct val="90000"/>
              </a:lnSpc>
              <a:buFontTx/>
              <a:buNone/>
              <a:tabLst>
                <a:tab pos="1338263" algn="l"/>
                <a:tab pos="2282825" algn="l"/>
              </a:tabLst>
            </a:pPr>
            <a:r>
              <a:rPr lang="en-GB" altLang="en-US" sz="2000"/>
              <a:t>			</a:t>
            </a:r>
            <a:r>
              <a:rPr lang="en-GB" altLang="en-US" sz="1800"/>
              <a:t>e.g. graphic design</a:t>
            </a:r>
          </a:p>
          <a:p>
            <a:pPr>
              <a:lnSpc>
                <a:spcPct val="90000"/>
              </a:lnSpc>
              <a:buFontTx/>
              <a:buNone/>
              <a:tabLst>
                <a:tab pos="1338263" algn="l"/>
                <a:tab pos="2282825" algn="l"/>
              </a:tabLst>
            </a:pPr>
            <a:r>
              <a:rPr lang="en-GB" altLang="en-US" sz="2400"/>
              <a:t>goal	</a:t>
            </a:r>
            <a:r>
              <a:rPr lang="en-GB" altLang="en-US" sz="2000"/>
              <a:t>– what you want to achieve</a:t>
            </a:r>
            <a:endParaRPr lang="en-GB" altLang="en-US" sz="2400"/>
          </a:p>
          <a:p>
            <a:pPr lvl="1">
              <a:lnSpc>
                <a:spcPct val="90000"/>
              </a:lnSpc>
              <a:buFontTx/>
              <a:buNone/>
              <a:tabLst>
                <a:tab pos="1338263" algn="l"/>
                <a:tab pos="2282825" algn="l"/>
              </a:tabLst>
            </a:pPr>
            <a:r>
              <a:rPr lang="en-GB" altLang="en-US" sz="2000"/>
              <a:t>			</a:t>
            </a:r>
            <a:r>
              <a:rPr lang="en-GB" altLang="en-US" sz="1800"/>
              <a:t>e.g. create a solid red triangle</a:t>
            </a:r>
          </a:p>
          <a:p>
            <a:pPr>
              <a:lnSpc>
                <a:spcPct val="90000"/>
              </a:lnSpc>
              <a:buFontTx/>
              <a:buNone/>
              <a:tabLst>
                <a:tab pos="1338263" algn="l"/>
                <a:tab pos="2282825" algn="l"/>
              </a:tabLst>
            </a:pPr>
            <a:r>
              <a:rPr lang="en-GB" altLang="en-US" sz="2400"/>
              <a:t>task	</a:t>
            </a:r>
            <a:r>
              <a:rPr lang="en-GB" altLang="en-US" sz="2000"/>
              <a:t>– how you go about doing it</a:t>
            </a:r>
            <a:br>
              <a:rPr lang="en-GB" altLang="en-US" sz="2000"/>
            </a:br>
            <a:r>
              <a:rPr lang="en-GB" altLang="en-US" sz="2000"/>
              <a:t>	– ultimately in terms of operations or actions</a:t>
            </a:r>
          </a:p>
          <a:p>
            <a:pPr lvl="1">
              <a:lnSpc>
                <a:spcPct val="90000"/>
              </a:lnSpc>
              <a:buFontTx/>
              <a:buNone/>
              <a:tabLst>
                <a:tab pos="1338263" algn="l"/>
                <a:tab pos="2282825" algn="l"/>
              </a:tabLst>
            </a:pPr>
            <a:r>
              <a:rPr lang="en-GB" altLang="en-US" sz="2000"/>
              <a:t>			</a:t>
            </a:r>
            <a:r>
              <a:rPr lang="en-GB" altLang="en-US" sz="1800"/>
              <a:t>e.g. … select fill tool, click over triangle</a:t>
            </a:r>
            <a:r>
              <a:rPr lang="en-GB" altLang="en-US" sz="2000"/>
              <a:t> </a:t>
            </a:r>
          </a:p>
          <a:p>
            <a:pPr>
              <a:lnSpc>
                <a:spcPct val="90000"/>
              </a:lnSpc>
              <a:buFontTx/>
              <a:buNone/>
              <a:tabLst>
                <a:tab pos="1338263" algn="l"/>
                <a:tab pos="2282825" algn="l"/>
              </a:tabLst>
            </a:pPr>
            <a:endParaRPr lang="en-GB" altLang="en-US" sz="1200"/>
          </a:p>
          <a:p>
            <a:pPr>
              <a:lnSpc>
                <a:spcPct val="90000"/>
              </a:lnSpc>
              <a:buFontTx/>
              <a:buNone/>
              <a:tabLst>
                <a:tab pos="1338263" algn="l"/>
                <a:tab pos="2282825" algn="l"/>
              </a:tabLst>
            </a:pPr>
            <a:r>
              <a:rPr lang="en-GB" altLang="en-US" sz="2400"/>
              <a:t>Note …</a:t>
            </a:r>
          </a:p>
          <a:p>
            <a:pPr lvl="1">
              <a:lnSpc>
                <a:spcPct val="90000"/>
              </a:lnSpc>
              <a:tabLst>
                <a:tab pos="1338263" algn="l"/>
                <a:tab pos="2282825" algn="l"/>
              </a:tabLst>
            </a:pPr>
            <a:r>
              <a:rPr lang="en-GB" altLang="en-US" sz="2000"/>
              <a:t>traditional interaction …</a:t>
            </a:r>
          </a:p>
          <a:p>
            <a:pPr lvl="1">
              <a:lnSpc>
                <a:spcPct val="90000"/>
              </a:lnSpc>
              <a:tabLst>
                <a:tab pos="1338263" algn="l"/>
                <a:tab pos="2282825" algn="l"/>
              </a:tabLst>
            </a:pPr>
            <a:r>
              <a:rPr lang="en-GB" altLang="en-US" sz="2000"/>
              <a:t>use of terms differs a lot especially task/goal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79F11475-6AA9-9DE8-6E6E-1E2C3C76067F}"/>
              </a:ext>
            </a:extLst>
          </p:cNvPr>
          <p:cNvSpPr>
            <a:spLocks noGrp="1" noChangeArrowheads="1"/>
          </p:cNvSpPr>
          <p:nvPr>
            <p:ph type="title"/>
          </p:nvPr>
        </p:nvSpPr>
        <p:spPr/>
        <p:txBody>
          <a:bodyPr/>
          <a:lstStyle/>
          <a:p>
            <a:r>
              <a:rPr lang="en-GB" altLang="en-US"/>
              <a:t>Donald Norman’s model</a:t>
            </a:r>
          </a:p>
        </p:txBody>
      </p:sp>
      <p:sp>
        <p:nvSpPr>
          <p:cNvPr id="73731" name="Rectangle 3">
            <a:extLst>
              <a:ext uri="{FF2B5EF4-FFF2-40B4-BE49-F238E27FC236}">
                <a16:creationId xmlns:a16="http://schemas.microsoft.com/office/drawing/2014/main" id="{36DD3F42-20C6-1BDF-2BB2-0EC98ED8EFB4}"/>
              </a:ext>
            </a:extLst>
          </p:cNvPr>
          <p:cNvSpPr>
            <a:spLocks noGrp="1" noChangeArrowheads="1"/>
          </p:cNvSpPr>
          <p:nvPr>
            <p:ph type="body" idx="1"/>
          </p:nvPr>
        </p:nvSpPr>
        <p:spPr/>
        <p:txBody>
          <a:bodyPr/>
          <a:lstStyle/>
          <a:p>
            <a:pPr>
              <a:lnSpc>
                <a:spcPct val="90000"/>
              </a:lnSpc>
            </a:pPr>
            <a:r>
              <a:rPr lang="en-GB" altLang="en-US" sz="2400"/>
              <a:t>Seven stages</a:t>
            </a:r>
          </a:p>
          <a:p>
            <a:pPr lvl="1">
              <a:lnSpc>
                <a:spcPct val="90000"/>
              </a:lnSpc>
            </a:pPr>
            <a:r>
              <a:rPr lang="en-GB" altLang="en-US" sz="2000"/>
              <a:t>user establishes the goal</a:t>
            </a:r>
          </a:p>
          <a:p>
            <a:pPr lvl="1">
              <a:lnSpc>
                <a:spcPct val="90000"/>
              </a:lnSpc>
            </a:pPr>
            <a:r>
              <a:rPr lang="en-GB" altLang="en-US" sz="2000"/>
              <a:t>formulates intention</a:t>
            </a:r>
          </a:p>
          <a:p>
            <a:pPr lvl="1">
              <a:lnSpc>
                <a:spcPct val="90000"/>
              </a:lnSpc>
            </a:pPr>
            <a:r>
              <a:rPr lang="en-GB" altLang="en-US" sz="2000"/>
              <a:t>specifies actions at interface</a:t>
            </a:r>
          </a:p>
          <a:p>
            <a:pPr lvl="1">
              <a:lnSpc>
                <a:spcPct val="90000"/>
              </a:lnSpc>
            </a:pPr>
            <a:r>
              <a:rPr lang="en-GB" altLang="en-US" sz="2000"/>
              <a:t>executes action</a:t>
            </a:r>
          </a:p>
          <a:p>
            <a:pPr lvl="1">
              <a:lnSpc>
                <a:spcPct val="90000"/>
              </a:lnSpc>
            </a:pPr>
            <a:r>
              <a:rPr lang="en-GB" altLang="en-US" sz="2000"/>
              <a:t>perceives system state</a:t>
            </a:r>
          </a:p>
          <a:p>
            <a:pPr lvl="1">
              <a:lnSpc>
                <a:spcPct val="90000"/>
              </a:lnSpc>
            </a:pPr>
            <a:r>
              <a:rPr lang="en-GB" altLang="en-US" sz="2000"/>
              <a:t>interprets system state</a:t>
            </a:r>
          </a:p>
          <a:p>
            <a:pPr lvl="1">
              <a:lnSpc>
                <a:spcPct val="90000"/>
              </a:lnSpc>
            </a:pPr>
            <a:r>
              <a:rPr lang="en-GB" altLang="en-US" sz="2000"/>
              <a:t>evaluates system state with respect to goal</a:t>
            </a:r>
          </a:p>
          <a:p>
            <a:pPr>
              <a:lnSpc>
                <a:spcPct val="90000"/>
              </a:lnSpc>
            </a:pPr>
            <a:endParaRPr lang="en-GB" altLang="en-US" sz="2400"/>
          </a:p>
          <a:p>
            <a:pPr>
              <a:lnSpc>
                <a:spcPct val="90000"/>
              </a:lnSpc>
            </a:pPr>
            <a:r>
              <a:rPr lang="en-GB" altLang="en-US" sz="2400"/>
              <a:t>Norman’s model concentrates on user’s view of the interface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6DDA357C-62B2-4D57-2C40-145059EC3A49}"/>
              </a:ext>
            </a:extLst>
          </p:cNvPr>
          <p:cNvSpPr>
            <a:spLocks noGrp="1" noChangeArrowheads="1"/>
          </p:cNvSpPr>
          <p:nvPr>
            <p:ph type="title"/>
          </p:nvPr>
        </p:nvSpPr>
        <p:spPr>
          <a:xfrm>
            <a:off x="685800" y="762000"/>
            <a:ext cx="6858000" cy="1143000"/>
          </a:xfrm>
        </p:spPr>
        <p:txBody>
          <a:bodyPr/>
          <a:lstStyle/>
          <a:p>
            <a:r>
              <a:rPr lang="en-US" altLang="en-US">
                <a:solidFill>
                  <a:schemeClr val="tx1"/>
                </a:solidFill>
              </a:rPr>
              <a:t>execution/evaluation loop</a:t>
            </a:r>
            <a:endParaRPr lang="en-US" altLang="en-US"/>
          </a:p>
        </p:txBody>
      </p:sp>
      <p:sp>
        <p:nvSpPr>
          <p:cNvPr id="31747" name="Rectangle 3">
            <a:extLst>
              <a:ext uri="{FF2B5EF4-FFF2-40B4-BE49-F238E27FC236}">
                <a16:creationId xmlns:a16="http://schemas.microsoft.com/office/drawing/2014/main" id="{AB25DA44-AEB5-67AE-2285-C2148C840ABC}"/>
              </a:ext>
            </a:extLst>
          </p:cNvPr>
          <p:cNvSpPr>
            <a:spLocks noGrp="1" noChangeArrowheads="1"/>
          </p:cNvSpPr>
          <p:nvPr>
            <p:ph type="body" idx="1"/>
          </p:nvPr>
        </p:nvSpPr>
        <p:spPr/>
        <p:txBody>
          <a:bodyPr/>
          <a:lstStyle/>
          <a:p>
            <a:pPr>
              <a:lnSpc>
                <a:spcPct val="90000"/>
              </a:lnSpc>
            </a:pPr>
            <a:endParaRPr lang="en-GB" altLang="en-US" sz="1800"/>
          </a:p>
          <a:p>
            <a:pPr>
              <a:lnSpc>
                <a:spcPct val="90000"/>
              </a:lnSpc>
            </a:pPr>
            <a:endParaRPr lang="en-GB" altLang="en-US" sz="1800"/>
          </a:p>
          <a:p>
            <a:pPr>
              <a:lnSpc>
                <a:spcPct val="90000"/>
              </a:lnSpc>
            </a:pPr>
            <a:endParaRPr lang="en-GB" altLang="en-US" sz="1800"/>
          </a:p>
          <a:p>
            <a:pPr lvl="2">
              <a:lnSpc>
                <a:spcPct val="90000"/>
              </a:lnSpc>
            </a:pPr>
            <a:endParaRPr lang="en-GB" altLang="en-US" sz="1800"/>
          </a:p>
          <a:p>
            <a:pPr lvl="2">
              <a:lnSpc>
                <a:spcPct val="90000"/>
              </a:lnSpc>
            </a:pPr>
            <a:endParaRPr lang="en-GB" altLang="en-US" sz="1800"/>
          </a:p>
          <a:p>
            <a:pPr lvl="2">
              <a:lnSpc>
                <a:spcPct val="90000"/>
              </a:lnSpc>
            </a:pPr>
            <a:r>
              <a:rPr lang="en-GB" altLang="en-US" sz="1800"/>
              <a:t>user establishes the goal</a:t>
            </a:r>
          </a:p>
          <a:p>
            <a:pPr lvl="2">
              <a:lnSpc>
                <a:spcPct val="90000"/>
              </a:lnSpc>
            </a:pPr>
            <a:r>
              <a:rPr lang="en-GB" altLang="en-US" sz="1800"/>
              <a:t>formulates intention</a:t>
            </a:r>
          </a:p>
          <a:p>
            <a:pPr lvl="2">
              <a:lnSpc>
                <a:spcPct val="90000"/>
              </a:lnSpc>
            </a:pPr>
            <a:r>
              <a:rPr lang="en-GB" altLang="en-US" sz="1800"/>
              <a:t>specifies actions at interface</a:t>
            </a:r>
          </a:p>
          <a:p>
            <a:pPr lvl="2">
              <a:lnSpc>
                <a:spcPct val="90000"/>
              </a:lnSpc>
            </a:pPr>
            <a:r>
              <a:rPr lang="en-GB" altLang="en-US" sz="1800"/>
              <a:t>executes action</a:t>
            </a:r>
          </a:p>
          <a:p>
            <a:pPr lvl="2">
              <a:lnSpc>
                <a:spcPct val="90000"/>
              </a:lnSpc>
            </a:pPr>
            <a:r>
              <a:rPr lang="en-GB" altLang="en-US" sz="1800"/>
              <a:t>perceives system state</a:t>
            </a:r>
          </a:p>
          <a:p>
            <a:pPr lvl="2">
              <a:lnSpc>
                <a:spcPct val="90000"/>
              </a:lnSpc>
            </a:pPr>
            <a:r>
              <a:rPr lang="en-GB" altLang="en-US" sz="1800"/>
              <a:t>interprets system state</a:t>
            </a:r>
          </a:p>
          <a:p>
            <a:pPr lvl="2">
              <a:lnSpc>
                <a:spcPct val="90000"/>
              </a:lnSpc>
            </a:pPr>
            <a:r>
              <a:rPr lang="en-GB" altLang="en-US" sz="1800"/>
              <a:t>evaluates system state with respect to goal</a:t>
            </a:r>
          </a:p>
          <a:p>
            <a:pPr lvl="2">
              <a:lnSpc>
                <a:spcPct val="90000"/>
              </a:lnSpc>
            </a:pPr>
            <a:endParaRPr lang="en-GB" altLang="en-US" sz="1800"/>
          </a:p>
        </p:txBody>
      </p:sp>
      <p:grpSp>
        <p:nvGrpSpPr>
          <p:cNvPr id="31748" name="Group 4">
            <a:extLst>
              <a:ext uri="{FF2B5EF4-FFF2-40B4-BE49-F238E27FC236}">
                <a16:creationId xmlns:a16="http://schemas.microsoft.com/office/drawing/2014/main" id="{FA8F1C08-2DAA-48F7-8052-0CFAE957DB88}"/>
              </a:ext>
            </a:extLst>
          </p:cNvPr>
          <p:cNvGrpSpPr>
            <a:grpSpLocks/>
          </p:cNvGrpSpPr>
          <p:nvPr/>
        </p:nvGrpSpPr>
        <p:grpSpPr bwMode="auto">
          <a:xfrm>
            <a:off x="1733550" y="1752600"/>
            <a:ext cx="5734050" cy="1600200"/>
            <a:chOff x="1968" y="3120"/>
            <a:chExt cx="3612" cy="1008"/>
          </a:xfrm>
        </p:grpSpPr>
        <p:sp>
          <p:nvSpPr>
            <p:cNvPr id="31749" name="Text Box 5">
              <a:extLst>
                <a:ext uri="{FF2B5EF4-FFF2-40B4-BE49-F238E27FC236}">
                  <a16:creationId xmlns:a16="http://schemas.microsoft.com/office/drawing/2014/main" id="{4F30E78D-BEAA-CB1F-5646-8BF57FACBD95}"/>
                </a:ext>
              </a:extLst>
            </p:cNvPr>
            <p:cNvSpPr txBox="1">
              <a:spLocks noChangeArrowheads="1"/>
            </p:cNvSpPr>
            <p:nvPr/>
          </p:nvSpPr>
          <p:spPr bwMode="auto">
            <a:xfrm>
              <a:off x="3361" y="3840"/>
              <a:ext cx="72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sz="2400">
                  <a:latin typeface="Arial" panose="020B0604020202020204" pitchFamily="34" charset="0"/>
                </a:rPr>
                <a:t>system</a:t>
              </a:r>
            </a:p>
          </p:txBody>
        </p:sp>
        <p:sp>
          <p:nvSpPr>
            <p:cNvPr id="31750" name="Text Box 6">
              <a:extLst>
                <a:ext uri="{FF2B5EF4-FFF2-40B4-BE49-F238E27FC236}">
                  <a16:creationId xmlns:a16="http://schemas.microsoft.com/office/drawing/2014/main" id="{E19FBF79-5511-F288-832C-1CE0FB8EE3DB}"/>
                </a:ext>
              </a:extLst>
            </p:cNvPr>
            <p:cNvSpPr txBox="1">
              <a:spLocks noChangeArrowheads="1"/>
            </p:cNvSpPr>
            <p:nvPr/>
          </p:nvSpPr>
          <p:spPr bwMode="auto">
            <a:xfrm>
              <a:off x="4587" y="3504"/>
              <a:ext cx="99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sz="2400">
                  <a:latin typeface="Arial" panose="020B0604020202020204" pitchFamily="34" charset="0"/>
                </a:rPr>
                <a:t>evaluation</a:t>
              </a:r>
            </a:p>
          </p:txBody>
        </p:sp>
        <p:sp>
          <p:nvSpPr>
            <p:cNvPr id="31751" name="Text Box 7">
              <a:extLst>
                <a:ext uri="{FF2B5EF4-FFF2-40B4-BE49-F238E27FC236}">
                  <a16:creationId xmlns:a16="http://schemas.microsoft.com/office/drawing/2014/main" id="{FB5B0129-A40E-F5D5-CF5E-708727237730}"/>
                </a:ext>
              </a:extLst>
            </p:cNvPr>
            <p:cNvSpPr txBox="1">
              <a:spLocks noChangeArrowheads="1"/>
            </p:cNvSpPr>
            <p:nvPr/>
          </p:nvSpPr>
          <p:spPr bwMode="auto">
            <a:xfrm>
              <a:off x="1968" y="3504"/>
              <a:ext cx="93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sz="2400">
                  <a:latin typeface="Arial" panose="020B0604020202020204" pitchFamily="34" charset="0"/>
                </a:rPr>
                <a:t>execution</a:t>
              </a:r>
            </a:p>
          </p:txBody>
        </p:sp>
        <p:grpSp>
          <p:nvGrpSpPr>
            <p:cNvPr id="31752" name="Group 8">
              <a:extLst>
                <a:ext uri="{FF2B5EF4-FFF2-40B4-BE49-F238E27FC236}">
                  <a16:creationId xmlns:a16="http://schemas.microsoft.com/office/drawing/2014/main" id="{AAFB7818-D1C1-E640-ADB9-B57055636F87}"/>
                </a:ext>
              </a:extLst>
            </p:cNvPr>
            <p:cNvGrpSpPr>
              <a:grpSpLocks/>
            </p:cNvGrpSpPr>
            <p:nvPr/>
          </p:nvGrpSpPr>
          <p:grpSpPr bwMode="auto">
            <a:xfrm>
              <a:off x="2955" y="3216"/>
              <a:ext cx="1536" cy="816"/>
              <a:chOff x="1680" y="1104"/>
              <a:chExt cx="1536" cy="816"/>
            </a:xfrm>
          </p:grpSpPr>
          <p:sp>
            <p:nvSpPr>
              <p:cNvPr id="31753" name="AutoShape 9">
                <a:extLst>
                  <a:ext uri="{FF2B5EF4-FFF2-40B4-BE49-F238E27FC236}">
                    <a16:creationId xmlns:a16="http://schemas.microsoft.com/office/drawing/2014/main" id="{C4AD924D-44F3-64C7-B9C4-913C5ECFD303}"/>
                  </a:ext>
                </a:extLst>
              </p:cNvPr>
              <p:cNvSpPr>
                <a:spLocks noChangeArrowheads="1"/>
              </p:cNvSpPr>
              <p:nvPr/>
            </p:nvSpPr>
            <p:spPr bwMode="auto">
              <a:xfrm>
                <a:off x="1680" y="1152"/>
                <a:ext cx="384" cy="768"/>
              </a:xfrm>
              <a:prstGeom prst="curvedRightArrow">
                <a:avLst>
                  <a:gd name="adj1" fmla="val 40000"/>
                  <a:gd name="adj2" fmla="val 80000"/>
                  <a:gd name="adj3" fmla="val 33333"/>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1754" name="AutoShape 10">
                <a:extLst>
                  <a:ext uri="{FF2B5EF4-FFF2-40B4-BE49-F238E27FC236}">
                    <a16:creationId xmlns:a16="http://schemas.microsoft.com/office/drawing/2014/main" id="{015AF992-94A2-75E2-A011-A065754583EB}"/>
                  </a:ext>
                </a:extLst>
              </p:cNvPr>
              <p:cNvSpPr>
                <a:spLocks noChangeArrowheads="1"/>
              </p:cNvSpPr>
              <p:nvPr/>
            </p:nvSpPr>
            <p:spPr bwMode="auto">
              <a:xfrm flipH="1" flipV="1">
                <a:off x="2832" y="1104"/>
                <a:ext cx="384" cy="768"/>
              </a:xfrm>
              <a:prstGeom prst="curvedRightArrow">
                <a:avLst>
                  <a:gd name="adj1" fmla="val 40000"/>
                  <a:gd name="adj2" fmla="val 80000"/>
                  <a:gd name="adj3" fmla="val 33333"/>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
          <p:nvSpPr>
            <p:cNvPr id="31755" name="Text Box 11">
              <a:extLst>
                <a:ext uri="{FF2B5EF4-FFF2-40B4-BE49-F238E27FC236}">
                  <a16:creationId xmlns:a16="http://schemas.microsoft.com/office/drawing/2014/main" id="{0B5A6588-AE81-1EE5-BA86-7692A7F38672}"/>
                </a:ext>
              </a:extLst>
            </p:cNvPr>
            <p:cNvSpPr txBox="1">
              <a:spLocks noChangeArrowheads="1"/>
            </p:cNvSpPr>
            <p:nvPr/>
          </p:nvSpPr>
          <p:spPr bwMode="auto">
            <a:xfrm>
              <a:off x="3504" y="3120"/>
              <a:ext cx="48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sz="2400">
                  <a:latin typeface="Arial" panose="020B0604020202020204" pitchFamily="34" charset="0"/>
                </a:rPr>
                <a:t>goal</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00F1D2D0-0F00-6D8F-C8F6-A6EA082EBD63}"/>
              </a:ext>
            </a:extLst>
          </p:cNvPr>
          <p:cNvSpPr>
            <a:spLocks noGrp="1" noChangeArrowheads="1"/>
          </p:cNvSpPr>
          <p:nvPr>
            <p:ph type="title"/>
          </p:nvPr>
        </p:nvSpPr>
        <p:spPr>
          <a:xfrm>
            <a:off x="685800" y="762000"/>
            <a:ext cx="6858000" cy="1143000"/>
          </a:xfrm>
        </p:spPr>
        <p:txBody>
          <a:bodyPr/>
          <a:lstStyle/>
          <a:p>
            <a:r>
              <a:rPr lang="en-US" altLang="en-US">
                <a:solidFill>
                  <a:schemeClr val="tx1"/>
                </a:solidFill>
              </a:rPr>
              <a:t>execution/evaluation loop</a:t>
            </a:r>
            <a:endParaRPr lang="en-US" altLang="en-US"/>
          </a:p>
        </p:txBody>
      </p:sp>
      <p:sp>
        <p:nvSpPr>
          <p:cNvPr id="32771" name="Rectangle 3">
            <a:extLst>
              <a:ext uri="{FF2B5EF4-FFF2-40B4-BE49-F238E27FC236}">
                <a16:creationId xmlns:a16="http://schemas.microsoft.com/office/drawing/2014/main" id="{6D0CB45C-21C4-D7E0-0043-CF75D58F934E}"/>
              </a:ext>
            </a:extLst>
          </p:cNvPr>
          <p:cNvSpPr>
            <a:spLocks noGrp="1" noChangeArrowheads="1"/>
          </p:cNvSpPr>
          <p:nvPr>
            <p:ph type="body" idx="1"/>
          </p:nvPr>
        </p:nvSpPr>
        <p:spPr/>
        <p:txBody>
          <a:bodyPr/>
          <a:lstStyle/>
          <a:p>
            <a:pPr>
              <a:lnSpc>
                <a:spcPct val="90000"/>
              </a:lnSpc>
            </a:pPr>
            <a:endParaRPr lang="en-GB" altLang="en-US" sz="1800"/>
          </a:p>
          <a:p>
            <a:pPr>
              <a:lnSpc>
                <a:spcPct val="90000"/>
              </a:lnSpc>
            </a:pPr>
            <a:endParaRPr lang="en-GB" altLang="en-US" sz="1800"/>
          </a:p>
          <a:p>
            <a:pPr>
              <a:lnSpc>
                <a:spcPct val="90000"/>
              </a:lnSpc>
            </a:pPr>
            <a:endParaRPr lang="en-GB" altLang="en-US" sz="1800"/>
          </a:p>
          <a:p>
            <a:pPr lvl="2">
              <a:lnSpc>
                <a:spcPct val="90000"/>
              </a:lnSpc>
            </a:pPr>
            <a:endParaRPr lang="en-GB" altLang="en-US" sz="1800"/>
          </a:p>
          <a:p>
            <a:pPr lvl="2">
              <a:lnSpc>
                <a:spcPct val="90000"/>
              </a:lnSpc>
            </a:pPr>
            <a:endParaRPr lang="en-GB" altLang="en-US" sz="1800"/>
          </a:p>
          <a:p>
            <a:pPr lvl="2">
              <a:lnSpc>
                <a:spcPct val="90000"/>
              </a:lnSpc>
            </a:pPr>
            <a:r>
              <a:rPr lang="en-GB" altLang="en-US" sz="1800"/>
              <a:t>user establishes the goal</a:t>
            </a:r>
          </a:p>
          <a:p>
            <a:pPr lvl="2">
              <a:lnSpc>
                <a:spcPct val="90000"/>
              </a:lnSpc>
            </a:pPr>
            <a:r>
              <a:rPr lang="en-GB" altLang="en-US" sz="1800">
                <a:solidFill>
                  <a:schemeClr val="folHlink"/>
                </a:solidFill>
              </a:rPr>
              <a:t>formulates intention</a:t>
            </a:r>
          </a:p>
          <a:p>
            <a:pPr lvl="2">
              <a:lnSpc>
                <a:spcPct val="90000"/>
              </a:lnSpc>
            </a:pPr>
            <a:r>
              <a:rPr lang="en-GB" altLang="en-US" sz="1800">
                <a:solidFill>
                  <a:schemeClr val="folHlink"/>
                </a:solidFill>
              </a:rPr>
              <a:t>specifies actions at interface</a:t>
            </a:r>
          </a:p>
          <a:p>
            <a:pPr lvl="2">
              <a:lnSpc>
                <a:spcPct val="90000"/>
              </a:lnSpc>
            </a:pPr>
            <a:r>
              <a:rPr lang="en-GB" altLang="en-US" sz="1800">
                <a:solidFill>
                  <a:schemeClr val="folHlink"/>
                </a:solidFill>
              </a:rPr>
              <a:t>executes action</a:t>
            </a:r>
          </a:p>
          <a:p>
            <a:pPr lvl="2">
              <a:lnSpc>
                <a:spcPct val="90000"/>
              </a:lnSpc>
            </a:pPr>
            <a:r>
              <a:rPr lang="en-GB" altLang="en-US" sz="1800">
                <a:solidFill>
                  <a:schemeClr val="folHlink"/>
                </a:solidFill>
              </a:rPr>
              <a:t>perceives system state</a:t>
            </a:r>
          </a:p>
          <a:p>
            <a:pPr lvl="2">
              <a:lnSpc>
                <a:spcPct val="90000"/>
              </a:lnSpc>
            </a:pPr>
            <a:r>
              <a:rPr lang="en-GB" altLang="en-US" sz="1800">
                <a:solidFill>
                  <a:schemeClr val="folHlink"/>
                </a:solidFill>
              </a:rPr>
              <a:t>interprets system state</a:t>
            </a:r>
          </a:p>
          <a:p>
            <a:pPr lvl="2">
              <a:lnSpc>
                <a:spcPct val="90000"/>
              </a:lnSpc>
            </a:pPr>
            <a:r>
              <a:rPr lang="en-GB" altLang="en-US" sz="1800">
                <a:solidFill>
                  <a:schemeClr val="folHlink"/>
                </a:solidFill>
              </a:rPr>
              <a:t>evaluates system state with respect to goal</a:t>
            </a:r>
          </a:p>
        </p:txBody>
      </p:sp>
      <p:grpSp>
        <p:nvGrpSpPr>
          <p:cNvPr id="32772" name="Group 4">
            <a:extLst>
              <a:ext uri="{FF2B5EF4-FFF2-40B4-BE49-F238E27FC236}">
                <a16:creationId xmlns:a16="http://schemas.microsoft.com/office/drawing/2014/main" id="{29C3FE2B-7EFD-8441-7D9F-9350DC26E76C}"/>
              </a:ext>
            </a:extLst>
          </p:cNvPr>
          <p:cNvGrpSpPr>
            <a:grpSpLocks/>
          </p:cNvGrpSpPr>
          <p:nvPr/>
        </p:nvGrpSpPr>
        <p:grpSpPr bwMode="auto">
          <a:xfrm>
            <a:off x="1733550" y="1752600"/>
            <a:ext cx="5734050" cy="1600200"/>
            <a:chOff x="1968" y="3120"/>
            <a:chExt cx="3612" cy="1008"/>
          </a:xfrm>
        </p:grpSpPr>
        <p:sp>
          <p:nvSpPr>
            <p:cNvPr id="32773" name="Text Box 5">
              <a:extLst>
                <a:ext uri="{FF2B5EF4-FFF2-40B4-BE49-F238E27FC236}">
                  <a16:creationId xmlns:a16="http://schemas.microsoft.com/office/drawing/2014/main" id="{497AD42D-8E1B-E90D-C750-380654E63A8A}"/>
                </a:ext>
              </a:extLst>
            </p:cNvPr>
            <p:cNvSpPr txBox="1">
              <a:spLocks noChangeArrowheads="1"/>
            </p:cNvSpPr>
            <p:nvPr/>
          </p:nvSpPr>
          <p:spPr bwMode="auto">
            <a:xfrm>
              <a:off x="3361" y="3840"/>
              <a:ext cx="72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sz="2400">
                  <a:latin typeface="Arial" panose="020B0604020202020204" pitchFamily="34" charset="0"/>
                </a:rPr>
                <a:t>system</a:t>
              </a:r>
            </a:p>
          </p:txBody>
        </p:sp>
        <p:sp>
          <p:nvSpPr>
            <p:cNvPr id="32774" name="Text Box 6">
              <a:extLst>
                <a:ext uri="{FF2B5EF4-FFF2-40B4-BE49-F238E27FC236}">
                  <a16:creationId xmlns:a16="http://schemas.microsoft.com/office/drawing/2014/main" id="{E79E1131-3742-0AAE-35F2-FE9BAED5EE21}"/>
                </a:ext>
              </a:extLst>
            </p:cNvPr>
            <p:cNvSpPr txBox="1">
              <a:spLocks noChangeArrowheads="1"/>
            </p:cNvSpPr>
            <p:nvPr/>
          </p:nvSpPr>
          <p:spPr bwMode="auto">
            <a:xfrm>
              <a:off x="4587" y="3504"/>
              <a:ext cx="99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sz="2400">
                  <a:latin typeface="Arial" panose="020B0604020202020204" pitchFamily="34" charset="0"/>
                </a:rPr>
                <a:t>evaluation</a:t>
              </a:r>
            </a:p>
          </p:txBody>
        </p:sp>
        <p:sp>
          <p:nvSpPr>
            <p:cNvPr id="32775" name="Text Box 7">
              <a:extLst>
                <a:ext uri="{FF2B5EF4-FFF2-40B4-BE49-F238E27FC236}">
                  <a16:creationId xmlns:a16="http://schemas.microsoft.com/office/drawing/2014/main" id="{7625DBCE-30D6-E3A5-6601-F6A9C33F1C6E}"/>
                </a:ext>
              </a:extLst>
            </p:cNvPr>
            <p:cNvSpPr txBox="1">
              <a:spLocks noChangeArrowheads="1"/>
            </p:cNvSpPr>
            <p:nvPr/>
          </p:nvSpPr>
          <p:spPr bwMode="auto">
            <a:xfrm>
              <a:off x="1968" y="3504"/>
              <a:ext cx="93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sz="2400">
                  <a:latin typeface="Arial" panose="020B0604020202020204" pitchFamily="34" charset="0"/>
                </a:rPr>
                <a:t>execution</a:t>
              </a:r>
            </a:p>
          </p:txBody>
        </p:sp>
        <p:grpSp>
          <p:nvGrpSpPr>
            <p:cNvPr id="32776" name="Group 8">
              <a:extLst>
                <a:ext uri="{FF2B5EF4-FFF2-40B4-BE49-F238E27FC236}">
                  <a16:creationId xmlns:a16="http://schemas.microsoft.com/office/drawing/2014/main" id="{7556F09F-E545-917D-FCB8-5B041CD19538}"/>
                </a:ext>
              </a:extLst>
            </p:cNvPr>
            <p:cNvGrpSpPr>
              <a:grpSpLocks/>
            </p:cNvGrpSpPr>
            <p:nvPr/>
          </p:nvGrpSpPr>
          <p:grpSpPr bwMode="auto">
            <a:xfrm>
              <a:off x="2955" y="3216"/>
              <a:ext cx="1536" cy="816"/>
              <a:chOff x="1680" y="1104"/>
              <a:chExt cx="1536" cy="816"/>
            </a:xfrm>
          </p:grpSpPr>
          <p:sp>
            <p:nvSpPr>
              <p:cNvPr id="32777" name="AutoShape 9">
                <a:extLst>
                  <a:ext uri="{FF2B5EF4-FFF2-40B4-BE49-F238E27FC236}">
                    <a16:creationId xmlns:a16="http://schemas.microsoft.com/office/drawing/2014/main" id="{3B1645BC-7218-DB70-C84D-5153515F2A01}"/>
                  </a:ext>
                </a:extLst>
              </p:cNvPr>
              <p:cNvSpPr>
                <a:spLocks noChangeArrowheads="1"/>
              </p:cNvSpPr>
              <p:nvPr/>
            </p:nvSpPr>
            <p:spPr bwMode="auto">
              <a:xfrm>
                <a:off x="1680" y="1152"/>
                <a:ext cx="384" cy="768"/>
              </a:xfrm>
              <a:prstGeom prst="curvedRightArrow">
                <a:avLst>
                  <a:gd name="adj1" fmla="val 40000"/>
                  <a:gd name="adj2" fmla="val 80000"/>
                  <a:gd name="adj3" fmla="val 33333"/>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778" name="AutoShape 10">
                <a:extLst>
                  <a:ext uri="{FF2B5EF4-FFF2-40B4-BE49-F238E27FC236}">
                    <a16:creationId xmlns:a16="http://schemas.microsoft.com/office/drawing/2014/main" id="{8EF07770-A13A-68B5-D013-EFA28286F700}"/>
                  </a:ext>
                </a:extLst>
              </p:cNvPr>
              <p:cNvSpPr>
                <a:spLocks noChangeArrowheads="1"/>
              </p:cNvSpPr>
              <p:nvPr/>
            </p:nvSpPr>
            <p:spPr bwMode="auto">
              <a:xfrm flipH="1" flipV="1">
                <a:off x="2832" y="1104"/>
                <a:ext cx="384" cy="768"/>
              </a:xfrm>
              <a:prstGeom prst="curvedRightArrow">
                <a:avLst>
                  <a:gd name="adj1" fmla="val 40000"/>
                  <a:gd name="adj2" fmla="val 80000"/>
                  <a:gd name="adj3" fmla="val 33333"/>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
          <p:nvSpPr>
            <p:cNvPr id="32779" name="Text Box 11">
              <a:extLst>
                <a:ext uri="{FF2B5EF4-FFF2-40B4-BE49-F238E27FC236}">
                  <a16:creationId xmlns:a16="http://schemas.microsoft.com/office/drawing/2014/main" id="{5AC9D835-B0CD-34F0-AF0E-BB7EF4D6D0C8}"/>
                </a:ext>
              </a:extLst>
            </p:cNvPr>
            <p:cNvSpPr txBox="1">
              <a:spLocks noChangeArrowheads="1"/>
            </p:cNvSpPr>
            <p:nvPr/>
          </p:nvSpPr>
          <p:spPr bwMode="auto">
            <a:xfrm>
              <a:off x="3504" y="3120"/>
              <a:ext cx="48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sz="2400">
                  <a:latin typeface="Arial" panose="020B0604020202020204" pitchFamily="34" charset="0"/>
                </a:rPr>
                <a:t>goal</a:t>
              </a:r>
            </a:p>
          </p:txBody>
        </p:sp>
      </p:grpSp>
      <p:sp>
        <p:nvSpPr>
          <p:cNvPr id="32780" name="Oval 12">
            <a:extLst>
              <a:ext uri="{FF2B5EF4-FFF2-40B4-BE49-F238E27FC236}">
                <a16:creationId xmlns:a16="http://schemas.microsoft.com/office/drawing/2014/main" id="{AB03D880-054B-D0E2-4831-F1DD1E5BC6B7}"/>
              </a:ext>
            </a:extLst>
          </p:cNvPr>
          <p:cNvSpPr>
            <a:spLocks noChangeArrowheads="1"/>
          </p:cNvSpPr>
          <p:nvPr/>
        </p:nvSpPr>
        <p:spPr bwMode="auto">
          <a:xfrm>
            <a:off x="4114800" y="1676400"/>
            <a:ext cx="838200" cy="685800"/>
          </a:xfrm>
          <a:prstGeom prst="ellipse">
            <a:avLst/>
          </a:prstGeom>
          <a:noFill/>
          <a:ln w="38100">
            <a:solidFill>
              <a:srgbClr val="ED181E"/>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781" name="Rectangle 13">
            <a:extLst>
              <a:ext uri="{FF2B5EF4-FFF2-40B4-BE49-F238E27FC236}">
                <a16:creationId xmlns:a16="http://schemas.microsoft.com/office/drawing/2014/main" id="{43109026-A45C-B313-C82B-485D385EEA59}"/>
              </a:ext>
            </a:extLst>
          </p:cNvPr>
          <p:cNvSpPr>
            <a:spLocks noChangeArrowheads="1"/>
          </p:cNvSpPr>
          <p:nvPr/>
        </p:nvSpPr>
        <p:spPr bwMode="auto">
          <a:xfrm>
            <a:off x="1600200" y="3505200"/>
            <a:ext cx="3581400" cy="381000"/>
          </a:xfrm>
          <a:prstGeom prst="rect">
            <a:avLst/>
          </a:prstGeom>
          <a:noFill/>
          <a:ln w="38100">
            <a:solidFill>
              <a:srgbClr val="ED181E"/>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85533BAB-C61C-FBC6-C8C5-8886E82F0AA9}"/>
              </a:ext>
            </a:extLst>
          </p:cNvPr>
          <p:cNvSpPr>
            <a:spLocks noGrp="1" noChangeArrowheads="1"/>
          </p:cNvSpPr>
          <p:nvPr>
            <p:ph type="title"/>
          </p:nvPr>
        </p:nvSpPr>
        <p:spPr>
          <a:xfrm>
            <a:off x="685800" y="762000"/>
            <a:ext cx="6858000" cy="1143000"/>
          </a:xfrm>
        </p:spPr>
        <p:txBody>
          <a:bodyPr/>
          <a:lstStyle/>
          <a:p>
            <a:r>
              <a:rPr lang="en-US" altLang="en-US">
                <a:solidFill>
                  <a:schemeClr val="tx1"/>
                </a:solidFill>
              </a:rPr>
              <a:t>execution/evaluation loop</a:t>
            </a:r>
            <a:endParaRPr lang="en-US" altLang="en-US"/>
          </a:p>
        </p:txBody>
      </p:sp>
      <p:sp>
        <p:nvSpPr>
          <p:cNvPr id="33795" name="Rectangle 3">
            <a:extLst>
              <a:ext uri="{FF2B5EF4-FFF2-40B4-BE49-F238E27FC236}">
                <a16:creationId xmlns:a16="http://schemas.microsoft.com/office/drawing/2014/main" id="{0EB1C7E4-1A5D-0AD3-FA71-6225CFCFD181}"/>
              </a:ext>
            </a:extLst>
          </p:cNvPr>
          <p:cNvSpPr>
            <a:spLocks noGrp="1" noChangeArrowheads="1"/>
          </p:cNvSpPr>
          <p:nvPr>
            <p:ph type="body" idx="1"/>
          </p:nvPr>
        </p:nvSpPr>
        <p:spPr/>
        <p:txBody>
          <a:bodyPr/>
          <a:lstStyle/>
          <a:p>
            <a:pPr>
              <a:lnSpc>
                <a:spcPct val="90000"/>
              </a:lnSpc>
            </a:pPr>
            <a:endParaRPr lang="en-GB" altLang="en-US" sz="1800"/>
          </a:p>
          <a:p>
            <a:pPr>
              <a:lnSpc>
                <a:spcPct val="90000"/>
              </a:lnSpc>
            </a:pPr>
            <a:endParaRPr lang="en-GB" altLang="en-US" sz="1800"/>
          </a:p>
          <a:p>
            <a:pPr>
              <a:lnSpc>
                <a:spcPct val="90000"/>
              </a:lnSpc>
            </a:pPr>
            <a:endParaRPr lang="en-GB" altLang="en-US" sz="1800"/>
          </a:p>
          <a:p>
            <a:pPr lvl="2">
              <a:lnSpc>
                <a:spcPct val="90000"/>
              </a:lnSpc>
            </a:pPr>
            <a:endParaRPr lang="en-GB" altLang="en-US" sz="1800"/>
          </a:p>
          <a:p>
            <a:pPr lvl="2">
              <a:lnSpc>
                <a:spcPct val="90000"/>
              </a:lnSpc>
            </a:pPr>
            <a:endParaRPr lang="en-GB" altLang="en-US" sz="1800">
              <a:solidFill>
                <a:schemeClr val="bg2"/>
              </a:solidFill>
            </a:endParaRPr>
          </a:p>
          <a:p>
            <a:pPr lvl="2">
              <a:lnSpc>
                <a:spcPct val="90000"/>
              </a:lnSpc>
            </a:pPr>
            <a:r>
              <a:rPr lang="en-GB" altLang="en-US" sz="1800">
                <a:solidFill>
                  <a:schemeClr val="bg2"/>
                </a:solidFill>
              </a:rPr>
              <a:t>user establishes the goal</a:t>
            </a:r>
          </a:p>
          <a:p>
            <a:pPr lvl="2">
              <a:lnSpc>
                <a:spcPct val="90000"/>
              </a:lnSpc>
            </a:pPr>
            <a:r>
              <a:rPr lang="en-GB" altLang="en-US" sz="1800"/>
              <a:t>formulates intention</a:t>
            </a:r>
          </a:p>
          <a:p>
            <a:pPr lvl="2">
              <a:lnSpc>
                <a:spcPct val="90000"/>
              </a:lnSpc>
            </a:pPr>
            <a:r>
              <a:rPr lang="en-GB" altLang="en-US" sz="1800"/>
              <a:t>specifies actions at interface</a:t>
            </a:r>
          </a:p>
          <a:p>
            <a:pPr lvl="2">
              <a:lnSpc>
                <a:spcPct val="90000"/>
              </a:lnSpc>
            </a:pPr>
            <a:r>
              <a:rPr lang="en-GB" altLang="en-US" sz="1800"/>
              <a:t>executes action</a:t>
            </a:r>
          </a:p>
          <a:p>
            <a:pPr lvl="2">
              <a:lnSpc>
                <a:spcPct val="90000"/>
              </a:lnSpc>
            </a:pPr>
            <a:r>
              <a:rPr lang="en-GB" altLang="en-US" sz="1800">
                <a:solidFill>
                  <a:schemeClr val="folHlink"/>
                </a:solidFill>
              </a:rPr>
              <a:t>perceives system state</a:t>
            </a:r>
          </a:p>
          <a:p>
            <a:pPr lvl="2">
              <a:lnSpc>
                <a:spcPct val="90000"/>
              </a:lnSpc>
            </a:pPr>
            <a:r>
              <a:rPr lang="en-GB" altLang="en-US" sz="1800">
                <a:solidFill>
                  <a:schemeClr val="folHlink"/>
                </a:solidFill>
              </a:rPr>
              <a:t>interprets system state</a:t>
            </a:r>
          </a:p>
          <a:p>
            <a:pPr lvl="2">
              <a:lnSpc>
                <a:spcPct val="90000"/>
              </a:lnSpc>
            </a:pPr>
            <a:r>
              <a:rPr lang="en-GB" altLang="en-US" sz="1800">
                <a:solidFill>
                  <a:schemeClr val="folHlink"/>
                </a:solidFill>
              </a:rPr>
              <a:t>evaluates system state with respect to goal</a:t>
            </a:r>
          </a:p>
        </p:txBody>
      </p:sp>
      <p:grpSp>
        <p:nvGrpSpPr>
          <p:cNvPr id="33796" name="Group 4">
            <a:extLst>
              <a:ext uri="{FF2B5EF4-FFF2-40B4-BE49-F238E27FC236}">
                <a16:creationId xmlns:a16="http://schemas.microsoft.com/office/drawing/2014/main" id="{8631ADAA-8EB2-63BC-C7B9-D55D5F4096DA}"/>
              </a:ext>
            </a:extLst>
          </p:cNvPr>
          <p:cNvGrpSpPr>
            <a:grpSpLocks/>
          </p:cNvGrpSpPr>
          <p:nvPr/>
        </p:nvGrpSpPr>
        <p:grpSpPr bwMode="auto">
          <a:xfrm>
            <a:off x="1733550" y="1752600"/>
            <a:ext cx="5734050" cy="1600200"/>
            <a:chOff x="1968" y="3120"/>
            <a:chExt cx="3612" cy="1008"/>
          </a:xfrm>
        </p:grpSpPr>
        <p:sp>
          <p:nvSpPr>
            <p:cNvPr id="33797" name="Text Box 5">
              <a:extLst>
                <a:ext uri="{FF2B5EF4-FFF2-40B4-BE49-F238E27FC236}">
                  <a16:creationId xmlns:a16="http://schemas.microsoft.com/office/drawing/2014/main" id="{3E838D2C-AEA7-3666-BC07-600C82678CBF}"/>
                </a:ext>
              </a:extLst>
            </p:cNvPr>
            <p:cNvSpPr txBox="1">
              <a:spLocks noChangeArrowheads="1"/>
            </p:cNvSpPr>
            <p:nvPr/>
          </p:nvSpPr>
          <p:spPr bwMode="auto">
            <a:xfrm>
              <a:off x="3361" y="3840"/>
              <a:ext cx="72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sz="2400">
                  <a:latin typeface="Arial" panose="020B0604020202020204" pitchFamily="34" charset="0"/>
                </a:rPr>
                <a:t>system</a:t>
              </a:r>
            </a:p>
          </p:txBody>
        </p:sp>
        <p:sp>
          <p:nvSpPr>
            <p:cNvPr id="33798" name="Text Box 6">
              <a:extLst>
                <a:ext uri="{FF2B5EF4-FFF2-40B4-BE49-F238E27FC236}">
                  <a16:creationId xmlns:a16="http://schemas.microsoft.com/office/drawing/2014/main" id="{234A70DC-84E6-777E-0181-E0692F49E157}"/>
                </a:ext>
              </a:extLst>
            </p:cNvPr>
            <p:cNvSpPr txBox="1">
              <a:spLocks noChangeArrowheads="1"/>
            </p:cNvSpPr>
            <p:nvPr/>
          </p:nvSpPr>
          <p:spPr bwMode="auto">
            <a:xfrm>
              <a:off x="4587" y="3504"/>
              <a:ext cx="99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sz="2400">
                  <a:latin typeface="Arial" panose="020B0604020202020204" pitchFamily="34" charset="0"/>
                </a:rPr>
                <a:t>evaluation</a:t>
              </a:r>
            </a:p>
          </p:txBody>
        </p:sp>
        <p:sp>
          <p:nvSpPr>
            <p:cNvPr id="33799" name="Text Box 7">
              <a:extLst>
                <a:ext uri="{FF2B5EF4-FFF2-40B4-BE49-F238E27FC236}">
                  <a16:creationId xmlns:a16="http://schemas.microsoft.com/office/drawing/2014/main" id="{FE1E460E-3F37-6D7F-CE04-BB92E9002081}"/>
                </a:ext>
              </a:extLst>
            </p:cNvPr>
            <p:cNvSpPr txBox="1">
              <a:spLocks noChangeArrowheads="1"/>
            </p:cNvSpPr>
            <p:nvPr/>
          </p:nvSpPr>
          <p:spPr bwMode="auto">
            <a:xfrm>
              <a:off x="1968" y="3504"/>
              <a:ext cx="93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sz="2400">
                  <a:latin typeface="Arial" panose="020B0604020202020204" pitchFamily="34" charset="0"/>
                </a:rPr>
                <a:t>execution</a:t>
              </a:r>
            </a:p>
          </p:txBody>
        </p:sp>
        <p:grpSp>
          <p:nvGrpSpPr>
            <p:cNvPr id="33800" name="Group 8">
              <a:extLst>
                <a:ext uri="{FF2B5EF4-FFF2-40B4-BE49-F238E27FC236}">
                  <a16:creationId xmlns:a16="http://schemas.microsoft.com/office/drawing/2014/main" id="{CB6E62F4-8D17-8424-7861-62565DC15FD0}"/>
                </a:ext>
              </a:extLst>
            </p:cNvPr>
            <p:cNvGrpSpPr>
              <a:grpSpLocks/>
            </p:cNvGrpSpPr>
            <p:nvPr/>
          </p:nvGrpSpPr>
          <p:grpSpPr bwMode="auto">
            <a:xfrm>
              <a:off x="2955" y="3216"/>
              <a:ext cx="1536" cy="816"/>
              <a:chOff x="1680" y="1104"/>
              <a:chExt cx="1536" cy="816"/>
            </a:xfrm>
          </p:grpSpPr>
          <p:sp>
            <p:nvSpPr>
              <p:cNvPr id="33801" name="AutoShape 9">
                <a:extLst>
                  <a:ext uri="{FF2B5EF4-FFF2-40B4-BE49-F238E27FC236}">
                    <a16:creationId xmlns:a16="http://schemas.microsoft.com/office/drawing/2014/main" id="{80792203-4C1A-E5BE-17D1-2E2B52B50CB9}"/>
                  </a:ext>
                </a:extLst>
              </p:cNvPr>
              <p:cNvSpPr>
                <a:spLocks noChangeArrowheads="1"/>
              </p:cNvSpPr>
              <p:nvPr/>
            </p:nvSpPr>
            <p:spPr bwMode="auto">
              <a:xfrm>
                <a:off x="1680" y="1152"/>
                <a:ext cx="384" cy="768"/>
              </a:xfrm>
              <a:prstGeom prst="curvedRightArrow">
                <a:avLst>
                  <a:gd name="adj1" fmla="val 40000"/>
                  <a:gd name="adj2" fmla="val 80000"/>
                  <a:gd name="adj3" fmla="val 33333"/>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3802" name="AutoShape 10">
                <a:extLst>
                  <a:ext uri="{FF2B5EF4-FFF2-40B4-BE49-F238E27FC236}">
                    <a16:creationId xmlns:a16="http://schemas.microsoft.com/office/drawing/2014/main" id="{B1F491E4-7360-B4FB-2083-82E8A9E57050}"/>
                  </a:ext>
                </a:extLst>
              </p:cNvPr>
              <p:cNvSpPr>
                <a:spLocks noChangeArrowheads="1"/>
              </p:cNvSpPr>
              <p:nvPr/>
            </p:nvSpPr>
            <p:spPr bwMode="auto">
              <a:xfrm flipH="1" flipV="1">
                <a:off x="2832" y="1104"/>
                <a:ext cx="384" cy="768"/>
              </a:xfrm>
              <a:prstGeom prst="curvedRightArrow">
                <a:avLst>
                  <a:gd name="adj1" fmla="val 40000"/>
                  <a:gd name="adj2" fmla="val 80000"/>
                  <a:gd name="adj3" fmla="val 33333"/>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
          <p:nvSpPr>
            <p:cNvPr id="33803" name="Text Box 11">
              <a:extLst>
                <a:ext uri="{FF2B5EF4-FFF2-40B4-BE49-F238E27FC236}">
                  <a16:creationId xmlns:a16="http://schemas.microsoft.com/office/drawing/2014/main" id="{4CB167AA-3981-50BB-A7B9-6B33CDE1CA05}"/>
                </a:ext>
              </a:extLst>
            </p:cNvPr>
            <p:cNvSpPr txBox="1">
              <a:spLocks noChangeArrowheads="1"/>
            </p:cNvSpPr>
            <p:nvPr/>
          </p:nvSpPr>
          <p:spPr bwMode="auto">
            <a:xfrm>
              <a:off x="3504" y="3120"/>
              <a:ext cx="48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sz="2400">
                  <a:latin typeface="Arial" panose="020B0604020202020204" pitchFamily="34" charset="0"/>
                </a:rPr>
                <a:t>goal</a:t>
              </a:r>
            </a:p>
          </p:txBody>
        </p:sp>
      </p:grpSp>
      <p:sp>
        <p:nvSpPr>
          <p:cNvPr id="33804" name="Oval 12">
            <a:extLst>
              <a:ext uri="{FF2B5EF4-FFF2-40B4-BE49-F238E27FC236}">
                <a16:creationId xmlns:a16="http://schemas.microsoft.com/office/drawing/2014/main" id="{3EE9EB7B-CD4C-47B3-330F-A45E882EC500}"/>
              </a:ext>
            </a:extLst>
          </p:cNvPr>
          <p:cNvSpPr>
            <a:spLocks noChangeArrowheads="1"/>
          </p:cNvSpPr>
          <p:nvPr/>
        </p:nvSpPr>
        <p:spPr bwMode="auto">
          <a:xfrm>
            <a:off x="1676400" y="2286000"/>
            <a:ext cx="1600200" cy="685800"/>
          </a:xfrm>
          <a:prstGeom prst="ellipse">
            <a:avLst/>
          </a:prstGeom>
          <a:noFill/>
          <a:ln w="38100">
            <a:solidFill>
              <a:srgbClr val="ED181E"/>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3805" name="Rectangle 13">
            <a:extLst>
              <a:ext uri="{FF2B5EF4-FFF2-40B4-BE49-F238E27FC236}">
                <a16:creationId xmlns:a16="http://schemas.microsoft.com/office/drawing/2014/main" id="{EB80A197-AECA-D2B3-1113-5760061BD9D4}"/>
              </a:ext>
            </a:extLst>
          </p:cNvPr>
          <p:cNvSpPr>
            <a:spLocks noChangeArrowheads="1"/>
          </p:cNvSpPr>
          <p:nvPr/>
        </p:nvSpPr>
        <p:spPr bwMode="auto">
          <a:xfrm>
            <a:off x="1600200" y="3810000"/>
            <a:ext cx="4114800" cy="1066800"/>
          </a:xfrm>
          <a:prstGeom prst="rect">
            <a:avLst/>
          </a:prstGeom>
          <a:noFill/>
          <a:ln w="38100">
            <a:solidFill>
              <a:srgbClr val="ED181E"/>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618B0FBF-0372-5C04-9F28-12A50404FAC1}"/>
              </a:ext>
            </a:extLst>
          </p:cNvPr>
          <p:cNvSpPr>
            <a:spLocks noGrp="1" noChangeArrowheads="1"/>
          </p:cNvSpPr>
          <p:nvPr>
            <p:ph type="title"/>
          </p:nvPr>
        </p:nvSpPr>
        <p:spPr>
          <a:xfrm>
            <a:off x="685800" y="762000"/>
            <a:ext cx="6858000" cy="1143000"/>
          </a:xfrm>
        </p:spPr>
        <p:txBody>
          <a:bodyPr/>
          <a:lstStyle/>
          <a:p>
            <a:r>
              <a:rPr lang="en-US" altLang="en-US">
                <a:solidFill>
                  <a:schemeClr val="tx1"/>
                </a:solidFill>
              </a:rPr>
              <a:t>execution/evaluation loop</a:t>
            </a:r>
            <a:endParaRPr lang="en-US" altLang="en-US"/>
          </a:p>
        </p:txBody>
      </p:sp>
      <p:sp>
        <p:nvSpPr>
          <p:cNvPr id="34819" name="Rectangle 3">
            <a:extLst>
              <a:ext uri="{FF2B5EF4-FFF2-40B4-BE49-F238E27FC236}">
                <a16:creationId xmlns:a16="http://schemas.microsoft.com/office/drawing/2014/main" id="{A74935C6-0E67-107A-632F-25B80264828A}"/>
              </a:ext>
            </a:extLst>
          </p:cNvPr>
          <p:cNvSpPr>
            <a:spLocks noGrp="1" noChangeArrowheads="1"/>
          </p:cNvSpPr>
          <p:nvPr>
            <p:ph type="body" idx="1"/>
          </p:nvPr>
        </p:nvSpPr>
        <p:spPr/>
        <p:txBody>
          <a:bodyPr/>
          <a:lstStyle/>
          <a:p>
            <a:pPr>
              <a:lnSpc>
                <a:spcPct val="90000"/>
              </a:lnSpc>
            </a:pPr>
            <a:endParaRPr lang="en-GB" altLang="en-US" sz="1800"/>
          </a:p>
          <a:p>
            <a:pPr>
              <a:lnSpc>
                <a:spcPct val="90000"/>
              </a:lnSpc>
            </a:pPr>
            <a:endParaRPr lang="en-GB" altLang="en-US" sz="1800"/>
          </a:p>
          <a:p>
            <a:pPr>
              <a:lnSpc>
                <a:spcPct val="90000"/>
              </a:lnSpc>
            </a:pPr>
            <a:endParaRPr lang="en-GB" altLang="en-US" sz="1800"/>
          </a:p>
          <a:p>
            <a:pPr lvl="2">
              <a:lnSpc>
                <a:spcPct val="90000"/>
              </a:lnSpc>
            </a:pPr>
            <a:endParaRPr lang="en-GB" altLang="en-US" sz="1800"/>
          </a:p>
          <a:p>
            <a:pPr lvl="2">
              <a:lnSpc>
                <a:spcPct val="90000"/>
              </a:lnSpc>
            </a:pPr>
            <a:endParaRPr lang="en-GB" altLang="en-US" sz="1800">
              <a:solidFill>
                <a:schemeClr val="bg2"/>
              </a:solidFill>
            </a:endParaRPr>
          </a:p>
          <a:p>
            <a:pPr lvl="2">
              <a:lnSpc>
                <a:spcPct val="90000"/>
              </a:lnSpc>
            </a:pPr>
            <a:r>
              <a:rPr lang="en-GB" altLang="en-US" sz="1800">
                <a:solidFill>
                  <a:schemeClr val="bg2"/>
                </a:solidFill>
              </a:rPr>
              <a:t>user establishes the goal</a:t>
            </a:r>
          </a:p>
          <a:p>
            <a:pPr lvl="2">
              <a:lnSpc>
                <a:spcPct val="90000"/>
              </a:lnSpc>
            </a:pPr>
            <a:r>
              <a:rPr lang="en-GB" altLang="en-US" sz="1800">
                <a:solidFill>
                  <a:schemeClr val="bg2"/>
                </a:solidFill>
              </a:rPr>
              <a:t>formulates intention</a:t>
            </a:r>
          </a:p>
          <a:p>
            <a:pPr lvl="2">
              <a:lnSpc>
                <a:spcPct val="90000"/>
              </a:lnSpc>
            </a:pPr>
            <a:r>
              <a:rPr lang="en-GB" altLang="en-US" sz="1800">
                <a:solidFill>
                  <a:schemeClr val="bg2"/>
                </a:solidFill>
              </a:rPr>
              <a:t>specifies actions at interface</a:t>
            </a:r>
          </a:p>
          <a:p>
            <a:pPr lvl="2">
              <a:lnSpc>
                <a:spcPct val="90000"/>
              </a:lnSpc>
            </a:pPr>
            <a:r>
              <a:rPr lang="en-GB" altLang="en-US" sz="1800">
                <a:solidFill>
                  <a:schemeClr val="bg2"/>
                </a:solidFill>
              </a:rPr>
              <a:t>executes action</a:t>
            </a:r>
            <a:endParaRPr lang="en-GB" altLang="en-US" sz="1800"/>
          </a:p>
          <a:p>
            <a:pPr lvl="2">
              <a:lnSpc>
                <a:spcPct val="90000"/>
              </a:lnSpc>
            </a:pPr>
            <a:r>
              <a:rPr lang="en-GB" altLang="en-US" sz="1800"/>
              <a:t>perceives system state</a:t>
            </a:r>
          </a:p>
          <a:p>
            <a:pPr lvl="2">
              <a:lnSpc>
                <a:spcPct val="90000"/>
              </a:lnSpc>
            </a:pPr>
            <a:r>
              <a:rPr lang="en-GB" altLang="en-US" sz="1800"/>
              <a:t>interprets system state</a:t>
            </a:r>
          </a:p>
          <a:p>
            <a:pPr lvl="2">
              <a:lnSpc>
                <a:spcPct val="90000"/>
              </a:lnSpc>
            </a:pPr>
            <a:r>
              <a:rPr lang="en-GB" altLang="en-US" sz="1800"/>
              <a:t>evaluates system state with respect to goal</a:t>
            </a:r>
          </a:p>
        </p:txBody>
      </p:sp>
      <p:grpSp>
        <p:nvGrpSpPr>
          <p:cNvPr id="34820" name="Group 4">
            <a:extLst>
              <a:ext uri="{FF2B5EF4-FFF2-40B4-BE49-F238E27FC236}">
                <a16:creationId xmlns:a16="http://schemas.microsoft.com/office/drawing/2014/main" id="{73DAA8E1-455F-5AE2-D8B8-4A09ABAA8891}"/>
              </a:ext>
            </a:extLst>
          </p:cNvPr>
          <p:cNvGrpSpPr>
            <a:grpSpLocks/>
          </p:cNvGrpSpPr>
          <p:nvPr/>
        </p:nvGrpSpPr>
        <p:grpSpPr bwMode="auto">
          <a:xfrm>
            <a:off x="1733550" y="1752600"/>
            <a:ext cx="5734050" cy="1600200"/>
            <a:chOff x="1968" y="3120"/>
            <a:chExt cx="3612" cy="1008"/>
          </a:xfrm>
        </p:grpSpPr>
        <p:sp>
          <p:nvSpPr>
            <p:cNvPr id="34821" name="Text Box 5">
              <a:extLst>
                <a:ext uri="{FF2B5EF4-FFF2-40B4-BE49-F238E27FC236}">
                  <a16:creationId xmlns:a16="http://schemas.microsoft.com/office/drawing/2014/main" id="{86CB9386-3A16-26F9-CC26-A2B5797A87F6}"/>
                </a:ext>
              </a:extLst>
            </p:cNvPr>
            <p:cNvSpPr txBox="1">
              <a:spLocks noChangeArrowheads="1"/>
            </p:cNvSpPr>
            <p:nvPr/>
          </p:nvSpPr>
          <p:spPr bwMode="auto">
            <a:xfrm>
              <a:off x="3361" y="3840"/>
              <a:ext cx="72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sz="2400">
                  <a:latin typeface="Arial" panose="020B0604020202020204" pitchFamily="34" charset="0"/>
                </a:rPr>
                <a:t>system</a:t>
              </a:r>
            </a:p>
          </p:txBody>
        </p:sp>
        <p:sp>
          <p:nvSpPr>
            <p:cNvPr id="34822" name="Text Box 6">
              <a:extLst>
                <a:ext uri="{FF2B5EF4-FFF2-40B4-BE49-F238E27FC236}">
                  <a16:creationId xmlns:a16="http://schemas.microsoft.com/office/drawing/2014/main" id="{30C1AAE4-D1B6-0A18-0DB7-B112C2A89FCF}"/>
                </a:ext>
              </a:extLst>
            </p:cNvPr>
            <p:cNvSpPr txBox="1">
              <a:spLocks noChangeArrowheads="1"/>
            </p:cNvSpPr>
            <p:nvPr/>
          </p:nvSpPr>
          <p:spPr bwMode="auto">
            <a:xfrm>
              <a:off x="4587" y="3504"/>
              <a:ext cx="99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sz="2400">
                  <a:latin typeface="Arial" panose="020B0604020202020204" pitchFamily="34" charset="0"/>
                </a:rPr>
                <a:t>evaluation</a:t>
              </a:r>
            </a:p>
          </p:txBody>
        </p:sp>
        <p:sp>
          <p:nvSpPr>
            <p:cNvPr id="34823" name="Text Box 7">
              <a:extLst>
                <a:ext uri="{FF2B5EF4-FFF2-40B4-BE49-F238E27FC236}">
                  <a16:creationId xmlns:a16="http://schemas.microsoft.com/office/drawing/2014/main" id="{8B9FFE51-B54B-920A-2100-C2B808135F74}"/>
                </a:ext>
              </a:extLst>
            </p:cNvPr>
            <p:cNvSpPr txBox="1">
              <a:spLocks noChangeArrowheads="1"/>
            </p:cNvSpPr>
            <p:nvPr/>
          </p:nvSpPr>
          <p:spPr bwMode="auto">
            <a:xfrm>
              <a:off x="1968" y="3504"/>
              <a:ext cx="93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sz="2400">
                  <a:latin typeface="Arial" panose="020B0604020202020204" pitchFamily="34" charset="0"/>
                </a:rPr>
                <a:t>execution</a:t>
              </a:r>
            </a:p>
          </p:txBody>
        </p:sp>
        <p:grpSp>
          <p:nvGrpSpPr>
            <p:cNvPr id="34824" name="Group 8">
              <a:extLst>
                <a:ext uri="{FF2B5EF4-FFF2-40B4-BE49-F238E27FC236}">
                  <a16:creationId xmlns:a16="http://schemas.microsoft.com/office/drawing/2014/main" id="{3FA7559E-BA54-A914-3B19-0D3F5F65F089}"/>
                </a:ext>
              </a:extLst>
            </p:cNvPr>
            <p:cNvGrpSpPr>
              <a:grpSpLocks/>
            </p:cNvGrpSpPr>
            <p:nvPr/>
          </p:nvGrpSpPr>
          <p:grpSpPr bwMode="auto">
            <a:xfrm>
              <a:off x="2955" y="3216"/>
              <a:ext cx="1536" cy="816"/>
              <a:chOff x="1680" y="1104"/>
              <a:chExt cx="1536" cy="816"/>
            </a:xfrm>
          </p:grpSpPr>
          <p:sp>
            <p:nvSpPr>
              <p:cNvPr id="34825" name="AutoShape 9">
                <a:extLst>
                  <a:ext uri="{FF2B5EF4-FFF2-40B4-BE49-F238E27FC236}">
                    <a16:creationId xmlns:a16="http://schemas.microsoft.com/office/drawing/2014/main" id="{452E6009-B46F-C48C-54C4-F2D30E976552}"/>
                  </a:ext>
                </a:extLst>
              </p:cNvPr>
              <p:cNvSpPr>
                <a:spLocks noChangeArrowheads="1"/>
              </p:cNvSpPr>
              <p:nvPr/>
            </p:nvSpPr>
            <p:spPr bwMode="auto">
              <a:xfrm>
                <a:off x="1680" y="1152"/>
                <a:ext cx="384" cy="768"/>
              </a:xfrm>
              <a:prstGeom prst="curvedRightArrow">
                <a:avLst>
                  <a:gd name="adj1" fmla="val 40000"/>
                  <a:gd name="adj2" fmla="val 80000"/>
                  <a:gd name="adj3" fmla="val 33333"/>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4826" name="AutoShape 10">
                <a:extLst>
                  <a:ext uri="{FF2B5EF4-FFF2-40B4-BE49-F238E27FC236}">
                    <a16:creationId xmlns:a16="http://schemas.microsoft.com/office/drawing/2014/main" id="{CA4B4F87-4132-ABFE-95EA-5ECA3FE81D09}"/>
                  </a:ext>
                </a:extLst>
              </p:cNvPr>
              <p:cNvSpPr>
                <a:spLocks noChangeArrowheads="1"/>
              </p:cNvSpPr>
              <p:nvPr/>
            </p:nvSpPr>
            <p:spPr bwMode="auto">
              <a:xfrm flipH="1" flipV="1">
                <a:off x="2832" y="1104"/>
                <a:ext cx="384" cy="768"/>
              </a:xfrm>
              <a:prstGeom prst="curvedRightArrow">
                <a:avLst>
                  <a:gd name="adj1" fmla="val 40000"/>
                  <a:gd name="adj2" fmla="val 80000"/>
                  <a:gd name="adj3" fmla="val 33333"/>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
          <p:nvSpPr>
            <p:cNvPr id="34827" name="Text Box 11">
              <a:extLst>
                <a:ext uri="{FF2B5EF4-FFF2-40B4-BE49-F238E27FC236}">
                  <a16:creationId xmlns:a16="http://schemas.microsoft.com/office/drawing/2014/main" id="{32E08346-E68C-2F64-5EB1-D02E3B18C394}"/>
                </a:ext>
              </a:extLst>
            </p:cNvPr>
            <p:cNvSpPr txBox="1">
              <a:spLocks noChangeArrowheads="1"/>
            </p:cNvSpPr>
            <p:nvPr/>
          </p:nvSpPr>
          <p:spPr bwMode="auto">
            <a:xfrm>
              <a:off x="3504" y="3120"/>
              <a:ext cx="48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sz="2400">
                  <a:latin typeface="Arial" panose="020B0604020202020204" pitchFamily="34" charset="0"/>
                </a:rPr>
                <a:t>goal</a:t>
              </a:r>
            </a:p>
          </p:txBody>
        </p:sp>
      </p:grpSp>
      <p:sp>
        <p:nvSpPr>
          <p:cNvPr id="34828" name="Oval 12">
            <a:extLst>
              <a:ext uri="{FF2B5EF4-FFF2-40B4-BE49-F238E27FC236}">
                <a16:creationId xmlns:a16="http://schemas.microsoft.com/office/drawing/2014/main" id="{9B54ECC2-2F42-0D91-349B-96AE59CC31F2}"/>
              </a:ext>
            </a:extLst>
          </p:cNvPr>
          <p:cNvSpPr>
            <a:spLocks noChangeArrowheads="1"/>
          </p:cNvSpPr>
          <p:nvPr/>
        </p:nvSpPr>
        <p:spPr bwMode="auto">
          <a:xfrm>
            <a:off x="5867400" y="2286000"/>
            <a:ext cx="1600200" cy="685800"/>
          </a:xfrm>
          <a:prstGeom prst="ellipse">
            <a:avLst/>
          </a:prstGeom>
          <a:noFill/>
          <a:ln w="38100">
            <a:solidFill>
              <a:srgbClr val="ED181E"/>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4829" name="Rectangle 13">
            <a:extLst>
              <a:ext uri="{FF2B5EF4-FFF2-40B4-BE49-F238E27FC236}">
                <a16:creationId xmlns:a16="http://schemas.microsoft.com/office/drawing/2014/main" id="{6A010B86-5BD5-D76D-1F29-814294285DAD}"/>
              </a:ext>
            </a:extLst>
          </p:cNvPr>
          <p:cNvSpPr>
            <a:spLocks noChangeArrowheads="1"/>
          </p:cNvSpPr>
          <p:nvPr/>
        </p:nvSpPr>
        <p:spPr bwMode="auto">
          <a:xfrm>
            <a:off x="1600200" y="4724400"/>
            <a:ext cx="5943600" cy="1066800"/>
          </a:xfrm>
          <a:prstGeom prst="rect">
            <a:avLst/>
          </a:prstGeom>
          <a:noFill/>
          <a:ln w="38100">
            <a:solidFill>
              <a:srgbClr val="ED181E"/>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51AC6AD4-5F06-3F4E-1F77-B37D22840837}"/>
              </a:ext>
            </a:extLst>
          </p:cNvPr>
          <p:cNvSpPr>
            <a:spLocks noGrp="1" noChangeArrowheads="1"/>
          </p:cNvSpPr>
          <p:nvPr>
            <p:ph type="title"/>
          </p:nvPr>
        </p:nvSpPr>
        <p:spPr/>
        <p:txBody>
          <a:bodyPr/>
          <a:lstStyle/>
          <a:p>
            <a:r>
              <a:rPr lang="en-GB" altLang="en-US"/>
              <a:t>Using Norman’s model</a:t>
            </a:r>
          </a:p>
        </p:txBody>
      </p:sp>
      <p:sp>
        <p:nvSpPr>
          <p:cNvPr id="74755" name="Rectangle 3">
            <a:extLst>
              <a:ext uri="{FF2B5EF4-FFF2-40B4-BE49-F238E27FC236}">
                <a16:creationId xmlns:a16="http://schemas.microsoft.com/office/drawing/2014/main" id="{D87DD4BB-BFEF-C18D-BC9A-71E587C95CA5}"/>
              </a:ext>
            </a:extLst>
          </p:cNvPr>
          <p:cNvSpPr>
            <a:spLocks noGrp="1" noChangeArrowheads="1"/>
          </p:cNvSpPr>
          <p:nvPr>
            <p:ph type="body" idx="1"/>
          </p:nvPr>
        </p:nvSpPr>
        <p:spPr/>
        <p:txBody>
          <a:bodyPr/>
          <a:lstStyle/>
          <a:p>
            <a:pPr>
              <a:buFontTx/>
              <a:buNone/>
              <a:tabLst>
                <a:tab pos="1801813" algn="l"/>
                <a:tab pos="2471738" algn="l"/>
              </a:tabLst>
            </a:pPr>
            <a:r>
              <a:rPr lang="en-GB" altLang="en-US" sz="2400"/>
              <a:t>Some systems are harder to use than others</a:t>
            </a:r>
          </a:p>
          <a:p>
            <a:pPr>
              <a:buFontTx/>
              <a:buNone/>
              <a:tabLst>
                <a:tab pos="1801813" algn="l"/>
                <a:tab pos="2471738" algn="l"/>
              </a:tabLst>
            </a:pPr>
            <a:endParaRPr lang="en-GB" altLang="en-US" sz="2400"/>
          </a:p>
          <a:p>
            <a:pPr>
              <a:buFontTx/>
              <a:buNone/>
              <a:tabLst>
                <a:tab pos="1801813" algn="l"/>
                <a:tab pos="2471738" algn="l"/>
              </a:tabLst>
            </a:pPr>
            <a:r>
              <a:rPr lang="en-GB" altLang="en-US" sz="2400"/>
              <a:t>Gulf of Execution</a:t>
            </a:r>
          </a:p>
          <a:p>
            <a:pPr lvl="1">
              <a:buFontTx/>
              <a:buNone/>
              <a:tabLst>
                <a:tab pos="1801813" algn="l"/>
                <a:tab pos="2471738" algn="l"/>
              </a:tabLst>
            </a:pPr>
            <a:r>
              <a:rPr lang="en-GB" altLang="en-US" sz="2000"/>
              <a:t>	user’s formulation of actions </a:t>
            </a:r>
            <a:br>
              <a:rPr lang="en-GB" altLang="en-US" sz="2000"/>
            </a:br>
            <a:r>
              <a:rPr lang="en-GB" altLang="en-US" sz="2000"/>
              <a:t>	</a:t>
            </a:r>
            <a:r>
              <a:rPr lang="en-GB" altLang="en-US" sz="2800"/>
              <a:t>≠	</a:t>
            </a:r>
            <a:r>
              <a:rPr lang="en-GB" altLang="en-US" sz="2000"/>
              <a:t>actions allowed by the system</a:t>
            </a:r>
          </a:p>
          <a:p>
            <a:pPr>
              <a:buFontTx/>
              <a:buNone/>
              <a:tabLst>
                <a:tab pos="1801813" algn="l"/>
                <a:tab pos="2471738" algn="l"/>
              </a:tabLst>
            </a:pPr>
            <a:endParaRPr lang="en-GB" altLang="en-US" sz="2400"/>
          </a:p>
          <a:p>
            <a:pPr>
              <a:buFontTx/>
              <a:buNone/>
              <a:tabLst>
                <a:tab pos="1801813" algn="l"/>
                <a:tab pos="2471738" algn="l"/>
              </a:tabLst>
            </a:pPr>
            <a:r>
              <a:rPr lang="en-GB" altLang="en-US" sz="2400"/>
              <a:t>Gulf of Evaluation</a:t>
            </a:r>
          </a:p>
          <a:p>
            <a:pPr lvl="1">
              <a:buFontTx/>
              <a:buNone/>
              <a:tabLst>
                <a:tab pos="1801813" algn="l"/>
                <a:tab pos="2471738" algn="l"/>
              </a:tabLst>
            </a:pPr>
            <a:r>
              <a:rPr lang="en-GB" altLang="en-US" sz="2000"/>
              <a:t>	user’s expectation of changed system state</a:t>
            </a:r>
            <a:br>
              <a:rPr lang="en-GB" altLang="en-US" sz="2000"/>
            </a:br>
            <a:r>
              <a:rPr lang="en-GB" altLang="en-US" sz="2000"/>
              <a:t>	</a:t>
            </a:r>
            <a:r>
              <a:rPr lang="en-GB" altLang="en-US" sz="2800"/>
              <a:t>≠	</a:t>
            </a:r>
            <a:r>
              <a:rPr lang="en-GB" altLang="en-US" sz="2000"/>
              <a:t>actual presentation of this state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a:extLst>
              <a:ext uri="{FF2B5EF4-FFF2-40B4-BE49-F238E27FC236}">
                <a16:creationId xmlns:a16="http://schemas.microsoft.com/office/drawing/2014/main" id="{75AAF931-7457-7BB2-26E0-75C1E6EE559D}"/>
              </a:ext>
            </a:extLst>
          </p:cNvPr>
          <p:cNvSpPr>
            <a:spLocks noGrp="1" noChangeArrowheads="1"/>
          </p:cNvSpPr>
          <p:nvPr>
            <p:ph type="title"/>
          </p:nvPr>
        </p:nvSpPr>
        <p:spPr/>
        <p:txBody>
          <a:bodyPr/>
          <a:lstStyle/>
          <a:p>
            <a:r>
              <a:rPr lang="en-GB" altLang="en-US" sz="3200"/>
              <a:t>Human error - slips and mistakes</a:t>
            </a:r>
          </a:p>
        </p:txBody>
      </p:sp>
      <p:sp>
        <p:nvSpPr>
          <p:cNvPr id="105475" name="Rectangle 3">
            <a:extLst>
              <a:ext uri="{FF2B5EF4-FFF2-40B4-BE49-F238E27FC236}">
                <a16:creationId xmlns:a16="http://schemas.microsoft.com/office/drawing/2014/main" id="{3AA42FD8-9679-EA57-5B5B-FBD0A763B2E9}"/>
              </a:ext>
            </a:extLst>
          </p:cNvPr>
          <p:cNvSpPr>
            <a:spLocks noGrp="1" noChangeArrowheads="1"/>
          </p:cNvSpPr>
          <p:nvPr>
            <p:ph type="body" idx="1"/>
          </p:nvPr>
        </p:nvSpPr>
        <p:spPr>
          <a:xfrm>
            <a:off x="685800" y="1981200"/>
            <a:ext cx="7772400" cy="4343400"/>
          </a:xfrm>
        </p:spPr>
        <p:txBody>
          <a:bodyPr/>
          <a:lstStyle/>
          <a:p>
            <a:pPr>
              <a:lnSpc>
                <a:spcPct val="90000"/>
              </a:lnSpc>
              <a:buFontTx/>
              <a:buNone/>
            </a:pPr>
            <a:r>
              <a:rPr lang="en-GB" altLang="en-US"/>
              <a:t>slip</a:t>
            </a:r>
          </a:p>
          <a:p>
            <a:pPr lvl="1">
              <a:lnSpc>
                <a:spcPct val="90000"/>
              </a:lnSpc>
              <a:buFontTx/>
              <a:buChar char=" "/>
            </a:pPr>
            <a:r>
              <a:rPr lang="en-GB" altLang="en-US"/>
              <a:t>understand system and goal</a:t>
            </a:r>
          </a:p>
          <a:p>
            <a:pPr lvl="1">
              <a:lnSpc>
                <a:spcPct val="90000"/>
              </a:lnSpc>
              <a:buFontTx/>
              <a:buChar char=" "/>
            </a:pPr>
            <a:r>
              <a:rPr lang="en-GB" altLang="en-US"/>
              <a:t>correct formulation of action</a:t>
            </a:r>
          </a:p>
          <a:p>
            <a:pPr lvl="1">
              <a:lnSpc>
                <a:spcPct val="90000"/>
              </a:lnSpc>
              <a:buFontTx/>
              <a:buChar char=" "/>
            </a:pPr>
            <a:r>
              <a:rPr lang="en-GB" altLang="en-US"/>
              <a:t>incorrect action</a:t>
            </a:r>
          </a:p>
          <a:p>
            <a:pPr lvl="1">
              <a:lnSpc>
                <a:spcPct val="90000"/>
              </a:lnSpc>
              <a:buFontTx/>
              <a:buChar char=" "/>
            </a:pPr>
            <a:endParaRPr lang="en-GB" altLang="en-US" sz="1200"/>
          </a:p>
          <a:p>
            <a:pPr>
              <a:lnSpc>
                <a:spcPct val="90000"/>
              </a:lnSpc>
              <a:buFontTx/>
              <a:buNone/>
            </a:pPr>
            <a:r>
              <a:rPr lang="en-GB" altLang="en-US"/>
              <a:t>mistake</a:t>
            </a:r>
          </a:p>
          <a:p>
            <a:pPr lvl="1">
              <a:lnSpc>
                <a:spcPct val="90000"/>
              </a:lnSpc>
              <a:buFontTx/>
              <a:buChar char=" "/>
            </a:pPr>
            <a:r>
              <a:rPr lang="en-GB" altLang="en-US"/>
              <a:t>may not even have right goal!</a:t>
            </a:r>
          </a:p>
          <a:p>
            <a:pPr lvl="1">
              <a:lnSpc>
                <a:spcPct val="90000"/>
              </a:lnSpc>
              <a:buFontTx/>
              <a:buChar char=" "/>
            </a:pPr>
            <a:endParaRPr lang="en-GB" altLang="en-US" sz="1800"/>
          </a:p>
          <a:p>
            <a:pPr>
              <a:lnSpc>
                <a:spcPct val="90000"/>
              </a:lnSpc>
              <a:buFontTx/>
              <a:buNone/>
            </a:pPr>
            <a:r>
              <a:rPr lang="en-GB" altLang="en-US" sz="2000"/>
              <a:t>Fixing things?</a:t>
            </a:r>
          </a:p>
          <a:p>
            <a:pPr>
              <a:lnSpc>
                <a:spcPct val="90000"/>
              </a:lnSpc>
              <a:buFontTx/>
              <a:buNone/>
            </a:pPr>
            <a:r>
              <a:rPr lang="en-GB" altLang="en-US" sz="2000"/>
              <a:t>	slip – better interface design</a:t>
            </a:r>
          </a:p>
          <a:p>
            <a:pPr>
              <a:lnSpc>
                <a:spcPct val="90000"/>
              </a:lnSpc>
              <a:buFontTx/>
              <a:buNone/>
            </a:pPr>
            <a:r>
              <a:rPr lang="en-GB" altLang="en-US" sz="2000"/>
              <a:t>	mistake – better understanding of system</a:t>
            </a:r>
            <a:endParaRPr lang="en-GB" altLang="en-US"/>
          </a:p>
        </p:txBody>
      </p:sp>
      <p:pic>
        <p:nvPicPr>
          <p:cNvPr id="105476" name="Picture 4">
            <a:extLst>
              <a:ext uri="{FF2B5EF4-FFF2-40B4-BE49-F238E27FC236}">
                <a16:creationId xmlns:a16="http://schemas.microsoft.com/office/drawing/2014/main" id="{DDF675FE-ACBF-A232-59CE-0F322978AA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313" y="609600"/>
            <a:ext cx="4508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5477" name="AutoShape 5">
            <a:extLst>
              <a:ext uri="{FF2B5EF4-FFF2-40B4-BE49-F238E27FC236}">
                <a16:creationId xmlns:a16="http://schemas.microsoft.com/office/drawing/2014/main" id="{8FBCFBC0-EC6C-0142-7E53-B6E96FC6DC37}"/>
              </a:ext>
            </a:extLst>
          </p:cNvPr>
          <p:cNvSpPr>
            <a:spLocks noChangeArrowheads="1"/>
          </p:cNvSpPr>
          <p:nvPr/>
        </p:nvSpPr>
        <p:spPr bwMode="auto">
          <a:xfrm>
            <a:off x="1066800" y="2514600"/>
            <a:ext cx="304800" cy="304800"/>
          </a:xfrm>
          <a:prstGeom prst="smileyFace">
            <a:avLst>
              <a:gd name="adj" fmla="val 4653"/>
            </a:avLst>
          </a:prstGeom>
          <a:solidFill>
            <a:srgbClr val="00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05478" name="AutoShape 6">
            <a:extLst>
              <a:ext uri="{FF2B5EF4-FFF2-40B4-BE49-F238E27FC236}">
                <a16:creationId xmlns:a16="http://schemas.microsoft.com/office/drawing/2014/main" id="{247CE9C2-C15F-E1A1-2E80-E954D73E6DD5}"/>
              </a:ext>
            </a:extLst>
          </p:cNvPr>
          <p:cNvSpPr>
            <a:spLocks noChangeArrowheads="1"/>
          </p:cNvSpPr>
          <p:nvPr/>
        </p:nvSpPr>
        <p:spPr bwMode="auto">
          <a:xfrm>
            <a:off x="1066800" y="2895600"/>
            <a:ext cx="304800" cy="304800"/>
          </a:xfrm>
          <a:prstGeom prst="smileyFace">
            <a:avLst>
              <a:gd name="adj" fmla="val 4653"/>
            </a:avLst>
          </a:prstGeom>
          <a:solidFill>
            <a:srgbClr val="00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05479" name="AutoShape 7">
            <a:extLst>
              <a:ext uri="{FF2B5EF4-FFF2-40B4-BE49-F238E27FC236}">
                <a16:creationId xmlns:a16="http://schemas.microsoft.com/office/drawing/2014/main" id="{B9B24A01-85D1-EAB5-C7CC-5FEE79A23F20}"/>
              </a:ext>
            </a:extLst>
          </p:cNvPr>
          <p:cNvSpPr>
            <a:spLocks noChangeArrowheads="1"/>
          </p:cNvSpPr>
          <p:nvPr/>
        </p:nvSpPr>
        <p:spPr bwMode="auto">
          <a:xfrm>
            <a:off x="1066800" y="3352800"/>
            <a:ext cx="304800" cy="304800"/>
          </a:xfrm>
          <a:prstGeom prst="smileyFace">
            <a:avLst>
              <a:gd name="adj" fmla="val -4653"/>
            </a:avLst>
          </a:prstGeom>
          <a:solidFill>
            <a:srgbClr val="FF00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05480" name="AutoShape 8">
            <a:extLst>
              <a:ext uri="{FF2B5EF4-FFF2-40B4-BE49-F238E27FC236}">
                <a16:creationId xmlns:a16="http://schemas.microsoft.com/office/drawing/2014/main" id="{6A133DB1-BB3F-F1A5-AF08-8E242C8CA05A}"/>
              </a:ext>
            </a:extLst>
          </p:cNvPr>
          <p:cNvSpPr>
            <a:spLocks noChangeArrowheads="1"/>
          </p:cNvSpPr>
          <p:nvPr/>
        </p:nvSpPr>
        <p:spPr bwMode="auto">
          <a:xfrm>
            <a:off x="1066800" y="4419600"/>
            <a:ext cx="304800" cy="304800"/>
          </a:xfrm>
          <a:prstGeom prst="smileyFace">
            <a:avLst>
              <a:gd name="adj" fmla="val -4653"/>
            </a:avLst>
          </a:prstGeom>
          <a:solidFill>
            <a:srgbClr val="FF00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FE76C746-2731-346A-AD46-429C006923CB}"/>
              </a:ext>
            </a:extLst>
          </p:cNvPr>
          <p:cNvSpPr>
            <a:spLocks noGrp="1" noChangeArrowheads="1"/>
          </p:cNvSpPr>
          <p:nvPr>
            <p:ph type="title"/>
          </p:nvPr>
        </p:nvSpPr>
        <p:spPr/>
        <p:txBody>
          <a:bodyPr/>
          <a:lstStyle/>
          <a:p>
            <a:r>
              <a:rPr lang="en-GB" altLang="en-US"/>
              <a:t>Abowd and Beale framework</a:t>
            </a:r>
          </a:p>
        </p:txBody>
      </p:sp>
      <p:sp>
        <p:nvSpPr>
          <p:cNvPr id="75779" name="Rectangle 3">
            <a:extLst>
              <a:ext uri="{FF2B5EF4-FFF2-40B4-BE49-F238E27FC236}">
                <a16:creationId xmlns:a16="http://schemas.microsoft.com/office/drawing/2014/main" id="{93B609D2-65B8-219A-B0A0-ED8CB2639A01}"/>
              </a:ext>
            </a:extLst>
          </p:cNvPr>
          <p:cNvSpPr>
            <a:spLocks noGrp="1" noChangeArrowheads="1"/>
          </p:cNvSpPr>
          <p:nvPr>
            <p:ph type="body" idx="1"/>
          </p:nvPr>
        </p:nvSpPr>
        <p:spPr/>
        <p:txBody>
          <a:bodyPr/>
          <a:lstStyle/>
          <a:p>
            <a:pPr>
              <a:lnSpc>
                <a:spcPct val="90000"/>
              </a:lnSpc>
              <a:buFontTx/>
              <a:buNone/>
            </a:pPr>
            <a:r>
              <a:rPr lang="en-GB" altLang="en-US" sz="2000"/>
              <a:t>extension of Norman…</a:t>
            </a:r>
          </a:p>
          <a:p>
            <a:pPr>
              <a:lnSpc>
                <a:spcPct val="90000"/>
              </a:lnSpc>
              <a:buFontTx/>
              <a:buNone/>
            </a:pPr>
            <a:r>
              <a:rPr lang="en-GB" altLang="en-US" sz="2000"/>
              <a:t>their interaction framework has 4 parts</a:t>
            </a:r>
            <a:endParaRPr lang="en-GB" altLang="en-US" sz="2400"/>
          </a:p>
          <a:p>
            <a:pPr marL="819150" lvl="1">
              <a:lnSpc>
                <a:spcPct val="90000"/>
              </a:lnSpc>
            </a:pPr>
            <a:r>
              <a:rPr lang="en-GB" altLang="en-US" sz="2000"/>
              <a:t>user</a:t>
            </a:r>
          </a:p>
          <a:p>
            <a:pPr marL="819150" lvl="1">
              <a:lnSpc>
                <a:spcPct val="90000"/>
              </a:lnSpc>
            </a:pPr>
            <a:r>
              <a:rPr lang="en-GB" altLang="en-US" sz="2000"/>
              <a:t>input</a:t>
            </a:r>
          </a:p>
          <a:p>
            <a:pPr marL="819150" lvl="1">
              <a:lnSpc>
                <a:spcPct val="90000"/>
              </a:lnSpc>
            </a:pPr>
            <a:r>
              <a:rPr lang="en-GB" altLang="en-US" sz="2000"/>
              <a:t>system</a:t>
            </a:r>
          </a:p>
          <a:p>
            <a:pPr marL="819150" lvl="1">
              <a:lnSpc>
                <a:spcPct val="90000"/>
              </a:lnSpc>
            </a:pPr>
            <a:r>
              <a:rPr lang="en-GB" altLang="en-US" sz="2000"/>
              <a:t>output</a:t>
            </a:r>
          </a:p>
          <a:p>
            <a:pPr>
              <a:lnSpc>
                <a:spcPct val="90000"/>
              </a:lnSpc>
            </a:pPr>
            <a:endParaRPr lang="en-GB" altLang="en-US" sz="2400"/>
          </a:p>
          <a:p>
            <a:pPr>
              <a:lnSpc>
                <a:spcPct val="90000"/>
              </a:lnSpc>
              <a:buFontTx/>
              <a:buNone/>
            </a:pPr>
            <a:r>
              <a:rPr lang="en-GB" altLang="en-US" sz="2000"/>
              <a:t>each has its own unique language</a:t>
            </a:r>
            <a:br>
              <a:rPr lang="en-GB" altLang="en-US" sz="2000"/>
            </a:br>
            <a:br>
              <a:rPr lang="en-GB" altLang="en-US" sz="1200"/>
            </a:br>
            <a:r>
              <a:rPr lang="en-GB" altLang="en-US" sz="2000"/>
              <a:t>interaction </a:t>
            </a:r>
            <a:r>
              <a:rPr lang="en-GB" altLang="en-US" sz="2000">
                <a:sym typeface="Symbol" pitchFamily="2" charset="2"/>
              </a:rPr>
              <a:t></a:t>
            </a:r>
            <a:r>
              <a:rPr lang="en-GB" altLang="en-US" sz="2000"/>
              <a:t>  translation between languages</a:t>
            </a:r>
          </a:p>
          <a:p>
            <a:pPr>
              <a:lnSpc>
                <a:spcPct val="90000"/>
              </a:lnSpc>
              <a:buFontTx/>
              <a:buNone/>
            </a:pPr>
            <a:endParaRPr lang="en-GB" altLang="en-US" sz="1200"/>
          </a:p>
          <a:p>
            <a:pPr>
              <a:lnSpc>
                <a:spcPct val="90000"/>
              </a:lnSpc>
              <a:buFontTx/>
              <a:buNone/>
            </a:pPr>
            <a:r>
              <a:rPr lang="en-GB" altLang="en-US" sz="2000"/>
              <a:t>problems in interaction  =  problems in translation</a:t>
            </a:r>
            <a:endParaRPr lang="en-GB" altLang="en-US" sz="2400"/>
          </a:p>
        </p:txBody>
      </p:sp>
      <p:grpSp>
        <p:nvGrpSpPr>
          <p:cNvPr id="75792" name="Group 16">
            <a:extLst>
              <a:ext uri="{FF2B5EF4-FFF2-40B4-BE49-F238E27FC236}">
                <a16:creationId xmlns:a16="http://schemas.microsoft.com/office/drawing/2014/main" id="{782E9573-3229-65AD-2058-3988B0E96F96}"/>
              </a:ext>
            </a:extLst>
          </p:cNvPr>
          <p:cNvGrpSpPr>
            <a:grpSpLocks/>
          </p:cNvGrpSpPr>
          <p:nvPr/>
        </p:nvGrpSpPr>
        <p:grpSpPr bwMode="auto">
          <a:xfrm>
            <a:off x="5480050" y="2057400"/>
            <a:ext cx="3289300" cy="2514600"/>
            <a:chOff x="3452" y="1248"/>
            <a:chExt cx="2072" cy="1584"/>
          </a:xfrm>
        </p:grpSpPr>
        <p:sp>
          <p:nvSpPr>
            <p:cNvPr id="75781" name="Oval 5">
              <a:extLst>
                <a:ext uri="{FF2B5EF4-FFF2-40B4-BE49-F238E27FC236}">
                  <a16:creationId xmlns:a16="http://schemas.microsoft.com/office/drawing/2014/main" id="{7D892705-64AE-2221-7076-C6E9F030F81D}"/>
                </a:ext>
              </a:extLst>
            </p:cNvPr>
            <p:cNvSpPr>
              <a:spLocks noChangeArrowheads="1"/>
            </p:cNvSpPr>
            <p:nvPr/>
          </p:nvSpPr>
          <p:spPr bwMode="auto">
            <a:xfrm>
              <a:off x="4128" y="1248"/>
              <a:ext cx="720" cy="1584"/>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5782" name="Text Box 6">
              <a:extLst>
                <a:ext uri="{FF2B5EF4-FFF2-40B4-BE49-F238E27FC236}">
                  <a16:creationId xmlns:a16="http://schemas.microsoft.com/office/drawing/2014/main" id="{FF9E06F8-E4B7-5892-B9C2-5EA14FFFF0A0}"/>
                </a:ext>
              </a:extLst>
            </p:cNvPr>
            <p:cNvSpPr txBox="1">
              <a:spLocks noChangeArrowheads="1"/>
            </p:cNvSpPr>
            <p:nvPr/>
          </p:nvSpPr>
          <p:spPr bwMode="auto">
            <a:xfrm>
              <a:off x="3452" y="1852"/>
              <a:ext cx="396" cy="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GB" altLang="en-US" b="1">
                  <a:latin typeface="Arial" panose="020B0604020202020204" pitchFamily="34" charset="0"/>
                </a:rPr>
                <a:t>S</a:t>
              </a:r>
            </a:p>
            <a:p>
              <a:pPr algn="ctr"/>
              <a:r>
                <a:rPr lang="en-GB" altLang="en-US" sz="1800">
                  <a:latin typeface="Arial" panose="020B0604020202020204" pitchFamily="34" charset="0"/>
                </a:rPr>
                <a:t>core</a:t>
              </a:r>
              <a:endParaRPr lang="en-GB" altLang="en-US" sz="2400">
                <a:latin typeface="Arial" panose="020B0604020202020204" pitchFamily="34" charset="0"/>
              </a:endParaRPr>
            </a:p>
          </p:txBody>
        </p:sp>
        <p:sp>
          <p:nvSpPr>
            <p:cNvPr id="75783" name="Text Box 7">
              <a:extLst>
                <a:ext uri="{FF2B5EF4-FFF2-40B4-BE49-F238E27FC236}">
                  <a16:creationId xmlns:a16="http://schemas.microsoft.com/office/drawing/2014/main" id="{902351F2-756B-37D4-F6ED-418249CA95C9}"/>
                </a:ext>
              </a:extLst>
            </p:cNvPr>
            <p:cNvSpPr txBox="1">
              <a:spLocks noChangeArrowheads="1"/>
            </p:cNvSpPr>
            <p:nvPr/>
          </p:nvSpPr>
          <p:spPr bwMode="auto">
            <a:xfrm>
              <a:off x="5144" y="1852"/>
              <a:ext cx="380" cy="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GB" altLang="en-US" b="1">
                  <a:latin typeface="Arial" panose="020B0604020202020204" pitchFamily="34" charset="0"/>
                </a:rPr>
                <a:t>U</a:t>
              </a:r>
            </a:p>
            <a:p>
              <a:pPr algn="ctr"/>
              <a:r>
                <a:rPr lang="en-GB" altLang="en-US" sz="1800">
                  <a:latin typeface="Arial" panose="020B0604020202020204" pitchFamily="34" charset="0"/>
                </a:rPr>
                <a:t>task</a:t>
              </a:r>
              <a:endParaRPr lang="en-GB" altLang="en-US" sz="2400">
                <a:latin typeface="Arial" panose="020B0604020202020204" pitchFamily="34" charset="0"/>
              </a:endParaRPr>
            </a:p>
          </p:txBody>
        </p:sp>
        <p:sp>
          <p:nvSpPr>
            <p:cNvPr id="75784" name="Text Box 8">
              <a:extLst>
                <a:ext uri="{FF2B5EF4-FFF2-40B4-BE49-F238E27FC236}">
                  <a16:creationId xmlns:a16="http://schemas.microsoft.com/office/drawing/2014/main" id="{2D239CDE-3E1D-E7AE-EB90-F6CD41E3322E}"/>
                </a:ext>
              </a:extLst>
            </p:cNvPr>
            <p:cNvSpPr txBox="1">
              <a:spLocks noChangeArrowheads="1"/>
            </p:cNvSpPr>
            <p:nvPr/>
          </p:nvSpPr>
          <p:spPr bwMode="auto">
            <a:xfrm>
              <a:off x="4224" y="1344"/>
              <a:ext cx="516" cy="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GB" altLang="en-US" b="1">
                  <a:latin typeface="Arial" panose="020B0604020202020204" pitchFamily="34" charset="0"/>
                </a:rPr>
                <a:t>O</a:t>
              </a:r>
            </a:p>
            <a:p>
              <a:pPr algn="ctr"/>
              <a:r>
                <a:rPr lang="en-GB" altLang="en-US" sz="1800">
                  <a:latin typeface="Arial" panose="020B0604020202020204" pitchFamily="34" charset="0"/>
                </a:rPr>
                <a:t>output</a:t>
              </a:r>
              <a:endParaRPr lang="en-GB" altLang="en-US" sz="2400">
                <a:latin typeface="Arial" panose="020B0604020202020204" pitchFamily="34" charset="0"/>
              </a:endParaRPr>
            </a:p>
          </p:txBody>
        </p:sp>
        <p:sp>
          <p:nvSpPr>
            <p:cNvPr id="75785" name="Text Box 9">
              <a:extLst>
                <a:ext uri="{FF2B5EF4-FFF2-40B4-BE49-F238E27FC236}">
                  <a16:creationId xmlns:a16="http://schemas.microsoft.com/office/drawing/2014/main" id="{B9FFE863-4B86-671E-1918-FAB493022186}"/>
                </a:ext>
              </a:extLst>
            </p:cNvPr>
            <p:cNvSpPr txBox="1">
              <a:spLocks noChangeArrowheads="1"/>
            </p:cNvSpPr>
            <p:nvPr/>
          </p:nvSpPr>
          <p:spPr bwMode="auto">
            <a:xfrm>
              <a:off x="4276" y="2256"/>
              <a:ext cx="428" cy="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GB" altLang="en-US" b="1">
                  <a:latin typeface="Arial" panose="020B0604020202020204" pitchFamily="34" charset="0"/>
                </a:rPr>
                <a:t>I</a:t>
              </a:r>
            </a:p>
            <a:p>
              <a:pPr algn="ctr"/>
              <a:r>
                <a:rPr lang="en-GB" altLang="en-US" sz="1800">
                  <a:latin typeface="Arial" panose="020B0604020202020204" pitchFamily="34" charset="0"/>
                </a:rPr>
                <a:t>input</a:t>
              </a:r>
              <a:endParaRPr lang="en-GB" altLang="en-US" sz="2400">
                <a:latin typeface="Arial" panose="020B0604020202020204" pitchFamily="34" charset="0"/>
              </a:endParaRPr>
            </a:p>
          </p:txBody>
        </p:sp>
        <p:sp>
          <p:nvSpPr>
            <p:cNvPr id="75788" name="Line 12">
              <a:extLst>
                <a:ext uri="{FF2B5EF4-FFF2-40B4-BE49-F238E27FC236}">
                  <a16:creationId xmlns:a16="http://schemas.microsoft.com/office/drawing/2014/main" id="{FB28BDBD-37B6-037E-79C9-C7A8D6CBD1C2}"/>
                </a:ext>
              </a:extLst>
            </p:cNvPr>
            <p:cNvSpPr>
              <a:spLocks noChangeShapeType="1"/>
            </p:cNvSpPr>
            <p:nvPr/>
          </p:nvSpPr>
          <p:spPr bwMode="auto">
            <a:xfrm flipV="1">
              <a:off x="3792" y="1584"/>
              <a:ext cx="528" cy="336"/>
            </a:xfrm>
            <a:prstGeom prst="line">
              <a:avLst/>
            </a:prstGeom>
            <a:noFill/>
            <a:ln w="38100">
              <a:solidFill>
                <a:srgbClr val="262464"/>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5789" name="Line 13">
              <a:extLst>
                <a:ext uri="{FF2B5EF4-FFF2-40B4-BE49-F238E27FC236}">
                  <a16:creationId xmlns:a16="http://schemas.microsoft.com/office/drawing/2014/main" id="{7893196C-0461-F86A-B4D0-E9BE8D1B5F03}"/>
                </a:ext>
              </a:extLst>
            </p:cNvPr>
            <p:cNvSpPr>
              <a:spLocks noChangeShapeType="1"/>
            </p:cNvSpPr>
            <p:nvPr/>
          </p:nvSpPr>
          <p:spPr bwMode="auto">
            <a:xfrm>
              <a:off x="4656" y="1584"/>
              <a:ext cx="528" cy="336"/>
            </a:xfrm>
            <a:prstGeom prst="line">
              <a:avLst/>
            </a:prstGeom>
            <a:noFill/>
            <a:ln w="38100">
              <a:solidFill>
                <a:srgbClr val="262464"/>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5790" name="Line 14">
              <a:extLst>
                <a:ext uri="{FF2B5EF4-FFF2-40B4-BE49-F238E27FC236}">
                  <a16:creationId xmlns:a16="http://schemas.microsoft.com/office/drawing/2014/main" id="{DAE061F2-C062-FCDE-E415-F0D18CC957F3}"/>
                </a:ext>
              </a:extLst>
            </p:cNvPr>
            <p:cNvSpPr>
              <a:spLocks noChangeShapeType="1"/>
            </p:cNvSpPr>
            <p:nvPr/>
          </p:nvSpPr>
          <p:spPr bwMode="auto">
            <a:xfrm>
              <a:off x="3792" y="2112"/>
              <a:ext cx="528" cy="336"/>
            </a:xfrm>
            <a:prstGeom prst="line">
              <a:avLst/>
            </a:prstGeom>
            <a:noFill/>
            <a:ln w="38100">
              <a:solidFill>
                <a:srgbClr val="262464"/>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5791" name="Line 15">
              <a:extLst>
                <a:ext uri="{FF2B5EF4-FFF2-40B4-BE49-F238E27FC236}">
                  <a16:creationId xmlns:a16="http://schemas.microsoft.com/office/drawing/2014/main" id="{311CF241-444F-0655-AD05-F0AAD0A06C40}"/>
                </a:ext>
              </a:extLst>
            </p:cNvPr>
            <p:cNvSpPr>
              <a:spLocks noChangeShapeType="1"/>
            </p:cNvSpPr>
            <p:nvPr/>
          </p:nvSpPr>
          <p:spPr bwMode="auto">
            <a:xfrm flipV="1">
              <a:off x="4656" y="2112"/>
              <a:ext cx="528" cy="336"/>
            </a:xfrm>
            <a:prstGeom prst="line">
              <a:avLst/>
            </a:prstGeom>
            <a:noFill/>
            <a:ln w="38100">
              <a:solidFill>
                <a:srgbClr val="262464"/>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A2970A21-9971-6864-B33A-309EB305C137}"/>
              </a:ext>
            </a:extLst>
          </p:cNvPr>
          <p:cNvSpPr>
            <a:spLocks noGrp="1" noChangeArrowheads="1"/>
          </p:cNvSpPr>
          <p:nvPr>
            <p:ph type="title"/>
          </p:nvPr>
        </p:nvSpPr>
        <p:spPr/>
        <p:txBody>
          <a:bodyPr/>
          <a:lstStyle/>
          <a:p>
            <a:r>
              <a:rPr lang="en-GB" altLang="en-US"/>
              <a:t>Using Abowd &amp; Beale’s model</a:t>
            </a:r>
          </a:p>
        </p:txBody>
      </p:sp>
      <p:sp>
        <p:nvSpPr>
          <p:cNvPr id="77827" name="Rectangle 3">
            <a:extLst>
              <a:ext uri="{FF2B5EF4-FFF2-40B4-BE49-F238E27FC236}">
                <a16:creationId xmlns:a16="http://schemas.microsoft.com/office/drawing/2014/main" id="{FC895EF6-7802-993B-055F-03295B1646B2}"/>
              </a:ext>
            </a:extLst>
          </p:cNvPr>
          <p:cNvSpPr>
            <a:spLocks noGrp="1" noChangeArrowheads="1"/>
          </p:cNvSpPr>
          <p:nvPr>
            <p:ph type="body" idx="1"/>
          </p:nvPr>
        </p:nvSpPr>
        <p:spPr/>
        <p:txBody>
          <a:bodyPr/>
          <a:lstStyle/>
          <a:p>
            <a:pPr marL="0" indent="0">
              <a:lnSpc>
                <a:spcPct val="90000"/>
              </a:lnSpc>
              <a:buFontTx/>
              <a:buNone/>
              <a:tabLst>
                <a:tab pos="377825" algn="l"/>
                <a:tab pos="755650" algn="l"/>
                <a:tab pos="1149350" algn="l"/>
                <a:tab pos="1527175" algn="l"/>
              </a:tabLst>
            </a:pPr>
            <a:r>
              <a:rPr lang="en-GB" altLang="en-US" sz="2000"/>
              <a:t>user intentions</a:t>
            </a:r>
            <a:br>
              <a:rPr lang="en-GB" altLang="en-US" sz="2000"/>
            </a:br>
            <a:r>
              <a:rPr lang="en-GB" altLang="en-US" sz="2000"/>
              <a:t>	</a:t>
            </a:r>
            <a:r>
              <a:rPr lang="en-US" altLang="en-US" sz="2000">
                <a:ea typeface="Helvetica" pitchFamily="2" charset="0"/>
                <a:cs typeface="Helvetica" pitchFamily="2" charset="0"/>
                <a:sym typeface="Symbol" pitchFamily="2" charset="2"/>
              </a:rPr>
              <a:t></a:t>
            </a:r>
            <a:r>
              <a:rPr lang="en-GB" altLang="en-US" sz="2000"/>
              <a:t> translated into actions at the interface</a:t>
            </a:r>
            <a:br>
              <a:rPr lang="en-GB" altLang="en-US" sz="2000"/>
            </a:br>
            <a:r>
              <a:rPr lang="en-GB" altLang="en-US" sz="2000"/>
              <a:t> 		</a:t>
            </a:r>
            <a:r>
              <a:rPr lang="en-US" altLang="en-US" sz="2000">
                <a:ea typeface="Helvetica" pitchFamily="2" charset="0"/>
                <a:cs typeface="Helvetica" pitchFamily="2" charset="0"/>
                <a:sym typeface="Symbol" pitchFamily="2" charset="2"/>
              </a:rPr>
              <a:t></a:t>
            </a:r>
            <a:r>
              <a:rPr lang="en-GB" altLang="en-US" sz="2000"/>
              <a:t>  translated into alterations of system state</a:t>
            </a:r>
            <a:br>
              <a:rPr lang="en-GB" altLang="en-US" sz="2000"/>
            </a:br>
            <a:r>
              <a:rPr lang="en-GB" altLang="en-US" sz="2000"/>
              <a:t> 			</a:t>
            </a:r>
            <a:r>
              <a:rPr lang="en-US" altLang="en-US" sz="2000">
                <a:ea typeface="Helvetica" pitchFamily="2" charset="0"/>
                <a:cs typeface="Helvetica" pitchFamily="2" charset="0"/>
                <a:sym typeface="Symbol" pitchFamily="2" charset="2"/>
              </a:rPr>
              <a:t></a:t>
            </a:r>
            <a:r>
              <a:rPr lang="en-GB" altLang="en-US" sz="2000"/>
              <a:t>  reflected in the output display</a:t>
            </a:r>
            <a:br>
              <a:rPr lang="en-GB" altLang="en-US" sz="2000"/>
            </a:br>
            <a:r>
              <a:rPr lang="en-GB" altLang="en-US" sz="2000"/>
              <a:t> 				</a:t>
            </a:r>
            <a:r>
              <a:rPr lang="en-US" altLang="en-US" sz="2000">
                <a:ea typeface="Helvetica" pitchFamily="2" charset="0"/>
                <a:cs typeface="Helvetica" pitchFamily="2" charset="0"/>
                <a:sym typeface="Symbol" pitchFamily="2" charset="2"/>
              </a:rPr>
              <a:t></a:t>
            </a:r>
            <a:r>
              <a:rPr lang="en-GB" altLang="en-US" sz="2000"/>
              <a:t>  interpreted by the user</a:t>
            </a:r>
          </a:p>
          <a:p>
            <a:pPr marL="0" indent="0">
              <a:lnSpc>
                <a:spcPct val="90000"/>
              </a:lnSpc>
              <a:tabLst>
                <a:tab pos="377825" algn="l"/>
                <a:tab pos="755650" algn="l"/>
                <a:tab pos="1149350" algn="l"/>
                <a:tab pos="1527175" algn="l"/>
              </a:tabLst>
            </a:pPr>
            <a:endParaRPr lang="en-GB" altLang="en-US" sz="2400"/>
          </a:p>
          <a:p>
            <a:pPr marL="0" indent="0">
              <a:lnSpc>
                <a:spcPct val="90000"/>
              </a:lnSpc>
              <a:buFontTx/>
              <a:buNone/>
              <a:tabLst>
                <a:tab pos="377825" algn="l"/>
                <a:tab pos="755650" algn="l"/>
                <a:tab pos="1149350" algn="l"/>
                <a:tab pos="1527175" algn="l"/>
              </a:tabLst>
            </a:pPr>
            <a:endParaRPr lang="en-GB" altLang="en-US" sz="2400"/>
          </a:p>
          <a:p>
            <a:pPr marL="0" indent="0">
              <a:lnSpc>
                <a:spcPct val="90000"/>
              </a:lnSpc>
              <a:buFontTx/>
              <a:buNone/>
              <a:tabLst>
                <a:tab pos="377825" algn="l"/>
                <a:tab pos="755650" algn="l"/>
                <a:tab pos="1149350" algn="l"/>
                <a:tab pos="1527175" algn="l"/>
              </a:tabLst>
            </a:pPr>
            <a:r>
              <a:rPr lang="en-GB" altLang="en-US" sz="2400"/>
              <a:t>general framework for understanding interaction</a:t>
            </a:r>
          </a:p>
          <a:p>
            <a:pPr marL="561975" lvl="1">
              <a:lnSpc>
                <a:spcPct val="90000"/>
              </a:lnSpc>
              <a:tabLst>
                <a:tab pos="377825" algn="l"/>
                <a:tab pos="755650" algn="l"/>
                <a:tab pos="1149350" algn="l"/>
                <a:tab pos="1527175" algn="l"/>
              </a:tabLst>
            </a:pPr>
            <a:r>
              <a:rPr lang="en-GB" altLang="en-US" sz="2000"/>
              <a:t>not restricted to electronic computer systems</a:t>
            </a:r>
          </a:p>
          <a:p>
            <a:pPr marL="561975" lvl="1">
              <a:lnSpc>
                <a:spcPct val="90000"/>
              </a:lnSpc>
              <a:tabLst>
                <a:tab pos="377825" algn="l"/>
                <a:tab pos="755650" algn="l"/>
                <a:tab pos="1149350" algn="l"/>
                <a:tab pos="1527175" algn="l"/>
              </a:tabLst>
            </a:pPr>
            <a:r>
              <a:rPr lang="en-GB" altLang="en-US" sz="2000"/>
              <a:t>identifies all major components involved in interaction</a:t>
            </a:r>
          </a:p>
          <a:p>
            <a:pPr marL="561975" lvl="1">
              <a:lnSpc>
                <a:spcPct val="90000"/>
              </a:lnSpc>
              <a:tabLst>
                <a:tab pos="377825" algn="l"/>
                <a:tab pos="755650" algn="l"/>
                <a:tab pos="1149350" algn="l"/>
                <a:tab pos="1527175" algn="l"/>
              </a:tabLst>
            </a:pPr>
            <a:r>
              <a:rPr lang="en-GB" altLang="en-US" sz="2000"/>
              <a:t>allows comparative assessment of systems</a:t>
            </a:r>
          </a:p>
          <a:p>
            <a:pPr marL="561975" lvl="1">
              <a:lnSpc>
                <a:spcPct val="90000"/>
              </a:lnSpc>
              <a:tabLst>
                <a:tab pos="377825" algn="l"/>
                <a:tab pos="755650" algn="l"/>
                <a:tab pos="1149350" algn="l"/>
                <a:tab pos="1527175" algn="l"/>
              </a:tabLst>
            </a:pPr>
            <a:r>
              <a:rPr lang="en-GB" altLang="en-US" sz="2000"/>
              <a:t>an abstraction</a:t>
            </a:r>
          </a:p>
          <a:p>
            <a:pPr marL="0" indent="0">
              <a:lnSpc>
                <a:spcPct val="90000"/>
              </a:lnSpc>
              <a:tabLst>
                <a:tab pos="377825" algn="l"/>
                <a:tab pos="755650" algn="l"/>
                <a:tab pos="1149350" algn="l"/>
                <a:tab pos="1527175" algn="l"/>
              </a:tabLst>
            </a:pPr>
            <a:endParaRPr lang="en-GB" altLang="en-US" sz="2400"/>
          </a:p>
          <a:p>
            <a:pPr marL="0" indent="0">
              <a:lnSpc>
                <a:spcPct val="90000"/>
              </a:lnSpc>
              <a:tabLst>
                <a:tab pos="377825" algn="l"/>
                <a:tab pos="755650" algn="l"/>
                <a:tab pos="1149350" algn="l"/>
                <a:tab pos="1527175" algn="l"/>
              </a:tabLst>
            </a:pPr>
            <a:endParaRPr lang="en-GB" altLang="en-US" sz="24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a:extLst>
              <a:ext uri="{FF2B5EF4-FFF2-40B4-BE49-F238E27FC236}">
                <a16:creationId xmlns:a16="http://schemas.microsoft.com/office/drawing/2014/main" id="{8E5FB525-4D3F-23B7-ED79-2EFD35A77CAA}"/>
              </a:ext>
            </a:extLst>
          </p:cNvPr>
          <p:cNvSpPr>
            <a:spLocks noGrp="1" noChangeArrowheads="1"/>
          </p:cNvSpPr>
          <p:nvPr>
            <p:ph type="ctrTitle"/>
          </p:nvPr>
        </p:nvSpPr>
        <p:spPr>
          <a:xfrm>
            <a:off x="685800" y="2286000"/>
            <a:ext cx="7772400" cy="1143000"/>
          </a:xfrm>
        </p:spPr>
        <p:txBody>
          <a:bodyPr anchor="ctr"/>
          <a:lstStyle/>
          <a:p>
            <a:r>
              <a:rPr lang="en-GB" altLang="en-US" sz="3600"/>
              <a:t>ergonomics</a:t>
            </a:r>
          </a:p>
        </p:txBody>
      </p:sp>
      <p:sp>
        <p:nvSpPr>
          <p:cNvPr id="112643" name="Rectangle 3">
            <a:extLst>
              <a:ext uri="{FF2B5EF4-FFF2-40B4-BE49-F238E27FC236}">
                <a16:creationId xmlns:a16="http://schemas.microsoft.com/office/drawing/2014/main" id="{FA150F54-38EE-D29F-BE9F-B87D9046BAA1}"/>
              </a:ext>
            </a:extLst>
          </p:cNvPr>
          <p:cNvSpPr>
            <a:spLocks noGrp="1" noChangeArrowheads="1"/>
          </p:cNvSpPr>
          <p:nvPr>
            <p:ph type="subTitle" idx="1"/>
          </p:nvPr>
        </p:nvSpPr>
        <p:spPr>
          <a:xfrm>
            <a:off x="1371600" y="3886200"/>
            <a:ext cx="6400800" cy="1752600"/>
          </a:xfrm>
        </p:spPr>
        <p:txBody>
          <a:bodyPr/>
          <a:lstStyle/>
          <a:p>
            <a:r>
              <a:rPr lang="en-GB" altLang="en-US" sz="2800"/>
              <a:t>physical aspects of interfaces</a:t>
            </a:r>
          </a:p>
          <a:p>
            <a:r>
              <a:rPr lang="en-GB" altLang="en-US" sz="2800"/>
              <a:t>industrial interfaces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8AF56108-CE30-351D-C174-FDD9C0C6F2A1}"/>
              </a:ext>
            </a:extLst>
          </p:cNvPr>
          <p:cNvSpPr>
            <a:spLocks noGrp="1" noChangeArrowheads="1"/>
          </p:cNvSpPr>
          <p:nvPr>
            <p:ph type="title"/>
          </p:nvPr>
        </p:nvSpPr>
        <p:spPr/>
        <p:txBody>
          <a:bodyPr/>
          <a:lstStyle/>
          <a:p>
            <a:r>
              <a:rPr lang="en-GB" altLang="en-US"/>
              <a:t>Ergonomics</a:t>
            </a:r>
          </a:p>
        </p:txBody>
      </p:sp>
      <p:sp>
        <p:nvSpPr>
          <p:cNvPr id="78851" name="Rectangle 3">
            <a:extLst>
              <a:ext uri="{FF2B5EF4-FFF2-40B4-BE49-F238E27FC236}">
                <a16:creationId xmlns:a16="http://schemas.microsoft.com/office/drawing/2014/main" id="{E6D1E44F-91C1-ABE8-4E05-9002E83D32BE}"/>
              </a:ext>
            </a:extLst>
          </p:cNvPr>
          <p:cNvSpPr>
            <a:spLocks noGrp="1" noChangeArrowheads="1"/>
          </p:cNvSpPr>
          <p:nvPr>
            <p:ph type="body" idx="1"/>
          </p:nvPr>
        </p:nvSpPr>
        <p:spPr/>
        <p:txBody>
          <a:bodyPr/>
          <a:lstStyle/>
          <a:p>
            <a:r>
              <a:rPr lang="en-GB" altLang="en-US" sz="2400"/>
              <a:t>Study of the physical characteristics of interaction</a:t>
            </a:r>
          </a:p>
          <a:p>
            <a:endParaRPr lang="en-GB" altLang="en-US" sz="2400"/>
          </a:p>
          <a:p>
            <a:r>
              <a:rPr lang="en-GB" altLang="en-US" sz="2400"/>
              <a:t>Also known as human factors – but this can also be used to mean much of HCI!</a:t>
            </a:r>
          </a:p>
          <a:p>
            <a:endParaRPr lang="en-GB" altLang="en-US" sz="2400"/>
          </a:p>
          <a:p>
            <a:r>
              <a:rPr lang="en-GB" altLang="en-US" sz="2400"/>
              <a:t>Ergonomics good at defining standards and guidelines for constraining the way we design certain aspects of systems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2BC242A4-40F0-0852-7BBC-F5181B6F730B}"/>
              </a:ext>
            </a:extLst>
          </p:cNvPr>
          <p:cNvSpPr>
            <a:spLocks noGrp="1" noChangeArrowheads="1"/>
          </p:cNvSpPr>
          <p:nvPr>
            <p:ph type="title"/>
          </p:nvPr>
        </p:nvSpPr>
        <p:spPr/>
        <p:txBody>
          <a:bodyPr/>
          <a:lstStyle/>
          <a:p>
            <a:r>
              <a:rPr lang="en-GB" altLang="en-US"/>
              <a:t>Ergonomics - examples</a:t>
            </a:r>
          </a:p>
        </p:txBody>
      </p:sp>
      <p:sp>
        <p:nvSpPr>
          <p:cNvPr id="79875" name="Rectangle 3">
            <a:extLst>
              <a:ext uri="{FF2B5EF4-FFF2-40B4-BE49-F238E27FC236}">
                <a16:creationId xmlns:a16="http://schemas.microsoft.com/office/drawing/2014/main" id="{221DD286-8EB1-28DA-38DD-56B7B445B9D7}"/>
              </a:ext>
            </a:extLst>
          </p:cNvPr>
          <p:cNvSpPr>
            <a:spLocks noGrp="1" noChangeArrowheads="1"/>
          </p:cNvSpPr>
          <p:nvPr>
            <p:ph type="body" idx="1"/>
          </p:nvPr>
        </p:nvSpPr>
        <p:spPr/>
        <p:txBody>
          <a:bodyPr/>
          <a:lstStyle/>
          <a:p>
            <a:pPr>
              <a:lnSpc>
                <a:spcPct val="90000"/>
              </a:lnSpc>
            </a:pPr>
            <a:r>
              <a:rPr lang="en-GB" altLang="en-US" sz="2400"/>
              <a:t>arrangement of controls and displays</a:t>
            </a:r>
          </a:p>
          <a:p>
            <a:pPr marL="1154113" lvl="1" indent="-587375">
              <a:lnSpc>
                <a:spcPct val="90000"/>
              </a:lnSpc>
              <a:buFontTx/>
              <a:buNone/>
            </a:pPr>
            <a:r>
              <a:rPr lang="en-GB" altLang="en-US" sz="2000"/>
              <a:t>e.g.	controls grouped according to function or frequency of use, or sequentially</a:t>
            </a:r>
          </a:p>
          <a:p>
            <a:pPr>
              <a:lnSpc>
                <a:spcPct val="90000"/>
              </a:lnSpc>
            </a:pPr>
            <a:r>
              <a:rPr lang="en-GB" altLang="en-US" sz="2400"/>
              <a:t>surrounding environment</a:t>
            </a:r>
          </a:p>
          <a:p>
            <a:pPr marL="1154113" lvl="1" indent="-587375">
              <a:lnSpc>
                <a:spcPct val="90000"/>
              </a:lnSpc>
              <a:buFontTx/>
              <a:buNone/>
            </a:pPr>
            <a:r>
              <a:rPr lang="en-GB" altLang="en-US" sz="2000"/>
              <a:t>e.g.	seating arrangements adaptable to cope with all sizes of user</a:t>
            </a:r>
          </a:p>
          <a:p>
            <a:pPr>
              <a:lnSpc>
                <a:spcPct val="90000"/>
              </a:lnSpc>
            </a:pPr>
            <a:r>
              <a:rPr lang="en-GB" altLang="en-US" sz="2400"/>
              <a:t>health issues</a:t>
            </a:r>
          </a:p>
          <a:p>
            <a:pPr marL="1154113" lvl="1" indent="-587375">
              <a:lnSpc>
                <a:spcPct val="90000"/>
              </a:lnSpc>
              <a:buFontTx/>
              <a:buNone/>
            </a:pPr>
            <a:r>
              <a:rPr lang="en-GB" altLang="en-US" sz="2000"/>
              <a:t>e.g.	physical position, environmental conditions (temperature, humidity), lighting, noise,	</a:t>
            </a:r>
          </a:p>
          <a:p>
            <a:pPr>
              <a:lnSpc>
                <a:spcPct val="90000"/>
              </a:lnSpc>
            </a:pPr>
            <a:r>
              <a:rPr lang="en-GB" altLang="en-US" sz="2400"/>
              <a:t>use of colour</a:t>
            </a:r>
          </a:p>
          <a:p>
            <a:pPr marL="1154113" lvl="1" indent="-587375">
              <a:lnSpc>
                <a:spcPct val="90000"/>
              </a:lnSpc>
              <a:buFontTx/>
              <a:buNone/>
            </a:pPr>
            <a:r>
              <a:rPr lang="en-GB" altLang="en-US" sz="2000"/>
              <a:t>e.g.	use of red for warning, green for okay,</a:t>
            </a:r>
            <a:br>
              <a:rPr lang="en-GB" altLang="en-US" sz="2000"/>
            </a:br>
            <a:r>
              <a:rPr lang="en-GB" altLang="en-US" sz="2000"/>
              <a:t>awareness of colour-blindness etc.</a:t>
            </a:r>
          </a:p>
          <a:p>
            <a:pPr>
              <a:lnSpc>
                <a:spcPct val="90000"/>
              </a:lnSpc>
            </a:pPr>
            <a:endParaRPr lang="en-GB" altLang="en-US" sz="24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a:extLst>
              <a:ext uri="{FF2B5EF4-FFF2-40B4-BE49-F238E27FC236}">
                <a16:creationId xmlns:a16="http://schemas.microsoft.com/office/drawing/2014/main" id="{D4467957-8DAD-36C8-DF78-D13A51079F52}"/>
              </a:ext>
            </a:extLst>
          </p:cNvPr>
          <p:cNvSpPr>
            <a:spLocks noGrp="1" noChangeArrowheads="1"/>
          </p:cNvSpPr>
          <p:nvPr>
            <p:ph type="title"/>
          </p:nvPr>
        </p:nvSpPr>
        <p:spPr/>
        <p:txBody>
          <a:bodyPr/>
          <a:lstStyle/>
          <a:p>
            <a:r>
              <a:rPr lang="en-GB" altLang="en-US"/>
              <a:t>Industrial interfaces</a:t>
            </a:r>
          </a:p>
        </p:txBody>
      </p:sp>
      <p:sp>
        <p:nvSpPr>
          <p:cNvPr id="106499" name="Rectangle 3">
            <a:extLst>
              <a:ext uri="{FF2B5EF4-FFF2-40B4-BE49-F238E27FC236}">
                <a16:creationId xmlns:a16="http://schemas.microsoft.com/office/drawing/2014/main" id="{571C4276-C206-533D-444A-5DBCAA7B0F19}"/>
              </a:ext>
            </a:extLst>
          </p:cNvPr>
          <p:cNvSpPr>
            <a:spLocks noGrp="1" noChangeArrowheads="1"/>
          </p:cNvSpPr>
          <p:nvPr>
            <p:ph type="body" idx="1"/>
          </p:nvPr>
        </p:nvSpPr>
        <p:spPr/>
        <p:txBody>
          <a:bodyPr/>
          <a:lstStyle/>
          <a:p>
            <a:pPr marL="200025" indent="-200025">
              <a:lnSpc>
                <a:spcPct val="90000"/>
              </a:lnSpc>
              <a:buFontTx/>
              <a:buChar char=" "/>
              <a:tabLst>
                <a:tab pos="758825" algn="l"/>
                <a:tab pos="4006850" algn="ctr"/>
                <a:tab pos="5905500" algn="ctr"/>
              </a:tabLst>
            </a:pPr>
            <a:r>
              <a:rPr lang="en-GB" altLang="en-US"/>
              <a:t>Office interface vs. industrial interface?</a:t>
            </a:r>
          </a:p>
          <a:p>
            <a:pPr marL="200025" indent="-200025">
              <a:lnSpc>
                <a:spcPct val="90000"/>
              </a:lnSpc>
              <a:buFontTx/>
              <a:buChar char=" "/>
              <a:tabLst>
                <a:tab pos="758825" algn="l"/>
                <a:tab pos="4006850" algn="ctr"/>
                <a:tab pos="5905500" algn="ctr"/>
              </a:tabLst>
            </a:pPr>
            <a:endParaRPr lang="en-GB" altLang="en-US" sz="1600"/>
          </a:p>
          <a:p>
            <a:pPr marL="200025" indent="-200025">
              <a:lnSpc>
                <a:spcPct val="90000"/>
              </a:lnSpc>
              <a:buFontTx/>
              <a:buChar char=" "/>
              <a:tabLst>
                <a:tab pos="758825" algn="l"/>
                <a:tab pos="4006850" algn="ctr"/>
                <a:tab pos="5905500" algn="ctr"/>
              </a:tabLst>
            </a:pPr>
            <a:r>
              <a:rPr lang="en-GB" altLang="en-US"/>
              <a:t>Context matters!</a:t>
            </a:r>
          </a:p>
          <a:p>
            <a:pPr marL="200025" indent="-200025">
              <a:lnSpc>
                <a:spcPct val="90000"/>
              </a:lnSpc>
              <a:buFontTx/>
              <a:buChar char=" "/>
              <a:tabLst>
                <a:tab pos="758825" algn="l"/>
                <a:tab pos="4006850" algn="ctr"/>
                <a:tab pos="5905500" algn="ctr"/>
              </a:tabLst>
            </a:pPr>
            <a:endParaRPr lang="en-GB" altLang="en-US" sz="1400"/>
          </a:p>
          <a:p>
            <a:pPr marL="200025" indent="-200025">
              <a:lnSpc>
                <a:spcPct val="90000"/>
              </a:lnSpc>
              <a:buFontTx/>
              <a:buChar char=" "/>
              <a:tabLst>
                <a:tab pos="758825" algn="l"/>
                <a:tab pos="4006850" algn="ctr"/>
                <a:tab pos="5905500" algn="ctr"/>
              </a:tabLst>
            </a:pPr>
            <a:r>
              <a:rPr lang="en-GB" altLang="en-US" sz="2400"/>
              <a:t>		office	 industrial</a:t>
            </a:r>
          </a:p>
          <a:p>
            <a:pPr marL="200025" indent="-200025">
              <a:lnSpc>
                <a:spcPct val="90000"/>
              </a:lnSpc>
              <a:buFontTx/>
              <a:buChar char=" "/>
              <a:tabLst>
                <a:tab pos="758825" algn="l"/>
                <a:tab pos="4006850" algn="ctr"/>
                <a:tab pos="5905500" algn="ctr"/>
              </a:tabLst>
            </a:pPr>
            <a:r>
              <a:rPr lang="en-GB" altLang="en-US" sz="2400"/>
              <a:t> 	type of data	textual	numeric</a:t>
            </a:r>
          </a:p>
          <a:p>
            <a:pPr marL="200025" indent="-200025">
              <a:lnSpc>
                <a:spcPct val="90000"/>
              </a:lnSpc>
              <a:buFontTx/>
              <a:buChar char=" "/>
              <a:tabLst>
                <a:tab pos="758825" algn="l"/>
                <a:tab pos="4006850" algn="ctr"/>
                <a:tab pos="5905500" algn="ctr"/>
              </a:tabLst>
            </a:pPr>
            <a:r>
              <a:rPr lang="en-GB" altLang="en-US" sz="2400"/>
              <a:t>  	rate of change	slow	fast</a:t>
            </a:r>
          </a:p>
          <a:p>
            <a:pPr marL="200025" indent="-200025">
              <a:lnSpc>
                <a:spcPct val="90000"/>
              </a:lnSpc>
              <a:buFontTx/>
              <a:buChar char=" "/>
              <a:tabLst>
                <a:tab pos="758825" algn="l"/>
                <a:tab pos="4006850" algn="ctr"/>
                <a:tab pos="5905500" algn="ctr"/>
              </a:tabLst>
            </a:pPr>
            <a:r>
              <a:rPr lang="en-GB" altLang="en-US" sz="2400"/>
              <a:t>  	environment	clean	dirty</a:t>
            </a:r>
            <a:r>
              <a:rPr lang="en-GB" altLang="en-US"/>
              <a:t>	</a:t>
            </a:r>
          </a:p>
          <a:p>
            <a:pPr marL="200025" indent="-200025">
              <a:lnSpc>
                <a:spcPct val="90000"/>
              </a:lnSpc>
              <a:buFontTx/>
              <a:buChar char=" "/>
              <a:tabLst>
                <a:tab pos="758825" algn="l"/>
                <a:tab pos="4006850" algn="ctr"/>
                <a:tab pos="5905500" algn="ctr"/>
              </a:tabLst>
            </a:pPr>
            <a:endParaRPr lang="en-GB" altLang="en-US"/>
          </a:p>
          <a:p>
            <a:pPr marL="200025" indent="-200025">
              <a:lnSpc>
                <a:spcPct val="90000"/>
              </a:lnSpc>
              <a:buFontTx/>
              <a:buChar char=" "/>
              <a:tabLst>
                <a:tab pos="758825" algn="l"/>
                <a:tab pos="4006850" algn="ctr"/>
                <a:tab pos="5905500" algn="ctr"/>
              </a:tabLst>
            </a:pPr>
            <a:r>
              <a:rPr lang="en-GB" altLang="en-US"/>
              <a:t>…  the oil soaked mouse!</a:t>
            </a:r>
          </a:p>
        </p:txBody>
      </p:sp>
      <p:sp>
        <p:nvSpPr>
          <p:cNvPr id="106500" name="Line 4">
            <a:extLst>
              <a:ext uri="{FF2B5EF4-FFF2-40B4-BE49-F238E27FC236}">
                <a16:creationId xmlns:a16="http://schemas.microsoft.com/office/drawing/2014/main" id="{D643574E-BE32-1606-0C66-E8B5ED23D776}"/>
              </a:ext>
            </a:extLst>
          </p:cNvPr>
          <p:cNvSpPr>
            <a:spLocks noChangeShapeType="1"/>
          </p:cNvSpPr>
          <p:nvPr/>
        </p:nvSpPr>
        <p:spPr bwMode="auto">
          <a:xfrm>
            <a:off x="1371600" y="3429000"/>
            <a:ext cx="6172200" cy="0"/>
          </a:xfrm>
          <a:prstGeom prst="line">
            <a:avLst/>
          </a:prstGeom>
          <a:noFill/>
          <a:ln w="28575">
            <a:solidFill>
              <a:srgbClr val="262464"/>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06501" name="Line 5">
            <a:extLst>
              <a:ext uri="{FF2B5EF4-FFF2-40B4-BE49-F238E27FC236}">
                <a16:creationId xmlns:a16="http://schemas.microsoft.com/office/drawing/2014/main" id="{3C461AED-070E-0E9B-1D8E-C5A4CEC49590}"/>
              </a:ext>
            </a:extLst>
          </p:cNvPr>
          <p:cNvSpPr>
            <a:spLocks noChangeShapeType="1"/>
          </p:cNvSpPr>
          <p:nvPr/>
        </p:nvSpPr>
        <p:spPr bwMode="auto">
          <a:xfrm>
            <a:off x="1371600" y="3810000"/>
            <a:ext cx="6172200" cy="0"/>
          </a:xfrm>
          <a:prstGeom prst="line">
            <a:avLst/>
          </a:prstGeom>
          <a:noFill/>
          <a:ln w="28575">
            <a:solidFill>
              <a:srgbClr val="262464"/>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06503" name="Line 7">
            <a:extLst>
              <a:ext uri="{FF2B5EF4-FFF2-40B4-BE49-F238E27FC236}">
                <a16:creationId xmlns:a16="http://schemas.microsoft.com/office/drawing/2014/main" id="{E1F427A6-DADD-C035-9DDE-4E7ADD79E9B2}"/>
              </a:ext>
            </a:extLst>
          </p:cNvPr>
          <p:cNvSpPr>
            <a:spLocks noChangeShapeType="1"/>
          </p:cNvSpPr>
          <p:nvPr/>
        </p:nvSpPr>
        <p:spPr bwMode="auto">
          <a:xfrm>
            <a:off x="1371600" y="5181600"/>
            <a:ext cx="6172200" cy="0"/>
          </a:xfrm>
          <a:prstGeom prst="line">
            <a:avLst/>
          </a:prstGeom>
          <a:noFill/>
          <a:ln w="28575">
            <a:solidFill>
              <a:srgbClr val="262464"/>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pic>
        <p:nvPicPr>
          <p:cNvPr id="106505" name="Picture 9">
            <a:extLst>
              <a:ext uri="{FF2B5EF4-FFF2-40B4-BE49-F238E27FC236}">
                <a16:creationId xmlns:a16="http://schemas.microsoft.com/office/drawing/2014/main" id="{6B798A3C-8E6A-C11B-5E19-EB13270838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963" y="609600"/>
            <a:ext cx="4524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a:extLst>
              <a:ext uri="{FF2B5EF4-FFF2-40B4-BE49-F238E27FC236}">
                <a16:creationId xmlns:a16="http://schemas.microsoft.com/office/drawing/2014/main" id="{36CECB73-93CC-8B7C-99F5-364D4026987B}"/>
              </a:ext>
            </a:extLst>
          </p:cNvPr>
          <p:cNvSpPr>
            <a:spLocks noGrp="1" noChangeArrowheads="1"/>
          </p:cNvSpPr>
          <p:nvPr>
            <p:ph type="title"/>
          </p:nvPr>
        </p:nvSpPr>
        <p:spPr/>
        <p:txBody>
          <a:bodyPr/>
          <a:lstStyle/>
          <a:p>
            <a:r>
              <a:rPr lang="en-GB" altLang="en-US"/>
              <a:t>Glass interfaces ?</a:t>
            </a:r>
          </a:p>
        </p:txBody>
      </p:sp>
      <p:sp>
        <p:nvSpPr>
          <p:cNvPr id="107523" name="Rectangle 3">
            <a:extLst>
              <a:ext uri="{FF2B5EF4-FFF2-40B4-BE49-F238E27FC236}">
                <a16:creationId xmlns:a16="http://schemas.microsoft.com/office/drawing/2014/main" id="{2A84CAF3-CF2A-83F7-DCED-527C605E0A3C}"/>
              </a:ext>
            </a:extLst>
          </p:cNvPr>
          <p:cNvSpPr>
            <a:spLocks noGrp="1" noChangeArrowheads="1"/>
          </p:cNvSpPr>
          <p:nvPr>
            <p:ph type="body" idx="1"/>
          </p:nvPr>
        </p:nvSpPr>
        <p:spPr/>
        <p:txBody>
          <a:bodyPr/>
          <a:lstStyle/>
          <a:p>
            <a:r>
              <a:rPr lang="en-GB" altLang="en-US" sz="2400"/>
              <a:t>industrial interface:</a:t>
            </a:r>
          </a:p>
          <a:p>
            <a:pPr marL="819150" lvl="1"/>
            <a:r>
              <a:rPr lang="en-GB" altLang="en-US" sz="2000"/>
              <a:t>traditional … dials and knobs</a:t>
            </a:r>
          </a:p>
          <a:p>
            <a:pPr marL="819150" lvl="1"/>
            <a:r>
              <a:rPr lang="en-GB" altLang="en-US" sz="2000"/>
              <a:t>now … screens and keypads</a:t>
            </a:r>
          </a:p>
          <a:p>
            <a:r>
              <a:rPr lang="en-GB" altLang="en-US" sz="2400"/>
              <a:t>glass interface</a:t>
            </a:r>
          </a:p>
          <a:p>
            <a:pPr marL="819150" lvl="1">
              <a:buFontTx/>
              <a:buChar char="+"/>
            </a:pPr>
            <a:r>
              <a:rPr lang="en-GB" altLang="en-US" sz="2000"/>
              <a:t>cheaper, more flexible,</a:t>
            </a:r>
            <a:br>
              <a:rPr lang="en-GB" altLang="en-US" sz="2000"/>
            </a:br>
            <a:r>
              <a:rPr lang="en-GB" altLang="en-US" sz="2000"/>
              <a:t>multiple representations,</a:t>
            </a:r>
            <a:br>
              <a:rPr lang="en-GB" altLang="en-US" sz="2000"/>
            </a:br>
            <a:r>
              <a:rPr lang="en-GB" altLang="en-US" sz="2000"/>
              <a:t>precise values</a:t>
            </a:r>
          </a:p>
          <a:p>
            <a:pPr marL="819150" lvl="1"/>
            <a:r>
              <a:rPr lang="en-GB" altLang="en-US" sz="2000"/>
              <a:t>not physically located,</a:t>
            </a:r>
            <a:br>
              <a:rPr lang="en-GB" altLang="en-US" sz="2000"/>
            </a:br>
            <a:r>
              <a:rPr lang="en-GB" altLang="en-US" sz="2000"/>
              <a:t>loss of context,</a:t>
            </a:r>
            <a:br>
              <a:rPr lang="en-GB" altLang="en-US" sz="2000"/>
            </a:br>
            <a:r>
              <a:rPr lang="en-GB" altLang="en-US" sz="2000"/>
              <a:t>complex interfaces</a:t>
            </a:r>
          </a:p>
          <a:p>
            <a:r>
              <a:rPr lang="en-GB" altLang="en-US" sz="2400"/>
              <a:t>may need both</a:t>
            </a:r>
          </a:p>
        </p:txBody>
      </p:sp>
      <p:pic>
        <p:nvPicPr>
          <p:cNvPr id="107524" name="Picture 4">
            <a:extLst>
              <a:ext uri="{FF2B5EF4-FFF2-40B4-BE49-F238E27FC236}">
                <a16:creationId xmlns:a16="http://schemas.microsoft.com/office/drawing/2014/main" id="{50BE76D0-5655-359D-5723-8F13115E25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963" y="609600"/>
            <a:ext cx="4524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07540" name="Group 20">
            <a:extLst>
              <a:ext uri="{FF2B5EF4-FFF2-40B4-BE49-F238E27FC236}">
                <a16:creationId xmlns:a16="http://schemas.microsoft.com/office/drawing/2014/main" id="{6A5757BF-30A0-27EF-B757-E4A990A43332}"/>
              </a:ext>
            </a:extLst>
          </p:cNvPr>
          <p:cNvGrpSpPr>
            <a:grpSpLocks/>
          </p:cNvGrpSpPr>
          <p:nvPr/>
        </p:nvGrpSpPr>
        <p:grpSpPr bwMode="auto">
          <a:xfrm>
            <a:off x="5486400" y="3581400"/>
            <a:ext cx="3200400" cy="1981200"/>
            <a:chOff x="3456" y="2256"/>
            <a:chExt cx="2016" cy="1248"/>
          </a:xfrm>
        </p:grpSpPr>
        <p:sp>
          <p:nvSpPr>
            <p:cNvPr id="107525" name="AutoShape 5">
              <a:extLst>
                <a:ext uri="{FF2B5EF4-FFF2-40B4-BE49-F238E27FC236}">
                  <a16:creationId xmlns:a16="http://schemas.microsoft.com/office/drawing/2014/main" id="{94E54001-2B72-BBA6-6FD4-EA7ED1806B43}"/>
                </a:ext>
              </a:extLst>
            </p:cNvPr>
            <p:cNvSpPr>
              <a:spLocks noChangeArrowheads="1"/>
            </p:cNvSpPr>
            <p:nvPr/>
          </p:nvSpPr>
          <p:spPr bwMode="auto">
            <a:xfrm>
              <a:off x="3456" y="2256"/>
              <a:ext cx="2016" cy="1248"/>
            </a:xfrm>
            <a:prstGeom prst="roundRect">
              <a:avLst>
                <a:gd name="adj" fmla="val 11250"/>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07526" name="Rectangle 6">
              <a:extLst>
                <a:ext uri="{FF2B5EF4-FFF2-40B4-BE49-F238E27FC236}">
                  <a16:creationId xmlns:a16="http://schemas.microsoft.com/office/drawing/2014/main" id="{CF42BE6A-6CD7-DD92-CBAD-5558C7F4AA89}"/>
                </a:ext>
              </a:extLst>
            </p:cNvPr>
            <p:cNvSpPr>
              <a:spLocks noChangeArrowheads="1"/>
            </p:cNvSpPr>
            <p:nvPr/>
          </p:nvSpPr>
          <p:spPr bwMode="auto">
            <a:xfrm>
              <a:off x="3600" y="2352"/>
              <a:ext cx="960" cy="240"/>
            </a:xfrm>
            <a:prstGeom prst="rect">
              <a:avLst/>
            </a:prstGeom>
            <a:solidFill>
              <a:schemeClr val="bg1"/>
            </a:solidFill>
            <a:ln w="28575">
              <a:solidFill>
                <a:srgbClr val="262464"/>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400" b="1">
                  <a:latin typeface="Arial" panose="020B0604020202020204" pitchFamily="34" charset="0"/>
                </a:rPr>
                <a:t>Vessel B Temp</a:t>
              </a:r>
            </a:p>
          </p:txBody>
        </p:sp>
        <p:sp>
          <p:nvSpPr>
            <p:cNvPr id="107527" name="Rectangle 7">
              <a:extLst>
                <a:ext uri="{FF2B5EF4-FFF2-40B4-BE49-F238E27FC236}">
                  <a16:creationId xmlns:a16="http://schemas.microsoft.com/office/drawing/2014/main" id="{A9BD06F9-F609-E934-9358-A0D520767C59}"/>
                </a:ext>
              </a:extLst>
            </p:cNvPr>
            <p:cNvSpPr>
              <a:spLocks noChangeArrowheads="1"/>
            </p:cNvSpPr>
            <p:nvPr/>
          </p:nvSpPr>
          <p:spPr bwMode="auto">
            <a:xfrm>
              <a:off x="3600" y="2592"/>
              <a:ext cx="1728" cy="816"/>
            </a:xfrm>
            <a:prstGeom prst="rect">
              <a:avLst/>
            </a:prstGeom>
            <a:solidFill>
              <a:schemeClr val="bg1"/>
            </a:solidFill>
            <a:ln w="28575">
              <a:solidFill>
                <a:srgbClr val="262464"/>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07529" name="Rectangle 9">
              <a:extLst>
                <a:ext uri="{FF2B5EF4-FFF2-40B4-BE49-F238E27FC236}">
                  <a16:creationId xmlns:a16="http://schemas.microsoft.com/office/drawing/2014/main" id="{336D3AAB-18D7-2C96-84C6-BBD6AD52FE4A}"/>
                </a:ext>
              </a:extLst>
            </p:cNvPr>
            <p:cNvSpPr>
              <a:spLocks noChangeArrowheads="1"/>
            </p:cNvSpPr>
            <p:nvPr/>
          </p:nvSpPr>
          <p:spPr bwMode="auto">
            <a:xfrm>
              <a:off x="3744" y="2880"/>
              <a:ext cx="1440" cy="14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07530" name="Line 10">
              <a:extLst>
                <a:ext uri="{FF2B5EF4-FFF2-40B4-BE49-F238E27FC236}">
                  <a16:creationId xmlns:a16="http://schemas.microsoft.com/office/drawing/2014/main" id="{F157F4E1-F5D2-480C-208A-9CC6CB5FC4DC}"/>
                </a:ext>
              </a:extLst>
            </p:cNvPr>
            <p:cNvSpPr>
              <a:spLocks noChangeShapeType="1"/>
            </p:cNvSpPr>
            <p:nvPr/>
          </p:nvSpPr>
          <p:spPr bwMode="auto">
            <a:xfrm>
              <a:off x="3744" y="2784"/>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07531" name="Line 11">
              <a:extLst>
                <a:ext uri="{FF2B5EF4-FFF2-40B4-BE49-F238E27FC236}">
                  <a16:creationId xmlns:a16="http://schemas.microsoft.com/office/drawing/2014/main" id="{85A34A51-CB23-769A-F1D9-712BCE3DE8DD}"/>
                </a:ext>
              </a:extLst>
            </p:cNvPr>
            <p:cNvSpPr>
              <a:spLocks noChangeShapeType="1"/>
            </p:cNvSpPr>
            <p:nvPr/>
          </p:nvSpPr>
          <p:spPr bwMode="auto">
            <a:xfrm>
              <a:off x="5184" y="2784"/>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07532" name="Line 12">
              <a:extLst>
                <a:ext uri="{FF2B5EF4-FFF2-40B4-BE49-F238E27FC236}">
                  <a16:creationId xmlns:a16="http://schemas.microsoft.com/office/drawing/2014/main" id="{57DD576C-A1B0-F4CD-8268-36A8062AD0B5}"/>
                </a:ext>
              </a:extLst>
            </p:cNvPr>
            <p:cNvSpPr>
              <a:spLocks noChangeShapeType="1"/>
            </p:cNvSpPr>
            <p:nvPr/>
          </p:nvSpPr>
          <p:spPr bwMode="auto">
            <a:xfrm>
              <a:off x="4464" y="2784"/>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07533" name="Text Box 13">
              <a:extLst>
                <a:ext uri="{FF2B5EF4-FFF2-40B4-BE49-F238E27FC236}">
                  <a16:creationId xmlns:a16="http://schemas.microsoft.com/office/drawing/2014/main" id="{81330BFC-E9D9-B590-349E-D4269473CE21}"/>
                </a:ext>
              </a:extLst>
            </p:cNvPr>
            <p:cNvSpPr txBox="1">
              <a:spLocks noChangeArrowheads="1"/>
            </p:cNvSpPr>
            <p:nvPr/>
          </p:nvSpPr>
          <p:spPr bwMode="auto">
            <a:xfrm>
              <a:off x="3662" y="2645"/>
              <a:ext cx="17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GB" altLang="en-US" sz="1400">
                  <a:latin typeface="Arial" panose="020B0604020202020204" pitchFamily="34" charset="0"/>
                </a:rPr>
                <a:t>0</a:t>
              </a:r>
            </a:p>
          </p:txBody>
        </p:sp>
        <p:sp>
          <p:nvSpPr>
            <p:cNvPr id="107534" name="Text Box 14">
              <a:extLst>
                <a:ext uri="{FF2B5EF4-FFF2-40B4-BE49-F238E27FC236}">
                  <a16:creationId xmlns:a16="http://schemas.microsoft.com/office/drawing/2014/main" id="{E2A1FF2B-A5DE-0079-86D7-B4F10DBAC391}"/>
                </a:ext>
              </a:extLst>
            </p:cNvPr>
            <p:cNvSpPr txBox="1">
              <a:spLocks noChangeArrowheads="1"/>
            </p:cNvSpPr>
            <p:nvPr/>
          </p:nvSpPr>
          <p:spPr bwMode="auto">
            <a:xfrm>
              <a:off x="4306" y="2640"/>
              <a:ext cx="30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GB" altLang="en-US" sz="1400">
                  <a:latin typeface="Arial" panose="020B0604020202020204" pitchFamily="34" charset="0"/>
                </a:rPr>
                <a:t>100</a:t>
              </a:r>
            </a:p>
          </p:txBody>
        </p:sp>
        <p:sp>
          <p:nvSpPr>
            <p:cNvPr id="107535" name="Text Box 15">
              <a:extLst>
                <a:ext uri="{FF2B5EF4-FFF2-40B4-BE49-F238E27FC236}">
                  <a16:creationId xmlns:a16="http://schemas.microsoft.com/office/drawing/2014/main" id="{AB481632-9799-6BE7-9D82-80C41E5FFE14}"/>
                </a:ext>
              </a:extLst>
            </p:cNvPr>
            <p:cNvSpPr txBox="1">
              <a:spLocks noChangeArrowheads="1"/>
            </p:cNvSpPr>
            <p:nvPr/>
          </p:nvSpPr>
          <p:spPr bwMode="auto">
            <a:xfrm>
              <a:off x="5026" y="2640"/>
              <a:ext cx="30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GB" altLang="en-US" sz="1400">
                  <a:latin typeface="Arial" panose="020B0604020202020204" pitchFamily="34" charset="0"/>
                </a:rPr>
                <a:t>200</a:t>
              </a:r>
            </a:p>
          </p:txBody>
        </p:sp>
        <p:sp>
          <p:nvSpPr>
            <p:cNvPr id="107536" name="Rectangle 16">
              <a:extLst>
                <a:ext uri="{FF2B5EF4-FFF2-40B4-BE49-F238E27FC236}">
                  <a16:creationId xmlns:a16="http://schemas.microsoft.com/office/drawing/2014/main" id="{19ADD7AC-ECAC-0BB7-0717-0D8EE57D580F}"/>
                </a:ext>
              </a:extLst>
            </p:cNvPr>
            <p:cNvSpPr>
              <a:spLocks noChangeArrowheads="1"/>
            </p:cNvSpPr>
            <p:nvPr/>
          </p:nvSpPr>
          <p:spPr bwMode="auto">
            <a:xfrm>
              <a:off x="4200" y="3120"/>
              <a:ext cx="528" cy="19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600" b="1">
                  <a:latin typeface="Arial" panose="020B0604020202020204" pitchFamily="34" charset="0"/>
                </a:rPr>
                <a:t>113</a:t>
              </a:r>
            </a:p>
          </p:txBody>
        </p:sp>
        <p:sp>
          <p:nvSpPr>
            <p:cNvPr id="107538" name="Rectangle 18">
              <a:extLst>
                <a:ext uri="{FF2B5EF4-FFF2-40B4-BE49-F238E27FC236}">
                  <a16:creationId xmlns:a16="http://schemas.microsoft.com/office/drawing/2014/main" id="{8C29D3E4-8C4F-FBF0-9ADF-9A03B5FA626A}"/>
                </a:ext>
              </a:extLst>
            </p:cNvPr>
            <p:cNvSpPr>
              <a:spLocks noChangeArrowheads="1"/>
            </p:cNvSpPr>
            <p:nvPr/>
          </p:nvSpPr>
          <p:spPr bwMode="auto">
            <a:xfrm>
              <a:off x="3744" y="2880"/>
              <a:ext cx="814" cy="14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nvGrpSpPr>
          <p:cNvPr id="107546" name="Group 26">
            <a:extLst>
              <a:ext uri="{FF2B5EF4-FFF2-40B4-BE49-F238E27FC236}">
                <a16:creationId xmlns:a16="http://schemas.microsoft.com/office/drawing/2014/main" id="{377FB0F4-AAD3-E3F3-C935-924EC14A3278}"/>
              </a:ext>
            </a:extLst>
          </p:cNvPr>
          <p:cNvGrpSpPr>
            <a:grpSpLocks/>
          </p:cNvGrpSpPr>
          <p:nvPr/>
        </p:nvGrpSpPr>
        <p:grpSpPr bwMode="auto">
          <a:xfrm>
            <a:off x="6477000" y="4648200"/>
            <a:ext cx="2362200" cy="1670050"/>
            <a:chOff x="4080" y="2928"/>
            <a:chExt cx="1488" cy="1052"/>
          </a:xfrm>
        </p:grpSpPr>
        <p:sp>
          <p:nvSpPr>
            <p:cNvPr id="107541" name="Text Box 21">
              <a:extLst>
                <a:ext uri="{FF2B5EF4-FFF2-40B4-BE49-F238E27FC236}">
                  <a16:creationId xmlns:a16="http://schemas.microsoft.com/office/drawing/2014/main" id="{79007771-D31B-AFC1-5898-428A20D9DAEA}"/>
                </a:ext>
              </a:extLst>
            </p:cNvPr>
            <p:cNvSpPr txBox="1">
              <a:spLocks noChangeArrowheads="1"/>
            </p:cNvSpPr>
            <p:nvPr/>
          </p:nvSpPr>
          <p:spPr bwMode="auto">
            <a:xfrm>
              <a:off x="4080" y="3648"/>
              <a:ext cx="1488" cy="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GB" altLang="en-US" sz="1400">
                  <a:latin typeface="Verdana" panose="020B0604030504040204" pitchFamily="34" charset="0"/>
                </a:rPr>
                <a:t>multiple representations</a:t>
              </a:r>
              <a:br>
                <a:rPr lang="en-GB" altLang="en-US" sz="1400">
                  <a:latin typeface="Verdana" panose="020B0604030504040204" pitchFamily="34" charset="0"/>
                </a:rPr>
              </a:br>
              <a:r>
                <a:rPr lang="en-GB" altLang="en-US" sz="1400">
                  <a:latin typeface="Verdana" panose="020B0604030504040204" pitchFamily="34" charset="0"/>
                </a:rPr>
                <a:t>of same information</a:t>
              </a:r>
            </a:p>
          </p:txBody>
        </p:sp>
        <p:sp>
          <p:nvSpPr>
            <p:cNvPr id="107543" name="Line 23">
              <a:extLst>
                <a:ext uri="{FF2B5EF4-FFF2-40B4-BE49-F238E27FC236}">
                  <a16:creationId xmlns:a16="http://schemas.microsoft.com/office/drawing/2014/main" id="{88DAF517-F820-A2DB-BD13-735C56944BAD}"/>
                </a:ext>
              </a:extLst>
            </p:cNvPr>
            <p:cNvSpPr>
              <a:spLocks noChangeShapeType="1"/>
            </p:cNvSpPr>
            <p:nvPr/>
          </p:nvSpPr>
          <p:spPr bwMode="auto">
            <a:xfrm flipH="1" flipV="1">
              <a:off x="4560" y="2928"/>
              <a:ext cx="336" cy="192"/>
            </a:xfrm>
            <a:prstGeom prst="line">
              <a:avLst/>
            </a:prstGeom>
            <a:noFill/>
            <a:ln w="571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07544" name="Line 24">
              <a:extLst>
                <a:ext uri="{FF2B5EF4-FFF2-40B4-BE49-F238E27FC236}">
                  <a16:creationId xmlns:a16="http://schemas.microsoft.com/office/drawing/2014/main" id="{E82FC4CB-B03A-9140-2A45-F33FBC02D1EA}"/>
                </a:ext>
              </a:extLst>
            </p:cNvPr>
            <p:cNvSpPr>
              <a:spLocks noChangeShapeType="1"/>
            </p:cNvSpPr>
            <p:nvPr/>
          </p:nvSpPr>
          <p:spPr bwMode="auto">
            <a:xfrm flipH="1" flipV="1">
              <a:off x="4608" y="3264"/>
              <a:ext cx="336" cy="192"/>
            </a:xfrm>
            <a:prstGeom prst="line">
              <a:avLst/>
            </a:prstGeom>
            <a:noFill/>
            <a:ln w="571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075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a:extLst>
              <a:ext uri="{FF2B5EF4-FFF2-40B4-BE49-F238E27FC236}">
                <a16:creationId xmlns:a16="http://schemas.microsoft.com/office/drawing/2014/main" id="{94223ECD-22D7-7673-AA51-9E4FD5220706}"/>
              </a:ext>
            </a:extLst>
          </p:cNvPr>
          <p:cNvSpPr>
            <a:spLocks noGrp="1" noChangeArrowheads="1"/>
          </p:cNvSpPr>
          <p:nvPr>
            <p:ph type="title"/>
          </p:nvPr>
        </p:nvSpPr>
        <p:spPr/>
        <p:txBody>
          <a:bodyPr/>
          <a:lstStyle/>
          <a:p>
            <a:r>
              <a:rPr lang="en-GB" altLang="en-US"/>
              <a:t>Indirect manipulation</a:t>
            </a:r>
          </a:p>
        </p:txBody>
      </p:sp>
      <p:sp>
        <p:nvSpPr>
          <p:cNvPr id="111619" name="Rectangle 3">
            <a:extLst>
              <a:ext uri="{FF2B5EF4-FFF2-40B4-BE49-F238E27FC236}">
                <a16:creationId xmlns:a16="http://schemas.microsoft.com/office/drawing/2014/main" id="{1B7F88AC-69AE-5C9B-6C29-FCE0992CF9FD}"/>
              </a:ext>
            </a:extLst>
          </p:cNvPr>
          <p:cNvSpPr>
            <a:spLocks noGrp="1" noChangeArrowheads="1"/>
          </p:cNvSpPr>
          <p:nvPr>
            <p:ph type="body" sz="half" idx="1"/>
          </p:nvPr>
        </p:nvSpPr>
        <p:spPr>
          <a:xfrm>
            <a:off x="685800" y="1981200"/>
            <a:ext cx="5181600" cy="1295400"/>
          </a:xfrm>
        </p:spPr>
        <p:txBody>
          <a:bodyPr/>
          <a:lstStyle/>
          <a:p>
            <a:r>
              <a:rPr lang="en-GB" altLang="en-US" sz="2400"/>
              <a:t>office– direct manipulation</a:t>
            </a:r>
          </a:p>
          <a:p>
            <a:pPr lvl="1"/>
            <a:r>
              <a:rPr lang="en-GB" altLang="en-US" sz="2000"/>
              <a:t>user interacts</a:t>
            </a:r>
            <a:br>
              <a:rPr lang="en-GB" altLang="en-US" sz="2000"/>
            </a:br>
            <a:r>
              <a:rPr lang="en-GB" altLang="en-US" sz="2000"/>
              <a:t>with artificial world</a:t>
            </a:r>
          </a:p>
        </p:txBody>
      </p:sp>
      <p:sp>
        <p:nvSpPr>
          <p:cNvPr id="111620" name="Rectangle 4">
            <a:extLst>
              <a:ext uri="{FF2B5EF4-FFF2-40B4-BE49-F238E27FC236}">
                <a16:creationId xmlns:a16="http://schemas.microsoft.com/office/drawing/2014/main" id="{74DCCBD6-D497-1500-8DB9-5DFAE0F9200E}"/>
              </a:ext>
            </a:extLst>
          </p:cNvPr>
          <p:cNvSpPr>
            <a:spLocks noGrp="1" noChangeArrowheads="1"/>
          </p:cNvSpPr>
          <p:nvPr>
            <p:ph type="body" sz="half" idx="2"/>
          </p:nvPr>
        </p:nvSpPr>
        <p:spPr>
          <a:xfrm>
            <a:off x="685800" y="3581400"/>
            <a:ext cx="7772400" cy="3048000"/>
          </a:xfrm>
        </p:spPr>
        <p:txBody>
          <a:bodyPr/>
          <a:lstStyle/>
          <a:p>
            <a:r>
              <a:rPr lang="en-GB" altLang="en-US" sz="2400"/>
              <a:t>industrial – indirect manipulation</a:t>
            </a:r>
          </a:p>
          <a:p>
            <a:pPr lvl="1"/>
            <a:r>
              <a:rPr lang="en-GB" altLang="en-US" sz="2000"/>
              <a:t>user interacts</a:t>
            </a:r>
            <a:br>
              <a:rPr lang="en-GB" altLang="en-US" sz="2000"/>
            </a:br>
            <a:r>
              <a:rPr lang="en-GB" altLang="en-US" sz="2000" i="1"/>
              <a:t>with</a:t>
            </a:r>
            <a:r>
              <a:rPr lang="en-GB" altLang="en-US" sz="2000"/>
              <a:t> real world</a:t>
            </a:r>
            <a:br>
              <a:rPr lang="en-GB" altLang="en-US" sz="2000"/>
            </a:br>
            <a:r>
              <a:rPr lang="en-GB" altLang="en-US" sz="2000" i="1"/>
              <a:t>through</a:t>
            </a:r>
            <a:r>
              <a:rPr lang="en-GB" altLang="en-US" sz="2000"/>
              <a:t> interface</a:t>
            </a:r>
          </a:p>
          <a:p>
            <a:r>
              <a:rPr lang="en-GB" altLang="en-US" sz="2400"/>
              <a:t>issues ..</a:t>
            </a:r>
          </a:p>
          <a:p>
            <a:pPr lvl="1"/>
            <a:r>
              <a:rPr lang="en-GB" altLang="en-US" sz="2000"/>
              <a:t>feedback</a:t>
            </a:r>
          </a:p>
          <a:p>
            <a:pPr lvl="1"/>
            <a:r>
              <a:rPr lang="en-GB" altLang="en-US" sz="2000"/>
              <a:t>delays</a:t>
            </a:r>
          </a:p>
        </p:txBody>
      </p:sp>
      <p:pic>
        <p:nvPicPr>
          <p:cNvPr id="111621" name="Picture 5">
            <a:extLst>
              <a:ext uri="{FF2B5EF4-FFF2-40B4-BE49-F238E27FC236}">
                <a16:creationId xmlns:a16="http://schemas.microsoft.com/office/drawing/2014/main" id="{8F5D4BAE-B8A7-22F9-976F-B4424A88AA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963" y="609600"/>
            <a:ext cx="4524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11623" name="Group 7">
            <a:extLst>
              <a:ext uri="{FF2B5EF4-FFF2-40B4-BE49-F238E27FC236}">
                <a16:creationId xmlns:a16="http://schemas.microsoft.com/office/drawing/2014/main" id="{D516091F-95DA-F8D4-42E5-4E3F88AA2F9E}"/>
              </a:ext>
            </a:extLst>
          </p:cNvPr>
          <p:cNvGrpSpPr>
            <a:grpSpLocks/>
          </p:cNvGrpSpPr>
          <p:nvPr/>
        </p:nvGrpSpPr>
        <p:grpSpPr bwMode="auto">
          <a:xfrm>
            <a:off x="5257800" y="2514600"/>
            <a:ext cx="3581400" cy="838200"/>
            <a:chOff x="2544" y="1296"/>
            <a:chExt cx="2256" cy="528"/>
          </a:xfrm>
        </p:grpSpPr>
        <p:sp>
          <p:nvSpPr>
            <p:cNvPr id="111624" name="Rectangle 8">
              <a:extLst>
                <a:ext uri="{FF2B5EF4-FFF2-40B4-BE49-F238E27FC236}">
                  <a16:creationId xmlns:a16="http://schemas.microsoft.com/office/drawing/2014/main" id="{F97A3B18-5D37-6DF9-B4B8-D5F0A0CB46BE}"/>
                </a:ext>
              </a:extLst>
            </p:cNvPr>
            <p:cNvSpPr>
              <a:spLocks noChangeArrowheads="1"/>
            </p:cNvSpPr>
            <p:nvPr/>
          </p:nvSpPr>
          <p:spPr bwMode="auto">
            <a:xfrm>
              <a:off x="3936" y="1296"/>
              <a:ext cx="864" cy="528"/>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800">
                  <a:latin typeface="Arial" panose="020B0604020202020204" pitchFamily="34" charset="0"/>
                </a:rPr>
                <a:t>system</a:t>
              </a:r>
            </a:p>
          </p:txBody>
        </p:sp>
        <p:sp>
          <p:nvSpPr>
            <p:cNvPr id="111625" name="AutoShape 9">
              <a:extLst>
                <a:ext uri="{FF2B5EF4-FFF2-40B4-BE49-F238E27FC236}">
                  <a16:creationId xmlns:a16="http://schemas.microsoft.com/office/drawing/2014/main" id="{6AC4364C-0AFD-BBCF-1067-2329C146769F}"/>
                </a:ext>
              </a:extLst>
            </p:cNvPr>
            <p:cNvSpPr>
              <a:spLocks noChangeArrowheads="1"/>
            </p:cNvSpPr>
            <p:nvPr/>
          </p:nvSpPr>
          <p:spPr bwMode="auto">
            <a:xfrm>
              <a:off x="2544" y="1296"/>
              <a:ext cx="528" cy="528"/>
            </a:xfrm>
            <a:prstGeom prst="smileyFace">
              <a:avLst>
                <a:gd name="adj" fmla="val 4653"/>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11626" name="Line 10">
              <a:extLst>
                <a:ext uri="{FF2B5EF4-FFF2-40B4-BE49-F238E27FC236}">
                  <a16:creationId xmlns:a16="http://schemas.microsoft.com/office/drawing/2014/main" id="{B98E7B0C-6BDB-6C06-27BD-54C9BEEE599C}"/>
                </a:ext>
              </a:extLst>
            </p:cNvPr>
            <p:cNvSpPr>
              <a:spLocks noChangeShapeType="1"/>
            </p:cNvSpPr>
            <p:nvPr/>
          </p:nvSpPr>
          <p:spPr bwMode="auto">
            <a:xfrm>
              <a:off x="3168" y="1440"/>
              <a:ext cx="672" cy="0"/>
            </a:xfrm>
            <a:prstGeom prst="line">
              <a:avLst/>
            </a:prstGeom>
            <a:noFill/>
            <a:ln w="38100">
              <a:solidFill>
                <a:srgbClr val="262464"/>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11627" name="Line 11">
              <a:extLst>
                <a:ext uri="{FF2B5EF4-FFF2-40B4-BE49-F238E27FC236}">
                  <a16:creationId xmlns:a16="http://schemas.microsoft.com/office/drawing/2014/main" id="{85F963C6-9BA2-0732-D201-5FD949BAD89A}"/>
                </a:ext>
              </a:extLst>
            </p:cNvPr>
            <p:cNvSpPr>
              <a:spLocks noChangeShapeType="1"/>
            </p:cNvSpPr>
            <p:nvPr/>
          </p:nvSpPr>
          <p:spPr bwMode="auto">
            <a:xfrm flipH="1">
              <a:off x="3120" y="1632"/>
              <a:ext cx="672" cy="0"/>
            </a:xfrm>
            <a:prstGeom prst="line">
              <a:avLst/>
            </a:prstGeom>
            <a:noFill/>
            <a:ln w="38100">
              <a:solidFill>
                <a:srgbClr val="262464"/>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nvGrpSpPr>
          <p:cNvPr id="111628" name="Group 12">
            <a:extLst>
              <a:ext uri="{FF2B5EF4-FFF2-40B4-BE49-F238E27FC236}">
                <a16:creationId xmlns:a16="http://schemas.microsoft.com/office/drawing/2014/main" id="{F8D60E11-CD29-0339-E5CD-A53443D72EEE}"/>
              </a:ext>
            </a:extLst>
          </p:cNvPr>
          <p:cNvGrpSpPr>
            <a:grpSpLocks/>
          </p:cNvGrpSpPr>
          <p:nvPr/>
        </p:nvGrpSpPr>
        <p:grpSpPr bwMode="auto">
          <a:xfrm>
            <a:off x="3657600" y="4800600"/>
            <a:ext cx="5181600" cy="1676400"/>
            <a:chOff x="1488" y="2256"/>
            <a:chExt cx="3264" cy="1056"/>
          </a:xfrm>
        </p:grpSpPr>
        <p:sp>
          <p:nvSpPr>
            <p:cNvPr id="111629" name="AutoShape 13">
              <a:extLst>
                <a:ext uri="{FF2B5EF4-FFF2-40B4-BE49-F238E27FC236}">
                  <a16:creationId xmlns:a16="http://schemas.microsoft.com/office/drawing/2014/main" id="{719DE849-862E-7208-8AA6-2710C879E349}"/>
                </a:ext>
              </a:extLst>
            </p:cNvPr>
            <p:cNvSpPr>
              <a:spLocks noChangeArrowheads="1"/>
            </p:cNvSpPr>
            <p:nvPr/>
          </p:nvSpPr>
          <p:spPr bwMode="auto">
            <a:xfrm>
              <a:off x="1488" y="2544"/>
              <a:ext cx="528" cy="528"/>
            </a:xfrm>
            <a:prstGeom prst="smileyFace">
              <a:avLst>
                <a:gd name="adj" fmla="val 4653"/>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11630" name="Rectangle 14">
              <a:extLst>
                <a:ext uri="{FF2B5EF4-FFF2-40B4-BE49-F238E27FC236}">
                  <a16:creationId xmlns:a16="http://schemas.microsoft.com/office/drawing/2014/main" id="{5615A405-FD2A-A635-D2FD-598008C4F197}"/>
                </a:ext>
              </a:extLst>
            </p:cNvPr>
            <p:cNvSpPr>
              <a:spLocks noChangeArrowheads="1"/>
            </p:cNvSpPr>
            <p:nvPr/>
          </p:nvSpPr>
          <p:spPr bwMode="auto">
            <a:xfrm>
              <a:off x="4176" y="2256"/>
              <a:ext cx="576" cy="1056"/>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800">
                <a:latin typeface="Arial" panose="020B0604020202020204" pitchFamily="34" charset="0"/>
              </a:endParaRPr>
            </a:p>
          </p:txBody>
        </p:sp>
        <p:sp>
          <p:nvSpPr>
            <p:cNvPr id="111631" name="AutoShape 15">
              <a:extLst>
                <a:ext uri="{FF2B5EF4-FFF2-40B4-BE49-F238E27FC236}">
                  <a16:creationId xmlns:a16="http://schemas.microsoft.com/office/drawing/2014/main" id="{DAE79AE7-1EB9-9A25-1541-586CB6BEBFFF}"/>
                </a:ext>
              </a:extLst>
            </p:cNvPr>
            <p:cNvSpPr>
              <a:spLocks noChangeArrowheads="1"/>
            </p:cNvSpPr>
            <p:nvPr/>
          </p:nvSpPr>
          <p:spPr bwMode="auto">
            <a:xfrm>
              <a:off x="2928" y="2256"/>
              <a:ext cx="768" cy="1056"/>
            </a:xfrm>
            <a:prstGeom prst="roundRect">
              <a:avLst>
                <a:gd name="adj" fmla="val 10157"/>
              </a:avLst>
            </a:prstGeom>
            <a:solidFill>
              <a:schemeClr val="accent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800">
                <a:latin typeface="Arial" panose="020B0604020202020204" pitchFamily="34" charset="0"/>
              </a:endParaRPr>
            </a:p>
          </p:txBody>
        </p:sp>
        <p:sp>
          <p:nvSpPr>
            <p:cNvPr id="111632" name="Text Box 16">
              <a:extLst>
                <a:ext uri="{FF2B5EF4-FFF2-40B4-BE49-F238E27FC236}">
                  <a16:creationId xmlns:a16="http://schemas.microsoft.com/office/drawing/2014/main" id="{3314AC0B-53F8-EF1F-9FB0-E5B0D4A205D6}"/>
                </a:ext>
              </a:extLst>
            </p:cNvPr>
            <p:cNvSpPr txBox="1">
              <a:spLocks noChangeArrowheads="1"/>
            </p:cNvSpPr>
            <p:nvPr/>
          </p:nvSpPr>
          <p:spPr bwMode="auto">
            <a:xfrm>
              <a:off x="2976" y="2265"/>
              <a:ext cx="66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sz="1800">
                  <a:latin typeface="Arial" panose="020B0604020202020204" pitchFamily="34" charset="0"/>
                </a:rPr>
                <a:t>interface</a:t>
              </a:r>
            </a:p>
          </p:txBody>
        </p:sp>
        <p:grpSp>
          <p:nvGrpSpPr>
            <p:cNvPr id="111633" name="Group 17">
              <a:extLst>
                <a:ext uri="{FF2B5EF4-FFF2-40B4-BE49-F238E27FC236}">
                  <a16:creationId xmlns:a16="http://schemas.microsoft.com/office/drawing/2014/main" id="{C65BD5CF-9568-537B-1270-7CB1447AA743}"/>
                </a:ext>
              </a:extLst>
            </p:cNvPr>
            <p:cNvGrpSpPr>
              <a:grpSpLocks/>
            </p:cNvGrpSpPr>
            <p:nvPr/>
          </p:nvGrpSpPr>
          <p:grpSpPr bwMode="auto">
            <a:xfrm>
              <a:off x="2736" y="2448"/>
              <a:ext cx="336" cy="480"/>
              <a:chOff x="2736" y="3408"/>
              <a:chExt cx="336" cy="480"/>
            </a:xfrm>
          </p:grpSpPr>
          <p:sp>
            <p:nvSpPr>
              <p:cNvPr id="111634" name="Oval 18">
                <a:extLst>
                  <a:ext uri="{FF2B5EF4-FFF2-40B4-BE49-F238E27FC236}">
                    <a16:creationId xmlns:a16="http://schemas.microsoft.com/office/drawing/2014/main" id="{B5C368BB-DF2F-5A13-159B-5578F3054CBE}"/>
                  </a:ext>
                </a:extLst>
              </p:cNvPr>
              <p:cNvSpPr>
                <a:spLocks noChangeArrowheads="1"/>
              </p:cNvSpPr>
              <p:nvPr/>
            </p:nvSpPr>
            <p:spPr bwMode="auto">
              <a:xfrm>
                <a:off x="2784" y="3504"/>
                <a:ext cx="288" cy="288"/>
              </a:xfrm>
              <a:prstGeom prst="ellipse">
                <a:avLst/>
              </a:prstGeom>
              <a:solidFill>
                <a:schemeClr val="accent1"/>
              </a:solidFill>
              <a:ln w="38100">
                <a:solidFill>
                  <a:srgbClr val="262464"/>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11635" name="Rectangle 19">
                <a:extLst>
                  <a:ext uri="{FF2B5EF4-FFF2-40B4-BE49-F238E27FC236}">
                    <a16:creationId xmlns:a16="http://schemas.microsoft.com/office/drawing/2014/main" id="{E7996102-3CE5-A2FE-7D25-15360DC996F1}"/>
                  </a:ext>
                </a:extLst>
              </p:cNvPr>
              <p:cNvSpPr>
                <a:spLocks noChangeArrowheads="1"/>
              </p:cNvSpPr>
              <p:nvPr/>
            </p:nvSpPr>
            <p:spPr bwMode="auto">
              <a:xfrm>
                <a:off x="2736" y="3456"/>
                <a:ext cx="192" cy="384"/>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11636" name="Line 20">
                <a:extLst>
                  <a:ext uri="{FF2B5EF4-FFF2-40B4-BE49-F238E27FC236}">
                    <a16:creationId xmlns:a16="http://schemas.microsoft.com/office/drawing/2014/main" id="{5EA9AC8A-57F0-B36F-641D-6F95BF26E681}"/>
                  </a:ext>
                </a:extLst>
              </p:cNvPr>
              <p:cNvSpPr>
                <a:spLocks noChangeShapeType="1"/>
              </p:cNvSpPr>
              <p:nvPr/>
            </p:nvSpPr>
            <p:spPr bwMode="auto">
              <a:xfrm>
                <a:off x="2928" y="3408"/>
                <a:ext cx="0" cy="48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nvGrpSpPr>
            <p:cNvPr id="111637" name="Group 21">
              <a:extLst>
                <a:ext uri="{FF2B5EF4-FFF2-40B4-BE49-F238E27FC236}">
                  <a16:creationId xmlns:a16="http://schemas.microsoft.com/office/drawing/2014/main" id="{A215334D-5D1B-F5E2-38A6-73AAAA9DBDAB}"/>
                </a:ext>
              </a:extLst>
            </p:cNvPr>
            <p:cNvGrpSpPr>
              <a:grpSpLocks/>
            </p:cNvGrpSpPr>
            <p:nvPr/>
          </p:nvGrpSpPr>
          <p:grpSpPr bwMode="auto">
            <a:xfrm>
              <a:off x="3773" y="2448"/>
              <a:ext cx="691" cy="768"/>
              <a:chOff x="3773" y="2448"/>
              <a:chExt cx="691" cy="768"/>
            </a:xfrm>
          </p:grpSpPr>
          <p:sp>
            <p:nvSpPr>
              <p:cNvPr id="111638" name="Oval 22">
                <a:extLst>
                  <a:ext uri="{FF2B5EF4-FFF2-40B4-BE49-F238E27FC236}">
                    <a16:creationId xmlns:a16="http://schemas.microsoft.com/office/drawing/2014/main" id="{0CB5383F-6CA6-C2A2-FE09-920825ECC34D}"/>
                  </a:ext>
                </a:extLst>
              </p:cNvPr>
              <p:cNvSpPr>
                <a:spLocks noChangeAspect="1" noChangeArrowheads="1"/>
              </p:cNvSpPr>
              <p:nvPr/>
            </p:nvSpPr>
            <p:spPr bwMode="auto">
              <a:xfrm>
                <a:off x="3888" y="2544"/>
                <a:ext cx="576" cy="576"/>
              </a:xfrm>
              <a:prstGeom prst="ellipse">
                <a:avLst/>
              </a:prstGeom>
              <a:solidFill>
                <a:schemeClr val="accent1"/>
              </a:solidFill>
              <a:ln w="38100">
                <a:solidFill>
                  <a:srgbClr val="262464"/>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11639" name="Rectangle 23">
                <a:extLst>
                  <a:ext uri="{FF2B5EF4-FFF2-40B4-BE49-F238E27FC236}">
                    <a16:creationId xmlns:a16="http://schemas.microsoft.com/office/drawing/2014/main" id="{1D693537-39A1-0014-6937-38277F17C39B}"/>
                  </a:ext>
                </a:extLst>
              </p:cNvPr>
              <p:cNvSpPr>
                <a:spLocks noChangeAspect="1" noChangeArrowheads="1"/>
              </p:cNvSpPr>
              <p:nvPr/>
            </p:nvSpPr>
            <p:spPr bwMode="auto">
              <a:xfrm>
                <a:off x="3773" y="2495"/>
                <a:ext cx="404" cy="673"/>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11640" name="Line 24">
                <a:extLst>
                  <a:ext uri="{FF2B5EF4-FFF2-40B4-BE49-F238E27FC236}">
                    <a16:creationId xmlns:a16="http://schemas.microsoft.com/office/drawing/2014/main" id="{706EA116-FBC4-2690-FEB4-D8C039FB280D}"/>
                  </a:ext>
                </a:extLst>
              </p:cNvPr>
              <p:cNvSpPr>
                <a:spLocks noChangeAspect="1" noChangeShapeType="1"/>
              </p:cNvSpPr>
              <p:nvPr/>
            </p:nvSpPr>
            <p:spPr bwMode="auto">
              <a:xfrm>
                <a:off x="4177" y="2448"/>
                <a:ext cx="0" cy="76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
          <p:nvSpPr>
            <p:cNvPr id="111641" name="Line 25">
              <a:extLst>
                <a:ext uri="{FF2B5EF4-FFF2-40B4-BE49-F238E27FC236}">
                  <a16:creationId xmlns:a16="http://schemas.microsoft.com/office/drawing/2014/main" id="{CB800ABB-2A48-12C0-0592-EC2CF55B249E}"/>
                </a:ext>
              </a:extLst>
            </p:cNvPr>
            <p:cNvSpPr>
              <a:spLocks noChangeShapeType="1"/>
            </p:cNvSpPr>
            <p:nvPr/>
          </p:nvSpPr>
          <p:spPr bwMode="auto">
            <a:xfrm>
              <a:off x="2160" y="2544"/>
              <a:ext cx="768" cy="0"/>
            </a:xfrm>
            <a:prstGeom prst="line">
              <a:avLst/>
            </a:prstGeom>
            <a:noFill/>
            <a:ln w="38100">
              <a:solidFill>
                <a:srgbClr val="262464"/>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11642" name="Line 26">
              <a:extLst>
                <a:ext uri="{FF2B5EF4-FFF2-40B4-BE49-F238E27FC236}">
                  <a16:creationId xmlns:a16="http://schemas.microsoft.com/office/drawing/2014/main" id="{57AF1CDD-430C-1839-6AF8-C7B497F6D697}"/>
                </a:ext>
              </a:extLst>
            </p:cNvPr>
            <p:cNvSpPr>
              <a:spLocks noChangeShapeType="1"/>
            </p:cNvSpPr>
            <p:nvPr/>
          </p:nvSpPr>
          <p:spPr bwMode="auto">
            <a:xfrm flipH="1">
              <a:off x="2112" y="2832"/>
              <a:ext cx="816" cy="0"/>
            </a:xfrm>
            <a:prstGeom prst="line">
              <a:avLst/>
            </a:prstGeom>
            <a:noFill/>
            <a:ln w="38100">
              <a:solidFill>
                <a:srgbClr val="262464"/>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11643" name="Line 27">
              <a:extLst>
                <a:ext uri="{FF2B5EF4-FFF2-40B4-BE49-F238E27FC236}">
                  <a16:creationId xmlns:a16="http://schemas.microsoft.com/office/drawing/2014/main" id="{9C100D9F-EB10-A3C1-2081-0D49E955C76D}"/>
                </a:ext>
              </a:extLst>
            </p:cNvPr>
            <p:cNvSpPr>
              <a:spLocks noChangeShapeType="1"/>
            </p:cNvSpPr>
            <p:nvPr/>
          </p:nvSpPr>
          <p:spPr bwMode="auto">
            <a:xfrm flipH="1">
              <a:off x="2112" y="3120"/>
              <a:ext cx="816" cy="0"/>
            </a:xfrm>
            <a:prstGeom prst="line">
              <a:avLst/>
            </a:prstGeom>
            <a:noFill/>
            <a:ln w="38100">
              <a:solidFill>
                <a:srgbClr val="262464"/>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11644" name="Line 28">
              <a:extLst>
                <a:ext uri="{FF2B5EF4-FFF2-40B4-BE49-F238E27FC236}">
                  <a16:creationId xmlns:a16="http://schemas.microsoft.com/office/drawing/2014/main" id="{A1CE1EA2-DA35-1192-1380-BF02BD9ED7BA}"/>
                </a:ext>
              </a:extLst>
            </p:cNvPr>
            <p:cNvSpPr>
              <a:spLocks noChangeShapeType="1"/>
            </p:cNvSpPr>
            <p:nvPr/>
          </p:nvSpPr>
          <p:spPr bwMode="auto">
            <a:xfrm>
              <a:off x="3696" y="2544"/>
              <a:ext cx="480" cy="0"/>
            </a:xfrm>
            <a:prstGeom prst="line">
              <a:avLst/>
            </a:prstGeom>
            <a:noFill/>
            <a:ln w="38100">
              <a:solidFill>
                <a:srgbClr val="262464"/>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11645" name="Line 29">
              <a:extLst>
                <a:ext uri="{FF2B5EF4-FFF2-40B4-BE49-F238E27FC236}">
                  <a16:creationId xmlns:a16="http://schemas.microsoft.com/office/drawing/2014/main" id="{741A4FEC-F873-F133-16D0-38266A12448A}"/>
                </a:ext>
              </a:extLst>
            </p:cNvPr>
            <p:cNvSpPr>
              <a:spLocks noChangeShapeType="1"/>
            </p:cNvSpPr>
            <p:nvPr/>
          </p:nvSpPr>
          <p:spPr bwMode="auto">
            <a:xfrm flipH="1">
              <a:off x="3696" y="3120"/>
              <a:ext cx="480" cy="0"/>
            </a:xfrm>
            <a:prstGeom prst="line">
              <a:avLst/>
            </a:prstGeom>
            <a:noFill/>
            <a:ln w="38100">
              <a:solidFill>
                <a:srgbClr val="262464"/>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11646" name="Rectangle 30">
              <a:extLst>
                <a:ext uri="{FF2B5EF4-FFF2-40B4-BE49-F238E27FC236}">
                  <a16:creationId xmlns:a16="http://schemas.microsoft.com/office/drawing/2014/main" id="{DB2AE889-1C4F-C06A-7603-8D1C557BAE08}"/>
                </a:ext>
              </a:extLst>
            </p:cNvPr>
            <p:cNvSpPr>
              <a:spLocks noChangeArrowheads="1"/>
            </p:cNvSpPr>
            <p:nvPr/>
          </p:nvSpPr>
          <p:spPr bwMode="auto">
            <a:xfrm>
              <a:off x="4224" y="2256"/>
              <a:ext cx="42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sz="1800">
                  <a:latin typeface="Arial" panose="020B0604020202020204" pitchFamily="34" charset="0"/>
                </a:rPr>
                <a:t>plant</a:t>
              </a:r>
            </a:p>
          </p:txBody>
        </p:sp>
        <p:sp>
          <p:nvSpPr>
            <p:cNvPr id="111647" name="Line 31">
              <a:extLst>
                <a:ext uri="{FF2B5EF4-FFF2-40B4-BE49-F238E27FC236}">
                  <a16:creationId xmlns:a16="http://schemas.microsoft.com/office/drawing/2014/main" id="{C01A2CAB-D7DB-1DD1-B5BD-0EF302B53E9A}"/>
                </a:ext>
              </a:extLst>
            </p:cNvPr>
            <p:cNvSpPr>
              <a:spLocks noChangeShapeType="1"/>
            </p:cNvSpPr>
            <p:nvPr/>
          </p:nvSpPr>
          <p:spPr bwMode="auto">
            <a:xfrm>
              <a:off x="2928" y="2544"/>
              <a:ext cx="768" cy="0"/>
            </a:xfrm>
            <a:prstGeom prst="line">
              <a:avLst/>
            </a:prstGeom>
            <a:noFill/>
            <a:ln w="38100">
              <a:solidFill>
                <a:srgbClr val="262464"/>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11648" name="Line 32">
              <a:extLst>
                <a:ext uri="{FF2B5EF4-FFF2-40B4-BE49-F238E27FC236}">
                  <a16:creationId xmlns:a16="http://schemas.microsoft.com/office/drawing/2014/main" id="{F5FFA9A5-AF69-8433-AF54-933F4E0E46E0}"/>
                </a:ext>
              </a:extLst>
            </p:cNvPr>
            <p:cNvSpPr>
              <a:spLocks noChangeShapeType="1"/>
            </p:cNvSpPr>
            <p:nvPr/>
          </p:nvSpPr>
          <p:spPr bwMode="auto">
            <a:xfrm>
              <a:off x="2928" y="3120"/>
              <a:ext cx="768" cy="0"/>
            </a:xfrm>
            <a:prstGeom prst="line">
              <a:avLst/>
            </a:prstGeom>
            <a:noFill/>
            <a:ln w="38100">
              <a:solidFill>
                <a:srgbClr val="262464"/>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11649" name="Text Box 33">
              <a:extLst>
                <a:ext uri="{FF2B5EF4-FFF2-40B4-BE49-F238E27FC236}">
                  <a16:creationId xmlns:a16="http://schemas.microsoft.com/office/drawing/2014/main" id="{D4F225D1-9220-13CA-850F-1D18A217BC62}"/>
                </a:ext>
              </a:extLst>
            </p:cNvPr>
            <p:cNvSpPr txBox="1">
              <a:spLocks noChangeArrowheads="1"/>
            </p:cNvSpPr>
            <p:nvPr/>
          </p:nvSpPr>
          <p:spPr bwMode="auto">
            <a:xfrm>
              <a:off x="2249" y="2640"/>
              <a:ext cx="631"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GB" altLang="en-US" sz="1400">
                  <a:latin typeface="Arial" panose="020B0604020202020204" pitchFamily="34" charset="0"/>
                </a:rPr>
                <a:t>immediate</a:t>
              </a:r>
            </a:p>
          </p:txBody>
        </p:sp>
        <p:sp>
          <p:nvSpPr>
            <p:cNvPr id="111650" name="Text Box 34">
              <a:extLst>
                <a:ext uri="{FF2B5EF4-FFF2-40B4-BE49-F238E27FC236}">
                  <a16:creationId xmlns:a16="http://schemas.microsoft.com/office/drawing/2014/main" id="{27BD1EC2-CA0E-90D6-3879-BA11A6D12010}"/>
                </a:ext>
              </a:extLst>
            </p:cNvPr>
            <p:cNvSpPr txBox="1">
              <a:spLocks noChangeArrowheads="1"/>
            </p:cNvSpPr>
            <p:nvPr/>
          </p:nvSpPr>
          <p:spPr bwMode="auto">
            <a:xfrm>
              <a:off x="2280" y="2832"/>
              <a:ext cx="569"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GB" altLang="en-US" sz="1400">
                  <a:latin typeface="Arial" panose="020B0604020202020204" pitchFamily="34" charset="0"/>
                </a:rPr>
                <a:t>feedback</a:t>
              </a:r>
            </a:p>
          </p:txBody>
        </p:sp>
        <p:sp>
          <p:nvSpPr>
            <p:cNvPr id="111651" name="Text Box 35">
              <a:extLst>
                <a:ext uri="{FF2B5EF4-FFF2-40B4-BE49-F238E27FC236}">
                  <a16:creationId xmlns:a16="http://schemas.microsoft.com/office/drawing/2014/main" id="{46E30975-0985-2AC0-94A3-214B6AD19D88}"/>
                </a:ext>
              </a:extLst>
            </p:cNvPr>
            <p:cNvSpPr txBox="1">
              <a:spLocks noChangeArrowheads="1"/>
            </p:cNvSpPr>
            <p:nvPr/>
          </p:nvSpPr>
          <p:spPr bwMode="auto">
            <a:xfrm>
              <a:off x="2208" y="3120"/>
              <a:ext cx="69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GB" altLang="en-US" sz="1400">
                  <a:latin typeface="Arial" panose="020B0604020202020204" pitchFamily="34" charset="0"/>
                </a:rPr>
                <a:t>instruments</a:t>
              </a: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3581490C-A368-6D1C-F22D-6D22B19E2BBD}"/>
              </a:ext>
            </a:extLst>
          </p:cNvPr>
          <p:cNvSpPr>
            <a:spLocks noGrp="1" noChangeArrowheads="1"/>
          </p:cNvSpPr>
          <p:nvPr>
            <p:ph type="ctrTitle"/>
          </p:nvPr>
        </p:nvSpPr>
        <p:spPr>
          <a:xfrm>
            <a:off x="685800" y="2286000"/>
            <a:ext cx="7772400" cy="1143000"/>
          </a:xfrm>
        </p:spPr>
        <p:txBody>
          <a:bodyPr anchor="ctr"/>
          <a:lstStyle/>
          <a:p>
            <a:r>
              <a:rPr lang="en-GB" altLang="en-US" sz="3600"/>
              <a:t>interaction styles</a:t>
            </a:r>
          </a:p>
        </p:txBody>
      </p:sp>
      <p:sp>
        <p:nvSpPr>
          <p:cNvPr id="113667" name="Rectangle 3">
            <a:extLst>
              <a:ext uri="{FF2B5EF4-FFF2-40B4-BE49-F238E27FC236}">
                <a16:creationId xmlns:a16="http://schemas.microsoft.com/office/drawing/2014/main" id="{9D2A78C7-3CB6-C206-18FC-3025218F9CD8}"/>
              </a:ext>
            </a:extLst>
          </p:cNvPr>
          <p:cNvSpPr>
            <a:spLocks noGrp="1" noChangeArrowheads="1"/>
          </p:cNvSpPr>
          <p:nvPr>
            <p:ph type="subTitle" idx="1"/>
          </p:nvPr>
        </p:nvSpPr>
        <p:spPr>
          <a:xfrm>
            <a:off x="1371600" y="3886200"/>
            <a:ext cx="6400800" cy="1752600"/>
          </a:xfrm>
        </p:spPr>
        <p:txBody>
          <a:bodyPr/>
          <a:lstStyle/>
          <a:p>
            <a:r>
              <a:rPr lang="en-GB" altLang="en-US" sz="2800"/>
              <a:t>dialogue … computer and user</a:t>
            </a:r>
          </a:p>
          <a:p>
            <a:endParaRPr lang="en-GB" altLang="en-US" sz="1400"/>
          </a:p>
          <a:p>
            <a:r>
              <a:rPr lang="en-GB" altLang="en-US" sz="2800"/>
              <a:t>distinct styles of interaction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80375B9A-5EA5-1885-6B57-96325A2050B3}"/>
              </a:ext>
            </a:extLst>
          </p:cNvPr>
          <p:cNvSpPr>
            <a:spLocks noGrp="1" noChangeArrowheads="1"/>
          </p:cNvSpPr>
          <p:nvPr>
            <p:ph type="title"/>
          </p:nvPr>
        </p:nvSpPr>
        <p:spPr/>
        <p:txBody>
          <a:bodyPr/>
          <a:lstStyle/>
          <a:p>
            <a:r>
              <a:rPr lang="en-GB" altLang="en-US"/>
              <a:t>Common interaction styles</a:t>
            </a:r>
          </a:p>
        </p:txBody>
      </p:sp>
      <p:sp>
        <p:nvSpPr>
          <p:cNvPr id="80899" name="Rectangle 3">
            <a:extLst>
              <a:ext uri="{FF2B5EF4-FFF2-40B4-BE49-F238E27FC236}">
                <a16:creationId xmlns:a16="http://schemas.microsoft.com/office/drawing/2014/main" id="{51D2849D-7F13-7D7F-45BB-7F04FF7FC8C3}"/>
              </a:ext>
            </a:extLst>
          </p:cNvPr>
          <p:cNvSpPr>
            <a:spLocks noGrp="1" noChangeArrowheads="1"/>
          </p:cNvSpPr>
          <p:nvPr>
            <p:ph type="body" idx="1"/>
          </p:nvPr>
        </p:nvSpPr>
        <p:spPr/>
        <p:txBody>
          <a:bodyPr/>
          <a:lstStyle/>
          <a:p>
            <a:pPr>
              <a:lnSpc>
                <a:spcPct val="90000"/>
              </a:lnSpc>
            </a:pPr>
            <a:r>
              <a:rPr lang="en-GB" altLang="en-US"/>
              <a:t>command line interface</a:t>
            </a:r>
          </a:p>
          <a:p>
            <a:pPr>
              <a:lnSpc>
                <a:spcPct val="90000"/>
              </a:lnSpc>
            </a:pPr>
            <a:r>
              <a:rPr lang="en-GB" altLang="en-US"/>
              <a:t>menus</a:t>
            </a:r>
          </a:p>
          <a:p>
            <a:pPr>
              <a:lnSpc>
                <a:spcPct val="90000"/>
              </a:lnSpc>
            </a:pPr>
            <a:r>
              <a:rPr lang="en-GB" altLang="en-US"/>
              <a:t>natural language</a:t>
            </a:r>
          </a:p>
          <a:p>
            <a:pPr>
              <a:lnSpc>
                <a:spcPct val="90000"/>
              </a:lnSpc>
            </a:pPr>
            <a:r>
              <a:rPr lang="en-GB" altLang="en-US"/>
              <a:t>question/answer and query dialogue</a:t>
            </a:r>
          </a:p>
          <a:p>
            <a:pPr>
              <a:lnSpc>
                <a:spcPct val="90000"/>
              </a:lnSpc>
            </a:pPr>
            <a:r>
              <a:rPr lang="en-GB" altLang="en-US"/>
              <a:t>form-fills and spreadsheets</a:t>
            </a:r>
          </a:p>
          <a:p>
            <a:pPr>
              <a:lnSpc>
                <a:spcPct val="90000"/>
              </a:lnSpc>
            </a:pPr>
            <a:r>
              <a:rPr lang="en-GB" altLang="en-US"/>
              <a:t>WIMP</a:t>
            </a:r>
          </a:p>
          <a:p>
            <a:pPr>
              <a:lnSpc>
                <a:spcPct val="90000"/>
              </a:lnSpc>
            </a:pPr>
            <a:r>
              <a:rPr lang="en-GB" altLang="en-US"/>
              <a:t>point and click</a:t>
            </a:r>
          </a:p>
          <a:p>
            <a:pPr>
              <a:lnSpc>
                <a:spcPct val="90000"/>
              </a:lnSpc>
            </a:pPr>
            <a:r>
              <a:rPr lang="en-GB" altLang="en-US"/>
              <a:t>three–dimensional interfaces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3CC01C00-43AC-AD67-2CC4-1C1C735C749F}"/>
              </a:ext>
            </a:extLst>
          </p:cNvPr>
          <p:cNvSpPr>
            <a:spLocks noGrp="1" noChangeArrowheads="1"/>
          </p:cNvSpPr>
          <p:nvPr>
            <p:ph type="title"/>
          </p:nvPr>
        </p:nvSpPr>
        <p:spPr/>
        <p:txBody>
          <a:bodyPr/>
          <a:lstStyle/>
          <a:p>
            <a:r>
              <a:rPr lang="en-GB" altLang="en-US"/>
              <a:t>Command line interface</a:t>
            </a:r>
          </a:p>
        </p:txBody>
      </p:sp>
      <p:sp>
        <p:nvSpPr>
          <p:cNvPr id="81923" name="Rectangle 3">
            <a:extLst>
              <a:ext uri="{FF2B5EF4-FFF2-40B4-BE49-F238E27FC236}">
                <a16:creationId xmlns:a16="http://schemas.microsoft.com/office/drawing/2014/main" id="{8F4842DF-789F-2121-DB79-A4C4DA1E8A1B}"/>
              </a:ext>
            </a:extLst>
          </p:cNvPr>
          <p:cNvSpPr>
            <a:spLocks noGrp="1" noChangeArrowheads="1"/>
          </p:cNvSpPr>
          <p:nvPr>
            <p:ph type="body" idx="1"/>
          </p:nvPr>
        </p:nvSpPr>
        <p:spPr/>
        <p:txBody>
          <a:bodyPr/>
          <a:lstStyle/>
          <a:p>
            <a:pPr>
              <a:lnSpc>
                <a:spcPct val="90000"/>
              </a:lnSpc>
            </a:pPr>
            <a:r>
              <a:rPr lang="en-GB" altLang="en-US" sz="2400"/>
              <a:t>Way of expressing instructions to the computer directly</a:t>
            </a:r>
          </a:p>
          <a:p>
            <a:pPr lvl="1">
              <a:lnSpc>
                <a:spcPct val="90000"/>
              </a:lnSpc>
            </a:pPr>
            <a:r>
              <a:rPr lang="en-GB" altLang="en-US" sz="2000"/>
              <a:t>function keys, single characters, short abbreviations, whole words, or a combination</a:t>
            </a:r>
          </a:p>
          <a:p>
            <a:pPr>
              <a:lnSpc>
                <a:spcPct val="90000"/>
              </a:lnSpc>
            </a:pPr>
            <a:endParaRPr lang="en-GB" altLang="en-US" sz="1200"/>
          </a:p>
          <a:p>
            <a:pPr>
              <a:lnSpc>
                <a:spcPct val="90000"/>
              </a:lnSpc>
            </a:pPr>
            <a:r>
              <a:rPr lang="en-GB" altLang="en-US" sz="2400"/>
              <a:t>suitable for repetitive tasks</a:t>
            </a:r>
          </a:p>
          <a:p>
            <a:pPr>
              <a:lnSpc>
                <a:spcPct val="90000"/>
              </a:lnSpc>
            </a:pPr>
            <a:r>
              <a:rPr lang="en-GB" altLang="en-US" sz="2400"/>
              <a:t>better for expert users than novices</a:t>
            </a:r>
          </a:p>
          <a:p>
            <a:pPr>
              <a:lnSpc>
                <a:spcPct val="90000"/>
              </a:lnSpc>
            </a:pPr>
            <a:r>
              <a:rPr lang="en-GB" altLang="en-US" sz="2400"/>
              <a:t>offers direct access to system functionality</a:t>
            </a:r>
          </a:p>
          <a:p>
            <a:pPr>
              <a:lnSpc>
                <a:spcPct val="90000"/>
              </a:lnSpc>
            </a:pPr>
            <a:r>
              <a:rPr lang="en-GB" altLang="en-US" sz="2400"/>
              <a:t>command names/abbreviations should  be meaningful!</a:t>
            </a:r>
          </a:p>
          <a:p>
            <a:pPr>
              <a:lnSpc>
                <a:spcPct val="90000"/>
              </a:lnSpc>
            </a:pPr>
            <a:endParaRPr lang="en-GB" altLang="en-US" sz="1200"/>
          </a:p>
          <a:p>
            <a:pPr>
              <a:lnSpc>
                <a:spcPct val="90000"/>
              </a:lnSpc>
              <a:buFontTx/>
              <a:buNone/>
            </a:pPr>
            <a:r>
              <a:rPr lang="en-GB" altLang="en-US" sz="2400"/>
              <a:t>Typical example: the Unix system</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F4683ABC-CE30-AD91-B1EC-59792EAF26C8}"/>
              </a:ext>
            </a:extLst>
          </p:cNvPr>
          <p:cNvSpPr>
            <a:spLocks noGrp="1" noChangeArrowheads="1"/>
          </p:cNvSpPr>
          <p:nvPr>
            <p:ph type="title"/>
          </p:nvPr>
        </p:nvSpPr>
        <p:spPr/>
        <p:txBody>
          <a:bodyPr/>
          <a:lstStyle/>
          <a:p>
            <a:r>
              <a:rPr lang="en-GB" altLang="en-US"/>
              <a:t>Menus</a:t>
            </a:r>
          </a:p>
        </p:txBody>
      </p:sp>
      <p:sp>
        <p:nvSpPr>
          <p:cNvPr id="82947" name="Rectangle 3">
            <a:extLst>
              <a:ext uri="{FF2B5EF4-FFF2-40B4-BE49-F238E27FC236}">
                <a16:creationId xmlns:a16="http://schemas.microsoft.com/office/drawing/2014/main" id="{DE7467A9-CC2E-D7F6-4CD5-5EFAB3EBAA47}"/>
              </a:ext>
            </a:extLst>
          </p:cNvPr>
          <p:cNvSpPr>
            <a:spLocks noGrp="1" noChangeArrowheads="1"/>
          </p:cNvSpPr>
          <p:nvPr>
            <p:ph type="body" idx="1"/>
          </p:nvPr>
        </p:nvSpPr>
        <p:spPr/>
        <p:txBody>
          <a:bodyPr/>
          <a:lstStyle/>
          <a:p>
            <a:pPr>
              <a:lnSpc>
                <a:spcPct val="90000"/>
              </a:lnSpc>
            </a:pPr>
            <a:r>
              <a:rPr lang="en-GB" altLang="en-US" sz="2400"/>
              <a:t>Set of options displayed on the screen</a:t>
            </a:r>
          </a:p>
          <a:p>
            <a:pPr>
              <a:lnSpc>
                <a:spcPct val="90000"/>
              </a:lnSpc>
            </a:pPr>
            <a:r>
              <a:rPr lang="en-GB" altLang="en-US" sz="2400"/>
              <a:t>Options visible</a:t>
            </a:r>
          </a:p>
          <a:p>
            <a:pPr lvl="1">
              <a:lnSpc>
                <a:spcPct val="90000"/>
              </a:lnSpc>
            </a:pPr>
            <a:r>
              <a:rPr lang="en-GB" altLang="en-US" sz="2000"/>
              <a:t>less recall - easier to use</a:t>
            </a:r>
          </a:p>
          <a:p>
            <a:pPr lvl="1">
              <a:lnSpc>
                <a:spcPct val="90000"/>
              </a:lnSpc>
            </a:pPr>
            <a:r>
              <a:rPr lang="en-GB" altLang="en-US" sz="2000"/>
              <a:t>rely on recognition so names should be meaningful</a:t>
            </a:r>
          </a:p>
          <a:p>
            <a:pPr>
              <a:lnSpc>
                <a:spcPct val="90000"/>
              </a:lnSpc>
            </a:pPr>
            <a:r>
              <a:rPr lang="en-GB" altLang="en-US" sz="2400"/>
              <a:t>Selection by: </a:t>
            </a:r>
          </a:p>
          <a:p>
            <a:pPr lvl="1">
              <a:lnSpc>
                <a:spcPct val="90000"/>
              </a:lnSpc>
            </a:pPr>
            <a:r>
              <a:rPr lang="en-GB" altLang="en-US" sz="2000"/>
              <a:t>numbers, letters, arrow keys, mouse</a:t>
            </a:r>
          </a:p>
          <a:p>
            <a:pPr lvl="1">
              <a:lnSpc>
                <a:spcPct val="90000"/>
              </a:lnSpc>
            </a:pPr>
            <a:r>
              <a:rPr lang="en-GB" altLang="en-US" sz="2000"/>
              <a:t>combination  (e.g. mouse plus accelerators)</a:t>
            </a:r>
          </a:p>
          <a:p>
            <a:pPr>
              <a:lnSpc>
                <a:spcPct val="90000"/>
              </a:lnSpc>
            </a:pPr>
            <a:r>
              <a:rPr lang="en-GB" altLang="en-US" sz="2400"/>
              <a:t>Often options hierarchically grouped</a:t>
            </a:r>
          </a:p>
          <a:p>
            <a:pPr lvl="1">
              <a:lnSpc>
                <a:spcPct val="90000"/>
              </a:lnSpc>
            </a:pPr>
            <a:r>
              <a:rPr lang="en-GB" altLang="en-US" sz="2000"/>
              <a:t>sensible grouping is needed</a:t>
            </a:r>
          </a:p>
          <a:p>
            <a:pPr>
              <a:lnSpc>
                <a:spcPct val="90000"/>
              </a:lnSpc>
            </a:pPr>
            <a:r>
              <a:rPr lang="en-GB" altLang="en-US" sz="2400"/>
              <a:t>Restricted form of full WIMP system </a:t>
            </a:r>
          </a:p>
          <a:p>
            <a:pPr>
              <a:lnSpc>
                <a:spcPct val="90000"/>
              </a:lnSpc>
            </a:pPr>
            <a:endParaRPr lang="en-GB" altLang="en-US" sz="24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6C4914B1-6387-DEBD-F15A-3310411F5589}"/>
              </a:ext>
            </a:extLst>
          </p:cNvPr>
          <p:cNvSpPr>
            <a:spLocks noGrp="1" noChangeArrowheads="1"/>
          </p:cNvSpPr>
          <p:nvPr>
            <p:ph type="title"/>
          </p:nvPr>
        </p:nvSpPr>
        <p:spPr/>
        <p:txBody>
          <a:bodyPr/>
          <a:lstStyle/>
          <a:p>
            <a:r>
              <a:rPr lang="en-GB" altLang="en-US"/>
              <a:t>Natural language</a:t>
            </a:r>
          </a:p>
        </p:txBody>
      </p:sp>
      <p:sp>
        <p:nvSpPr>
          <p:cNvPr id="83971" name="Rectangle 3">
            <a:extLst>
              <a:ext uri="{FF2B5EF4-FFF2-40B4-BE49-F238E27FC236}">
                <a16:creationId xmlns:a16="http://schemas.microsoft.com/office/drawing/2014/main" id="{6A719619-D9BE-5C42-D1E0-A64E908DAC2A}"/>
              </a:ext>
            </a:extLst>
          </p:cNvPr>
          <p:cNvSpPr>
            <a:spLocks noGrp="1" noChangeArrowheads="1"/>
          </p:cNvSpPr>
          <p:nvPr>
            <p:ph type="body" idx="1"/>
          </p:nvPr>
        </p:nvSpPr>
        <p:spPr/>
        <p:txBody>
          <a:bodyPr/>
          <a:lstStyle/>
          <a:p>
            <a:r>
              <a:rPr lang="en-GB" altLang="en-US" sz="2400"/>
              <a:t>Familiar to user</a:t>
            </a:r>
          </a:p>
          <a:p>
            <a:r>
              <a:rPr lang="en-GB" altLang="en-US" sz="2400"/>
              <a:t>speech recognition or typed natural language</a:t>
            </a:r>
          </a:p>
          <a:p>
            <a:r>
              <a:rPr lang="en-GB" altLang="en-US" sz="2400"/>
              <a:t>Problems</a:t>
            </a:r>
          </a:p>
          <a:p>
            <a:pPr lvl="1"/>
            <a:r>
              <a:rPr lang="en-GB" altLang="en-US" sz="2000"/>
              <a:t>vague</a:t>
            </a:r>
          </a:p>
          <a:p>
            <a:pPr lvl="1"/>
            <a:r>
              <a:rPr lang="en-GB" altLang="en-US" sz="2000"/>
              <a:t>ambiguous</a:t>
            </a:r>
          </a:p>
          <a:p>
            <a:pPr lvl="1"/>
            <a:r>
              <a:rPr lang="en-GB" altLang="en-US" sz="2000"/>
              <a:t>hard to do well!</a:t>
            </a:r>
          </a:p>
          <a:p>
            <a:r>
              <a:rPr lang="en-GB" altLang="en-US" sz="2400"/>
              <a:t>Solutions</a:t>
            </a:r>
          </a:p>
          <a:p>
            <a:pPr lvl="1"/>
            <a:r>
              <a:rPr lang="en-GB" altLang="en-US" sz="2000"/>
              <a:t>try to understand a subset</a:t>
            </a:r>
          </a:p>
          <a:p>
            <a:pPr lvl="1"/>
            <a:r>
              <a:rPr lang="en-GB" altLang="en-US" sz="2000"/>
              <a:t>pick on key words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FAC1042B-8FF9-142C-5826-C9CE0C8C0977}"/>
              </a:ext>
            </a:extLst>
          </p:cNvPr>
          <p:cNvSpPr>
            <a:spLocks noGrp="1" noChangeArrowheads="1"/>
          </p:cNvSpPr>
          <p:nvPr>
            <p:ph type="title"/>
          </p:nvPr>
        </p:nvSpPr>
        <p:spPr/>
        <p:txBody>
          <a:bodyPr/>
          <a:lstStyle/>
          <a:p>
            <a:r>
              <a:rPr lang="en-GB" altLang="en-US"/>
              <a:t>Query interfaces</a:t>
            </a:r>
          </a:p>
        </p:txBody>
      </p:sp>
      <p:sp>
        <p:nvSpPr>
          <p:cNvPr id="84995" name="Rectangle 3">
            <a:extLst>
              <a:ext uri="{FF2B5EF4-FFF2-40B4-BE49-F238E27FC236}">
                <a16:creationId xmlns:a16="http://schemas.microsoft.com/office/drawing/2014/main" id="{10416424-A0EF-46BF-0E61-688D4BFCE0D4}"/>
              </a:ext>
            </a:extLst>
          </p:cNvPr>
          <p:cNvSpPr>
            <a:spLocks noGrp="1" noChangeArrowheads="1"/>
          </p:cNvSpPr>
          <p:nvPr>
            <p:ph type="body" idx="1"/>
          </p:nvPr>
        </p:nvSpPr>
        <p:spPr/>
        <p:txBody>
          <a:bodyPr/>
          <a:lstStyle/>
          <a:p>
            <a:r>
              <a:rPr lang="en-GB" altLang="en-US" sz="2400"/>
              <a:t>Question/answer interfaces</a:t>
            </a:r>
          </a:p>
          <a:p>
            <a:pPr lvl="1"/>
            <a:r>
              <a:rPr lang="en-GB" altLang="en-US" sz="2000"/>
              <a:t>user led through interaction via series of questions</a:t>
            </a:r>
          </a:p>
          <a:p>
            <a:pPr lvl="1"/>
            <a:r>
              <a:rPr lang="en-GB" altLang="en-US" sz="2000"/>
              <a:t>suitable for novice users but restricted functionality</a:t>
            </a:r>
          </a:p>
          <a:p>
            <a:pPr lvl="1"/>
            <a:r>
              <a:rPr lang="en-GB" altLang="en-US" sz="2000"/>
              <a:t>often used in information systems</a:t>
            </a:r>
          </a:p>
          <a:p>
            <a:endParaRPr lang="en-GB" altLang="en-US" sz="2400"/>
          </a:p>
          <a:p>
            <a:r>
              <a:rPr lang="en-GB" altLang="en-US" sz="2400"/>
              <a:t>Query languages (e.g. SQL)</a:t>
            </a:r>
          </a:p>
          <a:p>
            <a:pPr lvl="1"/>
            <a:r>
              <a:rPr lang="en-GB" altLang="en-US" sz="2000"/>
              <a:t>used to retrieve information from database</a:t>
            </a:r>
          </a:p>
          <a:p>
            <a:pPr lvl="1"/>
            <a:r>
              <a:rPr lang="en-GB" altLang="en-US" sz="2000"/>
              <a:t>requires understanding of database structure and language syntax, hence requires some expertise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5CF36038-4F62-C86F-FCA4-1FED8F518472}"/>
              </a:ext>
            </a:extLst>
          </p:cNvPr>
          <p:cNvSpPr>
            <a:spLocks noGrp="1" noChangeArrowheads="1"/>
          </p:cNvSpPr>
          <p:nvPr>
            <p:ph type="title"/>
          </p:nvPr>
        </p:nvSpPr>
        <p:spPr/>
        <p:txBody>
          <a:bodyPr/>
          <a:lstStyle/>
          <a:p>
            <a:r>
              <a:rPr lang="en-GB" altLang="en-US"/>
              <a:t>Form-fills</a:t>
            </a:r>
          </a:p>
        </p:txBody>
      </p:sp>
      <p:sp>
        <p:nvSpPr>
          <p:cNvPr id="86019" name="Rectangle 3">
            <a:extLst>
              <a:ext uri="{FF2B5EF4-FFF2-40B4-BE49-F238E27FC236}">
                <a16:creationId xmlns:a16="http://schemas.microsoft.com/office/drawing/2014/main" id="{C5B683C3-57C7-E7AC-B1DE-203143AFD944}"/>
              </a:ext>
            </a:extLst>
          </p:cNvPr>
          <p:cNvSpPr>
            <a:spLocks noGrp="1" noChangeArrowheads="1"/>
          </p:cNvSpPr>
          <p:nvPr>
            <p:ph type="body" idx="1"/>
          </p:nvPr>
        </p:nvSpPr>
        <p:spPr/>
        <p:txBody>
          <a:bodyPr/>
          <a:lstStyle/>
          <a:p>
            <a:r>
              <a:rPr lang="en-GB" altLang="en-US" sz="2400"/>
              <a:t>Primarily for data entry or data retrieval</a:t>
            </a:r>
          </a:p>
          <a:p>
            <a:r>
              <a:rPr lang="en-GB" altLang="en-US" sz="2400"/>
              <a:t>Screen like paper form.</a:t>
            </a:r>
          </a:p>
          <a:p>
            <a:r>
              <a:rPr lang="en-GB" altLang="en-US" sz="2400"/>
              <a:t>Data put in relevant place</a:t>
            </a:r>
            <a:endParaRPr lang="en-GB" altLang="en-US" sz="1200"/>
          </a:p>
          <a:p>
            <a:r>
              <a:rPr lang="en-GB" altLang="en-US" sz="2400"/>
              <a:t>Requires</a:t>
            </a:r>
          </a:p>
          <a:p>
            <a:pPr lvl="1"/>
            <a:r>
              <a:rPr lang="en-GB" altLang="en-US" sz="2000"/>
              <a:t>good design</a:t>
            </a:r>
          </a:p>
          <a:p>
            <a:pPr lvl="1"/>
            <a:r>
              <a:rPr lang="en-GB" altLang="en-US" sz="2000"/>
              <a:t>obvious correction</a:t>
            </a:r>
            <a:br>
              <a:rPr lang="en-GB" altLang="en-US" sz="2000"/>
            </a:br>
            <a:r>
              <a:rPr lang="en-GB" altLang="en-US" sz="2000"/>
              <a:t>facilities</a:t>
            </a:r>
          </a:p>
        </p:txBody>
      </p:sp>
      <p:pic>
        <p:nvPicPr>
          <p:cNvPr id="86021" name="Picture 5">
            <a:extLst>
              <a:ext uri="{FF2B5EF4-FFF2-40B4-BE49-F238E27FC236}">
                <a16:creationId xmlns:a16="http://schemas.microsoft.com/office/drawing/2014/main" id="{46E1E306-24FF-D638-79FC-1F69924E7F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3546475"/>
            <a:ext cx="4162425" cy="3024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1FA26AE6-013A-FF73-BA77-490E81110221}"/>
              </a:ext>
            </a:extLst>
          </p:cNvPr>
          <p:cNvSpPr>
            <a:spLocks noGrp="1" noChangeArrowheads="1"/>
          </p:cNvSpPr>
          <p:nvPr>
            <p:ph type="title"/>
          </p:nvPr>
        </p:nvSpPr>
        <p:spPr/>
        <p:txBody>
          <a:bodyPr/>
          <a:lstStyle/>
          <a:p>
            <a:r>
              <a:rPr lang="en-GB" altLang="en-US"/>
              <a:t>Spreadsheets</a:t>
            </a:r>
          </a:p>
        </p:txBody>
      </p:sp>
      <p:sp>
        <p:nvSpPr>
          <p:cNvPr id="87043" name="Rectangle 3">
            <a:extLst>
              <a:ext uri="{FF2B5EF4-FFF2-40B4-BE49-F238E27FC236}">
                <a16:creationId xmlns:a16="http://schemas.microsoft.com/office/drawing/2014/main" id="{BE608109-CE7D-16BB-3759-3DEA0937C1E9}"/>
              </a:ext>
            </a:extLst>
          </p:cNvPr>
          <p:cNvSpPr>
            <a:spLocks noGrp="1" noChangeArrowheads="1"/>
          </p:cNvSpPr>
          <p:nvPr>
            <p:ph type="body" idx="1"/>
          </p:nvPr>
        </p:nvSpPr>
        <p:spPr/>
        <p:txBody>
          <a:bodyPr/>
          <a:lstStyle/>
          <a:p>
            <a:r>
              <a:rPr lang="en-GB" altLang="en-US"/>
              <a:t>first spreadsheet VISICALC, followed by Lotus 1-2-3</a:t>
            </a:r>
            <a:br>
              <a:rPr lang="en-GB" altLang="en-US"/>
            </a:br>
            <a:r>
              <a:rPr lang="en-GB" altLang="en-US"/>
              <a:t>MS Excel most common today</a:t>
            </a:r>
          </a:p>
          <a:p>
            <a:r>
              <a:rPr lang="en-GB" altLang="en-US"/>
              <a:t>sophisticated variation of form-filling.</a:t>
            </a:r>
          </a:p>
          <a:p>
            <a:pPr lvl="1"/>
            <a:r>
              <a:rPr lang="en-GB" altLang="en-US"/>
              <a:t>grid of cells contain a value or a formula</a:t>
            </a:r>
          </a:p>
          <a:p>
            <a:pPr lvl="1"/>
            <a:r>
              <a:rPr lang="en-GB" altLang="en-US"/>
              <a:t>formula can involve values of other cells</a:t>
            </a:r>
            <a:br>
              <a:rPr lang="en-GB" altLang="en-US"/>
            </a:br>
            <a:r>
              <a:rPr lang="en-GB" altLang="en-US" sz="2000"/>
              <a:t>		e.g. sum of all cells in this column</a:t>
            </a:r>
            <a:endParaRPr lang="en-GB" altLang="en-US"/>
          </a:p>
          <a:p>
            <a:pPr lvl="1"/>
            <a:r>
              <a:rPr lang="en-GB" altLang="en-US"/>
              <a:t>user can enter and alter data spreadsheet maintains consistency</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B7895DDB-68DA-F4F5-355D-BD30A304555C}"/>
              </a:ext>
            </a:extLst>
          </p:cNvPr>
          <p:cNvSpPr>
            <a:spLocks noGrp="1" noChangeArrowheads="1"/>
          </p:cNvSpPr>
          <p:nvPr>
            <p:ph type="title"/>
          </p:nvPr>
        </p:nvSpPr>
        <p:spPr/>
        <p:txBody>
          <a:bodyPr/>
          <a:lstStyle/>
          <a:p>
            <a:r>
              <a:rPr lang="en-GB" altLang="en-US"/>
              <a:t>WIMP Interface</a:t>
            </a:r>
          </a:p>
        </p:txBody>
      </p:sp>
      <p:sp>
        <p:nvSpPr>
          <p:cNvPr id="88067" name="Rectangle 3">
            <a:extLst>
              <a:ext uri="{FF2B5EF4-FFF2-40B4-BE49-F238E27FC236}">
                <a16:creationId xmlns:a16="http://schemas.microsoft.com/office/drawing/2014/main" id="{AE5338CE-FDB1-902D-B558-19BFAE38C9CF}"/>
              </a:ext>
            </a:extLst>
          </p:cNvPr>
          <p:cNvSpPr>
            <a:spLocks noGrp="1" noChangeArrowheads="1"/>
          </p:cNvSpPr>
          <p:nvPr>
            <p:ph type="body" idx="1"/>
          </p:nvPr>
        </p:nvSpPr>
        <p:spPr/>
        <p:txBody>
          <a:bodyPr/>
          <a:lstStyle/>
          <a:p>
            <a:pPr marL="376238" indent="-376238">
              <a:lnSpc>
                <a:spcPct val="90000"/>
              </a:lnSpc>
              <a:buFontTx/>
              <a:buChar char=" "/>
              <a:tabLst>
                <a:tab pos="952500" algn="l"/>
                <a:tab pos="1520825" algn="l"/>
                <a:tab pos="2089150" algn="l"/>
                <a:tab pos="2673350" algn="l"/>
              </a:tabLst>
            </a:pPr>
            <a:r>
              <a:rPr lang="en-GB" altLang="en-US"/>
              <a:t>	W</a:t>
            </a:r>
            <a:r>
              <a:rPr lang="en-GB" altLang="en-US" sz="2400"/>
              <a:t>indows</a:t>
            </a:r>
            <a:endParaRPr lang="en-GB" altLang="en-US"/>
          </a:p>
          <a:p>
            <a:pPr marL="376238" indent="-376238">
              <a:lnSpc>
                <a:spcPct val="90000"/>
              </a:lnSpc>
              <a:buFontTx/>
              <a:buChar char=" "/>
              <a:tabLst>
                <a:tab pos="952500" algn="l"/>
                <a:tab pos="1520825" algn="l"/>
                <a:tab pos="2089150" algn="l"/>
                <a:tab pos="2673350" algn="l"/>
              </a:tabLst>
            </a:pPr>
            <a:r>
              <a:rPr lang="en-GB" altLang="en-US"/>
              <a:t>		I</a:t>
            </a:r>
            <a:r>
              <a:rPr lang="en-GB" altLang="en-US" sz="2400"/>
              <a:t>cons</a:t>
            </a:r>
            <a:endParaRPr lang="en-GB" altLang="en-US"/>
          </a:p>
          <a:p>
            <a:pPr marL="376238" indent="-376238">
              <a:lnSpc>
                <a:spcPct val="90000"/>
              </a:lnSpc>
              <a:buFontTx/>
              <a:buChar char=" "/>
              <a:tabLst>
                <a:tab pos="952500" algn="l"/>
                <a:tab pos="1520825" algn="l"/>
                <a:tab pos="2089150" algn="l"/>
                <a:tab pos="2673350" algn="l"/>
              </a:tabLst>
            </a:pPr>
            <a:r>
              <a:rPr lang="en-GB" altLang="en-US"/>
              <a:t>			M</a:t>
            </a:r>
            <a:r>
              <a:rPr lang="en-GB" altLang="en-US" sz="2400"/>
              <a:t>enus</a:t>
            </a:r>
            <a:endParaRPr lang="en-GB" altLang="en-US"/>
          </a:p>
          <a:p>
            <a:pPr marL="376238" indent="-376238">
              <a:lnSpc>
                <a:spcPct val="90000"/>
              </a:lnSpc>
              <a:buFontTx/>
              <a:buChar char=" "/>
              <a:tabLst>
                <a:tab pos="952500" algn="l"/>
                <a:tab pos="1520825" algn="l"/>
                <a:tab pos="2089150" algn="l"/>
                <a:tab pos="2673350" algn="l"/>
              </a:tabLst>
            </a:pPr>
            <a:r>
              <a:rPr lang="en-GB" altLang="en-US"/>
              <a:t>				P</a:t>
            </a:r>
            <a:r>
              <a:rPr lang="en-GB" altLang="en-US" sz="2400"/>
              <a:t>ointers</a:t>
            </a:r>
            <a:endParaRPr lang="en-GB" altLang="en-US"/>
          </a:p>
          <a:p>
            <a:pPr marL="376238" indent="-376238">
              <a:lnSpc>
                <a:spcPct val="90000"/>
              </a:lnSpc>
              <a:tabLst>
                <a:tab pos="952500" algn="l"/>
                <a:tab pos="1520825" algn="l"/>
                <a:tab pos="2089150" algn="l"/>
                <a:tab pos="2673350" algn="l"/>
              </a:tabLst>
            </a:pPr>
            <a:endParaRPr lang="en-GB" altLang="en-US" sz="1200"/>
          </a:p>
          <a:p>
            <a:pPr marL="376238" indent="-376238">
              <a:lnSpc>
                <a:spcPct val="90000"/>
              </a:lnSpc>
              <a:buFontTx/>
              <a:buChar char=" "/>
              <a:tabLst>
                <a:tab pos="952500" algn="l"/>
                <a:tab pos="1520825" algn="l"/>
                <a:tab pos="2089150" algn="l"/>
                <a:tab pos="2673350" algn="l"/>
              </a:tabLst>
            </a:pPr>
            <a:r>
              <a:rPr lang="en-GB" altLang="en-US" sz="2000"/>
              <a:t>… or windows, icons, mice, and pull-down menus!</a:t>
            </a:r>
          </a:p>
          <a:p>
            <a:pPr marL="376238" indent="-376238">
              <a:lnSpc>
                <a:spcPct val="90000"/>
              </a:lnSpc>
              <a:tabLst>
                <a:tab pos="952500" algn="l"/>
                <a:tab pos="1520825" algn="l"/>
                <a:tab pos="2089150" algn="l"/>
                <a:tab pos="2673350" algn="l"/>
              </a:tabLst>
            </a:pPr>
            <a:endParaRPr lang="en-GB" altLang="en-US" sz="2400"/>
          </a:p>
          <a:p>
            <a:pPr marL="376238" indent="-376238">
              <a:lnSpc>
                <a:spcPct val="90000"/>
              </a:lnSpc>
              <a:tabLst>
                <a:tab pos="952500" algn="l"/>
                <a:tab pos="1520825" algn="l"/>
                <a:tab pos="2089150" algn="l"/>
                <a:tab pos="2673350" algn="l"/>
              </a:tabLst>
            </a:pPr>
            <a:r>
              <a:rPr lang="en-GB" altLang="en-US" sz="2400"/>
              <a:t>default style for majority of interactive computer systems, especially PCs and desktop machines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a:extLst>
              <a:ext uri="{FF2B5EF4-FFF2-40B4-BE49-F238E27FC236}">
                <a16:creationId xmlns:a16="http://schemas.microsoft.com/office/drawing/2014/main" id="{335504FC-5889-2B73-5F38-9FB13AB52067}"/>
              </a:ext>
            </a:extLst>
          </p:cNvPr>
          <p:cNvSpPr>
            <a:spLocks noGrp="1" noChangeArrowheads="1"/>
          </p:cNvSpPr>
          <p:nvPr>
            <p:ph type="title"/>
          </p:nvPr>
        </p:nvSpPr>
        <p:spPr/>
        <p:txBody>
          <a:bodyPr/>
          <a:lstStyle/>
          <a:p>
            <a:r>
              <a:rPr lang="en-GB" altLang="en-US"/>
              <a:t>Point and click interfaces</a:t>
            </a:r>
          </a:p>
        </p:txBody>
      </p:sp>
      <p:sp>
        <p:nvSpPr>
          <p:cNvPr id="114691" name="Rectangle 3">
            <a:extLst>
              <a:ext uri="{FF2B5EF4-FFF2-40B4-BE49-F238E27FC236}">
                <a16:creationId xmlns:a16="http://schemas.microsoft.com/office/drawing/2014/main" id="{F4692E75-E053-D227-E178-60DB86BB26E8}"/>
              </a:ext>
            </a:extLst>
          </p:cNvPr>
          <p:cNvSpPr>
            <a:spLocks noGrp="1" noChangeArrowheads="1"/>
          </p:cNvSpPr>
          <p:nvPr>
            <p:ph type="body" idx="1"/>
          </p:nvPr>
        </p:nvSpPr>
        <p:spPr/>
        <p:txBody>
          <a:bodyPr/>
          <a:lstStyle/>
          <a:p>
            <a:r>
              <a:rPr lang="en-GB" altLang="en-US"/>
              <a:t>used in ..</a:t>
            </a:r>
          </a:p>
          <a:p>
            <a:pPr lvl="1"/>
            <a:r>
              <a:rPr lang="en-GB" altLang="en-US"/>
              <a:t>multimedia</a:t>
            </a:r>
          </a:p>
          <a:p>
            <a:pPr lvl="1"/>
            <a:r>
              <a:rPr lang="en-GB" altLang="en-US"/>
              <a:t>web browsers</a:t>
            </a:r>
          </a:p>
          <a:p>
            <a:pPr lvl="1"/>
            <a:r>
              <a:rPr lang="en-GB" altLang="en-US"/>
              <a:t>hypertext</a:t>
            </a:r>
          </a:p>
          <a:p>
            <a:endParaRPr lang="en-GB" altLang="en-US" sz="1200"/>
          </a:p>
          <a:p>
            <a:r>
              <a:rPr lang="en-GB" altLang="en-US"/>
              <a:t>just click something!</a:t>
            </a:r>
          </a:p>
          <a:p>
            <a:pPr lvl="1"/>
            <a:r>
              <a:rPr lang="en-GB" altLang="en-US"/>
              <a:t>icons, text links or location on map</a:t>
            </a:r>
          </a:p>
          <a:p>
            <a:endParaRPr lang="en-GB" altLang="en-US" sz="1200"/>
          </a:p>
          <a:p>
            <a:r>
              <a:rPr lang="en-GB" altLang="en-US"/>
              <a:t>minimal typing</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a:extLst>
              <a:ext uri="{FF2B5EF4-FFF2-40B4-BE49-F238E27FC236}">
                <a16:creationId xmlns:a16="http://schemas.microsoft.com/office/drawing/2014/main" id="{DD8C0908-3F06-A814-4147-F31F8D40933C}"/>
              </a:ext>
            </a:extLst>
          </p:cNvPr>
          <p:cNvSpPr>
            <a:spLocks noGrp="1" noChangeArrowheads="1"/>
          </p:cNvSpPr>
          <p:nvPr>
            <p:ph type="title"/>
          </p:nvPr>
        </p:nvSpPr>
        <p:spPr/>
        <p:txBody>
          <a:bodyPr/>
          <a:lstStyle/>
          <a:p>
            <a:r>
              <a:rPr lang="en-GB" altLang="en-US"/>
              <a:t>Three dimensional interfaces</a:t>
            </a:r>
          </a:p>
        </p:txBody>
      </p:sp>
      <p:sp>
        <p:nvSpPr>
          <p:cNvPr id="116739" name="Rectangle 3">
            <a:extLst>
              <a:ext uri="{FF2B5EF4-FFF2-40B4-BE49-F238E27FC236}">
                <a16:creationId xmlns:a16="http://schemas.microsoft.com/office/drawing/2014/main" id="{805F17C3-424D-E4DB-A450-58379B495906}"/>
              </a:ext>
            </a:extLst>
          </p:cNvPr>
          <p:cNvSpPr>
            <a:spLocks noGrp="1" noChangeArrowheads="1"/>
          </p:cNvSpPr>
          <p:nvPr>
            <p:ph type="body" idx="1"/>
          </p:nvPr>
        </p:nvSpPr>
        <p:spPr/>
        <p:txBody>
          <a:bodyPr/>
          <a:lstStyle/>
          <a:p>
            <a:r>
              <a:rPr lang="en-GB" altLang="en-US" sz="2400"/>
              <a:t>virtual reality</a:t>
            </a:r>
          </a:p>
          <a:p>
            <a:r>
              <a:rPr lang="en-GB" altLang="en-US" sz="2400"/>
              <a:t>‘ordinary’ window systems</a:t>
            </a:r>
          </a:p>
          <a:p>
            <a:pPr lvl="1"/>
            <a:r>
              <a:rPr lang="en-GB" altLang="en-US" sz="2000"/>
              <a:t>highlighting</a:t>
            </a:r>
          </a:p>
          <a:p>
            <a:pPr lvl="1"/>
            <a:r>
              <a:rPr lang="en-GB" altLang="en-US" sz="2000"/>
              <a:t>visual affordance</a:t>
            </a:r>
          </a:p>
          <a:p>
            <a:pPr lvl="1"/>
            <a:r>
              <a:rPr lang="en-GB" altLang="en-US" sz="2000"/>
              <a:t>indiscriminate use</a:t>
            </a:r>
            <a:br>
              <a:rPr lang="en-GB" altLang="en-US" sz="2000"/>
            </a:br>
            <a:r>
              <a:rPr lang="en-GB" altLang="en-US" sz="2000"/>
              <a:t>just confusing!</a:t>
            </a:r>
          </a:p>
          <a:p>
            <a:r>
              <a:rPr lang="en-GB" altLang="en-US" sz="2400"/>
              <a:t>3D workspaces</a:t>
            </a:r>
          </a:p>
          <a:p>
            <a:pPr lvl="1"/>
            <a:r>
              <a:rPr lang="en-GB" altLang="en-US" sz="2000"/>
              <a:t>use for extra virtual space</a:t>
            </a:r>
          </a:p>
          <a:p>
            <a:pPr lvl="1"/>
            <a:r>
              <a:rPr lang="en-GB" altLang="en-US" sz="2000"/>
              <a:t>light and occlusion give depth</a:t>
            </a:r>
          </a:p>
          <a:p>
            <a:pPr lvl="1"/>
            <a:r>
              <a:rPr lang="en-GB" altLang="en-US" sz="2000"/>
              <a:t>distance effects</a:t>
            </a:r>
          </a:p>
        </p:txBody>
      </p:sp>
      <p:grpSp>
        <p:nvGrpSpPr>
          <p:cNvPr id="116740" name="Group 4">
            <a:extLst>
              <a:ext uri="{FF2B5EF4-FFF2-40B4-BE49-F238E27FC236}">
                <a16:creationId xmlns:a16="http://schemas.microsoft.com/office/drawing/2014/main" id="{A778442C-236B-5F1D-63F5-16ACC0F7E1D8}"/>
              </a:ext>
            </a:extLst>
          </p:cNvPr>
          <p:cNvGrpSpPr>
            <a:grpSpLocks noChangeAspect="1"/>
          </p:cNvGrpSpPr>
          <p:nvPr/>
        </p:nvGrpSpPr>
        <p:grpSpPr bwMode="auto">
          <a:xfrm>
            <a:off x="6492875" y="3516313"/>
            <a:ext cx="2054225" cy="912812"/>
            <a:chOff x="3648" y="2400"/>
            <a:chExt cx="1728" cy="768"/>
          </a:xfrm>
        </p:grpSpPr>
        <p:grpSp>
          <p:nvGrpSpPr>
            <p:cNvPr id="116741" name="Group 5">
              <a:extLst>
                <a:ext uri="{FF2B5EF4-FFF2-40B4-BE49-F238E27FC236}">
                  <a16:creationId xmlns:a16="http://schemas.microsoft.com/office/drawing/2014/main" id="{7E315118-D58E-1947-9C2C-4715B18B5FEE}"/>
                </a:ext>
              </a:extLst>
            </p:cNvPr>
            <p:cNvGrpSpPr>
              <a:grpSpLocks noChangeAspect="1"/>
            </p:cNvGrpSpPr>
            <p:nvPr/>
          </p:nvGrpSpPr>
          <p:grpSpPr bwMode="auto">
            <a:xfrm>
              <a:off x="4608" y="2400"/>
              <a:ext cx="768" cy="768"/>
              <a:chOff x="3168" y="2112"/>
              <a:chExt cx="768" cy="768"/>
            </a:xfrm>
          </p:grpSpPr>
          <p:sp>
            <p:nvSpPr>
              <p:cNvPr id="116742" name="AutoShape 6">
                <a:extLst>
                  <a:ext uri="{FF2B5EF4-FFF2-40B4-BE49-F238E27FC236}">
                    <a16:creationId xmlns:a16="http://schemas.microsoft.com/office/drawing/2014/main" id="{31A2D8C5-16F9-A058-D183-0DA5E82DBC8B}"/>
                  </a:ext>
                </a:extLst>
              </p:cNvPr>
              <p:cNvSpPr>
                <a:spLocks noChangeAspect="1" noChangeArrowheads="1"/>
              </p:cNvSpPr>
              <p:nvPr/>
            </p:nvSpPr>
            <p:spPr bwMode="auto">
              <a:xfrm flipV="1">
                <a:off x="3168" y="2112"/>
                <a:ext cx="768" cy="768"/>
              </a:xfrm>
              <a:prstGeom prst="rtTriangl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16743" name="AutoShape 7">
                <a:extLst>
                  <a:ext uri="{FF2B5EF4-FFF2-40B4-BE49-F238E27FC236}">
                    <a16:creationId xmlns:a16="http://schemas.microsoft.com/office/drawing/2014/main" id="{B6DCB394-2530-1C5D-18C1-59BEB2F6AB05}"/>
                  </a:ext>
                </a:extLst>
              </p:cNvPr>
              <p:cNvSpPr>
                <a:spLocks noChangeAspect="1" noChangeArrowheads="1"/>
              </p:cNvSpPr>
              <p:nvPr/>
            </p:nvSpPr>
            <p:spPr bwMode="auto">
              <a:xfrm flipH="1">
                <a:off x="3168" y="2112"/>
                <a:ext cx="768" cy="768"/>
              </a:xfrm>
              <a:prstGeom prst="rtTriangle">
                <a:avLst/>
              </a:prstGeom>
              <a:solidFill>
                <a:srgbClr val="4EA1DB"/>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16744" name="Line 8">
                <a:extLst>
                  <a:ext uri="{FF2B5EF4-FFF2-40B4-BE49-F238E27FC236}">
                    <a16:creationId xmlns:a16="http://schemas.microsoft.com/office/drawing/2014/main" id="{22AC00AD-B15A-DCD9-209E-E3192A1BA01D}"/>
                  </a:ext>
                </a:extLst>
              </p:cNvPr>
              <p:cNvSpPr>
                <a:spLocks noChangeAspect="1" noChangeShapeType="1"/>
              </p:cNvSpPr>
              <p:nvPr/>
            </p:nvSpPr>
            <p:spPr bwMode="auto">
              <a:xfrm>
                <a:off x="3168" y="2112"/>
                <a:ext cx="768" cy="76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nvGrpSpPr>
              <p:cNvPr id="116745" name="Group 9">
                <a:extLst>
                  <a:ext uri="{FF2B5EF4-FFF2-40B4-BE49-F238E27FC236}">
                    <a16:creationId xmlns:a16="http://schemas.microsoft.com/office/drawing/2014/main" id="{975007CF-5331-192D-3083-5B20435B5E64}"/>
                  </a:ext>
                </a:extLst>
              </p:cNvPr>
              <p:cNvGrpSpPr>
                <a:grpSpLocks noChangeAspect="1"/>
              </p:cNvGrpSpPr>
              <p:nvPr/>
            </p:nvGrpSpPr>
            <p:grpSpPr bwMode="auto">
              <a:xfrm>
                <a:off x="3264" y="2208"/>
                <a:ext cx="576" cy="576"/>
                <a:chOff x="1008" y="1536"/>
                <a:chExt cx="576" cy="576"/>
              </a:xfrm>
            </p:grpSpPr>
            <p:sp>
              <p:nvSpPr>
                <p:cNvPr id="116746" name="Rectangle 10">
                  <a:extLst>
                    <a:ext uri="{FF2B5EF4-FFF2-40B4-BE49-F238E27FC236}">
                      <a16:creationId xmlns:a16="http://schemas.microsoft.com/office/drawing/2014/main" id="{D00007C7-317C-7FC2-1D2C-11A498F79304}"/>
                    </a:ext>
                  </a:extLst>
                </p:cNvPr>
                <p:cNvSpPr>
                  <a:spLocks noChangeAspect="1" noChangeArrowheads="1"/>
                </p:cNvSpPr>
                <p:nvPr/>
              </p:nvSpPr>
              <p:spPr bwMode="auto">
                <a:xfrm>
                  <a:off x="1008" y="1536"/>
                  <a:ext cx="576" cy="57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pic>
              <p:nvPicPr>
                <p:cNvPr id="116747" name="Picture 11">
                  <a:extLst>
                    <a:ext uri="{FF2B5EF4-FFF2-40B4-BE49-F238E27FC236}">
                      <a16:creationId xmlns:a16="http://schemas.microsoft.com/office/drawing/2014/main" id="{5009E238-C2C3-9AA1-5F00-2FAC248B3D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0" y="1568"/>
                  <a:ext cx="512" cy="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grpSp>
          <p:nvGrpSpPr>
            <p:cNvPr id="116748" name="Group 12">
              <a:extLst>
                <a:ext uri="{FF2B5EF4-FFF2-40B4-BE49-F238E27FC236}">
                  <a16:creationId xmlns:a16="http://schemas.microsoft.com/office/drawing/2014/main" id="{7553968A-1178-3E10-AC36-3AD48B82F661}"/>
                </a:ext>
              </a:extLst>
            </p:cNvPr>
            <p:cNvGrpSpPr>
              <a:grpSpLocks noChangeAspect="1"/>
            </p:cNvGrpSpPr>
            <p:nvPr/>
          </p:nvGrpSpPr>
          <p:grpSpPr bwMode="auto">
            <a:xfrm>
              <a:off x="3648" y="2400"/>
              <a:ext cx="768" cy="768"/>
              <a:chOff x="2112" y="2208"/>
              <a:chExt cx="768" cy="768"/>
            </a:xfrm>
          </p:grpSpPr>
          <p:sp>
            <p:nvSpPr>
              <p:cNvPr id="116749" name="AutoShape 13">
                <a:extLst>
                  <a:ext uri="{FF2B5EF4-FFF2-40B4-BE49-F238E27FC236}">
                    <a16:creationId xmlns:a16="http://schemas.microsoft.com/office/drawing/2014/main" id="{FFCCFE04-0A2B-6ECD-8C3D-8BC0F733C28C}"/>
                  </a:ext>
                </a:extLst>
              </p:cNvPr>
              <p:cNvSpPr>
                <a:spLocks noChangeAspect="1" noChangeArrowheads="1"/>
              </p:cNvSpPr>
              <p:nvPr/>
            </p:nvSpPr>
            <p:spPr bwMode="auto">
              <a:xfrm flipV="1">
                <a:off x="2112" y="2208"/>
                <a:ext cx="768" cy="768"/>
              </a:xfrm>
              <a:prstGeom prst="rtTriangl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16750" name="AutoShape 14">
                <a:extLst>
                  <a:ext uri="{FF2B5EF4-FFF2-40B4-BE49-F238E27FC236}">
                    <a16:creationId xmlns:a16="http://schemas.microsoft.com/office/drawing/2014/main" id="{CC27870E-6873-6F22-54EC-69BACCC166F3}"/>
                  </a:ext>
                </a:extLst>
              </p:cNvPr>
              <p:cNvSpPr>
                <a:spLocks noChangeAspect="1" noChangeArrowheads="1"/>
              </p:cNvSpPr>
              <p:nvPr/>
            </p:nvSpPr>
            <p:spPr bwMode="auto">
              <a:xfrm flipH="1">
                <a:off x="2112" y="2208"/>
                <a:ext cx="768" cy="768"/>
              </a:xfrm>
              <a:prstGeom prst="rtTriangle">
                <a:avLst/>
              </a:prstGeom>
              <a:solidFill>
                <a:srgbClr val="4EA1DB"/>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16751" name="Line 15">
                <a:extLst>
                  <a:ext uri="{FF2B5EF4-FFF2-40B4-BE49-F238E27FC236}">
                    <a16:creationId xmlns:a16="http://schemas.microsoft.com/office/drawing/2014/main" id="{497D205F-51F3-D624-15F2-994E097EF4D9}"/>
                  </a:ext>
                </a:extLst>
              </p:cNvPr>
              <p:cNvSpPr>
                <a:spLocks noChangeAspect="1" noChangeShapeType="1"/>
              </p:cNvSpPr>
              <p:nvPr/>
            </p:nvSpPr>
            <p:spPr bwMode="auto">
              <a:xfrm>
                <a:off x="2112" y="2208"/>
                <a:ext cx="768" cy="76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nvGrpSpPr>
              <p:cNvPr id="116752" name="Group 16">
                <a:extLst>
                  <a:ext uri="{FF2B5EF4-FFF2-40B4-BE49-F238E27FC236}">
                    <a16:creationId xmlns:a16="http://schemas.microsoft.com/office/drawing/2014/main" id="{B8758BA5-D0C5-FA10-D440-F92A4C929057}"/>
                  </a:ext>
                </a:extLst>
              </p:cNvPr>
              <p:cNvGrpSpPr>
                <a:grpSpLocks noChangeAspect="1"/>
              </p:cNvGrpSpPr>
              <p:nvPr/>
            </p:nvGrpSpPr>
            <p:grpSpPr bwMode="auto">
              <a:xfrm>
                <a:off x="2208" y="2304"/>
                <a:ext cx="576" cy="576"/>
                <a:chOff x="2064" y="1392"/>
                <a:chExt cx="576" cy="576"/>
              </a:xfrm>
            </p:grpSpPr>
            <p:sp>
              <p:nvSpPr>
                <p:cNvPr id="116753" name="Rectangle 17">
                  <a:extLst>
                    <a:ext uri="{FF2B5EF4-FFF2-40B4-BE49-F238E27FC236}">
                      <a16:creationId xmlns:a16="http://schemas.microsoft.com/office/drawing/2014/main" id="{1F8B05AA-B2B6-81C4-E231-A6B9135766C6}"/>
                    </a:ext>
                  </a:extLst>
                </p:cNvPr>
                <p:cNvSpPr>
                  <a:spLocks noChangeAspect="1" noChangeArrowheads="1"/>
                </p:cNvSpPr>
                <p:nvPr/>
              </p:nvSpPr>
              <p:spPr bwMode="auto">
                <a:xfrm>
                  <a:off x="2064" y="1392"/>
                  <a:ext cx="576" cy="57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pic>
              <p:nvPicPr>
                <p:cNvPr id="116754" name="Picture 18">
                  <a:extLst>
                    <a:ext uri="{FF2B5EF4-FFF2-40B4-BE49-F238E27FC236}">
                      <a16:creationId xmlns:a16="http://schemas.microsoft.com/office/drawing/2014/main" id="{241F014C-3F35-53F9-2654-E2C7982B16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96" y="1424"/>
                  <a:ext cx="512" cy="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grpSp>
      <p:grpSp>
        <p:nvGrpSpPr>
          <p:cNvPr id="116755" name="Group 19">
            <a:extLst>
              <a:ext uri="{FF2B5EF4-FFF2-40B4-BE49-F238E27FC236}">
                <a16:creationId xmlns:a16="http://schemas.microsoft.com/office/drawing/2014/main" id="{04D1E74C-EB62-E646-B140-C8D14C383099}"/>
              </a:ext>
            </a:extLst>
          </p:cNvPr>
          <p:cNvGrpSpPr>
            <a:grpSpLocks noChangeAspect="1"/>
          </p:cNvGrpSpPr>
          <p:nvPr/>
        </p:nvGrpSpPr>
        <p:grpSpPr bwMode="auto">
          <a:xfrm>
            <a:off x="5956300" y="1992313"/>
            <a:ext cx="2054225" cy="912812"/>
            <a:chOff x="980" y="1872"/>
            <a:chExt cx="1728" cy="768"/>
          </a:xfrm>
        </p:grpSpPr>
        <p:grpSp>
          <p:nvGrpSpPr>
            <p:cNvPr id="116756" name="Group 20">
              <a:extLst>
                <a:ext uri="{FF2B5EF4-FFF2-40B4-BE49-F238E27FC236}">
                  <a16:creationId xmlns:a16="http://schemas.microsoft.com/office/drawing/2014/main" id="{1C3C20E2-D128-63B0-2AA6-5DE0F5B1D8DE}"/>
                </a:ext>
              </a:extLst>
            </p:cNvPr>
            <p:cNvGrpSpPr>
              <a:grpSpLocks noChangeAspect="1"/>
            </p:cNvGrpSpPr>
            <p:nvPr/>
          </p:nvGrpSpPr>
          <p:grpSpPr bwMode="auto">
            <a:xfrm>
              <a:off x="980" y="1872"/>
              <a:ext cx="768" cy="768"/>
              <a:chOff x="768" y="1968"/>
              <a:chExt cx="768" cy="768"/>
            </a:xfrm>
          </p:grpSpPr>
          <p:sp>
            <p:nvSpPr>
              <p:cNvPr id="116757" name="AutoShape 21">
                <a:extLst>
                  <a:ext uri="{FF2B5EF4-FFF2-40B4-BE49-F238E27FC236}">
                    <a16:creationId xmlns:a16="http://schemas.microsoft.com/office/drawing/2014/main" id="{574A7139-CC89-8BB2-70CC-6ED84A26BD4A}"/>
                  </a:ext>
                </a:extLst>
              </p:cNvPr>
              <p:cNvSpPr>
                <a:spLocks noChangeAspect="1" noChangeArrowheads="1"/>
              </p:cNvSpPr>
              <p:nvPr/>
            </p:nvSpPr>
            <p:spPr bwMode="auto">
              <a:xfrm>
                <a:off x="768" y="1968"/>
                <a:ext cx="768" cy="768"/>
              </a:xfrm>
              <a:prstGeom prst="roundRect">
                <a:avLst>
                  <a:gd name="adj" fmla="val 16667"/>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nvGrpSpPr>
              <p:cNvPr id="116758" name="Group 22">
                <a:extLst>
                  <a:ext uri="{FF2B5EF4-FFF2-40B4-BE49-F238E27FC236}">
                    <a16:creationId xmlns:a16="http://schemas.microsoft.com/office/drawing/2014/main" id="{05B3C3C7-C4EB-A051-5F36-0F5362DB0C85}"/>
                  </a:ext>
                </a:extLst>
              </p:cNvPr>
              <p:cNvGrpSpPr>
                <a:grpSpLocks noChangeAspect="1"/>
              </p:cNvGrpSpPr>
              <p:nvPr/>
            </p:nvGrpSpPr>
            <p:grpSpPr bwMode="auto">
              <a:xfrm>
                <a:off x="864" y="2064"/>
                <a:ext cx="576" cy="576"/>
                <a:chOff x="2064" y="1392"/>
                <a:chExt cx="576" cy="576"/>
              </a:xfrm>
            </p:grpSpPr>
            <p:sp>
              <p:nvSpPr>
                <p:cNvPr id="116759" name="Rectangle 23">
                  <a:extLst>
                    <a:ext uri="{FF2B5EF4-FFF2-40B4-BE49-F238E27FC236}">
                      <a16:creationId xmlns:a16="http://schemas.microsoft.com/office/drawing/2014/main" id="{16CC31FC-CDD5-C57F-90AE-188D712DD751}"/>
                    </a:ext>
                  </a:extLst>
                </p:cNvPr>
                <p:cNvSpPr>
                  <a:spLocks noChangeAspect="1" noChangeArrowheads="1"/>
                </p:cNvSpPr>
                <p:nvPr/>
              </p:nvSpPr>
              <p:spPr bwMode="auto">
                <a:xfrm>
                  <a:off x="2064" y="1392"/>
                  <a:ext cx="576" cy="57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pic>
              <p:nvPicPr>
                <p:cNvPr id="116760" name="Picture 24">
                  <a:extLst>
                    <a:ext uri="{FF2B5EF4-FFF2-40B4-BE49-F238E27FC236}">
                      <a16:creationId xmlns:a16="http://schemas.microsoft.com/office/drawing/2014/main" id="{FB82C33F-8E90-5149-7865-BFCDE6EB3D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96" y="1424"/>
                  <a:ext cx="512" cy="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grpSp>
          <p:nvGrpSpPr>
            <p:cNvPr id="116761" name="Group 25">
              <a:extLst>
                <a:ext uri="{FF2B5EF4-FFF2-40B4-BE49-F238E27FC236}">
                  <a16:creationId xmlns:a16="http://schemas.microsoft.com/office/drawing/2014/main" id="{62D6BEFC-6A07-6CAB-7CAB-57B3FCEA43A1}"/>
                </a:ext>
              </a:extLst>
            </p:cNvPr>
            <p:cNvGrpSpPr>
              <a:grpSpLocks noChangeAspect="1"/>
            </p:cNvGrpSpPr>
            <p:nvPr/>
          </p:nvGrpSpPr>
          <p:grpSpPr bwMode="auto">
            <a:xfrm>
              <a:off x="1940" y="1872"/>
              <a:ext cx="768" cy="768"/>
              <a:chOff x="1200" y="1056"/>
              <a:chExt cx="768" cy="768"/>
            </a:xfrm>
          </p:grpSpPr>
          <p:sp>
            <p:nvSpPr>
              <p:cNvPr id="116762" name="AutoShape 26">
                <a:extLst>
                  <a:ext uri="{FF2B5EF4-FFF2-40B4-BE49-F238E27FC236}">
                    <a16:creationId xmlns:a16="http://schemas.microsoft.com/office/drawing/2014/main" id="{5276AD64-E013-602F-29F4-5A9E2E9CAB82}"/>
                  </a:ext>
                </a:extLst>
              </p:cNvPr>
              <p:cNvSpPr>
                <a:spLocks noChangeAspect="1" noChangeArrowheads="1"/>
              </p:cNvSpPr>
              <p:nvPr/>
            </p:nvSpPr>
            <p:spPr bwMode="auto">
              <a:xfrm>
                <a:off x="1200" y="1056"/>
                <a:ext cx="768" cy="768"/>
              </a:xfrm>
              <a:prstGeom prst="roundRect">
                <a:avLst>
                  <a:gd name="adj" fmla="val 16667"/>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nvGrpSpPr>
              <p:cNvPr id="116763" name="Group 27">
                <a:extLst>
                  <a:ext uri="{FF2B5EF4-FFF2-40B4-BE49-F238E27FC236}">
                    <a16:creationId xmlns:a16="http://schemas.microsoft.com/office/drawing/2014/main" id="{85D1FED3-840C-FAA8-223E-F6E7F5F5E2F3}"/>
                  </a:ext>
                </a:extLst>
              </p:cNvPr>
              <p:cNvGrpSpPr>
                <a:grpSpLocks noChangeAspect="1"/>
              </p:cNvGrpSpPr>
              <p:nvPr/>
            </p:nvGrpSpPr>
            <p:grpSpPr bwMode="auto">
              <a:xfrm>
                <a:off x="1296" y="1152"/>
                <a:ext cx="576" cy="576"/>
                <a:chOff x="1008" y="1536"/>
                <a:chExt cx="576" cy="576"/>
              </a:xfrm>
            </p:grpSpPr>
            <p:sp>
              <p:nvSpPr>
                <p:cNvPr id="116764" name="Rectangle 28">
                  <a:extLst>
                    <a:ext uri="{FF2B5EF4-FFF2-40B4-BE49-F238E27FC236}">
                      <a16:creationId xmlns:a16="http://schemas.microsoft.com/office/drawing/2014/main" id="{5A30DEAB-0564-542B-04BE-CF82936DBFC1}"/>
                    </a:ext>
                  </a:extLst>
                </p:cNvPr>
                <p:cNvSpPr>
                  <a:spLocks noChangeAspect="1" noChangeArrowheads="1"/>
                </p:cNvSpPr>
                <p:nvPr/>
              </p:nvSpPr>
              <p:spPr bwMode="auto">
                <a:xfrm>
                  <a:off x="1008" y="1536"/>
                  <a:ext cx="576" cy="57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pic>
              <p:nvPicPr>
                <p:cNvPr id="116765" name="Picture 29">
                  <a:extLst>
                    <a:ext uri="{FF2B5EF4-FFF2-40B4-BE49-F238E27FC236}">
                      <a16:creationId xmlns:a16="http://schemas.microsoft.com/office/drawing/2014/main" id="{F6FF0F39-80B6-D7BA-6974-60B9DFED76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0" y="1568"/>
                  <a:ext cx="512" cy="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grpSp>
      <p:sp>
        <p:nvSpPr>
          <p:cNvPr id="116766" name="Text Box 30">
            <a:extLst>
              <a:ext uri="{FF2B5EF4-FFF2-40B4-BE49-F238E27FC236}">
                <a16:creationId xmlns:a16="http://schemas.microsoft.com/office/drawing/2014/main" id="{32606AD4-6ACF-A62A-4176-C77454A167C5}"/>
              </a:ext>
            </a:extLst>
          </p:cNvPr>
          <p:cNvSpPr txBox="1">
            <a:spLocks noChangeArrowheads="1"/>
          </p:cNvSpPr>
          <p:nvPr/>
        </p:nvSpPr>
        <p:spPr bwMode="auto">
          <a:xfrm>
            <a:off x="5880100" y="2906713"/>
            <a:ext cx="1774825"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sz="1800">
                <a:latin typeface="Verdana" panose="020B0604030504040204" pitchFamily="34" charset="0"/>
              </a:rPr>
              <a:t>flat buttons …</a:t>
            </a:r>
          </a:p>
        </p:txBody>
      </p:sp>
      <p:sp>
        <p:nvSpPr>
          <p:cNvPr id="116767" name="Text Box 31">
            <a:extLst>
              <a:ext uri="{FF2B5EF4-FFF2-40B4-BE49-F238E27FC236}">
                <a16:creationId xmlns:a16="http://schemas.microsoft.com/office/drawing/2014/main" id="{2358197D-9EF4-2254-3221-9BD32A84555C}"/>
              </a:ext>
            </a:extLst>
          </p:cNvPr>
          <p:cNvSpPr txBox="1">
            <a:spLocks noChangeArrowheads="1"/>
          </p:cNvSpPr>
          <p:nvPr/>
        </p:nvSpPr>
        <p:spPr bwMode="auto">
          <a:xfrm>
            <a:off x="6718300" y="4430713"/>
            <a:ext cx="1968500"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lang="en-GB" altLang="en-US" sz="1800">
                <a:latin typeface="Verdana" panose="020B0604030504040204" pitchFamily="34" charset="0"/>
              </a:rPr>
              <a:t>… or sculptured</a:t>
            </a:r>
          </a:p>
        </p:txBody>
      </p:sp>
      <p:sp>
        <p:nvSpPr>
          <p:cNvPr id="116769" name="AutoShape 33">
            <a:extLst>
              <a:ext uri="{FF2B5EF4-FFF2-40B4-BE49-F238E27FC236}">
                <a16:creationId xmlns:a16="http://schemas.microsoft.com/office/drawing/2014/main" id="{B4B797FD-454E-DCA2-6996-A0D8BF03916B}"/>
              </a:ext>
            </a:extLst>
          </p:cNvPr>
          <p:cNvSpPr>
            <a:spLocks noChangeArrowheads="1"/>
          </p:cNvSpPr>
          <p:nvPr/>
        </p:nvSpPr>
        <p:spPr bwMode="auto">
          <a:xfrm>
            <a:off x="4508500" y="3516313"/>
            <a:ext cx="1600200" cy="685800"/>
          </a:xfrm>
          <a:prstGeom prst="wedgeRoundRectCallout">
            <a:avLst>
              <a:gd name="adj1" fmla="val 85120"/>
              <a:gd name="adj2" fmla="val 6250"/>
              <a:gd name="adj3" fmla="val 16667"/>
            </a:avLst>
          </a:prstGeom>
          <a:solidFill>
            <a:schemeClr val="bg1"/>
          </a:solidFill>
          <a:ln w="2857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2400">
                <a:latin typeface="Verdana" panose="020B0604030504040204" pitchFamily="34" charset="0"/>
              </a:rPr>
              <a:t>click me!</a:t>
            </a:r>
            <a:endParaRPr lang="en-GB"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67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69" grpId="0" animBg="1" autoUpdateAnimBg="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200" b="0" i="0" dirty="0">
                <a:solidFill>
                  <a:srgbClr val="2D2D8A"/>
                </a:solidFill>
                <a:latin typeface="Arial"/>
                <a:cs typeface="Arial"/>
              </a:rPr>
              <a:t>How today’s lecture works</a:t>
            </a:r>
          </a:p>
        </p:txBody>
      </p:sp>
      <p:sp>
        <p:nvSpPr>
          <p:cNvPr id="11" name="Shape 11"/>
          <p:cNvSpPr/>
          <p:nvPr/>
        </p:nvSpPr>
        <p:spPr>
          <a:xfrm>
            <a:off x="548640" y="1810512"/>
            <a:ext cx="1641348" cy="310896"/>
          </a:xfrm>
          <a:prstGeom prst="roundRect">
            <a:avLst>
              <a:gd name="adj" fmla="val 50000"/>
            </a:avLst>
          </a:prstGeom>
          <a:solidFill>
            <a:srgbClr val="2D2D8A"/>
          </a:solidFill>
          <a:ln>
            <a:noFill/>
          </a:ln>
        </p:spPr>
        <p:txBody>
          <a:bodyPr wrap="square" lIns="27432" tIns="27432" rIns="27432" bIns="27432" anchor="ctr" rtlCol="0">
            <a:normAutofit/>
          </a:bodyPr>
          <a:lstStyle/>
          <a:p>
            <a:pPr algn="ctr">
              <a:buNone/>
            </a:pPr>
            <a:r>
              <a:rPr lang="en-GB" sz="1100" b="1" i="0" dirty="0">
                <a:solidFill>
                  <a:srgbClr val="FFFFFF"/>
                </a:solidFill>
                <a:latin typeface="Arial"/>
                <a:cs typeface="Arial"/>
              </a:rPr>
              <a:t>HOW TODAY WORKS</a:t>
            </a:r>
            <a:endParaRPr lang="en-GB" sz="1100" dirty="0"/>
          </a:p>
        </p:txBody>
      </p:sp>
      <p:sp>
        <p:nvSpPr>
          <p:cNvPr id="12" name="Shape 12"/>
          <p:cNvSpPr txBox="1"/>
          <p:nvPr/>
        </p:nvSpPr>
        <p:spPr>
          <a:xfrm>
            <a:off x="2299716" y="1810512"/>
            <a:ext cx="5486400" cy="310896"/>
          </a:xfrm>
          <a:prstGeom prst="rect">
            <a:avLst/>
          </a:prstGeom>
          <a:noFill/>
          <a:ln>
            <a:noFill/>
          </a:ln>
        </p:spPr>
        <p:txBody>
          <a:bodyPr wrap="square" lIns="18288" tIns="18288" rIns="18288" bIns="18288" anchor="ctr" rtlCol="0">
            <a:normAutofit/>
          </a:bodyPr>
          <a:lstStyle/>
          <a:p>
            <a:pPr algn="l">
              <a:buNone/>
            </a:pPr>
            <a:r>
              <a:rPr lang="en-GB" sz="1200" b="0" i="1" dirty="0">
                <a:solidFill>
                  <a:srgbClr val="595959"/>
                </a:solidFill>
                <a:latin typeface="Arial"/>
                <a:cs typeface="Arial"/>
              </a:rPr>
              <a:t>look for these badges in the top-left of a slide</a:t>
            </a:r>
            <a:endParaRPr lang="en-GB" sz="1200" dirty="0"/>
          </a:p>
        </p:txBody>
      </p:sp>
      <p:sp>
        <p:nvSpPr>
          <p:cNvPr id="13" name="Shape 13"/>
          <p:cNvSpPr/>
          <p:nvPr/>
        </p:nvSpPr>
        <p:spPr>
          <a:xfrm>
            <a:off x="548640" y="2331720"/>
            <a:ext cx="1965960" cy="329184"/>
          </a:xfrm>
          <a:prstGeom prst="roundRect">
            <a:avLst>
              <a:gd name="adj" fmla="val 50000"/>
            </a:avLst>
          </a:prstGeom>
          <a:solidFill>
            <a:srgbClr val="00726F"/>
          </a:solidFill>
          <a:ln>
            <a:noFill/>
          </a:ln>
        </p:spPr>
        <p:txBody>
          <a:bodyPr wrap="square" lIns="18288" tIns="18288" rIns="18288" bIns="18288" anchor="ctr" rtlCol="0">
            <a:normAutofit/>
          </a:bodyPr>
          <a:lstStyle/>
          <a:p>
            <a:pPr algn="ctr">
              <a:buNone/>
            </a:pPr>
            <a:r>
              <a:rPr lang="en-GB" sz="1100" b="1" i="0" dirty="0">
                <a:solidFill>
                  <a:srgbClr val="FFFFFF"/>
                </a:solidFill>
                <a:latin typeface="Arial"/>
                <a:cs typeface="Arial"/>
              </a:rPr>
              <a:t>POLL</a:t>
            </a:r>
            <a:endParaRPr lang="en-GB" sz="1100" dirty="0"/>
          </a:p>
        </p:txBody>
      </p:sp>
      <p:sp>
        <p:nvSpPr>
          <p:cNvPr id="14" name="Shape 14"/>
          <p:cNvSpPr txBox="1"/>
          <p:nvPr/>
        </p:nvSpPr>
        <p:spPr>
          <a:xfrm>
            <a:off x="2697480" y="2286000"/>
            <a:ext cx="5760720" cy="420624"/>
          </a:xfrm>
          <a:prstGeom prst="rect">
            <a:avLst/>
          </a:prstGeom>
          <a:noFill/>
          <a:ln>
            <a:noFill/>
          </a:ln>
        </p:spPr>
        <p:txBody>
          <a:bodyPr wrap="square" lIns="18288" tIns="18288" rIns="18288" bIns="18288" anchor="ctr" rtlCol="0">
            <a:normAutofit/>
          </a:bodyPr>
          <a:lstStyle/>
          <a:p>
            <a:pPr algn="l">
              <a:buNone/>
            </a:pPr>
            <a:r>
              <a:rPr lang="en-GB" sz="1400" b="0" i="0" dirty="0">
                <a:solidFill>
                  <a:srgbClr val="1A1A1A"/>
                </a:solidFill>
                <a:latin typeface="Arial"/>
                <a:cs typeface="Arial"/>
              </a:rPr>
              <a:t>Vote with your hands (1 or 2 fingers) — everyone answers, no one is wrong.</a:t>
            </a:r>
            <a:endParaRPr lang="en-GB" sz="1400" dirty="0"/>
          </a:p>
        </p:txBody>
      </p:sp>
      <p:sp>
        <p:nvSpPr>
          <p:cNvPr id="15" name="Shape 15"/>
          <p:cNvSpPr/>
          <p:nvPr/>
        </p:nvSpPr>
        <p:spPr>
          <a:xfrm>
            <a:off x="548640" y="2880360"/>
            <a:ext cx="1965960" cy="329184"/>
          </a:xfrm>
          <a:prstGeom prst="roundRect">
            <a:avLst>
              <a:gd name="adj" fmla="val 50000"/>
            </a:avLst>
          </a:prstGeom>
          <a:solidFill>
            <a:srgbClr val="333399"/>
          </a:solidFill>
          <a:ln>
            <a:noFill/>
          </a:ln>
        </p:spPr>
        <p:txBody>
          <a:bodyPr wrap="square" lIns="18288" tIns="18288" rIns="18288" bIns="18288" anchor="ctr" rtlCol="0">
            <a:normAutofit/>
          </a:bodyPr>
          <a:lstStyle/>
          <a:p>
            <a:pPr algn="ctr">
              <a:buNone/>
            </a:pPr>
            <a:r>
              <a:rPr lang="en-GB" sz="1100" b="1" i="0" dirty="0">
                <a:solidFill>
                  <a:srgbClr val="FFFFFF"/>
                </a:solidFill>
                <a:latin typeface="Arial"/>
                <a:cs typeface="Arial"/>
              </a:rPr>
              <a:t>QUIZ</a:t>
            </a:r>
            <a:endParaRPr lang="en-GB" sz="1100" dirty="0"/>
          </a:p>
        </p:txBody>
      </p:sp>
      <p:sp>
        <p:nvSpPr>
          <p:cNvPr id="16" name="Shape 16"/>
          <p:cNvSpPr txBox="1"/>
          <p:nvPr/>
        </p:nvSpPr>
        <p:spPr>
          <a:xfrm>
            <a:off x="2697480" y="2834640"/>
            <a:ext cx="5760720" cy="420624"/>
          </a:xfrm>
          <a:prstGeom prst="rect">
            <a:avLst/>
          </a:prstGeom>
          <a:noFill/>
          <a:ln>
            <a:noFill/>
          </a:ln>
        </p:spPr>
        <p:txBody>
          <a:bodyPr wrap="square" lIns="18288" tIns="18288" rIns="18288" bIns="18288" anchor="ctr" rtlCol="0">
            <a:normAutofit/>
          </a:bodyPr>
          <a:lstStyle/>
          <a:p>
            <a:pPr algn="l">
              <a:buNone/>
            </a:pPr>
            <a:r>
              <a:rPr lang="en-GB" sz="1400" b="0" i="0" dirty="0">
                <a:solidFill>
                  <a:srgbClr val="1A1A1A"/>
                </a:solidFill>
                <a:latin typeface="Arial"/>
                <a:cs typeface="Arial"/>
              </a:rPr>
              <a:t>Answer on paper first; the next slide reveals the answer.</a:t>
            </a:r>
            <a:endParaRPr lang="en-GB" sz="1400" dirty="0"/>
          </a:p>
        </p:txBody>
      </p:sp>
      <p:sp>
        <p:nvSpPr>
          <p:cNvPr id="17" name="Shape 17"/>
          <p:cNvSpPr/>
          <p:nvPr/>
        </p:nvSpPr>
        <p:spPr>
          <a:xfrm>
            <a:off x="548640" y="3429000"/>
            <a:ext cx="1965960" cy="329184"/>
          </a:xfrm>
          <a:prstGeom prst="roundRect">
            <a:avLst>
              <a:gd name="adj" fmla="val 50000"/>
            </a:avLst>
          </a:prstGeom>
          <a:solidFill>
            <a:srgbClr val="4E7A12"/>
          </a:solidFill>
          <a:ln>
            <a:noFill/>
          </a:ln>
        </p:spPr>
        <p:txBody>
          <a:bodyPr wrap="square" lIns="18288" tIns="18288" rIns="18288" bIns="18288" anchor="ctr" rtlCol="0">
            <a:normAutofit/>
          </a:bodyPr>
          <a:lstStyle/>
          <a:p>
            <a:pPr algn="ctr">
              <a:buNone/>
            </a:pPr>
            <a:r>
              <a:rPr lang="en-GB" sz="1100" b="1" i="0" dirty="0">
                <a:solidFill>
                  <a:srgbClr val="FFFFFF"/>
                </a:solidFill>
                <a:latin typeface="Arial"/>
                <a:cs typeface="Arial"/>
              </a:rPr>
              <a:t>THINK-PAIR-SHARE</a:t>
            </a:r>
            <a:endParaRPr lang="en-GB" sz="1100" dirty="0"/>
          </a:p>
        </p:txBody>
      </p:sp>
      <p:sp>
        <p:nvSpPr>
          <p:cNvPr id="18" name="Shape 18"/>
          <p:cNvSpPr txBox="1"/>
          <p:nvPr/>
        </p:nvSpPr>
        <p:spPr>
          <a:xfrm>
            <a:off x="2697480" y="3383280"/>
            <a:ext cx="5760720" cy="420624"/>
          </a:xfrm>
          <a:prstGeom prst="rect">
            <a:avLst/>
          </a:prstGeom>
          <a:noFill/>
          <a:ln>
            <a:noFill/>
          </a:ln>
        </p:spPr>
        <p:txBody>
          <a:bodyPr wrap="square" lIns="18288" tIns="18288" rIns="18288" bIns="18288" anchor="ctr" rtlCol="0">
            <a:normAutofit/>
          </a:bodyPr>
          <a:lstStyle/>
          <a:p>
            <a:pPr algn="l">
              <a:buNone/>
            </a:pPr>
            <a:r>
              <a:rPr lang="en-GB" sz="1400" b="0" i="0" dirty="0">
                <a:solidFill>
                  <a:srgbClr val="1A1A1A"/>
                </a:solidFill>
                <a:latin typeface="Arial"/>
                <a:cs typeface="Arial"/>
              </a:rPr>
              <a:t>1 min alone → 2 min with your neighbour → a few pairs share.</a:t>
            </a:r>
            <a:endParaRPr lang="en-GB" sz="1400" dirty="0"/>
          </a:p>
        </p:txBody>
      </p:sp>
      <p:sp>
        <p:nvSpPr>
          <p:cNvPr id="19" name="Shape 19"/>
          <p:cNvSpPr/>
          <p:nvPr/>
        </p:nvSpPr>
        <p:spPr>
          <a:xfrm>
            <a:off x="548640" y="3977640"/>
            <a:ext cx="1965960" cy="329184"/>
          </a:xfrm>
          <a:prstGeom prst="roundRect">
            <a:avLst>
              <a:gd name="adj" fmla="val 50000"/>
            </a:avLst>
          </a:prstGeom>
          <a:solidFill>
            <a:srgbClr val="B03A2E"/>
          </a:solidFill>
          <a:ln>
            <a:noFill/>
          </a:ln>
        </p:spPr>
        <p:txBody>
          <a:bodyPr wrap="square" lIns="18288" tIns="18288" rIns="18288" bIns="18288" anchor="ctr" rtlCol="0">
            <a:normAutofit/>
          </a:bodyPr>
          <a:lstStyle/>
          <a:p>
            <a:pPr algn="ctr">
              <a:buNone/>
            </a:pPr>
            <a:r>
              <a:rPr lang="en-GB" sz="1100" b="1" i="0" dirty="0">
                <a:solidFill>
                  <a:srgbClr val="FFFFFF"/>
                </a:solidFill>
                <a:latin typeface="Arial"/>
                <a:cs typeface="Arial"/>
              </a:rPr>
              <a:t>LIVE EXERCISE</a:t>
            </a:r>
            <a:endParaRPr lang="en-GB" sz="1100" dirty="0"/>
          </a:p>
        </p:txBody>
      </p:sp>
      <p:sp>
        <p:nvSpPr>
          <p:cNvPr id="20" name="Shape 20"/>
          <p:cNvSpPr txBox="1"/>
          <p:nvPr/>
        </p:nvSpPr>
        <p:spPr>
          <a:xfrm>
            <a:off x="2697480" y="3931920"/>
            <a:ext cx="5760720" cy="420624"/>
          </a:xfrm>
          <a:prstGeom prst="rect">
            <a:avLst/>
          </a:prstGeom>
          <a:noFill/>
          <a:ln>
            <a:noFill/>
          </a:ln>
        </p:spPr>
        <p:txBody>
          <a:bodyPr wrap="square" lIns="18288" tIns="18288" rIns="18288" bIns="18288" anchor="ctr" rtlCol="0">
            <a:normAutofit/>
          </a:bodyPr>
          <a:lstStyle/>
          <a:p>
            <a:pPr algn="l">
              <a:buNone/>
            </a:pPr>
            <a:r>
              <a:rPr lang="en-GB" sz="1400" b="0" i="0" dirty="0">
                <a:solidFill>
                  <a:srgbClr val="1A1A1A"/>
                </a:solidFill>
                <a:latin typeface="Arial"/>
                <a:cs typeface="Arial"/>
              </a:rPr>
              <a:t>Do it now, in class, with the device or room around you.</a:t>
            </a:r>
            <a:endParaRPr lang="en-GB" sz="1400" dirty="0"/>
          </a:p>
        </p:txBody>
      </p:sp>
      <p:sp>
        <p:nvSpPr>
          <p:cNvPr id="21" name="Shape 21"/>
          <p:cNvSpPr/>
          <p:nvPr/>
        </p:nvSpPr>
        <p:spPr>
          <a:xfrm>
            <a:off x="548640" y="4526280"/>
            <a:ext cx="1965960" cy="329184"/>
          </a:xfrm>
          <a:prstGeom prst="roundRect">
            <a:avLst>
              <a:gd name="adj" fmla="val 50000"/>
            </a:avLst>
          </a:prstGeom>
          <a:solidFill>
            <a:srgbClr val="8A5A00"/>
          </a:solidFill>
          <a:ln>
            <a:noFill/>
          </a:ln>
        </p:spPr>
        <p:txBody>
          <a:bodyPr wrap="square" lIns="18288" tIns="18288" rIns="18288" bIns="18288" anchor="ctr" rtlCol="0">
            <a:normAutofit/>
          </a:bodyPr>
          <a:lstStyle/>
          <a:p>
            <a:pPr algn="ctr">
              <a:buNone/>
            </a:pPr>
            <a:r>
              <a:rPr lang="en-GB" sz="1100" b="1" i="0" dirty="0">
                <a:solidFill>
                  <a:srgbClr val="FFFFFF"/>
                </a:solidFill>
                <a:latin typeface="Arial"/>
                <a:cs typeface="Arial"/>
              </a:rPr>
              <a:t>CASE PUZZLE</a:t>
            </a:r>
            <a:endParaRPr lang="en-GB" sz="1100" dirty="0"/>
          </a:p>
        </p:txBody>
      </p:sp>
      <p:sp>
        <p:nvSpPr>
          <p:cNvPr id="22" name="Shape 22"/>
          <p:cNvSpPr txBox="1"/>
          <p:nvPr/>
        </p:nvSpPr>
        <p:spPr>
          <a:xfrm>
            <a:off x="2697480" y="4480560"/>
            <a:ext cx="5760720" cy="420624"/>
          </a:xfrm>
          <a:prstGeom prst="rect">
            <a:avLst/>
          </a:prstGeom>
          <a:noFill/>
          <a:ln>
            <a:noFill/>
          </a:ln>
        </p:spPr>
        <p:txBody>
          <a:bodyPr wrap="square" lIns="18288" tIns="18288" rIns="18288" bIns="18288" anchor="ctr" rtlCol="0">
            <a:normAutofit/>
          </a:bodyPr>
          <a:lstStyle/>
          <a:p>
            <a:pPr algn="l">
              <a:buNone/>
            </a:pPr>
            <a:r>
              <a:rPr lang="en-GB" sz="1400" b="0" i="0" dirty="0">
                <a:solidFill>
                  <a:srgbClr val="1A1A1A"/>
                </a:solidFill>
                <a:latin typeface="Arial"/>
                <a:cs typeface="Arial"/>
              </a:rPr>
              <a:t>A real system you use; apply the model to it in small groups.</a:t>
            </a:r>
            <a:endParaRPr lang="en-GB" sz="1400" dirty="0"/>
          </a:p>
        </p:txBody>
      </p:sp>
      <p:sp>
        <p:nvSpPr>
          <p:cNvPr id="23" name="Shape 23"/>
          <p:cNvSpPr/>
          <p:nvPr/>
        </p:nvSpPr>
        <p:spPr>
          <a:xfrm>
            <a:off x="548640" y="5166360"/>
            <a:ext cx="7955280" cy="868680"/>
          </a:xfrm>
          <a:prstGeom prst="roundRect">
            <a:avLst>
              <a:gd name="adj" fmla="val 8000"/>
            </a:avLst>
          </a:prstGeom>
          <a:solidFill>
            <a:srgbClr val="F3F8F9"/>
          </a:solidFill>
          <a:ln w="12700">
            <a:solidFill>
              <a:srgbClr val="9DB8BC"/>
            </a:solidFill>
          </a:ln>
        </p:spPr>
        <p:txBody>
          <a:bodyPr wrap="square" lIns="128016" tIns="128016" rIns="128016" bIns="128016" anchor="ctr" rtlCol="0">
            <a:normAutofit/>
          </a:bodyPr>
          <a:lstStyle/>
          <a:p>
            <a:pPr algn="l">
              <a:spcAft>
                <a:spcPts val="400"/>
              </a:spcAft>
              <a:buNone/>
            </a:pPr>
            <a:r>
              <a:rPr lang="en-GB" sz="1300" b="1" i="0" dirty="0">
                <a:solidFill>
                  <a:srgbClr val="2D2D8A"/>
                </a:solidFill>
                <a:latin typeface="Arial"/>
                <a:cs typeface="Arial"/>
              </a:rPr>
              <a:t xml:space="preserve">Today: </a:t>
            </a:r>
            <a:r>
              <a:rPr lang="en-GB" sz="1300" b="0" i="0" dirty="0">
                <a:solidFill>
                  <a:srgbClr val="1A1A1A"/>
                </a:solidFill>
                <a:latin typeface="Arial"/>
                <a:cs typeface="Arial"/>
              </a:rPr>
              <a:t>models of interaction → ergonomics → interaction styles, with 10 short activities (~28 min; two are optional)</a:t>
            </a:r>
            <a:endParaRPr lang="en-GB" sz="1300" dirty="0"/>
          </a:p>
          <a:p>
            <a:pPr algn="l">
              <a:buNone/>
            </a:pPr>
            <a:r>
              <a:rPr lang="en-GB" sz="1300" b="1" i="0" dirty="0">
                <a:solidFill>
                  <a:srgbClr val="2D2D8A"/>
                </a:solidFill>
                <a:latin typeface="Arial"/>
                <a:cs typeface="Arial"/>
              </a:rPr>
              <a:t xml:space="preserve">Have ready: </a:t>
            </a:r>
            <a:r>
              <a:rPr lang="en-GB" sz="1300" b="0" i="0" dirty="0">
                <a:solidFill>
                  <a:srgbClr val="1A1A1A"/>
                </a:solidFill>
                <a:latin typeface="Arial"/>
                <a:cs typeface="Arial"/>
              </a:rPr>
              <a:t>a sheet of paper and your phone (for the exercises, not for WhatsApp)</a:t>
            </a:r>
            <a:endParaRPr lang="en-GB" sz="13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200" b="0" i="0" dirty="0">
                <a:solidFill>
                  <a:srgbClr val="2D2D8A"/>
                </a:solidFill>
                <a:latin typeface="Arial"/>
                <a:cs typeface="Arial"/>
              </a:rPr>
              <a:t>Warm-up: your worst interaction</a:t>
            </a:r>
          </a:p>
        </p:txBody>
      </p:sp>
      <p:sp>
        <p:nvSpPr>
          <p:cNvPr id="11" name="Shape 11"/>
          <p:cNvSpPr/>
          <p:nvPr/>
        </p:nvSpPr>
        <p:spPr>
          <a:xfrm>
            <a:off x="548640" y="1810512"/>
            <a:ext cx="1737360" cy="310896"/>
          </a:xfrm>
          <a:prstGeom prst="roundRect">
            <a:avLst>
              <a:gd name="adj" fmla="val 50000"/>
            </a:avLst>
          </a:prstGeom>
          <a:solidFill>
            <a:srgbClr val="4E7A12"/>
          </a:solidFill>
          <a:ln>
            <a:noFill/>
          </a:ln>
        </p:spPr>
        <p:txBody>
          <a:bodyPr wrap="square" lIns="27432" tIns="27432" rIns="27432" bIns="27432" anchor="ctr" rtlCol="0">
            <a:normAutofit/>
          </a:bodyPr>
          <a:lstStyle/>
          <a:p>
            <a:pPr algn="ctr">
              <a:buNone/>
            </a:pPr>
            <a:r>
              <a:rPr lang="en-GB" sz="1100" b="1" i="0" dirty="0">
                <a:solidFill>
                  <a:srgbClr val="FFFFFF"/>
                </a:solidFill>
                <a:latin typeface="Arial"/>
                <a:cs typeface="Arial"/>
              </a:rPr>
              <a:t>THINK-PAIR-SHARE</a:t>
            </a:r>
            <a:endParaRPr lang="en-GB" sz="1100" dirty="0"/>
          </a:p>
        </p:txBody>
      </p:sp>
      <p:sp>
        <p:nvSpPr>
          <p:cNvPr id="12" name="Shape 12"/>
          <p:cNvSpPr txBox="1"/>
          <p:nvPr/>
        </p:nvSpPr>
        <p:spPr>
          <a:xfrm>
            <a:off x="2395728" y="1810512"/>
            <a:ext cx="5486400" cy="310896"/>
          </a:xfrm>
          <a:prstGeom prst="rect">
            <a:avLst/>
          </a:prstGeom>
          <a:noFill/>
          <a:ln>
            <a:noFill/>
          </a:ln>
        </p:spPr>
        <p:txBody>
          <a:bodyPr wrap="square" lIns="18288" tIns="18288" rIns="18288" bIns="18288" anchor="ctr" rtlCol="0">
            <a:normAutofit/>
          </a:bodyPr>
          <a:lstStyle/>
          <a:p>
            <a:pPr algn="l">
              <a:buNone/>
            </a:pPr>
            <a:r>
              <a:rPr lang="en-GB" sz="1200" b="0" i="1" dirty="0">
                <a:solidFill>
                  <a:srgbClr val="595959"/>
                </a:solidFill>
                <a:latin typeface="Arial"/>
                <a:cs typeface="Arial"/>
              </a:rPr>
              <a:t>3 min · alone, then with your neighbour</a:t>
            </a:r>
            <a:endParaRPr lang="en-GB" sz="1200" dirty="0"/>
          </a:p>
        </p:txBody>
      </p:sp>
      <p:sp>
        <p:nvSpPr>
          <p:cNvPr id="13" name="Shape 13"/>
          <p:cNvSpPr txBox="1"/>
          <p:nvPr/>
        </p:nvSpPr>
        <p:spPr>
          <a:xfrm>
            <a:off x="548640" y="2286000"/>
            <a:ext cx="7955280" cy="457200"/>
          </a:xfrm>
          <a:prstGeom prst="rect">
            <a:avLst/>
          </a:prstGeom>
          <a:noFill/>
          <a:ln>
            <a:noFill/>
          </a:ln>
        </p:spPr>
        <p:txBody>
          <a:bodyPr wrap="square" lIns="18288" tIns="18288" rIns="18288" bIns="18288" anchor="t" rtlCol="0">
            <a:normAutofit/>
          </a:bodyPr>
          <a:lstStyle/>
          <a:p>
            <a:pPr algn="l">
              <a:buNone/>
            </a:pPr>
            <a:r>
              <a:rPr lang="en-GB" sz="1800" b="1" i="0" dirty="0">
                <a:solidFill>
                  <a:srgbClr val="2D2D8A"/>
                </a:solidFill>
                <a:latin typeface="Arial"/>
                <a:cs typeface="Arial"/>
              </a:rPr>
              <a:t>Think of one device or app that annoyed you in the last 7 days.</a:t>
            </a:r>
            <a:endParaRPr lang="en-GB" sz="1800" dirty="0"/>
          </a:p>
        </p:txBody>
      </p:sp>
      <p:sp>
        <p:nvSpPr>
          <p:cNvPr id="14" name="Shape 14"/>
          <p:cNvSpPr/>
          <p:nvPr/>
        </p:nvSpPr>
        <p:spPr>
          <a:xfrm>
            <a:off x="548640" y="2880360"/>
            <a:ext cx="1243584" cy="502920"/>
          </a:xfrm>
          <a:prstGeom prst="roundRect">
            <a:avLst>
              <a:gd name="adj" fmla="val 30000"/>
            </a:avLst>
          </a:prstGeom>
          <a:solidFill>
            <a:srgbClr val="F3F8F9"/>
          </a:solidFill>
          <a:ln w="12700">
            <a:solidFill>
              <a:srgbClr val="9DB8BC"/>
            </a:solidFill>
          </a:ln>
        </p:spPr>
        <p:txBody>
          <a:bodyPr wrap="square" lIns="36576" tIns="36576" rIns="36576" bIns="36576" anchor="ctr" rtlCol="0">
            <a:normAutofit/>
          </a:bodyPr>
          <a:lstStyle/>
          <a:p>
            <a:pPr algn="ctr">
              <a:buNone/>
            </a:pPr>
            <a:r>
              <a:rPr lang="en-GB" sz="1100" b="0" i="0" dirty="0">
                <a:solidFill>
                  <a:srgbClr val="1A1A1A"/>
                </a:solidFill>
                <a:latin typeface="Arial"/>
                <a:cs typeface="Arial"/>
              </a:rPr>
              <a:t>ATM</a:t>
            </a:r>
            <a:endParaRPr lang="en-GB" sz="1100" dirty="0"/>
          </a:p>
        </p:txBody>
      </p:sp>
      <p:sp>
        <p:nvSpPr>
          <p:cNvPr id="15" name="Shape 15"/>
          <p:cNvSpPr/>
          <p:nvPr/>
        </p:nvSpPr>
        <p:spPr>
          <a:xfrm>
            <a:off x="1883664" y="2880360"/>
            <a:ext cx="1243584" cy="502920"/>
          </a:xfrm>
          <a:prstGeom prst="roundRect">
            <a:avLst>
              <a:gd name="adj" fmla="val 30000"/>
            </a:avLst>
          </a:prstGeom>
          <a:solidFill>
            <a:srgbClr val="F3F8F9"/>
          </a:solidFill>
          <a:ln w="12700">
            <a:solidFill>
              <a:srgbClr val="9DB8BC"/>
            </a:solidFill>
          </a:ln>
        </p:spPr>
        <p:txBody>
          <a:bodyPr wrap="square" lIns="36576" tIns="36576" rIns="36576" bIns="36576" anchor="ctr" rtlCol="0">
            <a:normAutofit/>
          </a:bodyPr>
          <a:lstStyle/>
          <a:p>
            <a:pPr algn="ctr">
              <a:buNone/>
            </a:pPr>
            <a:r>
              <a:rPr lang="en-GB" sz="1100" b="0" i="0" dirty="0">
                <a:solidFill>
                  <a:srgbClr val="1A1A1A"/>
                </a:solidFill>
                <a:latin typeface="Arial"/>
                <a:cs typeface="Arial"/>
              </a:rPr>
              <a:t>Fuel-pump card reader</a:t>
            </a:r>
            <a:endParaRPr lang="en-GB" sz="1100" dirty="0"/>
          </a:p>
        </p:txBody>
      </p:sp>
      <p:sp>
        <p:nvSpPr>
          <p:cNvPr id="16" name="Shape 16"/>
          <p:cNvSpPr/>
          <p:nvPr/>
        </p:nvSpPr>
        <p:spPr>
          <a:xfrm>
            <a:off x="3218688" y="2880360"/>
            <a:ext cx="1243584" cy="502920"/>
          </a:xfrm>
          <a:prstGeom prst="roundRect">
            <a:avLst>
              <a:gd name="adj" fmla="val 30000"/>
            </a:avLst>
          </a:prstGeom>
          <a:solidFill>
            <a:srgbClr val="F3F8F9"/>
          </a:solidFill>
          <a:ln w="12700">
            <a:solidFill>
              <a:srgbClr val="9DB8BC"/>
            </a:solidFill>
          </a:ln>
        </p:spPr>
        <p:txBody>
          <a:bodyPr wrap="square" lIns="36576" tIns="36576" rIns="36576" bIns="36576" anchor="ctr" rtlCol="0">
            <a:normAutofit/>
          </a:bodyPr>
          <a:lstStyle/>
          <a:p>
            <a:pPr algn="ctr">
              <a:buNone/>
            </a:pPr>
            <a:r>
              <a:rPr lang="en-GB" sz="1100" b="0" i="0" dirty="0">
                <a:solidFill>
                  <a:srgbClr val="1A1A1A"/>
                </a:solidFill>
                <a:latin typeface="Arial"/>
                <a:cs typeface="Arial"/>
              </a:rPr>
              <a:t>University LMS</a:t>
            </a:r>
            <a:endParaRPr lang="en-GB" sz="1100" dirty="0"/>
          </a:p>
        </p:txBody>
      </p:sp>
      <p:sp>
        <p:nvSpPr>
          <p:cNvPr id="17" name="Shape 17"/>
          <p:cNvSpPr/>
          <p:nvPr/>
        </p:nvSpPr>
        <p:spPr>
          <a:xfrm>
            <a:off x="4553712" y="2880360"/>
            <a:ext cx="1243584" cy="502920"/>
          </a:xfrm>
          <a:prstGeom prst="roundRect">
            <a:avLst>
              <a:gd name="adj" fmla="val 30000"/>
            </a:avLst>
          </a:prstGeom>
          <a:solidFill>
            <a:srgbClr val="F3F8F9"/>
          </a:solidFill>
          <a:ln w="12700">
            <a:solidFill>
              <a:srgbClr val="9DB8BC"/>
            </a:solidFill>
          </a:ln>
        </p:spPr>
        <p:txBody>
          <a:bodyPr wrap="square" lIns="36576" tIns="36576" rIns="36576" bIns="36576" anchor="ctr" rtlCol="0">
            <a:normAutofit/>
          </a:bodyPr>
          <a:lstStyle/>
          <a:p>
            <a:pPr algn="ctr">
              <a:buNone/>
            </a:pPr>
            <a:r>
              <a:rPr lang="en-GB" sz="1100" b="0" i="0" dirty="0">
                <a:solidFill>
                  <a:srgbClr val="1A1A1A"/>
                </a:solidFill>
                <a:latin typeface="Arial"/>
                <a:cs typeface="Arial"/>
              </a:rPr>
              <a:t>Microwave</a:t>
            </a:r>
            <a:endParaRPr lang="en-GB" sz="1100" dirty="0"/>
          </a:p>
        </p:txBody>
      </p:sp>
      <p:sp>
        <p:nvSpPr>
          <p:cNvPr id="18" name="Shape 18"/>
          <p:cNvSpPr/>
          <p:nvPr/>
        </p:nvSpPr>
        <p:spPr>
          <a:xfrm>
            <a:off x="5888736" y="2880360"/>
            <a:ext cx="1243584" cy="502920"/>
          </a:xfrm>
          <a:prstGeom prst="roundRect">
            <a:avLst>
              <a:gd name="adj" fmla="val 30000"/>
            </a:avLst>
          </a:prstGeom>
          <a:solidFill>
            <a:srgbClr val="F3F8F9"/>
          </a:solidFill>
          <a:ln w="12700">
            <a:solidFill>
              <a:srgbClr val="9DB8BC"/>
            </a:solidFill>
          </a:ln>
        </p:spPr>
        <p:txBody>
          <a:bodyPr wrap="square" lIns="36576" tIns="36576" rIns="36576" bIns="36576" anchor="ctr" rtlCol="0">
            <a:normAutofit/>
          </a:bodyPr>
          <a:lstStyle/>
          <a:p>
            <a:pPr algn="ctr">
              <a:buNone/>
            </a:pPr>
            <a:r>
              <a:rPr lang="en-GB" sz="1100" b="0" i="0" dirty="0">
                <a:solidFill>
                  <a:srgbClr val="1A1A1A"/>
                </a:solidFill>
                <a:latin typeface="Arial"/>
                <a:cs typeface="Arial"/>
              </a:rPr>
              <a:t>Washing machine</a:t>
            </a:r>
            <a:endParaRPr lang="en-GB" sz="1100" dirty="0"/>
          </a:p>
        </p:txBody>
      </p:sp>
      <p:sp>
        <p:nvSpPr>
          <p:cNvPr id="19" name="Shape 19"/>
          <p:cNvSpPr/>
          <p:nvPr/>
        </p:nvSpPr>
        <p:spPr>
          <a:xfrm>
            <a:off x="7223760" y="2880360"/>
            <a:ext cx="1243584" cy="502920"/>
          </a:xfrm>
          <a:prstGeom prst="roundRect">
            <a:avLst>
              <a:gd name="adj" fmla="val 30000"/>
            </a:avLst>
          </a:prstGeom>
          <a:solidFill>
            <a:srgbClr val="F3F8F9"/>
          </a:solidFill>
          <a:ln w="12700">
            <a:solidFill>
              <a:srgbClr val="9DB8BC"/>
            </a:solidFill>
          </a:ln>
        </p:spPr>
        <p:txBody>
          <a:bodyPr wrap="square" lIns="36576" tIns="36576" rIns="36576" bIns="36576" anchor="ctr" rtlCol="0">
            <a:normAutofit/>
          </a:bodyPr>
          <a:lstStyle/>
          <a:p>
            <a:pPr algn="ctr">
              <a:buNone/>
            </a:pPr>
            <a:r>
              <a:rPr lang="en-GB" sz="1100" b="0" i="0" dirty="0">
                <a:solidFill>
                  <a:srgbClr val="1A1A1A"/>
                </a:solidFill>
                <a:latin typeface="Arial"/>
                <a:cs typeface="Arial"/>
              </a:rPr>
              <a:t>Food-delivery app</a:t>
            </a:r>
            <a:endParaRPr lang="en-GB" sz="1100" dirty="0"/>
          </a:p>
        </p:txBody>
      </p:sp>
      <p:sp>
        <p:nvSpPr>
          <p:cNvPr id="20" name="Shape 20"/>
          <p:cNvSpPr/>
          <p:nvPr/>
        </p:nvSpPr>
        <p:spPr>
          <a:xfrm>
            <a:off x="548640" y="3703320"/>
            <a:ext cx="2514600" cy="1463040"/>
          </a:xfrm>
          <a:prstGeom prst="roundRect">
            <a:avLst>
              <a:gd name="adj" fmla="val 8000"/>
            </a:avLst>
          </a:prstGeom>
          <a:solidFill>
            <a:srgbClr val="F3F8F9"/>
          </a:solidFill>
          <a:ln w="9525">
            <a:solidFill>
              <a:srgbClr val="9DB8BC"/>
            </a:solidFill>
          </a:ln>
        </p:spPr>
        <p:txBody>
          <a:bodyPr wrap="square" lIns="109728" tIns="109728" rIns="109728" bIns="109728" anchor="t" rtlCol="0">
            <a:normAutofit/>
          </a:bodyPr>
          <a:lstStyle/>
          <a:p>
            <a:pPr algn="l">
              <a:spcAft>
                <a:spcPts val="400"/>
              </a:spcAft>
              <a:buNone/>
            </a:pPr>
            <a:r>
              <a:rPr lang="en-GB" sz="1500" b="1" i="0" dirty="0">
                <a:solidFill>
                  <a:srgbClr val="2D2D8A"/>
                </a:solidFill>
                <a:latin typeface="Arial"/>
                <a:cs typeface="Arial"/>
              </a:rPr>
              <a:t>1 min — write</a:t>
            </a:r>
            <a:endParaRPr lang="en-GB" sz="1500" dirty="0"/>
          </a:p>
          <a:p>
            <a:pPr algn="l">
              <a:spcAft>
                <a:spcPts val="200"/>
              </a:spcAft>
              <a:buNone/>
            </a:pPr>
            <a:r>
              <a:rPr lang="en-GB" sz="1300" b="0" i="0" dirty="0">
                <a:solidFill>
                  <a:srgbClr val="1A1A1A"/>
                </a:solidFill>
                <a:latin typeface="Arial"/>
                <a:cs typeface="Arial"/>
              </a:rPr>
              <a:t>What did you WANT? What did you DO? What HAPPENED?</a:t>
            </a:r>
            <a:endParaRPr lang="en-GB" sz="1300" dirty="0"/>
          </a:p>
        </p:txBody>
      </p:sp>
      <p:cxnSp>
        <p:nvCxnSpPr>
          <p:cNvPr id="21" name="Line 21"/>
          <p:cNvCxnSpPr/>
          <p:nvPr/>
        </p:nvCxnSpPr>
        <p:spPr>
          <a:xfrm>
            <a:off x="3081528" y="4434840"/>
            <a:ext cx="146304" cy="0"/>
          </a:xfrm>
          <a:prstGeom prst="line">
            <a:avLst/>
          </a:prstGeom>
          <a:ln w="19050">
            <a:solidFill>
              <a:srgbClr val="2D2D8A"/>
            </a:solidFill>
            <a:tailEnd type="triangle" w="med" len="med"/>
          </a:ln>
        </p:spPr>
      </p:cxnSp>
      <p:sp>
        <p:nvSpPr>
          <p:cNvPr id="22" name="Shape 22"/>
          <p:cNvSpPr/>
          <p:nvPr/>
        </p:nvSpPr>
        <p:spPr>
          <a:xfrm>
            <a:off x="3246120" y="3703320"/>
            <a:ext cx="2514600" cy="1463040"/>
          </a:xfrm>
          <a:prstGeom prst="roundRect">
            <a:avLst>
              <a:gd name="adj" fmla="val 8000"/>
            </a:avLst>
          </a:prstGeom>
          <a:solidFill>
            <a:srgbClr val="F3F8F9"/>
          </a:solidFill>
          <a:ln w="9525">
            <a:solidFill>
              <a:srgbClr val="9DB8BC"/>
            </a:solidFill>
          </a:ln>
        </p:spPr>
        <p:txBody>
          <a:bodyPr wrap="square" lIns="109728" tIns="109728" rIns="109728" bIns="109728" anchor="t" rtlCol="0">
            <a:normAutofit/>
          </a:bodyPr>
          <a:lstStyle/>
          <a:p>
            <a:pPr algn="l">
              <a:spcAft>
                <a:spcPts val="400"/>
              </a:spcAft>
              <a:buNone/>
            </a:pPr>
            <a:r>
              <a:rPr lang="en-GB" sz="1500" b="1" i="0" dirty="0">
                <a:solidFill>
                  <a:srgbClr val="2D2D8A"/>
                </a:solidFill>
                <a:latin typeface="Arial"/>
                <a:cs typeface="Arial"/>
              </a:rPr>
              <a:t>2 min — pair</a:t>
            </a:r>
            <a:endParaRPr lang="en-GB" sz="1500" dirty="0"/>
          </a:p>
          <a:p>
            <a:pPr algn="l">
              <a:spcAft>
                <a:spcPts val="200"/>
              </a:spcAft>
              <a:buNone/>
            </a:pPr>
            <a:r>
              <a:rPr lang="en-GB" sz="1300" b="0" i="0" dirty="0">
                <a:solidFill>
                  <a:srgbClr val="1A1A1A"/>
                </a:solidFill>
                <a:latin typeface="Arial"/>
                <a:cs typeface="Arial"/>
              </a:rPr>
              <a:t>Tell your neighbour. Where exactly did it go wrong?</a:t>
            </a:r>
            <a:endParaRPr lang="en-GB" sz="1300" dirty="0"/>
          </a:p>
        </p:txBody>
      </p:sp>
      <p:cxnSp>
        <p:nvCxnSpPr>
          <p:cNvPr id="23" name="Line 23"/>
          <p:cNvCxnSpPr/>
          <p:nvPr/>
        </p:nvCxnSpPr>
        <p:spPr>
          <a:xfrm>
            <a:off x="5779008" y="4434840"/>
            <a:ext cx="146304" cy="0"/>
          </a:xfrm>
          <a:prstGeom prst="line">
            <a:avLst/>
          </a:prstGeom>
          <a:ln w="19050">
            <a:solidFill>
              <a:srgbClr val="2D2D8A"/>
            </a:solidFill>
            <a:tailEnd type="triangle" w="med" len="med"/>
          </a:ln>
        </p:spPr>
      </p:cxnSp>
      <p:sp>
        <p:nvSpPr>
          <p:cNvPr id="24" name="Shape 24"/>
          <p:cNvSpPr/>
          <p:nvPr/>
        </p:nvSpPr>
        <p:spPr>
          <a:xfrm>
            <a:off x="5943600" y="3703320"/>
            <a:ext cx="2514600" cy="1463040"/>
          </a:xfrm>
          <a:prstGeom prst="roundRect">
            <a:avLst>
              <a:gd name="adj" fmla="val 8000"/>
            </a:avLst>
          </a:prstGeom>
          <a:solidFill>
            <a:srgbClr val="F3F8F9"/>
          </a:solidFill>
          <a:ln w="9525">
            <a:solidFill>
              <a:srgbClr val="9DB8BC"/>
            </a:solidFill>
          </a:ln>
        </p:spPr>
        <p:txBody>
          <a:bodyPr wrap="square" lIns="109728" tIns="109728" rIns="109728" bIns="109728" anchor="t" rtlCol="0">
            <a:normAutofit/>
          </a:bodyPr>
          <a:lstStyle/>
          <a:p>
            <a:pPr algn="l">
              <a:spcAft>
                <a:spcPts val="400"/>
              </a:spcAft>
              <a:buNone/>
            </a:pPr>
            <a:r>
              <a:rPr lang="en-GB" sz="1500" b="1" i="0" dirty="0">
                <a:solidFill>
                  <a:srgbClr val="2D2D8A"/>
                </a:solidFill>
                <a:latin typeface="Arial"/>
                <a:cs typeface="Arial"/>
              </a:rPr>
              <a:t>Keep it!</a:t>
            </a:r>
            <a:endParaRPr lang="en-GB" sz="1500" dirty="0"/>
          </a:p>
          <a:p>
            <a:pPr algn="l">
              <a:spcAft>
                <a:spcPts val="200"/>
              </a:spcAft>
              <a:buNone/>
            </a:pPr>
            <a:r>
              <a:rPr lang="en-GB" sz="1300" b="0" i="0" dirty="0">
                <a:solidFill>
                  <a:srgbClr val="1A1A1A"/>
                </a:solidFill>
                <a:latin typeface="Arial"/>
                <a:cs typeface="Arial"/>
              </a:rPr>
              <a:t>In 20 minutes we diagnose it with Norman’s model.</a:t>
            </a:r>
            <a:endParaRPr lang="en-GB" sz="1300" dirty="0"/>
          </a:p>
        </p:txBody>
      </p:sp>
      <p:sp>
        <p:nvSpPr>
          <p:cNvPr id="25" name="Shape 25"/>
          <p:cNvSpPr txBox="1"/>
          <p:nvPr/>
        </p:nvSpPr>
        <p:spPr>
          <a:xfrm>
            <a:off x="548640" y="5394960"/>
            <a:ext cx="7955280" cy="822960"/>
          </a:xfrm>
          <a:prstGeom prst="rect">
            <a:avLst/>
          </a:prstGeom>
          <a:noFill/>
          <a:ln>
            <a:noFill/>
          </a:ln>
        </p:spPr>
        <p:txBody>
          <a:bodyPr wrap="square" lIns="18288" tIns="18288" rIns="18288" bIns="18288" anchor="t" rtlCol="0">
            <a:normAutofit/>
          </a:bodyPr>
          <a:lstStyle/>
          <a:p>
            <a:pPr algn="l">
              <a:buNone/>
            </a:pPr>
            <a:r>
              <a:rPr lang="en-GB" sz="1300" b="0" i="1" dirty="0">
                <a:solidFill>
                  <a:srgbClr val="595959"/>
                </a:solidFill>
                <a:latin typeface="Arial"/>
                <a:cs typeface="Arial"/>
              </a:rPr>
              <a:t>“Interaction is communication” — so every frustration is a message that got lost. Where was it lost?</a:t>
            </a:r>
            <a:endParaRPr lang="en-GB" sz="13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200" b="0" i="0" dirty="0">
                <a:solidFill>
                  <a:srgbClr val="2D2D8A"/>
                </a:solidFill>
                <a:latin typeface="Arial"/>
                <a:cs typeface="Arial"/>
              </a:rPr>
              <a:t>Domain, goal or task?</a:t>
            </a:r>
          </a:p>
        </p:txBody>
      </p:sp>
      <p:sp>
        <p:nvSpPr>
          <p:cNvPr id="11" name="Shape 11"/>
          <p:cNvSpPr/>
          <p:nvPr/>
        </p:nvSpPr>
        <p:spPr>
          <a:xfrm>
            <a:off x="548640" y="1810512"/>
            <a:ext cx="585216" cy="310896"/>
          </a:xfrm>
          <a:prstGeom prst="roundRect">
            <a:avLst>
              <a:gd name="adj" fmla="val 50000"/>
            </a:avLst>
          </a:prstGeom>
          <a:solidFill>
            <a:srgbClr val="333399"/>
          </a:solidFill>
          <a:ln>
            <a:noFill/>
          </a:ln>
        </p:spPr>
        <p:txBody>
          <a:bodyPr wrap="square" lIns="27432" tIns="27432" rIns="27432" bIns="27432" anchor="ctr" rtlCol="0">
            <a:normAutofit/>
          </a:bodyPr>
          <a:lstStyle/>
          <a:p>
            <a:pPr algn="ctr">
              <a:buNone/>
            </a:pPr>
            <a:r>
              <a:rPr lang="en-GB" sz="1100" b="1" i="0" dirty="0">
                <a:solidFill>
                  <a:srgbClr val="FFFFFF"/>
                </a:solidFill>
                <a:latin typeface="Arial"/>
                <a:cs typeface="Arial"/>
              </a:rPr>
              <a:t>QUIZ</a:t>
            </a:r>
            <a:endParaRPr lang="en-GB" sz="1100" dirty="0"/>
          </a:p>
        </p:txBody>
      </p:sp>
      <p:sp>
        <p:nvSpPr>
          <p:cNvPr id="12" name="Shape 12"/>
          <p:cNvSpPr txBox="1"/>
          <p:nvPr/>
        </p:nvSpPr>
        <p:spPr>
          <a:xfrm>
            <a:off x="1243584" y="1810512"/>
            <a:ext cx="5486400" cy="310896"/>
          </a:xfrm>
          <a:prstGeom prst="rect">
            <a:avLst/>
          </a:prstGeom>
          <a:noFill/>
          <a:ln>
            <a:noFill/>
          </a:ln>
        </p:spPr>
        <p:txBody>
          <a:bodyPr wrap="square" lIns="18288" tIns="18288" rIns="18288" bIns="18288" anchor="ctr" rtlCol="0">
            <a:normAutofit/>
          </a:bodyPr>
          <a:lstStyle/>
          <a:p>
            <a:pPr algn="l">
              <a:buNone/>
            </a:pPr>
            <a:r>
              <a:rPr lang="en-GB" sz="1200" b="0" i="1" dirty="0">
                <a:solidFill>
                  <a:srgbClr val="595959"/>
                </a:solidFill>
                <a:latin typeface="Arial"/>
                <a:cs typeface="Arial"/>
              </a:rPr>
              <a:t>2 min · write D, G or T for each line</a:t>
            </a:r>
            <a:endParaRPr lang="en-GB" sz="1200" dirty="0"/>
          </a:p>
        </p:txBody>
      </p:sp>
      <p:sp>
        <p:nvSpPr>
          <p:cNvPr id="13" name="Shape 13"/>
          <p:cNvSpPr/>
          <p:nvPr/>
        </p:nvSpPr>
        <p:spPr>
          <a:xfrm>
            <a:off x="548640" y="2286000"/>
            <a:ext cx="7955280" cy="502920"/>
          </a:xfrm>
          <a:prstGeom prst="roundRect">
            <a:avLst>
              <a:gd name="adj" fmla="val 20000"/>
            </a:avLst>
          </a:prstGeom>
          <a:solidFill>
            <a:srgbClr val="F3F8F9"/>
          </a:solidFill>
          <a:ln w="12700">
            <a:solidFill>
              <a:srgbClr val="9DB8BC"/>
            </a:solidFill>
          </a:ln>
        </p:spPr>
        <p:txBody>
          <a:bodyPr wrap="square" lIns="109728" tIns="109728" rIns="109728" bIns="109728" anchor="ctr" rtlCol="0">
            <a:normAutofit/>
          </a:bodyPr>
          <a:lstStyle/>
          <a:p>
            <a:pPr algn="l">
              <a:buNone/>
            </a:pPr>
            <a:r>
              <a:rPr lang="en-GB" sz="1500" b="1" i="0" dirty="0">
                <a:solidFill>
                  <a:srgbClr val="2D2D8A"/>
                </a:solidFill>
                <a:latin typeface="Arial"/>
                <a:cs typeface="Arial"/>
              </a:rPr>
              <a:t xml:space="preserve">Scenario: </a:t>
            </a:r>
            <a:r>
              <a:rPr lang="en-GB" sz="1500" b="0" i="0" dirty="0">
                <a:solidFill>
                  <a:srgbClr val="1A1A1A"/>
                </a:solidFill>
                <a:latin typeface="Arial"/>
                <a:cs typeface="Arial"/>
              </a:rPr>
              <a:t>sending Rs 500 Eidi to your cousin with a mobile-wallet app</a:t>
            </a:r>
            <a:endParaRPr lang="en-GB" sz="1500" dirty="0"/>
          </a:p>
        </p:txBody>
      </p:sp>
      <p:sp>
        <p:nvSpPr>
          <p:cNvPr id="14" name="Shape 14"/>
          <p:cNvSpPr/>
          <p:nvPr/>
        </p:nvSpPr>
        <p:spPr>
          <a:xfrm>
            <a:off x="548640" y="3063240"/>
            <a:ext cx="365760" cy="365760"/>
          </a:xfrm>
          <a:prstGeom prst="ellipse">
            <a:avLst/>
          </a:prstGeom>
          <a:solidFill>
            <a:srgbClr val="333399"/>
          </a:solidFill>
          <a:ln>
            <a:noFill/>
          </a:ln>
        </p:spPr>
        <p:txBody>
          <a:bodyPr wrap="square" lIns="0" tIns="0" rIns="0" bIns="0" anchor="ctr" rtlCol="0">
            <a:normAutofit/>
          </a:bodyPr>
          <a:lstStyle/>
          <a:p>
            <a:pPr algn="ctr">
              <a:buNone/>
            </a:pPr>
            <a:r>
              <a:rPr lang="en-GB" sz="1200" b="1" i="0" dirty="0">
                <a:solidFill>
                  <a:srgbClr val="FFFFFF"/>
                </a:solidFill>
                <a:latin typeface="Arial"/>
                <a:cs typeface="Arial"/>
              </a:rPr>
              <a:t>a</a:t>
            </a:r>
            <a:endParaRPr lang="en-GB" sz="1200" dirty="0"/>
          </a:p>
        </p:txBody>
      </p:sp>
      <p:sp>
        <p:nvSpPr>
          <p:cNvPr id="15" name="Shape 15"/>
          <p:cNvSpPr/>
          <p:nvPr/>
        </p:nvSpPr>
        <p:spPr>
          <a:xfrm>
            <a:off x="1051560" y="3017520"/>
            <a:ext cx="5394960" cy="457200"/>
          </a:xfrm>
          <a:prstGeom prst="rect">
            <a:avLst/>
          </a:prstGeom>
          <a:noFill/>
          <a:ln w="9525">
            <a:solidFill>
              <a:srgbClr val="9DB8BC"/>
            </a:solidFill>
          </a:ln>
        </p:spPr>
        <p:txBody>
          <a:bodyPr wrap="square" lIns="91440" tIns="91440" rIns="91440" bIns="91440" anchor="ctr" rtlCol="0">
            <a:normAutofit/>
          </a:bodyPr>
          <a:lstStyle/>
          <a:p>
            <a:pPr algn="l">
              <a:buNone/>
            </a:pPr>
            <a:r>
              <a:rPr lang="en-GB" sz="1300" b="0" i="0" dirty="0">
                <a:solidFill>
                  <a:srgbClr val="1A1A1A"/>
                </a:solidFill>
                <a:latin typeface="Arial"/>
                <a:cs typeface="Arial"/>
              </a:rPr>
              <a:t>Personal payments / mobile banking</a:t>
            </a:r>
            <a:endParaRPr lang="en-GB" sz="1300" dirty="0"/>
          </a:p>
        </p:txBody>
      </p:sp>
      <p:sp>
        <p:nvSpPr>
          <p:cNvPr id="16" name="Shape 16"/>
          <p:cNvSpPr/>
          <p:nvPr/>
        </p:nvSpPr>
        <p:spPr>
          <a:xfrm>
            <a:off x="6583680" y="3081528"/>
            <a:ext cx="1874520" cy="329184"/>
          </a:xfrm>
          <a:prstGeom prst="roundRect">
            <a:avLst>
              <a:gd name="adj" fmla="val 50000"/>
            </a:avLst>
          </a:prstGeom>
          <a:noFill/>
          <a:ln w="12700">
            <a:solidFill>
              <a:srgbClr val="9DB8BC"/>
            </a:solidFill>
            <a:prstDash val="dash"/>
          </a:ln>
        </p:spPr>
        <p:txBody>
          <a:bodyPr wrap="square" lIns="18288" tIns="18288" rIns="18288" bIns="18288" anchor="ctr" rtlCol="0">
            <a:normAutofit/>
          </a:bodyPr>
          <a:lstStyle/>
          <a:p>
            <a:pPr algn="ctr">
              <a:buNone/>
            </a:pPr>
            <a:r>
              <a:rPr lang="en-GB" sz="1200" b="0" i="0" dirty="0">
                <a:solidFill>
                  <a:srgbClr val="595959"/>
                </a:solidFill>
                <a:latin typeface="Arial"/>
                <a:cs typeface="Arial"/>
              </a:rPr>
              <a:t>D  /  G  /  T</a:t>
            </a:r>
            <a:endParaRPr lang="en-GB" sz="1200" dirty="0"/>
          </a:p>
        </p:txBody>
      </p:sp>
      <p:sp>
        <p:nvSpPr>
          <p:cNvPr id="17" name="Shape 17"/>
          <p:cNvSpPr/>
          <p:nvPr/>
        </p:nvSpPr>
        <p:spPr>
          <a:xfrm>
            <a:off x="548640" y="3666744"/>
            <a:ext cx="365760" cy="365760"/>
          </a:xfrm>
          <a:prstGeom prst="ellipse">
            <a:avLst/>
          </a:prstGeom>
          <a:solidFill>
            <a:srgbClr val="333399"/>
          </a:solidFill>
          <a:ln>
            <a:noFill/>
          </a:ln>
        </p:spPr>
        <p:txBody>
          <a:bodyPr wrap="square" lIns="0" tIns="0" rIns="0" bIns="0" anchor="ctr" rtlCol="0">
            <a:normAutofit/>
          </a:bodyPr>
          <a:lstStyle/>
          <a:p>
            <a:pPr algn="ctr">
              <a:buNone/>
            </a:pPr>
            <a:r>
              <a:rPr lang="en-GB" sz="1200" b="1" i="0" dirty="0">
                <a:solidFill>
                  <a:srgbClr val="FFFFFF"/>
                </a:solidFill>
                <a:latin typeface="Arial"/>
                <a:cs typeface="Arial"/>
              </a:rPr>
              <a:t>b</a:t>
            </a:r>
            <a:endParaRPr lang="en-GB" sz="1200" dirty="0"/>
          </a:p>
        </p:txBody>
      </p:sp>
      <p:sp>
        <p:nvSpPr>
          <p:cNvPr id="18" name="Shape 18"/>
          <p:cNvSpPr/>
          <p:nvPr/>
        </p:nvSpPr>
        <p:spPr>
          <a:xfrm>
            <a:off x="1051560" y="3621024"/>
            <a:ext cx="5394960" cy="457200"/>
          </a:xfrm>
          <a:prstGeom prst="rect">
            <a:avLst/>
          </a:prstGeom>
          <a:noFill/>
          <a:ln w="9525">
            <a:solidFill>
              <a:srgbClr val="9DB8BC"/>
            </a:solidFill>
          </a:ln>
        </p:spPr>
        <p:txBody>
          <a:bodyPr wrap="square" lIns="91440" tIns="91440" rIns="91440" bIns="91440" anchor="ctr" rtlCol="0">
            <a:normAutofit/>
          </a:bodyPr>
          <a:lstStyle/>
          <a:p>
            <a:pPr algn="l">
              <a:buNone/>
            </a:pPr>
            <a:r>
              <a:rPr lang="en-GB" sz="1300" b="0" i="0" dirty="0">
                <a:solidFill>
                  <a:srgbClr val="1A1A1A"/>
                </a:solidFill>
                <a:latin typeface="Arial"/>
                <a:cs typeface="Arial"/>
              </a:rPr>
              <a:t>My cousin receives Rs 500 Eidi today</a:t>
            </a:r>
            <a:endParaRPr lang="en-GB" sz="1300" dirty="0"/>
          </a:p>
        </p:txBody>
      </p:sp>
      <p:sp>
        <p:nvSpPr>
          <p:cNvPr id="19" name="Shape 19"/>
          <p:cNvSpPr/>
          <p:nvPr/>
        </p:nvSpPr>
        <p:spPr>
          <a:xfrm>
            <a:off x="6583680" y="3685032"/>
            <a:ext cx="1874520" cy="329184"/>
          </a:xfrm>
          <a:prstGeom prst="roundRect">
            <a:avLst>
              <a:gd name="adj" fmla="val 50000"/>
            </a:avLst>
          </a:prstGeom>
          <a:noFill/>
          <a:ln w="12700">
            <a:solidFill>
              <a:srgbClr val="9DB8BC"/>
            </a:solidFill>
            <a:prstDash val="dash"/>
          </a:ln>
        </p:spPr>
        <p:txBody>
          <a:bodyPr wrap="square" lIns="18288" tIns="18288" rIns="18288" bIns="18288" anchor="ctr" rtlCol="0">
            <a:normAutofit/>
          </a:bodyPr>
          <a:lstStyle/>
          <a:p>
            <a:pPr algn="ctr">
              <a:buNone/>
            </a:pPr>
            <a:r>
              <a:rPr lang="en-GB" sz="1200" b="0" i="0" dirty="0">
                <a:solidFill>
                  <a:srgbClr val="595959"/>
                </a:solidFill>
                <a:latin typeface="Arial"/>
                <a:cs typeface="Arial"/>
              </a:rPr>
              <a:t>D  /  G  /  T</a:t>
            </a:r>
            <a:endParaRPr lang="en-GB" sz="1200" dirty="0"/>
          </a:p>
        </p:txBody>
      </p:sp>
      <p:sp>
        <p:nvSpPr>
          <p:cNvPr id="20" name="Shape 20"/>
          <p:cNvSpPr/>
          <p:nvPr/>
        </p:nvSpPr>
        <p:spPr>
          <a:xfrm>
            <a:off x="548640" y="4270248"/>
            <a:ext cx="365760" cy="365760"/>
          </a:xfrm>
          <a:prstGeom prst="ellipse">
            <a:avLst/>
          </a:prstGeom>
          <a:solidFill>
            <a:srgbClr val="333399"/>
          </a:solidFill>
          <a:ln>
            <a:noFill/>
          </a:ln>
        </p:spPr>
        <p:txBody>
          <a:bodyPr wrap="square" lIns="0" tIns="0" rIns="0" bIns="0" anchor="ctr" rtlCol="0">
            <a:normAutofit/>
          </a:bodyPr>
          <a:lstStyle/>
          <a:p>
            <a:pPr algn="ctr">
              <a:buNone/>
            </a:pPr>
            <a:r>
              <a:rPr lang="en-GB" sz="1200" b="1" i="0" dirty="0">
                <a:solidFill>
                  <a:srgbClr val="FFFFFF"/>
                </a:solidFill>
                <a:latin typeface="Arial"/>
                <a:cs typeface="Arial"/>
              </a:rPr>
              <a:t>c</a:t>
            </a:r>
            <a:endParaRPr lang="en-GB" sz="1200" dirty="0"/>
          </a:p>
        </p:txBody>
      </p:sp>
      <p:sp>
        <p:nvSpPr>
          <p:cNvPr id="21" name="Shape 21"/>
          <p:cNvSpPr/>
          <p:nvPr/>
        </p:nvSpPr>
        <p:spPr>
          <a:xfrm>
            <a:off x="1051560" y="4224528"/>
            <a:ext cx="5394960" cy="457200"/>
          </a:xfrm>
          <a:prstGeom prst="rect">
            <a:avLst/>
          </a:prstGeom>
          <a:noFill/>
          <a:ln w="9525">
            <a:solidFill>
              <a:srgbClr val="9DB8BC"/>
            </a:solidFill>
          </a:ln>
        </p:spPr>
        <p:txBody>
          <a:bodyPr wrap="square" lIns="91440" tIns="91440" rIns="91440" bIns="91440" anchor="ctr" rtlCol="0">
            <a:normAutofit/>
          </a:bodyPr>
          <a:lstStyle/>
          <a:p>
            <a:pPr algn="l">
              <a:buNone/>
            </a:pPr>
            <a:r>
              <a:rPr lang="en-GB" sz="1300" b="0" i="0" dirty="0">
                <a:solidFill>
                  <a:srgbClr val="1A1A1A"/>
                </a:solidFill>
                <a:latin typeface="Arial"/>
                <a:cs typeface="Arial"/>
              </a:rPr>
              <a:t>Open app → Send Money → enter number → type 500 → enter PIN</a:t>
            </a:r>
            <a:endParaRPr lang="en-GB" sz="1300" dirty="0"/>
          </a:p>
        </p:txBody>
      </p:sp>
      <p:sp>
        <p:nvSpPr>
          <p:cNvPr id="22" name="Shape 22"/>
          <p:cNvSpPr/>
          <p:nvPr/>
        </p:nvSpPr>
        <p:spPr>
          <a:xfrm>
            <a:off x="6583680" y="4288536"/>
            <a:ext cx="1874520" cy="329184"/>
          </a:xfrm>
          <a:prstGeom prst="roundRect">
            <a:avLst>
              <a:gd name="adj" fmla="val 50000"/>
            </a:avLst>
          </a:prstGeom>
          <a:noFill/>
          <a:ln w="12700">
            <a:solidFill>
              <a:srgbClr val="9DB8BC"/>
            </a:solidFill>
            <a:prstDash val="dash"/>
          </a:ln>
        </p:spPr>
        <p:txBody>
          <a:bodyPr wrap="square" lIns="18288" tIns="18288" rIns="18288" bIns="18288" anchor="ctr" rtlCol="0">
            <a:normAutofit/>
          </a:bodyPr>
          <a:lstStyle/>
          <a:p>
            <a:pPr algn="ctr">
              <a:buNone/>
            </a:pPr>
            <a:r>
              <a:rPr lang="en-GB" sz="1200" b="0" i="0" dirty="0">
                <a:solidFill>
                  <a:srgbClr val="595959"/>
                </a:solidFill>
                <a:latin typeface="Arial"/>
                <a:cs typeface="Arial"/>
              </a:rPr>
              <a:t>D  /  G  /  T</a:t>
            </a:r>
            <a:endParaRPr lang="en-GB" sz="1200" dirty="0"/>
          </a:p>
        </p:txBody>
      </p:sp>
      <p:sp>
        <p:nvSpPr>
          <p:cNvPr id="23" name="Shape 23"/>
          <p:cNvSpPr/>
          <p:nvPr/>
        </p:nvSpPr>
        <p:spPr>
          <a:xfrm>
            <a:off x="548640" y="4873752"/>
            <a:ext cx="365760" cy="365760"/>
          </a:xfrm>
          <a:prstGeom prst="ellipse">
            <a:avLst/>
          </a:prstGeom>
          <a:solidFill>
            <a:srgbClr val="333399"/>
          </a:solidFill>
          <a:ln>
            <a:noFill/>
          </a:ln>
        </p:spPr>
        <p:txBody>
          <a:bodyPr wrap="square" lIns="0" tIns="0" rIns="0" bIns="0" anchor="ctr" rtlCol="0">
            <a:normAutofit/>
          </a:bodyPr>
          <a:lstStyle/>
          <a:p>
            <a:pPr algn="ctr">
              <a:buNone/>
            </a:pPr>
            <a:r>
              <a:rPr lang="en-GB" sz="1200" b="1" i="0" dirty="0">
                <a:solidFill>
                  <a:srgbClr val="FFFFFF"/>
                </a:solidFill>
                <a:latin typeface="Arial"/>
                <a:cs typeface="Arial"/>
              </a:rPr>
              <a:t>d</a:t>
            </a:r>
            <a:endParaRPr lang="en-GB" sz="1200" dirty="0"/>
          </a:p>
        </p:txBody>
      </p:sp>
      <p:sp>
        <p:nvSpPr>
          <p:cNvPr id="24" name="Shape 24"/>
          <p:cNvSpPr/>
          <p:nvPr/>
        </p:nvSpPr>
        <p:spPr>
          <a:xfrm>
            <a:off x="1051560" y="4828032"/>
            <a:ext cx="5394960" cy="457200"/>
          </a:xfrm>
          <a:prstGeom prst="rect">
            <a:avLst/>
          </a:prstGeom>
          <a:noFill/>
          <a:ln w="9525">
            <a:solidFill>
              <a:srgbClr val="9DB8BC"/>
            </a:solidFill>
          </a:ln>
        </p:spPr>
        <p:txBody>
          <a:bodyPr wrap="square" lIns="91440" tIns="91440" rIns="91440" bIns="91440" anchor="ctr" rtlCol="0">
            <a:normAutofit/>
          </a:bodyPr>
          <a:lstStyle/>
          <a:p>
            <a:pPr algn="l">
              <a:buNone/>
            </a:pPr>
            <a:r>
              <a:rPr lang="en-GB" sz="1300" b="0" i="0" dirty="0">
                <a:solidFill>
                  <a:srgbClr val="1A1A1A"/>
                </a:solidFill>
                <a:latin typeface="Arial"/>
                <a:cs typeface="Arial"/>
              </a:rPr>
              <a:t>Tap the ‘Send Money’ tile</a:t>
            </a:r>
            <a:endParaRPr lang="en-GB" sz="1300" dirty="0"/>
          </a:p>
        </p:txBody>
      </p:sp>
      <p:sp>
        <p:nvSpPr>
          <p:cNvPr id="25" name="Shape 25"/>
          <p:cNvSpPr/>
          <p:nvPr/>
        </p:nvSpPr>
        <p:spPr>
          <a:xfrm>
            <a:off x="6583680" y="4892040"/>
            <a:ext cx="1874520" cy="329184"/>
          </a:xfrm>
          <a:prstGeom prst="roundRect">
            <a:avLst>
              <a:gd name="adj" fmla="val 50000"/>
            </a:avLst>
          </a:prstGeom>
          <a:noFill/>
          <a:ln w="12700">
            <a:solidFill>
              <a:srgbClr val="9DB8BC"/>
            </a:solidFill>
            <a:prstDash val="dash"/>
          </a:ln>
        </p:spPr>
        <p:txBody>
          <a:bodyPr wrap="square" lIns="18288" tIns="18288" rIns="18288" bIns="18288" anchor="ctr" rtlCol="0">
            <a:normAutofit/>
          </a:bodyPr>
          <a:lstStyle/>
          <a:p>
            <a:pPr algn="ctr">
              <a:buNone/>
            </a:pPr>
            <a:r>
              <a:rPr lang="en-GB" sz="1200" b="0" i="0" dirty="0">
                <a:solidFill>
                  <a:srgbClr val="595959"/>
                </a:solidFill>
                <a:latin typeface="Arial"/>
                <a:cs typeface="Arial"/>
              </a:rPr>
              <a:t>D  /  G  /  T</a:t>
            </a:r>
            <a:endParaRPr lang="en-GB" sz="1200" dirty="0"/>
          </a:p>
        </p:txBody>
      </p:sp>
      <p:sp>
        <p:nvSpPr>
          <p:cNvPr id="26" name="Shape 26"/>
          <p:cNvSpPr/>
          <p:nvPr/>
        </p:nvSpPr>
        <p:spPr>
          <a:xfrm>
            <a:off x="548640" y="5477256"/>
            <a:ext cx="365760" cy="365760"/>
          </a:xfrm>
          <a:prstGeom prst="ellipse">
            <a:avLst/>
          </a:prstGeom>
          <a:solidFill>
            <a:srgbClr val="333399"/>
          </a:solidFill>
          <a:ln>
            <a:noFill/>
          </a:ln>
        </p:spPr>
        <p:txBody>
          <a:bodyPr wrap="square" lIns="0" tIns="0" rIns="0" bIns="0" anchor="ctr" rtlCol="0">
            <a:normAutofit/>
          </a:bodyPr>
          <a:lstStyle/>
          <a:p>
            <a:pPr algn="ctr">
              <a:buNone/>
            </a:pPr>
            <a:r>
              <a:rPr lang="en-GB" sz="1200" b="1" i="0" dirty="0">
                <a:solidFill>
                  <a:srgbClr val="FFFFFF"/>
                </a:solidFill>
                <a:latin typeface="Arial"/>
                <a:cs typeface="Arial"/>
              </a:rPr>
              <a:t>e</a:t>
            </a:r>
            <a:endParaRPr lang="en-GB" sz="1200" dirty="0"/>
          </a:p>
        </p:txBody>
      </p:sp>
      <p:sp>
        <p:nvSpPr>
          <p:cNvPr id="27" name="Shape 27"/>
          <p:cNvSpPr/>
          <p:nvPr/>
        </p:nvSpPr>
        <p:spPr>
          <a:xfrm>
            <a:off x="1051560" y="5431536"/>
            <a:ext cx="5394960" cy="457200"/>
          </a:xfrm>
          <a:prstGeom prst="rect">
            <a:avLst/>
          </a:prstGeom>
          <a:noFill/>
          <a:ln w="9525">
            <a:solidFill>
              <a:srgbClr val="9DB8BC"/>
            </a:solidFill>
          </a:ln>
        </p:spPr>
        <p:txBody>
          <a:bodyPr wrap="square" lIns="91440" tIns="91440" rIns="91440" bIns="91440" anchor="ctr" rtlCol="0">
            <a:normAutofit/>
          </a:bodyPr>
          <a:lstStyle/>
          <a:p>
            <a:pPr algn="l">
              <a:buNone/>
            </a:pPr>
            <a:r>
              <a:rPr lang="en-GB" sz="1300" b="0" i="0" dirty="0">
                <a:solidFill>
                  <a:srgbClr val="1A1A1A"/>
                </a:solidFill>
                <a:latin typeface="Arial"/>
                <a:cs typeface="Arial"/>
              </a:rPr>
              <a:t>Don’t overspend my pocket money this month</a:t>
            </a:r>
            <a:endParaRPr lang="en-GB" sz="1300" dirty="0"/>
          </a:p>
        </p:txBody>
      </p:sp>
      <p:sp>
        <p:nvSpPr>
          <p:cNvPr id="28" name="Shape 28"/>
          <p:cNvSpPr/>
          <p:nvPr/>
        </p:nvSpPr>
        <p:spPr>
          <a:xfrm>
            <a:off x="6583680" y="5495544"/>
            <a:ext cx="1874520" cy="329184"/>
          </a:xfrm>
          <a:prstGeom prst="roundRect">
            <a:avLst>
              <a:gd name="adj" fmla="val 50000"/>
            </a:avLst>
          </a:prstGeom>
          <a:noFill/>
          <a:ln w="12700">
            <a:solidFill>
              <a:srgbClr val="9DB8BC"/>
            </a:solidFill>
            <a:prstDash val="dash"/>
          </a:ln>
        </p:spPr>
        <p:txBody>
          <a:bodyPr wrap="square" lIns="18288" tIns="18288" rIns="18288" bIns="18288" anchor="ctr" rtlCol="0">
            <a:normAutofit/>
          </a:bodyPr>
          <a:lstStyle/>
          <a:p>
            <a:pPr algn="ctr">
              <a:buNone/>
            </a:pPr>
            <a:r>
              <a:rPr lang="en-GB" sz="1200" b="0" i="0" dirty="0">
                <a:solidFill>
                  <a:srgbClr val="595959"/>
                </a:solidFill>
                <a:latin typeface="Arial"/>
                <a:cs typeface="Arial"/>
              </a:rPr>
              <a:t>D  /  G  /  T</a:t>
            </a:r>
            <a:endParaRPr lang="en-GB" sz="12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200" b="0" i="0" dirty="0">
                <a:solidFill>
                  <a:srgbClr val="2D2D8A"/>
                </a:solidFill>
                <a:latin typeface="Arial"/>
                <a:cs typeface="Arial"/>
              </a:rPr>
              <a:t>Domain, goal or task?</a:t>
            </a:r>
          </a:p>
        </p:txBody>
      </p:sp>
      <p:sp>
        <p:nvSpPr>
          <p:cNvPr id="11" name="Shape 11"/>
          <p:cNvSpPr/>
          <p:nvPr/>
        </p:nvSpPr>
        <p:spPr>
          <a:xfrm>
            <a:off x="548640" y="1810512"/>
            <a:ext cx="873252" cy="310896"/>
          </a:xfrm>
          <a:prstGeom prst="roundRect">
            <a:avLst>
              <a:gd name="adj" fmla="val 50000"/>
            </a:avLst>
          </a:prstGeom>
          <a:solidFill>
            <a:srgbClr val="404040"/>
          </a:solidFill>
          <a:ln>
            <a:noFill/>
          </a:ln>
        </p:spPr>
        <p:txBody>
          <a:bodyPr wrap="square" lIns="27432" tIns="27432" rIns="27432" bIns="27432" anchor="ctr" rtlCol="0">
            <a:normAutofit/>
          </a:bodyPr>
          <a:lstStyle/>
          <a:p>
            <a:pPr algn="ctr">
              <a:buNone/>
            </a:pPr>
            <a:r>
              <a:rPr lang="en-GB" sz="1100" b="1" i="0" dirty="0">
                <a:solidFill>
                  <a:srgbClr val="FFFFFF"/>
                </a:solidFill>
                <a:latin typeface="Arial"/>
                <a:cs typeface="Arial"/>
              </a:rPr>
              <a:t>ANSWERS</a:t>
            </a:r>
            <a:endParaRPr lang="en-GB" sz="1100" dirty="0"/>
          </a:p>
        </p:txBody>
      </p:sp>
      <p:sp>
        <p:nvSpPr>
          <p:cNvPr id="12" name="Shape 12"/>
          <p:cNvSpPr txBox="1"/>
          <p:nvPr/>
        </p:nvSpPr>
        <p:spPr>
          <a:xfrm>
            <a:off x="1531620" y="1810512"/>
            <a:ext cx="5486400" cy="310896"/>
          </a:xfrm>
          <a:prstGeom prst="rect">
            <a:avLst/>
          </a:prstGeom>
          <a:noFill/>
          <a:ln>
            <a:noFill/>
          </a:ln>
        </p:spPr>
        <p:txBody>
          <a:bodyPr wrap="square" lIns="18288" tIns="18288" rIns="18288" bIns="18288" anchor="ctr" rtlCol="0">
            <a:normAutofit/>
          </a:bodyPr>
          <a:lstStyle/>
          <a:p>
            <a:pPr algn="l">
              <a:buNone/>
            </a:pPr>
            <a:r>
              <a:rPr lang="en-GB" sz="1200" b="0" i="1" dirty="0">
                <a:solidFill>
                  <a:srgbClr val="595959"/>
                </a:solidFill>
                <a:latin typeface="Arial"/>
                <a:cs typeface="Arial"/>
              </a:rPr>
              <a:t>domain, goal or task?</a:t>
            </a:r>
            <a:endParaRPr lang="en-GB" sz="1200" dirty="0"/>
          </a:p>
        </p:txBody>
      </p:sp>
      <p:sp>
        <p:nvSpPr>
          <p:cNvPr id="13" name="Shape 13"/>
          <p:cNvSpPr/>
          <p:nvPr/>
        </p:nvSpPr>
        <p:spPr>
          <a:xfrm>
            <a:off x="548640" y="2286000"/>
            <a:ext cx="7955280" cy="502920"/>
          </a:xfrm>
          <a:prstGeom prst="roundRect">
            <a:avLst>
              <a:gd name="adj" fmla="val 20000"/>
            </a:avLst>
          </a:prstGeom>
          <a:solidFill>
            <a:srgbClr val="F3F8F9"/>
          </a:solidFill>
          <a:ln w="12700">
            <a:solidFill>
              <a:srgbClr val="9DB8BC"/>
            </a:solidFill>
          </a:ln>
        </p:spPr>
        <p:txBody>
          <a:bodyPr wrap="square" lIns="109728" tIns="109728" rIns="109728" bIns="109728" anchor="ctr" rtlCol="0">
            <a:normAutofit/>
          </a:bodyPr>
          <a:lstStyle/>
          <a:p>
            <a:pPr algn="l">
              <a:buNone/>
            </a:pPr>
            <a:r>
              <a:rPr lang="en-GB" sz="1500" b="1" i="0" dirty="0">
                <a:solidFill>
                  <a:srgbClr val="2D2D8A"/>
                </a:solidFill>
                <a:latin typeface="Arial"/>
                <a:cs typeface="Arial"/>
              </a:rPr>
              <a:t xml:space="preserve">Scenario: </a:t>
            </a:r>
            <a:r>
              <a:rPr lang="en-GB" sz="1500" b="0" i="0" dirty="0">
                <a:solidFill>
                  <a:srgbClr val="1A1A1A"/>
                </a:solidFill>
                <a:latin typeface="Arial"/>
                <a:cs typeface="Arial"/>
              </a:rPr>
              <a:t>sending Rs 500 Eidi to your cousin with a mobile-wallet app</a:t>
            </a:r>
            <a:endParaRPr lang="en-GB" sz="1500" dirty="0"/>
          </a:p>
        </p:txBody>
      </p:sp>
      <p:sp>
        <p:nvSpPr>
          <p:cNvPr id="14" name="Shape 14"/>
          <p:cNvSpPr/>
          <p:nvPr/>
        </p:nvSpPr>
        <p:spPr>
          <a:xfrm>
            <a:off x="548640" y="3063240"/>
            <a:ext cx="365760" cy="365760"/>
          </a:xfrm>
          <a:prstGeom prst="ellipse">
            <a:avLst/>
          </a:prstGeom>
          <a:solidFill>
            <a:srgbClr val="333399"/>
          </a:solidFill>
          <a:ln>
            <a:noFill/>
          </a:ln>
        </p:spPr>
        <p:txBody>
          <a:bodyPr wrap="square" lIns="0" tIns="0" rIns="0" bIns="0" anchor="ctr" rtlCol="0">
            <a:normAutofit/>
          </a:bodyPr>
          <a:lstStyle/>
          <a:p>
            <a:pPr algn="ctr">
              <a:buNone/>
            </a:pPr>
            <a:r>
              <a:rPr lang="en-GB" sz="1200" b="1" i="0" dirty="0">
                <a:solidFill>
                  <a:srgbClr val="FFFFFF"/>
                </a:solidFill>
                <a:latin typeface="Arial"/>
                <a:cs typeface="Arial"/>
              </a:rPr>
              <a:t>a</a:t>
            </a:r>
            <a:endParaRPr lang="en-GB" sz="1200" dirty="0"/>
          </a:p>
        </p:txBody>
      </p:sp>
      <p:sp>
        <p:nvSpPr>
          <p:cNvPr id="15" name="Shape 15"/>
          <p:cNvSpPr/>
          <p:nvPr/>
        </p:nvSpPr>
        <p:spPr>
          <a:xfrm>
            <a:off x="1051560" y="3017520"/>
            <a:ext cx="5394960" cy="457200"/>
          </a:xfrm>
          <a:prstGeom prst="rect">
            <a:avLst/>
          </a:prstGeom>
          <a:noFill/>
          <a:ln w="9525">
            <a:solidFill>
              <a:srgbClr val="9DB8BC"/>
            </a:solidFill>
          </a:ln>
        </p:spPr>
        <p:txBody>
          <a:bodyPr wrap="square" lIns="91440" tIns="91440" rIns="91440" bIns="91440" anchor="ctr" rtlCol="0">
            <a:normAutofit/>
          </a:bodyPr>
          <a:lstStyle/>
          <a:p>
            <a:pPr algn="l">
              <a:buNone/>
            </a:pPr>
            <a:r>
              <a:rPr lang="en-GB" sz="1300" b="0" i="0" dirty="0">
                <a:solidFill>
                  <a:srgbClr val="1A1A1A"/>
                </a:solidFill>
                <a:latin typeface="Arial"/>
                <a:cs typeface="Arial"/>
              </a:rPr>
              <a:t>Personal payments / mobile banking</a:t>
            </a:r>
            <a:endParaRPr lang="en-GB" sz="1300" dirty="0"/>
          </a:p>
        </p:txBody>
      </p:sp>
      <p:sp>
        <p:nvSpPr>
          <p:cNvPr id="16" name="Shape 16"/>
          <p:cNvSpPr/>
          <p:nvPr/>
        </p:nvSpPr>
        <p:spPr>
          <a:xfrm>
            <a:off x="6583680" y="3081528"/>
            <a:ext cx="1874520" cy="329184"/>
          </a:xfrm>
          <a:prstGeom prst="roundRect">
            <a:avLst>
              <a:gd name="adj" fmla="val 50000"/>
            </a:avLst>
          </a:prstGeom>
          <a:solidFill>
            <a:srgbClr val="00726F"/>
          </a:solidFill>
          <a:ln>
            <a:noFill/>
          </a:ln>
        </p:spPr>
        <p:txBody>
          <a:bodyPr wrap="square" lIns="18288" tIns="18288" rIns="18288" bIns="18288" anchor="ctr" rtlCol="0">
            <a:normAutofit/>
          </a:bodyPr>
          <a:lstStyle/>
          <a:p>
            <a:pPr algn="ctr">
              <a:buNone/>
            </a:pPr>
            <a:r>
              <a:rPr lang="en-GB" sz="1100" b="1" i="0" dirty="0">
                <a:solidFill>
                  <a:srgbClr val="FFFFFF"/>
                </a:solidFill>
                <a:latin typeface="Arial"/>
                <a:cs typeface="Arial"/>
              </a:rPr>
              <a:t>DOMAIN</a:t>
            </a:r>
            <a:endParaRPr lang="en-GB" sz="1100" dirty="0"/>
          </a:p>
        </p:txBody>
      </p:sp>
      <p:sp>
        <p:nvSpPr>
          <p:cNvPr id="17" name="Shape 17"/>
          <p:cNvSpPr/>
          <p:nvPr/>
        </p:nvSpPr>
        <p:spPr>
          <a:xfrm>
            <a:off x="548640" y="3666744"/>
            <a:ext cx="365760" cy="365760"/>
          </a:xfrm>
          <a:prstGeom prst="ellipse">
            <a:avLst/>
          </a:prstGeom>
          <a:solidFill>
            <a:srgbClr val="333399"/>
          </a:solidFill>
          <a:ln>
            <a:noFill/>
          </a:ln>
        </p:spPr>
        <p:txBody>
          <a:bodyPr wrap="square" lIns="0" tIns="0" rIns="0" bIns="0" anchor="ctr" rtlCol="0">
            <a:normAutofit/>
          </a:bodyPr>
          <a:lstStyle/>
          <a:p>
            <a:pPr algn="ctr">
              <a:buNone/>
            </a:pPr>
            <a:r>
              <a:rPr lang="en-GB" sz="1200" b="1" i="0" dirty="0">
                <a:solidFill>
                  <a:srgbClr val="FFFFFF"/>
                </a:solidFill>
                <a:latin typeface="Arial"/>
                <a:cs typeface="Arial"/>
              </a:rPr>
              <a:t>b</a:t>
            </a:r>
            <a:endParaRPr lang="en-GB" sz="1200" dirty="0"/>
          </a:p>
        </p:txBody>
      </p:sp>
      <p:sp>
        <p:nvSpPr>
          <p:cNvPr id="18" name="Shape 18"/>
          <p:cNvSpPr/>
          <p:nvPr/>
        </p:nvSpPr>
        <p:spPr>
          <a:xfrm>
            <a:off x="1051560" y="3621024"/>
            <a:ext cx="5394960" cy="457200"/>
          </a:xfrm>
          <a:prstGeom prst="rect">
            <a:avLst/>
          </a:prstGeom>
          <a:noFill/>
          <a:ln w="9525">
            <a:solidFill>
              <a:srgbClr val="9DB8BC"/>
            </a:solidFill>
          </a:ln>
        </p:spPr>
        <p:txBody>
          <a:bodyPr wrap="square" lIns="91440" tIns="91440" rIns="91440" bIns="91440" anchor="ctr" rtlCol="0">
            <a:normAutofit/>
          </a:bodyPr>
          <a:lstStyle/>
          <a:p>
            <a:pPr algn="l">
              <a:buNone/>
            </a:pPr>
            <a:r>
              <a:rPr lang="en-GB" sz="1300" b="0" i="0" dirty="0">
                <a:solidFill>
                  <a:srgbClr val="1A1A1A"/>
                </a:solidFill>
                <a:latin typeface="Arial"/>
                <a:cs typeface="Arial"/>
              </a:rPr>
              <a:t>My cousin receives Rs 500 Eidi today</a:t>
            </a:r>
            <a:endParaRPr lang="en-GB" sz="1300" dirty="0"/>
          </a:p>
        </p:txBody>
      </p:sp>
      <p:sp>
        <p:nvSpPr>
          <p:cNvPr id="19" name="Shape 19"/>
          <p:cNvSpPr/>
          <p:nvPr/>
        </p:nvSpPr>
        <p:spPr>
          <a:xfrm>
            <a:off x="6583680" y="3685032"/>
            <a:ext cx="1874520" cy="329184"/>
          </a:xfrm>
          <a:prstGeom prst="roundRect">
            <a:avLst>
              <a:gd name="adj" fmla="val 50000"/>
            </a:avLst>
          </a:prstGeom>
          <a:solidFill>
            <a:srgbClr val="333399"/>
          </a:solidFill>
          <a:ln>
            <a:noFill/>
          </a:ln>
        </p:spPr>
        <p:txBody>
          <a:bodyPr wrap="square" lIns="18288" tIns="18288" rIns="18288" bIns="18288" anchor="ctr" rtlCol="0">
            <a:normAutofit/>
          </a:bodyPr>
          <a:lstStyle/>
          <a:p>
            <a:pPr algn="ctr">
              <a:buNone/>
            </a:pPr>
            <a:r>
              <a:rPr lang="en-GB" sz="1100" b="1" i="0" dirty="0">
                <a:solidFill>
                  <a:srgbClr val="FFFFFF"/>
                </a:solidFill>
                <a:latin typeface="Arial"/>
                <a:cs typeface="Arial"/>
              </a:rPr>
              <a:t>GOAL</a:t>
            </a:r>
            <a:endParaRPr lang="en-GB" sz="1100" dirty="0"/>
          </a:p>
        </p:txBody>
      </p:sp>
      <p:sp>
        <p:nvSpPr>
          <p:cNvPr id="20" name="Shape 20"/>
          <p:cNvSpPr/>
          <p:nvPr/>
        </p:nvSpPr>
        <p:spPr>
          <a:xfrm>
            <a:off x="548640" y="4270248"/>
            <a:ext cx="365760" cy="365760"/>
          </a:xfrm>
          <a:prstGeom prst="ellipse">
            <a:avLst/>
          </a:prstGeom>
          <a:solidFill>
            <a:srgbClr val="333399"/>
          </a:solidFill>
          <a:ln>
            <a:noFill/>
          </a:ln>
        </p:spPr>
        <p:txBody>
          <a:bodyPr wrap="square" lIns="0" tIns="0" rIns="0" bIns="0" anchor="ctr" rtlCol="0">
            <a:normAutofit/>
          </a:bodyPr>
          <a:lstStyle/>
          <a:p>
            <a:pPr algn="ctr">
              <a:buNone/>
            </a:pPr>
            <a:r>
              <a:rPr lang="en-GB" sz="1200" b="1" i="0" dirty="0">
                <a:solidFill>
                  <a:srgbClr val="FFFFFF"/>
                </a:solidFill>
                <a:latin typeface="Arial"/>
                <a:cs typeface="Arial"/>
              </a:rPr>
              <a:t>c</a:t>
            </a:r>
            <a:endParaRPr lang="en-GB" sz="1200" dirty="0"/>
          </a:p>
        </p:txBody>
      </p:sp>
      <p:sp>
        <p:nvSpPr>
          <p:cNvPr id="21" name="Shape 21"/>
          <p:cNvSpPr/>
          <p:nvPr/>
        </p:nvSpPr>
        <p:spPr>
          <a:xfrm>
            <a:off x="1051560" y="4224528"/>
            <a:ext cx="5394960" cy="457200"/>
          </a:xfrm>
          <a:prstGeom prst="rect">
            <a:avLst/>
          </a:prstGeom>
          <a:noFill/>
          <a:ln w="9525">
            <a:solidFill>
              <a:srgbClr val="9DB8BC"/>
            </a:solidFill>
          </a:ln>
        </p:spPr>
        <p:txBody>
          <a:bodyPr wrap="square" lIns="91440" tIns="91440" rIns="91440" bIns="91440" anchor="ctr" rtlCol="0">
            <a:normAutofit/>
          </a:bodyPr>
          <a:lstStyle/>
          <a:p>
            <a:pPr algn="l">
              <a:buNone/>
            </a:pPr>
            <a:r>
              <a:rPr lang="en-GB" sz="1300" b="0" i="0" dirty="0">
                <a:solidFill>
                  <a:srgbClr val="1A1A1A"/>
                </a:solidFill>
                <a:latin typeface="Arial"/>
                <a:cs typeface="Arial"/>
              </a:rPr>
              <a:t>Open app → Send Money → enter number → type 500 → enter PIN</a:t>
            </a:r>
            <a:endParaRPr lang="en-GB" sz="1300" dirty="0"/>
          </a:p>
        </p:txBody>
      </p:sp>
      <p:sp>
        <p:nvSpPr>
          <p:cNvPr id="22" name="Shape 22"/>
          <p:cNvSpPr/>
          <p:nvPr/>
        </p:nvSpPr>
        <p:spPr>
          <a:xfrm>
            <a:off x="6583680" y="4288536"/>
            <a:ext cx="1874520" cy="329184"/>
          </a:xfrm>
          <a:prstGeom prst="roundRect">
            <a:avLst>
              <a:gd name="adj" fmla="val 50000"/>
            </a:avLst>
          </a:prstGeom>
          <a:solidFill>
            <a:srgbClr val="B03A2E"/>
          </a:solidFill>
          <a:ln>
            <a:noFill/>
          </a:ln>
        </p:spPr>
        <p:txBody>
          <a:bodyPr wrap="square" lIns="18288" tIns="18288" rIns="18288" bIns="18288" anchor="ctr" rtlCol="0">
            <a:normAutofit/>
          </a:bodyPr>
          <a:lstStyle/>
          <a:p>
            <a:pPr algn="ctr">
              <a:buNone/>
            </a:pPr>
            <a:r>
              <a:rPr lang="en-GB" sz="1100" b="1" i="0" dirty="0">
                <a:solidFill>
                  <a:srgbClr val="FFFFFF"/>
                </a:solidFill>
                <a:latin typeface="Arial"/>
                <a:cs typeface="Arial"/>
              </a:rPr>
              <a:t>TASK</a:t>
            </a:r>
            <a:endParaRPr lang="en-GB" sz="1100" dirty="0"/>
          </a:p>
        </p:txBody>
      </p:sp>
      <p:sp>
        <p:nvSpPr>
          <p:cNvPr id="23" name="Shape 23"/>
          <p:cNvSpPr/>
          <p:nvPr/>
        </p:nvSpPr>
        <p:spPr>
          <a:xfrm>
            <a:off x="548640" y="4873752"/>
            <a:ext cx="365760" cy="365760"/>
          </a:xfrm>
          <a:prstGeom prst="ellipse">
            <a:avLst/>
          </a:prstGeom>
          <a:solidFill>
            <a:srgbClr val="333399"/>
          </a:solidFill>
          <a:ln>
            <a:noFill/>
          </a:ln>
        </p:spPr>
        <p:txBody>
          <a:bodyPr wrap="square" lIns="0" tIns="0" rIns="0" bIns="0" anchor="ctr" rtlCol="0">
            <a:normAutofit/>
          </a:bodyPr>
          <a:lstStyle/>
          <a:p>
            <a:pPr algn="ctr">
              <a:buNone/>
            </a:pPr>
            <a:r>
              <a:rPr lang="en-GB" sz="1200" b="1" i="0" dirty="0">
                <a:solidFill>
                  <a:srgbClr val="FFFFFF"/>
                </a:solidFill>
                <a:latin typeface="Arial"/>
                <a:cs typeface="Arial"/>
              </a:rPr>
              <a:t>d</a:t>
            </a:r>
            <a:endParaRPr lang="en-GB" sz="1200" dirty="0"/>
          </a:p>
        </p:txBody>
      </p:sp>
      <p:sp>
        <p:nvSpPr>
          <p:cNvPr id="24" name="Shape 24"/>
          <p:cNvSpPr/>
          <p:nvPr/>
        </p:nvSpPr>
        <p:spPr>
          <a:xfrm>
            <a:off x="1051560" y="4828032"/>
            <a:ext cx="5394960" cy="457200"/>
          </a:xfrm>
          <a:prstGeom prst="rect">
            <a:avLst/>
          </a:prstGeom>
          <a:noFill/>
          <a:ln w="9525">
            <a:solidFill>
              <a:srgbClr val="9DB8BC"/>
            </a:solidFill>
          </a:ln>
        </p:spPr>
        <p:txBody>
          <a:bodyPr wrap="square" lIns="91440" tIns="91440" rIns="91440" bIns="91440" anchor="ctr" rtlCol="0">
            <a:normAutofit/>
          </a:bodyPr>
          <a:lstStyle/>
          <a:p>
            <a:pPr algn="l">
              <a:buNone/>
            </a:pPr>
            <a:r>
              <a:rPr lang="en-GB" sz="1300" b="0" i="0" dirty="0">
                <a:solidFill>
                  <a:srgbClr val="1A1A1A"/>
                </a:solidFill>
                <a:latin typeface="Arial"/>
                <a:cs typeface="Arial"/>
              </a:rPr>
              <a:t>Tap the ‘Send Money’ tile</a:t>
            </a:r>
            <a:endParaRPr lang="en-GB" sz="1300" dirty="0"/>
          </a:p>
        </p:txBody>
      </p:sp>
      <p:sp>
        <p:nvSpPr>
          <p:cNvPr id="25" name="Shape 25"/>
          <p:cNvSpPr/>
          <p:nvPr/>
        </p:nvSpPr>
        <p:spPr>
          <a:xfrm>
            <a:off x="6583680" y="4892040"/>
            <a:ext cx="1874520" cy="329184"/>
          </a:xfrm>
          <a:prstGeom prst="roundRect">
            <a:avLst>
              <a:gd name="adj" fmla="val 50000"/>
            </a:avLst>
          </a:prstGeom>
          <a:solidFill>
            <a:srgbClr val="B03A2E"/>
          </a:solidFill>
          <a:ln>
            <a:noFill/>
          </a:ln>
        </p:spPr>
        <p:txBody>
          <a:bodyPr wrap="square" lIns="18288" tIns="18288" rIns="18288" bIns="18288" anchor="ctr" rtlCol="0">
            <a:normAutofit/>
          </a:bodyPr>
          <a:lstStyle/>
          <a:p>
            <a:pPr algn="ctr">
              <a:buNone/>
            </a:pPr>
            <a:r>
              <a:rPr lang="en-GB" sz="1100" b="1" i="0" dirty="0">
                <a:solidFill>
                  <a:srgbClr val="FFFFFF"/>
                </a:solidFill>
                <a:latin typeface="Arial"/>
                <a:cs typeface="Arial"/>
              </a:rPr>
              <a:t>TASK (action)</a:t>
            </a:r>
            <a:endParaRPr lang="en-GB" sz="1100" dirty="0"/>
          </a:p>
        </p:txBody>
      </p:sp>
      <p:sp>
        <p:nvSpPr>
          <p:cNvPr id="26" name="Shape 26"/>
          <p:cNvSpPr/>
          <p:nvPr/>
        </p:nvSpPr>
        <p:spPr>
          <a:xfrm>
            <a:off x="548640" y="5477256"/>
            <a:ext cx="365760" cy="365760"/>
          </a:xfrm>
          <a:prstGeom prst="ellipse">
            <a:avLst/>
          </a:prstGeom>
          <a:solidFill>
            <a:srgbClr val="333399"/>
          </a:solidFill>
          <a:ln>
            <a:noFill/>
          </a:ln>
        </p:spPr>
        <p:txBody>
          <a:bodyPr wrap="square" lIns="0" tIns="0" rIns="0" bIns="0" anchor="ctr" rtlCol="0">
            <a:normAutofit/>
          </a:bodyPr>
          <a:lstStyle/>
          <a:p>
            <a:pPr algn="ctr">
              <a:buNone/>
            </a:pPr>
            <a:r>
              <a:rPr lang="en-GB" sz="1200" b="1" i="0" dirty="0">
                <a:solidFill>
                  <a:srgbClr val="FFFFFF"/>
                </a:solidFill>
                <a:latin typeface="Arial"/>
                <a:cs typeface="Arial"/>
              </a:rPr>
              <a:t>e</a:t>
            </a:r>
            <a:endParaRPr lang="en-GB" sz="1200" dirty="0"/>
          </a:p>
        </p:txBody>
      </p:sp>
      <p:sp>
        <p:nvSpPr>
          <p:cNvPr id="27" name="Shape 27"/>
          <p:cNvSpPr/>
          <p:nvPr/>
        </p:nvSpPr>
        <p:spPr>
          <a:xfrm>
            <a:off x="1051560" y="5431536"/>
            <a:ext cx="5394960" cy="457200"/>
          </a:xfrm>
          <a:prstGeom prst="rect">
            <a:avLst/>
          </a:prstGeom>
          <a:noFill/>
          <a:ln w="9525">
            <a:solidFill>
              <a:srgbClr val="9DB8BC"/>
            </a:solidFill>
          </a:ln>
        </p:spPr>
        <p:txBody>
          <a:bodyPr wrap="square" lIns="91440" tIns="91440" rIns="91440" bIns="91440" anchor="ctr" rtlCol="0">
            <a:normAutofit/>
          </a:bodyPr>
          <a:lstStyle/>
          <a:p>
            <a:pPr algn="l">
              <a:buNone/>
            </a:pPr>
            <a:r>
              <a:rPr lang="en-GB" sz="1300" b="0" i="0" dirty="0">
                <a:solidFill>
                  <a:srgbClr val="1A1A1A"/>
                </a:solidFill>
                <a:latin typeface="Arial"/>
                <a:cs typeface="Arial"/>
              </a:rPr>
              <a:t>Don’t overspend my pocket money this month</a:t>
            </a:r>
            <a:endParaRPr lang="en-GB" sz="1300" dirty="0"/>
          </a:p>
        </p:txBody>
      </p:sp>
      <p:sp>
        <p:nvSpPr>
          <p:cNvPr id="28" name="Shape 28"/>
          <p:cNvSpPr/>
          <p:nvPr/>
        </p:nvSpPr>
        <p:spPr>
          <a:xfrm>
            <a:off x="6583680" y="5495544"/>
            <a:ext cx="1874520" cy="329184"/>
          </a:xfrm>
          <a:prstGeom prst="roundRect">
            <a:avLst>
              <a:gd name="adj" fmla="val 50000"/>
            </a:avLst>
          </a:prstGeom>
          <a:solidFill>
            <a:srgbClr val="333399"/>
          </a:solidFill>
          <a:ln>
            <a:noFill/>
          </a:ln>
        </p:spPr>
        <p:txBody>
          <a:bodyPr wrap="square" lIns="18288" tIns="18288" rIns="18288" bIns="18288" anchor="ctr" rtlCol="0">
            <a:normAutofit/>
          </a:bodyPr>
          <a:lstStyle/>
          <a:p>
            <a:pPr algn="ctr">
              <a:buNone/>
            </a:pPr>
            <a:r>
              <a:rPr lang="en-GB" sz="1100" b="1" i="0" dirty="0">
                <a:solidFill>
                  <a:srgbClr val="FFFFFF"/>
                </a:solidFill>
                <a:latin typeface="Arial"/>
                <a:cs typeface="Arial"/>
              </a:rPr>
              <a:t>GOAL (higher-level)</a:t>
            </a:r>
            <a:endParaRPr lang="en-GB" sz="1100" dirty="0"/>
          </a:p>
        </p:txBody>
      </p:sp>
      <p:sp>
        <p:nvSpPr>
          <p:cNvPr id="29" name="Shape 29"/>
          <p:cNvSpPr txBox="1"/>
          <p:nvPr/>
        </p:nvSpPr>
        <p:spPr>
          <a:xfrm>
            <a:off x="548640" y="6080760"/>
            <a:ext cx="7955280" cy="411480"/>
          </a:xfrm>
          <a:prstGeom prst="rect">
            <a:avLst/>
          </a:prstGeom>
          <a:noFill/>
          <a:ln>
            <a:noFill/>
          </a:ln>
        </p:spPr>
        <p:txBody>
          <a:bodyPr wrap="square" lIns="18288" tIns="18288" rIns="18288" bIns="18288" anchor="t" rtlCol="0">
            <a:normAutofit/>
          </a:bodyPr>
          <a:lstStyle/>
          <a:p>
            <a:pPr algn="l">
              <a:buNone/>
            </a:pPr>
            <a:r>
              <a:rPr lang="en-GB" sz="1200" b="0" i="1" dirty="0">
                <a:solidFill>
                  <a:srgbClr val="595959"/>
                </a:solidFill>
                <a:latin typeface="Arial"/>
                <a:cs typeface="Arial"/>
              </a:rPr>
              <a:t>Goals nest: a goal at one level is a task at the level above. That is why the book warns that “use of terms differs a lot”.</a:t>
            </a:r>
            <a:endParaRPr lang="en-GB" sz="12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200" b="0" i="0" dirty="0">
                <a:solidFill>
                  <a:srgbClr val="2D2D8A"/>
                </a:solidFill>
                <a:latin typeface="Arial"/>
                <a:cs typeface="Arial"/>
              </a:rPr>
              <a:t>Walk the seven stages</a:t>
            </a:r>
          </a:p>
        </p:txBody>
      </p:sp>
      <p:sp>
        <p:nvSpPr>
          <p:cNvPr id="11" name="Shape 11"/>
          <p:cNvSpPr/>
          <p:nvPr/>
        </p:nvSpPr>
        <p:spPr>
          <a:xfrm>
            <a:off x="548640" y="1810512"/>
            <a:ext cx="1449324" cy="310896"/>
          </a:xfrm>
          <a:prstGeom prst="roundRect">
            <a:avLst>
              <a:gd name="adj" fmla="val 50000"/>
            </a:avLst>
          </a:prstGeom>
          <a:solidFill>
            <a:srgbClr val="B03A2E"/>
          </a:solidFill>
          <a:ln>
            <a:noFill/>
          </a:ln>
        </p:spPr>
        <p:txBody>
          <a:bodyPr wrap="square" lIns="27432" tIns="27432" rIns="27432" bIns="27432" anchor="ctr" rtlCol="0">
            <a:normAutofit/>
          </a:bodyPr>
          <a:lstStyle/>
          <a:p>
            <a:pPr algn="ctr">
              <a:buNone/>
            </a:pPr>
            <a:r>
              <a:rPr lang="en-GB" sz="1100" b="1" i="0" dirty="0">
                <a:solidFill>
                  <a:srgbClr val="FFFFFF"/>
                </a:solidFill>
                <a:latin typeface="Arial"/>
                <a:cs typeface="Arial"/>
              </a:rPr>
              <a:t>LIVE EXERCISE</a:t>
            </a:r>
            <a:endParaRPr lang="en-GB" sz="1100" dirty="0"/>
          </a:p>
        </p:txBody>
      </p:sp>
      <p:sp>
        <p:nvSpPr>
          <p:cNvPr id="12" name="Shape 12"/>
          <p:cNvSpPr txBox="1"/>
          <p:nvPr/>
        </p:nvSpPr>
        <p:spPr>
          <a:xfrm>
            <a:off x="2107692" y="1810512"/>
            <a:ext cx="5486400" cy="310896"/>
          </a:xfrm>
          <a:prstGeom prst="rect">
            <a:avLst/>
          </a:prstGeom>
          <a:noFill/>
          <a:ln>
            <a:noFill/>
          </a:ln>
        </p:spPr>
        <p:txBody>
          <a:bodyPr wrap="square" lIns="18288" tIns="18288" rIns="18288" bIns="18288" anchor="ctr" rtlCol="0">
            <a:normAutofit/>
          </a:bodyPr>
          <a:lstStyle/>
          <a:p>
            <a:pPr algn="l">
              <a:buNone/>
            </a:pPr>
            <a:r>
              <a:rPr lang="en-GB" sz="1200" b="0" i="1" dirty="0">
                <a:solidFill>
                  <a:srgbClr val="595959"/>
                </a:solidFill>
                <a:latin typeface="Arial"/>
                <a:cs typeface="Arial"/>
              </a:rPr>
              <a:t>4 min · use your own phone</a:t>
            </a:r>
            <a:endParaRPr lang="en-GB" sz="1200" dirty="0"/>
          </a:p>
        </p:txBody>
      </p:sp>
      <p:sp>
        <p:nvSpPr>
          <p:cNvPr id="13" name="Shape 13"/>
          <p:cNvSpPr txBox="1"/>
          <p:nvPr/>
        </p:nvSpPr>
        <p:spPr>
          <a:xfrm>
            <a:off x="548640" y="2240280"/>
            <a:ext cx="7955280" cy="365760"/>
          </a:xfrm>
          <a:prstGeom prst="rect">
            <a:avLst/>
          </a:prstGeom>
          <a:noFill/>
          <a:ln>
            <a:noFill/>
          </a:ln>
        </p:spPr>
        <p:txBody>
          <a:bodyPr wrap="square" lIns="18288" tIns="18288" rIns="18288" bIns="18288" anchor="t" rtlCol="0">
            <a:normAutofit/>
          </a:bodyPr>
          <a:lstStyle/>
          <a:p>
            <a:pPr algn="l">
              <a:buNone/>
            </a:pPr>
            <a:r>
              <a:rPr lang="en-GB" sz="1400" b="1" i="0" dirty="0">
                <a:solidFill>
                  <a:srgbClr val="2D2D8A"/>
                </a:solidFill>
                <a:latin typeface="Arial"/>
                <a:cs typeface="Arial"/>
              </a:rPr>
              <a:t xml:space="preserve">Task: </a:t>
            </a:r>
            <a:r>
              <a:rPr lang="en-GB" sz="1400" b="0" i="0" dirty="0">
                <a:solidFill>
                  <a:srgbClr val="1A1A1A"/>
                </a:solidFill>
                <a:latin typeface="Arial"/>
                <a:cs typeface="Arial"/>
              </a:rPr>
              <a:t>set an alarm for 6:30 am tomorrow — and write what happens at each stage.</a:t>
            </a:r>
            <a:endParaRPr lang="en-GB" sz="1400" dirty="0"/>
          </a:p>
        </p:txBody>
      </p:sp>
      <p:sp>
        <p:nvSpPr>
          <p:cNvPr id="14" name="Shape 14"/>
          <p:cNvSpPr/>
          <p:nvPr/>
        </p:nvSpPr>
        <p:spPr>
          <a:xfrm>
            <a:off x="548640" y="2697480"/>
            <a:ext cx="411480" cy="457200"/>
          </a:xfrm>
          <a:prstGeom prst="rect">
            <a:avLst/>
          </a:prstGeom>
          <a:solidFill>
            <a:srgbClr val="333399"/>
          </a:solidFill>
          <a:ln w="9525">
            <a:solidFill>
              <a:srgbClr val="9DB8BC"/>
            </a:solidFill>
          </a:ln>
        </p:spPr>
        <p:txBody>
          <a:bodyPr wrap="square" lIns="54864" tIns="54864" rIns="54864" bIns="54864" anchor="ctr" rtlCol="0">
            <a:normAutofit/>
          </a:bodyPr>
          <a:lstStyle/>
          <a:p>
            <a:pPr algn="l">
              <a:buNone/>
            </a:pPr>
            <a:r>
              <a:rPr lang="en-GB" sz="1200" b="1" i="0" dirty="0">
                <a:solidFill>
                  <a:srgbClr val="FFFFFF"/>
                </a:solidFill>
                <a:latin typeface="Arial"/>
                <a:cs typeface="Arial"/>
              </a:rPr>
              <a:t/>
            </a:r>
            <a:endParaRPr lang="en-GB" sz="1200" dirty="0"/>
          </a:p>
        </p:txBody>
      </p:sp>
      <p:sp>
        <p:nvSpPr>
          <p:cNvPr id="15" name="Shape 15"/>
          <p:cNvSpPr/>
          <p:nvPr/>
        </p:nvSpPr>
        <p:spPr>
          <a:xfrm>
            <a:off x="960120" y="2697480"/>
            <a:ext cx="2103120" cy="457200"/>
          </a:xfrm>
          <a:prstGeom prst="rect">
            <a:avLst/>
          </a:prstGeom>
          <a:solidFill>
            <a:srgbClr val="333399"/>
          </a:solidFill>
          <a:ln w="9525">
            <a:solidFill>
              <a:srgbClr val="9DB8BC"/>
            </a:solidFill>
          </a:ln>
        </p:spPr>
        <p:txBody>
          <a:bodyPr wrap="square" lIns="54864" tIns="54864" rIns="54864" bIns="54864" anchor="ctr" rtlCol="0">
            <a:normAutofit/>
          </a:bodyPr>
          <a:lstStyle/>
          <a:p>
            <a:pPr algn="l">
              <a:buNone/>
            </a:pPr>
            <a:r>
              <a:rPr lang="en-GB" sz="1200" b="1" i="0" dirty="0">
                <a:solidFill>
                  <a:srgbClr val="FFFFFF"/>
                </a:solidFill>
                <a:latin typeface="Arial"/>
                <a:cs typeface="Arial"/>
              </a:rPr>
              <a:t>Stage</a:t>
            </a:r>
            <a:endParaRPr lang="en-GB" sz="1200" dirty="0"/>
          </a:p>
        </p:txBody>
      </p:sp>
      <p:sp>
        <p:nvSpPr>
          <p:cNvPr id="16" name="Shape 16"/>
          <p:cNvSpPr/>
          <p:nvPr/>
        </p:nvSpPr>
        <p:spPr>
          <a:xfrm>
            <a:off x="3063240" y="2697480"/>
            <a:ext cx="4434840" cy="457200"/>
          </a:xfrm>
          <a:prstGeom prst="rect">
            <a:avLst/>
          </a:prstGeom>
          <a:solidFill>
            <a:srgbClr val="333399"/>
          </a:solidFill>
          <a:ln w="9525">
            <a:solidFill>
              <a:srgbClr val="9DB8BC"/>
            </a:solidFill>
          </a:ln>
        </p:spPr>
        <p:txBody>
          <a:bodyPr wrap="square" lIns="54864" tIns="54864" rIns="54864" bIns="54864" anchor="ctr" rtlCol="0">
            <a:normAutofit/>
          </a:bodyPr>
          <a:lstStyle/>
          <a:p>
            <a:pPr algn="l">
              <a:buNone/>
            </a:pPr>
            <a:r>
              <a:rPr lang="en-GB" sz="1200" b="1" i="0" dirty="0">
                <a:solidFill>
                  <a:srgbClr val="FFFFFF"/>
                </a:solidFill>
                <a:latin typeface="Arial"/>
                <a:cs typeface="Arial"/>
              </a:rPr>
              <a:t>What you do / see / think</a:t>
            </a:r>
            <a:endParaRPr lang="en-GB" sz="1200" dirty="0"/>
          </a:p>
        </p:txBody>
      </p:sp>
      <p:sp>
        <p:nvSpPr>
          <p:cNvPr id="17" name="Shape 17"/>
          <p:cNvSpPr/>
          <p:nvPr/>
        </p:nvSpPr>
        <p:spPr>
          <a:xfrm>
            <a:off x="548640" y="3154680"/>
            <a:ext cx="411480" cy="457200"/>
          </a:xfrm>
          <a:prstGeom prst="rect">
            <a:avLst/>
          </a:prstGeom>
          <a:solidFill>
            <a:srgbClr val="DAEDEF"/>
          </a:solidFill>
          <a:ln w="9525">
            <a:solidFill>
              <a:srgbClr val="9DB8BC"/>
            </a:solidFill>
          </a:ln>
        </p:spPr>
        <p:txBody>
          <a:bodyPr wrap="square" lIns="54864" tIns="54864" rIns="54864" bIns="54864" anchor="ctr" rtlCol="0">
            <a:normAutofit/>
          </a:bodyPr>
          <a:lstStyle/>
          <a:p>
            <a:pPr algn="l">
              <a:buNone/>
            </a:pPr>
            <a:r>
              <a:rPr lang="en-GB" sz="1200" b="1" i="0" dirty="0">
                <a:solidFill>
                  <a:srgbClr val="1A1A1A"/>
                </a:solidFill>
                <a:latin typeface="Arial"/>
                <a:cs typeface="Arial"/>
              </a:rPr>
              <a:t>1</a:t>
            </a:r>
            <a:endParaRPr lang="en-GB" sz="1200" dirty="0"/>
          </a:p>
        </p:txBody>
      </p:sp>
      <p:sp>
        <p:nvSpPr>
          <p:cNvPr id="18" name="Shape 18"/>
          <p:cNvSpPr/>
          <p:nvPr/>
        </p:nvSpPr>
        <p:spPr>
          <a:xfrm>
            <a:off x="960120" y="3154680"/>
            <a:ext cx="2103120" cy="457200"/>
          </a:xfrm>
          <a:prstGeom prst="rect">
            <a:avLst/>
          </a:prstGeom>
          <a:solidFill>
            <a:srgbClr val="FFFFFF"/>
          </a:solidFill>
          <a:ln w="9525">
            <a:solidFill>
              <a:srgbClr val="9DB8BC"/>
            </a:solidFill>
          </a:ln>
        </p:spPr>
        <p:txBody>
          <a:bodyPr wrap="square" lIns="54864" tIns="54864" rIns="54864" bIns="54864" anchor="ctr" rtlCol="0">
            <a:normAutofit/>
          </a:bodyPr>
          <a:lstStyle/>
          <a:p>
            <a:pPr algn="l">
              <a:buNone/>
            </a:pPr>
            <a:r>
              <a:rPr lang="en-GB" sz="1200" b="0" i="0" dirty="0">
                <a:solidFill>
                  <a:srgbClr val="1A1A1A"/>
                </a:solidFill>
                <a:latin typeface="Arial"/>
                <a:cs typeface="Arial"/>
              </a:rPr>
              <a:t>Establish the goal</a:t>
            </a:r>
            <a:endParaRPr lang="en-GB" sz="1200" dirty="0"/>
          </a:p>
        </p:txBody>
      </p:sp>
      <p:sp>
        <p:nvSpPr>
          <p:cNvPr id="19" name="Shape 19"/>
          <p:cNvSpPr/>
          <p:nvPr/>
        </p:nvSpPr>
        <p:spPr>
          <a:xfrm>
            <a:off x="3063240" y="3154680"/>
            <a:ext cx="4434840" cy="457200"/>
          </a:xfrm>
          <a:prstGeom prst="rect">
            <a:avLst/>
          </a:prstGeom>
          <a:solidFill>
            <a:srgbClr val="FFFFFF"/>
          </a:solidFill>
          <a:ln w="9525">
            <a:solidFill>
              <a:srgbClr val="9DB8BC"/>
            </a:solidFill>
          </a:ln>
        </p:spPr>
        <p:txBody>
          <a:bodyPr wrap="square" lIns="54864" tIns="54864" rIns="54864" bIns="54864" anchor="ctr" rtlCol="0">
            <a:normAutofit/>
          </a:bodyPr>
          <a:lstStyle/>
          <a:p>
            <a:pPr algn="l">
              <a:buNone/>
            </a:pPr>
            <a:r>
              <a:rPr lang="en-GB" sz="1200" b="0" i="0" dirty="0">
                <a:solidFill>
                  <a:srgbClr val="1A1A1A"/>
                </a:solidFill>
                <a:latin typeface="Arial"/>
                <a:cs typeface="Arial"/>
              </a:rPr>
              <a:t/>
            </a:r>
            <a:endParaRPr lang="en-GB" sz="1200" dirty="0"/>
          </a:p>
        </p:txBody>
      </p:sp>
      <p:sp>
        <p:nvSpPr>
          <p:cNvPr id="20" name="Shape 20"/>
          <p:cNvSpPr/>
          <p:nvPr/>
        </p:nvSpPr>
        <p:spPr>
          <a:xfrm>
            <a:off x="548640" y="3611880"/>
            <a:ext cx="411480" cy="457200"/>
          </a:xfrm>
          <a:prstGeom prst="rect">
            <a:avLst/>
          </a:prstGeom>
          <a:solidFill>
            <a:srgbClr val="DAEDEF"/>
          </a:solidFill>
          <a:ln w="9525">
            <a:solidFill>
              <a:srgbClr val="9DB8BC"/>
            </a:solidFill>
          </a:ln>
        </p:spPr>
        <p:txBody>
          <a:bodyPr wrap="square" lIns="54864" tIns="54864" rIns="54864" bIns="54864" anchor="ctr" rtlCol="0">
            <a:normAutofit/>
          </a:bodyPr>
          <a:lstStyle/>
          <a:p>
            <a:pPr algn="l">
              <a:buNone/>
            </a:pPr>
            <a:r>
              <a:rPr lang="en-GB" sz="1200" b="1" i="0" dirty="0">
                <a:solidFill>
                  <a:srgbClr val="1A1A1A"/>
                </a:solidFill>
                <a:latin typeface="Arial"/>
                <a:cs typeface="Arial"/>
              </a:rPr>
              <a:t>2</a:t>
            </a:r>
            <a:endParaRPr lang="en-GB" sz="1200" dirty="0"/>
          </a:p>
        </p:txBody>
      </p:sp>
      <p:sp>
        <p:nvSpPr>
          <p:cNvPr id="21" name="Shape 21"/>
          <p:cNvSpPr/>
          <p:nvPr/>
        </p:nvSpPr>
        <p:spPr>
          <a:xfrm>
            <a:off x="960120" y="3611880"/>
            <a:ext cx="2103120" cy="457200"/>
          </a:xfrm>
          <a:prstGeom prst="rect">
            <a:avLst/>
          </a:prstGeom>
          <a:solidFill>
            <a:srgbClr val="FFFFFF"/>
          </a:solidFill>
          <a:ln w="9525">
            <a:solidFill>
              <a:srgbClr val="9DB8BC"/>
            </a:solidFill>
          </a:ln>
        </p:spPr>
        <p:txBody>
          <a:bodyPr wrap="square" lIns="54864" tIns="54864" rIns="54864" bIns="54864" anchor="ctr" rtlCol="0">
            <a:normAutofit/>
          </a:bodyPr>
          <a:lstStyle/>
          <a:p>
            <a:pPr algn="l">
              <a:buNone/>
            </a:pPr>
            <a:r>
              <a:rPr lang="en-GB" sz="1200" b="0" i="0" dirty="0">
                <a:solidFill>
                  <a:srgbClr val="1A1A1A"/>
                </a:solidFill>
                <a:latin typeface="Arial"/>
                <a:cs typeface="Arial"/>
              </a:rPr>
              <a:t>Form the intention</a:t>
            </a:r>
            <a:endParaRPr lang="en-GB" sz="1200" dirty="0"/>
          </a:p>
        </p:txBody>
      </p:sp>
      <p:sp>
        <p:nvSpPr>
          <p:cNvPr id="22" name="Shape 22"/>
          <p:cNvSpPr/>
          <p:nvPr/>
        </p:nvSpPr>
        <p:spPr>
          <a:xfrm>
            <a:off x="3063240" y="3611880"/>
            <a:ext cx="4434840" cy="457200"/>
          </a:xfrm>
          <a:prstGeom prst="rect">
            <a:avLst/>
          </a:prstGeom>
          <a:solidFill>
            <a:srgbClr val="FFFFFF"/>
          </a:solidFill>
          <a:ln w="9525">
            <a:solidFill>
              <a:srgbClr val="9DB8BC"/>
            </a:solidFill>
          </a:ln>
        </p:spPr>
        <p:txBody>
          <a:bodyPr wrap="square" lIns="54864" tIns="54864" rIns="54864" bIns="54864" anchor="ctr" rtlCol="0">
            <a:normAutofit/>
          </a:bodyPr>
          <a:lstStyle/>
          <a:p>
            <a:pPr algn="l">
              <a:buNone/>
            </a:pPr>
            <a:r>
              <a:rPr lang="en-GB" sz="1200" b="0" i="0" dirty="0">
                <a:solidFill>
                  <a:srgbClr val="1A1A1A"/>
                </a:solidFill>
                <a:latin typeface="Arial"/>
                <a:cs typeface="Arial"/>
              </a:rPr>
              <a:t/>
            </a:r>
            <a:endParaRPr lang="en-GB" sz="1200" dirty="0"/>
          </a:p>
        </p:txBody>
      </p:sp>
      <p:sp>
        <p:nvSpPr>
          <p:cNvPr id="23" name="Shape 23"/>
          <p:cNvSpPr/>
          <p:nvPr/>
        </p:nvSpPr>
        <p:spPr>
          <a:xfrm>
            <a:off x="548640" y="4069080"/>
            <a:ext cx="411480" cy="457200"/>
          </a:xfrm>
          <a:prstGeom prst="rect">
            <a:avLst/>
          </a:prstGeom>
          <a:solidFill>
            <a:srgbClr val="DAEDEF"/>
          </a:solidFill>
          <a:ln w="9525">
            <a:solidFill>
              <a:srgbClr val="9DB8BC"/>
            </a:solidFill>
          </a:ln>
        </p:spPr>
        <p:txBody>
          <a:bodyPr wrap="square" lIns="54864" tIns="54864" rIns="54864" bIns="54864" anchor="ctr" rtlCol="0">
            <a:normAutofit/>
          </a:bodyPr>
          <a:lstStyle/>
          <a:p>
            <a:pPr algn="l">
              <a:buNone/>
            </a:pPr>
            <a:r>
              <a:rPr lang="en-GB" sz="1200" b="1" i="0" dirty="0">
                <a:solidFill>
                  <a:srgbClr val="1A1A1A"/>
                </a:solidFill>
                <a:latin typeface="Arial"/>
                <a:cs typeface="Arial"/>
              </a:rPr>
              <a:t>3</a:t>
            </a:r>
            <a:endParaRPr lang="en-GB" sz="1200" dirty="0"/>
          </a:p>
        </p:txBody>
      </p:sp>
      <p:sp>
        <p:nvSpPr>
          <p:cNvPr id="24" name="Shape 24"/>
          <p:cNvSpPr/>
          <p:nvPr/>
        </p:nvSpPr>
        <p:spPr>
          <a:xfrm>
            <a:off x="960120" y="4069080"/>
            <a:ext cx="2103120" cy="457200"/>
          </a:xfrm>
          <a:prstGeom prst="rect">
            <a:avLst/>
          </a:prstGeom>
          <a:solidFill>
            <a:srgbClr val="FFFFFF"/>
          </a:solidFill>
          <a:ln w="9525">
            <a:solidFill>
              <a:srgbClr val="9DB8BC"/>
            </a:solidFill>
          </a:ln>
        </p:spPr>
        <p:txBody>
          <a:bodyPr wrap="square" lIns="54864" tIns="54864" rIns="54864" bIns="54864" anchor="ctr" rtlCol="0">
            <a:normAutofit/>
          </a:bodyPr>
          <a:lstStyle/>
          <a:p>
            <a:pPr algn="l">
              <a:buNone/>
            </a:pPr>
            <a:r>
              <a:rPr lang="en-GB" sz="1200" b="0" i="0" dirty="0">
                <a:solidFill>
                  <a:srgbClr val="1A1A1A"/>
                </a:solidFill>
                <a:latin typeface="Arial"/>
                <a:cs typeface="Arial"/>
              </a:rPr>
              <a:t>Specify the actions</a:t>
            </a:r>
            <a:endParaRPr lang="en-GB" sz="1200" dirty="0"/>
          </a:p>
        </p:txBody>
      </p:sp>
      <p:sp>
        <p:nvSpPr>
          <p:cNvPr id="25" name="Shape 25"/>
          <p:cNvSpPr/>
          <p:nvPr/>
        </p:nvSpPr>
        <p:spPr>
          <a:xfrm>
            <a:off x="3063240" y="4069080"/>
            <a:ext cx="4434840" cy="457200"/>
          </a:xfrm>
          <a:prstGeom prst="rect">
            <a:avLst/>
          </a:prstGeom>
          <a:solidFill>
            <a:srgbClr val="FFFFFF"/>
          </a:solidFill>
          <a:ln w="9525">
            <a:solidFill>
              <a:srgbClr val="9DB8BC"/>
            </a:solidFill>
          </a:ln>
        </p:spPr>
        <p:txBody>
          <a:bodyPr wrap="square" lIns="54864" tIns="54864" rIns="54864" bIns="54864" anchor="ctr" rtlCol="0">
            <a:normAutofit/>
          </a:bodyPr>
          <a:lstStyle/>
          <a:p>
            <a:pPr algn="l">
              <a:buNone/>
            </a:pPr>
            <a:r>
              <a:rPr lang="en-GB" sz="1200" b="0" i="0" dirty="0">
                <a:solidFill>
                  <a:srgbClr val="1A1A1A"/>
                </a:solidFill>
                <a:latin typeface="Arial"/>
                <a:cs typeface="Arial"/>
              </a:rPr>
              <a:t/>
            </a:r>
            <a:endParaRPr lang="en-GB" sz="1200" dirty="0"/>
          </a:p>
        </p:txBody>
      </p:sp>
      <p:sp>
        <p:nvSpPr>
          <p:cNvPr id="26" name="Shape 26"/>
          <p:cNvSpPr/>
          <p:nvPr/>
        </p:nvSpPr>
        <p:spPr>
          <a:xfrm>
            <a:off x="548640" y="4526280"/>
            <a:ext cx="411480" cy="457200"/>
          </a:xfrm>
          <a:prstGeom prst="rect">
            <a:avLst/>
          </a:prstGeom>
          <a:solidFill>
            <a:srgbClr val="DAEDEF"/>
          </a:solidFill>
          <a:ln w="9525">
            <a:solidFill>
              <a:srgbClr val="9DB8BC"/>
            </a:solidFill>
          </a:ln>
        </p:spPr>
        <p:txBody>
          <a:bodyPr wrap="square" lIns="54864" tIns="54864" rIns="54864" bIns="54864" anchor="ctr" rtlCol="0">
            <a:normAutofit/>
          </a:bodyPr>
          <a:lstStyle/>
          <a:p>
            <a:pPr algn="l">
              <a:buNone/>
            </a:pPr>
            <a:r>
              <a:rPr lang="en-GB" sz="1200" b="1" i="0" dirty="0">
                <a:solidFill>
                  <a:srgbClr val="1A1A1A"/>
                </a:solidFill>
                <a:latin typeface="Arial"/>
                <a:cs typeface="Arial"/>
              </a:rPr>
              <a:t>4</a:t>
            </a:r>
            <a:endParaRPr lang="en-GB" sz="1200" dirty="0"/>
          </a:p>
        </p:txBody>
      </p:sp>
      <p:sp>
        <p:nvSpPr>
          <p:cNvPr id="27" name="Shape 27"/>
          <p:cNvSpPr/>
          <p:nvPr/>
        </p:nvSpPr>
        <p:spPr>
          <a:xfrm>
            <a:off x="960120" y="4526280"/>
            <a:ext cx="2103120" cy="457200"/>
          </a:xfrm>
          <a:prstGeom prst="rect">
            <a:avLst/>
          </a:prstGeom>
          <a:solidFill>
            <a:srgbClr val="FFFFFF"/>
          </a:solidFill>
          <a:ln w="9525">
            <a:solidFill>
              <a:srgbClr val="9DB8BC"/>
            </a:solidFill>
          </a:ln>
        </p:spPr>
        <p:txBody>
          <a:bodyPr wrap="square" lIns="54864" tIns="54864" rIns="54864" bIns="54864" anchor="ctr" rtlCol="0">
            <a:normAutofit/>
          </a:bodyPr>
          <a:lstStyle/>
          <a:p>
            <a:pPr algn="l">
              <a:buNone/>
            </a:pPr>
            <a:r>
              <a:rPr lang="en-GB" sz="1200" b="0" i="0" dirty="0">
                <a:solidFill>
                  <a:srgbClr val="1A1A1A"/>
                </a:solidFill>
                <a:latin typeface="Arial"/>
                <a:cs typeface="Arial"/>
              </a:rPr>
              <a:t>Execute the actions</a:t>
            </a:r>
            <a:endParaRPr lang="en-GB" sz="1200" dirty="0"/>
          </a:p>
        </p:txBody>
      </p:sp>
      <p:sp>
        <p:nvSpPr>
          <p:cNvPr id="28" name="Shape 28"/>
          <p:cNvSpPr/>
          <p:nvPr/>
        </p:nvSpPr>
        <p:spPr>
          <a:xfrm>
            <a:off x="3063240" y="4526280"/>
            <a:ext cx="4434840" cy="457200"/>
          </a:xfrm>
          <a:prstGeom prst="rect">
            <a:avLst/>
          </a:prstGeom>
          <a:solidFill>
            <a:srgbClr val="FFFFFF"/>
          </a:solidFill>
          <a:ln w="9525">
            <a:solidFill>
              <a:srgbClr val="9DB8BC"/>
            </a:solidFill>
          </a:ln>
        </p:spPr>
        <p:txBody>
          <a:bodyPr wrap="square" lIns="54864" tIns="54864" rIns="54864" bIns="54864" anchor="ctr" rtlCol="0">
            <a:normAutofit/>
          </a:bodyPr>
          <a:lstStyle/>
          <a:p>
            <a:pPr algn="l">
              <a:buNone/>
            </a:pPr>
            <a:r>
              <a:rPr lang="en-GB" sz="1200" b="0" i="0" dirty="0">
                <a:solidFill>
                  <a:srgbClr val="1A1A1A"/>
                </a:solidFill>
                <a:latin typeface="Arial"/>
                <a:cs typeface="Arial"/>
              </a:rPr>
              <a:t/>
            </a:r>
            <a:endParaRPr lang="en-GB" sz="1200" dirty="0"/>
          </a:p>
        </p:txBody>
      </p:sp>
      <p:sp>
        <p:nvSpPr>
          <p:cNvPr id="29" name="Shape 29"/>
          <p:cNvSpPr/>
          <p:nvPr/>
        </p:nvSpPr>
        <p:spPr>
          <a:xfrm>
            <a:off x="548640" y="4983480"/>
            <a:ext cx="411480" cy="457200"/>
          </a:xfrm>
          <a:prstGeom prst="rect">
            <a:avLst/>
          </a:prstGeom>
          <a:solidFill>
            <a:srgbClr val="E6EFD9"/>
          </a:solidFill>
          <a:ln w="9525">
            <a:solidFill>
              <a:srgbClr val="9DB8BC"/>
            </a:solidFill>
          </a:ln>
        </p:spPr>
        <p:txBody>
          <a:bodyPr wrap="square" lIns="54864" tIns="54864" rIns="54864" bIns="54864" anchor="ctr" rtlCol="0">
            <a:normAutofit/>
          </a:bodyPr>
          <a:lstStyle/>
          <a:p>
            <a:pPr algn="l">
              <a:buNone/>
            </a:pPr>
            <a:r>
              <a:rPr lang="en-GB" sz="1200" b="1" i="0" dirty="0">
                <a:solidFill>
                  <a:srgbClr val="1A1A1A"/>
                </a:solidFill>
                <a:latin typeface="Arial"/>
                <a:cs typeface="Arial"/>
              </a:rPr>
              <a:t>5</a:t>
            </a:r>
            <a:endParaRPr lang="en-GB" sz="1200" dirty="0"/>
          </a:p>
        </p:txBody>
      </p:sp>
      <p:sp>
        <p:nvSpPr>
          <p:cNvPr id="30" name="Shape 30"/>
          <p:cNvSpPr/>
          <p:nvPr/>
        </p:nvSpPr>
        <p:spPr>
          <a:xfrm>
            <a:off x="960120" y="4983480"/>
            <a:ext cx="2103120" cy="457200"/>
          </a:xfrm>
          <a:prstGeom prst="rect">
            <a:avLst/>
          </a:prstGeom>
          <a:solidFill>
            <a:srgbClr val="FFFFFF"/>
          </a:solidFill>
          <a:ln w="9525">
            <a:solidFill>
              <a:srgbClr val="9DB8BC"/>
            </a:solidFill>
          </a:ln>
        </p:spPr>
        <p:txBody>
          <a:bodyPr wrap="square" lIns="54864" tIns="54864" rIns="54864" bIns="54864" anchor="ctr" rtlCol="0">
            <a:normAutofit/>
          </a:bodyPr>
          <a:lstStyle/>
          <a:p>
            <a:pPr algn="l">
              <a:buNone/>
            </a:pPr>
            <a:r>
              <a:rPr lang="en-GB" sz="1200" b="0" i="0" dirty="0">
                <a:solidFill>
                  <a:srgbClr val="1A1A1A"/>
                </a:solidFill>
                <a:latin typeface="Arial"/>
                <a:cs typeface="Arial"/>
              </a:rPr>
              <a:t>Perceive system state</a:t>
            </a:r>
            <a:endParaRPr lang="en-GB" sz="1200" dirty="0"/>
          </a:p>
        </p:txBody>
      </p:sp>
      <p:sp>
        <p:nvSpPr>
          <p:cNvPr id="31" name="Shape 31"/>
          <p:cNvSpPr/>
          <p:nvPr/>
        </p:nvSpPr>
        <p:spPr>
          <a:xfrm>
            <a:off x="3063240" y="4983480"/>
            <a:ext cx="4434840" cy="457200"/>
          </a:xfrm>
          <a:prstGeom prst="rect">
            <a:avLst/>
          </a:prstGeom>
          <a:solidFill>
            <a:srgbClr val="FFFFFF"/>
          </a:solidFill>
          <a:ln w="9525">
            <a:solidFill>
              <a:srgbClr val="9DB8BC"/>
            </a:solidFill>
          </a:ln>
        </p:spPr>
        <p:txBody>
          <a:bodyPr wrap="square" lIns="54864" tIns="54864" rIns="54864" bIns="54864" anchor="ctr" rtlCol="0">
            <a:normAutofit/>
          </a:bodyPr>
          <a:lstStyle/>
          <a:p>
            <a:pPr algn="l">
              <a:buNone/>
            </a:pPr>
            <a:r>
              <a:rPr lang="en-GB" sz="1200" b="0" i="0" dirty="0">
                <a:solidFill>
                  <a:srgbClr val="1A1A1A"/>
                </a:solidFill>
                <a:latin typeface="Arial"/>
                <a:cs typeface="Arial"/>
              </a:rPr>
              <a:t/>
            </a:r>
            <a:endParaRPr lang="en-GB" sz="1200" dirty="0"/>
          </a:p>
        </p:txBody>
      </p:sp>
      <p:sp>
        <p:nvSpPr>
          <p:cNvPr id="32" name="Shape 32"/>
          <p:cNvSpPr/>
          <p:nvPr/>
        </p:nvSpPr>
        <p:spPr>
          <a:xfrm>
            <a:off x="548640" y="5440680"/>
            <a:ext cx="411480" cy="457200"/>
          </a:xfrm>
          <a:prstGeom prst="rect">
            <a:avLst/>
          </a:prstGeom>
          <a:solidFill>
            <a:srgbClr val="E6EFD9"/>
          </a:solidFill>
          <a:ln w="9525">
            <a:solidFill>
              <a:srgbClr val="9DB8BC"/>
            </a:solidFill>
          </a:ln>
        </p:spPr>
        <p:txBody>
          <a:bodyPr wrap="square" lIns="54864" tIns="54864" rIns="54864" bIns="54864" anchor="ctr" rtlCol="0">
            <a:normAutofit/>
          </a:bodyPr>
          <a:lstStyle/>
          <a:p>
            <a:pPr algn="l">
              <a:buNone/>
            </a:pPr>
            <a:r>
              <a:rPr lang="en-GB" sz="1200" b="1" i="0" dirty="0">
                <a:solidFill>
                  <a:srgbClr val="1A1A1A"/>
                </a:solidFill>
                <a:latin typeface="Arial"/>
                <a:cs typeface="Arial"/>
              </a:rPr>
              <a:t>6</a:t>
            </a:r>
            <a:endParaRPr lang="en-GB" sz="1200" dirty="0"/>
          </a:p>
        </p:txBody>
      </p:sp>
      <p:sp>
        <p:nvSpPr>
          <p:cNvPr id="33" name="Shape 33"/>
          <p:cNvSpPr/>
          <p:nvPr/>
        </p:nvSpPr>
        <p:spPr>
          <a:xfrm>
            <a:off x="960120" y="5440680"/>
            <a:ext cx="2103120" cy="457200"/>
          </a:xfrm>
          <a:prstGeom prst="rect">
            <a:avLst/>
          </a:prstGeom>
          <a:solidFill>
            <a:srgbClr val="FFFFFF"/>
          </a:solidFill>
          <a:ln w="9525">
            <a:solidFill>
              <a:srgbClr val="9DB8BC"/>
            </a:solidFill>
          </a:ln>
        </p:spPr>
        <p:txBody>
          <a:bodyPr wrap="square" lIns="54864" tIns="54864" rIns="54864" bIns="54864" anchor="ctr" rtlCol="0">
            <a:normAutofit/>
          </a:bodyPr>
          <a:lstStyle/>
          <a:p>
            <a:pPr algn="l">
              <a:buNone/>
            </a:pPr>
            <a:r>
              <a:rPr lang="en-GB" sz="1200" b="0" i="0" dirty="0">
                <a:solidFill>
                  <a:srgbClr val="1A1A1A"/>
                </a:solidFill>
                <a:latin typeface="Arial"/>
                <a:cs typeface="Arial"/>
              </a:rPr>
              <a:t>Interpret system state</a:t>
            </a:r>
            <a:endParaRPr lang="en-GB" sz="1200" dirty="0"/>
          </a:p>
        </p:txBody>
      </p:sp>
      <p:sp>
        <p:nvSpPr>
          <p:cNvPr id="34" name="Shape 34"/>
          <p:cNvSpPr/>
          <p:nvPr/>
        </p:nvSpPr>
        <p:spPr>
          <a:xfrm>
            <a:off x="3063240" y="5440680"/>
            <a:ext cx="4434840" cy="457200"/>
          </a:xfrm>
          <a:prstGeom prst="rect">
            <a:avLst/>
          </a:prstGeom>
          <a:solidFill>
            <a:srgbClr val="FFFFFF"/>
          </a:solidFill>
          <a:ln w="9525">
            <a:solidFill>
              <a:srgbClr val="9DB8BC"/>
            </a:solidFill>
          </a:ln>
        </p:spPr>
        <p:txBody>
          <a:bodyPr wrap="square" lIns="54864" tIns="54864" rIns="54864" bIns="54864" anchor="ctr" rtlCol="0">
            <a:normAutofit/>
          </a:bodyPr>
          <a:lstStyle/>
          <a:p>
            <a:pPr algn="l">
              <a:buNone/>
            </a:pPr>
            <a:r>
              <a:rPr lang="en-GB" sz="1200" b="0" i="0" dirty="0">
                <a:solidFill>
                  <a:srgbClr val="1A1A1A"/>
                </a:solidFill>
                <a:latin typeface="Arial"/>
                <a:cs typeface="Arial"/>
              </a:rPr>
              <a:t/>
            </a:r>
            <a:endParaRPr lang="en-GB" sz="1200" dirty="0"/>
          </a:p>
        </p:txBody>
      </p:sp>
      <p:sp>
        <p:nvSpPr>
          <p:cNvPr id="35" name="Shape 35"/>
          <p:cNvSpPr/>
          <p:nvPr/>
        </p:nvSpPr>
        <p:spPr>
          <a:xfrm>
            <a:off x="548640" y="5897880"/>
            <a:ext cx="411480" cy="457200"/>
          </a:xfrm>
          <a:prstGeom prst="rect">
            <a:avLst/>
          </a:prstGeom>
          <a:solidFill>
            <a:srgbClr val="E6EFD9"/>
          </a:solidFill>
          <a:ln w="9525">
            <a:solidFill>
              <a:srgbClr val="9DB8BC"/>
            </a:solidFill>
          </a:ln>
        </p:spPr>
        <p:txBody>
          <a:bodyPr wrap="square" lIns="54864" tIns="54864" rIns="54864" bIns="54864" anchor="ctr" rtlCol="0">
            <a:normAutofit/>
          </a:bodyPr>
          <a:lstStyle/>
          <a:p>
            <a:pPr algn="l">
              <a:buNone/>
            </a:pPr>
            <a:r>
              <a:rPr lang="en-GB" sz="1200" b="1" i="0" dirty="0">
                <a:solidFill>
                  <a:srgbClr val="1A1A1A"/>
                </a:solidFill>
                <a:latin typeface="Arial"/>
                <a:cs typeface="Arial"/>
              </a:rPr>
              <a:t>7</a:t>
            </a:r>
            <a:endParaRPr lang="en-GB" sz="1200" dirty="0"/>
          </a:p>
        </p:txBody>
      </p:sp>
      <p:sp>
        <p:nvSpPr>
          <p:cNvPr id="36" name="Shape 36"/>
          <p:cNvSpPr/>
          <p:nvPr/>
        </p:nvSpPr>
        <p:spPr>
          <a:xfrm>
            <a:off x="960120" y="5897880"/>
            <a:ext cx="2103120" cy="457200"/>
          </a:xfrm>
          <a:prstGeom prst="rect">
            <a:avLst/>
          </a:prstGeom>
          <a:solidFill>
            <a:srgbClr val="FFFFFF"/>
          </a:solidFill>
          <a:ln w="9525">
            <a:solidFill>
              <a:srgbClr val="9DB8BC"/>
            </a:solidFill>
          </a:ln>
        </p:spPr>
        <p:txBody>
          <a:bodyPr wrap="square" lIns="54864" tIns="54864" rIns="54864" bIns="54864" anchor="ctr" rtlCol="0">
            <a:normAutofit/>
          </a:bodyPr>
          <a:lstStyle/>
          <a:p>
            <a:pPr algn="l">
              <a:buNone/>
            </a:pPr>
            <a:r>
              <a:rPr lang="en-GB" sz="1200" b="0" i="0" dirty="0">
                <a:solidFill>
                  <a:srgbClr val="1A1A1A"/>
                </a:solidFill>
                <a:latin typeface="Arial"/>
                <a:cs typeface="Arial"/>
              </a:rPr>
              <a:t>Evaluate vs. the goal</a:t>
            </a:r>
            <a:endParaRPr lang="en-GB" sz="1200" dirty="0"/>
          </a:p>
        </p:txBody>
      </p:sp>
      <p:sp>
        <p:nvSpPr>
          <p:cNvPr id="37" name="Shape 37"/>
          <p:cNvSpPr/>
          <p:nvPr/>
        </p:nvSpPr>
        <p:spPr>
          <a:xfrm>
            <a:off x="3063240" y="5897880"/>
            <a:ext cx="4434840" cy="457200"/>
          </a:xfrm>
          <a:prstGeom prst="rect">
            <a:avLst/>
          </a:prstGeom>
          <a:solidFill>
            <a:srgbClr val="FFFFFF"/>
          </a:solidFill>
          <a:ln w="9525">
            <a:solidFill>
              <a:srgbClr val="9DB8BC"/>
            </a:solidFill>
          </a:ln>
        </p:spPr>
        <p:txBody>
          <a:bodyPr wrap="square" lIns="54864" tIns="54864" rIns="54864" bIns="54864" anchor="ctr" rtlCol="0">
            <a:normAutofit/>
          </a:bodyPr>
          <a:lstStyle/>
          <a:p>
            <a:pPr algn="l">
              <a:buNone/>
            </a:pPr>
            <a:r>
              <a:rPr lang="en-GB" sz="1200" b="0" i="0" dirty="0">
                <a:solidFill>
                  <a:srgbClr val="1A1A1A"/>
                </a:solidFill>
                <a:latin typeface="Arial"/>
                <a:cs typeface="Arial"/>
              </a:rPr>
              <a:t/>
            </a:r>
            <a:endParaRPr lang="en-GB" sz="1200" dirty="0"/>
          </a:p>
        </p:txBody>
      </p:sp>
      <p:sp>
        <p:nvSpPr>
          <p:cNvPr id="38" name="Shape 38"/>
          <p:cNvSpPr/>
          <p:nvPr/>
        </p:nvSpPr>
        <p:spPr>
          <a:xfrm>
            <a:off x="7607808" y="3200400"/>
            <a:ext cx="914400" cy="274320"/>
          </a:xfrm>
          <a:prstGeom prst="roundRect">
            <a:avLst>
              <a:gd name="adj" fmla="val 50000"/>
            </a:avLst>
          </a:prstGeom>
          <a:solidFill>
            <a:srgbClr val="333399"/>
          </a:solidFill>
          <a:ln>
            <a:noFill/>
          </a:ln>
        </p:spPr>
        <p:txBody>
          <a:bodyPr wrap="square" lIns="18288" tIns="18288" rIns="18288" bIns="18288" anchor="ctr" rtlCol="0">
            <a:normAutofit/>
          </a:bodyPr>
          <a:lstStyle/>
          <a:p>
            <a:pPr algn="ctr">
              <a:buNone/>
            </a:pPr>
            <a:r>
              <a:rPr lang="en-GB" sz="900" b="1" i="0" dirty="0">
                <a:solidFill>
                  <a:srgbClr val="FFFFFF"/>
                </a:solidFill>
                <a:latin typeface="Arial"/>
                <a:cs typeface="Arial"/>
              </a:rPr>
              <a:t>EXECUTION</a:t>
            </a:r>
            <a:endParaRPr lang="en-GB" sz="900" dirty="0"/>
          </a:p>
        </p:txBody>
      </p:sp>
      <p:sp>
        <p:nvSpPr>
          <p:cNvPr id="39" name="Shape 39"/>
          <p:cNvSpPr/>
          <p:nvPr/>
        </p:nvSpPr>
        <p:spPr>
          <a:xfrm>
            <a:off x="7607808" y="5029200"/>
            <a:ext cx="914400" cy="274320"/>
          </a:xfrm>
          <a:prstGeom prst="roundRect">
            <a:avLst>
              <a:gd name="adj" fmla="val 50000"/>
            </a:avLst>
          </a:prstGeom>
          <a:solidFill>
            <a:srgbClr val="4E7A12"/>
          </a:solidFill>
          <a:ln>
            <a:noFill/>
          </a:ln>
        </p:spPr>
        <p:txBody>
          <a:bodyPr wrap="square" lIns="18288" tIns="18288" rIns="18288" bIns="18288" anchor="ctr" rtlCol="0">
            <a:normAutofit/>
          </a:bodyPr>
          <a:lstStyle/>
          <a:p>
            <a:pPr algn="ctr">
              <a:buNone/>
            </a:pPr>
            <a:r>
              <a:rPr lang="en-GB" sz="900" b="1" i="0" dirty="0">
                <a:solidFill>
                  <a:srgbClr val="FFFFFF"/>
                </a:solidFill>
                <a:latin typeface="Arial"/>
                <a:cs typeface="Arial"/>
              </a:rPr>
              <a:t>EVALUATION</a:t>
            </a:r>
            <a:endParaRPr lang="en-GB" sz="900" dirty="0"/>
          </a:p>
        </p:txBody>
      </p:sp>
      <p:cxnSp>
        <p:nvCxnSpPr>
          <p:cNvPr id="40" name="Line 40"/>
          <p:cNvCxnSpPr/>
          <p:nvPr/>
        </p:nvCxnSpPr>
        <p:spPr>
          <a:xfrm>
            <a:off x="8065008" y="3520440"/>
            <a:ext cx="0" cy="1417320"/>
          </a:xfrm>
          <a:prstGeom prst="line">
            <a:avLst/>
          </a:prstGeom>
          <a:ln w="19050">
            <a:solidFill>
              <a:srgbClr val="333399"/>
            </a:solidFill>
          </a:ln>
        </p:spPr>
      </p:cxnSp>
      <p:cxnSp>
        <p:nvCxnSpPr>
          <p:cNvPr id="41" name="Line 41"/>
          <p:cNvCxnSpPr/>
          <p:nvPr/>
        </p:nvCxnSpPr>
        <p:spPr>
          <a:xfrm>
            <a:off x="8065008" y="5349240"/>
            <a:ext cx="0" cy="960120"/>
          </a:xfrm>
          <a:prstGeom prst="line">
            <a:avLst/>
          </a:prstGeom>
          <a:ln w="19050">
            <a:solidFill>
              <a:srgbClr val="4E7A12"/>
            </a:solidFill>
          </a:ln>
        </p:spPr>
      </p:cxn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200" b="0" i="0" dirty="0">
                <a:solidFill>
                  <a:srgbClr val="2D2D8A"/>
                </a:solidFill>
                <a:latin typeface="Arial"/>
                <a:cs typeface="Arial"/>
              </a:rPr>
              <a:t>Walk the seven stages</a:t>
            </a:r>
          </a:p>
        </p:txBody>
      </p:sp>
      <p:sp>
        <p:nvSpPr>
          <p:cNvPr id="11" name="Shape 11"/>
          <p:cNvSpPr/>
          <p:nvPr/>
        </p:nvSpPr>
        <p:spPr>
          <a:xfrm>
            <a:off x="548640" y="1810512"/>
            <a:ext cx="873252" cy="310896"/>
          </a:xfrm>
          <a:prstGeom prst="roundRect">
            <a:avLst>
              <a:gd name="adj" fmla="val 50000"/>
            </a:avLst>
          </a:prstGeom>
          <a:solidFill>
            <a:srgbClr val="404040"/>
          </a:solidFill>
          <a:ln>
            <a:noFill/>
          </a:ln>
        </p:spPr>
        <p:txBody>
          <a:bodyPr wrap="square" lIns="27432" tIns="27432" rIns="27432" bIns="27432" anchor="ctr" rtlCol="0">
            <a:normAutofit/>
          </a:bodyPr>
          <a:lstStyle/>
          <a:p>
            <a:pPr algn="ctr">
              <a:buNone/>
            </a:pPr>
            <a:r>
              <a:rPr lang="en-GB" sz="1100" b="1" i="0" dirty="0">
                <a:solidFill>
                  <a:srgbClr val="FFFFFF"/>
                </a:solidFill>
                <a:latin typeface="Arial"/>
                <a:cs typeface="Arial"/>
              </a:rPr>
              <a:t>ANSWERS</a:t>
            </a:r>
            <a:endParaRPr lang="en-GB" sz="1100" dirty="0"/>
          </a:p>
        </p:txBody>
      </p:sp>
      <p:sp>
        <p:nvSpPr>
          <p:cNvPr id="12" name="Shape 12"/>
          <p:cNvSpPr txBox="1"/>
          <p:nvPr/>
        </p:nvSpPr>
        <p:spPr>
          <a:xfrm>
            <a:off x="1531620" y="1810512"/>
            <a:ext cx="5486400" cy="310896"/>
          </a:xfrm>
          <a:prstGeom prst="rect">
            <a:avLst/>
          </a:prstGeom>
          <a:noFill/>
          <a:ln>
            <a:noFill/>
          </a:ln>
        </p:spPr>
        <p:txBody>
          <a:bodyPr wrap="square" lIns="18288" tIns="18288" rIns="18288" bIns="18288" anchor="ctr" rtlCol="0">
            <a:normAutofit/>
          </a:bodyPr>
          <a:lstStyle/>
          <a:p>
            <a:pPr algn="l">
              <a:buNone/>
            </a:pPr>
            <a:r>
              <a:rPr lang="en-GB" sz="1200" b="0" i="1" dirty="0">
                <a:solidFill>
                  <a:srgbClr val="595959"/>
                </a:solidFill>
                <a:latin typeface="Arial"/>
                <a:cs typeface="Arial"/>
              </a:rPr>
              <a:t>one possible walk-through</a:t>
            </a:r>
            <a:endParaRPr lang="en-GB" sz="1200" dirty="0"/>
          </a:p>
        </p:txBody>
      </p:sp>
      <p:sp>
        <p:nvSpPr>
          <p:cNvPr id="13" name="Shape 13"/>
          <p:cNvSpPr txBox="1"/>
          <p:nvPr/>
        </p:nvSpPr>
        <p:spPr>
          <a:xfrm>
            <a:off x="548640" y="2240280"/>
            <a:ext cx="7955280" cy="365760"/>
          </a:xfrm>
          <a:prstGeom prst="rect">
            <a:avLst/>
          </a:prstGeom>
          <a:noFill/>
          <a:ln>
            <a:noFill/>
          </a:ln>
        </p:spPr>
        <p:txBody>
          <a:bodyPr wrap="square" lIns="18288" tIns="18288" rIns="18288" bIns="18288" anchor="t" rtlCol="0">
            <a:normAutofit/>
          </a:bodyPr>
          <a:lstStyle/>
          <a:p>
            <a:pPr algn="l">
              <a:buNone/>
            </a:pPr>
            <a:r>
              <a:rPr lang="en-GB" sz="1400" b="1" i="0" dirty="0">
                <a:solidFill>
                  <a:srgbClr val="2D2D8A"/>
                </a:solidFill>
                <a:latin typeface="Arial"/>
                <a:cs typeface="Arial"/>
              </a:rPr>
              <a:t xml:space="preserve">Task: </a:t>
            </a:r>
            <a:r>
              <a:rPr lang="en-GB" sz="1400" b="0" i="0" dirty="0">
                <a:solidFill>
                  <a:srgbClr val="1A1A1A"/>
                </a:solidFill>
                <a:latin typeface="Arial"/>
                <a:cs typeface="Arial"/>
              </a:rPr>
              <a:t>set an alarm for 6:30 am tomorrow — and write what happens at each stage.</a:t>
            </a:r>
            <a:endParaRPr lang="en-GB" sz="1400" dirty="0"/>
          </a:p>
        </p:txBody>
      </p:sp>
      <p:sp>
        <p:nvSpPr>
          <p:cNvPr id="14" name="Shape 14"/>
          <p:cNvSpPr/>
          <p:nvPr/>
        </p:nvSpPr>
        <p:spPr>
          <a:xfrm>
            <a:off x="548640" y="2697480"/>
            <a:ext cx="411480" cy="457200"/>
          </a:xfrm>
          <a:prstGeom prst="rect">
            <a:avLst/>
          </a:prstGeom>
          <a:solidFill>
            <a:srgbClr val="333399"/>
          </a:solidFill>
          <a:ln w="9525">
            <a:solidFill>
              <a:srgbClr val="9DB8BC"/>
            </a:solidFill>
          </a:ln>
        </p:spPr>
        <p:txBody>
          <a:bodyPr wrap="square" lIns="54864" tIns="54864" rIns="54864" bIns="54864" anchor="ctr" rtlCol="0">
            <a:normAutofit/>
          </a:bodyPr>
          <a:lstStyle/>
          <a:p>
            <a:pPr algn="l">
              <a:buNone/>
            </a:pPr>
            <a:r>
              <a:rPr lang="en-GB" sz="1200" b="1" i="0" dirty="0">
                <a:solidFill>
                  <a:srgbClr val="FFFFFF"/>
                </a:solidFill>
                <a:latin typeface="Arial"/>
                <a:cs typeface="Arial"/>
              </a:rPr>
              <a:t/>
            </a:r>
            <a:endParaRPr lang="en-GB" sz="1200" dirty="0"/>
          </a:p>
        </p:txBody>
      </p:sp>
      <p:sp>
        <p:nvSpPr>
          <p:cNvPr id="15" name="Shape 15"/>
          <p:cNvSpPr/>
          <p:nvPr/>
        </p:nvSpPr>
        <p:spPr>
          <a:xfrm>
            <a:off x="960120" y="2697480"/>
            <a:ext cx="2103120" cy="457200"/>
          </a:xfrm>
          <a:prstGeom prst="rect">
            <a:avLst/>
          </a:prstGeom>
          <a:solidFill>
            <a:srgbClr val="333399"/>
          </a:solidFill>
          <a:ln w="9525">
            <a:solidFill>
              <a:srgbClr val="9DB8BC"/>
            </a:solidFill>
          </a:ln>
        </p:spPr>
        <p:txBody>
          <a:bodyPr wrap="square" lIns="54864" tIns="54864" rIns="54864" bIns="54864" anchor="ctr" rtlCol="0">
            <a:normAutofit/>
          </a:bodyPr>
          <a:lstStyle/>
          <a:p>
            <a:pPr algn="l">
              <a:buNone/>
            </a:pPr>
            <a:r>
              <a:rPr lang="en-GB" sz="1200" b="1" i="0" dirty="0">
                <a:solidFill>
                  <a:srgbClr val="FFFFFF"/>
                </a:solidFill>
                <a:latin typeface="Arial"/>
                <a:cs typeface="Arial"/>
              </a:rPr>
              <a:t>Stage</a:t>
            </a:r>
            <a:endParaRPr lang="en-GB" sz="1200" dirty="0"/>
          </a:p>
        </p:txBody>
      </p:sp>
      <p:sp>
        <p:nvSpPr>
          <p:cNvPr id="16" name="Shape 16"/>
          <p:cNvSpPr/>
          <p:nvPr/>
        </p:nvSpPr>
        <p:spPr>
          <a:xfrm>
            <a:off x="3063240" y="2697480"/>
            <a:ext cx="4434840" cy="457200"/>
          </a:xfrm>
          <a:prstGeom prst="rect">
            <a:avLst/>
          </a:prstGeom>
          <a:solidFill>
            <a:srgbClr val="333399"/>
          </a:solidFill>
          <a:ln w="9525">
            <a:solidFill>
              <a:srgbClr val="9DB8BC"/>
            </a:solidFill>
          </a:ln>
        </p:spPr>
        <p:txBody>
          <a:bodyPr wrap="square" lIns="54864" tIns="54864" rIns="54864" bIns="54864" anchor="ctr" rtlCol="0">
            <a:normAutofit/>
          </a:bodyPr>
          <a:lstStyle/>
          <a:p>
            <a:pPr algn="l">
              <a:buNone/>
            </a:pPr>
            <a:r>
              <a:rPr lang="en-GB" sz="1200" b="1" i="0" dirty="0">
                <a:solidFill>
                  <a:srgbClr val="FFFFFF"/>
                </a:solidFill>
                <a:latin typeface="Arial"/>
                <a:cs typeface="Arial"/>
              </a:rPr>
              <a:t>What you do / see / think</a:t>
            </a:r>
            <a:endParaRPr lang="en-GB" sz="1200" dirty="0"/>
          </a:p>
        </p:txBody>
      </p:sp>
      <p:sp>
        <p:nvSpPr>
          <p:cNvPr id="17" name="Shape 17"/>
          <p:cNvSpPr/>
          <p:nvPr/>
        </p:nvSpPr>
        <p:spPr>
          <a:xfrm>
            <a:off x="548640" y="3154680"/>
            <a:ext cx="411480" cy="457200"/>
          </a:xfrm>
          <a:prstGeom prst="rect">
            <a:avLst/>
          </a:prstGeom>
          <a:solidFill>
            <a:srgbClr val="DAEDEF"/>
          </a:solidFill>
          <a:ln w="9525">
            <a:solidFill>
              <a:srgbClr val="9DB8BC"/>
            </a:solidFill>
          </a:ln>
        </p:spPr>
        <p:txBody>
          <a:bodyPr wrap="square" lIns="54864" tIns="54864" rIns="54864" bIns="54864" anchor="ctr" rtlCol="0">
            <a:normAutofit/>
          </a:bodyPr>
          <a:lstStyle/>
          <a:p>
            <a:pPr algn="l">
              <a:buNone/>
            </a:pPr>
            <a:r>
              <a:rPr lang="en-GB" sz="1200" b="1" i="0" dirty="0">
                <a:solidFill>
                  <a:srgbClr val="1A1A1A"/>
                </a:solidFill>
                <a:latin typeface="Arial"/>
                <a:cs typeface="Arial"/>
              </a:rPr>
              <a:t>1</a:t>
            </a:r>
            <a:endParaRPr lang="en-GB" sz="1200" dirty="0"/>
          </a:p>
        </p:txBody>
      </p:sp>
      <p:sp>
        <p:nvSpPr>
          <p:cNvPr id="18" name="Shape 18"/>
          <p:cNvSpPr/>
          <p:nvPr/>
        </p:nvSpPr>
        <p:spPr>
          <a:xfrm>
            <a:off x="960120" y="3154680"/>
            <a:ext cx="2103120" cy="457200"/>
          </a:xfrm>
          <a:prstGeom prst="rect">
            <a:avLst/>
          </a:prstGeom>
          <a:solidFill>
            <a:srgbClr val="FFFFFF"/>
          </a:solidFill>
          <a:ln w="9525">
            <a:solidFill>
              <a:srgbClr val="9DB8BC"/>
            </a:solidFill>
          </a:ln>
        </p:spPr>
        <p:txBody>
          <a:bodyPr wrap="square" lIns="54864" tIns="54864" rIns="54864" bIns="54864" anchor="ctr" rtlCol="0">
            <a:normAutofit/>
          </a:bodyPr>
          <a:lstStyle/>
          <a:p>
            <a:pPr algn="l">
              <a:buNone/>
            </a:pPr>
            <a:r>
              <a:rPr lang="en-GB" sz="1200" b="0" i="0" dirty="0">
                <a:solidFill>
                  <a:srgbClr val="1A1A1A"/>
                </a:solidFill>
                <a:latin typeface="Arial"/>
                <a:cs typeface="Arial"/>
              </a:rPr>
              <a:t>Establish the goal</a:t>
            </a:r>
            <a:endParaRPr lang="en-GB" sz="1200" dirty="0"/>
          </a:p>
        </p:txBody>
      </p:sp>
      <p:sp>
        <p:nvSpPr>
          <p:cNvPr id="19" name="Shape 19"/>
          <p:cNvSpPr/>
          <p:nvPr/>
        </p:nvSpPr>
        <p:spPr>
          <a:xfrm>
            <a:off x="3063240" y="3154680"/>
            <a:ext cx="4434840" cy="457200"/>
          </a:xfrm>
          <a:prstGeom prst="rect">
            <a:avLst/>
          </a:prstGeom>
          <a:solidFill>
            <a:srgbClr val="FFFFFF"/>
          </a:solidFill>
          <a:ln w="9525">
            <a:solidFill>
              <a:srgbClr val="9DB8BC"/>
            </a:solidFill>
          </a:ln>
        </p:spPr>
        <p:txBody>
          <a:bodyPr wrap="square" lIns="54864" tIns="54864" rIns="54864" bIns="54864" anchor="ctr" rtlCol="0">
            <a:normAutofit/>
          </a:bodyPr>
          <a:lstStyle/>
          <a:p>
            <a:pPr algn="l">
              <a:buNone/>
            </a:pPr>
            <a:r>
              <a:rPr lang="en-GB" sz="1200" b="0" i="0" dirty="0">
                <a:solidFill>
                  <a:srgbClr val="1A1A1A"/>
                </a:solidFill>
                <a:latin typeface="Arial"/>
                <a:cs typeface="Arial"/>
              </a:rPr>
              <a:t>Wake up in time for the 8:00 am class</a:t>
            </a:r>
            <a:endParaRPr lang="en-GB" sz="1200" dirty="0"/>
          </a:p>
        </p:txBody>
      </p:sp>
      <p:sp>
        <p:nvSpPr>
          <p:cNvPr id="20" name="Shape 20"/>
          <p:cNvSpPr/>
          <p:nvPr/>
        </p:nvSpPr>
        <p:spPr>
          <a:xfrm>
            <a:off x="548640" y="3611880"/>
            <a:ext cx="411480" cy="457200"/>
          </a:xfrm>
          <a:prstGeom prst="rect">
            <a:avLst/>
          </a:prstGeom>
          <a:solidFill>
            <a:srgbClr val="DAEDEF"/>
          </a:solidFill>
          <a:ln w="9525">
            <a:solidFill>
              <a:srgbClr val="9DB8BC"/>
            </a:solidFill>
          </a:ln>
        </p:spPr>
        <p:txBody>
          <a:bodyPr wrap="square" lIns="54864" tIns="54864" rIns="54864" bIns="54864" anchor="ctr" rtlCol="0">
            <a:normAutofit/>
          </a:bodyPr>
          <a:lstStyle/>
          <a:p>
            <a:pPr algn="l">
              <a:buNone/>
            </a:pPr>
            <a:r>
              <a:rPr lang="en-GB" sz="1200" b="1" i="0" dirty="0">
                <a:solidFill>
                  <a:srgbClr val="1A1A1A"/>
                </a:solidFill>
                <a:latin typeface="Arial"/>
                <a:cs typeface="Arial"/>
              </a:rPr>
              <a:t>2</a:t>
            </a:r>
            <a:endParaRPr lang="en-GB" sz="1200" dirty="0"/>
          </a:p>
        </p:txBody>
      </p:sp>
      <p:sp>
        <p:nvSpPr>
          <p:cNvPr id="21" name="Shape 21"/>
          <p:cNvSpPr/>
          <p:nvPr/>
        </p:nvSpPr>
        <p:spPr>
          <a:xfrm>
            <a:off x="960120" y="3611880"/>
            <a:ext cx="2103120" cy="457200"/>
          </a:xfrm>
          <a:prstGeom prst="rect">
            <a:avLst/>
          </a:prstGeom>
          <a:solidFill>
            <a:srgbClr val="FFFFFF"/>
          </a:solidFill>
          <a:ln w="9525">
            <a:solidFill>
              <a:srgbClr val="9DB8BC"/>
            </a:solidFill>
          </a:ln>
        </p:spPr>
        <p:txBody>
          <a:bodyPr wrap="square" lIns="54864" tIns="54864" rIns="54864" bIns="54864" anchor="ctr" rtlCol="0">
            <a:normAutofit/>
          </a:bodyPr>
          <a:lstStyle/>
          <a:p>
            <a:pPr algn="l">
              <a:buNone/>
            </a:pPr>
            <a:r>
              <a:rPr lang="en-GB" sz="1200" b="0" i="0" dirty="0">
                <a:solidFill>
                  <a:srgbClr val="1A1A1A"/>
                </a:solidFill>
                <a:latin typeface="Arial"/>
                <a:cs typeface="Arial"/>
              </a:rPr>
              <a:t>Form the intention</a:t>
            </a:r>
            <a:endParaRPr lang="en-GB" sz="1200" dirty="0"/>
          </a:p>
        </p:txBody>
      </p:sp>
      <p:sp>
        <p:nvSpPr>
          <p:cNvPr id="22" name="Shape 22"/>
          <p:cNvSpPr/>
          <p:nvPr/>
        </p:nvSpPr>
        <p:spPr>
          <a:xfrm>
            <a:off x="3063240" y="3611880"/>
            <a:ext cx="4434840" cy="457200"/>
          </a:xfrm>
          <a:prstGeom prst="rect">
            <a:avLst/>
          </a:prstGeom>
          <a:solidFill>
            <a:srgbClr val="FFFFFF"/>
          </a:solidFill>
          <a:ln w="9525">
            <a:solidFill>
              <a:srgbClr val="9DB8BC"/>
            </a:solidFill>
          </a:ln>
        </p:spPr>
        <p:txBody>
          <a:bodyPr wrap="square" lIns="54864" tIns="54864" rIns="54864" bIns="54864" anchor="ctr" rtlCol="0">
            <a:normAutofit/>
          </a:bodyPr>
          <a:lstStyle/>
          <a:p>
            <a:pPr algn="l">
              <a:buNone/>
            </a:pPr>
            <a:r>
              <a:rPr lang="en-GB" sz="1200" b="0" i="0" dirty="0">
                <a:solidFill>
                  <a:srgbClr val="1A1A1A"/>
                </a:solidFill>
                <a:latin typeface="Arial"/>
                <a:cs typeface="Arial"/>
              </a:rPr>
              <a:t>“I’ll set a phone alarm for 6:30”</a:t>
            </a:r>
            <a:endParaRPr lang="en-GB" sz="1200" dirty="0"/>
          </a:p>
        </p:txBody>
      </p:sp>
      <p:sp>
        <p:nvSpPr>
          <p:cNvPr id="23" name="Shape 23"/>
          <p:cNvSpPr/>
          <p:nvPr/>
        </p:nvSpPr>
        <p:spPr>
          <a:xfrm>
            <a:off x="548640" y="4069080"/>
            <a:ext cx="411480" cy="457200"/>
          </a:xfrm>
          <a:prstGeom prst="rect">
            <a:avLst/>
          </a:prstGeom>
          <a:solidFill>
            <a:srgbClr val="DAEDEF"/>
          </a:solidFill>
          <a:ln w="9525">
            <a:solidFill>
              <a:srgbClr val="9DB8BC"/>
            </a:solidFill>
          </a:ln>
        </p:spPr>
        <p:txBody>
          <a:bodyPr wrap="square" lIns="54864" tIns="54864" rIns="54864" bIns="54864" anchor="ctr" rtlCol="0">
            <a:normAutofit/>
          </a:bodyPr>
          <a:lstStyle/>
          <a:p>
            <a:pPr algn="l">
              <a:buNone/>
            </a:pPr>
            <a:r>
              <a:rPr lang="en-GB" sz="1200" b="1" i="0" dirty="0">
                <a:solidFill>
                  <a:srgbClr val="1A1A1A"/>
                </a:solidFill>
                <a:latin typeface="Arial"/>
                <a:cs typeface="Arial"/>
              </a:rPr>
              <a:t>3</a:t>
            </a:r>
            <a:endParaRPr lang="en-GB" sz="1200" dirty="0"/>
          </a:p>
        </p:txBody>
      </p:sp>
      <p:sp>
        <p:nvSpPr>
          <p:cNvPr id="24" name="Shape 24"/>
          <p:cNvSpPr/>
          <p:nvPr/>
        </p:nvSpPr>
        <p:spPr>
          <a:xfrm>
            <a:off x="960120" y="4069080"/>
            <a:ext cx="2103120" cy="457200"/>
          </a:xfrm>
          <a:prstGeom prst="rect">
            <a:avLst/>
          </a:prstGeom>
          <a:solidFill>
            <a:srgbClr val="FFFFFF"/>
          </a:solidFill>
          <a:ln w="9525">
            <a:solidFill>
              <a:srgbClr val="9DB8BC"/>
            </a:solidFill>
          </a:ln>
        </p:spPr>
        <p:txBody>
          <a:bodyPr wrap="square" lIns="54864" tIns="54864" rIns="54864" bIns="54864" anchor="ctr" rtlCol="0">
            <a:normAutofit/>
          </a:bodyPr>
          <a:lstStyle/>
          <a:p>
            <a:pPr algn="l">
              <a:buNone/>
            </a:pPr>
            <a:r>
              <a:rPr lang="en-GB" sz="1200" b="0" i="0" dirty="0">
                <a:solidFill>
                  <a:srgbClr val="1A1A1A"/>
                </a:solidFill>
                <a:latin typeface="Arial"/>
                <a:cs typeface="Arial"/>
              </a:rPr>
              <a:t>Specify the actions</a:t>
            </a:r>
            <a:endParaRPr lang="en-GB" sz="1200" dirty="0"/>
          </a:p>
        </p:txBody>
      </p:sp>
      <p:sp>
        <p:nvSpPr>
          <p:cNvPr id="25" name="Shape 25"/>
          <p:cNvSpPr/>
          <p:nvPr/>
        </p:nvSpPr>
        <p:spPr>
          <a:xfrm>
            <a:off x="3063240" y="4069080"/>
            <a:ext cx="4434840" cy="457200"/>
          </a:xfrm>
          <a:prstGeom prst="rect">
            <a:avLst/>
          </a:prstGeom>
          <a:solidFill>
            <a:srgbClr val="FFFFFF"/>
          </a:solidFill>
          <a:ln w="9525">
            <a:solidFill>
              <a:srgbClr val="9DB8BC"/>
            </a:solidFill>
          </a:ln>
        </p:spPr>
        <p:txBody>
          <a:bodyPr wrap="square" lIns="54864" tIns="54864" rIns="54864" bIns="54864" anchor="ctr" rtlCol="0">
            <a:normAutofit/>
          </a:bodyPr>
          <a:lstStyle/>
          <a:p>
            <a:pPr algn="l">
              <a:buNone/>
            </a:pPr>
            <a:r>
              <a:rPr lang="en-GB" sz="1200" b="0" i="0" dirty="0">
                <a:solidFill>
                  <a:srgbClr val="1A1A1A"/>
                </a:solidFill>
                <a:latin typeface="Arial"/>
                <a:cs typeface="Arial"/>
              </a:rPr>
              <a:t>Clock → Alarm → + → scroll to 6:30 AM → Save</a:t>
            </a:r>
            <a:endParaRPr lang="en-GB" sz="1200" dirty="0"/>
          </a:p>
        </p:txBody>
      </p:sp>
      <p:sp>
        <p:nvSpPr>
          <p:cNvPr id="26" name="Shape 26"/>
          <p:cNvSpPr/>
          <p:nvPr/>
        </p:nvSpPr>
        <p:spPr>
          <a:xfrm>
            <a:off x="548640" y="4526280"/>
            <a:ext cx="411480" cy="457200"/>
          </a:xfrm>
          <a:prstGeom prst="rect">
            <a:avLst/>
          </a:prstGeom>
          <a:solidFill>
            <a:srgbClr val="DAEDEF"/>
          </a:solidFill>
          <a:ln w="9525">
            <a:solidFill>
              <a:srgbClr val="9DB8BC"/>
            </a:solidFill>
          </a:ln>
        </p:spPr>
        <p:txBody>
          <a:bodyPr wrap="square" lIns="54864" tIns="54864" rIns="54864" bIns="54864" anchor="ctr" rtlCol="0">
            <a:normAutofit/>
          </a:bodyPr>
          <a:lstStyle/>
          <a:p>
            <a:pPr algn="l">
              <a:buNone/>
            </a:pPr>
            <a:r>
              <a:rPr lang="en-GB" sz="1200" b="1" i="0" dirty="0">
                <a:solidFill>
                  <a:srgbClr val="1A1A1A"/>
                </a:solidFill>
                <a:latin typeface="Arial"/>
                <a:cs typeface="Arial"/>
              </a:rPr>
              <a:t>4</a:t>
            </a:r>
            <a:endParaRPr lang="en-GB" sz="1200" dirty="0"/>
          </a:p>
        </p:txBody>
      </p:sp>
      <p:sp>
        <p:nvSpPr>
          <p:cNvPr id="27" name="Shape 27"/>
          <p:cNvSpPr/>
          <p:nvPr/>
        </p:nvSpPr>
        <p:spPr>
          <a:xfrm>
            <a:off x="960120" y="4526280"/>
            <a:ext cx="2103120" cy="457200"/>
          </a:xfrm>
          <a:prstGeom prst="rect">
            <a:avLst/>
          </a:prstGeom>
          <a:solidFill>
            <a:srgbClr val="FFFFFF"/>
          </a:solidFill>
          <a:ln w="9525">
            <a:solidFill>
              <a:srgbClr val="9DB8BC"/>
            </a:solidFill>
          </a:ln>
        </p:spPr>
        <p:txBody>
          <a:bodyPr wrap="square" lIns="54864" tIns="54864" rIns="54864" bIns="54864" anchor="ctr" rtlCol="0">
            <a:normAutofit/>
          </a:bodyPr>
          <a:lstStyle/>
          <a:p>
            <a:pPr algn="l">
              <a:buNone/>
            </a:pPr>
            <a:r>
              <a:rPr lang="en-GB" sz="1200" b="0" i="0" dirty="0">
                <a:solidFill>
                  <a:srgbClr val="1A1A1A"/>
                </a:solidFill>
                <a:latin typeface="Arial"/>
                <a:cs typeface="Arial"/>
              </a:rPr>
              <a:t>Execute the actions</a:t>
            </a:r>
            <a:endParaRPr lang="en-GB" sz="1200" dirty="0"/>
          </a:p>
        </p:txBody>
      </p:sp>
      <p:sp>
        <p:nvSpPr>
          <p:cNvPr id="28" name="Shape 28"/>
          <p:cNvSpPr/>
          <p:nvPr/>
        </p:nvSpPr>
        <p:spPr>
          <a:xfrm>
            <a:off x="3063240" y="4526280"/>
            <a:ext cx="4434840" cy="457200"/>
          </a:xfrm>
          <a:prstGeom prst="rect">
            <a:avLst/>
          </a:prstGeom>
          <a:solidFill>
            <a:srgbClr val="FFFFFF"/>
          </a:solidFill>
          <a:ln w="9525">
            <a:solidFill>
              <a:srgbClr val="9DB8BC"/>
            </a:solidFill>
          </a:ln>
        </p:spPr>
        <p:txBody>
          <a:bodyPr wrap="square" lIns="54864" tIns="54864" rIns="54864" bIns="54864" anchor="ctr" rtlCol="0">
            <a:normAutofit/>
          </a:bodyPr>
          <a:lstStyle/>
          <a:p>
            <a:pPr algn="l">
              <a:buNone/>
            </a:pPr>
            <a:r>
              <a:rPr lang="en-GB" sz="1200" b="0" i="0" dirty="0">
                <a:solidFill>
                  <a:srgbClr val="1A1A1A"/>
                </a:solidFill>
                <a:latin typeface="Arial"/>
                <a:cs typeface="Arial"/>
              </a:rPr>
              <a:t>Tap, scroll the wheels, tap Save</a:t>
            </a:r>
            <a:endParaRPr lang="en-GB" sz="1200" dirty="0"/>
          </a:p>
        </p:txBody>
      </p:sp>
      <p:sp>
        <p:nvSpPr>
          <p:cNvPr id="29" name="Shape 29"/>
          <p:cNvSpPr/>
          <p:nvPr/>
        </p:nvSpPr>
        <p:spPr>
          <a:xfrm>
            <a:off x="548640" y="4983480"/>
            <a:ext cx="411480" cy="457200"/>
          </a:xfrm>
          <a:prstGeom prst="rect">
            <a:avLst/>
          </a:prstGeom>
          <a:solidFill>
            <a:srgbClr val="E6EFD9"/>
          </a:solidFill>
          <a:ln w="9525">
            <a:solidFill>
              <a:srgbClr val="9DB8BC"/>
            </a:solidFill>
          </a:ln>
        </p:spPr>
        <p:txBody>
          <a:bodyPr wrap="square" lIns="54864" tIns="54864" rIns="54864" bIns="54864" anchor="ctr" rtlCol="0">
            <a:normAutofit/>
          </a:bodyPr>
          <a:lstStyle/>
          <a:p>
            <a:pPr algn="l">
              <a:buNone/>
            </a:pPr>
            <a:r>
              <a:rPr lang="en-GB" sz="1200" b="1" i="0" dirty="0">
                <a:solidFill>
                  <a:srgbClr val="1A1A1A"/>
                </a:solidFill>
                <a:latin typeface="Arial"/>
                <a:cs typeface="Arial"/>
              </a:rPr>
              <a:t>5</a:t>
            </a:r>
            <a:endParaRPr lang="en-GB" sz="1200" dirty="0"/>
          </a:p>
        </p:txBody>
      </p:sp>
      <p:sp>
        <p:nvSpPr>
          <p:cNvPr id="30" name="Shape 30"/>
          <p:cNvSpPr/>
          <p:nvPr/>
        </p:nvSpPr>
        <p:spPr>
          <a:xfrm>
            <a:off x="960120" y="4983480"/>
            <a:ext cx="2103120" cy="457200"/>
          </a:xfrm>
          <a:prstGeom prst="rect">
            <a:avLst/>
          </a:prstGeom>
          <a:solidFill>
            <a:srgbClr val="FFFFFF"/>
          </a:solidFill>
          <a:ln w="9525">
            <a:solidFill>
              <a:srgbClr val="9DB8BC"/>
            </a:solidFill>
          </a:ln>
        </p:spPr>
        <p:txBody>
          <a:bodyPr wrap="square" lIns="54864" tIns="54864" rIns="54864" bIns="54864" anchor="ctr" rtlCol="0">
            <a:normAutofit/>
          </a:bodyPr>
          <a:lstStyle/>
          <a:p>
            <a:pPr algn="l">
              <a:buNone/>
            </a:pPr>
            <a:r>
              <a:rPr lang="en-GB" sz="1200" b="0" i="0" dirty="0">
                <a:solidFill>
                  <a:srgbClr val="1A1A1A"/>
                </a:solidFill>
                <a:latin typeface="Arial"/>
                <a:cs typeface="Arial"/>
              </a:rPr>
              <a:t>Perceive system state</a:t>
            </a:r>
            <a:endParaRPr lang="en-GB" sz="1200" dirty="0"/>
          </a:p>
        </p:txBody>
      </p:sp>
      <p:sp>
        <p:nvSpPr>
          <p:cNvPr id="31" name="Shape 31"/>
          <p:cNvSpPr/>
          <p:nvPr/>
        </p:nvSpPr>
        <p:spPr>
          <a:xfrm>
            <a:off x="3063240" y="4983480"/>
            <a:ext cx="4434840" cy="457200"/>
          </a:xfrm>
          <a:prstGeom prst="rect">
            <a:avLst/>
          </a:prstGeom>
          <a:solidFill>
            <a:srgbClr val="FFFFFF"/>
          </a:solidFill>
          <a:ln w="9525">
            <a:solidFill>
              <a:srgbClr val="9DB8BC"/>
            </a:solidFill>
          </a:ln>
        </p:spPr>
        <p:txBody>
          <a:bodyPr wrap="square" lIns="54864" tIns="54864" rIns="54864" bIns="54864" anchor="ctr" rtlCol="0">
            <a:normAutofit/>
          </a:bodyPr>
          <a:lstStyle/>
          <a:p>
            <a:pPr algn="l">
              <a:buNone/>
            </a:pPr>
            <a:r>
              <a:rPr lang="en-GB" sz="1200" b="0" i="0" dirty="0">
                <a:solidFill>
                  <a:srgbClr val="1A1A1A"/>
                </a:solidFill>
                <a:latin typeface="Arial"/>
                <a:cs typeface="Arial"/>
              </a:rPr>
              <a:t>A new row “6:30 AM” with a switch that looks on</a:t>
            </a:r>
            <a:endParaRPr lang="en-GB" sz="1200" dirty="0"/>
          </a:p>
        </p:txBody>
      </p:sp>
      <p:sp>
        <p:nvSpPr>
          <p:cNvPr id="32" name="Shape 32"/>
          <p:cNvSpPr/>
          <p:nvPr/>
        </p:nvSpPr>
        <p:spPr>
          <a:xfrm>
            <a:off x="548640" y="5440680"/>
            <a:ext cx="411480" cy="457200"/>
          </a:xfrm>
          <a:prstGeom prst="rect">
            <a:avLst/>
          </a:prstGeom>
          <a:solidFill>
            <a:srgbClr val="E6EFD9"/>
          </a:solidFill>
          <a:ln w="9525">
            <a:solidFill>
              <a:srgbClr val="9DB8BC"/>
            </a:solidFill>
          </a:ln>
        </p:spPr>
        <p:txBody>
          <a:bodyPr wrap="square" lIns="54864" tIns="54864" rIns="54864" bIns="54864" anchor="ctr" rtlCol="0">
            <a:normAutofit/>
          </a:bodyPr>
          <a:lstStyle/>
          <a:p>
            <a:pPr algn="l">
              <a:buNone/>
            </a:pPr>
            <a:r>
              <a:rPr lang="en-GB" sz="1200" b="1" i="0" dirty="0">
                <a:solidFill>
                  <a:srgbClr val="1A1A1A"/>
                </a:solidFill>
                <a:latin typeface="Arial"/>
                <a:cs typeface="Arial"/>
              </a:rPr>
              <a:t>6</a:t>
            </a:r>
            <a:endParaRPr lang="en-GB" sz="1200" dirty="0"/>
          </a:p>
        </p:txBody>
      </p:sp>
      <p:sp>
        <p:nvSpPr>
          <p:cNvPr id="33" name="Shape 33"/>
          <p:cNvSpPr/>
          <p:nvPr/>
        </p:nvSpPr>
        <p:spPr>
          <a:xfrm>
            <a:off x="960120" y="5440680"/>
            <a:ext cx="2103120" cy="457200"/>
          </a:xfrm>
          <a:prstGeom prst="rect">
            <a:avLst/>
          </a:prstGeom>
          <a:solidFill>
            <a:srgbClr val="FFFFFF"/>
          </a:solidFill>
          <a:ln w="9525">
            <a:solidFill>
              <a:srgbClr val="9DB8BC"/>
            </a:solidFill>
          </a:ln>
        </p:spPr>
        <p:txBody>
          <a:bodyPr wrap="square" lIns="54864" tIns="54864" rIns="54864" bIns="54864" anchor="ctr" rtlCol="0">
            <a:normAutofit/>
          </a:bodyPr>
          <a:lstStyle/>
          <a:p>
            <a:pPr algn="l">
              <a:buNone/>
            </a:pPr>
            <a:r>
              <a:rPr lang="en-GB" sz="1200" b="0" i="0" dirty="0">
                <a:solidFill>
                  <a:srgbClr val="1A1A1A"/>
                </a:solidFill>
                <a:latin typeface="Arial"/>
                <a:cs typeface="Arial"/>
              </a:rPr>
              <a:t>Interpret system state</a:t>
            </a:r>
            <a:endParaRPr lang="en-GB" sz="1200" dirty="0"/>
          </a:p>
        </p:txBody>
      </p:sp>
      <p:sp>
        <p:nvSpPr>
          <p:cNvPr id="34" name="Shape 34"/>
          <p:cNvSpPr/>
          <p:nvPr/>
        </p:nvSpPr>
        <p:spPr>
          <a:xfrm>
            <a:off x="3063240" y="5440680"/>
            <a:ext cx="4434840" cy="457200"/>
          </a:xfrm>
          <a:prstGeom prst="rect">
            <a:avLst/>
          </a:prstGeom>
          <a:solidFill>
            <a:srgbClr val="FFFFFF"/>
          </a:solidFill>
          <a:ln w="9525">
            <a:solidFill>
              <a:srgbClr val="9DB8BC"/>
            </a:solidFill>
          </a:ln>
        </p:spPr>
        <p:txBody>
          <a:bodyPr wrap="square" lIns="54864" tIns="54864" rIns="54864" bIns="54864" anchor="ctr" rtlCol="0">
            <a:normAutofit/>
          </a:bodyPr>
          <a:lstStyle/>
          <a:p>
            <a:pPr algn="l">
              <a:buNone/>
            </a:pPr>
            <a:r>
              <a:rPr lang="en-GB" sz="1200" b="0" i="0" dirty="0">
                <a:solidFill>
                  <a:srgbClr val="1A1A1A"/>
                </a:solidFill>
                <a:latin typeface="Arial"/>
                <a:cs typeface="Arial"/>
              </a:rPr>
              <a:t>“The alarm is set — and it is AM, not PM”</a:t>
            </a:r>
            <a:endParaRPr lang="en-GB" sz="1200" dirty="0"/>
          </a:p>
        </p:txBody>
      </p:sp>
      <p:sp>
        <p:nvSpPr>
          <p:cNvPr id="35" name="Shape 35"/>
          <p:cNvSpPr/>
          <p:nvPr/>
        </p:nvSpPr>
        <p:spPr>
          <a:xfrm>
            <a:off x="548640" y="5897880"/>
            <a:ext cx="411480" cy="457200"/>
          </a:xfrm>
          <a:prstGeom prst="rect">
            <a:avLst/>
          </a:prstGeom>
          <a:solidFill>
            <a:srgbClr val="E6EFD9"/>
          </a:solidFill>
          <a:ln w="9525">
            <a:solidFill>
              <a:srgbClr val="9DB8BC"/>
            </a:solidFill>
          </a:ln>
        </p:spPr>
        <p:txBody>
          <a:bodyPr wrap="square" lIns="54864" tIns="54864" rIns="54864" bIns="54864" anchor="ctr" rtlCol="0">
            <a:normAutofit/>
          </a:bodyPr>
          <a:lstStyle/>
          <a:p>
            <a:pPr algn="l">
              <a:buNone/>
            </a:pPr>
            <a:r>
              <a:rPr lang="en-GB" sz="1200" b="1" i="0" dirty="0">
                <a:solidFill>
                  <a:srgbClr val="1A1A1A"/>
                </a:solidFill>
                <a:latin typeface="Arial"/>
                <a:cs typeface="Arial"/>
              </a:rPr>
              <a:t>7</a:t>
            </a:r>
            <a:endParaRPr lang="en-GB" sz="1200" dirty="0"/>
          </a:p>
        </p:txBody>
      </p:sp>
      <p:sp>
        <p:nvSpPr>
          <p:cNvPr id="36" name="Shape 36"/>
          <p:cNvSpPr/>
          <p:nvPr/>
        </p:nvSpPr>
        <p:spPr>
          <a:xfrm>
            <a:off x="960120" y="5897880"/>
            <a:ext cx="2103120" cy="457200"/>
          </a:xfrm>
          <a:prstGeom prst="rect">
            <a:avLst/>
          </a:prstGeom>
          <a:solidFill>
            <a:srgbClr val="FFFFFF"/>
          </a:solidFill>
          <a:ln w="9525">
            <a:solidFill>
              <a:srgbClr val="9DB8BC"/>
            </a:solidFill>
          </a:ln>
        </p:spPr>
        <p:txBody>
          <a:bodyPr wrap="square" lIns="54864" tIns="54864" rIns="54864" bIns="54864" anchor="ctr" rtlCol="0">
            <a:normAutofit/>
          </a:bodyPr>
          <a:lstStyle/>
          <a:p>
            <a:pPr algn="l">
              <a:buNone/>
            </a:pPr>
            <a:r>
              <a:rPr lang="en-GB" sz="1200" b="0" i="0" dirty="0">
                <a:solidFill>
                  <a:srgbClr val="1A1A1A"/>
                </a:solidFill>
                <a:latin typeface="Arial"/>
                <a:cs typeface="Arial"/>
              </a:rPr>
              <a:t>Evaluate vs. the goal</a:t>
            </a:r>
            <a:endParaRPr lang="en-GB" sz="1200" dirty="0"/>
          </a:p>
        </p:txBody>
      </p:sp>
      <p:sp>
        <p:nvSpPr>
          <p:cNvPr id="37" name="Shape 37"/>
          <p:cNvSpPr/>
          <p:nvPr/>
        </p:nvSpPr>
        <p:spPr>
          <a:xfrm>
            <a:off x="3063240" y="5897880"/>
            <a:ext cx="4434840" cy="457200"/>
          </a:xfrm>
          <a:prstGeom prst="rect">
            <a:avLst/>
          </a:prstGeom>
          <a:solidFill>
            <a:srgbClr val="FFFFFF"/>
          </a:solidFill>
          <a:ln w="9525">
            <a:solidFill>
              <a:srgbClr val="9DB8BC"/>
            </a:solidFill>
          </a:ln>
        </p:spPr>
        <p:txBody>
          <a:bodyPr wrap="square" lIns="54864" tIns="54864" rIns="54864" bIns="54864" anchor="ctr" rtlCol="0">
            <a:normAutofit/>
          </a:bodyPr>
          <a:lstStyle/>
          <a:p>
            <a:pPr algn="l">
              <a:buNone/>
            </a:pPr>
            <a:r>
              <a:rPr lang="en-GB" sz="1200" b="0" i="0" dirty="0">
                <a:solidFill>
                  <a:srgbClr val="1A1A1A"/>
                </a:solidFill>
                <a:latin typeface="Arial"/>
                <a:cs typeface="Arial"/>
              </a:rPr>
              <a:t>“Will it ring even on silent?” — goal met only if I’m sure</a:t>
            </a:r>
            <a:endParaRPr lang="en-GB" sz="1200" dirty="0"/>
          </a:p>
        </p:txBody>
      </p:sp>
      <p:sp>
        <p:nvSpPr>
          <p:cNvPr id="38" name="Shape 38"/>
          <p:cNvSpPr/>
          <p:nvPr/>
        </p:nvSpPr>
        <p:spPr>
          <a:xfrm>
            <a:off x="7607808" y="3200400"/>
            <a:ext cx="914400" cy="274320"/>
          </a:xfrm>
          <a:prstGeom prst="roundRect">
            <a:avLst>
              <a:gd name="adj" fmla="val 50000"/>
            </a:avLst>
          </a:prstGeom>
          <a:solidFill>
            <a:srgbClr val="333399"/>
          </a:solidFill>
          <a:ln>
            <a:noFill/>
          </a:ln>
        </p:spPr>
        <p:txBody>
          <a:bodyPr wrap="square" lIns="18288" tIns="18288" rIns="18288" bIns="18288" anchor="ctr" rtlCol="0">
            <a:normAutofit/>
          </a:bodyPr>
          <a:lstStyle/>
          <a:p>
            <a:pPr algn="ctr">
              <a:buNone/>
            </a:pPr>
            <a:r>
              <a:rPr lang="en-GB" sz="900" b="1" i="0" dirty="0">
                <a:solidFill>
                  <a:srgbClr val="FFFFFF"/>
                </a:solidFill>
                <a:latin typeface="Arial"/>
                <a:cs typeface="Arial"/>
              </a:rPr>
              <a:t>EXECUTION</a:t>
            </a:r>
            <a:endParaRPr lang="en-GB" sz="900" dirty="0"/>
          </a:p>
        </p:txBody>
      </p:sp>
      <p:sp>
        <p:nvSpPr>
          <p:cNvPr id="39" name="Shape 39"/>
          <p:cNvSpPr/>
          <p:nvPr/>
        </p:nvSpPr>
        <p:spPr>
          <a:xfrm>
            <a:off x="7607808" y="5029200"/>
            <a:ext cx="914400" cy="274320"/>
          </a:xfrm>
          <a:prstGeom prst="roundRect">
            <a:avLst>
              <a:gd name="adj" fmla="val 50000"/>
            </a:avLst>
          </a:prstGeom>
          <a:solidFill>
            <a:srgbClr val="4E7A12"/>
          </a:solidFill>
          <a:ln>
            <a:noFill/>
          </a:ln>
        </p:spPr>
        <p:txBody>
          <a:bodyPr wrap="square" lIns="18288" tIns="18288" rIns="18288" bIns="18288" anchor="ctr" rtlCol="0">
            <a:normAutofit/>
          </a:bodyPr>
          <a:lstStyle/>
          <a:p>
            <a:pPr algn="ctr">
              <a:buNone/>
            </a:pPr>
            <a:r>
              <a:rPr lang="en-GB" sz="900" b="1" i="0" dirty="0">
                <a:solidFill>
                  <a:srgbClr val="FFFFFF"/>
                </a:solidFill>
                <a:latin typeface="Arial"/>
                <a:cs typeface="Arial"/>
              </a:rPr>
              <a:t>EVALUATION</a:t>
            </a:r>
            <a:endParaRPr lang="en-GB" sz="900" dirty="0"/>
          </a:p>
        </p:txBody>
      </p:sp>
      <p:cxnSp>
        <p:nvCxnSpPr>
          <p:cNvPr id="40" name="Line 40"/>
          <p:cNvCxnSpPr/>
          <p:nvPr/>
        </p:nvCxnSpPr>
        <p:spPr>
          <a:xfrm>
            <a:off x="8065008" y="3520440"/>
            <a:ext cx="0" cy="1417320"/>
          </a:xfrm>
          <a:prstGeom prst="line">
            <a:avLst/>
          </a:prstGeom>
          <a:ln w="19050">
            <a:solidFill>
              <a:srgbClr val="333399"/>
            </a:solidFill>
          </a:ln>
        </p:spPr>
      </p:cxnSp>
      <p:cxnSp>
        <p:nvCxnSpPr>
          <p:cNvPr id="41" name="Line 41"/>
          <p:cNvCxnSpPr/>
          <p:nvPr/>
        </p:nvCxnSpPr>
        <p:spPr>
          <a:xfrm>
            <a:off x="8065008" y="5349240"/>
            <a:ext cx="0" cy="960120"/>
          </a:xfrm>
          <a:prstGeom prst="line">
            <a:avLst/>
          </a:prstGeom>
          <a:ln w="19050">
            <a:solidFill>
              <a:srgbClr val="4E7A12"/>
            </a:solidFill>
          </a:ln>
        </p:spPr>
      </p:cxn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200" b="0" i="0" dirty="0">
                <a:solidFill>
                  <a:srgbClr val="2D2D8A"/>
                </a:solidFill>
                <a:latin typeface="Arial"/>
                <a:cs typeface="Arial"/>
              </a:rPr>
              <a:t>Spot the gulf</a:t>
            </a:r>
          </a:p>
        </p:txBody>
      </p:sp>
      <p:sp>
        <p:nvSpPr>
          <p:cNvPr id="11" name="Shape 11"/>
          <p:cNvSpPr/>
          <p:nvPr/>
        </p:nvSpPr>
        <p:spPr>
          <a:xfrm>
            <a:off x="548640" y="1810512"/>
            <a:ext cx="585216" cy="310896"/>
          </a:xfrm>
          <a:prstGeom prst="roundRect">
            <a:avLst>
              <a:gd name="adj" fmla="val 50000"/>
            </a:avLst>
          </a:prstGeom>
          <a:solidFill>
            <a:srgbClr val="00726F"/>
          </a:solidFill>
          <a:ln>
            <a:noFill/>
          </a:ln>
        </p:spPr>
        <p:txBody>
          <a:bodyPr wrap="square" lIns="27432" tIns="27432" rIns="27432" bIns="27432" anchor="ctr" rtlCol="0">
            <a:normAutofit/>
          </a:bodyPr>
          <a:lstStyle/>
          <a:p>
            <a:pPr algn="ctr">
              <a:buNone/>
            </a:pPr>
            <a:r>
              <a:rPr lang="en-GB" sz="1100" b="1" i="0" dirty="0">
                <a:solidFill>
                  <a:srgbClr val="FFFFFF"/>
                </a:solidFill>
                <a:latin typeface="Arial"/>
                <a:cs typeface="Arial"/>
              </a:rPr>
              <a:t>POLL</a:t>
            </a:r>
            <a:endParaRPr lang="en-GB" sz="1100" dirty="0"/>
          </a:p>
        </p:txBody>
      </p:sp>
      <p:sp>
        <p:nvSpPr>
          <p:cNvPr id="12" name="Shape 12"/>
          <p:cNvSpPr txBox="1"/>
          <p:nvPr/>
        </p:nvSpPr>
        <p:spPr>
          <a:xfrm>
            <a:off x="1243584" y="1810512"/>
            <a:ext cx="5486400" cy="310896"/>
          </a:xfrm>
          <a:prstGeom prst="rect">
            <a:avLst/>
          </a:prstGeom>
          <a:noFill/>
          <a:ln>
            <a:noFill/>
          </a:ln>
        </p:spPr>
        <p:txBody>
          <a:bodyPr wrap="square" lIns="18288" tIns="18288" rIns="18288" bIns="18288" anchor="ctr" rtlCol="0">
            <a:normAutofit/>
          </a:bodyPr>
          <a:lstStyle/>
          <a:p>
            <a:pPr algn="l">
              <a:buNone/>
            </a:pPr>
            <a:r>
              <a:rPr lang="en-GB" sz="1200" b="0" i="1" dirty="0">
                <a:solidFill>
                  <a:srgbClr val="595959"/>
                </a:solidFill>
                <a:latin typeface="Arial"/>
                <a:cs typeface="Arial"/>
              </a:rPr>
              <a:t>1 finger = gulf of Execution · 2 fingers = gulf of Evaluation</a:t>
            </a:r>
            <a:endParaRPr lang="en-GB" sz="1200" dirty="0"/>
          </a:p>
        </p:txBody>
      </p:sp>
      <p:sp>
        <p:nvSpPr>
          <p:cNvPr id="13" name="Shape 13"/>
          <p:cNvSpPr/>
          <p:nvPr/>
        </p:nvSpPr>
        <p:spPr>
          <a:xfrm>
            <a:off x="548640" y="2286000"/>
            <a:ext cx="3840480" cy="1828800"/>
          </a:xfrm>
          <a:prstGeom prst="roundRect">
            <a:avLst>
              <a:gd name="adj" fmla="val 6000"/>
            </a:avLst>
          </a:prstGeom>
          <a:solidFill>
            <a:srgbClr val="F3F8F9"/>
          </a:solidFill>
          <a:ln w="9525">
            <a:solidFill>
              <a:srgbClr val="9DB8BC"/>
            </a:solidFill>
          </a:ln>
        </p:spPr>
        <p:txBody>
          <a:bodyPr wrap="square" lIns="73152" tIns="73152" rIns="73152" bIns="73152" anchor="t" rtlCol="0">
            <a:normAutofit/>
          </a:bodyPr>
          <a:lstStyle/>
          <a:p>
            <a:endParaRPr lang="en-GB" dirty="0"/>
          </a:p>
        </p:txBody>
      </p:sp>
      <p:sp>
        <p:nvSpPr>
          <p:cNvPr id="14" name="Shape 14"/>
          <p:cNvSpPr/>
          <p:nvPr/>
        </p:nvSpPr>
        <p:spPr>
          <a:xfrm>
            <a:off x="658368" y="2395728"/>
            <a:ext cx="365760" cy="365760"/>
          </a:xfrm>
          <a:prstGeom prst="ellipse">
            <a:avLst/>
          </a:prstGeom>
          <a:solidFill>
            <a:srgbClr val="333399"/>
          </a:solidFill>
          <a:ln>
            <a:noFill/>
          </a:ln>
        </p:spPr>
        <p:txBody>
          <a:bodyPr wrap="square" lIns="0" tIns="0" rIns="0" bIns="0" anchor="ctr" rtlCol="0">
            <a:normAutofit/>
          </a:bodyPr>
          <a:lstStyle/>
          <a:p>
            <a:pPr algn="ctr">
              <a:buNone/>
            </a:pPr>
            <a:r>
              <a:rPr lang="en-GB" sz="1300" b="1" i="0" dirty="0">
                <a:solidFill>
                  <a:srgbClr val="FFFFFF"/>
                </a:solidFill>
                <a:latin typeface="Arial"/>
                <a:cs typeface="Arial"/>
              </a:rPr>
              <a:t>1</a:t>
            </a:r>
            <a:endParaRPr lang="en-GB" sz="1300" dirty="0"/>
          </a:p>
        </p:txBody>
      </p:sp>
      <p:sp>
        <p:nvSpPr>
          <p:cNvPr id="15" name="Shape 15"/>
          <p:cNvSpPr txBox="1"/>
          <p:nvPr/>
        </p:nvSpPr>
        <p:spPr>
          <a:xfrm>
            <a:off x="1115568" y="2377440"/>
            <a:ext cx="3154680" cy="914400"/>
          </a:xfrm>
          <a:prstGeom prst="rect">
            <a:avLst/>
          </a:prstGeom>
          <a:noFill/>
          <a:ln>
            <a:noFill/>
          </a:ln>
        </p:spPr>
        <p:txBody>
          <a:bodyPr wrap="square" lIns="18288" tIns="18288" rIns="18288" bIns="18288" anchor="t" rtlCol="0">
            <a:normAutofit/>
          </a:bodyPr>
          <a:lstStyle/>
          <a:p>
            <a:pPr algn="l">
              <a:buNone/>
            </a:pPr>
            <a:r>
              <a:rPr lang="en-GB" sz="1300" b="0" i="0" dirty="0">
                <a:solidFill>
                  <a:srgbClr val="1A1A1A"/>
                </a:solidFill>
                <a:latin typeface="Arial"/>
                <a:cs typeface="Arial"/>
              </a:rPr>
              <a:t>You want to mute one WhatsApp group but cannot find where the option is.</a:t>
            </a:r>
            <a:endParaRPr lang="en-GB" sz="1300" dirty="0"/>
          </a:p>
        </p:txBody>
      </p:sp>
      <p:sp>
        <p:nvSpPr>
          <p:cNvPr id="16" name="Shape 16"/>
          <p:cNvSpPr/>
          <p:nvPr/>
        </p:nvSpPr>
        <p:spPr>
          <a:xfrm>
            <a:off x="1115568" y="3474720"/>
            <a:ext cx="1371600" cy="411480"/>
          </a:xfrm>
          <a:prstGeom prst="roundRect">
            <a:avLst>
              <a:gd name="adj" fmla="val 50000"/>
            </a:avLst>
          </a:prstGeom>
          <a:noFill/>
          <a:ln w="12700">
            <a:solidFill>
              <a:srgbClr val="333399"/>
            </a:solidFill>
          </a:ln>
        </p:spPr>
        <p:txBody>
          <a:bodyPr wrap="square" lIns="18288" tIns="18288" rIns="18288" bIns="18288" anchor="ctr" rtlCol="0">
            <a:normAutofit/>
          </a:bodyPr>
          <a:lstStyle/>
          <a:p>
            <a:pPr algn="ctr">
              <a:buNone/>
            </a:pPr>
            <a:r>
              <a:rPr lang="en-GB" sz="1100" b="0" i="0" dirty="0">
                <a:solidFill>
                  <a:srgbClr val="333399"/>
                </a:solidFill>
                <a:latin typeface="Arial"/>
                <a:cs typeface="Arial"/>
              </a:rPr>
              <a:t>1  Execution</a:t>
            </a:r>
            <a:endParaRPr lang="en-GB" sz="1100" dirty="0"/>
          </a:p>
        </p:txBody>
      </p:sp>
      <p:sp>
        <p:nvSpPr>
          <p:cNvPr id="17" name="Shape 17"/>
          <p:cNvSpPr/>
          <p:nvPr/>
        </p:nvSpPr>
        <p:spPr>
          <a:xfrm>
            <a:off x="2651760" y="3474720"/>
            <a:ext cx="1463040" cy="411480"/>
          </a:xfrm>
          <a:prstGeom prst="roundRect">
            <a:avLst>
              <a:gd name="adj" fmla="val 50000"/>
            </a:avLst>
          </a:prstGeom>
          <a:noFill/>
          <a:ln w="12700">
            <a:solidFill>
              <a:srgbClr val="4E7A12"/>
            </a:solidFill>
          </a:ln>
        </p:spPr>
        <p:txBody>
          <a:bodyPr wrap="square" lIns="18288" tIns="18288" rIns="18288" bIns="18288" anchor="ctr" rtlCol="0">
            <a:normAutofit/>
          </a:bodyPr>
          <a:lstStyle/>
          <a:p>
            <a:pPr algn="ctr">
              <a:buNone/>
            </a:pPr>
            <a:r>
              <a:rPr lang="en-GB" sz="1100" b="0" i="0" dirty="0">
                <a:solidFill>
                  <a:srgbClr val="4E7A12"/>
                </a:solidFill>
                <a:latin typeface="Arial"/>
                <a:cs typeface="Arial"/>
              </a:rPr>
              <a:t>2  Evaluation</a:t>
            </a:r>
            <a:endParaRPr lang="en-GB" sz="1100" dirty="0"/>
          </a:p>
        </p:txBody>
      </p:sp>
      <p:sp>
        <p:nvSpPr>
          <p:cNvPr id="18" name="Shape 18"/>
          <p:cNvSpPr/>
          <p:nvPr/>
        </p:nvSpPr>
        <p:spPr>
          <a:xfrm>
            <a:off x="4572000" y="2286000"/>
            <a:ext cx="3840480" cy="1828800"/>
          </a:xfrm>
          <a:prstGeom prst="roundRect">
            <a:avLst>
              <a:gd name="adj" fmla="val 6000"/>
            </a:avLst>
          </a:prstGeom>
          <a:solidFill>
            <a:srgbClr val="F3F8F9"/>
          </a:solidFill>
          <a:ln w="9525">
            <a:solidFill>
              <a:srgbClr val="9DB8BC"/>
            </a:solidFill>
          </a:ln>
        </p:spPr>
        <p:txBody>
          <a:bodyPr wrap="square" lIns="73152" tIns="73152" rIns="73152" bIns="73152" anchor="t" rtlCol="0">
            <a:normAutofit/>
          </a:bodyPr>
          <a:lstStyle/>
          <a:p>
            <a:endParaRPr lang="en-GB" dirty="0"/>
          </a:p>
        </p:txBody>
      </p:sp>
      <p:sp>
        <p:nvSpPr>
          <p:cNvPr id="19" name="Shape 19"/>
          <p:cNvSpPr/>
          <p:nvPr/>
        </p:nvSpPr>
        <p:spPr>
          <a:xfrm>
            <a:off x="4681728" y="2395728"/>
            <a:ext cx="365760" cy="365760"/>
          </a:xfrm>
          <a:prstGeom prst="ellipse">
            <a:avLst/>
          </a:prstGeom>
          <a:solidFill>
            <a:srgbClr val="333399"/>
          </a:solidFill>
          <a:ln>
            <a:noFill/>
          </a:ln>
        </p:spPr>
        <p:txBody>
          <a:bodyPr wrap="square" lIns="0" tIns="0" rIns="0" bIns="0" anchor="ctr" rtlCol="0">
            <a:normAutofit/>
          </a:bodyPr>
          <a:lstStyle/>
          <a:p>
            <a:pPr algn="ctr">
              <a:buNone/>
            </a:pPr>
            <a:r>
              <a:rPr lang="en-GB" sz="1300" b="1" i="0" dirty="0">
                <a:solidFill>
                  <a:srgbClr val="FFFFFF"/>
                </a:solidFill>
                <a:latin typeface="Arial"/>
                <a:cs typeface="Arial"/>
              </a:rPr>
              <a:t>2</a:t>
            </a:r>
            <a:endParaRPr lang="en-GB" sz="1300" dirty="0"/>
          </a:p>
        </p:txBody>
      </p:sp>
      <p:sp>
        <p:nvSpPr>
          <p:cNvPr id="20" name="Shape 20"/>
          <p:cNvSpPr txBox="1"/>
          <p:nvPr/>
        </p:nvSpPr>
        <p:spPr>
          <a:xfrm>
            <a:off x="5138928" y="2377440"/>
            <a:ext cx="3154680" cy="914400"/>
          </a:xfrm>
          <a:prstGeom prst="rect">
            <a:avLst/>
          </a:prstGeom>
          <a:noFill/>
          <a:ln>
            <a:noFill/>
          </a:ln>
        </p:spPr>
        <p:txBody>
          <a:bodyPr wrap="square" lIns="18288" tIns="18288" rIns="18288" bIns="18288" anchor="t" rtlCol="0">
            <a:normAutofit/>
          </a:bodyPr>
          <a:lstStyle/>
          <a:p>
            <a:pPr algn="l">
              <a:buNone/>
            </a:pPr>
            <a:r>
              <a:rPr lang="en-GB" sz="1300" b="0" i="0" dirty="0">
                <a:solidFill>
                  <a:srgbClr val="1A1A1A"/>
                </a:solidFill>
                <a:latin typeface="Arial"/>
                <a:cs typeface="Arial"/>
              </a:rPr>
              <a:t>You press ‘Pay’ on the fee portal. A spinner turns… and turns. Did it go through?</a:t>
            </a:r>
            <a:endParaRPr lang="en-GB" sz="1300" dirty="0"/>
          </a:p>
        </p:txBody>
      </p:sp>
      <p:sp>
        <p:nvSpPr>
          <p:cNvPr id="21" name="Shape 21"/>
          <p:cNvSpPr/>
          <p:nvPr/>
        </p:nvSpPr>
        <p:spPr>
          <a:xfrm>
            <a:off x="5138928" y="3474720"/>
            <a:ext cx="1371600" cy="411480"/>
          </a:xfrm>
          <a:prstGeom prst="roundRect">
            <a:avLst>
              <a:gd name="adj" fmla="val 50000"/>
            </a:avLst>
          </a:prstGeom>
          <a:noFill/>
          <a:ln w="12700">
            <a:solidFill>
              <a:srgbClr val="333399"/>
            </a:solidFill>
          </a:ln>
        </p:spPr>
        <p:txBody>
          <a:bodyPr wrap="square" lIns="18288" tIns="18288" rIns="18288" bIns="18288" anchor="ctr" rtlCol="0">
            <a:normAutofit/>
          </a:bodyPr>
          <a:lstStyle/>
          <a:p>
            <a:pPr algn="ctr">
              <a:buNone/>
            </a:pPr>
            <a:r>
              <a:rPr lang="en-GB" sz="1100" b="0" i="0" dirty="0">
                <a:solidFill>
                  <a:srgbClr val="333399"/>
                </a:solidFill>
                <a:latin typeface="Arial"/>
                <a:cs typeface="Arial"/>
              </a:rPr>
              <a:t>1  Execution</a:t>
            </a:r>
            <a:endParaRPr lang="en-GB" sz="1100" dirty="0"/>
          </a:p>
        </p:txBody>
      </p:sp>
      <p:sp>
        <p:nvSpPr>
          <p:cNvPr id="22" name="Shape 22"/>
          <p:cNvSpPr/>
          <p:nvPr/>
        </p:nvSpPr>
        <p:spPr>
          <a:xfrm>
            <a:off x="6675120" y="3474720"/>
            <a:ext cx="1463040" cy="411480"/>
          </a:xfrm>
          <a:prstGeom prst="roundRect">
            <a:avLst>
              <a:gd name="adj" fmla="val 50000"/>
            </a:avLst>
          </a:prstGeom>
          <a:noFill/>
          <a:ln w="12700">
            <a:solidFill>
              <a:srgbClr val="4E7A12"/>
            </a:solidFill>
          </a:ln>
        </p:spPr>
        <p:txBody>
          <a:bodyPr wrap="square" lIns="18288" tIns="18288" rIns="18288" bIns="18288" anchor="ctr" rtlCol="0">
            <a:normAutofit/>
          </a:bodyPr>
          <a:lstStyle/>
          <a:p>
            <a:pPr algn="ctr">
              <a:buNone/>
            </a:pPr>
            <a:r>
              <a:rPr lang="en-GB" sz="1100" b="0" i="0" dirty="0">
                <a:solidFill>
                  <a:srgbClr val="4E7A12"/>
                </a:solidFill>
                <a:latin typeface="Arial"/>
                <a:cs typeface="Arial"/>
              </a:rPr>
              <a:t>2  Evaluation</a:t>
            </a:r>
            <a:endParaRPr lang="en-GB" sz="1100" dirty="0"/>
          </a:p>
        </p:txBody>
      </p:sp>
      <p:sp>
        <p:nvSpPr>
          <p:cNvPr id="23" name="Shape 23"/>
          <p:cNvSpPr/>
          <p:nvPr/>
        </p:nvSpPr>
        <p:spPr>
          <a:xfrm>
            <a:off x="548640" y="4297680"/>
            <a:ext cx="3840480" cy="1828800"/>
          </a:xfrm>
          <a:prstGeom prst="roundRect">
            <a:avLst>
              <a:gd name="adj" fmla="val 6000"/>
            </a:avLst>
          </a:prstGeom>
          <a:solidFill>
            <a:srgbClr val="F3F8F9"/>
          </a:solidFill>
          <a:ln w="9525">
            <a:solidFill>
              <a:srgbClr val="9DB8BC"/>
            </a:solidFill>
          </a:ln>
        </p:spPr>
        <p:txBody>
          <a:bodyPr wrap="square" lIns="73152" tIns="73152" rIns="73152" bIns="73152" anchor="t" rtlCol="0">
            <a:normAutofit/>
          </a:bodyPr>
          <a:lstStyle/>
          <a:p>
            <a:endParaRPr lang="en-GB" dirty="0"/>
          </a:p>
        </p:txBody>
      </p:sp>
      <p:sp>
        <p:nvSpPr>
          <p:cNvPr id="24" name="Shape 24"/>
          <p:cNvSpPr/>
          <p:nvPr/>
        </p:nvSpPr>
        <p:spPr>
          <a:xfrm>
            <a:off x="658368" y="4407408"/>
            <a:ext cx="365760" cy="365760"/>
          </a:xfrm>
          <a:prstGeom prst="ellipse">
            <a:avLst/>
          </a:prstGeom>
          <a:solidFill>
            <a:srgbClr val="333399"/>
          </a:solidFill>
          <a:ln>
            <a:noFill/>
          </a:ln>
        </p:spPr>
        <p:txBody>
          <a:bodyPr wrap="square" lIns="0" tIns="0" rIns="0" bIns="0" anchor="ctr" rtlCol="0">
            <a:normAutofit/>
          </a:bodyPr>
          <a:lstStyle/>
          <a:p>
            <a:pPr algn="ctr">
              <a:buNone/>
            </a:pPr>
            <a:r>
              <a:rPr lang="en-GB" sz="1300" b="1" i="0" dirty="0">
                <a:solidFill>
                  <a:srgbClr val="FFFFFF"/>
                </a:solidFill>
                <a:latin typeface="Arial"/>
                <a:cs typeface="Arial"/>
              </a:rPr>
              <a:t>3</a:t>
            </a:r>
            <a:endParaRPr lang="en-GB" sz="1300" dirty="0"/>
          </a:p>
        </p:txBody>
      </p:sp>
      <p:sp>
        <p:nvSpPr>
          <p:cNvPr id="25" name="Shape 25"/>
          <p:cNvSpPr txBox="1"/>
          <p:nvPr/>
        </p:nvSpPr>
        <p:spPr>
          <a:xfrm>
            <a:off x="1115568" y="4389120"/>
            <a:ext cx="3154680" cy="914400"/>
          </a:xfrm>
          <a:prstGeom prst="rect">
            <a:avLst/>
          </a:prstGeom>
          <a:noFill/>
          <a:ln>
            <a:noFill/>
          </a:ln>
        </p:spPr>
        <p:txBody>
          <a:bodyPr wrap="square" lIns="18288" tIns="18288" rIns="18288" bIns="18288" anchor="t" rtlCol="0">
            <a:normAutofit/>
          </a:bodyPr>
          <a:lstStyle/>
          <a:p>
            <a:pPr algn="l">
              <a:buNone/>
            </a:pPr>
            <a:r>
              <a:rPr lang="en-GB" sz="1300" b="0" i="0" dirty="0">
                <a:solidFill>
                  <a:srgbClr val="1A1A1A"/>
                </a:solidFill>
                <a:latin typeface="Arial"/>
                <a:cs typeface="Arial"/>
              </a:rPr>
              <a:t>The microwave has 14 buttons. You only want to reheat tea for 90 seconds.</a:t>
            </a:r>
            <a:endParaRPr lang="en-GB" sz="1300" dirty="0"/>
          </a:p>
        </p:txBody>
      </p:sp>
      <p:sp>
        <p:nvSpPr>
          <p:cNvPr id="26" name="Shape 26"/>
          <p:cNvSpPr/>
          <p:nvPr/>
        </p:nvSpPr>
        <p:spPr>
          <a:xfrm>
            <a:off x="1115568" y="5486400"/>
            <a:ext cx="1371600" cy="411480"/>
          </a:xfrm>
          <a:prstGeom prst="roundRect">
            <a:avLst>
              <a:gd name="adj" fmla="val 50000"/>
            </a:avLst>
          </a:prstGeom>
          <a:noFill/>
          <a:ln w="12700">
            <a:solidFill>
              <a:srgbClr val="333399"/>
            </a:solidFill>
          </a:ln>
        </p:spPr>
        <p:txBody>
          <a:bodyPr wrap="square" lIns="18288" tIns="18288" rIns="18288" bIns="18288" anchor="ctr" rtlCol="0">
            <a:normAutofit/>
          </a:bodyPr>
          <a:lstStyle/>
          <a:p>
            <a:pPr algn="ctr">
              <a:buNone/>
            </a:pPr>
            <a:r>
              <a:rPr lang="en-GB" sz="1100" b="0" i="0" dirty="0">
                <a:solidFill>
                  <a:srgbClr val="333399"/>
                </a:solidFill>
                <a:latin typeface="Arial"/>
                <a:cs typeface="Arial"/>
              </a:rPr>
              <a:t>1  Execution</a:t>
            </a:r>
            <a:endParaRPr lang="en-GB" sz="1100" dirty="0"/>
          </a:p>
        </p:txBody>
      </p:sp>
      <p:sp>
        <p:nvSpPr>
          <p:cNvPr id="27" name="Shape 27"/>
          <p:cNvSpPr/>
          <p:nvPr/>
        </p:nvSpPr>
        <p:spPr>
          <a:xfrm>
            <a:off x="2651760" y="5486400"/>
            <a:ext cx="1463040" cy="411480"/>
          </a:xfrm>
          <a:prstGeom prst="roundRect">
            <a:avLst>
              <a:gd name="adj" fmla="val 50000"/>
            </a:avLst>
          </a:prstGeom>
          <a:noFill/>
          <a:ln w="12700">
            <a:solidFill>
              <a:srgbClr val="4E7A12"/>
            </a:solidFill>
          </a:ln>
        </p:spPr>
        <p:txBody>
          <a:bodyPr wrap="square" lIns="18288" tIns="18288" rIns="18288" bIns="18288" anchor="ctr" rtlCol="0">
            <a:normAutofit/>
          </a:bodyPr>
          <a:lstStyle/>
          <a:p>
            <a:pPr algn="ctr">
              <a:buNone/>
            </a:pPr>
            <a:r>
              <a:rPr lang="en-GB" sz="1100" b="0" i="0" dirty="0">
                <a:solidFill>
                  <a:srgbClr val="4E7A12"/>
                </a:solidFill>
                <a:latin typeface="Arial"/>
                <a:cs typeface="Arial"/>
              </a:rPr>
              <a:t>2  Evaluation</a:t>
            </a:r>
            <a:endParaRPr lang="en-GB" sz="1100" dirty="0"/>
          </a:p>
        </p:txBody>
      </p:sp>
      <p:sp>
        <p:nvSpPr>
          <p:cNvPr id="28" name="Shape 28"/>
          <p:cNvSpPr/>
          <p:nvPr/>
        </p:nvSpPr>
        <p:spPr>
          <a:xfrm>
            <a:off x="4572000" y="4297680"/>
            <a:ext cx="3840480" cy="1828800"/>
          </a:xfrm>
          <a:prstGeom prst="roundRect">
            <a:avLst>
              <a:gd name="adj" fmla="val 6000"/>
            </a:avLst>
          </a:prstGeom>
          <a:solidFill>
            <a:srgbClr val="F3F8F9"/>
          </a:solidFill>
          <a:ln w="9525">
            <a:solidFill>
              <a:srgbClr val="9DB8BC"/>
            </a:solidFill>
          </a:ln>
        </p:spPr>
        <p:txBody>
          <a:bodyPr wrap="square" lIns="73152" tIns="73152" rIns="73152" bIns="73152" anchor="t" rtlCol="0">
            <a:normAutofit/>
          </a:bodyPr>
          <a:lstStyle/>
          <a:p>
            <a:endParaRPr lang="en-GB" dirty="0"/>
          </a:p>
        </p:txBody>
      </p:sp>
      <p:sp>
        <p:nvSpPr>
          <p:cNvPr id="29" name="Shape 29"/>
          <p:cNvSpPr/>
          <p:nvPr/>
        </p:nvSpPr>
        <p:spPr>
          <a:xfrm>
            <a:off x="4681728" y="4407408"/>
            <a:ext cx="365760" cy="365760"/>
          </a:xfrm>
          <a:prstGeom prst="ellipse">
            <a:avLst/>
          </a:prstGeom>
          <a:solidFill>
            <a:srgbClr val="333399"/>
          </a:solidFill>
          <a:ln>
            <a:noFill/>
          </a:ln>
        </p:spPr>
        <p:txBody>
          <a:bodyPr wrap="square" lIns="0" tIns="0" rIns="0" bIns="0" anchor="ctr" rtlCol="0">
            <a:normAutofit/>
          </a:bodyPr>
          <a:lstStyle/>
          <a:p>
            <a:pPr algn="ctr">
              <a:buNone/>
            </a:pPr>
            <a:r>
              <a:rPr lang="en-GB" sz="1300" b="1" i="0" dirty="0">
                <a:solidFill>
                  <a:srgbClr val="FFFFFF"/>
                </a:solidFill>
                <a:latin typeface="Arial"/>
                <a:cs typeface="Arial"/>
              </a:rPr>
              <a:t>4</a:t>
            </a:r>
            <a:endParaRPr lang="en-GB" sz="1300" dirty="0"/>
          </a:p>
        </p:txBody>
      </p:sp>
      <p:sp>
        <p:nvSpPr>
          <p:cNvPr id="30" name="Shape 30"/>
          <p:cNvSpPr txBox="1"/>
          <p:nvPr/>
        </p:nvSpPr>
        <p:spPr>
          <a:xfrm>
            <a:off x="5138928" y="4389120"/>
            <a:ext cx="3154680" cy="914400"/>
          </a:xfrm>
          <a:prstGeom prst="rect">
            <a:avLst/>
          </a:prstGeom>
          <a:noFill/>
          <a:ln>
            <a:noFill/>
          </a:ln>
        </p:spPr>
        <p:txBody>
          <a:bodyPr wrap="square" lIns="18288" tIns="18288" rIns="18288" bIns="18288" anchor="t" rtlCol="0">
            <a:normAutofit/>
          </a:bodyPr>
          <a:lstStyle/>
          <a:p>
            <a:pPr algn="l">
              <a:buNone/>
            </a:pPr>
            <a:r>
              <a:rPr lang="en-GB" sz="1300" b="0" i="0" dirty="0">
                <a:solidFill>
                  <a:srgbClr val="1A1A1A"/>
                </a:solidFill>
                <a:latin typeface="Arial"/>
                <a:cs typeface="Arial"/>
              </a:rPr>
              <a:t>The printer shows a steady orange light and prints nothing.</a:t>
            </a:r>
            <a:endParaRPr lang="en-GB" sz="1300" dirty="0"/>
          </a:p>
        </p:txBody>
      </p:sp>
      <p:sp>
        <p:nvSpPr>
          <p:cNvPr id="31" name="Shape 31"/>
          <p:cNvSpPr/>
          <p:nvPr/>
        </p:nvSpPr>
        <p:spPr>
          <a:xfrm>
            <a:off x="5138928" y="5486400"/>
            <a:ext cx="1371600" cy="411480"/>
          </a:xfrm>
          <a:prstGeom prst="roundRect">
            <a:avLst>
              <a:gd name="adj" fmla="val 50000"/>
            </a:avLst>
          </a:prstGeom>
          <a:noFill/>
          <a:ln w="12700">
            <a:solidFill>
              <a:srgbClr val="333399"/>
            </a:solidFill>
          </a:ln>
        </p:spPr>
        <p:txBody>
          <a:bodyPr wrap="square" lIns="18288" tIns="18288" rIns="18288" bIns="18288" anchor="ctr" rtlCol="0">
            <a:normAutofit/>
          </a:bodyPr>
          <a:lstStyle/>
          <a:p>
            <a:pPr algn="ctr">
              <a:buNone/>
            </a:pPr>
            <a:r>
              <a:rPr lang="en-GB" sz="1100" b="0" i="0" dirty="0">
                <a:solidFill>
                  <a:srgbClr val="333399"/>
                </a:solidFill>
                <a:latin typeface="Arial"/>
                <a:cs typeface="Arial"/>
              </a:rPr>
              <a:t>1  Execution</a:t>
            </a:r>
            <a:endParaRPr lang="en-GB" sz="1100" dirty="0"/>
          </a:p>
        </p:txBody>
      </p:sp>
      <p:sp>
        <p:nvSpPr>
          <p:cNvPr id="32" name="Shape 32"/>
          <p:cNvSpPr/>
          <p:nvPr/>
        </p:nvSpPr>
        <p:spPr>
          <a:xfrm>
            <a:off x="6675120" y="5486400"/>
            <a:ext cx="1463040" cy="411480"/>
          </a:xfrm>
          <a:prstGeom prst="roundRect">
            <a:avLst>
              <a:gd name="adj" fmla="val 50000"/>
            </a:avLst>
          </a:prstGeom>
          <a:noFill/>
          <a:ln w="12700">
            <a:solidFill>
              <a:srgbClr val="4E7A12"/>
            </a:solidFill>
          </a:ln>
        </p:spPr>
        <p:txBody>
          <a:bodyPr wrap="square" lIns="18288" tIns="18288" rIns="18288" bIns="18288" anchor="ctr" rtlCol="0">
            <a:normAutofit/>
          </a:bodyPr>
          <a:lstStyle/>
          <a:p>
            <a:pPr algn="ctr">
              <a:buNone/>
            </a:pPr>
            <a:r>
              <a:rPr lang="en-GB" sz="1100" b="0" i="0" dirty="0">
                <a:solidFill>
                  <a:srgbClr val="4E7A12"/>
                </a:solidFill>
                <a:latin typeface="Arial"/>
                <a:cs typeface="Arial"/>
              </a:rPr>
              <a:t>2  Evaluation</a:t>
            </a:r>
            <a:endParaRPr lang="en-GB" sz="11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200" b="0" i="0" dirty="0">
                <a:solidFill>
                  <a:srgbClr val="2D2D8A"/>
                </a:solidFill>
                <a:latin typeface="Arial"/>
                <a:cs typeface="Arial"/>
              </a:rPr>
              <a:t>Spot the gulf</a:t>
            </a:r>
          </a:p>
        </p:txBody>
      </p:sp>
      <p:sp>
        <p:nvSpPr>
          <p:cNvPr id="11" name="Shape 11"/>
          <p:cNvSpPr/>
          <p:nvPr/>
        </p:nvSpPr>
        <p:spPr>
          <a:xfrm>
            <a:off x="548640" y="1810512"/>
            <a:ext cx="873252" cy="310896"/>
          </a:xfrm>
          <a:prstGeom prst="roundRect">
            <a:avLst>
              <a:gd name="adj" fmla="val 50000"/>
            </a:avLst>
          </a:prstGeom>
          <a:solidFill>
            <a:srgbClr val="404040"/>
          </a:solidFill>
          <a:ln>
            <a:noFill/>
          </a:ln>
        </p:spPr>
        <p:txBody>
          <a:bodyPr wrap="square" lIns="27432" tIns="27432" rIns="27432" bIns="27432" anchor="ctr" rtlCol="0">
            <a:normAutofit/>
          </a:bodyPr>
          <a:lstStyle/>
          <a:p>
            <a:pPr algn="ctr">
              <a:buNone/>
            </a:pPr>
            <a:r>
              <a:rPr lang="en-GB" sz="1100" b="1" i="0" dirty="0">
                <a:solidFill>
                  <a:srgbClr val="FFFFFF"/>
                </a:solidFill>
                <a:latin typeface="Arial"/>
                <a:cs typeface="Arial"/>
              </a:rPr>
              <a:t>ANSWERS</a:t>
            </a:r>
            <a:endParaRPr lang="en-GB" sz="1100" dirty="0"/>
          </a:p>
        </p:txBody>
      </p:sp>
      <p:sp>
        <p:nvSpPr>
          <p:cNvPr id="12" name="Shape 12"/>
          <p:cNvSpPr txBox="1"/>
          <p:nvPr/>
        </p:nvSpPr>
        <p:spPr>
          <a:xfrm>
            <a:off x="1531620" y="1810512"/>
            <a:ext cx="5486400" cy="310896"/>
          </a:xfrm>
          <a:prstGeom prst="rect">
            <a:avLst/>
          </a:prstGeom>
          <a:noFill/>
          <a:ln>
            <a:noFill/>
          </a:ln>
        </p:spPr>
        <p:txBody>
          <a:bodyPr wrap="square" lIns="18288" tIns="18288" rIns="18288" bIns="18288" anchor="ctr" rtlCol="0">
            <a:normAutofit/>
          </a:bodyPr>
          <a:lstStyle/>
          <a:p>
            <a:pPr algn="l">
              <a:buNone/>
            </a:pPr>
            <a:r>
              <a:rPr lang="en-GB" sz="1200" b="0" i="1" dirty="0">
                <a:solidFill>
                  <a:srgbClr val="595959"/>
                </a:solidFill>
                <a:latin typeface="Arial"/>
                <a:cs typeface="Arial"/>
              </a:rPr>
              <a:t>and how a designer would bridge each gulf</a:t>
            </a:r>
            <a:endParaRPr lang="en-GB" sz="1200" dirty="0"/>
          </a:p>
        </p:txBody>
      </p:sp>
      <p:sp>
        <p:nvSpPr>
          <p:cNvPr id="13" name="Shape 13"/>
          <p:cNvSpPr/>
          <p:nvPr/>
        </p:nvSpPr>
        <p:spPr>
          <a:xfrm>
            <a:off x="548640" y="2286000"/>
            <a:ext cx="3840480" cy="1828800"/>
          </a:xfrm>
          <a:prstGeom prst="roundRect">
            <a:avLst>
              <a:gd name="adj" fmla="val 6000"/>
            </a:avLst>
          </a:prstGeom>
          <a:solidFill>
            <a:srgbClr val="F3F8F9"/>
          </a:solidFill>
          <a:ln w="9525">
            <a:solidFill>
              <a:srgbClr val="9DB8BC"/>
            </a:solidFill>
          </a:ln>
        </p:spPr>
        <p:txBody>
          <a:bodyPr wrap="square" lIns="73152" tIns="73152" rIns="73152" bIns="73152" anchor="t" rtlCol="0">
            <a:normAutofit/>
          </a:bodyPr>
          <a:lstStyle/>
          <a:p>
            <a:endParaRPr lang="en-GB" dirty="0"/>
          </a:p>
        </p:txBody>
      </p:sp>
      <p:sp>
        <p:nvSpPr>
          <p:cNvPr id="14" name="Shape 14"/>
          <p:cNvSpPr/>
          <p:nvPr/>
        </p:nvSpPr>
        <p:spPr>
          <a:xfrm>
            <a:off x="658368" y="2395728"/>
            <a:ext cx="365760" cy="365760"/>
          </a:xfrm>
          <a:prstGeom prst="ellipse">
            <a:avLst/>
          </a:prstGeom>
          <a:solidFill>
            <a:srgbClr val="333399"/>
          </a:solidFill>
          <a:ln>
            <a:noFill/>
          </a:ln>
        </p:spPr>
        <p:txBody>
          <a:bodyPr wrap="square" lIns="0" tIns="0" rIns="0" bIns="0" anchor="ctr" rtlCol="0">
            <a:normAutofit/>
          </a:bodyPr>
          <a:lstStyle/>
          <a:p>
            <a:pPr algn="ctr">
              <a:buNone/>
            </a:pPr>
            <a:r>
              <a:rPr lang="en-GB" sz="1300" b="1" i="0" dirty="0">
                <a:solidFill>
                  <a:srgbClr val="FFFFFF"/>
                </a:solidFill>
                <a:latin typeface="Arial"/>
                <a:cs typeface="Arial"/>
              </a:rPr>
              <a:t>1</a:t>
            </a:r>
            <a:endParaRPr lang="en-GB" sz="1300" dirty="0"/>
          </a:p>
        </p:txBody>
      </p:sp>
      <p:sp>
        <p:nvSpPr>
          <p:cNvPr id="15" name="Shape 15"/>
          <p:cNvSpPr txBox="1"/>
          <p:nvPr/>
        </p:nvSpPr>
        <p:spPr>
          <a:xfrm>
            <a:off x="1115568" y="2377440"/>
            <a:ext cx="3154680" cy="914400"/>
          </a:xfrm>
          <a:prstGeom prst="rect">
            <a:avLst/>
          </a:prstGeom>
          <a:noFill/>
          <a:ln>
            <a:noFill/>
          </a:ln>
        </p:spPr>
        <p:txBody>
          <a:bodyPr wrap="square" lIns="18288" tIns="18288" rIns="18288" bIns="18288" anchor="t" rtlCol="0">
            <a:normAutofit/>
          </a:bodyPr>
          <a:lstStyle/>
          <a:p>
            <a:pPr algn="l">
              <a:buNone/>
            </a:pPr>
            <a:r>
              <a:rPr lang="en-GB" sz="1300" b="0" i="0" dirty="0">
                <a:solidFill>
                  <a:srgbClr val="1A1A1A"/>
                </a:solidFill>
                <a:latin typeface="Arial"/>
                <a:cs typeface="Arial"/>
              </a:rPr>
              <a:t>You want to mute one WhatsApp group but cannot find where the option is.</a:t>
            </a:r>
            <a:endParaRPr lang="en-GB" sz="1300" dirty="0"/>
          </a:p>
        </p:txBody>
      </p:sp>
      <p:sp>
        <p:nvSpPr>
          <p:cNvPr id="16" name="Shape 16"/>
          <p:cNvSpPr/>
          <p:nvPr/>
        </p:nvSpPr>
        <p:spPr>
          <a:xfrm>
            <a:off x="1115568" y="3310128"/>
            <a:ext cx="1280160" cy="274320"/>
          </a:xfrm>
          <a:prstGeom prst="roundRect">
            <a:avLst>
              <a:gd name="adj" fmla="val 50000"/>
            </a:avLst>
          </a:prstGeom>
          <a:solidFill>
            <a:srgbClr val="333399"/>
          </a:solidFill>
          <a:ln>
            <a:noFill/>
          </a:ln>
        </p:spPr>
        <p:txBody>
          <a:bodyPr wrap="square" lIns="18288" tIns="18288" rIns="18288" bIns="18288" anchor="ctr" rtlCol="0">
            <a:normAutofit/>
          </a:bodyPr>
          <a:lstStyle/>
          <a:p>
            <a:pPr algn="ctr">
              <a:buNone/>
            </a:pPr>
            <a:r>
              <a:rPr lang="en-GB" sz="1000" b="1" i="0" dirty="0">
                <a:solidFill>
                  <a:srgbClr val="FFFFFF"/>
                </a:solidFill>
                <a:latin typeface="Arial"/>
                <a:cs typeface="Arial"/>
              </a:rPr>
              <a:t>EXECUTION</a:t>
            </a:r>
            <a:endParaRPr lang="en-GB" sz="1000" dirty="0"/>
          </a:p>
        </p:txBody>
      </p:sp>
      <p:sp>
        <p:nvSpPr>
          <p:cNvPr id="17" name="Shape 17"/>
          <p:cNvSpPr txBox="1"/>
          <p:nvPr/>
        </p:nvSpPr>
        <p:spPr>
          <a:xfrm>
            <a:off x="1115568" y="3611880"/>
            <a:ext cx="3154680" cy="457200"/>
          </a:xfrm>
          <a:prstGeom prst="rect">
            <a:avLst/>
          </a:prstGeom>
          <a:noFill/>
          <a:ln>
            <a:noFill/>
          </a:ln>
        </p:spPr>
        <p:txBody>
          <a:bodyPr wrap="square" lIns="18288" tIns="18288" rIns="18288" bIns="18288" anchor="t" rtlCol="0">
            <a:normAutofit/>
          </a:bodyPr>
          <a:lstStyle/>
          <a:p>
            <a:pPr algn="l">
              <a:buNone/>
            </a:pPr>
            <a:r>
              <a:rPr lang="en-GB" sz="1100" b="1" i="0" dirty="0">
                <a:solidFill>
                  <a:srgbClr val="595959"/>
                </a:solidFill>
                <a:latin typeface="Arial"/>
                <a:cs typeface="Arial"/>
              </a:rPr>
              <a:t xml:space="preserve">Bridge: </a:t>
            </a:r>
            <a:r>
              <a:rPr lang="en-GB" sz="1100" b="0" i="0" dirty="0">
                <a:solidFill>
                  <a:srgbClr val="595959"/>
                </a:solidFill>
                <a:latin typeface="Arial"/>
                <a:cs typeface="Arial"/>
              </a:rPr>
              <a:t>Search in settings; long-press the chat for a menu</a:t>
            </a:r>
            <a:endParaRPr lang="en-GB" sz="1100" dirty="0"/>
          </a:p>
        </p:txBody>
      </p:sp>
      <p:sp>
        <p:nvSpPr>
          <p:cNvPr id="18" name="Shape 18"/>
          <p:cNvSpPr/>
          <p:nvPr/>
        </p:nvSpPr>
        <p:spPr>
          <a:xfrm>
            <a:off x="4572000" y="2286000"/>
            <a:ext cx="3840480" cy="1828800"/>
          </a:xfrm>
          <a:prstGeom prst="roundRect">
            <a:avLst>
              <a:gd name="adj" fmla="val 6000"/>
            </a:avLst>
          </a:prstGeom>
          <a:solidFill>
            <a:srgbClr val="F3F8F9"/>
          </a:solidFill>
          <a:ln w="9525">
            <a:solidFill>
              <a:srgbClr val="9DB8BC"/>
            </a:solidFill>
          </a:ln>
        </p:spPr>
        <p:txBody>
          <a:bodyPr wrap="square" lIns="73152" tIns="73152" rIns="73152" bIns="73152" anchor="t" rtlCol="0">
            <a:normAutofit/>
          </a:bodyPr>
          <a:lstStyle/>
          <a:p>
            <a:endParaRPr lang="en-GB" dirty="0"/>
          </a:p>
        </p:txBody>
      </p:sp>
      <p:sp>
        <p:nvSpPr>
          <p:cNvPr id="19" name="Shape 19"/>
          <p:cNvSpPr/>
          <p:nvPr/>
        </p:nvSpPr>
        <p:spPr>
          <a:xfrm>
            <a:off x="4681728" y="2395728"/>
            <a:ext cx="365760" cy="365760"/>
          </a:xfrm>
          <a:prstGeom prst="ellipse">
            <a:avLst/>
          </a:prstGeom>
          <a:solidFill>
            <a:srgbClr val="333399"/>
          </a:solidFill>
          <a:ln>
            <a:noFill/>
          </a:ln>
        </p:spPr>
        <p:txBody>
          <a:bodyPr wrap="square" lIns="0" tIns="0" rIns="0" bIns="0" anchor="ctr" rtlCol="0">
            <a:normAutofit/>
          </a:bodyPr>
          <a:lstStyle/>
          <a:p>
            <a:pPr algn="ctr">
              <a:buNone/>
            </a:pPr>
            <a:r>
              <a:rPr lang="en-GB" sz="1300" b="1" i="0" dirty="0">
                <a:solidFill>
                  <a:srgbClr val="FFFFFF"/>
                </a:solidFill>
                <a:latin typeface="Arial"/>
                <a:cs typeface="Arial"/>
              </a:rPr>
              <a:t>2</a:t>
            </a:r>
            <a:endParaRPr lang="en-GB" sz="1300" dirty="0"/>
          </a:p>
        </p:txBody>
      </p:sp>
      <p:sp>
        <p:nvSpPr>
          <p:cNvPr id="20" name="Shape 20"/>
          <p:cNvSpPr txBox="1"/>
          <p:nvPr/>
        </p:nvSpPr>
        <p:spPr>
          <a:xfrm>
            <a:off x="5138928" y="2377440"/>
            <a:ext cx="3154680" cy="914400"/>
          </a:xfrm>
          <a:prstGeom prst="rect">
            <a:avLst/>
          </a:prstGeom>
          <a:noFill/>
          <a:ln>
            <a:noFill/>
          </a:ln>
        </p:spPr>
        <p:txBody>
          <a:bodyPr wrap="square" lIns="18288" tIns="18288" rIns="18288" bIns="18288" anchor="t" rtlCol="0">
            <a:normAutofit/>
          </a:bodyPr>
          <a:lstStyle/>
          <a:p>
            <a:pPr algn="l">
              <a:buNone/>
            </a:pPr>
            <a:r>
              <a:rPr lang="en-GB" sz="1300" b="0" i="0" dirty="0">
                <a:solidFill>
                  <a:srgbClr val="1A1A1A"/>
                </a:solidFill>
                <a:latin typeface="Arial"/>
                <a:cs typeface="Arial"/>
              </a:rPr>
              <a:t>You press ‘Pay’ on the fee portal. A spinner turns… and turns. Did it go through?</a:t>
            </a:r>
            <a:endParaRPr lang="en-GB" sz="1300" dirty="0"/>
          </a:p>
        </p:txBody>
      </p:sp>
      <p:sp>
        <p:nvSpPr>
          <p:cNvPr id="21" name="Shape 21"/>
          <p:cNvSpPr/>
          <p:nvPr/>
        </p:nvSpPr>
        <p:spPr>
          <a:xfrm>
            <a:off x="5138928" y="3310128"/>
            <a:ext cx="1280160" cy="274320"/>
          </a:xfrm>
          <a:prstGeom prst="roundRect">
            <a:avLst>
              <a:gd name="adj" fmla="val 50000"/>
            </a:avLst>
          </a:prstGeom>
          <a:solidFill>
            <a:srgbClr val="4E7A12"/>
          </a:solidFill>
          <a:ln>
            <a:noFill/>
          </a:ln>
        </p:spPr>
        <p:txBody>
          <a:bodyPr wrap="square" lIns="18288" tIns="18288" rIns="18288" bIns="18288" anchor="ctr" rtlCol="0">
            <a:normAutofit/>
          </a:bodyPr>
          <a:lstStyle/>
          <a:p>
            <a:pPr algn="ctr">
              <a:buNone/>
            </a:pPr>
            <a:r>
              <a:rPr lang="en-GB" sz="1000" b="1" i="0" dirty="0">
                <a:solidFill>
                  <a:srgbClr val="FFFFFF"/>
                </a:solidFill>
                <a:latin typeface="Arial"/>
                <a:cs typeface="Arial"/>
              </a:rPr>
              <a:t>EVALUATION</a:t>
            </a:r>
            <a:endParaRPr lang="en-GB" sz="1000" dirty="0"/>
          </a:p>
        </p:txBody>
      </p:sp>
      <p:sp>
        <p:nvSpPr>
          <p:cNvPr id="22" name="Shape 22"/>
          <p:cNvSpPr txBox="1"/>
          <p:nvPr/>
        </p:nvSpPr>
        <p:spPr>
          <a:xfrm>
            <a:off x="5138928" y="3611880"/>
            <a:ext cx="3154680" cy="457200"/>
          </a:xfrm>
          <a:prstGeom prst="rect">
            <a:avLst/>
          </a:prstGeom>
          <a:noFill/>
          <a:ln>
            <a:noFill/>
          </a:ln>
        </p:spPr>
        <p:txBody>
          <a:bodyPr wrap="square" lIns="18288" tIns="18288" rIns="18288" bIns="18288" anchor="t" rtlCol="0">
            <a:normAutofit/>
          </a:bodyPr>
          <a:lstStyle/>
          <a:p>
            <a:pPr algn="l">
              <a:buNone/>
            </a:pPr>
            <a:r>
              <a:rPr lang="en-GB" sz="1100" b="1" i="0" dirty="0">
                <a:solidFill>
                  <a:srgbClr val="595959"/>
                </a:solidFill>
                <a:latin typeface="Arial"/>
                <a:cs typeface="Arial"/>
              </a:rPr>
              <a:t xml:space="preserve">Bridge: </a:t>
            </a:r>
            <a:r>
              <a:rPr lang="en-GB" sz="1100" b="0" i="0" dirty="0">
                <a:solidFill>
                  <a:srgbClr val="595959"/>
                </a:solidFill>
                <a:latin typeface="Arial"/>
                <a:cs typeface="Arial"/>
              </a:rPr>
              <a:t>Clear receipt page with a transaction ID and an SMS</a:t>
            </a:r>
            <a:endParaRPr lang="en-GB" sz="1100" dirty="0"/>
          </a:p>
        </p:txBody>
      </p:sp>
      <p:sp>
        <p:nvSpPr>
          <p:cNvPr id="23" name="Shape 23"/>
          <p:cNvSpPr/>
          <p:nvPr/>
        </p:nvSpPr>
        <p:spPr>
          <a:xfrm>
            <a:off x="548640" y="4297680"/>
            <a:ext cx="3840480" cy="1828800"/>
          </a:xfrm>
          <a:prstGeom prst="roundRect">
            <a:avLst>
              <a:gd name="adj" fmla="val 6000"/>
            </a:avLst>
          </a:prstGeom>
          <a:solidFill>
            <a:srgbClr val="F3F8F9"/>
          </a:solidFill>
          <a:ln w="9525">
            <a:solidFill>
              <a:srgbClr val="9DB8BC"/>
            </a:solidFill>
          </a:ln>
        </p:spPr>
        <p:txBody>
          <a:bodyPr wrap="square" lIns="73152" tIns="73152" rIns="73152" bIns="73152" anchor="t" rtlCol="0">
            <a:normAutofit/>
          </a:bodyPr>
          <a:lstStyle/>
          <a:p>
            <a:endParaRPr lang="en-GB" dirty="0"/>
          </a:p>
        </p:txBody>
      </p:sp>
      <p:sp>
        <p:nvSpPr>
          <p:cNvPr id="24" name="Shape 24"/>
          <p:cNvSpPr/>
          <p:nvPr/>
        </p:nvSpPr>
        <p:spPr>
          <a:xfrm>
            <a:off x="658368" y="4407408"/>
            <a:ext cx="365760" cy="365760"/>
          </a:xfrm>
          <a:prstGeom prst="ellipse">
            <a:avLst/>
          </a:prstGeom>
          <a:solidFill>
            <a:srgbClr val="333399"/>
          </a:solidFill>
          <a:ln>
            <a:noFill/>
          </a:ln>
        </p:spPr>
        <p:txBody>
          <a:bodyPr wrap="square" lIns="0" tIns="0" rIns="0" bIns="0" anchor="ctr" rtlCol="0">
            <a:normAutofit/>
          </a:bodyPr>
          <a:lstStyle/>
          <a:p>
            <a:pPr algn="ctr">
              <a:buNone/>
            </a:pPr>
            <a:r>
              <a:rPr lang="en-GB" sz="1300" b="1" i="0" dirty="0">
                <a:solidFill>
                  <a:srgbClr val="FFFFFF"/>
                </a:solidFill>
                <a:latin typeface="Arial"/>
                <a:cs typeface="Arial"/>
              </a:rPr>
              <a:t>3</a:t>
            </a:r>
            <a:endParaRPr lang="en-GB" sz="1300" dirty="0"/>
          </a:p>
        </p:txBody>
      </p:sp>
      <p:sp>
        <p:nvSpPr>
          <p:cNvPr id="25" name="Shape 25"/>
          <p:cNvSpPr txBox="1"/>
          <p:nvPr/>
        </p:nvSpPr>
        <p:spPr>
          <a:xfrm>
            <a:off x="1115568" y="4389120"/>
            <a:ext cx="3154680" cy="914400"/>
          </a:xfrm>
          <a:prstGeom prst="rect">
            <a:avLst/>
          </a:prstGeom>
          <a:noFill/>
          <a:ln>
            <a:noFill/>
          </a:ln>
        </p:spPr>
        <p:txBody>
          <a:bodyPr wrap="square" lIns="18288" tIns="18288" rIns="18288" bIns="18288" anchor="t" rtlCol="0">
            <a:normAutofit/>
          </a:bodyPr>
          <a:lstStyle/>
          <a:p>
            <a:pPr algn="l">
              <a:buNone/>
            </a:pPr>
            <a:r>
              <a:rPr lang="en-GB" sz="1300" b="0" i="0" dirty="0">
                <a:solidFill>
                  <a:srgbClr val="1A1A1A"/>
                </a:solidFill>
                <a:latin typeface="Arial"/>
                <a:cs typeface="Arial"/>
              </a:rPr>
              <a:t>The microwave has 14 buttons. You only want to reheat tea for 90 seconds.</a:t>
            </a:r>
            <a:endParaRPr lang="en-GB" sz="1300" dirty="0"/>
          </a:p>
        </p:txBody>
      </p:sp>
      <p:sp>
        <p:nvSpPr>
          <p:cNvPr id="26" name="Shape 26"/>
          <p:cNvSpPr/>
          <p:nvPr/>
        </p:nvSpPr>
        <p:spPr>
          <a:xfrm>
            <a:off x="1115568" y="5321808"/>
            <a:ext cx="1280160" cy="274320"/>
          </a:xfrm>
          <a:prstGeom prst="roundRect">
            <a:avLst>
              <a:gd name="adj" fmla="val 50000"/>
            </a:avLst>
          </a:prstGeom>
          <a:solidFill>
            <a:srgbClr val="333399"/>
          </a:solidFill>
          <a:ln>
            <a:noFill/>
          </a:ln>
        </p:spPr>
        <p:txBody>
          <a:bodyPr wrap="square" lIns="18288" tIns="18288" rIns="18288" bIns="18288" anchor="ctr" rtlCol="0">
            <a:normAutofit/>
          </a:bodyPr>
          <a:lstStyle/>
          <a:p>
            <a:pPr algn="ctr">
              <a:buNone/>
            </a:pPr>
            <a:r>
              <a:rPr lang="en-GB" sz="1000" b="1" i="0" dirty="0">
                <a:solidFill>
                  <a:srgbClr val="FFFFFF"/>
                </a:solidFill>
                <a:latin typeface="Arial"/>
                <a:cs typeface="Arial"/>
              </a:rPr>
              <a:t>EXECUTION</a:t>
            </a:r>
            <a:endParaRPr lang="en-GB" sz="1000" dirty="0"/>
          </a:p>
        </p:txBody>
      </p:sp>
      <p:sp>
        <p:nvSpPr>
          <p:cNvPr id="27" name="Shape 27"/>
          <p:cNvSpPr txBox="1"/>
          <p:nvPr/>
        </p:nvSpPr>
        <p:spPr>
          <a:xfrm>
            <a:off x="1115568" y="5623560"/>
            <a:ext cx="3154680" cy="457200"/>
          </a:xfrm>
          <a:prstGeom prst="rect">
            <a:avLst/>
          </a:prstGeom>
          <a:noFill/>
          <a:ln>
            <a:noFill/>
          </a:ln>
        </p:spPr>
        <p:txBody>
          <a:bodyPr wrap="square" lIns="18288" tIns="18288" rIns="18288" bIns="18288" anchor="t" rtlCol="0">
            <a:normAutofit/>
          </a:bodyPr>
          <a:lstStyle/>
          <a:p>
            <a:pPr algn="l">
              <a:buNone/>
            </a:pPr>
            <a:r>
              <a:rPr lang="en-GB" sz="1100" b="1" i="0" dirty="0">
                <a:solidFill>
                  <a:srgbClr val="595959"/>
                </a:solidFill>
                <a:latin typeface="Arial"/>
                <a:cs typeface="Arial"/>
              </a:rPr>
              <a:t xml:space="preserve">Bridge: </a:t>
            </a:r>
            <a:r>
              <a:rPr lang="en-GB" sz="1100" b="0" i="0" dirty="0">
                <a:solidFill>
                  <a:srgbClr val="595959"/>
                </a:solidFill>
                <a:latin typeface="Arial"/>
                <a:cs typeface="Arial"/>
              </a:rPr>
              <a:t>A single ‘+30 sec / Start’ button</a:t>
            </a:r>
            <a:endParaRPr lang="en-GB" sz="1100" dirty="0"/>
          </a:p>
        </p:txBody>
      </p:sp>
      <p:sp>
        <p:nvSpPr>
          <p:cNvPr id="28" name="Shape 28"/>
          <p:cNvSpPr/>
          <p:nvPr/>
        </p:nvSpPr>
        <p:spPr>
          <a:xfrm>
            <a:off x="4572000" y="4297680"/>
            <a:ext cx="3840480" cy="1828800"/>
          </a:xfrm>
          <a:prstGeom prst="roundRect">
            <a:avLst>
              <a:gd name="adj" fmla="val 6000"/>
            </a:avLst>
          </a:prstGeom>
          <a:solidFill>
            <a:srgbClr val="F3F8F9"/>
          </a:solidFill>
          <a:ln w="9525">
            <a:solidFill>
              <a:srgbClr val="9DB8BC"/>
            </a:solidFill>
          </a:ln>
        </p:spPr>
        <p:txBody>
          <a:bodyPr wrap="square" lIns="73152" tIns="73152" rIns="73152" bIns="73152" anchor="t" rtlCol="0">
            <a:normAutofit/>
          </a:bodyPr>
          <a:lstStyle/>
          <a:p>
            <a:endParaRPr lang="en-GB" dirty="0"/>
          </a:p>
        </p:txBody>
      </p:sp>
      <p:sp>
        <p:nvSpPr>
          <p:cNvPr id="29" name="Shape 29"/>
          <p:cNvSpPr/>
          <p:nvPr/>
        </p:nvSpPr>
        <p:spPr>
          <a:xfrm>
            <a:off x="4681728" y="4407408"/>
            <a:ext cx="365760" cy="365760"/>
          </a:xfrm>
          <a:prstGeom prst="ellipse">
            <a:avLst/>
          </a:prstGeom>
          <a:solidFill>
            <a:srgbClr val="333399"/>
          </a:solidFill>
          <a:ln>
            <a:noFill/>
          </a:ln>
        </p:spPr>
        <p:txBody>
          <a:bodyPr wrap="square" lIns="0" tIns="0" rIns="0" bIns="0" anchor="ctr" rtlCol="0">
            <a:normAutofit/>
          </a:bodyPr>
          <a:lstStyle/>
          <a:p>
            <a:pPr algn="ctr">
              <a:buNone/>
            </a:pPr>
            <a:r>
              <a:rPr lang="en-GB" sz="1300" b="1" i="0" dirty="0">
                <a:solidFill>
                  <a:srgbClr val="FFFFFF"/>
                </a:solidFill>
                <a:latin typeface="Arial"/>
                <a:cs typeface="Arial"/>
              </a:rPr>
              <a:t>4</a:t>
            </a:r>
            <a:endParaRPr lang="en-GB" sz="1300" dirty="0"/>
          </a:p>
        </p:txBody>
      </p:sp>
      <p:sp>
        <p:nvSpPr>
          <p:cNvPr id="30" name="Shape 30"/>
          <p:cNvSpPr txBox="1"/>
          <p:nvPr/>
        </p:nvSpPr>
        <p:spPr>
          <a:xfrm>
            <a:off x="5138928" y="4389120"/>
            <a:ext cx="3154680" cy="914400"/>
          </a:xfrm>
          <a:prstGeom prst="rect">
            <a:avLst/>
          </a:prstGeom>
          <a:noFill/>
          <a:ln>
            <a:noFill/>
          </a:ln>
        </p:spPr>
        <p:txBody>
          <a:bodyPr wrap="square" lIns="18288" tIns="18288" rIns="18288" bIns="18288" anchor="t" rtlCol="0">
            <a:normAutofit/>
          </a:bodyPr>
          <a:lstStyle/>
          <a:p>
            <a:pPr algn="l">
              <a:buNone/>
            </a:pPr>
            <a:r>
              <a:rPr lang="en-GB" sz="1300" b="0" i="0" dirty="0">
                <a:solidFill>
                  <a:srgbClr val="1A1A1A"/>
                </a:solidFill>
                <a:latin typeface="Arial"/>
                <a:cs typeface="Arial"/>
              </a:rPr>
              <a:t>The printer shows a steady orange light and prints nothing.</a:t>
            </a:r>
            <a:endParaRPr lang="en-GB" sz="1300" dirty="0"/>
          </a:p>
        </p:txBody>
      </p:sp>
      <p:sp>
        <p:nvSpPr>
          <p:cNvPr id="31" name="Shape 31"/>
          <p:cNvSpPr/>
          <p:nvPr/>
        </p:nvSpPr>
        <p:spPr>
          <a:xfrm>
            <a:off x="5138928" y="5321808"/>
            <a:ext cx="1280160" cy="274320"/>
          </a:xfrm>
          <a:prstGeom prst="roundRect">
            <a:avLst>
              <a:gd name="adj" fmla="val 50000"/>
            </a:avLst>
          </a:prstGeom>
          <a:solidFill>
            <a:srgbClr val="4E7A12"/>
          </a:solidFill>
          <a:ln>
            <a:noFill/>
          </a:ln>
        </p:spPr>
        <p:txBody>
          <a:bodyPr wrap="square" lIns="18288" tIns="18288" rIns="18288" bIns="18288" anchor="ctr" rtlCol="0">
            <a:normAutofit/>
          </a:bodyPr>
          <a:lstStyle/>
          <a:p>
            <a:pPr algn="ctr">
              <a:buNone/>
            </a:pPr>
            <a:r>
              <a:rPr lang="en-GB" sz="1000" b="1" i="0" dirty="0">
                <a:solidFill>
                  <a:srgbClr val="FFFFFF"/>
                </a:solidFill>
                <a:latin typeface="Arial"/>
                <a:cs typeface="Arial"/>
              </a:rPr>
              <a:t>EVALUATION</a:t>
            </a:r>
            <a:endParaRPr lang="en-GB" sz="1000" dirty="0"/>
          </a:p>
        </p:txBody>
      </p:sp>
      <p:sp>
        <p:nvSpPr>
          <p:cNvPr id="32" name="Shape 32"/>
          <p:cNvSpPr txBox="1"/>
          <p:nvPr/>
        </p:nvSpPr>
        <p:spPr>
          <a:xfrm>
            <a:off x="5138928" y="5623560"/>
            <a:ext cx="3154680" cy="457200"/>
          </a:xfrm>
          <a:prstGeom prst="rect">
            <a:avLst/>
          </a:prstGeom>
          <a:noFill/>
          <a:ln>
            <a:noFill/>
          </a:ln>
        </p:spPr>
        <p:txBody>
          <a:bodyPr wrap="square" lIns="18288" tIns="18288" rIns="18288" bIns="18288" anchor="t" rtlCol="0">
            <a:normAutofit/>
          </a:bodyPr>
          <a:lstStyle/>
          <a:p>
            <a:pPr algn="l">
              <a:buNone/>
            </a:pPr>
            <a:r>
              <a:rPr lang="en-GB" sz="1100" b="1" i="0" dirty="0">
                <a:solidFill>
                  <a:srgbClr val="595959"/>
                </a:solidFill>
                <a:latin typeface="Arial"/>
                <a:cs typeface="Arial"/>
              </a:rPr>
              <a:t xml:space="preserve">Bridge: </a:t>
            </a:r>
            <a:r>
              <a:rPr lang="en-GB" sz="1100" b="0" i="0" dirty="0">
                <a:solidFill>
                  <a:srgbClr val="595959"/>
                </a:solidFill>
                <a:latin typeface="Arial"/>
                <a:cs typeface="Arial"/>
              </a:rPr>
              <a:t>A text display: “Paper jam — open tray 2”</a:t>
            </a:r>
            <a:endParaRPr lang="en-GB" sz="11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200" b="0" i="0" dirty="0">
                <a:solidFill>
                  <a:srgbClr val="2D2D8A"/>
                </a:solidFill>
                <a:latin typeface="Arial"/>
                <a:cs typeface="Arial"/>
              </a:rPr>
              <a:t>Slip or mistake?</a:t>
            </a:r>
          </a:p>
        </p:txBody>
      </p:sp>
      <p:sp>
        <p:nvSpPr>
          <p:cNvPr id="11" name="Shape 11"/>
          <p:cNvSpPr/>
          <p:nvPr/>
        </p:nvSpPr>
        <p:spPr>
          <a:xfrm>
            <a:off x="548640" y="1810512"/>
            <a:ext cx="585216" cy="310896"/>
          </a:xfrm>
          <a:prstGeom prst="roundRect">
            <a:avLst>
              <a:gd name="adj" fmla="val 50000"/>
            </a:avLst>
          </a:prstGeom>
          <a:solidFill>
            <a:srgbClr val="333399"/>
          </a:solidFill>
          <a:ln>
            <a:noFill/>
          </a:ln>
        </p:spPr>
        <p:txBody>
          <a:bodyPr wrap="square" lIns="27432" tIns="27432" rIns="27432" bIns="27432" anchor="ctr" rtlCol="0">
            <a:normAutofit/>
          </a:bodyPr>
          <a:lstStyle/>
          <a:p>
            <a:pPr algn="ctr">
              <a:buNone/>
            </a:pPr>
            <a:r>
              <a:rPr lang="en-GB" sz="1100" b="1" i="0" dirty="0">
                <a:solidFill>
                  <a:srgbClr val="FFFFFF"/>
                </a:solidFill>
                <a:latin typeface="Arial"/>
                <a:cs typeface="Arial"/>
              </a:rPr>
              <a:t>QUIZ</a:t>
            </a:r>
            <a:endParaRPr lang="en-GB" sz="1100" dirty="0"/>
          </a:p>
        </p:txBody>
      </p:sp>
      <p:sp>
        <p:nvSpPr>
          <p:cNvPr id="12" name="Shape 12"/>
          <p:cNvSpPr txBox="1"/>
          <p:nvPr/>
        </p:nvSpPr>
        <p:spPr>
          <a:xfrm>
            <a:off x="1243584" y="1810512"/>
            <a:ext cx="5486400" cy="310896"/>
          </a:xfrm>
          <a:prstGeom prst="rect">
            <a:avLst/>
          </a:prstGeom>
          <a:noFill/>
          <a:ln>
            <a:noFill/>
          </a:ln>
        </p:spPr>
        <p:txBody>
          <a:bodyPr wrap="square" lIns="18288" tIns="18288" rIns="18288" bIns="18288" anchor="ctr" rtlCol="0">
            <a:normAutofit/>
          </a:bodyPr>
          <a:lstStyle/>
          <a:p>
            <a:pPr algn="l">
              <a:buNone/>
            </a:pPr>
            <a:r>
              <a:rPr lang="en-GB" sz="1200" b="0" i="1" dirty="0">
                <a:solidFill>
                  <a:srgbClr val="595959"/>
                </a:solidFill>
                <a:latin typeface="Arial"/>
                <a:cs typeface="Arial"/>
              </a:rPr>
              <a:t>2 min · S or M?</a:t>
            </a:r>
            <a:endParaRPr lang="en-GB" sz="1200" dirty="0"/>
          </a:p>
        </p:txBody>
      </p:sp>
      <p:sp>
        <p:nvSpPr>
          <p:cNvPr id="13" name="Shape 13"/>
          <p:cNvSpPr/>
          <p:nvPr/>
        </p:nvSpPr>
        <p:spPr>
          <a:xfrm>
            <a:off x="548640" y="2286000"/>
            <a:ext cx="365760" cy="384048"/>
          </a:xfrm>
          <a:prstGeom prst="rect">
            <a:avLst/>
          </a:prstGeom>
          <a:solidFill>
            <a:srgbClr val="333399"/>
          </a:solidFill>
          <a:ln w="9525">
            <a:solidFill>
              <a:srgbClr val="9DB8BC"/>
            </a:solidFill>
          </a:ln>
        </p:spPr>
        <p:txBody>
          <a:bodyPr wrap="square" lIns="54864" tIns="54864" rIns="54864" bIns="54864" anchor="ctr" rtlCol="0">
            <a:normAutofit/>
          </a:bodyPr>
          <a:lstStyle/>
          <a:p>
            <a:pPr algn="l">
              <a:buNone/>
            </a:pPr>
            <a:r>
              <a:rPr lang="en-GB" sz="1200" b="1" i="0" dirty="0">
                <a:solidFill>
                  <a:srgbClr val="FFFFFF"/>
                </a:solidFill>
                <a:latin typeface="Arial"/>
                <a:cs typeface="Arial"/>
              </a:rPr>
              <a:t>#</a:t>
            </a:r>
            <a:endParaRPr lang="en-GB" sz="1200" dirty="0"/>
          </a:p>
        </p:txBody>
      </p:sp>
      <p:sp>
        <p:nvSpPr>
          <p:cNvPr id="14" name="Shape 14"/>
          <p:cNvSpPr/>
          <p:nvPr/>
        </p:nvSpPr>
        <p:spPr>
          <a:xfrm>
            <a:off x="914400" y="2286000"/>
            <a:ext cx="5577840" cy="384048"/>
          </a:xfrm>
          <a:prstGeom prst="rect">
            <a:avLst/>
          </a:prstGeom>
          <a:solidFill>
            <a:srgbClr val="333399"/>
          </a:solidFill>
          <a:ln w="9525">
            <a:solidFill>
              <a:srgbClr val="9DB8BC"/>
            </a:solidFill>
          </a:ln>
        </p:spPr>
        <p:txBody>
          <a:bodyPr wrap="square" lIns="54864" tIns="54864" rIns="54864" bIns="54864" anchor="ctr" rtlCol="0">
            <a:normAutofit/>
          </a:bodyPr>
          <a:lstStyle/>
          <a:p>
            <a:pPr algn="l">
              <a:buNone/>
            </a:pPr>
            <a:r>
              <a:rPr lang="en-GB" sz="1200" b="1" i="0" dirty="0">
                <a:solidFill>
                  <a:srgbClr val="FFFFFF"/>
                </a:solidFill>
                <a:latin typeface="Arial"/>
                <a:cs typeface="Arial"/>
              </a:rPr>
              <a:t>What happened</a:t>
            </a:r>
            <a:endParaRPr lang="en-GB" sz="1200" dirty="0"/>
          </a:p>
        </p:txBody>
      </p:sp>
      <p:sp>
        <p:nvSpPr>
          <p:cNvPr id="15" name="Shape 15"/>
          <p:cNvSpPr/>
          <p:nvPr/>
        </p:nvSpPr>
        <p:spPr>
          <a:xfrm>
            <a:off x="6492240" y="2286000"/>
            <a:ext cx="2011680" cy="384048"/>
          </a:xfrm>
          <a:prstGeom prst="rect">
            <a:avLst/>
          </a:prstGeom>
          <a:solidFill>
            <a:srgbClr val="333399"/>
          </a:solidFill>
          <a:ln w="9525">
            <a:solidFill>
              <a:srgbClr val="9DB8BC"/>
            </a:solidFill>
          </a:ln>
        </p:spPr>
        <p:txBody>
          <a:bodyPr wrap="square" lIns="54864" tIns="54864" rIns="54864" bIns="54864" anchor="ctr" rtlCol="0">
            <a:normAutofit/>
          </a:bodyPr>
          <a:lstStyle/>
          <a:p>
            <a:pPr algn="l">
              <a:buNone/>
            </a:pPr>
            <a:r>
              <a:rPr lang="en-GB" sz="1200" b="1" i="0" dirty="0">
                <a:solidFill>
                  <a:srgbClr val="FFFFFF"/>
                </a:solidFill>
                <a:latin typeface="Arial"/>
                <a:cs typeface="Arial"/>
              </a:rPr>
              <a:t>Slip or mistake?</a:t>
            </a:r>
            <a:endParaRPr lang="en-GB" sz="1200" dirty="0"/>
          </a:p>
        </p:txBody>
      </p:sp>
      <p:sp>
        <p:nvSpPr>
          <p:cNvPr id="16" name="Shape 16"/>
          <p:cNvSpPr/>
          <p:nvPr/>
        </p:nvSpPr>
        <p:spPr>
          <a:xfrm>
            <a:off x="548640" y="2670048"/>
            <a:ext cx="365760" cy="566928"/>
          </a:xfrm>
          <a:prstGeom prst="rect">
            <a:avLst/>
          </a:prstGeom>
          <a:solidFill>
            <a:srgbClr val="F3F8F9"/>
          </a:solidFill>
          <a:ln w="9525">
            <a:solidFill>
              <a:srgbClr val="9DB8BC"/>
            </a:solidFill>
          </a:ln>
        </p:spPr>
        <p:txBody>
          <a:bodyPr wrap="square" lIns="54864" tIns="54864" rIns="54864" bIns="54864" anchor="ctr" rtlCol="0">
            <a:normAutofit/>
          </a:bodyPr>
          <a:lstStyle/>
          <a:p>
            <a:pPr algn="l">
              <a:buNone/>
            </a:pPr>
            <a:r>
              <a:rPr lang="en-GB" sz="1200" b="1" i="0" dirty="0">
                <a:solidFill>
                  <a:srgbClr val="1A1A1A"/>
                </a:solidFill>
                <a:latin typeface="Arial"/>
                <a:cs typeface="Arial"/>
              </a:rPr>
              <a:t>1</a:t>
            </a:r>
            <a:endParaRPr lang="en-GB" sz="1200" dirty="0"/>
          </a:p>
        </p:txBody>
      </p:sp>
      <p:sp>
        <p:nvSpPr>
          <p:cNvPr id="17" name="Shape 17"/>
          <p:cNvSpPr/>
          <p:nvPr/>
        </p:nvSpPr>
        <p:spPr>
          <a:xfrm>
            <a:off x="914400" y="2670048"/>
            <a:ext cx="5577840" cy="566928"/>
          </a:xfrm>
          <a:prstGeom prst="rect">
            <a:avLst/>
          </a:prstGeom>
          <a:solidFill>
            <a:srgbClr val="F3F8F9"/>
          </a:solidFill>
          <a:ln w="9525">
            <a:solidFill>
              <a:srgbClr val="9DB8BC"/>
            </a:solidFill>
          </a:ln>
        </p:spPr>
        <p:txBody>
          <a:bodyPr wrap="square" lIns="54864" tIns="54864" rIns="54864" bIns="54864" anchor="ctr" rtlCol="0">
            <a:normAutofit/>
          </a:bodyPr>
          <a:lstStyle/>
          <a:p>
            <a:pPr algn="l">
              <a:buNone/>
            </a:pPr>
            <a:r>
              <a:rPr lang="en-GB" sz="1200" b="0" i="0" dirty="0">
                <a:solidFill>
                  <a:srgbClr val="1A1A1A"/>
                </a:solidFill>
                <a:latin typeface="Arial"/>
                <a:cs typeface="Arial"/>
              </a:rPr>
              <a:t>You type your password with Caps Lock on.</a:t>
            </a:r>
            <a:endParaRPr lang="en-GB" sz="1200" dirty="0"/>
          </a:p>
        </p:txBody>
      </p:sp>
      <p:sp>
        <p:nvSpPr>
          <p:cNvPr id="18" name="Shape 18"/>
          <p:cNvSpPr/>
          <p:nvPr/>
        </p:nvSpPr>
        <p:spPr>
          <a:xfrm>
            <a:off x="6492240" y="2670048"/>
            <a:ext cx="2011680" cy="566928"/>
          </a:xfrm>
          <a:prstGeom prst="rect">
            <a:avLst/>
          </a:prstGeom>
          <a:solidFill>
            <a:srgbClr val="F3F8F9"/>
          </a:solidFill>
          <a:ln w="9525">
            <a:solidFill>
              <a:srgbClr val="9DB8BC"/>
            </a:solidFill>
          </a:ln>
        </p:spPr>
        <p:txBody>
          <a:bodyPr wrap="square" lIns="54864" tIns="54864" rIns="54864" bIns="54864" anchor="ctr" rtlCol="0">
            <a:normAutofit/>
          </a:bodyPr>
          <a:lstStyle/>
          <a:p>
            <a:pPr algn="l">
              <a:buNone/>
            </a:pPr>
            <a:r>
              <a:rPr lang="en-GB" sz="1200" b="0" i="0" dirty="0">
                <a:solidFill>
                  <a:srgbClr val="595959"/>
                </a:solidFill>
                <a:latin typeface="Arial"/>
                <a:cs typeface="Arial"/>
              </a:rPr>
              <a:t>S  /  M</a:t>
            </a:r>
            <a:endParaRPr lang="en-GB" sz="1200" dirty="0"/>
          </a:p>
        </p:txBody>
      </p:sp>
      <p:sp>
        <p:nvSpPr>
          <p:cNvPr id="19" name="Shape 19"/>
          <p:cNvSpPr/>
          <p:nvPr/>
        </p:nvSpPr>
        <p:spPr>
          <a:xfrm>
            <a:off x="548640" y="3236976"/>
            <a:ext cx="365760" cy="566928"/>
          </a:xfrm>
          <a:prstGeom prst="rect">
            <a:avLst/>
          </a:prstGeom>
          <a:solidFill>
            <a:srgbClr val="FFFFFF"/>
          </a:solidFill>
          <a:ln w="9525">
            <a:solidFill>
              <a:srgbClr val="9DB8BC"/>
            </a:solidFill>
          </a:ln>
        </p:spPr>
        <p:txBody>
          <a:bodyPr wrap="square" lIns="54864" tIns="54864" rIns="54864" bIns="54864" anchor="ctr" rtlCol="0">
            <a:normAutofit/>
          </a:bodyPr>
          <a:lstStyle/>
          <a:p>
            <a:pPr algn="l">
              <a:buNone/>
            </a:pPr>
            <a:r>
              <a:rPr lang="en-GB" sz="1200" b="1" i="0" dirty="0">
                <a:solidFill>
                  <a:srgbClr val="1A1A1A"/>
                </a:solidFill>
                <a:latin typeface="Arial"/>
                <a:cs typeface="Arial"/>
              </a:rPr>
              <a:t>2</a:t>
            </a:r>
            <a:endParaRPr lang="en-GB" sz="1200" dirty="0"/>
          </a:p>
        </p:txBody>
      </p:sp>
      <p:sp>
        <p:nvSpPr>
          <p:cNvPr id="20" name="Shape 20"/>
          <p:cNvSpPr/>
          <p:nvPr/>
        </p:nvSpPr>
        <p:spPr>
          <a:xfrm>
            <a:off x="914400" y="3236976"/>
            <a:ext cx="5577840" cy="566928"/>
          </a:xfrm>
          <a:prstGeom prst="rect">
            <a:avLst/>
          </a:prstGeom>
          <a:solidFill>
            <a:srgbClr val="FFFFFF"/>
          </a:solidFill>
          <a:ln w="9525">
            <a:solidFill>
              <a:srgbClr val="9DB8BC"/>
            </a:solidFill>
          </a:ln>
        </p:spPr>
        <p:txBody>
          <a:bodyPr wrap="square" lIns="54864" tIns="54864" rIns="54864" bIns="54864" anchor="ctr" rtlCol="0">
            <a:normAutofit/>
          </a:bodyPr>
          <a:lstStyle/>
          <a:p>
            <a:pPr algn="l">
              <a:buNone/>
            </a:pPr>
            <a:r>
              <a:rPr lang="en-GB" sz="1200" b="0" i="0" dirty="0">
                <a:solidFill>
                  <a:srgbClr val="1A1A1A"/>
                </a:solidFill>
                <a:latin typeface="Arial"/>
                <a:cs typeface="Arial"/>
              </a:rPr>
              <a:t>You delete a desktop shortcut, believing that uninstalls the program.</a:t>
            </a:r>
            <a:endParaRPr lang="en-GB" sz="1200" dirty="0"/>
          </a:p>
        </p:txBody>
      </p:sp>
      <p:sp>
        <p:nvSpPr>
          <p:cNvPr id="21" name="Shape 21"/>
          <p:cNvSpPr/>
          <p:nvPr/>
        </p:nvSpPr>
        <p:spPr>
          <a:xfrm>
            <a:off x="6492240" y="3236976"/>
            <a:ext cx="2011680" cy="566928"/>
          </a:xfrm>
          <a:prstGeom prst="rect">
            <a:avLst/>
          </a:prstGeom>
          <a:solidFill>
            <a:srgbClr val="FFFFFF"/>
          </a:solidFill>
          <a:ln w="9525">
            <a:solidFill>
              <a:srgbClr val="9DB8BC"/>
            </a:solidFill>
          </a:ln>
        </p:spPr>
        <p:txBody>
          <a:bodyPr wrap="square" lIns="54864" tIns="54864" rIns="54864" bIns="54864" anchor="ctr" rtlCol="0">
            <a:normAutofit/>
          </a:bodyPr>
          <a:lstStyle/>
          <a:p>
            <a:pPr algn="l">
              <a:buNone/>
            </a:pPr>
            <a:r>
              <a:rPr lang="en-GB" sz="1200" b="0" i="0" dirty="0">
                <a:solidFill>
                  <a:srgbClr val="595959"/>
                </a:solidFill>
                <a:latin typeface="Arial"/>
                <a:cs typeface="Arial"/>
              </a:rPr>
              <a:t>S  /  M</a:t>
            </a:r>
            <a:endParaRPr lang="en-GB" sz="1200" dirty="0"/>
          </a:p>
        </p:txBody>
      </p:sp>
      <p:sp>
        <p:nvSpPr>
          <p:cNvPr id="22" name="Shape 22"/>
          <p:cNvSpPr/>
          <p:nvPr/>
        </p:nvSpPr>
        <p:spPr>
          <a:xfrm>
            <a:off x="548640" y="3803904"/>
            <a:ext cx="365760" cy="566928"/>
          </a:xfrm>
          <a:prstGeom prst="rect">
            <a:avLst/>
          </a:prstGeom>
          <a:solidFill>
            <a:srgbClr val="F3F8F9"/>
          </a:solidFill>
          <a:ln w="9525">
            <a:solidFill>
              <a:srgbClr val="9DB8BC"/>
            </a:solidFill>
          </a:ln>
        </p:spPr>
        <p:txBody>
          <a:bodyPr wrap="square" lIns="54864" tIns="54864" rIns="54864" bIns="54864" anchor="ctr" rtlCol="0">
            <a:normAutofit/>
          </a:bodyPr>
          <a:lstStyle/>
          <a:p>
            <a:pPr algn="l">
              <a:buNone/>
            </a:pPr>
            <a:r>
              <a:rPr lang="en-GB" sz="1200" b="1" i="0" dirty="0">
                <a:solidFill>
                  <a:srgbClr val="1A1A1A"/>
                </a:solidFill>
                <a:latin typeface="Arial"/>
                <a:cs typeface="Arial"/>
              </a:rPr>
              <a:t>3</a:t>
            </a:r>
            <a:endParaRPr lang="en-GB" sz="1200" dirty="0"/>
          </a:p>
        </p:txBody>
      </p:sp>
      <p:sp>
        <p:nvSpPr>
          <p:cNvPr id="23" name="Shape 23"/>
          <p:cNvSpPr/>
          <p:nvPr/>
        </p:nvSpPr>
        <p:spPr>
          <a:xfrm>
            <a:off x="914400" y="3803904"/>
            <a:ext cx="5577840" cy="566928"/>
          </a:xfrm>
          <a:prstGeom prst="rect">
            <a:avLst/>
          </a:prstGeom>
          <a:solidFill>
            <a:srgbClr val="F3F8F9"/>
          </a:solidFill>
          <a:ln w="9525">
            <a:solidFill>
              <a:srgbClr val="9DB8BC"/>
            </a:solidFill>
          </a:ln>
        </p:spPr>
        <p:txBody>
          <a:bodyPr wrap="square" lIns="54864" tIns="54864" rIns="54864" bIns="54864" anchor="ctr" rtlCol="0">
            <a:normAutofit/>
          </a:bodyPr>
          <a:lstStyle/>
          <a:p>
            <a:pPr algn="l">
              <a:buNone/>
            </a:pPr>
            <a:r>
              <a:rPr lang="en-GB" sz="1200" b="0" i="0" dirty="0">
                <a:solidFill>
                  <a:srgbClr val="1A1A1A"/>
                </a:solidFill>
                <a:latin typeface="Arial"/>
                <a:cs typeface="Arial"/>
              </a:rPr>
              <a:t>You press ‘Reply all’ when you meant ‘Reply’.</a:t>
            </a:r>
            <a:endParaRPr lang="en-GB" sz="1200" dirty="0"/>
          </a:p>
        </p:txBody>
      </p:sp>
      <p:sp>
        <p:nvSpPr>
          <p:cNvPr id="24" name="Shape 24"/>
          <p:cNvSpPr/>
          <p:nvPr/>
        </p:nvSpPr>
        <p:spPr>
          <a:xfrm>
            <a:off x="6492240" y="3803904"/>
            <a:ext cx="2011680" cy="566928"/>
          </a:xfrm>
          <a:prstGeom prst="rect">
            <a:avLst/>
          </a:prstGeom>
          <a:solidFill>
            <a:srgbClr val="F3F8F9"/>
          </a:solidFill>
          <a:ln w="9525">
            <a:solidFill>
              <a:srgbClr val="9DB8BC"/>
            </a:solidFill>
          </a:ln>
        </p:spPr>
        <p:txBody>
          <a:bodyPr wrap="square" lIns="54864" tIns="54864" rIns="54864" bIns="54864" anchor="ctr" rtlCol="0">
            <a:normAutofit/>
          </a:bodyPr>
          <a:lstStyle/>
          <a:p>
            <a:pPr algn="l">
              <a:buNone/>
            </a:pPr>
            <a:r>
              <a:rPr lang="en-GB" sz="1200" b="0" i="0" dirty="0">
                <a:solidFill>
                  <a:srgbClr val="595959"/>
                </a:solidFill>
                <a:latin typeface="Arial"/>
                <a:cs typeface="Arial"/>
              </a:rPr>
              <a:t>S  /  M</a:t>
            </a:r>
            <a:endParaRPr lang="en-GB" sz="1200" dirty="0"/>
          </a:p>
        </p:txBody>
      </p:sp>
      <p:sp>
        <p:nvSpPr>
          <p:cNvPr id="25" name="Shape 25"/>
          <p:cNvSpPr/>
          <p:nvPr/>
        </p:nvSpPr>
        <p:spPr>
          <a:xfrm>
            <a:off x="548640" y="4370832"/>
            <a:ext cx="365760" cy="566928"/>
          </a:xfrm>
          <a:prstGeom prst="rect">
            <a:avLst/>
          </a:prstGeom>
          <a:solidFill>
            <a:srgbClr val="FFFFFF"/>
          </a:solidFill>
          <a:ln w="9525">
            <a:solidFill>
              <a:srgbClr val="9DB8BC"/>
            </a:solidFill>
          </a:ln>
        </p:spPr>
        <p:txBody>
          <a:bodyPr wrap="square" lIns="54864" tIns="54864" rIns="54864" bIns="54864" anchor="ctr" rtlCol="0">
            <a:normAutofit/>
          </a:bodyPr>
          <a:lstStyle/>
          <a:p>
            <a:pPr algn="l">
              <a:buNone/>
            </a:pPr>
            <a:r>
              <a:rPr lang="en-GB" sz="1200" b="1" i="0" dirty="0">
                <a:solidFill>
                  <a:srgbClr val="1A1A1A"/>
                </a:solidFill>
                <a:latin typeface="Arial"/>
                <a:cs typeface="Arial"/>
              </a:rPr>
              <a:t>4</a:t>
            </a:r>
            <a:endParaRPr lang="en-GB" sz="1200" dirty="0"/>
          </a:p>
        </p:txBody>
      </p:sp>
      <p:sp>
        <p:nvSpPr>
          <p:cNvPr id="26" name="Shape 26"/>
          <p:cNvSpPr/>
          <p:nvPr/>
        </p:nvSpPr>
        <p:spPr>
          <a:xfrm>
            <a:off x="914400" y="4370832"/>
            <a:ext cx="5577840" cy="566928"/>
          </a:xfrm>
          <a:prstGeom prst="rect">
            <a:avLst/>
          </a:prstGeom>
          <a:solidFill>
            <a:srgbClr val="FFFFFF"/>
          </a:solidFill>
          <a:ln w="9525">
            <a:solidFill>
              <a:srgbClr val="9DB8BC"/>
            </a:solidFill>
          </a:ln>
        </p:spPr>
        <p:txBody>
          <a:bodyPr wrap="square" lIns="54864" tIns="54864" rIns="54864" bIns="54864" anchor="ctr" rtlCol="0">
            <a:normAutofit/>
          </a:bodyPr>
          <a:lstStyle/>
          <a:p>
            <a:pPr algn="l">
              <a:buNone/>
            </a:pPr>
            <a:r>
              <a:rPr lang="en-GB" sz="1200" b="0" i="0" dirty="0">
                <a:solidFill>
                  <a:srgbClr val="1A1A1A"/>
                </a:solidFill>
                <a:latin typeface="Arial"/>
                <a:cs typeface="Arial"/>
              </a:rPr>
              <a:t>You save your assignment in ‘Downloads’, believing it is on your USB.</a:t>
            </a:r>
            <a:endParaRPr lang="en-GB" sz="1200" dirty="0"/>
          </a:p>
        </p:txBody>
      </p:sp>
      <p:sp>
        <p:nvSpPr>
          <p:cNvPr id="27" name="Shape 27"/>
          <p:cNvSpPr/>
          <p:nvPr/>
        </p:nvSpPr>
        <p:spPr>
          <a:xfrm>
            <a:off x="6492240" y="4370832"/>
            <a:ext cx="2011680" cy="566928"/>
          </a:xfrm>
          <a:prstGeom prst="rect">
            <a:avLst/>
          </a:prstGeom>
          <a:solidFill>
            <a:srgbClr val="FFFFFF"/>
          </a:solidFill>
          <a:ln w="9525">
            <a:solidFill>
              <a:srgbClr val="9DB8BC"/>
            </a:solidFill>
          </a:ln>
        </p:spPr>
        <p:txBody>
          <a:bodyPr wrap="square" lIns="54864" tIns="54864" rIns="54864" bIns="54864" anchor="ctr" rtlCol="0">
            <a:normAutofit/>
          </a:bodyPr>
          <a:lstStyle/>
          <a:p>
            <a:pPr algn="l">
              <a:buNone/>
            </a:pPr>
            <a:r>
              <a:rPr lang="en-GB" sz="1200" b="0" i="0" dirty="0">
                <a:solidFill>
                  <a:srgbClr val="595959"/>
                </a:solidFill>
                <a:latin typeface="Arial"/>
                <a:cs typeface="Arial"/>
              </a:rPr>
              <a:t>S  /  M</a:t>
            </a:r>
            <a:endParaRPr lang="en-GB" sz="1200" dirty="0"/>
          </a:p>
        </p:txBody>
      </p:sp>
      <p:sp>
        <p:nvSpPr>
          <p:cNvPr id="28" name="Shape 28"/>
          <p:cNvSpPr/>
          <p:nvPr/>
        </p:nvSpPr>
        <p:spPr>
          <a:xfrm>
            <a:off x="548640" y="4937760"/>
            <a:ext cx="365760" cy="566928"/>
          </a:xfrm>
          <a:prstGeom prst="rect">
            <a:avLst/>
          </a:prstGeom>
          <a:solidFill>
            <a:srgbClr val="F3F8F9"/>
          </a:solidFill>
          <a:ln w="9525">
            <a:solidFill>
              <a:srgbClr val="9DB8BC"/>
            </a:solidFill>
          </a:ln>
        </p:spPr>
        <p:txBody>
          <a:bodyPr wrap="square" lIns="54864" tIns="54864" rIns="54864" bIns="54864" anchor="ctr" rtlCol="0">
            <a:normAutofit/>
          </a:bodyPr>
          <a:lstStyle/>
          <a:p>
            <a:pPr algn="l">
              <a:buNone/>
            </a:pPr>
            <a:r>
              <a:rPr lang="en-GB" sz="1200" b="1" i="0" dirty="0">
                <a:solidFill>
                  <a:srgbClr val="1A1A1A"/>
                </a:solidFill>
                <a:latin typeface="Arial"/>
                <a:cs typeface="Arial"/>
              </a:rPr>
              <a:t>5</a:t>
            </a:r>
            <a:endParaRPr lang="en-GB" sz="1200" dirty="0"/>
          </a:p>
        </p:txBody>
      </p:sp>
      <p:sp>
        <p:nvSpPr>
          <p:cNvPr id="29" name="Shape 29"/>
          <p:cNvSpPr/>
          <p:nvPr/>
        </p:nvSpPr>
        <p:spPr>
          <a:xfrm>
            <a:off x="914400" y="4937760"/>
            <a:ext cx="5577840" cy="566928"/>
          </a:xfrm>
          <a:prstGeom prst="rect">
            <a:avLst/>
          </a:prstGeom>
          <a:solidFill>
            <a:srgbClr val="F3F8F9"/>
          </a:solidFill>
          <a:ln w="9525">
            <a:solidFill>
              <a:srgbClr val="9DB8BC"/>
            </a:solidFill>
          </a:ln>
        </p:spPr>
        <p:txBody>
          <a:bodyPr wrap="square" lIns="54864" tIns="54864" rIns="54864" bIns="54864" anchor="ctr" rtlCol="0">
            <a:normAutofit/>
          </a:bodyPr>
          <a:lstStyle/>
          <a:p>
            <a:pPr algn="l">
              <a:buNone/>
            </a:pPr>
            <a:r>
              <a:rPr lang="en-GB" sz="1200" b="0" i="0" dirty="0">
                <a:solidFill>
                  <a:srgbClr val="1A1A1A"/>
                </a:solidFill>
                <a:latin typeface="Arial"/>
                <a:cs typeface="Arial"/>
              </a:rPr>
              <a:t>Chatting, you pour tea into the sugar bowl instead of the cup.</a:t>
            </a:r>
            <a:endParaRPr lang="en-GB" sz="1200" dirty="0"/>
          </a:p>
        </p:txBody>
      </p:sp>
      <p:sp>
        <p:nvSpPr>
          <p:cNvPr id="30" name="Shape 30"/>
          <p:cNvSpPr/>
          <p:nvPr/>
        </p:nvSpPr>
        <p:spPr>
          <a:xfrm>
            <a:off x="6492240" y="4937760"/>
            <a:ext cx="2011680" cy="566928"/>
          </a:xfrm>
          <a:prstGeom prst="rect">
            <a:avLst/>
          </a:prstGeom>
          <a:solidFill>
            <a:srgbClr val="F3F8F9"/>
          </a:solidFill>
          <a:ln w="9525">
            <a:solidFill>
              <a:srgbClr val="9DB8BC"/>
            </a:solidFill>
          </a:ln>
        </p:spPr>
        <p:txBody>
          <a:bodyPr wrap="square" lIns="54864" tIns="54864" rIns="54864" bIns="54864" anchor="ctr" rtlCol="0">
            <a:normAutofit/>
          </a:bodyPr>
          <a:lstStyle/>
          <a:p>
            <a:pPr algn="l">
              <a:buNone/>
            </a:pPr>
            <a:r>
              <a:rPr lang="en-GB" sz="1200" b="0" i="0" dirty="0">
                <a:solidFill>
                  <a:srgbClr val="595959"/>
                </a:solidFill>
                <a:latin typeface="Arial"/>
                <a:cs typeface="Arial"/>
              </a:rPr>
              <a:t>S  /  M</a:t>
            </a:r>
            <a:endParaRPr lang="en-GB" sz="1200" dirty="0"/>
          </a:p>
        </p:txBody>
      </p:sp>
      <p:sp>
        <p:nvSpPr>
          <p:cNvPr id="31" name="Shape 31"/>
          <p:cNvSpPr txBox="1"/>
          <p:nvPr/>
        </p:nvSpPr>
        <p:spPr>
          <a:xfrm>
            <a:off x="548640" y="5623560"/>
            <a:ext cx="7955280" cy="640080"/>
          </a:xfrm>
          <a:prstGeom prst="rect">
            <a:avLst/>
          </a:prstGeom>
          <a:noFill/>
          <a:ln>
            <a:noFill/>
          </a:ln>
        </p:spPr>
        <p:txBody>
          <a:bodyPr wrap="square" lIns="18288" tIns="18288" rIns="18288" bIns="18288" anchor="t" rtlCol="0">
            <a:normAutofit/>
          </a:bodyPr>
          <a:lstStyle/>
          <a:p>
            <a:pPr algn="l">
              <a:buNone/>
            </a:pPr>
            <a:r>
              <a:rPr lang="en-GB" sz="1300" b="1" i="0" dirty="0">
                <a:solidFill>
                  <a:srgbClr val="2D2D8A"/>
                </a:solidFill>
                <a:latin typeface="Arial"/>
                <a:cs typeface="Arial"/>
              </a:rPr>
              <a:t xml:space="preserve">Test: </a:t>
            </a:r>
            <a:r>
              <a:rPr lang="en-GB" sz="1300" b="0" i="0" dirty="0">
                <a:solidFill>
                  <a:srgbClr val="1A1A1A"/>
                </a:solidFill>
                <a:latin typeface="Arial"/>
                <a:cs typeface="Arial"/>
              </a:rPr>
              <a:t>was the plan right and the action wrong (slip), or was the plan itself wrong (mistake)?</a:t>
            </a:r>
            <a:endParaRPr lang="en-GB" sz="13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200" b="0" i="0" dirty="0">
                <a:solidFill>
                  <a:srgbClr val="2D2D8A"/>
                </a:solidFill>
                <a:latin typeface="Arial"/>
                <a:cs typeface="Arial"/>
              </a:rPr>
              <a:t>Slip or mistake?</a:t>
            </a:r>
          </a:p>
        </p:txBody>
      </p:sp>
      <p:sp>
        <p:nvSpPr>
          <p:cNvPr id="11" name="Shape 11"/>
          <p:cNvSpPr/>
          <p:nvPr/>
        </p:nvSpPr>
        <p:spPr>
          <a:xfrm>
            <a:off x="548640" y="1810512"/>
            <a:ext cx="873252" cy="310896"/>
          </a:xfrm>
          <a:prstGeom prst="roundRect">
            <a:avLst>
              <a:gd name="adj" fmla="val 50000"/>
            </a:avLst>
          </a:prstGeom>
          <a:solidFill>
            <a:srgbClr val="404040"/>
          </a:solidFill>
          <a:ln>
            <a:noFill/>
          </a:ln>
        </p:spPr>
        <p:txBody>
          <a:bodyPr wrap="square" lIns="27432" tIns="27432" rIns="27432" bIns="27432" anchor="ctr" rtlCol="0">
            <a:normAutofit/>
          </a:bodyPr>
          <a:lstStyle/>
          <a:p>
            <a:pPr algn="ctr">
              <a:buNone/>
            </a:pPr>
            <a:r>
              <a:rPr lang="en-GB" sz="1100" b="1" i="0" dirty="0">
                <a:solidFill>
                  <a:srgbClr val="FFFFFF"/>
                </a:solidFill>
                <a:latin typeface="Arial"/>
                <a:cs typeface="Arial"/>
              </a:rPr>
              <a:t>ANSWERS</a:t>
            </a:r>
            <a:endParaRPr lang="en-GB" sz="1100" dirty="0"/>
          </a:p>
        </p:txBody>
      </p:sp>
      <p:sp>
        <p:nvSpPr>
          <p:cNvPr id="12" name="Shape 12"/>
          <p:cNvSpPr txBox="1"/>
          <p:nvPr/>
        </p:nvSpPr>
        <p:spPr>
          <a:xfrm>
            <a:off x="1531620" y="1810512"/>
            <a:ext cx="5486400" cy="310896"/>
          </a:xfrm>
          <a:prstGeom prst="rect">
            <a:avLst/>
          </a:prstGeom>
          <a:noFill/>
          <a:ln>
            <a:noFill/>
          </a:ln>
        </p:spPr>
        <p:txBody>
          <a:bodyPr wrap="square" lIns="18288" tIns="18288" rIns="18288" bIns="18288" anchor="ctr" rtlCol="0">
            <a:normAutofit/>
          </a:bodyPr>
          <a:lstStyle/>
          <a:p>
            <a:pPr algn="l">
              <a:buNone/>
            </a:pPr>
            <a:r>
              <a:rPr lang="en-GB" sz="1200" b="0" i="1" dirty="0">
                <a:solidFill>
                  <a:srgbClr val="595959"/>
                </a:solidFill>
                <a:latin typeface="Arial"/>
                <a:cs typeface="Arial"/>
              </a:rPr>
              <a:t>slip → better interface · mistake → better understanding</a:t>
            </a:r>
            <a:endParaRPr lang="en-GB" sz="1200" dirty="0"/>
          </a:p>
        </p:txBody>
      </p:sp>
      <p:sp>
        <p:nvSpPr>
          <p:cNvPr id="13" name="Shape 13"/>
          <p:cNvSpPr/>
          <p:nvPr/>
        </p:nvSpPr>
        <p:spPr>
          <a:xfrm>
            <a:off x="548640" y="2286000"/>
            <a:ext cx="365760" cy="384048"/>
          </a:xfrm>
          <a:prstGeom prst="rect">
            <a:avLst/>
          </a:prstGeom>
          <a:solidFill>
            <a:srgbClr val="333399"/>
          </a:solidFill>
          <a:ln w="9525">
            <a:solidFill>
              <a:srgbClr val="9DB8BC"/>
            </a:solidFill>
          </a:ln>
        </p:spPr>
        <p:txBody>
          <a:bodyPr wrap="square" lIns="54864" tIns="54864" rIns="54864" bIns="54864" anchor="ctr" rtlCol="0">
            <a:normAutofit/>
          </a:bodyPr>
          <a:lstStyle/>
          <a:p>
            <a:pPr algn="l">
              <a:buNone/>
            </a:pPr>
            <a:r>
              <a:rPr lang="en-GB" sz="1200" b="1" i="0" dirty="0">
                <a:solidFill>
                  <a:srgbClr val="FFFFFF"/>
                </a:solidFill>
                <a:latin typeface="Arial"/>
                <a:cs typeface="Arial"/>
              </a:rPr>
              <a:t>#</a:t>
            </a:r>
            <a:endParaRPr lang="en-GB" sz="1200" dirty="0"/>
          </a:p>
        </p:txBody>
      </p:sp>
      <p:sp>
        <p:nvSpPr>
          <p:cNvPr id="14" name="Shape 14"/>
          <p:cNvSpPr/>
          <p:nvPr/>
        </p:nvSpPr>
        <p:spPr>
          <a:xfrm>
            <a:off x="914400" y="2286000"/>
            <a:ext cx="4023360" cy="384048"/>
          </a:xfrm>
          <a:prstGeom prst="rect">
            <a:avLst/>
          </a:prstGeom>
          <a:solidFill>
            <a:srgbClr val="333399"/>
          </a:solidFill>
          <a:ln w="9525">
            <a:solidFill>
              <a:srgbClr val="9DB8BC"/>
            </a:solidFill>
          </a:ln>
        </p:spPr>
        <p:txBody>
          <a:bodyPr wrap="square" lIns="54864" tIns="54864" rIns="54864" bIns="54864" anchor="ctr" rtlCol="0">
            <a:normAutofit/>
          </a:bodyPr>
          <a:lstStyle/>
          <a:p>
            <a:pPr algn="l">
              <a:buNone/>
            </a:pPr>
            <a:r>
              <a:rPr lang="en-GB" sz="1200" b="1" i="0" dirty="0">
                <a:solidFill>
                  <a:srgbClr val="FFFFFF"/>
                </a:solidFill>
                <a:latin typeface="Arial"/>
                <a:cs typeface="Arial"/>
              </a:rPr>
              <a:t>What happened</a:t>
            </a:r>
            <a:endParaRPr lang="en-GB" sz="1200" dirty="0"/>
          </a:p>
        </p:txBody>
      </p:sp>
      <p:sp>
        <p:nvSpPr>
          <p:cNvPr id="15" name="Shape 15"/>
          <p:cNvSpPr/>
          <p:nvPr/>
        </p:nvSpPr>
        <p:spPr>
          <a:xfrm>
            <a:off x="4937760" y="2286000"/>
            <a:ext cx="1188720" cy="384048"/>
          </a:xfrm>
          <a:prstGeom prst="rect">
            <a:avLst/>
          </a:prstGeom>
          <a:solidFill>
            <a:srgbClr val="333399"/>
          </a:solidFill>
          <a:ln w="9525">
            <a:solidFill>
              <a:srgbClr val="9DB8BC"/>
            </a:solidFill>
          </a:ln>
        </p:spPr>
        <p:txBody>
          <a:bodyPr wrap="square" lIns="54864" tIns="54864" rIns="54864" bIns="54864" anchor="ctr" rtlCol="0">
            <a:normAutofit/>
          </a:bodyPr>
          <a:lstStyle/>
          <a:p>
            <a:pPr algn="l">
              <a:buNone/>
            </a:pPr>
            <a:r>
              <a:rPr lang="en-GB" sz="1200" b="1" i="0" dirty="0">
                <a:solidFill>
                  <a:srgbClr val="FFFFFF"/>
                </a:solidFill>
                <a:latin typeface="Arial"/>
                <a:cs typeface="Arial"/>
              </a:rPr>
              <a:t>Slip or mistake?</a:t>
            </a:r>
            <a:endParaRPr lang="en-GB" sz="1200" dirty="0"/>
          </a:p>
        </p:txBody>
      </p:sp>
      <p:sp>
        <p:nvSpPr>
          <p:cNvPr id="16" name="Shape 16"/>
          <p:cNvSpPr/>
          <p:nvPr/>
        </p:nvSpPr>
        <p:spPr>
          <a:xfrm>
            <a:off x="6126480" y="2286000"/>
            <a:ext cx="2377440" cy="384048"/>
          </a:xfrm>
          <a:prstGeom prst="rect">
            <a:avLst/>
          </a:prstGeom>
          <a:solidFill>
            <a:srgbClr val="333399"/>
          </a:solidFill>
          <a:ln w="9525">
            <a:solidFill>
              <a:srgbClr val="9DB8BC"/>
            </a:solidFill>
          </a:ln>
        </p:spPr>
        <p:txBody>
          <a:bodyPr wrap="square" lIns="54864" tIns="54864" rIns="54864" bIns="54864" anchor="ctr" rtlCol="0">
            <a:normAutofit/>
          </a:bodyPr>
          <a:lstStyle/>
          <a:p>
            <a:pPr algn="l">
              <a:buNone/>
            </a:pPr>
            <a:r>
              <a:rPr lang="en-GB" sz="1200" b="1" i="0" dirty="0">
                <a:solidFill>
                  <a:srgbClr val="FFFFFF"/>
                </a:solidFill>
                <a:latin typeface="Arial"/>
                <a:cs typeface="Arial"/>
              </a:rPr>
              <a:t>Design fix</a:t>
            </a:r>
            <a:endParaRPr lang="en-GB" sz="1200" dirty="0"/>
          </a:p>
        </p:txBody>
      </p:sp>
      <p:sp>
        <p:nvSpPr>
          <p:cNvPr id="17" name="Shape 17"/>
          <p:cNvSpPr/>
          <p:nvPr/>
        </p:nvSpPr>
        <p:spPr>
          <a:xfrm>
            <a:off x="548640" y="2670048"/>
            <a:ext cx="365760" cy="566928"/>
          </a:xfrm>
          <a:prstGeom prst="rect">
            <a:avLst/>
          </a:prstGeom>
          <a:solidFill>
            <a:srgbClr val="F3F8F9"/>
          </a:solidFill>
          <a:ln w="9525">
            <a:solidFill>
              <a:srgbClr val="9DB8BC"/>
            </a:solidFill>
          </a:ln>
        </p:spPr>
        <p:txBody>
          <a:bodyPr wrap="square" lIns="54864" tIns="54864" rIns="54864" bIns="54864" anchor="ctr" rtlCol="0">
            <a:normAutofit/>
          </a:bodyPr>
          <a:lstStyle/>
          <a:p>
            <a:pPr algn="l">
              <a:buNone/>
            </a:pPr>
            <a:r>
              <a:rPr lang="en-GB" sz="1200" b="1" i="0" dirty="0">
                <a:solidFill>
                  <a:srgbClr val="1A1A1A"/>
                </a:solidFill>
                <a:latin typeface="Arial"/>
                <a:cs typeface="Arial"/>
              </a:rPr>
              <a:t>1</a:t>
            </a:r>
            <a:endParaRPr lang="en-GB" sz="1200" dirty="0"/>
          </a:p>
        </p:txBody>
      </p:sp>
      <p:sp>
        <p:nvSpPr>
          <p:cNvPr id="18" name="Shape 18"/>
          <p:cNvSpPr/>
          <p:nvPr/>
        </p:nvSpPr>
        <p:spPr>
          <a:xfrm>
            <a:off x="914400" y="2670048"/>
            <a:ext cx="4023360" cy="566928"/>
          </a:xfrm>
          <a:prstGeom prst="rect">
            <a:avLst/>
          </a:prstGeom>
          <a:solidFill>
            <a:srgbClr val="F3F8F9"/>
          </a:solidFill>
          <a:ln w="9525">
            <a:solidFill>
              <a:srgbClr val="9DB8BC"/>
            </a:solidFill>
          </a:ln>
        </p:spPr>
        <p:txBody>
          <a:bodyPr wrap="square" lIns="54864" tIns="54864" rIns="54864" bIns="54864" anchor="ctr" rtlCol="0">
            <a:normAutofit/>
          </a:bodyPr>
          <a:lstStyle/>
          <a:p>
            <a:pPr algn="l">
              <a:buNone/>
            </a:pPr>
            <a:r>
              <a:rPr lang="en-GB" sz="1200" b="0" i="0" dirty="0">
                <a:solidFill>
                  <a:srgbClr val="1A1A1A"/>
                </a:solidFill>
                <a:latin typeface="Arial"/>
                <a:cs typeface="Arial"/>
              </a:rPr>
              <a:t>You type your password with Caps Lock on.</a:t>
            </a:r>
            <a:endParaRPr lang="en-GB" sz="1200" dirty="0"/>
          </a:p>
        </p:txBody>
      </p:sp>
      <p:sp>
        <p:nvSpPr>
          <p:cNvPr id="19" name="Shape 19"/>
          <p:cNvSpPr/>
          <p:nvPr/>
        </p:nvSpPr>
        <p:spPr>
          <a:xfrm>
            <a:off x="4937760" y="2670048"/>
            <a:ext cx="1188720" cy="566928"/>
          </a:xfrm>
          <a:prstGeom prst="rect">
            <a:avLst/>
          </a:prstGeom>
          <a:solidFill>
            <a:srgbClr val="F3F8F9"/>
          </a:solidFill>
          <a:ln w="9525">
            <a:solidFill>
              <a:srgbClr val="9DB8BC"/>
            </a:solidFill>
          </a:ln>
        </p:spPr>
        <p:txBody>
          <a:bodyPr wrap="square" lIns="54864" tIns="54864" rIns="54864" bIns="54864" anchor="ctr" rtlCol="0">
            <a:normAutofit/>
          </a:bodyPr>
          <a:lstStyle/>
          <a:p>
            <a:pPr algn="l">
              <a:buNone/>
            </a:pPr>
            <a:r>
              <a:rPr lang="en-GB" sz="1200" b="1" i="0" dirty="0">
                <a:solidFill>
                  <a:srgbClr val="333399"/>
                </a:solidFill>
                <a:latin typeface="Arial"/>
                <a:cs typeface="Arial"/>
              </a:rPr>
              <a:t>SLIP</a:t>
            </a:r>
            <a:endParaRPr lang="en-GB" sz="1200" dirty="0"/>
          </a:p>
        </p:txBody>
      </p:sp>
      <p:sp>
        <p:nvSpPr>
          <p:cNvPr id="20" name="Shape 20"/>
          <p:cNvSpPr/>
          <p:nvPr/>
        </p:nvSpPr>
        <p:spPr>
          <a:xfrm>
            <a:off x="6126480" y="2670048"/>
            <a:ext cx="2377440" cy="566928"/>
          </a:xfrm>
          <a:prstGeom prst="rect">
            <a:avLst/>
          </a:prstGeom>
          <a:solidFill>
            <a:srgbClr val="F3F8F9"/>
          </a:solidFill>
          <a:ln w="9525">
            <a:solidFill>
              <a:srgbClr val="9DB8BC"/>
            </a:solidFill>
          </a:ln>
        </p:spPr>
        <p:txBody>
          <a:bodyPr wrap="square" lIns="54864" tIns="54864" rIns="54864" bIns="54864" anchor="ctr" rtlCol="0">
            <a:normAutofit/>
          </a:bodyPr>
          <a:lstStyle/>
          <a:p>
            <a:pPr algn="l">
              <a:buNone/>
            </a:pPr>
            <a:r>
              <a:rPr lang="en-GB" sz="1100" b="0" i="0" dirty="0">
                <a:solidFill>
                  <a:srgbClr val="1A1A1A"/>
                </a:solidFill>
                <a:latin typeface="Arial"/>
                <a:cs typeface="Arial"/>
              </a:rPr>
              <a:t>Warn ‘Caps Lock is on’ in the field</a:t>
            </a:r>
            <a:endParaRPr lang="en-GB" sz="1100" dirty="0"/>
          </a:p>
        </p:txBody>
      </p:sp>
      <p:sp>
        <p:nvSpPr>
          <p:cNvPr id="21" name="Shape 21"/>
          <p:cNvSpPr/>
          <p:nvPr/>
        </p:nvSpPr>
        <p:spPr>
          <a:xfrm>
            <a:off x="548640" y="3236976"/>
            <a:ext cx="365760" cy="566928"/>
          </a:xfrm>
          <a:prstGeom prst="rect">
            <a:avLst/>
          </a:prstGeom>
          <a:solidFill>
            <a:srgbClr val="FFFFFF"/>
          </a:solidFill>
          <a:ln w="9525">
            <a:solidFill>
              <a:srgbClr val="9DB8BC"/>
            </a:solidFill>
          </a:ln>
        </p:spPr>
        <p:txBody>
          <a:bodyPr wrap="square" lIns="54864" tIns="54864" rIns="54864" bIns="54864" anchor="ctr" rtlCol="0">
            <a:normAutofit/>
          </a:bodyPr>
          <a:lstStyle/>
          <a:p>
            <a:pPr algn="l">
              <a:buNone/>
            </a:pPr>
            <a:r>
              <a:rPr lang="en-GB" sz="1200" b="1" i="0" dirty="0">
                <a:solidFill>
                  <a:srgbClr val="1A1A1A"/>
                </a:solidFill>
                <a:latin typeface="Arial"/>
                <a:cs typeface="Arial"/>
              </a:rPr>
              <a:t>2</a:t>
            </a:r>
            <a:endParaRPr lang="en-GB" sz="1200" dirty="0"/>
          </a:p>
        </p:txBody>
      </p:sp>
      <p:sp>
        <p:nvSpPr>
          <p:cNvPr id="22" name="Shape 22"/>
          <p:cNvSpPr/>
          <p:nvPr/>
        </p:nvSpPr>
        <p:spPr>
          <a:xfrm>
            <a:off x="914400" y="3236976"/>
            <a:ext cx="4023360" cy="566928"/>
          </a:xfrm>
          <a:prstGeom prst="rect">
            <a:avLst/>
          </a:prstGeom>
          <a:solidFill>
            <a:srgbClr val="FFFFFF"/>
          </a:solidFill>
          <a:ln w="9525">
            <a:solidFill>
              <a:srgbClr val="9DB8BC"/>
            </a:solidFill>
          </a:ln>
        </p:spPr>
        <p:txBody>
          <a:bodyPr wrap="square" lIns="54864" tIns="54864" rIns="54864" bIns="54864" anchor="ctr" rtlCol="0">
            <a:normAutofit/>
          </a:bodyPr>
          <a:lstStyle/>
          <a:p>
            <a:pPr algn="l">
              <a:buNone/>
            </a:pPr>
            <a:r>
              <a:rPr lang="en-GB" sz="1200" b="0" i="0" dirty="0">
                <a:solidFill>
                  <a:srgbClr val="1A1A1A"/>
                </a:solidFill>
                <a:latin typeface="Arial"/>
                <a:cs typeface="Arial"/>
              </a:rPr>
              <a:t>You delete a desktop shortcut, believing that uninstalls the program.</a:t>
            </a:r>
            <a:endParaRPr lang="en-GB" sz="1200" dirty="0"/>
          </a:p>
        </p:txBody>
      </p:sp>
      <p:sp>
        <p:nvSpPr>
          <p:cNvPr id="23" name="Shape 23"/>
          <p:cNvSpPr/>
          <p:nvPr/>
        </p:nvSpPr>
        <p:spPr>
          <a:xfrm>
            <a:off x="4937760" y="3236976"/>
            <a:ext cx="1188720" cy="566928"/>
          </a:xfrm>
          <a:prstGeom prst="rect">
            <a:avLst/>
          </a:prstGeom>
          <a:solidFill>
            <a:srgbClr val="FFFFFF"/>
          </a:solidFill>
          <a:ln w="9525">
            <a:solidFill>
              <a:srgbClr val="9DB8BC"/>
            </a:solidFill>
          </a:ln>
        </p:spPr>
        <p:txBody>
          <a:bodyPr wrap="square" lIns="54864" tIns="54864" rIns="54864" bIns="54864" anchor="ctr" rtlCol="0">
            <a:normAutofit/>
          </a:bodyPr>
          <a:lstStyle/>
          <a:p>
            <a:pPr algn="l">
              <a:buNone/>
            </a:pPr>
            <a:r>
              <a:rPr lang="en-GB" sz="1200" b="1" i="0" dirty="0">
                <a:solidFill>
                  <a:srgbClr val="B03A2E"/>
                </a:solidFill>
                <a:latin typeface="Arial"/>
                <a:cs typeface="Arial"/>
              </a:rPr>
              <a:t>MISTAKE</a:t>
            </a:r>
            <a:endParaRPr lang="en-GB" sz="1200" dirty="0"/>
          </a:p>
        </p:txBody>
      </p:sp>
      <p:sp>
        <p:nvSpPr>
          <p:cNvPr id="24" name="Shape 24"/>
          <p:cNvSpPr/>
          <p:nvPr/>
        </p:nvSpPr>
        <p:spPr>
          <a:xfrm>
            <a:off x="6126480" y="3236976"/>
            <a:ext cx="2377440" cy="566928"/>
          </a:xfrm>
          <a:prstGeom prst="rect">
            <a:avLst/>
          </a:prstGeom>
          <a:solidFill>
            <a:srgbClr val="FFFFFF"/>
          </a:solidFill>
          <a:ln w="9525">
            <a:solidFill>
              <a:srgbClr val="9DB8BC"/>
            </a:solidFill>
          </a:ln>
        </p:spPr>
        <p:txBody>
          <a:bodyPr wrap="square" lIns="54864" tIns="54864" rIns="54864" bIns="54864" anchor="ctr" rtlCol="0">
            <a:normAutofit/>
          </a:bodyPr>
          <a:lstStyle/>
          <a:p>
            <a:pPr algn="l">
              <a:buNone/>
            </a:pPr>
            <a:r>
              <a:rPr lang="en-GB" sz="1100" b="0" i="0" dirty="0">
                <a:solidFill>
                  <a:srgbClr val="1A1A1A"/>
                </a:solidFill>
                <a:latin typeface="Arial"/>
                <a:cs typeface="Arial"/>
              </a:rPr>
              <a:t>Show the shortcut arrow; explain on delete</a:t>
            </a:r>
            <a:endParaRPr lang="en-GB" sz="1100" dirty="0"/>
          </a:p>
        </p:txBody>
      </p:sp>
      <p:sp>
        <p:nvSpPr>
          <p:cNvPr id="25" name="Shape 25"/>
          <p:cNvSpPr/>
          <p:nvPr/>
        </p:nvSpPr>
        <p:spPr>
          <a:xfrm>
            <a:off x="548640" y="3803904"/>
            <a:ext cx="365760" cy="566928"/>
          </a:xfrm>
          <a:prstGeom prst="rect">
            <a:avLst/>
          </a:prstGeom>
          <a:solidFill>
            <a:srgbClr val="F3F8F9"/>
          </a:solidFill>
          <a:ln w="9525">
            <a:solidFill>
              <a:srgbClr val="9DB8BC"/>
            </a:solidFill>
          </a:ln>
        </p:spPr>
        <p:txBody>
          <a:bodyPr wrap="square" lIns="54864" tIns="54864" rIns="54864" bIns="54864" anchor="ctr" rtlCol="0">
            <a:normAutofit/>
          </a:bodyPr>
          <a:lstStyle/>
          <a:p>
            <a:pPr algn="l">
              <a:buNone/>
            </a:pPr>
            <a:r>
              <a:rPr lang="en-GB" sz="1200" b="1" i="0" dirty="0">
                <a:solidFill>
                  <a:srgbClr val="1A1A1A"/>
                </a:solidFill>
                <a:latin typeface="Arial"/>
                <a:cs typeface="Arial"/>
              </a:rPr>
              <a:t>3</a:t>
            </a:r>
            <a:endParaRPr lang="en-GB" sz="1200" dirty="0"/>
          </a:p>
        </p:txBody>
      </p:sp>
      <p:sp>
        <p:nvSpPr>
          <p:cNvPr id="26" name="Shape 26"/>
          <p:cNvSpPr/>
          <p:nvPr/>
        </p:nvSpPr>
        <p:spPr>
          <a:xfrm>
            <a:off x="914400" y="3803904"/>
            <a:ext cx="4023360" cy="566928"/>
          </a:xfrm>
          <a:prstGeom prst="rect">
            <a:avLst/>
          </a:prstGeom>
          <a:solidFill>
            <a:srgbClr val="F3F8F9"/>
          </a:solidFill>
          <a:ln w="9525">
            <a:solidFill>
              <a:srgbClr val="9DB8BC"/>
            </a:solidFill>
          </a:ln>
        </p:spPr>
        <p:txBody>
          <a:bodyPr wrap="square" lIns="54864" tIns="54864" rIns="54864" bIns="54864" anchor="ctr" rtlCol="0">
            <a:normAutofit/>
          </a:bodyPr>
          <a:lstStyle/>
          <a:p>
            <a:pPr algn="l">
              <a:buNone/>
            </a:pPr>
            <a:r>
              <a:rPr lang="en-GB" sz="1200" b="0" i="0" dirty="0">
                <a:solidFill>
                  <a:srgbClr val="1A1A1A"/>
                </a:solidFill>
                <a:latin typeface="Arial"/>
                <a:cs typeface="Arial"/>
              </a:rPr>
              <a:t>You press ‘Reply all’ when you meant ‘Reply’.</a:t>
            </a:r>
            <a:endParaRPr lang="en-GB" sz="1200" dirty="0"/>
          </a:p>
        </p:txBody>
      </p:sp>
      <p:sp>
        <p:nvSpPr>
          <p:cNvPr id="27" name="Shape 27"/>
          <p:cNvSpPr/>
          <p:nvPr/>
        </p:nvSpPr>
        <p:spPr>
          <a:xfrm>
            <a:off x="4937760" y="3803904"/>
            <a:ext cx="1188720" cy="566928"/>
          </a:xfrm>
          <a:prstGeom prst="rect">
            <a:avLst/>
          </a:prstGeom>
          <a:solidFill>
            <a:srgbClr val="F3F8F9"/>
          </a:solidFill>
          <a:ln w="9525">
            <a:solidFill>
              <a:srgbClr val="9DB8BC"/>
            </a:solidFill>
          </a:ln>
        </p:spPr>
        <p:txBody>
          <a:bodyPr wrap="square" lIns="54864" tIns="54864" rIns="54864" bIns="54864" anchor="ctr" rtlCol="0">
            <a:normAutofit/>
          </a:bodyPr>
          <a:lstStyle/>
          <a:p>
            <a:pPr algn="l">
              <a:buNone/>
            </a:pPr>
            <a:r>
              <a:rPr lang="en-GB" sz="1200" b="1" i="0" dirty="0">
                <a:solidFill>
                  <a:srgbClr val="333399"/>
                </a:solidFill>
                <a:latin typeface="Arial"/>
                <a:cs typeface="Arial"/>
              </a:rPr>
              <a:t>SLIP</a:t>
            </a:r>
            <a:endParaRPr lang="en-GB" sz="1200" dirty="0"/>
          </a:p>
        </p:txBody>
      </p:sp>
      <p:sp>
        <p:nvSpPr>
          <p:cNvPr id="28" name="Shape 28"/>
          <p:cNvSpPr/>
          <p:nvPr/>
        </p:nvSpPr>
        <p:spPr>
          <a:xfrm>
            <a:off x="6126480" y="3803904"/>
            <a:ext cx="2377440" cy="566928"/>
          </a:xfrm>
          <a:prstGeom prst="rect">
            <a:avLst/>
          </a:prstGeom>
          <a:solidFill>
            <a:srgbClr val="F3F8F9"/>
          </a:solidFill>
          <a:ln w="9525">
            <a:solidFill>
              <a:srgbClr val="9DB8BC"/>
            </a:solidFill>
          </a:ln>
        </p:spPr>
        <p:txBody>
          <a:bodyPr wrap="square" lIns="54864" tIns="54864" rIns="54864" bIns="54864" anchor="ctr" rtlCol="0">
            <a:normAutofit/>
          </a:bodyPr>
          <a:lstStyle/>
          <a:p>
            <a:pPr algn="l">
              <a:buNone/>
            </a:pPr>
            <a:r>
              <a:rPr lang="en-GB" sz="1100" b="0" i="0" dirty="0">
                <a:solidFill>
                  <a:srgbClr val="1A1A1A"/>
                </a:solidFill>
                <a:latin typeface="Arial"/>
                <a:cs typeface="Arial"/>
              </a:rPr>
              <a:t>Separate the buttons; offer ‘Undo send’</a:t>
            </a:r>
            <a:endParaRPr lang="en-GB" sz="1100" dirty="0"/>
          </a:p>
        </p:txBody>
      </p:sp>
      <p:sp>
        <p:nvSpPr>
          <p:cNvPr id="29" name="Shape 29"/>
          <p:cNvSpPr/>
          <p:nvPr/>
        </p:nvSpPr>
        <p:spPr>
          <a:xfrm>
            <a:off x="548640" y="4370832"/>
            <a:ext cx="365760" cy="566928"/>
          </a:xfrm>
          <a:prstGeom prst="rect">
            <a:avLst/>
          </a:prstGeom>
          <a:solidFill>
            <a:srgbClr val="FFFFFF"/>
          </a:solidFill>
          <a:ln w="9525">
            <a:solidFill>
              <a:srgbClr val="9DB8BC"/>
            </a:solidFill>
          </a:ln>
        </p:spPr>
        <p:txBody>
          <a:bodyPr wrap="square" lIns="54864" tIns="54864" rIns="54864" bIns="54864" anchor="ctr" rtlCol="0">
            <a:normAutofit/>
          </a:bodyPr>
          <a:lstStyle/>
          <a:p>
            <a:pPr algn="l">
              <a:buNone/>
            </a:pPr>
            <a:r>
              <a:rPr lang="en-GB" sz="1200" b="1" i="0" dirty="0">
                <a:solidFill>
                  <a:srgbClr val="1A1A1A"/>
                </a:solidFill>
                <a:latin typeface="Arial"/>
                <a:cs typeface="Arial"/>
              </a:rPr>
              <a:t>4</a:t>
            </a:r>
            <a:endParaRPr lang="en-GB" sz="1200" dirty="0"/>
          </a:p>
        </p:txBody>
      </p:sp>
      <p:sp>
        <p:nvSpPr>
          <p:cNvPr id="30" name="Shape 30"/>
          <p:cNvSpPr/>
          <p:nvPr/>
        </p:nvSpPr>
        <p:spPr>
          <a:xfrm>
            <a:off x="914400" y="4370832"/>
            <a:ext cx="4023360" cy="566928"/>
          </a:xfrm>
          <a:prstGeom prst="rect">
            <a:avLst/>
          </a:prstGeom>
          <a:solidFill>
            <a:srgbClr val="FFFFFF"/>
          </a:solidFill>
          <a:ln w="9525">
            <a:solidFill>
              <a:srgbClr val="9DB8BC"/>
            </a:solidFill>
          </a:ln>
        </p:spPr>
        <p:txBody>
          <a:bodyPr wrap="square" lIns="54864" tIns="54864" rIns="54864" bIns="54864" anchor="ctr" rtlCol="0">
            <a:normAutofit/>
          </a:bodyPr>
          <a:lstStyle/>
          <a:p>
            <a:pPr algn="l">
              <a:buNone/>
            </a:pPr>
            <a:r>
              <a:rPr lang="en-GB" sz="1200" b="0" i="0" dirty="0">
                <a:solidFill>
                  <a:srgbClr val="1A1A1A"/>
                </a:solidFill>
                <a:latin typeface="Arial"/>
                <a:cs typeface="Arial"/>
              </a:rPr>
              <a:t>You save your assignment in ‘Downloads’, believing it is on your USB.</a:t>
            </a:r>
            <a:endParaRPr lang="en-GB" sz="1200" dirty="0"/>
          </a:p>
        </p:txBody>
      </p:sp>
      <p:sp>
        <p:nvSpPr>
          <p:cNvPr id="31" name="Shape 31"/>
          <p:cNvSpPr/>
          <p:nvPr/>
        </p:nvSpPr>
        <p:spPr>
          <a:xfrm>
            <a:off x="4937760" y="4370832"/>
            <a:ext cx="1188720" cy="566928"/>
          </a:xfrm>
          <a:prstGeom prst="rect">
            <a:avLst/>
          </a:prstGeom>
          <a:solidFill>
            <a:srgbClr val="FFFFFF"/>
          </a:solidFill>
          <a:ln w="9525">
            <a:solidFill>
              <a:srgbClr val="9DB8BC"/>
            </a:solidFill>
          </a:ln>
        </p:spPr>
        <p:txBody>
          <a:bodyPr wrap="square" lIns="54864" tIns="54864" rIns="54864" bIns="54864" anchor="ctr" rtlCol="0">
            <a:normAutofit/>
          </a:bodyPr>
          <a:lstStyle/>
          <a:p>
            <a:pPr algn="l">
              <a:buNone/>
            </a:pPr>
            <a:r>
              <a:rPr lang="en-GB" sz="1200" b="1" i="0" dirty="0">
                <a:solidFill>
                  <a:srgbClr val="B03A2E"/>
                </a:solidFill>
                <a:latin typeface="Arial"/>
                <a:cs typeface="Arial"/>
              </a:rPr>
              <a:t>MISTAKE</a:t>
            </a:r>
            <a:endParaRPr lang="en-GB" sz="1200" dirty="0"/>
          </a:p>
        </p:txBody>
      </p:sp>
      <p:sp>
        <p:nvSpPr>
          <p:cNvPr id="32" name="Shape 32"/>
          <p:cNvSpPr/>
          <p:nvPr/>
        </p:nvSpPr>
        <p:spPr>
          <a:xfrm>
            <a:off x="6126480" y="4370832"/>
            <a:ext cx="2377440" cy="566928"/>
          </a:xfrm>
          <a:prstGeom prst="rect">
            <a:avLst/>
          </a:prstGeom>
          <a:solidFill>
            <a:srgbClr val="FFFFFF"/>
          </a:solidFill>
          <a:ln w="9525">
            <a:solidFill>
              <a:srgbClr val="9DB8BC"/>
            </a:solidFill>
          </a:ln>
        </p:spPr>
        <p:txBody>
          <a:bodyPr wrap="square" lIns="54864" tIns="54864" rIns="54864" bIns="54864" anchor="ctr" rtlCol="0">
            <a:normAutofit/>
          </a:bodyPr>
          <a:lstStyle/>
          <a:p>
            <a:pPr algn="l">
              <a:buNone/>
            </a:pPr>
            <a:r>
              <a:rPr lang="en-GB" sz="1100" b="0" i="0" dirty="0">
                <a:solidFill>
                  <a:srgbClr val="1A1A1A"/>
                </a:solidFill>
                <a:latin typeface="Arial"/>
                <a:cs typeface="Arial"/>
              </a:rPr>
              <a:t>Show the full save location clearly</a:t>
            </a:r>
            <a:endParaRPr lang="en-GB" sz="1100" dirty="0"/>
          </a:p>
        </p:txBody>
      </p:sp>
      <p:sp>
        <p:nvSpPr>
          <p:cNvPr id="33" name="Shape 33"/>
          <p:cNvSpPr/>
          <p:nvPr/>
        </p:nvSpPr>
        <p:spPr>
          <a:xfrm>
            <a:off x="548640" y="4937760"/>
            <a:ext cx="365760" cy="566928"/>
          </a:xfrm>
          <a:prstGeom prst="rect">
            <a:avLst/>
          </a:prstGeom>
          <a:solidFill>
            <a:srgbClr val="F3F8F9"/>
          </a:solidFill>
          <a:ln w="9525">
            <a:solidFill>
              <a:srgbClr val="9DB8BC"/>
            </a:solidFill>
          </a:ln>
        </p:spPr>
        <p:txBody>
          <a:bodyPr wrap="square" lIns="54864" tIns="54864" rIns="54864" bIns="54864" anchor="ctr" rtlCol="0">
            <a:normAutofit/>
          </a:bodyPr>
          <a:lstStyle/>
          <a:p>
            <a:pPr algn="l">
              <a:buNone/>
            </a:pPr>
            <a:r>
              <a:rPr lang="en-GB" sz="1200" b="1" i="0" dirty="0">
                <a:solidFill>
                  <a:srgbClr val="1A1A1A"/>
                </a:solidFill>
                <a:latin typeface="Arial"/>
                <a:cs typeface="Arial"/>
              </a:rPr>
              <a:t>5</a:t>
            </a:r>
            <a:endParaRPr lang="en-GB" sz="1200" dirty="0"/>
          </a:p>
        </p:txBody>
      </p:sp>
      <p:sp>
        <p:nvSpPr>
          <p:cNvPr id="34" name="Shape 34"/>
          <p:cNvSpPr/>
          <p:nvPr/>
        </p:nvSpPr>
        <p:spPr>
          <a:xfrm>
            <a:off x="914400" y="4937760"/>
            <a:ext cx="4023360" cy="566928"/>
          </a:xfrm>
          <a:prstGeom prst="rect">
            <a:avLst/>
          </a:prstGeom>
          <a:solidFill>
            <a:srgbClr val="F3F8F9"/>
          </a:solidFill>
          <a:ln w="9525">
            <a:solidFill>
              <a:srgbClr val="9DB8BC"/>
            </a:solidFill>
          </a:ln>
        </p:spPr>
        <p:txBody>
          <a:bodyPr wrap="square" lIns="54864" tIns="54864" rIns="54864" bIns="54864" anchor="ctr" rtlCol="0">
            <a:normAutofit/>
          </a:bodyPr>
          <a:lstStyle/>
          <a:p>
            <a:pPr algn="l">
              <a:buNone/>
            </a:pPr>
            <a:r>
              <a:rPr lang="en-GB" sz="1200" b="0" i="0" dirty="0">
                <a:solidFill>
                  <a:srgbClr val="1A1A1A"/>
                </a:solidFill>
                <a:latin typeface="Arial"/>
                <a:cs typeface="Arial"/>
              </a:rPr>
              <a:t>Chatting, you pour tea into the sugar bowl instead of the cup.</a:t>
            </a:r>
            <a:endParaRPr lang="en-GB" sz="1200" dirty="0"/>
          </a:p>
        </p:txBody>
      </p:sp>
      <p:sp>
        <p:nvSpPr>
          <p:cNvPr id="35" name="Shape 35"/>
          <p:cNvSpPr/>
          <p:nvPr/>
        </p:nvSpPr>
        <p:spPr>
          <a:xfrm>
            <a:off x="4937760" y="4937760"/>
            <a:ext cx="1188720" cy="566928"/>
          </a:xfrm>
          <a:prstGeom prst="rect">
            <a:avLst/>
          </a:prstGeom>
          <a:solidFill>
            <a:srgbClr val="F3F8F9"/>
          </a:solidFill>
          <a:ln w="9525">
            <a:solidFill>
              <a:srgbClr val="9DB8BC"/>
            </a:solidFill>
          </a:ln>
        </p:spPr>
        <p:txBody>
          <a:bodyPr wrap="square" lIns="54864" tIns="54864" rIns="54864" bIns="54864" anchor="ctr" rtlCol="0">
            <a:normAutofit/>
          </a:bodyPr>
          <a:lstStyle/>
          <a:p>
            <a:pPr algn="l">
              <a:buNone/>
            </a:pPr>
            <a:r>
              <a:rPr lang="en-GB" sz="1200" b="1" i="0" dirty="0">
                <a:solidFill>
                  <a:srgbClr val="333399"/>
                </a:solidFill>
                <a:latin typeface="Arial"/>
                <a:cs typeface="Arial"/>
              </a:rPr>
              <a:t>SLIP</a:t>
            </a:r>
            <a:endParaRPr lang="en-GB" sz="1200" dirty="0"/>
          </a:p>
        </p:txBody>
      </p:sp>
      <p:sp>
        <p:nvSpPr>
          <p:cNvPr id="36" name="Shape 36"/>
          <p:cNvSpPr/>
          <p:nvPr/>
        </p:nvSpPr>
        <p:spPr>
          <a:xfrm>
            <a:off x="6126480" y="4937760"/>
            <a:ext cx="2377440" cy="566928"/>
          </a:xfrm>
          <a:prstGeom prst="rect">
            <a:avLst/>
          </a:prstGeom>
          <a:solidFill>
            <a:srgbClr val="F3F8F9"/>
          </a:solidFill>
          <a:ln w="9525">
            <a:solidFill>
              <a:srgbClr val="9DB8BC"/>
            </a:solidFill>
          </a:ln>
        </p:spPr>
        <p:txBody>
          <a:bodyPr wrap="square" lIns="54864" tIns="54864" rIns="54864" bIns="54864" anchor="ctr" rtlCol="0">
            <a:normAutofit/>
          </a:bodyPr>
          <a:lstStyle/>
          <a:p>
            <a:pPr algn="l">
              <a:buNone/>
            </a:pPr>
            <a:r>
              <a:rPr lang="en-GB" sz="1100" b="0" i="0" dirty="0">
                <a:solidFill>
                  <a:srgbClr val="1A1A1A"/>
                </a:solidFill>
                <a:latin typeface="Arial"/>
                <a:cs typeface="Arial"/>
              </a:rPr>
              <a:t>(Not an interface — but the same capture error)</a:t>
            </a:r>
            <a:endParaRPr lang="en-GB" sz="1100" dirty="0"/>
          </a:p>
        </p:txBody>
      </p:sp>
      <p:sp>
        <p:nvSpPr>
          <p:cNvPr id="37" name="Shape 37"/>
          <p:cNvSpPr txBox="1"/>
          <p:nvPr/>
        </p:nvSpPr>
        <p:spPr>
          <a:xfrm>
            <a:off x="548640" y="5623560"/>
            <a:ext cx="7955280" cy="640080"/>
          </a:xfrm>
          <a:prstGeom prst="rect">
            <a:avLst/>
          </a:prstGeom>
          <a:noFill/>
          <a:ln>
            <a:noFill/>
          </a:ln>
        </p:spPr>
        <p:txBody>
          <a:bodyPr wrap="square" lIns="18288" tIns="18288" rIns="18288" bIns="18288" anchor="t" rtlCol="0">
            <a:normAutofit/>
          </a:bodyPr>
          <a:lstStyle/>
          <a:p>
            <a:pPr algn="l">
              <a:buNone/>
            </a:pPr>
            <a:r>
              <a:rPr lang="en-GB" sz="1300" b="1" i="0" dirty="0">
                <a:solidFill>
                  <a:srgbClr val="2D2D8A"/>
                </a:solidFill>
                <a:latin typeface="Arial"/>
                <a:cs typeface="Arial"/>
              </a:rPr>
              <a:t xml:space="preserve">Test: </a:t>
            </a:r>
            <a:r>
              <a:rPr lang="en-GB" sz="1300" b="0" i="0" dirty="0">
                <a:solidFill>
                  <a:srgbClr val="1A1A1A"/>
                </a:solidFill>
                <a:latin typeface="Arial"/>
                <a:cs typeface="Arial"/>
              </a:rPr>
              <a:t>was the plan right and the action wrong (slip), or was the plan itself wrong (mistake)?</a:t>
            </a:r>
            <a:endParaRPr lang="en-GB" sz="13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200" b="0" i="0" dirty="0">
                <a:solidFill>
                  <a:srgbClr val="2D2D8A"/>
                </a:solidFill>
                <a:latin typeface="Arial"/>
                <a:cs typeface="Arial"/>
              </a:rPr>
              <a:t>Book a ride: trace the translations</a:t>
            </a:r>
          </a:p>
        </p:txBody>
      </p:sp>
      <p:sp>
        <p:nvSpPr>
          <p:cNvPr id="11" name="Shape 11"/>
          <p:cNvSpPr/>
          <p:nvPr/>
        </p:nvSpPr>
        <p:spPr>
          <a:xfrm>
            <a:off x="548640" y="1810512"/>
            <a:ext cx="1257300" cy="310896"/>
          </a:xfrm>
          <a:prstGeom prst="roundRect">
            <a:avLst>
              <a:gd name="adj" fmla="val 50000"/>
            </a:avLst>
          </a:prstGeom>
          <a:solidFill>
            <a:srgbClr val="8A5A00"/>
          </a:solidFill>
          <a:ln>
            <a:noFill/>
          </a:ln>
        </p:spPr>
        <p:txBody>
          <a:bodyPr wrap="square" lIns="27432" tIns="27432" rIns="27432" bIns="27432" anchor="ctr" rtlCol="0">
            <a:normAutofit/>
          </a:bodyPr>
          <a:lstStyle/>
          <a:p>
            <a:pPr algn="ctr">
              <a:buNone/>
            </a:pPr>
            <a:r>
              <a:rPr lang="en-GB" sz="1100" b="1" i="0" dirty="0">
                <a:solidFill>
                  <a:srgbClr val="FFFFFF"/>
                </a:solidFill>
                <a:latin typeface="Arial"/>
                <a:cs typeface="Arial"/>
              </a:rPr>
              <a:t>CASE PUZZLE</a:t>
            </a:r>
            <a:endParaRPr lang="en-GB" sz="1100" dirty="0"/>
          </a:p>
        </p:txBody>
      </p:sp>
      <p:sp>
        <p:nvSpPr>
          <p:cNvPr id="12" name="Shape 12"/>
          <p:cNvSpPr txBox="1"/>
          <p:nvPr/>
        </p:nvSpPr>
        <p:spPr>
          <a:xfrm>
            <a:off x="1915668" y="1810512"/>
            <a:ext cx="5486400" cy="310896"/>
          </a:xfrm>
          <a:prstGeom prst="rect">
            <a:avLst/>
          </a:prstGeom>
          <a:noFill/>
          <a:ln>
            <a:noFill/>
          </a:ln>
        </p:spPr>
        <p:txBody>
          <a:bodyPr wrap="square" lIns="18288" tIns="18288" rIns="18288" bIns="18288" anchor="ctr" rtlCol="0">
            <a:normAutofit/>
          </a:bodyPr>
          <a:lstStyle/>
          <a:p>
            <a:pPr algn="l">
              <a:buNone/>
            </a:pPr>
            <a:r>
              <a:rPr lang="en-GB" sz="1200" b="0" i="1" dirty="0">
                <a:solidFill>
                  <a:srgbClr val="595959"/>
                </a:solidFill>
                <a:latin typeface="Arial"/>
                <a:cs typeface="Arial"/>
              </a:rPr>
              <a:t>4 min · groups of 3 · booking a ride-hailing car to campus</a:t>
            </a:r>
            <a:endParaRPr lang="en-GB" sz="1200" dirty="0"/>
          </a:p>
        </p:txBody>
      </p:sp>
      <p:sp>
        <p:nvSpPr>
          <p:cNvPr id="13" name="Shape 13"/>
          <p:cNvSpPr/>
          <p:nvPr/>
        </p:nvSpPr>
        <p:spPr>
          <a:xfrm>
            <a:off x="338328" y="3813048"/>
            <a:ext cx="694944" cy="694944"/>
          </a:xfrm>
          <a:prstGeom prst="ellipse">
            <a:avLst/>
          </a:prstGeom>
          <a:solidFill>
            <a:srgbClr val="333399"/>
          </a:solidFill>
          <a:ln>
            <a:noFill/>
          </a:ln>
        </p:spPr>
        <p:txBody>
          <a:bodyPr wrap="square" lIns="0" tIns="0" rIns="0" bIns="0" anchor="ctr" rtlCol="0">
            <a:normAutofit/>
          </a:bodyPr>
          <a:lstStyle/>
          <a:p>
            <a:pPr algn="ctr">
              <a:buNone/>
            </a:pPr>
            <a:r>
              <a:rPr lang="en-GB" sz="1800" b="1" i="0" dirty="0">
                <a:solidFill>
                  <a:srgbClr val="FFFFFF"/>
                </a:solidFill>
                <a:latin typeface="Arial"/>
                <a:cs typeface="Arial"/>
              </a:rPr>
              <a:t>S</a:t>
            </a:r>
            <a:endParaRPr lang="en-GB" sz="1800" dirty="0"/>
          </a:p>
        </p:txBody>
      </p:sp>
      <p:sp>
        <p:nvSpPr>
          <p:cNvPr id="14" name="Shape 14"/>
          <p:cNvSpPr txBox="1"/>
          <p:nvPr/>
        </p:nvSpPr>
        <p:spPr>
          <a:xfrm>
            <a:off x="137160" y="4526280"/>
            <a:ext cx="1097280" cy="256032"/>
          </a:xfrm>
          <a:prstGeom prst="rect">
            <a:avLst/>
          </a:prstGeom>
          <a:noFill/>
          <a:ln>
            <a:noFill/>
          </a:ln>
        </p:spPr>
        <p:txBody>
          <a:bodyPr wrap="square" lIns="18288" tIns="18288" rIns="18288" bIns="18288" anchor="t" rtlCol="0">
            <a:normAutofit/>
          </a:bodyPr>
          <a:lstStyle/>
          <a:p>
            <a:pPr algn="ctr">
              <a:buNone/>
            </a:pPr>
            <a:r>
              <a:rPr lang="en-GB" sz="1000" b="0" i="0" dirty="0">
                <a:solidFill>
                  <a:srgbClr val="595959"/>
                </a:solidFill>
                <a:latin typeface="Arial"/>
                <a:cs typeface="Arial"/>
              </a:rPr>
              <a:t>System</a:t>
            </a:r>
            <a:endParaRPr lang="en-GB" sz="1000" dirty="0"/>
          </a:p>
        </p:txBody>
      </p:sp>
      <p:sp>
        <p:nvSpPr>
          <p:cNvPr id="15" name="Shape 15"/>
          <p:cNvSpPr/>
          <p:nvPr/>
        </p:nvSpPr>
        <p:spPr>
          <a:xfrm>
            <a:off x="1618488" y="2578608"/>
            <a:ext cx="694944" cy="694944"/>
          </a:xfrm>
          <a:prstGeom prst="ellipse">
            <a:avLst/>
          </a:prstGeom>
          <a:solidFill>
            <a:srgbClr val="333399"/>
          </a:solidFill>
          <a:ln>
            <a:noFill/>
          </a:ln>
        </p:spPr>
        <p:txBody>
          <a:bodyPr wrap="square" lIns="0" tIns="0" rIns="0" bIns="0" anchor="ctr" rtlCol="0">
            <a:normAutofit/>
          </a:bodyPr>
          <a:lstStyle/>
          <a:p>
            <a:pPr algn="ctr">
              <a:buNone/>
            </a:pPr>
            <a:r>
              <a:rPr lang="en-GB" sz="1800" b="1" i="0" dirty="0">
                <a:solidFill>
                  <a:srgbClr val="FFFFFF"/>
                </a:solidFill>
                <a:latin typeface="Arial"/>
                <a:cs typeface="Arial"/>
              </a:rPr>
              <a:t>O</a:t>
            </a:r>
            <a:endParaRPr lang="en-GB" sz="1800" dirty="0"/>
          </a:p>
        </p:txBody>
      </p:sp>
      <p:sp>
        <p:nvSpPr>
          <p:cNvPr id="16" name="Shape 16"/>
          <p:cNvSpPr txBox="1"/>
          <p:nvPr/>
        </p:nvSpPr>
        <p:spPr>
          <a:xfrm>
            <a:off x="1417320" y="3291840"/>
            <a:ext cx="1097280" cy="256032"/>
          </a:xfrm>
          <a:prstGeom prst="rect">
            <a:avLst/>
          </a:prstGeom>
          <a:noFill/>
          <a:ln>
            <a:noFill/>
          </a:ln>
        </p:spPr>
        <p:txBody>
          <a:bodyPr wrap="square" lIns="18288" tIns="18288" rIns="18288" bIns="18288" anchor="t" rtlCol="0">
            <a:normAutofit/>
          </a:bodyPr>
          <a:lstStyle/>
          <a:p>
            <a:pPr algn="ctr">
              <a:buNone/>
            </a:pPr>
            <a:r>
              <a:rPr lang="en-GB" sz="1000" b="0" i="0" dirty="0">
                <a:solidFill>
                  <a:srgbClr val="595959"/>
                </a:solidFill>
                <a:latin typeface="Arial"/>
                <a:cs typeface="Arial"/>
              </a:rPr>
              <a:t>Output</a:t>
            </a:r>
            <a:endParaRPr lang="en-GB" sz="1000" dirty="0"/>
          </a:p>
        </p:txBody>
      </p:sp>
      <p:sp>
        <p:nvSpPr>
          <p:cNvPr id="17" name="Shape 17"/>
          <p:cNvSpPr/>
          <p:nvPr/>
        </p:nvSpPr>
        <p:spPr>
          <a:xfrm>
            <a:off x="2898648" y="3813048"/>
            <a:ext cx="694944" cy="694944"/>
          </a:xfrm>
          <a:prstGeom prst="ellipse">
            <a:avLst/>
          </a:prstGeom>
          <a:solidFill>
            <a:srgbClr val="333399"/>
          </a:solidFill>
          <a:ln>
            <a:noFill/>
          </a:ln>
        </p:spPr>
        <p:txBody>
          <a:bodyPr wrap="square" lIns="0" tIns="0" rIns="0" bIns="0" anchor="ctr" rtlCol="0">
            <a:normAutofit/>
          </a:bodyPr>
          <a:lstStyle/>
          <a:p>
            <a:pPr algn="ctr">
              <a:buNone/>
            </a:pPr>
            <a:r>
              <a:rPr lang="en-GB" sz="1800" b="1" i="0" dirty="0">
                <a:solidFill>
                  <a:srgbClr val="FFFFFF"/>
                </a:solidFill>
                <a:latin typeface="Arial"/>
                <a:cs typeface="Arial"/>
              </a:rPr>
              <a:t>U</a:t>
            </a:r>
            <a:endParaRPr lang="en-GB" sz="1800" dirty="0"/>
          </a:p>
        </p:txBody>
      </p:sp>
      <p:sp>
        <p:nvSpPr>
          <p:cNvPr id="18" name="Shape 18"/>
          <p:cNvSpPr txBox="1"/>
          <p:nvPr/>
        </p:nvSpPr>
        <p:spPr>
          <a:xfrm>
            <a:off x="2697480" y="4526280"/>
            <a:ext cx="1097280" cy="256032"/>
          </a:xfrm>
          <a:prstGeom prst="rect">
            <a:avLst/>
          </a:prstGeom>
          <a:noFill/>
          <a:ln>
            <a:noFill/>
          </a:ln>
        </p:spPr>
        <p:txBody>
          <a:bodyPr wrap="square" lIns="18288" tIns="18288" rIns="18288" bIns="18288" anchor="t" rtlCol="0">
            <a:normAutofit/>
          </a:bodyPr>
          <a:lstStyle/>
          <a:p>
            <a:pPr algn="ctr">
              <a:buNone/>
            </a:pPr>
            <a:r>
              <a:rPr lang="en-GB" sz="1000" b="0" i="0" dirty="0">
                <a:solidFill>
                  <a:srgbClr val="595959"/>
                </a:solidFill>
                <a:latin typeface="Arial"/>
                <a:cs typeface="Arial"/>
              </a:rPr>
              <a:t>User</a:t>
            </a:r>
            <a:endParaRPr lang="en-GB" sz="1000" dirty="0"/>
          </a:p>
        </p:txBody>
      </p:sp>
      <p:sp>
        <p:nvSpPr>
          <p:cNvPr id="19" name="Shape 19"/>
          <p:cNvSpPr/>
          <p:nvPr/>
        </p:nvSpPr>
        <p:spPr>
          <a:xfrm>
            <a:off x="1618488" y="5047488"/>
            <a:ext cx="694944" cy="694944"/>
          </a:xfrm>
          <a:prstGeom prst="ellipse">
            <a:avLst/>
          </a:prstGeom>
          <a:solidFill>
            <a:srgbClr val="333399"/>
          </a:solidFill>
          <a:ln>
            <a:noFill/>
          </a:ln>
        </p:spPr>
        <p:txBody>
          <a:bodyPr wrap="square" lIns="0" tIns="0" rIns="0" bIns="0" anchor="ctr" rtlCol="0">
            <a:normAutofit/>
          </a:bodyPr>
          <a:lstStyle/>
          <a:p>
            <a:pPr algn="ctr">
              <a:buNone/>
            </a:pPr>
            <a:r>
              <a:rPr lang="en-GB" sz="1800" b="1" i="0" dirty="0">
                <a:solidFill>
                  <a:srgbClr val="FFFFFF"/>
                </a:solidFill>
                <a:latin typeface="Arial"/>
                <a:cs typeface="Arial"/>
              </a:rPr>
              <a:t>I</a:t>
            </a:r>
            <a:endParaRPr lang="en-GB" sz="1800" dirty="0"/>
          </a:p>
        </p:txBody>
      </p:sp>
      <p:sp>
        <p:nvSpPr>
          <p:cNvPr id="20" name="Shape 20"/>
          <p:cNvSpPr txBox="1"/>
          <p:nvPr/>
        </p:nvSpPr>
        <p:spPr>
          <a:xfrm>
            <a:off x="1417320" y="5760720"/>
            <a:ext cx="1097280" cy="256032"/>
          </a:xfrm>
          <a:prstGeom prst="rect">
            <a:avLst/>
          </a:prstGeom>
          <a:noFill/>
          <a:ln>
            <a:noFill/>
          </a:ln>
        </p:spPr>
        <p:txBody>
          <a:bodyPr wrap="square" lIns="18288" tIns="18288" rIns="18288" bIns="18288" anchor="t" rtlCol="0">
            <a:normAutofit/>
          </a:bodyPr>
          <a:lstStyle/>
          <a:p>
            <a:pPr algn="ctr">
              <a:buNone/>
            </a:pPr>
            <a:r>
              <a:rPr lang="en-GB" sz="1000" b="0" i="0" dirty="0">
                <a:solidFill>
                  <a:srgbClr val="595959"/>
                </a:solidFill>
                <a:latin typeface="Arial"/>
                <a:cs typeface="Arial"/>
              </a:rPr>
              <a:t>Input</a:t>
            </a:r>
            <a:endParaRPr lang="en-GB" sz="1000" dirty="0"/>
          </a:p>
        </p:txBody>
      </p:sp>
      <p:cxnSp>
        <p:nvCxnSpPr>
          <p:cNvPr id="21" name="Line 21"/>
          <p:cNvCxnSpPr/>
          <p:nvPr/>
        </p:nvCxnSpPr>
        <p:spPr>
          <a:xfrm flipH="1">
            <a:off x="2262162" y="4446143"/>
            <a:ext cx="687757" cy="663194"/>
          </a:xfrm>
          <a:prstGeom prst="line">
            <a:avLst/>
          </a:prstGeom>
          <a:ln w="25400">
            <a:solidFill>
              <a:srgbClr val="B03A2E"/>
            </a:solidFill>
            <a:tailEnd type="triangle" w="med" len="med"/>
          </a:ln>
        </p:spPr>
      </p:cxnSp>
      <p:sp>
        <p:nvSpPr>
          <p:cNvPr id="22" name="Shape 22"/>
          <p:cNvSpPr/>
          <p:nvPr/>
        </p:nvSpPr>
        <p:spPr>
          <a:xfrm>
            <a:off x="2618415" y="4795992"/>
            <a:ext cx="292608" cy="292608"/>
          </a:xfrm>
          <a:prstGeom prst="ellipse">
            <a:avLst/>
          </a:prstGeom>
          <a:solidFill>
            <a:srgbClr val="B03A2E"/>
          </a:solidFill>
          <a:ln>
            <a:noFill/>
          </a:ln>
        </p:spPr>
        <p:txBody>
          <a:bodyPr wrap="square" lIns="0" tIns="0" rIns="0" bIns="0" anchor="ctr" rtlCol="0">
            <a:normAutofit/>
          </a:bodyPr>
          <a:lstStyle/>
          <a:p>
            <a:pPr algn="ctr">
              <a:buNone/>
            </a:pPr>
            <a:r>
              <a:rPr lang="en-GB" sz="1100" b="1" i="0" dirty="0">
                <a:solidFill>
                  <a:srgbClr val="FFFFFF"/>
                </a:solidFill>
                <a:latin typeface="Arial"/>
                <a:cs typeface="Arial"/>
              </a:rPr>
              <a:t>1</a:t>
            </a:r>
            <a:endParaRPr lang="en-GB" sz="1100" dirty="0"/>
          </a:p>
        </p:txBody>
      </p:sp>
      <p:cxnSp>
        <p:nvCxnSpPr>
          <p:cNvPr id="23" name="Line 23"/>
          <p:cNvCxnSpPr/>
          <p:nvPr/>
        </p:nvCxnSpPr>
        <p:spPr>
          <a:xfrm flipH="1" flipV="1">
            <a:off x="982002" y="4446143"/>
            <a:ext cx="687757" cy="663194"/>
          </a:xfrm>
          <a:prstGeom prst="line">
            <a:avLst/>
          </a:prstGeom>
          <a:ln w="25400">
            <a:solidFill>
              <a:srgbClr val="B03A2E"/>
            </a:solidFill>
            <a:tailEnd type="triangle" w="med" len="med"/>
          </a:ln>
        </p:spPr>
      </p:cxnSp>
      <p:sp>
        <p:nvSpPr>
          <p:cNvPr id="24" name="Shape 24"/>
          <p:cNvSpPr/>
          <p:nvPr/>
        </p:nvSpPr>
        <p:spPr>
          <a:xfrm>
            <a:off x="1020897" y="4795992"/>
            <a:ext cx="292608" cy="292608"/>
          </a:xfrm>
          <a:prstGeom prst="ellipse">
            <a:avLst/>
          </a:prstGeom>
          <a:solidFill>
            <a:srgbClr val="B03A2E"/>
          </a:solidFill>
          <a:ln>
            <a:noFill/>
          </a:ln>
        </p:spPr>
        <p:txBody>
          <a:bodyPr wrap="square" lIns="0" tIns="0" rIns="0" bIns="0" anchor="ctr" rtlCol="0">
            <a:normAutofit/>
          </a:bodyPr>
          <a:lstStyle/>
          <a:p>
            <a:pPr algn="ctr">
              <a:buNone/>
            </a:pPr>
            <a:r>
              <a:rPr lang="en-GB" sz="1100" b="1" i="0" dirty="0">
                <a:solidFill>
                  <a:srgbClr val="FFFFFF"/>
                </a:solidFill>
                <a:latin typeface="Arial"/>
                <a:cs typeface="Arial"/>
              </a:rPr>
              <a:t>2</a:t>
            </a:r>
            <a:endParaRPr lang="en-GB" sz="1100" dirty="0"/>
          </a:p>
        </p:txBody>
      </p:sp>
      <p:cxnSp>
        <p:nvCxnSpPr>
          <p:cNvPr id="25" name="Line 25"/>
          <p:cNvCxnSpPr/>
          <p:nvPr/>
        </p:nvCxnSpPr>
        <p:spPr>
          <a:xfrm flipV="1">
            <a:off x="982002" y="3211703"/>
            <a:ext cx="687757" cy="663194"/>
          </a:xfrm>
          <a:prstGeom prst="line">
            <a:avLst/>
          </a:prstGeom>
          <a:ln w="25400">
            <a:solidFill>
              <a:srgbClr val="B03A2E"/>
            </a:solidFill>
            <a:tailEnd type="triangle" w="med" len="med"/>
          </a:ln>
        </p:spPr>
      </p:cxnSp>
      <p:sp>
        <p:nvSpPr>
          <p:cNvPr id="26" name="Shape 26"/>
          <p:cNvSpPr/>
          <p:nvPr/>
        </p:nvSpPr>
        <p:spPr>
          <a:xfrm>
            <a:off x="1020897" y="3232440"/>
            <a:ext cx="292608" cy="292608"/>
          </a:xfrm>
          <a:prstGeom prst="ellipse">
            <a:avLst/>
          </a:prstGeom>
          <a:solidFill>
            <a:srgbClr val="B03A2E"/>
          </a:solidFill>
          <a:ln>
            <a:noFill/>
          </a:ln>
        </p:spPr>
        <p:txBody>
          <a:bodyPr wrap="square" lIns="0" tIns="0" rIns="0" bIns="0" anchor="ctr" rtlCol="0">
            <a:normAutofit/>
          </a:bodyPr>
          <a:lstStyle/>
          <a:p>
            <a:pPr algn="ctr">
              <a:buNone/>
            </a:pPr>
            <a:r>
              <a:rPr lang="en-GB" sz="1100" b="1" i="0" dirty="0">
                <a:solidFill>
                  <a:srgbClr val="FFFFFF"/>
                </a:solidFill>
                <a:latin typeface="Arial"/>
                <a:cs typeface="Arial"/>
              </a:rPr>
              <a:t>3</a:t>
            </a:r>
            <a:endParaRPr lang="en-GB" sz="1100" dirty="0"/>
          </a:p>
        </p:txBody>
      </p:sp>
      <p:cxnSp>
        <p:nvCxnSpPr>
          <p:cNvPr id="27" name="Line 27"/>
          <p:cNvCxnSpPr/>
          <p:nvPr/>
        </p:nvCxnSpPr>
        <p:spPr>
          <a:xfrm>
            <a:off x="2262162" y="3211703"/>
            <a:ext cx="687757" cy="663194"/>
          </a:xfrm>
          <a:prstGeom prst="line">
            <a:avLst/>
          </a:prstGeom>
          <a:ln w="25400">
            <a:solidFill>
              <a:srgbClr val="B03A2E"/>
            </a:solidFill>
            <a:tailEnd type="triangle" w="med" len="med"/>
          </a:ln>
        </p:spPr>
      </p:cxnSp>
      <p:sp>
        <p:nvSpPr>
          <p:cNvPr id="28" name="Shape 28"/>
          <p:cNvSpPr/>
          <p:nvPr/>
        </p:nvSpPr>
        <p:spPr>
          <a:xfrm>
            <a:off x="2618415" y="3232440"/>
            <a:ext cx="292608" cy="292608"/>
          </a:xfrm>
          <a:prstGeom prst="ellipse">
            <a:avLst/>
          </a:prstGeom>
          <a:solidFill>
            <a:srgbClr val="B03A2E"/>
          </a:solidFill>
          <a:ln>
            <a:noFill/>
          </a:ln>
        </p:spPr>
        <p:txBody>
          <a:bodyPr wrap="square" lIns="0" tIns="0" rIns="0" bIns="0" anchor="ctr" rtlCol="0">
            <a:normAutofit/>
          </a:bodyPr>
          <a:lstStyle/>
          <a:p>
            <a:pPr algn="ctr">
              <a:buNone/>
            </a:pPr>
            <a:r>
              <a:rPr lang="en-GB" sz="1100" b="1" i="0" dirty="0">
                <a:solidFill>
                  <a:srgbClr val="FFFFFF"/>
                </a:solidFill>
                <a:latin typeface="Arial"/>
                <a:cs typeface="Arial"/>
              </a:rPr>
              <a:t>4</a:t>
            </a:r>
            <a:endParaRPr lang="en-GB" sz="1100" dirty="0"/>
          </a:p>
        </p:txBody>
      </p:sp>
      <p:sp>
        <p:nvSpPr>
          <p:cNvPr id="29" name="Shape 29"/>
          <p:cNvSpPr/>
          <p:nvPr/>
        </p:nvSpPr>
        <p:spPr>
          <a:xfrm>
            <a:off x="3794760" y="2286000"/>
            <a:ext cx="1234440" cy="384048"/>
          </a:xfrm>
          <a:prstGeom prst="rect">
            <a:avLst/>
          </a:prstGeom>
          <a:solidFill>
            <a:srgbClr val="B03A2E"/>
          </a:solidFill>
          <a:ln w="9525">
            <a:solidFill>
              <a:srgbClr val="9DB8BC"/>
            </a:solidFill>
          </a:ln>
        </p:spPr>
        <p:txBody>
          <a:bodyPr wrap="square" lIns="54864" tIns="54864" rIns="54864" bIns="54864" anchor="ctr" rtlCol="0">
            <a:normAutofit/>
          </a:bodyPr>
          <a:lstStyle/>
          <a:p>
            <a:pPr algn="l">
              <a:buNone/>
            </a:pPr>
            <a:r>
              <a:rPr lang="en-GB" sz="1100" b="1" i="0" dirty="0">
                <a:solidFill>
                  <a:srgbClr val="FFFFFF"/>
                </a:solidFill>
                <a:latin typeface="Arial"/>
                <a:cs typeface="Arial"/>
              </a:rPr>
              <a:t/>
            </a:r>
            <a:endParaRPr lang="en-GB" sz="1100" dirty="0"/>
          </a:p>
        </p:txBody>
      </p:sp>
      <p:sp>
        <p:nvSpPr>
          <p:cNvPr id="30" name="Shape 30"/>
          <p:cNvSpPr/>
          <p:nvPr/>
        </p:nvSpPr>
        <p:spPr>
          <a:xfrm>
            <a:off x="5029200" y="2286000"/>
            <a:ext cx="1783080" cy="384048"/>
          </a:xfrm>
          <a:prstGeom prst="rect">
            <a:avLst/>
          </a:prstGeom>
          <a:solidFill>
            <a:srgbClr val="B03A2E"/>
          </a:solidFill>
          <a:ln w="9525">
            <a:solidFill>
              <a:srgbClr val="9DB8BC"/>
            </a:solidFill>
          </a:ln>
        </p:spPr>
        <p:txBody>
          <a:bodyPr wrap="square" lIns="54864" tIns="54864" rIns="54864" bIns="54864" anchor="ctr" rtlCol="0">
            <a:normAutofit/>
          </a:bodyPr>
          <a:lstStyle/>
          <a:p>
            <a:pPr algn="l">
              <a:buNone/>
            </a:pPr>
            <a:r>
              <a:rPr lang="en-GB" sz="1100" b="1" i="0" dirty="0">
                <a:solidFill>
                  <a:srgbClr val="FFFFFF"/>
                </a:solidFill>
                <a:latin typeface="Arial"/>
                <a:cs typeface="Arial"/>
              </a:rPr>
              <a:t>What happens here?</a:t>
            </a:r>
            <a:endParaRPr lang="en-GB" sz="1100" dirty="0"/>
          </a:p>
        </p:txBody>
      </p:sp>
      <p:sp>
        <p:nvSpPr>
          <p:cNvPr id="31" name="Shape 31"/>
          <p:cNvSpPr/>
          <p:nvPr/>
        </p:nvSpPr>
        <p:spPr>
          <a:xfrm>
            <a:off x="6812280" y="2286000"/>
            <a:ext cx="1737360" cy="384048"/>
          </a:xfrm>
          <a:prstGeom prst="rect">
            <a:avLst/>
          </a:prstGeom>
          <a:solidFill>
            <a:srgbClr val="B03A2E"/>
          </a:solidFill>
          <a:ln w="9525">
            <a:solidFill>
              <a:srgbClr val="9DB8BC"/>
            </a:solidFill>
          </a:ln>
        </p:spPr>
        <p:txBody>
          <a:bodyPr wrap="square" lIns="54864" tIns="54864" rIns="54864" bIns="54864" anchor="ctr" rtlCol="0">
            <a:normAutofit/>
          </a:bodyPr>
          <a:lstStyle/>
          <a:p>
            <a:pPr algn="l">
              <a:buNone/>
            </a:pPr>
            <a:r>
              <a:rPr lang="en-GB" sz="1100" b="1" i="0" dirty="0">
                <a:solidFill>
                  <a:srgbClr val="FFFFFF"/>
                </a:solidFill>
                <a:latin typeface="Arial"/>
                <a:cs typeface="Arial"/>
              </a:rPr>
              <a:t>Where can it fail?</a:t>
            </a:r>
            <a:endParaRPr lang="en-GB" sz="1100" dirty="0"/>
          </a:p>
        </p:txBody>
      </p:sp>
      <p:sp>
        <p:nvSpPr>
          <p:cNvPr id="32" name="Shape 32"/>
          <p:cNvSpPr/>
          <p:nvPr/>
        </p:nvSpPr>
        <p:spPr>
          <a:xfrm>
            <a:off x="3794760" y="2670048"/>
            <a:ext cx="1234440" cy="896112"/>
          </a:xfrm>
          <a:prstGeom prst="rect">
            <a:avLst/>
          </a:prstGeom>
          <a:solidFill>
            <a:srgbClr val="F3F8F9"/>
          </a:solidFill>
          <a:ln w="9525">
            <a:solidFill>
              <a:srgbClr val="9DB8BC"/>
            </a:solidFill>
          </a:ln>
        </p:spPr>
        <p:txBody>
          <a:bodyPr wrap="square" lIns="54864" tIns="54864" rIns="54864" bIns="54864" anchor="ctr" rtlCol="0">
            <a:normAutofit/>
          </a:bodyPr>
          <a:lstStyle/>
          <a:p>
            <a:pPr algn="l">
              <a:buNone/>
            </a:pPr>
            <a:r>
              <a:rPr lang="en-GB" sz="1100" b="1" i="0" dirty="0">
                <a:solidFill>
                  <a:srgbClr val="1A1A1A"/>
                </a:solidFill>
                <a:latin typeface="Arial"/>
                <a:cs typeface="Arial"/>
              </a:rPr>
              <a:t>1 Articulation</a:t>
            </a:r>
            <a:endParaRPr lang="en-GB" sz="1100" dirty="0"/>
          </a:p>
        </p:txBody>
      </p:sp>
      <p:sp>
        <p:nvSpPr>
          <p:cNvPr id="33" name="Shape 33"/>
          <p:cNvSpPr/>
          <p:nvPr/>
        </p:nvSpPr>
        <p:spPr>
          <a:xfrm>
            <a:off x="5029200" y="2670048"/>
            <a:ext cx="1783080" cy="896112"/>
          </a:xfrm>
          <a:prstGeom prst="rect">
            <a:avLst/>
          </a:prstGeom>
          <a:solidFill>
            <a:srgbClr val="F3F8F9"/>
          </a:solidFill>
          <a:ln w="9525">
            <a:solidFill>
              <a:srgbClr val="9DB8BC"/>
            </a:solidFill>
          </a:ln>
        </p:spPr>
        <p:txBody>
          <a:bodyPr wrap="square" lIns="54864" tIns="54864" rIns="54864" bIns="54864" anchor="ctr" rtlCol="0">
            <a:normAutofit/>
          </a:bodyPr>
          <a:lstStyle/>
          <a:p>
            <a:pPr algn="l">
              <a:buNone/>
            </a:pPr>
            <a:r>
              <a:rPr lang="en-GB" sz="1000" b="0" i="0" dirty="0">
                <a:solidFill>
                  <a:srgbClr val="1A1A1A"/>
                </a:solidFill>
                <a:latin typeface="Arial"/>
                <a:cs typeface="Arial"/>
              </a:rPr>
              <a:t/>
            </a:r>
            <a:endParaRPr lang="en-GB" sz="1000" dirty="0"/>
          </a:p>
        </p:txBody>
      </p:sp>
      <p:sp>
        <p:nvSpPr>
          <p:cNvPr id="34" name="Shape 34"/>
          <p:cNvSpPr/>
          <p:nvPr/>
        </p:nvSpPr>
        <p:spPr>
          <a:xfrm>
            <a:off x="6812280" y="2670048"/>
            <a:ext cx="1737360" cy="896112"/>
          </a:xfrm>
          <a:prstGeom prst="rect">
            <a:avLst/>
          </a:prstGeom>
          <a:solidFill>
            <a:srgbClr val="F3F8F9"/>
          </a:solidFill>
          <a:ln w="9525">
            <a:solidFill>
              <a:srgbClr val="9DB8BC"/>
            </a:solidFill>
          </a:ln>
        </p:spPr>
        <p:txBody>
          <a:bodyPr wrap="square" lIns="54864" tIns="54864" rIns="54864" bIns="54864" anchor="ctr" rtlCol="0">
            <a:normAutofit/>
          </a:bodyPr>
          <a:lstStyle/>
          <a:p>
            <a:pPr algn="l">
              <a:buNone/>
            </a:pPr>
            <a:r>
              <a:rPr lang="en-GB" sz="1000" b="0" i="0" dirty="0">
                <a:solidFill>
                  <a:srgbClr val="1A1A1A"/>
                </a:solidFill>
                <a:latin typeface="Arial"/>
                <a:cs typeface="Arial"/>
              </a:rPr>
              <a:t/>
            </a:r>
            <a:endParaRPr lang="en-GB" sz="1000" dirty="0"/>
          </a:p>
        </p:txBody>
      </p:sp>
      <p:sp>
        <p:nvSpPr>
          <p:cNvPr id="35" name="Shape 35"/>
          <p:cNvSpPr/>
          <p:nvPr/>
        </p:nvSpPr>
        <p:spPr>
          <a:xfrm>
            <a:off x="3794760" y="3566160"/>
            <a:ext cx="1234440" cy="896112"/>
          </a:xfrm>
          <a:prstGeom prst="rect">
            <a:avLst/>
          </a:prstGeom>
          <a:solidFill>
            <a:srgbClr val="FFFFFF"/>
          </a:solidFill>
          <a:ln w="9525">
            <a:solidFill>
              <a:srgbClr val="9DB8BC"/>
            </a:solidFill>
          </a:ln>
        </p:spPr>
        <p:txBody>
          <a:bodyPr wrap="square" lIns="54864" tIns="54864" rIns="54864" bIns="54864" anchor="ctr" rtlCol="0">
            <a:normAutofit/>
          </a:bodyPr>
          <a:lstStyle/>
          <a:p>
            <a:pPr algn="l">
              <a:buNone/>
            </a:pPr>
            <a:r>
              <a:rPr lang="en-GB" sz="1100" b="1" i="0" dirty="0">
                <a:solidFill>
                  <a:srgbClr val="1A1A1A"/>
                </a:solidFill>
                <a:latin typeface="Arial"/>
                <a:cs typeface="Arial"/>
              </a:rPr>
              <a:t>2 Performance</a:t>
            </a:r>
            <a:endParaRPr lang="en-GB" sz="1100" dirty="0"/>
          </a:p>
        </p:txBody>
      </p:sp>
      <p:sp>
        <p:nvSpPr>
          <p:cNvPr id="36" name="Shape 36"/>
          <p:cNvSpPr/>
          <p:nvPr/>
        </p:nvSpPr>
        <p:spPr>
          <a:xfrm>
            <a:off x="5029200" y="3566160"/>
            <a:ext cx="1783080" cy="896112"/>
          </a:xfrm>
          <a:prstGeom prst="rect">
            <a:avLst/>
          </a:prstGeom>
          <a:solidFill>
            <a:srgbClr val="FFFFFF"/>
          </a:solidFill>
          <a:ln w="9525">
            <a:solidFill>
              <a:srgbClr val="9DB8BC"/>
            </a:solidFill>
          </a:ln>
        </p:spPr>
        <p:txBody>
          <a:bodyPr wrap="square" lIns="54864" tIns="54864" rIns="54864" bIns="54864" anchor="ctr" rtlCol="0">
            <a:normAutofit/>
          </a:bodyPr>
          <a:lstStyle/>
          <a:p>
            <a:pPr algn="l">
              <a:buNone/>
            </a:pPr>
            <a:r>
              <a:rPr lang="en-GB" sz="1000" b="0" i="0" dirty="0">
                <a:solidFill>
                  <a:srgbClr val="1A1A1A"/>
                </a:solidFill>
                <a:latin typeface="Arial"/>
                <a:cs typeface="Arial"/>
              </a:rPr>
              <a:t/>
            </a:r>
            <a:endParaRPr lang="en-GB" sz="1000" dirty="0"/>
          </a:p>
        </p:txBody>
      </p:sp>
      <p:sp>
        <p:nvSpPr>
          <p:cNvPr id="37" name="Shape 37"/>
          <p:cNvSpPr/>
          <p:nvPr/>
        </p:nvSpPr>
        <p:spPr>
          <a:xfrm>
            <a:off x="6812280" y="3566160"/>
            <a:ext cx="1737360" cy="896112"/>
          </a:xfrm>
          <a:prstGeom prst="rect">
            <a:avLst/>
          </a:prstGeom>
          <a:solidFill>
            <a:srgbClr val="FFFFFF"/>
          </a:solidFill>
          <a:ln w="9525">
            <a:solidFill>
              <a:srgbClr val="9DB8BC"/>
            </a:solidFill>
          </a:ln>
        </p:spPr>
        <p:txBody>
          <a:bodyPr wrap="square" lIns="54864" tIns="54864" rIns="54864" bIns="54864" anchor="ctr" rtlCol="0">
            <a:normAutofit/>
          </a:bodyPr>
          <a:lstStyle/>
          <a:p>
            <a:pPr algn="l">
              <a:buNone/>
            </a:pPr>
            <a:r>
              <a:rPr lang="en-GB" sz="1000" b="0" i="0" dirty="0">
                <a:solidFill>
                  <a:srgbClr val="1A1A1A"/>
                </a:solidFill>
                <a:latin typeface="Arial"/>
                <a:cs typeface="Arial"/>
              </a:rPr>
              <a:t/>
            </a:r>
            <a:endParaRPr lang="en-GB" sz="1000" dirty="0"/>
          </a:p>
        </p:txBody>
      </p:sp>
      <p:sp>
        <p:nvSpPr>
          <p:cNvPr id="38" name="Shape 38"/>
          <p:cNvSpPr/>
          <p:nvPr/>
        </p:nvSpPr>
        <p:spPr>
          <a:xfrm>
            <a:off x="3794760" y="4462272"/>
            <a:ext cx="1234440" cy="896112"/>
          </a:xfrm>
          <a:prstGeom prst="rect">
            <a:avLst/>
          </a:prstGeom>
          <a:solidFill>
            <a:srgbClr val="F3F8F9"/>
          </a:solidFill>
          <a:ln w="9525">
            <a:solidFill>
              <a:srgbClr val="9DB8BC"/>
            </a:solidFill>
          </a:ln>
        </p:spPr>
        <p:txBody>
          <a:bodyPr wrap="square" lIns="54864" tIns="54864" rIns="54864" bIns="54864" anchor="ctr" rtlCol="0">
            <a:normAutofit/>
          </a:bodyPr>
          <a:lstStyle/>
          <a:p>
            <a:pPr algn="l">
              <a:buNone/>
            </a:pPr>
            <a:r>
              <a:rPr lang="en-GB" sz="1100" b="1" i="0" dirty="0">
                <a:solidFill>
                  <a:srgbClr val="1A1A1A"/>
                </a:solidFill>
                <a:latin typeface="Arial"/>
                <a:cs typeface="Arial"/>
              </a:rPr>
              <a:t>3 Presentation</a:t>
            </a:r>
            <a:endParaRPr lang="en-GB" sz="1100" dirty="0"/>
          </a:p>
        </p:txBody>
      </p:sp>
      <p:sp>
        <p:nvSpPr>
          <p:cNvPr id="39" name="Shape 39"/>
          <p:cNvSpPr/>
          <p:nvPr/>
        </p:nvSpPr>
        <p:spPr>
          <a:xfrm>
            <a:off x="5029200" y="4462272"/>
            <a:ext cx="1783080" cy="896112"/>
          </a:xfrm>
          <a:prstGeom prst="rect">
            <a:avLst/>
          </a:prstGeom>
          <a:solidFill>
            <a:srgbClr val="F3F8F9"/>
          </a:solidFill>
          <a:ln w="9525">
            <a:solidFill>
              <a:srgbClr val="9DB8BC"/>
            </a:solidFill>
          </a:ln>
        </p:spPr>
        <p:txBody>
          <a:bodyPr wrap="square" lIns="54864" tIns="54864" rIns="54864" bIns="54864" anchor="ctr" rtlCol="0">
            <a:normAutofit/>
          </a:bodyPr>
          <a:lstStyle/>
          <a:p>
            <a:pPr algn="l">
              <a:buNone/>
            </a:pPr>
            <a:r>
              <a:rPr lang="en-GB" sz="1000" b="0" i="0" dirty="0">
                <a:solidFill>
                  <a:srgbClr val="1A1A1A"/>
                </a:solidFill>
                <a:latin typeface="Arial"/>
                <a:cs typeface="Arial"/>
              </a:rPr>
              <a:t/>
            </a:r>
            <a:endParaRPr lang="en-GB" sz="1000" dirty="0"/>
          </a:p>
        </p:txBody>
      </p:sp>
      <p:sp>
        <p:nvSpPr>
          <p:cNvPr id="40" name="Shape 40"/>
          <p:cNvSpPr/>
          <p:nvPr/>
        </p:nvSpPr>
        <p:spPr>
          <a:xfrm>
            <a:off x="6812280" y="4462272"/>
            <a:ext cx="1737360" cy="896112"/>
          </a:xfrm>
          <a:prstGeom prst="rect">
            <a:avLst/>
          </a:prstGeom>
          <a:solidFill>
            <a:srgbClr val="F3F8F9"/>
          </a:solidFill>
          <a:ln w="9525">
            <a:solidFill>
              <a:srgbClr val="9DB8BC"/>
            </a:solidFill>
          </a:ln>
        </p:spPr>
        <p:txBody>
          <a:bodyPr wrap="square" lIns="54864" tIns="54864" rIns="54864" bIns="54864" anchor="ctr" rtlCol="0">
            <a:normAutofit/>
          </a:bodyPr>
          <a:lstStyle/>
          <a:p>
            <a:pPr algn="l">
              <a:buNone/>
            </a:pPr>
            <a:r>
              <a:rPr lang="en-GB" sz="1000" b="0" i="0" dirty="0">
                <a:solidFill>
                  <a:srgbClr val="1A1A1A"/>
                </a:solidFill>
                <a:latin typeface="Arial"/>
                <a:cs typeface="Arial"/>
              </a:rPr>
              <a:t/>
            </a:r>
            <a:endParaRPr lang="en-GB" sz="1000" dirty="0"/>
          </a:p>
        </p:txBody>
      </p:sp>
      <p:sp>
        <p:nvSpPr>
          <p:cNvPr id="41" name="Shape 41"/>
          <p:cNvSpPr/>
          <p:nvPr/>
        </p:nvSpPr>
        <p:spPr>
          <a:xfrm>
            <a:off x="3794760" y="5358384"/>
            <a:ext cx="1234440" cy="896112"/>
          </a:xfrm>
          <a:prstGeom prst="rect">
            <a:avLst/>
          </a:prstGeom>
          <a:solidFill>
            <a:srgbClr val="FFFFFF"/>
          </a:solidFill>
          <a:ln w="9525">
            <a:solidFill>
              <a:srgbClr val="9DB8BC"/>
            </a:solidFill>
          </a:ln>
        </p:spPr>
        <p:txBody>
          <a:bodyPr wrap="square" lIns="54864" tIns="54864" rIns="54864" bIns="54864" anchor="ctr" rtlCol="0">
            <a:normAutofit/>
          </a:bodyPr>
          <a:lstStyle/>
          <a:p>
            <a:pPr algn="l">
              <a:buNone/>
            </a:pPr>
            <a:r>
              <a:rPr lang="en-GB" sz="1100" b="1" i="0" dirty="0">
                <a:solidFill>
                  <a:srgbClr val="1A1A1A"/>
                </a:solidFill>
                <a:latin typeface="Arial"/>
                <a:cs typeface="Arial"/>
              </a:rPr>
              <a:t>4 Observation</a:t>
            </a:r>
            <a:endParaRPr lang="en-GB" sz="1100" dirty="0"/>
          </a:p>
        </p:txBody>
      </p:sp>
      <p:sp>
        <p:nvSpPr>
          <p:cNvPr id="42" name="Shape 42"/>
          <p:cNvSpPr/>
          <p:nvPr/>
        </p:nvSpPr>
        <p:spPr>
          <a:xfrm>
            <a:off x="5029200" y="5358384"/>
            <a:ext cx="1783080" cy="896112"/>
          </a:xfrm>
          <a:prstGeom prst="rect">
            <a:avLst/>
          </a:prstGeom>
          <a:solidFill>
            <a:srgbClr val="FFFFFF"/>
          </a:solidFill>
          <a:ln w="9525">
            <a:solidFill>
              <a:srgbClr val="9DB8BC"/>
            </a:solidFill>
          </a:ln>
        </p:spPr>
        <p:txBody>
          <a:bodyPr wrap="square" lIns="54864" tIns="54864" rIns="54864" bIns="54864" anchor="ctr" rtlCol="0">
            <a:normAutofit/>
          </a:bodyPr>
          <a:lstStyle/>
          <a:p>
            <a:pPr algn="l">
              <a:buNone/>
            </a:pPr>
            <a:r>
              <a:rPr lang="en-GB" sz="1000" b="0" i="0" dirty="0">
                <a:solidFill>
                  <a:srgbClr val="1A1A1A"/>
                </a:solidFill>
                <a:latin typeface="Arial"/>
                <a:cs typeface="Arial"/>
              </a:rPr>
              <a:t/>
            </a:r>
            <a:endParaRPr lang="en-GB" sz="1000" dirty="0"/>
          </a:p>
        </p:txBody>
      </p:sp>
      <p:sp>
        <p:nvSpPr>
          <p:cNvPr id="43" name="Shape 43"/>
          <p:cNvSpPr/>
          <p:nvPr/>
        </p:nvSpPr>
        <p:spPr>
          <a:xfrm>
            <a:off x="6812280" y="5358384"/>
            <a:ext cx="1737360" cy="896112"/>
          </a:xfrm>
          <a:prstGeom prst="rect">
            <a:avLst/>
          </a:prstGeom>
          <a:solidFill>
            <a:srgbClr val="FFFFFF"/>
          </a:solidFill>
          <a:ln w="9525">
            <a:solidFill>
              <a:srgbClr val="9DB8BC"/>
            </a:solidFill>
          </a:ln>
        </p:spPr>
        <p:txBody>
          <a:bodyPr wrap="square" lIns="54864" tIns="54864" rIns="54864" bIns="54864" anchor="ctr" rtlCol="0">
            <a:normAutofit/>
          </a:bodyPr>
          <a:lstStyle/>
          <a:p>
            <a:pPr algn="l">
              <a:buNone/>
            </a:pPr>
            <a:r>
              <a:rPr lang="en-GB" sz="1000" b="0" i="0" dirty="0">
                <a:solidFill>
                  <a:srgbClr val="1A1A1A"/>
                </a:solidFill>
                <a:latin typeface="Arial"/>
                <a:cs typeface="Arial"/>
              </a:rPr>
              <a:t/>
            </a:r>
            <a:endParaRPr lang="en-GB" sz="10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200" b="0" i="0" dirty="0">
                <a:solidFill>
                  <a:srgbClr val="2D2D8A"/>
                </a:solidFill>
                <a:latin typeface="Arial"/>
                <a:cs typeface="Arial"/>
              </a:rPr>
              <a:t>Book a ride: trace the translations</a:t>
            </a:r>
          </a:p>
        </p:txBody>
      </p:sp>
      <p:sp>
        <p:nvSpPr>
          <p:cNvPr id="11" name="Shape 11"/>
          <p:cNvSpPr/>
          <p:nvPr/>
        </p:nvSpPr>
        <p:spPr>
          <a:xfrm>
            <a:off x="548640" y="1810512"/>
            <a:ext cx="873252" cy="310896"/>
          </a:xfrm>
          <a:prstGeom prst="roundRect">
            <a:avLst>
              <a:gd name="adj" fmla="val 50000"/>
            </a:avLst>
          </a:prstGeom>
          <a:solidFill>
            <a:srgbClr val="404040"/>
          </a:solidFill>
          <a:ln>
            <a:noFill/>
          </a:ln>
        </p:spPr>
        <p:txBody>
          <a:bodyPr wrap="square" lIns="27432" tIns="27432" rIns="27432" bIns="27432" anchor="ctr" rtlCol="0">
            <a:normAutofit/>
          </a:bodyPr>
          <a:lstStyle/>
          <a:p>
            <a:pPr algn="ctr">
              <a:buNone/>
            </a:pPr>
            <a:r>
              <a:rPr lang="en-GB" sz="1100" b="1" i="0" dirty="0">
                <a:solidFill>
                  <a:srgbClr val="FFFFFF"/>
                </a:solidFill>
                <a:latin typeface="Arial"/>
                <a:cs typeface="Arial"/>
              </a:rPr>
              <a:t>ANSWERS</a:t>
            </a:r>
            <a:endParaRPr lang="en-GB" sz="1100" dirty="0"/>
          </a:p>
        </p:txBody>
      </p:sp>
      <p:sp>
        <p:nvSpPr>
          <p:cNvPr id="12" name="Shape 12"/>
          <p:cNvSpPr txBox="1"/>
          <p:nvPr/>
        </p:nvSpPr>
        <p:spPr>
          <a:xfrm>
            <a:off x="1531620" y="1810512"/>
            <a:ext cx="5486400" cy="310896"/>
          </a:xfrm>
          <a:prstGeom prst="rect">
            <a:avLst/>
          </a:prstGeom>
          <a:noFill/>
          <a:ln>
            <a:noFill/>
          </a:ln>
        </p:spPr>
        <p:txBody>
          <a:bodyPr wrap="square" lIns="18288" tIns="18288" rIns="18288" bIns="18288" anchor="ctr" rtlCol="0">
            <a:normAutofit/>
          </a:bodyPr>
          <a:lstStyle/>
          <a:p>
            <a:pPr algn="l">
              <a:buNone/>
            </a:pPr>
            <a:r>
              <a:rPr lang="en-GB" sz="1200" b="0" i="1" dirty="0">
                <a:solidFill>
                  <a:srgbClr val="595959"/>
                </a:solidFill>
                <a:latin typeface="Arial"/>
                <a:cs typeface="Arial"/>
              </a:rPr>
              <a:t>one group’s answer</a:t>
            </a:r>
            <a:endParaRPr lang="en-GB" sz="1200" dirty="0"/>
          </a:p>
        </p:txBody>
      </p:sp>
      <p:sp>
        <p:nvSpPr>
          <p:cNvPr id="13" name="Shape 13"/>
          <p:cNvSpPr/>
          <p:nvPr/>
        </p:nvSpPr>
        <p:spPr>
          <a:xfrm>
            <a:off x="338328" y="3813048"/>
            <a:ext cx="694944" cy="694944"/>
          </a:xfrm>
          <a:prstGeom prst="ellipse">
            <a:avLst/>
          </a:prstGeom>
          <a:solidFill>
            <a:srgbClr val="333399"/>
          </a:solidFill>
          <a:ln>
            <a:noFill/>
          </a:ln>
        </p:spPr>
        <p:txBody>
          <a:bodyPr wrap="square" lIns="0" tIns="0" rIns="0" bIns="0" anchor="ctr" rtlCol="0">
            <a:normAutofit/>
          </a:bodyPr>
          <a:lstStyle/>
          <a:p>
            <a:pPr algn="ctr">
              <a:buNone/>
            </a:pPr>
            <a:r>
              <a:rPr lang="en-GB" sz="1800" b="1" i="0" dirty="0">
                <a:solidFill>
                  <a:srgbClr val="FFFFFF"/>
                </a:solidFill>
                <a:latin typeface="Arial"/>
                <a:cs typeface="Arial"/>
              </a:rPr>
              <a:t>S</a:t>
            </a:r>
            <a:endParaRPr lang="en-GB" sz="1800" dirty="0"/>
          </a:p>
        </p:txBody>
      </p:sp>
      <p:sp>
        <p:nvSpPr>
          <p:cNvPr id="14" name="Shape 14"/>
          <p:cNvSpPr txBox="1"/>
          <p:nvPr/>
        </p:nvSpPr>
        <p:spPr>
          <a:xfrm>
            <a:off x="137160" y="4526280"/>
            <a:ext cx="1097280" cy="256032"/>
          </a:xfrm>
          <a:prstGeom prst="rect">
            <a:avLst/>
          </a:prstGeom>
          <a:noFill/>
          <a:ln>
            <a:noFill/>
          </a:ln>
        </p:spPr>
        <p:txBody>
          <a:bodyPr wrap="square" lIns="18288" tIns="18288" rIns="18288" bIns="18288" anchor="t" rtlCol="0">
            <a:normAutofit/>
          </a:bodyPr>
          <a:lstStyle/>
          <a:p>
            <a:pPr algn="ctr">
              <a:buNone/>
            </a:pPr>
            <a:r>
              <a:rPr lang="en-GB" sz="1000" b="0" i="0" dirty="0">
                <a:solidFill>
                  <a:srgbClr val="595959"/>
                </a:solidFill>
                <a:latin typeface="Arial"/>
                <a:cs typeface="Arial"/>
              </a:rPr>
              <a:t>System</a:t>
            </a:r>
            <a:endParaRPr lang="en-GB" sz="1000" dirty="0"/>
          </a:p>
        </p:txBody>
      </p:sp>
      <p:sp>
        <p:nvSpPr>
          <p:cNvPr id="15" name="Shape 15"/>
          <p:cNvSpPr/>
          <p:nvPr/>
        </p:nvSpPr>
        <p:spPr>
          <a:xfrm>
            <a:off x="1618488" y="2578608"/>
            <a:ext cx="694944" cy="694944"/>
          </a:xfrm>
          <a:prstGeom prst="ellipse">
            <a:avLst/>
          </a:prstGeom>
          <a:solidFill>
            <a:srgbClr val="333399"/>
          </a:solidFill>
          <a:ln>
            <a:noFill/>
          </a:ln>
        </p:spPr>
        <p:txBody>
          <a:bodyPr wrap="square" lIns="0" tIns="0" rIns="0" bIns="0" anchor="ctr" rtlCol="0">
            <a:normAutofit/>
          </a:bodyPr>
          <a:lstStyle/>
          <a:p>
            <a:pPr algn="ctr">
              <a:buNone/>
            </a:pPr>
            <a:r>
              <a:rPr lang="en-GB" sz="1800" b="1" i="0" dirty="0">
                <a:solidFill>
                  <a:srgbClr val="FFFFFF"/>
                </a:solidFill>
                <a:latin typeface="Arial"/>
                <a:cs typeface="Arial"/>
              </a:rPr>
              <a:t>O</a:t>
            </a:r>
            <a:endParaRPr lang="en-GB" sz="1800" dirty="0"/>
          </a:p>
        </p:txBody>
      </p:sp>
      <p:sp>
        <p:nvSpPr>
          <p:cNvPr id="16" name="Shape 16"/>
          <p:cNvSpPr txBox="1"/>
          <p:nvPr/>
        </p:nvSpPr>
        <p:spPr>
          <a:xfrm>
            <a:off x="1417320" y="3291840"/>
            <a:ext cx="1097280" cy="256032"/>
          </a:xfrm>
          <a:prstGeom prst="rect">
            <a:avLst/>
          </a:prstGeom>
          <a:noFill/>
          <a:ln>
            <a:noFill/>
          </a:ln>
        </p:spPr>
        <p:txBody>
          <a:bodyPr wrap="square" lIns="18288" tIns="18288" rIns="18288" bIns="18288" anchor="t" rtlCol="0">
            <a:normAutofit/>
          </a:bodyPr>
          <a:lstStyle/>
          <a:p>
            <a:pPr algn="ctr">
              <a:buNone/>
            </a:pPr>
            <a:r>
              <a:rPr lang="en-GB" sz="1000" b="0" i="0" dirty="0">
                <a:solidFill>
                  <a:srgbClr val="595959"/>
                </a:solidFill>
                <a:latin typeface="Arial"/>
                <a:cs typeface="Arial"/>
              </a:rPr>
              <a:t>Output</a:t>
            </a:r>
            <a:endParaRPr lang="en-GB" sz="1000" dirty="0"/>
          </a:p>
        </p:txBody>
      </p:sp>
      <p:sp>
        <p:nvSpPr>
          <p:cNvPr id="17" name="Shape 17"/>
          <p:cNvSpPr/>
          <p:nvPr/>
        </p:nvSpPr>
        <p:spPr>
          <a:xfrm>
            <a:off x="2898648" y="3813048"/>
            <a:ext cx="694944" cy="694944"/>
          </a:xfrm>
          <a:prstGeom prst="ellipse">
            <a:avLst/>
          </a:prstGeom>
          <a:solidFill>
            <a:srgbClr val="333399"/>
          </a:solidFill>
          <a:ln>
            <a:noFill/>
          </a:ln>
        </p:spPr>
        <p:txBody>
          <a:bodyPr wrap="square" lIns="0" tIns="0" rIns="0" bIns="0" anchor="ctr" rtlCol="0">
            <a:normAutofit/>
          </a:bodyPr>
          <a:lstStyle/>
          <a:p>
            <a:pPr algn="ctr">
              <a:buNone/>
            </a:pPr>
            <a:r>
              <a:rPr lang="en-GB" sz="1800" b="1" i="0" dirty="0">
                <a:solidFill>
                  <a:srgbClr val="FFFFFF"/>
                </a:solidFill>
                <a:latin typeface="Arial"/>
                <a:cs typeface="Arial"/>
              </a:rPr>
              <a:t>U</a:t>
            </a:r>
            <a:endParaRPr lang="en-GB" sz="1800" dirty="0"/>
          </a:p>
        </p:txBody>
      </p:sp>
      <p:sp>
        <p:nvSpPr>
          <p:cNvPr id="18" name="Shape 18"/>
          <p:cNvSpPr txBox="1"/>
          <p:nvPr/>
        </p:nvSpPr>
        <p:spPr>
          <a:xfrm>
            <a:off x="2697480" y="4526280"/>
            <a:ext cx="1097280" cy="256032"/>
          </a:xfrm>
          <a:prstGeom prst="rect">
            <a:avLst/>
          </a:prstGeom>
          <a:noFill/>
          <a:ln>
            <a:noFill/>
          </a:ln>
        </p:spPr>
        <p:txBody>
          <a:bodyPr wrap="square" lIns="18288" tIns="18288" rIns="18288" bIns="18288" anchor="t" rtlCol="0">
            <a:normAutofit/>
          </a:bodyPr>
          <a:lstStyle/>
          <a:p>
            <a:pPr algn="ctr">
              <a:buNone/>
            </a:pPr>
            <a:r>
              <a:rPr lang="en-GB" sz="1000" b="0" i="0" dirty="0">
                <a:solidFill>
                  <a:srgbClr val="595959"/>
                </a:solidFill>
                <a:latin typeface="Arial"/>
                <a:cs typeface="Arial"/>
              </a:rPr>
              <a:t>User</a:t>
            </a:r>
            <a:endParaRPr lang="en-GB" sz="1000" dirty="0"/>
          </a:p>
        </p:txBody>
      </p:sp>
      <p:sp>
        <p:nvSpPr>
          <p:cNvPr id="19" name="Shape 19"/>
          <p:cNvSpPr/>
          <p:nvPr/>
        </p:nvSpPr>
        <p:spPr>
          <a:xfrm>
            <a:off x="1618488" y="5047488"/>
            <a:ext cx="694944" cy="694944"/>
          </a:xfrm>
          <a:prstGeom prst="ellipse">
            <a:avLst/>
          </a:prstGeom>
          <a:solidFill>
            <a:srgbClr val="333399"/>
          </a:solidFill>
          <a:ln>
            <a:noFill/>
          </a:ln>
        </p:spPr>
        <p:txBody>
          <a:bodyPr wrap="square" lIns="0" tIns="0" rIns="0" bIns="0" anchor="ctr" rtlCol="0">
            <a:normAutofit/>
          </a:bodyPr>
          <a:lstStyle/>
          <a:p>
            <a:pPr algn="ctr">
              <a:buNone/>
            </a:pPr>
            <a:r>
              <a:rPr lang="en-GB" sz="1800" b="1" i="0" dirty="0">
                <a:solidFill>
                  <a:srgbClr val="FFFFFF"/>
                </a:solidFill>
                <a:latin typeface="Arial"/>
                <a:cs typeface="Arial"/>
              </a:rPr>
              <a:t>I</a:t>
            </a:r>
            <a:endParaRPr lang="en-GB" sz="1800" dirty="0"/>
          </a:p>
        </p:txBody>
      </p:sp>
      <p:sp>
        <p:nvSpPr>
          <p:cNvPr id="20" name="Shape 20"/>
          <p:cNvSpPr txBox="1"/>
          <p:nvPr/>
        </p:nvSpPr>
        <p:spPr>
          <a:xfrm>
            <a:off x="1417320" y="5760720"/>
            <a:ext cx="1097280" cy="256032"/>
          </a:xfrm>
          <a:prstGeom prst="rect">
            <a:avLst/>
          </a:prstGeom>
          <a:noFill/>
          <a:ln>
            <a:noFill/>
          </a:ln>
        </p:spPr>
        <p:txBody>
          <a:bodyPr wrap="square" lIns="18288" tIns="18288" rIns="18288" bIns="18288" anchor="t" rtlCol="0">
            <a:normAutofit/>
          </a:bodyPr>
          <a:lstStyle/>
          <a:p>
            <a:pPr algn="ctr">
              <a:buNone/>
            </a:pPr>
            <a:r>
              <a:rPr lang="en-GB" sz="1000" b="0" i="0" dirty="0">
                <a:solidFill>
                  <a:srgbClr val="595959"/>
                </a:solidFill>
                <a:latin typeface="Arial"/>
                <a:cs typeface="Arial"/>
              </a:rPr>
              <a:t>Input</a:t>
            </a:r>
            <a:endParaRPr lang="en-GB" sz="1000" dirty="0"/>
          </a:p>
        </p:txBody>
      </p:sp>
      <p:cxnSp>
        <p:nvCxnSpPr>
          <p:cNvPr id="21" name="Line 21"/>
          <p:cNvCxnSpPr/>
          <p:nvPr/>
        </p:nvCxnSpPr>
        <p:spPr>
          <a:xfrm flipH="1">
            <a:off x="2262162" y="4446143"/>
            <a:ext cx="687757" cy="663194"/>
          </a:xfrm>
          <a:prstGeom prst="line">
            <a:avLst/>
          </a:prstGeom>
          <a:ln w="25400">
            <a:solidFill>
              <a:srgbClr val="B03A2E"/>
            </a:solidFill>
            <a:tailEnd type="triangle" w="med" len="med"/>
          </a:ln>
        </p:spPr>
      </p:cxnSp>
      <p:sp>
        <p:nvSpPr>
          <p:cNvPr id="22" name="Shape 22"/>
          <p:cNvSpPr/>
          <p:nvPr/>
        </p:nvSpPr>
        <p:spPr>
          <a:xfrm>
            <a:off x="2618415" y="4795992"/>
            <a:ext cx="292608" cy="292608"/>
          </a:xfrm>
          <a:prstGeom prst="ellipse">
            <a:avLst/>
          </a:prstGeom>
          <a:solidFill>
            <a:srgbClr val="B03A2E"/>
          </a:solidFill>
          <a:ln>
            <a:noFill/>
          </a:ln>
        </p:spPr>
        <p:txBody>
          <a:bodyPr wrap="square" lIns="0" tIns="0" rIns="0" bIns="0" anchor="ctr" rtlCol="0">
            <a:normAutofit/>
          </a:bodyPr>
          <a:lstStyle/>
          <a:p>
            <a:pPr algn="ctr">
              <a:buNone/>
            </a:pPr>
            <a:r>
              <a:rPr lang="en-GB" sz="1100" b="1" i="0" dirty="0">
                <a:solidFill>
                  <a:srgbClr val="FFFFFF"/>
                </a:solidFill>
                <a:latin typeface="Arial"/>
                <a:cs typeface="Arial"/>
              </a:rPr>
              <a:t>1</a:t>
            </a:r>
            <a:endParaRPr lang="en-GB" sz="1100" dirty="0"/>
          </a:p>
        </p:txBody>
      </p:sp>
      <p:cxnSp>
        <p:nvCxnSpPr>
          <p:cNvPr id="23" name="Line 23"/>
          <p:cNvCxnSpPr/>
          <p:nvPr/>
        </p:nvCxnSpPr>
        <p:spPr>
          <a:xfrm flipH="1" flipV="1">
            <a:off x="982002" y="4446143"/>
            <a:ext cx="687757" cy="663194"/>
          </a:xfrm>
          <a:prstGeom prst="line">
            <a:avLst/>
          </a:prstGeom>
          <a:ln w="25400">
            <a:solidFill>
              <a:srgbClr val="B03A2E"/>
            </a:solidFill>
            <a:tailEnd type="triangle" w="med" len="med"/>
          </a:ln>
        </p:spPr>
      </p:cxnSp>
      <p:sp>
        <p:nvSpPr>
          <p:cNvPr id="24" name="Shape 24"/>
          <p:cNvSpPr/>
          <p:nvPr/>
        </p:nvSpPr>
        <p:spPr>
          <a:xfrm>
            <a:off x="1020897" y="4795992"/>
            <a:ext cx="292608" cy="292608"/>
          </a:xfrm>
          <a:prstGeom prst="ellipse">
            <a:avLst/>
          </a:prstGeom>
          <a:solidFill>
            <a:srgbClr val="B03A2E"/>
          </a:solidFill>
          <a:ln>
            <a:noFill/>
          </a:ln>
        </p:spPr>
        <p:txBody>
          <a:bodyPr wrap="square" lIns="0" tIns="0" rIns="0" bIns="0" anchor="ctr" rtlCol="0">
            <a:normAutofit/>
          </a:bodyPr>
          <a:lstStyle/>
          <a:p>
            <a:pPr algn="ctr">
              <a:buNone/>
            </a:pPr>
            <a:r>
              <a:rPr lang="en-GB" sz="1100" b="1" i="0" dirty="0">
                <a:solidFill>
                  <a:srgbClr val="FFFFFF"/>
                </a:solidFill>
                <a:latin typeface="Arial"/>
                <a:cs typeface="Arial"/>
              </a:rPr>
              <a:t>2</a:t>
            </a:r>
            <a:endParaRPr lang="en-GB" sz="1100" dirty="0"/>
          </a:p>
        </p:txBody>
      </p:sp>
      <p:cxnSp>
        <p:nvCxnSpPr>
          <p:cNvPr id="25" name="Line 25"/>
          <p:cNvCxnSpPr/>
          <p:nvPr/>
        </p:nvCxnSpPr>
        <p:spPr>
          <a:xfrm flipV="1">
            <a:off x="982002" y="3211703"/>
            <a:ext cx="687757" cy="663194"/>
          </a:xfrm>
          <a:prstGeom prst="line">
            <a:avLst/>
          </a:prstGeom>
          <a:ln w="25400">
            <a:solidFill>
              <a:srgbClr val="B03A2E"/>
            </a:solidFill>
            <a:tailEnd type="triangle" w="med" len="med"/>
          </a:ln>
        </p:spPr>
      </p:cxnSp>
      <p:sp>
        <p:nvSpPr>
          <p:cNvPr id="26" name="Shape 26"/>
          <p:cNvSpPr/>
          <p:nvPr/>
        </p:nvSpPr>
        <p:spPr>
          <a:xfrm>
            <a:off x="1020897" y="3232440"/>
            <a:ext cx="292608" cy="292608"/>
          </a:xfrm>
          <a:prstGeom prst="ellipse">
            <a:avLst/>
          </a:prstGeom>
          <a:solidFill>
            <a:srgbClr val="B03A2E"/>
          </a:solidFill>
          <a:ln>
            <a:noFill/>
          </a:ln>
        </p:spPr>
        <p:txBody>
          <a:bodyPr wrap="square" lIns="0" tIns="0" rIns="0" bIns="0" anchor="ctr" rtlCol="0">
            <a:normAutofit/>
          </a:bodyPr>
          <a:lstStyle/>
          <a:p>
            <a:pPr algn="ctr">
              <a:buNone/>
            </a:pPr>
            <a:r>
              <a:rPr lang="en-GB" sz="1100" b="1" i="0" dirty="0">
                <a:solidFill>
                  <a:srgbClr val="FFFFFF"/>
                </a:solidFill>
                <a:latin typeface="Arial"/>
                <a:cs typeface="Arial"/>
              </a:rPr>
              <a:t>3</a:t>
            </a:r>
            <a:endParaRPr lang="en-GB" sz="1100" dirty="0"/>
          </a:p>
        </p:txBody>
      </p:sp>
      <p:cxnSp>
        <p:nvCxnSpPr>
          <p:cNvPr id="27" name="Line 27"/>
          <p:cNvCxnSpPr/>
          <p:nvPr/>
        </p:nvCxnSpPr>
        <p:spPr>
          <a:xfrm>
            <a:off x="2262162" y="3211703"/>
            <a:ext cx="687757" cy="663194"/>
          </a:xfrm>
          <a:prstGeom prst="line">
            <a:avLst/>
          </a:prstGeom>
          <a:ln w="25400">
            <a:solidFill>
              <a:srgbClr val="B03A2E"/>
            </a:solidFill>
            <a:tailEnd type="triangle" w="med" len="med"/>
          </a:ln>
        </p:spPr>
      </p:cxnSp>
      <p:sp>
        <p:nvSpPr>
          <p:cNvPr id="28" name="Shape 28"/>
          <p:cNvSpPr/>
          <p:nvPr/>
        </p:nvSpPr>
        <p:spPr>
          <a:xfrm>
            <a:off x="2618415" y="3232440"/>
            <a:ext cx="292608" cy="292608"/>
          </a:xfrm>
          <a:prstGeom prst="ellipse">
            <a:avLst/>
          </a:prstGeom>
          <a:solidFill>
            <a:srgbClr val="B03A2E"/>
          </a:solidFill>
          <a:ln>
            <a:noFill/>
          </a:ln>
        </p:spPr>
        <p:txBody>
          <a:bodyPr wrap="square" lIns="0" tIns="0" rIns="0" bIns="0" anchor="ctr" rtlCol="0">
            <a:normAutofit/>
          </a:bodyPr>
          <a:lstStyle/>
          <a:p>
            <a:pPr algn="ctr">
              <a:buNone/>
            </a:pPr>
            <a:r>
              <a:rPr lang="en-GB" sz="1100" b="1" i="0" dirty="0">
                <a:solidFill>
                  <a:srgbClr val="FFFFFF"/>
                </a:solidFill>
                <a:latin typeface="Arial"/>
                <a:cs typeface="Arial"/>
              </a:rPr>
              <a:t>4</a:t>
            </a:r>
            <a:endParaRPr lang="en-GB" sz="1100" dirty="0"/>
          </a:p>
        </p:txBody>
      </p:sp>
      <p:sp>
        <p:nvSpPr>
          <p:cNvPr id="29" name="Shape 29"/>
          <p:cNvSpPr/>
          <p:nvPr/>
        </p:nvSpPr>
        <p:spPr>
          <a:xfrm>
            <a:off x="3794760" y="2286000"/>
            <a:ext cx="1234440" cy="384048"/>
          </a:xfrm>
          <a:prstGeom prst="rect">
            <a:avLst/>
          </a:prstGeom>
          <a:solidFill>
            <a:srgbClr val="B03A2E"/>
          </a:solidFill>
          <a:ln w="9525">
            <a:solidFill>
              <a:srgbClr val="9DB8BC"/>
            </a:solidFill>
          </a:ln>
        </p:spPr>
        <p:txBody>
          <a:bodyPr wrap="square" lIns="54864" tIns="54864" rIns="54864" bIns="54864" anchor="ctr" rtlCol="0">
            <a:normAutofit/>
          </a:bodyPr>
          <a:lstStyle/>
          <a:p>
            <a:pPr algn="l">
              <a:buNone/>
            </a:pPr>
            <a:r>
              <a:rPr lang="en-GB" sz="1100" b="1" i="0" dirty="0">
                <a:solidFill>
                  <a:srgbClr val="FFFFFF"/>
                </a:solidFill>
                <a:latin typeface="Arial"/>
                <a:cs typeface="Arial"/>
              </a:rPr>
              <a:t/>
            </a:r>
            <a:endParaRPr lang="en-GB" sz="1100" dirty="0"/>
          </a:p>
        </p:txBody>
      </p:sp>
      <p:sp>
        <p:nvSpPr>
          <p:cNvPr id="30" name="Shape 30"/>
          <p:cNvSpPr/>
          <p:nvPr/>
        </p:nvSpPr>
        <p:spPr>
          <a:xfrm>
            <a:off x="5029200" y="2286000"/>
            <a:ext cx="1783080" cy="384048"/>
          </a:xfrm>
          <a:prstGeom prst="rect">
            <a:avLst/>
          </a:prstGeom>
          <a:solidFill>
            <a:srgbClr val="B03A2E"/>
          </a:solidFill>
          <a:ln w="9525">
            <a:solidFill>
              <a:srgbClr val="9DB8BC"/>
            </a:solidFill>
          </a:ln>
        </p:spPr>
        <p:txBody>
          <a:bodyPr wrap="square" lIns="54864" tIns="54864" rIns="54864" bIns="54864" anchor="ctr" rtlCol="0">
            <a:normAutofit/>
          </a:bodyPr>
          <a:lstStyle/>
          <a:p>
            <a:pPr algn="l">
              <a:buNone/>
            </a:pPr>
            <a:r>
              <a:rPr lang="en-GB" sz="1100" b="1" i="0" dirty="0">
                <a:solidFill>
                  <a:srgbClr val="FFFFFF"/>
                </a:solidFill>
                <a:latin typeface="Arial"/>
                <a:cs typeface="Arial"/>
              </a:rPr>
              <a:t>What happens</a:t>
            </a:r>
            <a:endParaRPr lang="en-GB" sz="1100" dirty="0"/>
          </a:p>
        </p:txBody>
      </p:sp>
      <p:sp>
        <p:nvSpPr>
          <p:cNvPr id="31" name="Shape 31"/>
          <p:cNvSpPr/>
          <p:nvPr/>
        </p:nvSpPr>
        <p:spPr>
          <a:xfrm>
            <a:off x="6812280" y="2286000"/>
            <a:ext cx="1737360" cy="384048"/>
          </a:xfrm>
          <a:prstGeom prst="rect">
            <a:avLst/>
          </a:prstGeom>
          <a:solidFill>
            <a:srgbClr val="B03A2E"/>
          </a:solidFill>
          <a:ln w="9525">
            <a:solidFill>
              <a:srgbClr val="9DB8BC"/>
            </a:solidFill>
          </a:ln>
        </p:spPr>
        <p:txBody>
          <a:bodyPr wrap="square" lIns="54864" tIns="54864" rIns="54864" bIns="54864" anchor="ctr" rtlCol="0">
            <a:normAutofit/>
          </a:bodyPr>
          <a:lstStyle/>
          <a:p>
            <a:pPr algn="l">
              <a:buNone/>
            </a:pPr>
            <a:r>
              <a:rPr lang="en-GB" sz="1100" b="1" i="0" dirty="0">
                <a:solidFill>
                  <a:srgbClr val="FFFFFF"/>
                </a:solidFill>
                <a:latin typeface="Arial"/>
                <a:cs typeface="Arial"/>
              </a:rPr>
              <a:t>Where can it fail?</a:t>
            </a:r>
            <a:endParaRPr lang="en-GB" sz="1100" dirty="0"/>
          </a:p>
        </p:txBody>
      </p:sp>
      <p:sp>
        <p:nvSpPr>
          <p:cNvPr id="32" name="Shape 32"/>
          <p:cNvSpPr/>
          <p:nvPr/>
        </p:nvSpPr>
        <p:spPr>
          <a:xfrm>
            <a:off x="3794760" y="2670048"/>
            <a:ext cx="1234440" cy="896112"/>
          </a:xfrm>
          <a:prstGeom prst="rect">
            <a:avLst/>
          </a:prstGeom>
          <a:solidFill>
            <a:srgbClr val="F3F8F9"/>
          </a:solidFill>
          <a:ln w="9525">
            <a:solidFill>
              <a:srgbClr val="9DB8BC"/>
            </a:solidFill>
          </a:ln>
        </p:spPr>
        <p:txBody>
          <a:bodyPr wrap="square" lIns="54864" tIns="54864" rIns="54864" bIns="54864" anchor="ctr" rtlCol="0">
            <a:normAutofit/>
          </a:bodyPr>
          <a:lstStyle/>
          <a:p>
            <a:pPr algn="l">
              <a:buNone/>
            </a:pPr>
            <a:r>
              <a:rPr lang="en-GB" sz="1100" b="1" i="0" dirty="0">
                <a:solidFill>
                  <a:srgbClr val="1A1A1A"/>
                </a:solidFill>
                <a:latin typeface="Arial"/>
                <a:cs typeface="Arial"/>
              </a:rPr>
              <a:t>1 Articulation</a:t>
            </a:r>
            <a:endParaRPr lang="en-GB" sz="1100" dirty="0"/>
          </a:p>
        </p:txBody>
      </p:sp>
      <p:sp>
        <p:nvSpPr>
          <p:cNvPr id="33" name="Shape 33"/>
          <p:cNvSpPr/>
          <p:nvPr/>
        </p:nvSpPr>
        <p:spPr>
          <a:xfrm>
            <a:off x="5029200" y="2670048"/>
            <a:ext cx="1783080" cy="896112"/>
          </a:xfrm>
          <a:prstGeom prst="rect">
            <a:avLst/>
          </a:prstGeom>
          <a:solidFill>
            <a:srgbClr val="F3F8F9"/>
          </a:solidFill>
          <a:ln w="9525">
            <a:solidFill>
              <a:srgbClr val="9DB8BC"/>
            </a:solidFill>
          </a:ln>
        </p:spPr>
        <p:txBody>
          <a:bodyPr wrap="square" lIns="54864" tIns="54864" rIns="54864" bIns="54864" anchor="ctr" rtlCol="0">
            <a:normAutofit/>
          </a:bodyPr>
          <a:lstStyle/>
          <a:p>
            <a:pPr algn="l">
              <a:buNone/>
            </a:pPr>
            <a:r>
              <a:rPr lang="en-GB" sz="1000" b="0" i="0" dirty="0">
                <a:solidFill>
                  <a:srgbClr val="1A1A1A"/>
                </a:solidFill>
                <a:latin typeface="Arial"/>
                <a:cs typeface="Arial"/>
              </a:rPr>
              <a:t>Type ‘UET main gate’ or drag the pin on the map</a:t>
            </a:r>
            <a:endParaRPr lang="en-GB" sz="1000" dirty="0"/>
          </a:p>
        </p:txBody>
      </p:sp>
      <p:sp>
        <p:nvSpPr>
          <p:cNvPr id="34" name="Shape 34"/>
          <p:cNvSpPr/>
          <p:nvPr/>
        </p:nvSpPr>
        <p:spPr>
          <a:xfrm>
            <a:off x="6812280" y="2670048"/>
            <a:ext cx="1737360" cy="896112"/>
          </a:xfrm>
          <a:prstGeom prst="rect">
            <a:avLst/>
          </a:prstGeom>
          <a:solidFill>
            <a:srgbClr val="F3F8F9"/>
          </a:solidFill>
          <a:ln w="9525">
            <a:solidFill>
              <a:srgbClr val="9DB8BC"/>
            </a:solidFill>
          </a:ln>
        </p:spPr>
        <p:txBody>
          <a:bodyPr wrap="square" lIns="54864" tIns="54864" rIns="54864" bIns="54864" anchor="ctr" rtlCol="0">
            <a:normAutofit/>
          </a:bodyPr>
          <a:lstStyle/>
          <a:p>
            <a:pPr algn="l">
              <a:buNone/>
            </a:pPr>
            <a:r>
              <a:rPr lang="en-GB" sz="1000" b="0" i="0" dirty="0">
                <a:solidFill>
                  <a:srgbClr val="1A1A1A"/>
                </a:solidFill>
                <a:latin typeface="Arial"/>
                <a:cs typeface="Arial"/>
              </a:rPr>
              <a:t>Unnamed side gate — the pin won’t snap to it</a:t>
            </a:r>
            <a:endParaRPr lang="en-GB" sz="1000" dirty="0"/>
          </a:p>
        </p:txBody>
      </p:sp>
      <p:sp>
        <p:nvSpPr>
          <p:cNvPr id="35" name="Shape 35"/>
          <p:cNvSpPr/>
          <p:nvPr/>
        </p:nvSpPr>
        <p:spPr>
          <a:xfrm>
            <a:off x="3794760" y="3566160"/>
            <a:ext cx="1234440" cy="896112"/>
          </a:xfrm>
          <a:prstGeom prst="rect">
            <a:avLst/>
          </a:prstGeom>
          <a:solidFill>
            <a:srgbClr val="FFFFFF"/>
          </a:solidFill>
          <a:ln w="9525">
            <a:solidFill>
              <a:srgbClr val="9DB8BC"/>
            </a:solidFill>
          </a:ln>
        </p:spPr>
        <p:txBody>
          <a:bodyPr wrap="square" lIns="54864" tIns="54864" rIns="54864" bIns="54864" anchor="ctr" rtlCol="0">
            <a:normAutofit/>
          </a:bodyPr>
          <a:lstStyle/>
          <a:p>
            <a:pPr algn="l">
              <a:buNone/>
            </a:pPr>
            <a:r>
              <a:rPr lang="en-GB" sz="1100" b="1" i="0" dirty="0">
                <a:solidFill>
                  <a:srgbClr val="1A1A1A"/>
                </a:solidFill>
                <a:latin typeface="Arial"/>
                <a:cs typeface="Arial"/>
              </a:rPr>
              <a:t>2 Performance</a:t>
            </a:r>
            <a:endParaRPr lang="en-GB" sz="1100" dirty="0"/>
          </a:p>
        </p:txBody>
      </p:sp>
      <p:sp>
        <p:nvSpPr>
          <p:cNvPr id="36" name="Shape 36"/>
          <p:cNvSpPr/>
          <p:nvPr/>
        </p:nvSpPr>
        <p:spPr>
          <a:xfrm>
            <a:off x="5029200" y="3566160"/>
            <a:ext cx="1783080" cy="896112"/>
          </a:xfrm>
          <a:prstGeom prst="rect">
            <a:avLst/>
          </a:prstGeom>
          <a:solidFill>
            <a:srgbClr val="FFFFFF"/>
          </a:solidFill>
          <a:ln w="9525">
            <a:solidFill>
              <a:srgbClr val="9DB8BC"/>
            </a:solidFill>
          </a:ln>
        </p:spPr>
        <p:txBody>
          <a:bodyPr wrap="square" lIns="54864" tIns="54864" rIns="54864" bIns="54864" anchor="ctr" rtlCol="0">
            <a:normAutofit/>
          </a:bodyPr>
          <a:lstStyle/>
          <a:p>
            <a:pPr algn="l">
              <a:buNone/>
            </a:pPr>
            <a:r>
              <a:rPr lang="en-GB" sz="1000" b="0" i="0" dirty="0">
                <a:solidFill>
                  <a:srgbClr val="1A1A1A"/>
                </a:solidFill>
                <a:latin typeface="Arial"/>
                <a:cs typeface="Arial"/>
              </a:rPr>
              <a:t>App sends pickup coordinates and requests a fare</a:t>
            </a:r>
            <a:endParaRPr lang="en-GB" sz="1000" dirty="0"/>
          </a:p>
        </p:txBody>
      </p:sp>
      <p:sp>
        <p:nvSpPr>
          <p:cNvPr id="37" name="Shape 37"/>
          <p:cNvSpPr/>
          <p:nvPr/>
        </p:nvSpPr>
        <p:spPr>
          <a:xfrm>
            <a:off x="6812280" y="3566160"/>
            <a:ext cx="1737360" cy="896112"/>
          </a:xfrm>
          <a:prstGeom prst="rect">
            <a:avLst/>
          </a:prstGeom>
          <a:solidFill>
            <a:srgbClr val="FFFFFF"/>
          </a:solidFill>
          <a:ln w="9525">
            <a:solidFill>
              <a:srgbClr val="9DB8BC"/>
            </a:solidFill>
          </a:ln>
        </p:spPr>
        <p:txBody>
          <a:bodyPr wrap="square" lIns="54864" tIns="54864" rIns="54864" bIns="54864" anchor="ctr" rtlCol="0">
            <a:normAutofit/>
          </a:bodyPr>
          <a:lstStyle/>
          <a:p>
            <a:pPr algn="l">
              <a:buNone/>
            </a:pPr>
            <a:r>
              <a:rPr lang="en-GB" sz="1000" b="0" i="0" dirty="0">
                <a:solidFill>
                  <a:srgbClr val="1A1A1A"/>
                </a:solidFill>
                <a:latin typeface="Arial"/>
                <a:cs typeface="Arial"/>
              </a:rPr>
              <a:t>GPS drift puts pickup on the wrong side of GT Road</a:t>
            </a:r>
            <a:endParaRPr lang="en-GB" sz="1000" dirty="0"/>
          </a:p>
        </p:txBody>
      </p:sp>
      <p:sp>
        <p:nvSpPr>
          <p:cNvPr id="38" name="Shape 38"/>
          <p:cNvSpPr/>
          <p:nvPr/>
        </p:nvSpPr>
        <p:spPr>
          <a:xfrm>
            <a:off x="3794760" y="4462272"/>
            <a:ext cx="1234440" cy="896112"/>
          </a:xfrm>
          <a:prstGeom prst="rect">
            <a:avLst/>
          </a:prstGeom>
          <a:solidFill>
            <a:srgbClr val="F3F8F9"/>
          </a:solidFill>
          <a:ln w="9525">
            <a:solidFill>
              <a:srgbClr val="9DB8BC"/>
            </a:solidFill>
          </a:ln>
        </p:spPr>
        <p:txBody>
          <a:bodyPr wrap="square" lIns="54864" tIns="54864" rIns="54864" bIns="54864" anchor="ctr" rtlCol="0">
            <a:normAutofit/>
          </a:bodyPr>
          <a:lstStyle/>
          <a:p>
            <a:pPr algn="l">
              <a:buNone/>
            </a:pPr>
            <a:r>
              <a:rPr lang="en-GB" sz="1100" b="1" i="0" dirty="0">
                <a:solidFill>
                  <a:srgbClr val="1A1A1A"/>
                </a:solidFill>
                <a:latin typeface="Arial"/>
                <a:cs typeface="Arial"/>
              </a:rPr>
              <a:t>3 Presentation</a:t>
            </a:r>
            <a:endParaRPr lang="en-GB" sz="1100" dirty="0"/>
          </a:p>
        </p:txBody>
      </p:sp>
      <p:sp>
        <p:nvSpPr>
          <p:cNvPr id="39" name="Shape 39"/>
          <p:cNvSpPr/>
          <p:nvPr/>
        </p:nvSpPr>
        <p:spPr>
          <a:xfrm>
            <a:off x="5029200" y="4462272"/>
            <a:ext cx="1783080" cy="896112"/>
          </a:xfrm>
          <a:prstGeom prst="rect">
            <a:avLst/>
          </a:prstGeom>
          <a:solidFill>
            <a:srgbClr val="F3F8F9"/>
          </a:solidFill>
          <a:ln w="9525">
            <a:solidFill>
              <a:srgbClr val="9DB8BC"/>
            </a:solidFill>
          </a:ln>
        </p:spPr>
        <p:txBody>
          <a:bodyPr wrap="square" lIns="54864" tIns="54864" rIns="54864" bIns="54864" anchor="ctr" rtlCol="0">
            <a:normAutofit/>
          </a:bodyPr>
          <a:lstStyle/>
          <a:p>
            <a:pPr algn="l">
              <a:buNone/>
            </a:pPr>
            <a:r>
              <a:rPr lang="en-GB" sz="1000" b="0" i="0" dirty="0">
                <a:solidFill>
                  <a:srgbClr val="1A1A1A"/>
                </a:solidFill>
                <a:latin typeface="Arial"/>
                <a:cs typeface="Arial"/>
              </a:rPr>
              <a:t>Map shows the car icon, ETA, fare and driver name</a:t>
            </a:r>
            <a:endParaRPr lang="en-GB" sz="1000" dirty="0"/>
          </a:p>
        </p:txBody>
      </p:sp>
      <p:sp>
        <p:nvSpPr>
          <p:cNvPr id="40" name="Shape 40"/>
          <p:cNvSpPr/>
          <p:nvPr/>
        </p:nvSpPr>
        <p:spPr>
          <a:xfrm>
            <a:off x="6812280" y="4462272"/>
            <a:ext cx="1737360" cy="896112"/>
          </a:xfrm>
          <a:prstGeom prst="rect">
            <a:avLst/>
          </a:prstGeom>
          <a:solidFill>
            <a:srgbClr val="F3F8F9"/>
          </a:solidFill>
          <a:ln w="9525">
            <a:solidFill>
              <a:srgbClr val="9DB8BC"/>
            </a:solidFill>
          </a:ln>
        </p:spPr>
        <p:txBody>
          <a:bodyPr wrap="square" lIns="54864" tIns="54864" rIns="54864" bIns="54864" anchor="ctr" rtlCol="0">
            <a:normAutofit/>
          </a:bodyPr>
          <a:lstStyle/>
          <a:p>
            <a:pPr algn="l">
              <a:buNone/>
            </a:pPr>
            <a:r>
              <a:rPr lang="en-GB" sz="1000" b="0" i="0" dirty="0">
                <a:solidFill>
                  <a:srgbClr val="1A1A1A"/>
                </a:solidFill>
                <a:latin typeface="Arial"/>
                <a:cs typeface="Arial"/>
              </a:rPr>
              <a:t>ETA shown, but not which way the car is coming</a:t>
            </a:r>
            <a:endParaRPr lang="en-GB" sz="1000" dirty="0"/>
          </a:p>
        </p:txBody>
      </p:sp>
      <p:sp>
        <p:nvSpPr>
          <p:cNvPr id="41" name="Shape 41"/>
          <p:cNvSpPr/>
          <p:nvPr/>
        </p:nvSpPr>
        <p:spPr>
          <a:xfrm>
            <a:off x="3794760" y="5358384"/>
            <a:ext cx="1234440" cy="896112"/>
          </a:xfrm>
          <a:prstGeom prst="rect">
            <a:avLst/>
          </a:prstGeom>
          <a:solidFill>
            <a:srgbClr val="FFFFFF"/>
          </a:solidFill>
          <a:ln w="9525">
            <a:solidFill>
              <a:srgbClr val="9DB8BC"/>
            </a:solidFill>
          </a:ln>
        </p:spPr>
        <p:txBody>
          <a:bodyPr wrap="square" lIns="54864" tIns="54864" rIns="54864" bIns="54864" anchor="ctr" rtlCol="0">
            <a:normAutofit/>
          </a:bodyPr>
          <a:lstStyle/>
          <a:p>
            <a:pPr algn="l">
              <a:buNone/>
            </a:pPr>
            <a:r>
              <a:rPr lang="en-GB" sz="1100" b="1" i="0" dirty="0">
                <a:solidFill>
                  <a:srgbClr val="1A1A1A"/>
                </a:solidFill>
                <a:latin typeface="Arial"/>
                <a:cs typeface="Arial"/>
              </a:rPr>
              <a:t>4 Observation</a:t>
            </a:r>
            <a:endParaRPr lang="en-GB" sz="1100" dirty="0"/>
          </a:p>
        </p:txBody>
      </p:sp>
      <p:sp>
        <p:nvSpPr>
          <p:cNvPr id="42" name="Shape 42"/>
          <p:cNvSpPr/>
          <p:nvPr/>
        </p:nvSpPr>
        <p:spPr>
          <a:xfrm>
            <a:off x="5029200" y="5358384"/>
            <a:ext cx="1783080" cy="896112"/>
          </a:xfrm>
          <a:prstGeom prst="rect">
            <a:avLst/>
          </a:prstGeom>
          <a:solidFill>
            <a:srgbClr val="FFFFFF"/>
          </a:solidFill>
          <a:ln w="9525">
            <a:solidFill>
              <a:srgbClr val="9DB8BC"/>
            </a:solidFill>
          </a:ln>
        </p:spPr>
        <p:txBody>
          <a:bodyPr wrap="square" lIns="54864" tIns="54864" rIns="54864" bIns="54864" anchor="ctr" rtlCol="0">
            <a:normAutofit/>
          </a:bodyPr>
          <a:lstStyle/>
          <a:p>
            <a:pPr algn="l">
              <a:buNone/>
            </a:pPr>
            <a:r>
              <a:rPr lang="en-GB" sz="1000" b="0" i="0" dirty="0">
                <a:solidFill>
                  <a:srgbClr val="1A1A1A"/>
                </a:solidFill>
                <a:latin typeface="Arial"/>
                <a:cs typeface="Arial"/>
              </a:rPr>
              <a:t>You read ‘Captain arriving in 4 min’</a:t>
            </a:r>
            <a:endParaRPr lang="en-GB" sz="1000" dirty="0"/>
          </a:p>
        </p:txBody>
      </p:sp>
      <p:sp>
        <p:nvSpPr>
          <p:cNvPr id="43" name="Shape 43"/>
          <p:cNvSpPr/>
          <p:nvPr/>
        </p:nvSpPr>
        <p:spPr>
          <a:xfrm>
            <a:off x="6812280" y="5358384"/>
            <a:ext cx="1737360" cy="896112"/>
          </a:xfrm>
          <a:prstGeom prst="rect">
            <a:avLst/>
          </a:prstGeom>
          <a:solidFill>
            <a:srgbClr val="FFFFFF"/>
          </a:solidFill>
          <a:ln w="9525">
            <a:solidFill>
              <a:srgbClr val="9DB8BC"/>
            </a:solidFill>
          </a:ln>
        </p:spPr>
        <p:txBody>
          <a:bodyPr wrap="square" lIns="54864" tIns="54864" rIns="54864" bIns="54864" anchor="ctr" rtlCol="0">
            <a:normAutofit/>
          </a:bodyPr>
          <a:lstStyle/>
          <a:p>
            <a:pPr algn="l">
              <a:buNone/>
            </a:pPr>
            <a:r>
              <a:rPr lang="en-GB" sz="1000" b="0" i="0" dirty="0">
                <a:solidFill>
                  <a:srgbClr val="1A1A1A"/>
                </a:solidFill>
                <a:latin typeface="Arial"/>
                <a:cs typeface="Arial"/>
              </a:rPr>
              <a:t>Which white car is mine? → show the number plate large</a:t>
            </a:r>
            <a:endParaRPr lang="en-GB" sz="10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200" b="0" i="0" dirty="0">
                <a:solidFill>
                  <a:srgbClr val="2D2D8A"/>
                </a:solidFill>
                <a:latin typeface="Arial"/>
                <a:cs typeface="Arial"/>
              </a:rPr>
              <a:t>Ergonomic audit of this room</a:t>
            </a:r>
          </a:p>
        </p:txBody>
      </p:sp>
      <p:sp>
        <p:nvSpPr>
          <p:cNvPr id="11" name="Shape 11"/>
          <p:cNvSpPr/>
          <p:nvPr/>
        </p:nvSpPr>
        <p:spPr>
          <a:xfrm>
            <a:off x="548640" y="1810512"/>
            <a:ext cx="1449324" cy="310896"/>
          </a:xfrm>
          <a:prstGeom prst="roundRect">
            <a:avLst>
              <a:gd name="adj" fmla="val 50000"/>
            </a:avLst>
          </a:prstGeom>
          <a:solidFill>
            <a:srgbClr val="B03A2E"/>
          </a:solidFill>
          <a:ln>
            <a:noFill/>
          </a:ln>
        </p:spPr>
        <p:txBody>
          <a:bodyPr wrap="square" lIns="27432" tIns="27432" rIns="27432" bIns="27432" anchor="ctr" rtlCol="0">
            <a:normAutofit/>
          </a:bodyPr>
          <a:lstStyle/>
          <a:p>
            <a:pPr algn="ctr">
              <a:buNone/>
            </a:pPr>
            <a:r>
              <a:rPr lang="en-GB" sz="1100" b="1" i="0" dirty="0">
                <a:solidFill>
                  <a:srgbClr val="FFFFFF"/>
                </a:solidFill>
                <a:latin typeface="Arial"/>
                <a:cs typeface="Arial"/>
              </a:rPr>
              <a:t>LIVE EXERCISE</a:t>
            </a:r>
            <a:endParaRPr lang="en-GB" sz="1100" dirty="0"/>
          </a:p>
        </p:txBody>
      </p:sp>
      <p:sp>
        <p:nvSpPr>
          <p:cNvPr id="12" name="Shape 12"/>
          <p:cNvSpPr txBox="1"/>
          <p:nvPr/>
        </p:nvSpPr>
        <p:spPr>
          <a:xfrm>
            <a:off x="2107692" y="1810512"/>
            <a:ext cx="5486400" cy="310896"/>
          </a:xfrm>
          <a:prstGeom prst="rect">
            <a:avLst/>
          </a:prstGeom>
          <a:noFill/>
          <a:ln>
            <a:noFill/>
          </a:ln>
        </p:spPr>
        <p:txBody>
          <a:bodyPr wrap="square" lIns="18288" tIns="18288" rIns="18288" bIns="18288" anchor="ctr" rtlCol="0">
            <a:normAutofit/>
          </a:bodyPr>
          <a:lstStyle/>
          <a:p>
            <a:pPr algn="l">
              <a:buNone/>
            </a:pPr>
            <a:r>
              <a:rPr lang="en-GB" sz="1200" b="0" i="1" dirty="0">
                <a:solidFill>
                  <a:srgbClr val="595959"/>
                </a:solidFill>
                <a:latin typeface="Arial"/>
                <a:cs typeface="Arial"/>
              </a:rPr>
              <a:t>4 min · groups of 3 · look around this room  (skip if short of time)</a:t>
            </a:r>
            <a:endParaRPr lang="en-GB" sz="1200" dirty="0"/>
          </a:p>
        </p:txBody>
      </p:sp>
      <p:sp>
        <p:nvSpPr>
          <p:cNvPr id="13" name="Shape 13"/>
          <p:cNvSpPr/>
          <p:nvPr/>
        </p:nvSpPr>
        <p:spPr>
          <a:xfrm>
            <a:off x="548640" y="2286000"/>
            <a:ext cx="3840480" cy="1280160"/>
          </a:xfrm>
          <a:prstGeom prst="roundRect">
            <a:avLst>
              <a:gd name="adj" fmla="val 8000"/>
            </a:avLst>
          </a:prstGeom>
          <a:solidFill>
            <a:srgbClr val="F3F8F9"/>
          </a:solidFill>
          <a:ln w="9525">
            <a:solidFill>
              <a:srgbClr val="9DB8BC"/>
            </a:solidFill>
          </a:ln>
        </p:spPr>
        <p:txBody>
          <a:bodyPr wrap="square" lIns="109728" tIns="109728" rIns="109728" bIns="109728" anchor="t" rtlCol="0">
            <a:normAutofit/>
          </a:bodyPr>
          <a:lstStyle/>
          <a:p>
            <a:pPr algn="l">
              <a:spcAft>
                <a:spcPts val="400"/>
              </a:spcAft>
              <a:buNone/>
            </a:pPr>
            <a:r>
              <a:rPr lang="en-GB" sz="1400" b="1" i="0" dirty="0">
                <a:solidFill>
                  <a:srgbClr val="2D2D8A"/>
                </a:solidFill>
                <a:latin typeface="Arial"/>
                <a:cs typeface="Arial"/>
              </a:rPr>
              <a:t>Controls &amp; displays</a:t>
            </a:r>
            <a:endParaRPr lang="en-GB" sz="1400" dirty="0"/>
          </a:p>
          <a:p>
            <a:pPr algn="l">
              <a:spcAft>
                <a:spcPts val="200"/>
              </a:spcAft>
              <a:buNone/>
            </a:pPr>
            <a:r>
              <a:rPr lang="en-GB" sz="1200" b="0" i="0" dirty="0">
                <a:solidFill>
                  <a:srgbClr val="1A1A1A"/>
                </a:solidFill>
                <a:latin typeface="Arial"/>
                <a:cs typeface="Arial"/>
              </a:rPr>
              <a:t>Which switch turns on which light? Can you tell without trying?</a:t>
            </a:r>
            <a:endParaRPr lang="en-GB" sz="1200" dirty="0"/>
          </a:p>
        </p:txBody>
      </p:sp>
      <p:sp>
        <p:nvSpPr>
          <p:cNvPr id="14" name="Shape 14"/>
          <p:cNvSpPr/>
          <p:nvPr/>
        </p:nvSpPr>
        <p:spPr>
          <a:xfrm>
            <a:off x="4572000" y="2286000"/>
            <a:ext cx="3840480" cy="1280160"/>
          </a:xfrm>
          <a:prstGeom prst="roundRect">
            <a:avLst>
              <a:gd name="adj" fmla="val 8000"/>
            </a:avLst>
          </a:prstGeom>
          <a:solidFill>
            <a:srgbClr val="F3F8F9"/>
          </a:solidFill>
          <a:ln w="9525">
            <a:solidFill>
              <a:srgbClr val="9DB8BC"/>
            </a:solidFill>
          </a:ln>
        </p:spPr>
        <p:txBody>
          <a:bodyPr wrap="square" lIns="109728" tIns="109728" rIns="109728" bIns="109728" anchor="t" rtlCol="0">
            <a:normAutofit/>
          </a:bodyPr>
          <a:lstStyle/>
          <a:p>
            <a:pPr algn="l">
              <a:spcAft>
                <a:spcPts val="400"/>
              </a:spcAft>
              <a:buNone/>
            </a:pPr>
            <a:r>
              <a:rPr lang="en-GB" sz="1400" b="1" i="0" dirty="0">
                <a:solidFill>
                  <a:srgbClr val="2D2D8A"/>
                </a:solidFill>
                <a:latin typeface="Arial"/>
                <a:cs typeface="Arial"/>
              </a:rPr>
              <a:t>Surrounding environment</a:t>
            </a:r>
            <a:endParaRPr lang="en-GB" sz="1400" dirty="0"/>
          </a:p>
          <a:p>
            <a:pPr algn="l">
              <a:spcAft>
                <a:spcPts val="200"/>
              </a:spcAft>
              <a:buNone/>
            </a:pPr>
            <a:r>
              <a:rPr lang="en-GB" sz="1200" b="0" i="0" dirty="0">
                <a:solidFill>
                  <a:srgbClr val="1A1A1A"/>
                </a:solidFill>
                <a:latin typeface="Arial"/>
                <a:cs typeface="Arial"/>
              </a:rPr>
              <a:t>Chair and desk height, leg room, can the back row see the screen?</a:t>
            </a:r>
            <a:endParaRPr lang="en-GB" sz="1200" dirty="0"/>
          </a:p>
        </p:txBody>
      </p:sp>
      <p:sp>
        <p:nvSpPr>
          <p:cNvPr id="15" name="Shape 15"/>
          <p:cNvSpPr/>
          <p:nvPr/>
        </p:nvSpPr>
        <p:spPr>
          <a:xfrm>
            <a:off x="548640" y="3703320"/>
            <a:ext cx="3840480" cy="1280160"/>
          </a:xfrm>
          <a:prstGeom prst="roundRect">
            <a:avLst>
              <a:gd name="adj" fmla="val 8000"/>
            </a:avLst>
          </a:prstGeom>
          <a:solidFill>
            <a:srgbClr val="F3F8F9"/>
          </a:solidFill>
          <a:ln w="9525">
            <a:solidFill>
              <a:srgbClr val="9DB8BC"/>
            </a:solidFill>
          </a:ln>
        </p:spPr>
        <p:txBody>
          <a:bodyPr wrap="square" lIns="109728" tIns="109728" rIns="109728" bIns="109728" anchor="t" rtlCol="0">
            <a:normAutofit/>
          </a:bodyPr>
          <a:lstStyle/>
          <a:p>
            <a:pPr algn="l">
              <a:spcAft>
                <a:spcPts val="400"/>
              </a:spcAft>
              <a:buNone/>
            </a:pPr>
            <a:r>
              <a:rPr lang="en-GB" sz="1400" b="1" i="0" dirty="0">
                <a:solidFill>
                  <a:srgbClr val="2D2D8A"/>
                </a:solidFill>
                <a:latin typeface="Arial"/>
                <a:cs typeface="Arial"/>
              </a:rPr>
              <a:t>Health</a:t>
            </a:r>
            <a:endParaRPr lang="en-GB" sz="1400" dirty="0"/>
          </a:p>
          <a:p>
            <a:pPr algn="l">
              <a:spcAft>
                <a:spcPts val="200"/>
              </a:spcAft>
              <a:buNone/>
            </a:pPr>
            <a:r>
              <a:rPr lang="en-GB" sz="1200" b="0" i="0" dirty="0">
                <a:solidFill>
                  <a:srgbClr val="1A1A1A"/>
                </a:solidFill>
                <a:latin typeface="Arial"/>
                <a:cs typeface="Arial"/>
              </a:rPr>
              <a:t>Glare on the board, heat, fan or generator noise, lighting</a:t>
            </a:r>
            <a:endParaRPr lang="en-GB" sz="1200" dirty="0"/>
          </a:p>
        </p:txBody>
      </p:sp>
      <p:sp>
        <p:nvSpPr>
          <p:cNvPr id="16" name="Shape 16"/>
          <p:cNvSpPr/>
          <p:nvPr/>
        </p:nvSpPr>
        <p:spPr>
          <a:xfrm>
            <a:off x="4572000" y="3703320"/>
            <a:ext cx="3840480" cy="1280160"/>
          </a:xfrm>
          <a:prstGeom prst="roundRect">
            <a:avLst>
              <a:gd name="adj" fmla="val 8000"/>
            </a:avLst>
          </a:prstGeom>
          <a:solidFill>
            <a:srgbClr val="F3F8F9"/>
          </a:solidFill>
          <a:ln w="9525">
            <a:solidFill>
              <a:srgbClr val="9DB8BC"/>
            </a:solidFill>
          </a:ln>
        </p:spPr>
        <p:txBody>
          <a:bodyPr wrap="square" lIns="109728" tIns="109728" rIns="109728" bIns="109728" anchor="t" rtlCol="0">
            <a:normAutofit/>
          </a:bodyPr>
          <a:lstStyle/>
          <a:p>
            <a:pPr algn="l">
              <a:spcAft>
                <a:spcPts val="400"/>
              </a:spcAft>
              <a:buNone/>
            </a:pPr>
            <a:r>
              <a:rPr lang="en-GB" sz="1400" b="1" i="0" dirty="0">
                <a:solidFill>
                  <a:srgbClr val="2D2D8A"/>
                </a:solidFill>
                <a:latin typeface="Arial"/>
                <a:cs typeface="Arial"/>
              </a:rPr>
              <a:t>Use of colour</a:t>
            </a:r>
            <a:endParaRPr lang="en-GB" sz="1400" dirty="0"/>
          </a:p>
          <a:p>
            <a:pPr algn="l">
              <a:spcAft>
                <a:spcPts val="200"/>
              </a:spcAft>
              <a:buNone/>
            </a:pPr>
            <a:r>
              <a:rPr lang="en-GB" sz="1200" b="0" i="0" dirty="0">
                <a:solidFill>
                  <a:srgbClr val="1A1A1A"/>
                </a:solidFill>
                <a:latin typeface="Arial"/>
                <a:cs typeface="Arial"/>
              </a:rPr>
              <a:t>Red/green signs, slide colours, would a colour-blind student cope?</a:t>
            </a:r>
            <a:endParaRPr lang="en-GB" sz="1200" dirty="0"/>
          </a:p>
        </p:txBody>
      </p:sp>
      <p:sp>
        <p:nvSpPr>
          <p:cNvPr id="17" name="Shape 17"/>
          <p:cNvSpPr/>
          <p:nvPr/>
        </p:nvSpPr>
        <p:spPr>
          <a:xfrm>
            <a:off x="548640" y="5212080"/>
            <a:ext cx="7955280" cy="1005840"/>
          </a:xfrm>
          <a:prstGeom prst="roundRect">
            <a:avLst>
              <a:gd name="adj" fmla="val 8000"/>
            </a:avLst>
          </a:prstGeom>
          <a:solidFill>
            <a:srgbClr val="DAEDEF"/>
          </a:solidFill>
          <a:ln>
            <a:noFill/>
          </a:ln>
        </p:spPr>
        <p:txBody>
          <a:bodyPr wrap="square" lIns="137160" tIns="137160" rIns="137160" bIns="137160" anchor="ctr" rtlCol="0">
            <a:normAutofit/>
          </a:bodyPr>
          <a:lstStyle/>
          <a:p>
            <a:pPr algn="l">
              <a:spcAft>
                <a:spcPts val="400"/>
              </a:spcAft>
              <a:buNone/>
            </a:pPr>
            <a:r>
              <a:rPr lang="en-GB" sz="1400" b="1" i="0" dirty="0">
                <a:solidFill>
                  <a:srgbClr val="2D2D8A"/>
                </a:solidFill>
                <a:latin typeface="Arial"/>
                <a:cs typeface="Arial"/>
              </a:rPr>
              <a:t>For each category find ONE problem →  rate it 1 (annoying) to 3 (harmful)  →  propose ONE fix.</a:t>
            </a:r>
            <a:endParaRPr lang="en-GB" sz="1400" dirty="0"/>
          </a:p>
          <a:p>
            <a:pPr algn="l">
              <a:buNone/>
            </a:pPr>
            <a:r>
              <a:rPr lang="en-GB" sz="1200" b="0" i="0" dirty="0">
                <a:solidFill>
                  <a:srgbClr val="595959"/>
                </a:solidFill>
                <a:latin typeface="Arial"/>
                <a:cs typeface="Arial"/>
              </a:rPr>
              <a:t>Two groups report; the class votes on the worst problem in the room.</a:t>
            </a:r>
            <a:endParaRPr lang="en-GB" sz="12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200" b="0" i="0" dirty="0">
                <a:solidFill>
                  <a:srgbClr val="2D2D8A"/>
                </a:solidFill>
                <a:latin typeface="Arial"/>
                <a:cs typeface="Arial"/>
              </a:rPr>
              <a:t>Touchscreen or knobs?</a:t>
            </a:r>
          </a:p>
        </p:txBody>
      </p:sp>
      <p:sp>
        <p:nvSpPr>
          <p:cNvPr id="11" name="Shape 11"/>
          <p:cNvSpPr/>
          <p:nvPr/>
        </p:nvSpPr>
        <p:spPr>
          <a:xfrm>
            <a:off x="548640" y="1810512"/>
            <a:ext cx="585216" cy="310896"/>
          </a:xfrm>
          <a:prstGeom prst="roundRect">
            <a:avLst>
              <a:gd name="adj" fmla="val 50000"/>
            </a:avLst>
          </a:prstGeom>
          <a:solidFill>
            <a:srgbClr val="00726F"/>
          </a:solidFill>
          <a:ln>
            <a:noFill/>
          </a:ln>
        </p:spPr>
        <p:txBody>
          <a:bodyPr wrap="square" lIns="27432" tIns="27432" rIns="27432" bIns="27432" anchor="ctr" rtlCol="0">
            <a:normAutofit/>
          </a:bodyPr>
          <a:lstStyle/>
          <a:p>
            <a:pPr algn="ctr">
              <a:buNone/>
            </a:pPr>
            <a:r>
              <a:rPr lang="en-GB" sz="1100" b="1" i="0" dirty="0">
                <a:solidFill>
                  <a:srgbClr val="FFFFFF"/>
                </a:solidFill>
                <a:latin typeface="Arial"/>
                <a:cs typeface="Arial"/>
              </a:rPr>
              <a:t>POLL</a:t>
            </a:r>
            <a:endParaRPr lang="en-GB" sz="1100" dirty="0"/>
          </a:p>
        </p:txBody>
      </p:sp>
      <p:sp>
        <p:nvSpPr>
          <p:cNvPr id="12" name="Shape 12"/>
          <p:cNvSpPr txBox="1"/>
          <p:nvPr/>
        </p:nvSpPr>
        <p:spPr>
          <a:xfrm>
            <a:off x="1243584" y="1810512"/>
            <a:ext cx="5486400" cy="310896"/>
          </a:xfrm>
          <a:prstGeom prst="rect">
            <a:avLst/>
          </a:prstGeom>
          <a:noFill/>
          <a:ln>
            <a:noFill/>
          </a:ln>
        </p:spPr>
        <p:txBody>
          <a:bodyPr wrap="square" lIns="18288" tIns="18288" rIns="18288" bIns="18288" anchor="ctr" rtlCol="0">
            <a:normAutofit/>
          </a:bodyPr>
          <a:lstStyle/>
          <a:p>
            <a:pPr algn="l">
              <a:buNone/>
            </a:pPr>
            <a:r>
              <a:rPr lang="en-GB" sz="1200" b="0" i="1" dirty="0">
                <a:solidFill>
                  <a:srgbClr val="595959"/>
                </a:solidFill>
                <a:latin typeface="Arial"/>
                <a:cs typeface="Arial"/>
              </a:rPr>
              <a:t>1 min vote · then 2 min argue using the ‘glass interface’ slide</a:t>
            </a:r>
            <a:endParaRPr lang="en-GB" sz="1200" dirty="0"/>
          </a:p>
        </p:txBody>
      </p:sp>
      <p:sp>
        <p:nvSpPr>
          <p:cNvPr id="13" name="Shape 13"/>
          <p:cNvSpPr txBox="1"/>
          <p:nvPr/>
        </p:nvSpPr>
        <p:spPr>
          <a:xfrm>
            <a:off x="548640" y="2286000"/>
            <a:ext cx="7955280" cy="457200"/>
          </a:xfrm>
          <a:prstGeom prst="rect">
            <a:avLst/>
          </a:prstGeom>
          <a:noFill/>
          <a:ln>
            <a:noFill/>
          </a:ln>
        </p:spPr>
        <p:txBody>
          <a:bodyPr wrap="square" lIns="18288" tIns="18288" rIns="18288" bIns="18288" anchor="t" rtlCol="0">
            <a:normAutofit/>
          </a:bodyPr>
          <a:lstStyle/>
          <a:p>
            <a:pPr algn="l">
              <a:buNone/>
            </a:pPr>
            <a:r>
              <a:rPr lang="en-GB" sz="1700" b="1" i="0" dirty="0">
                <a:solidFill>
                  <a:srgbClr val="2D2D8A"/>
                </a:solidFill>
                <a:latin typeface="Arial"/>
                <a:cs typeface="Arial"/>
              </a:rPr>
              <a:t>You are designing the AC and fan controls for a new car. Vote:</a:t>
            </a:r>
            <a:endParaRPr lang="en-GB" sz="1700" dirty="0"/>
          </a:p>
        </p:txBody>
      </p:sp>
      <p:sp>
        <p:nvSpPr>
          <p:cNvPr id="14" name="Shape 14"/>
          <p:cNvSpPr/>
          <p:nvPr/>
        </p:nvSpPr>
        <p:spPr>
          <a:xfrm>
            <a:off x="548640" y="2926080"/>
            <a:ext cx="2514600" cy="1828800"/>
          </a:xfrm>
          <a:prstGeom prst="roundRect">
            <a:avLst>
              <a:gd name="adj" fmla="val 6000"/>
            </a:avLst>
          </a:prstGeom>
          <a:solidFill>
            <a:srgbClr val="F3F8F9"/>
          </a:solidFill>
          <a:ln w="12700">
            <a:solidFill>
              <a:srgbClr val="9DB8BC"/>
            </a:solidFill>
          </a:ln>
        </p:spPr>
        <p:txBody>
          <a:bodyPr wrap="square" lIns="73152" tIns="73152" rIns="73152" bIns="73152" anchor="t" rtlCol="0">
            <a:normAutofit/>
          </a:bodyPr>
          <a:lstStyle/>
          <a:p>
            <a:endParaRPr lang="en-GB" dirty="0"/>
          </a:p>
        </p:txBody>
      </p:sp>
      <p:sp>
        <p:nvSpPr>
          <p:cNvPr id="15" name="Shape 15"/>
          <p:cNvSpPr/>
          <p:nvPr/>
        </p:nvSpPr>
        <p:spPr>
          <a:xfrm>
            <a:off x="1554480" y="3063240"/>
            <a:ext cx="502920" cy="502920"/>
          </a:xfrm>
          <a:prstGeom prst="ellipse">
            <a:avLst/>
          </a:prstGeom>
          <a:solidFill>
            <a:srgbClr val="00726F"/>
          </a:solidFill>
          <a:ln>
            <a:noFill/>
          </a:ln>
        </p:spPr>
        <p:txBody>
          <a:bodyPr wrap="square" lIns="0" tIns="0" rIns="0" bIns="0" anchor="ctr" rtlCol="0">
            <a:normAutofit/>
          </a:bodyPr>
          <a:lstStyle/>
          <a:p>
            <a:pPr algn="ctr">
              <a:buNone/>
            </a:pPr>
            <a:r>
              <a:rPr lang="en-GB" sz="1800" b="1" i="0" dirty="0">
                <a:solidFill>
                  <a:srgbClr val="FFFFFF"/>
                </a:solidFill>
                <a:latin typeface="Arial"/>
                <a:cs typeface="Arial"/>
              </a:rPr>
              <a:t>A</a:t>
            </a:r>
            <a:endParaRPr lang="en-GB" sz="1800" dirty="0"/>
          </a:p>
        </p:txBody>
      </p:sp>
      <p:sp>
        <p:nvSpPr>
          <p:cNvPr id="16" name="Shape 16"/>
          <p:cNvSpPr txBox="1"/>
          <p:nvPr/>
        </p:nvSpPr>
        <p:spPr>
          <a:xfrm>
            <a:off x="640080" y="3657600"/>
            <a:ext cx="2331720" cy="365760"/>
          </a:xfrm>
          <a:prstGeom prst="rect">
            <a:avLst/>
          </a:prstGeom>
          <a:noFill/>
          <a:ln>
            <a:noFill/>
          </a:ln>
        </p:spPr>
        <p:txBody>
          <a:bodyPr wrap="square" lIns="18288" tIns="18288" rIns="18288" bIns="18288" anchor="t" rtlCol="0">
            <a:normAutofit/>
          </a:bodyPr>
          <a:lstStyle/>
          <a:p>
            <a:pPr algn="ctr">
              <a:buNone/>
            </a:pPr>
            <a:r>
              <a:rPr lang="en-GB" sz="1400" b="1" i="0" dirty="0">
                <a:solidFill>
                  <a:srgbClr val="1A1A1A"/>
                </a:solidFill>
                <a:latin typeface="Arial"/>
                <a:cs typeface="Arial"/>
              </a:rPr>
              <a:t>One large touchscreen</a:t>
            </a:r>
            <a:endParaRPr lang="en-GB" sz="1400" dirty="0"/>
          </a:p>
        </p:txBody>
      </p:sp>
      <p:sp>
        <p:nvSpPr>
          <p:cNvPr id="17" name="Shape 17"/>
          <p:cNvSpPr txBox="1"/>
          <p:nvPr/>
        </p:nvSpPr>
        <p:spPr>
          <a:xfrm>
            <a:off x="640080" y="4023360"/>
            <a:ext cx="2331720" cy="640080"/>
          </a:xfrm>
          <a:prstGeom prst="rect">
            <a:avLst/>
          </a:prstGeom>
          <a:noFill/>
          <a:ln>
            <a:noFill/>
          </a:ln>
        </p:spPr>
        <p:txBody>
          <a:bodyPr wrap="square" lIns="18288" tIns="18288" rIns="18288" bIns="18288" anchor="t" rtlCol="0">
            <a:normAutofit/>
          </a:bodyPr>
          <a:lstStyle/>
          <a:p>
            <a:pPr algn="ctr">
              <a:buNone/>
            </a:pPr>
            <a:r>
              <a:rPr lang="en-GB" sz="1200" b="0" i="0" dirty="0">
                <a:solidFill>
                  <a:srgbClr val="595959"/>
                </a:solidFill>
                <a:latin typeface="Arial"/>
                <a:cs typeface="Arial"/>
              </a:rPr>
              <a:t>cheaper, flexible, can show precise values</a:t>
            </a:r>
            <a:endParaRPr lang="en-GB" sz="1200" dirty="0"/>
          </a:p>
        </p:txBody>
      </p:sp>
      <p:sp>
        <p:nvSpPr>
          <p:cNvPr id="18" name="Shape 18"/>
          <p:cNvSpPr/>
          <p:nvPr/>
        </p:nvSpPr>
        <p:spPr>
          <a:xfrm>
            <a:off x="3246120" y="2926080"/>
            <a:ext cx="2514600" cy="1828800"/>
          </a:xfrm>
          <a:prstGeom prst="roundRect">
            <a:avLst>
              <a:gd name="adj" fmla="val 6000"/>
            </a:avLst>
          </a:prstGeom>
          <a:solidFill>
            <a:srgbClr val="F3F8F9"/>
          </a:solidFill>
          <a:ln w="12700">
            <a:solidFill>
              <a:srgbClr val="9DB8BC"/>
            </a:solidFill>
          </a:ln>
        </p:spPr>
        <p:txBody>
          <a:bodyPr wrap="square" lIns="73152" tIns="73152" rIns="73152" bIns="73152" anchor="t" rtlCol="0">
            <a:normAutofit/>
          </a:bodyPr>
          <a:lstStyle/>
          <a:p>
            <a:endParaRPr lang="en-GB" dirty="0"/>
          </a:p>
        </p:txBody>
      </p:sp>
      <p:sp>
        <p:nvSpPr>
          <p:cNvPr id="19" name="Shape 19"/>
          <p:cNvSpPr/>
          <p:nvPr/>
        </p:nvSpPr>
        <p:spPr>
          <a:xfrm>
            <a:off x="4251960" y="3063240"/>
            <a:ext cx="502920" cy="502920"/>
          </a:xfrm>
          <a:prstGeom prst="ellipse">
            <a:avLst/>
          </a:prstGeom>
          <a:solidFill>
            <a:srgbClr val="00726F"/>
          </a:solidFill>
          <a:ln>
            <a:noFill/>
          </a:ln>
        </p:spPr>
        <p:txBody>
          <a:bodyPr wrap="square" lIns="0" tIns="0" rIns="0" bIns="0" anchor="ctr" rtlCol="0">
            <a:normAutofit/>
          </a:bodyPr>
          <a:lstStyle/>
          <a:p>
            <a:pPr algn="ctr">
              <a:buNone/>
            </a:pPr>
            <a:r>
              <a:rPr lang="en-GB" sz="1800" b="1" i="0" dirty="0">
                <a:solidFill>
                  <a:srgbClr val="FFFFFF"/>
                </a:solidFill>
                <a:latin typeface="Arial"/>
                <a:cs typeface="Arial"/>
              </a:rPr>
              <a:t>B</a:t>
            </a:r>
            <a:endParaRPr lang="en-GB" sz="1800" dirty="0"/>
          </a:p>
        </p:txBody>
      </p:sp>
      <p:sp>
        <p:nvSpPr>
          <p:cNvPr id="20" name="Shape 20"/>
          <p:cNvSpPr txBox="1"/>
          <p:nvPr/>
        </p:nvSpPr>
        <p:spPr>
          <a:xfrm>
            <a:off x="3337560" y="3657600"/>
            <a:ext cx="2331720" cy="365760"/>
          </a:xfrm>
          <a:prstGeom prst="rect">
            <a:avLst/>
          </a:prstGeom>
          <a:noFill/>
          <a:ln>
            <a:noFill/>
          </a:ln>
        </p:spPr>
        <p:txBody>
          <a:bodyPr wrap="square" lIns="18288" tIns="18288" rIns="18288" bIns="18288" anchor="t" rtlCol="0">
            <a:normAutofit/>
          </a:bodyPr>
          <a:lstStyle/>
          <a:p>
            <a:pPr algn="ctr">
              <a:buNone/>
            </a:pPr>
            <a:r>
              <a:rPr lang="en-GB" sz="1400" b="1" i="0" dirty="0">
                <a:solidFill>
                  <a:srgbClr val="1A1A1A"/>
                </a:solidFill>
                <a:latin typeface="Arial"/>
                <a:cs typeface="Arial"/>
              </a:rPr>
              <a:t>Physical knobs and buttons</a:t>
            </a:r>
            <a:endParaRPr lang="en-GB" sz="1400" dirty="0"/>
          </a:p>
        </p:txBody>
      </p:sp>
      <p:sp>
        <p:nvSpPr>
          <p:cNvPr id="21" name="Shape 21"/>
          <p:cNvSpPr txBox="1"/>
          <p:nvPr/>
        </p:nvSpPr>
        <p:spPr>
          <a:xfrm>
            <a:off x="3337560" y="4023360"/>
            <a:ext cx="2331720" cy="640080"/>
          </a:xfrm>
          <a:prstGeom prst="rect">
            <a:avLst/>
          </a:prstGeom>
          <a:noFill/>
          <a:ln>
            <a:noFill/>
          </a:ln>
        </p:spPr>
        <p:txBody>
          <a:bodyPr wrap="square" lIns="18288" tIns="18288" rIns="18288" bIns="18288" anchor="t" rtlCol="0">
            <a:normAutofit/>
          </a:bodyPr>
          <a:lstStyle/>
          <a:p>
            <a:pPr algn="ctr">
              <a:buNone/>
            </a:pPr>
            <a:r>
              <a:rPr lang="en-GB" sz="1200" b="0" i="0" dirty="0">
                <a:solidFill>
                  <a:srgbClr val="595959"/>
                </a:solidFill>
                <a:latin typeface="Arial"/>
                <a:cs typeface="Arial"/>
              </a:rPr>
              <a:t>usable by feel, eyes stay on the road</a:t>
            </a:r>
            <a:endParaRPr lang="en-GB" sz="1200" dirty="0"/>
          </a:p>
        </p:txBody>
      </p:sp>
      <p:sp>
        <p:nvSpPr>
          <p:cNvPr id="22" name="Shape 22"/>
          <p:cNvSpPr/>
          <p:nvPr/>
        </p:nvSpPr>
        <p:spPr>
          <a:xfrm>
            <a:off x="5943600" y="2926080"/>
            <a:ext cx="2514600" cy="1828800"/>
          </a:xfrm>
          <a:prstGeom prst="roundRect">
            <a:avLst>
              <a:gd name="adj" fmla="val 6000"/>
            </a:avLst>
          </a:prstGeom>
          <a:solidFill>
            <a:srgbClr val="F3F8F9"/>
          </a:solidFill>
          <a:ln w="12700">
            <a:solidFill>
              <a:srgbClr val="9DB8BC"/>
            </a:solidFill>
          </a:ln>
        </p:spPr>
        <p:txBody>
          <a:bodyPr wrap="square" lIns="73152" tIns="73152" rIns="73152" bIns="73152" anchor="t" rtlCol="0">
            <a:normAutofit/>
          </a:bodyPr>
          <a:lstStyle/>
          <a:p>
            <a:endParaRPr lang="en-GB" dirty="0"/>
          </a:p>
        </p:txBody>
      </p:sp>
      <p:sp>
        <p:nvSpPr>
          <p:cNvPr id="23" name="Shape 23"/>
          <p:cNvSpPr/>
          <p:nvPr/>
        </p:nvSpPr>
        <p:spPr>
          <a:xfrm>
            <a:off x="6949440" y="3063240"/>
            <a:ext cx="502920" cy="502920"/>
          </a:xfrm>
          <a:prstGeom prst="ellipse">
            <a:avLst/>
          </a:prstGeom>
          <a:solidFill>
            <a:srgbClr val="00726F"/>
          </a:solidFill>
          <a:ln>
            <a:noFill/>
          </a:ln>
        </p:spPr>
        <p:txBody>
          <a:bodyPr wrap="square" lIns="0" tIns="0" rIns="0" bIns="0" anchor="ctr" rtlCol="0">
            <a:normAutofit/>
          </a:bodyPr>
          <a:lstStyle/>
          <a:p>
            <a:pPr algn="ctr">
              <a:buNone/>
            </a:pPr>
            <a:r>
              <a:rPr lang="en-GB" sz="1800" b="1" i="0" dirty="0">
                <a:solidFill>
                  <a:srgbClr val="FFFFFF"/>
                </a:solidFill>
                <a:latin typeface="Arial"/>
                <a:cs typeface="Arial"/>
              </a:rPr>
              <a:t>C</a:t>
            </a:r>
            <a:endParaRPr lang="en-GB" sz="1800" dirty="0"/>
          </a:p>
        </p:txBody>
      </p:sp>
      <p:sp>
        <p:nvSpPr>
          <p:cNvPr id="24" name="Shape 24"/>
          <p:cNvSpPr txBox="1"/>
          <p:nvPr/>
        </p:nvSpPr>
        <p:spPr>
          <a:xfrm>
            <a:off x="6035040" y="3657600"/>
            <a:ext cx="2331720" cy="365760"/>
          </a:xfrm>
          <a:prstGeom prst="rect">
            <a:avLst/>
          </a:prstGeom>
          <a:noFill/>
          <a:ln>
            <a:noFill/>
          </a:ln>
        </p:spPr>
        <p:txBody>
          <a:bodyPr wrap="square" lIns="18288" tIns="18288" rIns="18288" bIns="18288" anchor="t" rtlCol="0">
            <a:normAutofit/>
          </a:bodyPr>
          <a:lstStyle/>
          <a:p>
            <a:pPr algn="ctr">
              <a:buNone/>
            </a:pPr>
            <a:r>
              <a:rPr lang="en-GB" sz="1400" b="1" i="0" dirty="0">
                <a:solidFill>
                  <a:srgbClr val="1A1A1A"/>
                </a:solidFill>
                <a:latin typeface="Arial"/>
                <a:cs typeface="Arial"/>
              </a:rPr>
              <a:t>Both</a:t>
            </a:r>
            <a:endParaRPr lang="en-GB" sz="1400" dirty="0"/>
          </a:p>
        </p:txBody>
      </p:sp>
      <p:sp>
        <p:nvSpPr>
          <p:cNvPr id="25" name="Shape 25"/>
          <p:cNvSpPr txBox="1"/>
          <p:nvPr/>
        </p:nvSpPr>
        <p:spPr>
          <a:xfrm>
            <a:off x="6035040" y="4023360"/>
            <a:ext cx="2331720" cy="640080"/>
          </a:xfrm>
          <a:prstGeom prst="rect">
            <a:avLst/>
          </a:prstGeom>
          <a:noFill/>
          <a:ln>
            <a:noFill/>
          </a:ln>
        </p:spPr>
        <p:txBody>
          <a:bodyPr wrap="square" lIns="18288" tIns="18288" rIns="18288" bIns="18288" anchor="t" rtlCol="0">
            <a:normAutofit/>
          </a:bodyPr>
          <a:lstStyle/>
          <a:p>
            <a:pPr algn="ctr">
              <a:buNone/>
            </a:pPr>
            <a:r>
              <a:rPr lang="en-GB" sz="1200" b="0" i="0" dirty="0">
                <a:solidFill>
                  <a:srgbClr val="595959"/>
                </a:solidFill>
                <a:latin typeface="Arial"/>
                <a:cs typeface="Arial"/>
              </a:rPr>
              <a:t>knobs for the essentials, screen for the rest</a:t>
            </a:r>
            <a:endParaRPr lang="en-GB" sz="1200" dirty="0"/>
          </a:p>
        </p:txBody>
      </p:sp>
      <p:sp>
        <p:nvSpPr>
          <p:cNvPr id="26" name="Shape 26"/>
          <p:cNvSpPr txBox="1"/>
          <p:nvPr/>
        </p:nvSpPr>
        <p:spPr>
          <a:xfrm>
            <a:off x="548640" y="5029200"/>
            <a:ext cx="7955280" cy="1097280"/>
          </a:xfrm>
          <a:prstGeom prst="rect">
            <a:avLst/>
          </a:prstGeom>
          <a:noFill/>
          <a:ln>
            <a:noFill/>
          </a:ln>
        </p:spPr>
        <p:txBody>
          <a:bodyPr wrap="square" lIns="18288" tIns="18288" rIns="18288" bIns="18288" anchor="t" rtlCol="0">
            <a:normAutofit/>
          </a:bodyPr>
          <a:lstStyle/>
          <a:p>
            <a:pPr algn="l">
              <a:buNone/>
            </a:pPr>
            <a:r>
              <a:rPr lang="en-GB" sz="1300" b="1" i="0" dirty="0">
                <a:solidFill>
                  <a:srgbClr val="2D2D8A"/>
                </a:solidFill>
                <a:latin typeface="Arial"/>
                <a:cs typeface="Arial"/>
              </a:rPr>
              <a:t xml:space="preserve">Argue it: </a:t>
            </a:r>
            <a:r>
              <a:rPr lang="en-GB" sz="1300" b="0" i="0" dirty="0">
                <a:solidFill>
                  <a:srgbClr val="1A1A1A"/>
                </a:solidFill>
                <a:latin typeface="Arial"/>
                <a:cs typeface="Arial"/>
              </a:rPr>
              <a:t>a car is an industrial interface — the environment is noisy and moving, and the rate of change is fast. Which way does that push you?</a:t>
            </a:r>
            <a:endParaRPr lang="en-GB" sz="13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200" b="0" i="0" dirty="0">
                <a:solidFill>
                  <a:srgbClr val="2D2D8A"/>
                </a:solidFill>
                <a:latin typeface="Arial"/>
                <a:cs typeface="Arial"/>
              </a:rPr>
              <a:t>Match the interaction style</a:t>
            </a:r>
          </a:p>
        </p:txBody>
      </p:sp>
      <p:sp>
        <p:nvSpPr>
          <p:cNvPr id="11" name="Shape 11"/>
          <p:cNvSpPr/>
          <p:nvPr/>
        </p:nvSpPr>
        <p:spPr>
          <a:xfrm>
            <a:off x="548640" y="1810512"/>
            <a:ext cx="585216" cy="310896"/>
          </a:xfrm>
          <a:prstGeom prst="roundRect">
            <a:avLst>
              <a:gd name="adj" fmla="val 50000"/>
            </a:avLst>
          </a:prstGeom>
          <a:solidFill>
            <a:srgbClr val="333399"/>
          </a:solidFill>
          <a:ln>
            <a:noFill/>
          </a:ln>
        </p:spPr>
        <p:txBody>
          <a:bodyPr wrap="square" lIns="27432" tIns="27432" rIns="27432" bIns="27432" anchor="ctr" rtlCol="0">
            <a:normAutofit/>
          </a:bodyPr>
          <a:lstStyle/>
          <a:p>
            <a:pPr algn="ctr">
              <a:buNone/>
            </a:pPr>
            <a:r>
              <a:rPr lang="en-GB" sz="1100" b="1" i="0" dirty="0">
                <a:solidFill>
                  <a:srgbClr val="FFFFFF"/>
                </a:solidFill>
                <a:latin typeface="Arial"/>
                <a:cs typeface="Arial"/>
              </a:rPr>
              <a:t>QUIZ</a:t>
            </a:r>
            <a:endParaRPr lang="en-GB" sz="1100" dirty="0"/>
          </a:p>
        </p:txBody>
      </p:sp>
      <p:sp>
        <p:nvSpPr>
          <p:cNvPr id="12" name="Shape 12"/>
          <p:cNvSpPr txBox="1"/>
          <p:nvPr/>
        </p:nvSpPr>
        <p:spPr>
          <a:xfrm>
            <a:off x="1243584" y="1810512"/>
            <a:ext cx="5486400" cy="310896"/>
          </a:xfrm>
          <a:prstGeom prst="rect">
            <a:avLst/>
          </a:prstGeom>
          <a:noFill/>
          <a:ln>
            <a:noFill/>
          </a:ln>
        </p:spPr>
        <p:txBody>
          <a:bodyPr wrap="square" lIns="18288" tIns="18288" rIns="18288" bIns="18288" anchor="ctr" rtlCol="0">
            <a:normAutofit/>
          </a:bodyPr>
          <a:lstStyle/>
          <a:p>
            <a:pPr algn="l">
              <a:buNone/>
            </a:pPr>
            <a:r>
              <a:rPr lang="en-GB" sz="1200" b="0" i="1" dirty="0">
                <a:solidFill>
                  <a:srgbClr val="595959"/>
                </a:solidFill>
                <a:latin typeface="Arial"/>
                <a:cs typeface="Arial"/>
              </a:rPr>
              <a:t>3 min · pairs · write 1–8 → A–H</a:t>
            </a:r>
            <a:endParaRPr lang="en-GB" sz="1200" dirty="0"/>
          </a:p>
        </p:txBody>
      </p:sp>
      <p:sp>
        <p:nvSpPr>
          <p:cNvPr id="13" name="Shape 13"/>
          <p:cNvSpPr/>
          <p:nvPr/>
        </p:nvSpPr>
        <p:spPr>
          <a:xfrm>
            <a:off x="548640" y="2322576"/>
            <a:ext cx="329184" cy="329184"/>
          </a:xfrm>
          <a:prstGeom prst="ellipse">
            <a:avLst/>
          </a:prstGeom>
          <a:solidFill>
            <a:srgbClr val="333399"/>
          </a:solidFill>
          <a:ln>
            <a:noFill/>
          </a:ln>
        </p:spPr>
        <p:txBody>
          <a:bodyPr wrap="square" lIns="0" tIns="0" rIns="0" bIns="0" anchor="ctr" rtlCol="0">
            <a:normAutofit/>
          </a:bodyPr>
          <a:lstStyle/>
          <a:p>
            <a:pPr algn="ctr">
              <a:buNone/>
            </a:pPr>
            <a:r>
              <a:rPr lang="en-GB" sz="1200" b="1" i="0" dirty="0">
                <a:solidFill>
                  <a:srgbClr val="FFFFFF"/>
                </a:solidFill>
                <a:latin typeface="Arial"/>
                <a:cs typeface="Arial"/>
              </a:rPr>
              <a:t>1</a:t>
            </a:r>
            <a:endParaRPr lang="en-GB" sz="1200" dirty="0"/>
          </a:p>
        </p:txBody>
      </p:sp>
      <p:sp>
        <p:nvSpPr>
          <p:cNvPr id="14" name="Shape 14"/>
          <p:cNvSpPr/>
          <p:nvPr/>
        </p:nvSpPr>
        <p:spPr>
          <a:xfrm>
            <a:off x="960120" y="2286000"/>
            <a:ext cx="4206240" cy="402336"/>
          </a:xfrm>
          <a:prstGeom prst="rect">
            <a:avLst/>
          </a:prstGeom>
          <a:noFill/>
          <a:ln w="9525">
            <a:solidFill>
              <a:srgbClr val="9DB8BC"/>
            </a:solidFill>
          </a:ln>
        </p:spPr>
        <p:txBody>
          <a:bodyPr wrap="square" lIns="73152" tIns="73152" rIns="73152" bIns="73152" anchor="ctr" rtlCol="0">
            <a:normAutofit/>
          </a:bodyPr>
          <a:lstStyle/>
          <a:p>
            <a:pPr algn="l">
              <a:buNone/>
            </a:pPr>
            <a:r>
              <a:rPr lang="en-GB" sz="1200" b="0" i="0" dirty="0">
                <a:solidFill>
                  <a:srgbClr val="1A1A1A"/>
                </a:solidFill>
                <a:latin typeface="Arial"/>
                <a:cs typeface="Arial"/>
              </a:rPr>
              <a:t>Typing  git commit -m "fix"  in a terminal</a:t>
            </a:r>
            <a:endParaRPr lang="en-GB" sz="1200" dirty="0"/>
          </a:p>
        </p:txBody>
      </p:sp>
      <p:sp>
        <p:nvSpPr>
          <p:cNvPr id="15" name="Shape 15"/>
          <p:cNvSpPr/>
          <p:nvPr/>
        </p:nvSpPr>
        <p:spPr>
          <a:xfrm>
            <a:off x="548640" y="2816352"/>
            <a:ext cx="329184" cy="329184"/>
          </a:xfrm>
          <a:prstGeom prst="ellipse">
            <a:avLst/>
          </a:prstGeom>
          <a:solidFill>
            <a:srgbClr val="333399"/>
          </a:solidFill>
          <a:ln>
            <a:noFill/>
          </a:ln>
        </p:spPr>
        <p:txBody>
          <a:bodyPr wrap="square" lIns="0" tIns="0" rIns="0" bIns="0" anchor="ctr" rtlCol="0">
            <a:normAutofit/>
          </a:bodyPr>
          <a:lstStyle/>
          <a:p>
            <a:pPr algn="ctr">
              <a:buNone/>
            </a:pPr>
            <a:r>
              <a:rPr lang="en-GB" sz="1200" b="1" i="0" dirty="0">
                <a:solidFill>
                  <a:srgbClr val="FFFFFF"/>
                </a:solidFill>
                <a:latin typeface="Arial"/>
                <a:cs typeface="Arial"/>
              </a:rPr>
              <a:t>2</a:t>
            </a:r>
            <a:endParaRPr lang="en-GB" sz="1200" dirty="0"/>
          </a:p>
        </p:txBody>
      </p:sp>
      <p:sp>
        <p:nvSpPr>
          <p:cNvPr id="16" name="Shape 16"/>
          <p:cNvSpPr/>
          <p:nvPr/>
        </p:nvSpPr>
        <p:spPr>
          <a:xfrm>
            <a:off x="960120" y="2779776"/>
            <a:ext cx="4206240" cy="402336"/>
          </a:xfrm>
          <a:prstGeom prst="rect">
            <a:avLst/>
          </a:prstGeom>
          <a:noFill/>
          <a:ln w="9525">
            <a:solidFill>
              <a:srgbClr val="9DB8BC"/>
            </a:solidFill>
          </a:ln>
        </p:spPr>
        <p:txBody>
          <a:bodyPr wrap="square" lIns="73152" tIns="73152" rIns="73152" bIns="73152" anchor="ctr" rtlCol="0">
            <a:normAutofit/>
          </a:bodyPr>
          <a:lstStyle/>
          <a:p>
            <a:pPr algn="l">
              <a:buNone/>
            </a:pPr>
            <a:r>
              <a:rPr lang="en-GB" sz="1200" b="0" i="0" dirty="0">
                <a:solidFill>
                  <a:srgbClr val="1A1A1A"/>
                </a:solidFill>
                <a:latin typeface="Arial"/>
                <a:cs typeface="Arial"/>
              </a:rPr>
              <a:t>ATM: “1 Withdrawal  2 Balance  3 Transfer”</a:t>
            </a:r>
            <a:endParaRPr lang="en-GB" sz="1200" dirty="0"/>
          </a:p>
        </p:txBody>
      </p:sp>
      <p:sp>
        <p:nvSpPr>
          <p:cNvPr id="17" name="Shape 17"/>
          <p:cNvSpPr/>
          <p:nvPr/>
        </p:nvSpPr>
        <p:spPr>
          <a:xfrm>
            <a:off x="548640" y="3310128"/>
            <a:ext cx="329184" cy="329184"/>
          </a:xfrm>
          <a:prstGeom prst="ellipse">
            <a:avLst/>
          </a:prstGeom>
          <a:solidFill>
            <a:srgbClr val="333399"/>
          </a:solidFill>
          <a:ln>
            <a:noFill/>
          </a:ln>
        </p:spPr>
        <p:txBody>
          <a:bodyPr wrap="square" lIns="0" tIns="0" rIns="0" bIns="0" anchor="ctr" rtlCol="0">
            <a:normAutofit/>
          </a:bodyPr>
          <a:lstStyle/>
          <a:p>
            <a:pPr algn="ctr">
              <a:buNone/>
            </a:pPr>
            <a:r>
              <a:rPr lang="en-GB" sz="1200" b="1" i="0" dirty="0">
                <a:solidFill>
                  <a:srgbClr val="FFFFFF"/>
                </a:solidFill>
                <a:latin typeface="Arial"/>
                <a:cs typeface="Arial"/>
              </a:rPr>
              <a:t>3</a:t>
            </a:r>
            <a:endParaRPr lang="en-GB" sz="1200" dirty="0"/>
          </a:p>
        </p:txBody>
      </p:sp>
      <p:sp>
        <p:nvSpPr>
          <p:cNvPr id="18" name="Shape 18"/>
          <p:cNvSpPr/>
          <p:nvPr/>
        </p:nvSpPr>
        <p:spPr>
          <a:xfrm>
            <a:off x="960120" y="3273552"/>
            <a:ext cx="4206240" cy="402336"/>
          </a:xfrm>
          <a:prstGeom prst="rect">
            <a:avLst/>
          </a:prstGeom>
          <a:noFill/>
          <a:ln w="9525">
            <a:solidFill>
              <a:srgbClr val="9DB8BC"/>
            </a:solidFill>
          </a:ln>
        </p:spPr>
        <p:txBody>
          <a:bodyPr wrap="square" lIns="73152" tIns="73152" rIns="73152" bIns="73152" anchor="ctr" rtlCol="0">
            <a:normAutofit/>
          </a:bodyPr>
          <a:lstStyle/>
          <a:p>
            <a:pPr algn="l">
              <a:buNone/>
            </a:pPr>
            <a:r>
              <a:rPr lang="en-GB" sz="1200" b="0" i="0" dirty="0">
                <a:solidFill>
                  <a:srgbClr val="1A1A1A"/>
                </a:solidFill>
                <a:latin typeface="Arial"/>
                <a:cs typeface="Arial"/>
              </a:rPr>
              <a:t>Asking a voice assistant “Weather in Lahore?”</a:t>
            </a:r>
            <a:endParaRPr lang="en-GB" sz="1200" dirty="0"/>
          </a:p>
        </p:txBody>
      </p:sp>
      <p:sp>
        <p:nvSpPr>
          <p:cNvPr id="19" name="Shape 19"/>
          <p:cNvSpPr/>
          <p:nvPr/>
        </p:nvSpPr>
        <p:spPr>
          <a:xfrm>
            <a:off x="548640" y="3803904"/>
            <a:ext cx="329184" cy="329184"/>
          </a:xfrm>
          <a:prstGeom prst="ellipse">
            <a:avLst/>
          </a:prstGeom>
          <a:solidFill>
            <a:srgbClr val="333399"/>
          </a:solidFill>
          <a:ln>
            <a:noFill/>
          </a:ln>
        </p:spPr>
        <p:txBody>
          <a:bodyPr wrap="square" lIns="0" tIns="0" rIns="0" bIns="0" anchor="ctr" rtlCol="0">
            <a:normAutofit/>
          </a:bodyPr>
          <a:lstStyle/>
          <a:p>
            <a:pPr algn="ctr">
              <a:buNone/>
            </a:pPr>
            <a:r>
              <a:rPr lang="en-GB" sz="1200" b="1" i="0" dirty="0">
                <a:solidFill>
                  <a:srgbClr val="FFFFFF"/>
                </a:solidFill>
                <a:latin typeface="Arial"/>
                <a:cs typeface="Arial"/>
              </a:rPr>
              <a:t>4</a:t>
            </a:r>
            <a:endParaRPr lang="en-GB" sz="1200" dirty="0"/>
          </a:p>
        </p:txBody>
      </p:sp>
      <p:sp>
        <p:nvSpPr>
          <p:cNvPr id="20" name="Shape 20"/>
          <p:cNvSpPr/>
          <p:nvPr/>
        </p:nvSpPr>
        <p:spPr>
          <a:xfrm>
            <a:off x="960120" y="3767328"/>
            <a:ext cx="4206240" cy="402336"/>
          </a:xfrm>
          <a:prstGeom prst="rect">
            <a:avLst/>
          </a:prstGeom>
          <a:noFill/>
          <a:ln w="9525">
            <a:solidFill>
              <a:srgbClr val="9DB8BC"/>
            </a:solidFill>
          </a:ln>
        </p:spPr>
        <p:txBody>
          <a:bodyPr wrap="square" lIns="73152" tIns="73152" rIns="73152" bIns="73152" anchor="ctr" rtlCol="0">
            <a:normAutofit/>
          </a:bodyPr>
          <a:lstStyle/>
          <a:p>
            <a:pPr algn="l">
              <a:buNone/>
            </a:pPr>
            <a:r>
              <a:rPr lang="en-GB" sz="1200" b="0" i="0" dirty="0">
                <a:solidFill>
                  <a:srgbClr val="1A1A1A"/>
                </a:solidFill>
                <a:latin typeface="Arial"/>
                <a:cs typeface="Arial"/>
              </a:rPr>
              <a:t>Online admission form: name, CNIC, marks</a:t>
            </a:r>
            <a:endParaRPr lang="en-GB" sz="1200" dirty="0"/>
          </a:p>
        </p:txBody>
      </p:sp>
      <p:sp>
        <p:nvSpPr>
          <p:cNvPr id="21" name="Shape 21"/>
          <p:cNvSpPr/>
          <p:nvPr/>
        </p:nvSpPr>
        <p:spPr>
          <a:xfrm>
            <a:off x="548640" y="4297680"/>
            <a:ext cx="329184" cy="329184"/>
          </a:xfrm>
          <a:prstGeom prst="ellipse">
            <a:avLst/>
          </a:prstGeom>
          <a:solidFill>
            <a:srgbClr val="333399"/>
          </a:solidFill>
          <a:ln>
            <a:noFill/>
          </a:ln>
        </p:spPr>
        <p:txBody>
          <a:bodyPr wrap="square" lIns="0" tIns="0" rIns="0" bIns="0" anchor="ctr" rtlCol="0">
            <a:normAutofit/>
          </a:bodyPr>
          <a:lstStyle/>
          <a:p>
            <a:pPr algn="ctr">
              <a:buNone/>
            </a:pPr>
            <a:r>
              <a:rPr lang="en-GB" sz="1200" b="1" i="0" dirty="0">
                <a:solidFill>
                  <a:srgbClr val="FFFFFF"/>
                </a:solidFill>
                <a:latin typeface="Arial"/>
                <a:cs typeface="Arial"/>
              </a:rPr>
              <a:t>5</a:t>
            </a:r>
            <a:endParaRPr lang="en-GB" sz="1200" dirty="0"/>
          </a:p>
        </p:txBody>
      </p:sp>
      <p:sp>
        <p:nvSpPr>
          <p:cNvPr id="22" name="Shape 22"/>
          <p:cNvSpPr/>
          <p:nvPr/>
        </p:nvSpPr>
        <p:spPr>
          <a:xfrm>
            <a:off x="960120" y="4261104"/>
            <a:ext cx="4206240" cy="402336"/>
          </a:xfrm>
          <a:prstGeom prst="rect">
            <a:avLst/>
          </a:prstGeom>
          <a:noFill/>
          <a:ln w="9525">
            <a:solidFill>
              <a:srgbClr val="9DB8BC"/>
            </a:solidFill>
          </a:ln>
        </p:spPr>
        <p:txBody>
          <a:bodyPr wrap="square" lIns="73152" tIns="73152" rIns="73152" bIns="73152" anchor="ctr" rtlCol="0">
            <a:normAutofit/>
          </a:bodyPr>
          <a:lstStyle/>
          <a:p>
            <a:pPr algn="l">
              <a:buNone/>
            </a:pPr>
            <a:r>
              <a:rPr lang="en-GB" sz="1200" b="0" i="0" dirty="0">
                <a:solidFill>
                  <a:srgbClr val="1A1A1A"/>
                </a:solidFill>
                <a:latin typeface="Arial"/>
                <a:cs typeface="Arial"/>
              </a:rPr>
              <a:t>Shop’s monthly sales sheet with a SUM formula</a:t>
            </a:r>
            <a:endParaRPr lang="en-GB" sz="1200" dirty="0"/>
          </a:p>
        </p:txBody>
      </p:sp>
      <p:sp>
        <p:nvSpPr>
          <p:cNvPr id="23" name="Shape 23"/>
          <p:cNvSpPr/>
          <p:nvPr/>
        </p:nvSpPr>
        <p:spPr>
          <a:xfrm>
            <a:off x="548640" y="4791456"/>
            <a:ext cx="329184" cy="329184"/>
          </a:xfrm>
          <a:prstGeom prst="ellipse">
            <a:avLst/>
          </a:prstGeom>
          <a:solidFill>
            <a:srgbClr val="333399"/>
          </a:solidFill>
          <a:ln>
            <a:noFill/>
          </a:ln>
        </p:spPr>
        <p:txBody>
          <a:bodyPr wrap="square" lIns="0" tIns="0" rIns="0" bIns="0" anchor="ctr" rtlCol="0">
            <a:normAutofit/>
          </a:bodyPr>
          <a:lstStyle/>
          <a:p>
            <a:pPr algn="ctr">
              <a:buNone/>
            </a:pPr>
            <a:r>
              <a:rPr lang="en-GB" sz="1200" b="1" i="0" dirty="0">
                <a:solidFill>
                  <a:srgbClr val="FFFFFF"/>
                </a:solidFill>
                <a:latin typeface="Arial"/>
                <a:cs typeface="Arial"/>
              </a:rPr>
              <a:t>6</a:t>
            </a:r>
            <a:endParaRPr lang="en-GB" sz="1200" dirty="0"/>
          </a:p>
        </p:txBody>
      </p:sp>
      <p:sp>
        <p:nvSpPr>
          <p:cNvPr id="24" name="Shape 24"/>
          <p:cNvSpPr/>
          <p:nvPr/>
        </p:nvSpPr>
        <p:spPr>
          <a:xfrm>
            <a:off x="960120" y="4754880"/>
            <a:ext cx="4206240" cy="402336"/>
          </a:xfrm>
          <a:prstGeom prst="rect">
            <a:avLst/>
          </a:prstGeom>
          <a:noFill/>
          <a:ln w="9525">
            <a:solidFill>
              <a:srgbClr val="9DB8BC"/>
            </a:solidFill>
          </a:ln>
        </p:spPr>
        <p:txBody>
          <a:bodyPr wrap="square" lIns="73152" tIns="73152" rIns="73152" bIns="73152" anchor="ctr" rtlCol="0">
            <a:normAutofit/>
          </a:bodyPr>
          <a:lstStyle/>
          <a:p>
            <a:pPr algn="l">
              <a:buNone/>
            </a:pPr>
            <a:r>
              <a:rPr lang="en-GB" sz="1200" b="0" i="0" dirty="0">
                <a:solidFill>
                  <a:srgbClr val="1A1A1A"/>
                </a:solidFill>
                <a:latin typeface="Arial"/>
                <a:cs typeface="Arial"/>
              </a:rPr>
              <a:t>Dragging a file into a folder on the desktop</a:t>
            </a:r>
            <a:endParaRPr lang="en-GB" sz="1200" dirty="0"/>
          </a:p>
        </p:txBody>
      </p:sp>
      <p:sp>
        <p:nvSpPr>
          <p:cNvPr id="25" name="Shape 25"/>
          <p:cNvSpPr/>
          <p:nvPr/>
        </p:nvSpPr>
        <p:spPr>
          <a:xfrm>
            <a:off x="548640" y="5285232"/>
            <a:ext cx="329184" cy="329184"/>
          </a:xfrm>
          <a:prstGeom prst="ellipse">
            <a:avLst/>
          </a:prstGeom>
          <a:solidFill>
            <a:srgbClr val="333399"/>
          </a:solidFill>
          <a:ln>
            <a:noFill/>
          </a:ln>
        </p:spPr>
        <p:txBody>
          <a:bodyPr wrap="square" lIns="0" tIns="0" rIns="0" bIns="0" anchor="ctr" rtlCol="0">
            <a:normAutofit/>
          </a:bodyPr>
          <a:lstStyle/>
          <a:p>
            <a:pPr algn="ctr">
              <a:buNone/>
            </a:pPr>
            <a:r>
              <a:rPr lang="en-GB" sz="1200" b="1" i="0" dirty="0">
                <a:solidFill>
                  <a:srgbClr val="FFFFFF"/>
                </a:solidFill>
                <a:latin typeface="Arial"/>
                <a:cs typeface="Arial"/>
              </a:rPr>
              <a:t>7</a:t>
            </a:r>
            <a:endParaRPr lang="en-GB" sz="1200" dirty="0"/>
          </a:p>
        </p:txBody>
      </p:sp>
      <p:sp>
        <p:nvSpPr>
          <p:cNvPr id="26" name="Shape 26"/>
          <p:cNvSpPr/>
          <p:nvPr/>
        </p:nvSpPr>
        <p:spPr>
          <a:xfrm>
            <a:off x="960120" y="5248656"/>
            <a:ext cx="4206240" cy="402336"/>
          </a:xfrm>
          <a:prstGeom prst="rect">
            <a:avLst/>
          </a:prstGeom>
          <a:noFill/>
          <a:ln w="9525">
            <a:solidFill>
              <a:srgbClr val="9DB8BC"/>
            </a:solidFill>
          </a:ln>
        </p:spPr>
        <p:txBody>
          <a:bodyPr wrap="square" lIns="73152" tIns="73152" rIns="73152" bIns="73152" anchor="ctr" rtlCol="0">
            <a:normAutofit/>
          </a:bodyPr>
          <a:lstStyle/>
          <a:p>
            <a:pPr algn="l">
              <a:buNone/>
            </a:pPr>
            <a:r>
              <a:rPr lang="en-GB" sz="1200" b="0" i="0" dirty="0">
                <a:solidFill>
                  <a:srgbClr val="1A1A1A"/>
                </a:solidFill>
                <a:latin typeface="Arial"/>
                <a:cs typeface="Arial"/>
              </a:rPr>
              <a:t>Tapping a pin on a map to see a restaurant</a:t>
            </a:r>
            <a:endParaRPr lang="en-GB" sz="1200" dirty="0"/>
          </a:p>
        </p:txBody>
      </p:sp>
      <p:sp>
        <p:nvSpPr>
          <p:cNvPr id="27" name="Shape 27"/>
          <p:cNvSpPr/>
          <p:nvPr/>
        </p:nvSpPr>
        <p:spPr>
          <a:xfrm>
            <a:off x="548640" y="5779008"/>
            <a:ext cx="329184" cy="329184"/>
          </a:xfrm>
          <a:prstGeom prst="ellipse">
            <a:avLst/>
          </a:prstGeom>
          <a:solidFill>
            <a:srgbClr val="333399"/>
          </a:solidFill>
          <a:ln>
            <a:noFill/>
          </a:ln>
        </p:spPr>
        <p:txBody>
          <a:bodyPr wrap="square" lIns="0" tIns="0" rIns="0" bIns="0" anchor="ctr" rtlCol="0">
            <a:normAutofit/>
          </a:bodyPr>
          <a:lstStyle/>
          <a:p>
            <a:pPr algn="ctr">
              <a:buNone/>
            </a:pPr>
            <a:r>
              <a:rPr lang="en-GB" sz="1200" b="1" i="0" dirty="0">
                <a:solidFill>
                  <a:srgbClr val="FFFFFF"/>
                </a:solidFill>
                <a:latin typeface="Arial"/>
                <a:cs typeface="Arial"/>
              </a:rPr>
              <a:t>8</a:t>
            </a:r>
            <a:endParaRPr lang="en-GB" sz="1200" dirty="0"/>
          </a:p>
        </p:txBody>
      </p:sp>
      <p:sp>
        <p:nvSpPr>
          <p:cNvPr id="28" name="Shape 28"/>
          <p:cNvSpPr/>
          <p:nvPr/>
        </p:nvSpPr>
        <p:spPr>
          <a:xfrm>
            <a:off x="960120" y="5742432"/>
            <a:ext cx="4206240" cy="402336"/>
          </a:xfrm>
          <a:prstGeom prst="rect">
            <a:avLst/>
          </a:prstGeom>
          <a:noFill/>
          <a:ln w="9525">
            <a:solidFill>
              <a:srgbClr val="9DB8BC"/>
            </a:solidFill>
          </a:ln>
        </p:spPr>
        <p:txBody>
          <a:bodyPr wrap="square" lIns="73152" tIns="73152" rIns="73152" bIns="73152" anchor="ctr" rtlCol="0">
            <a:normAutofit/>
          </a:bodyPr>
          <a:lstStyle/>
          <a:p>
            <a:pPr algn="l">
              <a:buNone/>
            </a:pPr>
            <a:r>
              <a:rPr lang="en-GB" sz="1200" b="0" i="0" dirty="0">
                <a:solidFill>
                  <a:srgbClr val="1A1A1A"/>
                </a:solidFill>
                <a:latin typeface="Arial"/>
                <a:cs typeface="Arial"/>
              </a:rPr>
              <a:t>Walking around a museum in a VR headset</a:t>
            </a:r>
            <a:endParaRPr lang="en-GB" sz="1200" dirty="0"/>
          </a:p>
        </p:txBody>
      </p:sp>
      <p:sp>
        <p:nvSpPr>
          <p:cNvPr id="29" name="Shape 29"/>
          <p:cNvSpPr/>
          <p:nvPr/>
        </p:nvSpPr>
        <p:spPr>
          <a:xfrm>
            <a:off x="6355080" y="2286000"/>
            <a:ext cx="2148840" cy="402336"/>
          </a:xfrm>
          <a:prstGeom prst="roundRect">
            <a:avLst>
              <a:gd name="adj" fmla="val 30000"/>
            </a:avLst>
          </a:prstGeom>
          <a:solidFill>
            <a:srgbClr val="F3F8F9"/>
          </a:solidFill>
          <a:ln w="9525">
            <a:solidFill>
              <a:srgbClr val="9DB8BC"/>
            </a:solidFill>
          </a:ln>
        </p:spPr>
        <p:txBody>
          <a:bodyPr wrap="square" lIns="91440" tIns="91440" rIns="91440" bIns="91440" anchor="ctr" rtlCol="0">
            <a:normAutofit/>
          </a:bodyPr>
          <a:lstStyle/>
          <a:p>
            <a:pPr algn="l">
              <a:buNone/>
            </a:pPr>
            <a:r>
              <a:rPr lang="en-GB" sz="1200" b="1" i="0" dirty="0">
                <a:solidFill>
                  <a:srgbClr val="333399"/>
                </a:solidFill>
                <a:latin typeface="Arial"/>
                <a:cs typeface="Arial"/>
              </a:rPr>
              <a:t xml:space="preserve">A  </a:t>
            </a:r>
            <a:r>
              <a:rPr lang="en-GB" sz="1200" b="0" i="0" dirty="0">
                <a:solidFill>
                  <a:srgbClr val="1A1A1A"/>
                </a:solidFill>
                <a:latin typeface="Arial"/>
                <a:cs typeface="Arial"/>
              </a:rPr>
              <a:t>WIMP</a:t>
            </a:r>
            <a:endParaRPr lang="en-GB" sz="1200" dirty="0"/>
          </a:p>
        </p:txBody>
      </p:sp>
      <p:sp>
        <p:nvSpPr>
          <p:cNvPr id="30" name="Shape 30"/>
          <p:cNvSpPr/>
          <p:nvPr/>
        </p:nvSpPr>
        <p:spPr>
          <a:xfrm>
            <a:off x="6355080" y="2779776"/>
            <a:ext cx="2148840" cy="402336"/>
          </a:xfrm>
          <a:prstGeom prst="roundRect">
            <a:avLst>
              <a:gd name="adj" fmla="val 30000"/>
            </a:avLst>
          </a:prstGeom>
          <a:solidFill>
            <a:srgbClr val="F3F8F9"/>
          </a:solidFill>
          <a:ln w="9525">
            <a:solidFill>
              <a:srgbClr val="9DB8BC"/>
            </a:solidFill>
          </a:ln>
        </p:spPr>
        <p:txBody>
          <a:bodyPr wrap="square" lIns="91440" tIns="91440" rIns="91440" bIns="91440" anchor="ctr" rtlCol="0">
            <a:normAutofit/>
          </a:bodyPr>
          <a:lstStyle/>
          <a:p>
            <a:pPr algn="l">
              <a:buNone/>
            </a:pPr>
            <a:r>
              <a:rPr lang="en-GB" sz="1200" b="1" i="0" dirty="0">
                <a:solidFill>
                  <a:srgbClr val="333399"/>
                </a:solidFill>
                <a:latin typeface="Arial"/>
                <a:cs typeface="Arial"/>
              </a:rPr>
              <a:t xml:space="preserve">B  </a:t>
            </a:r>
            <a:r>
              <a:rPr lang="en-GB" sz="1200" b="0" i="0" dirty="0">
                <a:solidFill>
                  <a:srgbClr val="1A1A1A"/>
                </a:solidFill>
                <a:latin typeface="Arial"/>
                <a:cs typeface="Arial"/>
              </a:rPr>
              <a:t>Form-fill</a:t>
            </a:r>
            <a:endParaRPr lang="en-GB" sz="1200" dirty="0"/>
          </a:p>
        </p:txBody>
      </p:sp>
      <p:sp>
        <p:nvSpPr>
          <p:cNvPr id="31" name="Shape 31"/>
          <p:cNvSpPr/>
          <p:nvPr/>
        </p:nvSpPr>
        <p:spPr>
          <a:xfrm>
            <a:off x="6355080" y="3273552"/>
            <a:ext cx="2148840" cy="402336"/>
          </a:xfrm>
          <a:prstGeom prst="roundRect">
            <a:avLst>
              <a:gd name="adj" fmla="val 30000"/>
            </a:avLst>
          </a:prstGeom>
          <a:solidFill>
            <a:srgbClr val="F3F8F9"/>
          </a:solidFill>
          <a:ln w="9525">
            <a:solidFill>
              <a:srgbClr val="9DB8BC"/>
            </a:solidFill>
          </a:ln>
        </p:spPr>
        <p:txBody>
          <a:bodyPr wrap="square" lIns="91440" tIns="91440" rIns="91440" bIns="91440" anchor="ctr" rtlCol="0">
            <a:normAutofit/>
          </a:bodyPr>
          <a:lstStyle/>
          <a:p>
            <a:pPr algn="l">
              <a:buNone/>
            </a:pPr>
            <a:r>
              <a:rPr lang="en-GB" sz="1200" b="1" i="0" dirty="0">
                <a:solidFill>
                  <a:srgbClr val="333399"/>
                </a:solidFill>
                <a:latin typeface="Arial"/>
                <a:cs typeface="Arial"/>
              </a:rPr>
              <a:t xml:space="preserve">C  </a:t>
            </a:r>
            <a:r>
              <a:rPr lang="en-GB" sz="1200" b="0" i="0" dirty="0">
                <a:solidFill>
                  <a:srgbClr val="1A1A1A"/>
                </a:solidFill>
                <a:latin typeface="Arial"/>
                <a:cs typeface="Arial"/>
              </a:rPr>
              <a:t>Command line</a:t>
            </a:r>
            <a:endParaRPr lang="en-GB" sz="1200" dirty="0"/>
          </a:p>
        </p:txBody>
      </p:sp>
      <p:sp>
        <p:nvSpPr>
          <p:cNvPr id="32" name="Shape 32"/>
          <p:cNvSpPr/>
          <p:nvPr/>
        </p:nvSpPr>
        <p:spPr>
          <a:xfrm>
            <a:off x="6355080" y="3767328"/>
            <a:ext cx="2148840" cy="402336"/>
          </a:xfrm>
          <a:prstGeom prst="roundRect">
            <a:avLst>
              <a:gd name="adj" fmla="val 30000"/>
            </a:avLst>
          </a:prstGeom>
          <a:solidFill>
            <a:srgbClr val="F3F8F9"/>
          </a:solidFill>
          <a:ln w="9525">
            <a:solidFill>
              <a:srgbClr val="9DB8BC"/>
            </a:solidFill>
          </a:ln>
        </p:spPr>
        <p:txBody>
          <a:bodyPr wrap="square" lIns="91440" tIns="91440" rIns="91440" bIns="91440" anchor="ctr" rtlCol="0">
            <a:normAutofit/>
          </a:bodyPr>
          <a:lstStyle/>
          <a:p>
            <a:pPr algn="l">
              <a:buNone/>
            </a:pPr>
            <a:r>
              <a:rPr lang="en-GB" sz="1200" b="1" i="0" dirty="0">
                <a:solidFill>
                  <a:srgbClr val="333399"/>
                </a:solidFill>
                <a:latin typeface="Arial"/>
                <a:cs typeface="Arial"/>
              </a:rPr>
              <a:t xml:space="preserve">D  </a:t>
            </a:r>
            <a:r>
              <a:rPr lang="en-GB" sz="1200" b="0" i="0" dirty="0">
                <a:solidFill>
                  <a:srgbClr val="1A1A1A"/>
                </a:solidFill>
                <a:latin typeface="Arial"/>
                <a:cs typeface="Arial"/>
              </a:rPr>
              <a:t>Three-dimensional</a:t>
            </a:r>
            <a:endParaRPr lang="en-GB" sz="1200" dirty="0"/>
          </a:p>
        </p:txBody>
      </p:sp>
      <p:sp>
        <p:nvSpPr>
          <p:cNvPr id="33" name="Shape 33"/>
          <p:cNvSpPr/>
          <p:nvPr/>
        </p:nvSpPr>
        <p:spPr>
          <a:xfrm>
            <a:off x="6355080" y="4261104"/>
            <a:ext cx="2148840" cy="402336"/>
          </a:xfrm>
          <a:prstGeom prst="roundRect">
            <a:avLst>
              <a:gd name="adj" fmla="val 30000"/>
            </a:avLst>
          </a:prstGeom>
          <a:solidFill>
            <a:srgbClr val="F3F8F9"/>
          </a:solidFill>
          <a:ln w="9525">
            <a:solidFill>
              <a:srgbClr val="9DB8BC"/>
            </a:solidFill>
          </a:ln>
        </p:spPr>
        <p:txBody>
          <a:bodyPr wrap="square" lIns="91440" tIns="91440" rIns="91440" bIns="91440" anchor="ctr" rtlCol="0">
            <a:normAutofit/>
          </a:bodyPr>
          <a:lstStyle/>
          <a:p>
            <a:pPr algn="l">
              <a:buNone/>
            </a:pPr>
            <a:r>
              <a:rPr lang="en-GB" sz="1200" b="1" i="0" dirty="0">
                <a:solidFill>
                  <a:srgbClr val="333399"/>
                </a:solidFill>
                <a:latin typeface="Arial"/>
                <a:cs typeface="Arial"/>
              </a:rPr>
              <a:t xml:space="preserve">E  </a:t>
            </a:r>
            <a:r>
              <a:rPr lang="en-GB" sz="1200" b="0" i="0" dirty="0">
                <a:solidFill>
                  <a:srgbClr val="1A1A1A"/>
                </a:solidFill>
                <a:latin typeface="Arial"/>
                <a:cs typeface="Arial"/>
              </a:rPr>
              <a:t>Menus</a:t>
            </a:r>
            <a:endParaRPr lang="en-GB" sz="1200" dirty="0"/>
          </a:p>
        </p:txBody>
      </p:sp>
      <p:sp>
        <p:nvSpPr>
          <p:cNvPr id="34" name="Shape 34"/>
          <p:cNvSpPr/>
          <p:nvPr/>
        </p:nvSpPr>
        <p:spPr>
          <a:xfrm>
            <a:off x="6355080" y="4754880"/>
            <a:ext cx="2148840" cy="402336"/>
          </a:xfrm>
          <a:prstGeom prst="roundRect">
            <a:avLst>
              <a:gd name="adj" fmla="val 30000"/>
            </a:avLst>
          </a:prstGeom>
          <a:solidFill>
            <a:srgbClr val="F3F8F9"/>
          </a:solidFill>
          <a:ln w="9525">
            <a:solidFill>
              <a:srgbClr val="9DB8BC"/>
            </a:solidFill>
          </a:ln>
        </p:spPr>
        <p:txBody>
          <a:bodyPr wrap="square" lIns="91440" tIns="91440" rIns="91440" bIns="91440" anchor="ctr" rtlCol="0">
            <a:normAutofit/>
          </a:bodyPr>
          <a:lstStyle/>
          <a:p>
            <a:pPr algn="l">
              <a:buNone/>
            </a:pPr>
            <a:r>
              <a:rPr lang="en-GB" sz="1200" b="1" i="0" dirty="0">
                <a:solidFill>
                  <a:srgbClr val="333399"/>
                </a:solidFill>
                <a:latin typeface="Arial"/>
                <a:cs typeface="Arial"/>
              </a:rPr>
              <a:t xml:space="preserve">F  </a:t>
            </a:r>
            <a:r>
              <a:rPr lang="en-GB" sz="1200" b="0" i="0" dirty="0">
                <a:solidFill>
                  <a:srgbClr val="1A1A1A"/>
                </a:solidFill>
                <a:latin typeface="Arial"/>
                <a:cs typeface="Arial"/>
              </a:rPr>
              <a:t>Point and click</a:t>
            </a:r>
            <a:endParaRPr lang="en-GB" sz="1200" dirty="0"/>
          </a:p>
        </p:txBody>
      </p:sp>
      <p:sp>
        <p:nvSpPr>
          <p:cNvPr id="35" name="Shape 35"/>
          <p:cNvSpPr/>
          <p:nvPr/>
        </p:nvSpPr>
        <p:spPr>
          <a:xfrm>
            <a:off x="6355080" y="5248656"/>
            <a:ext cx="2148840" cy="402336"/>
          </a:xfrm>
          <a:prstGeom prst="roundRect">
            <a:avLst>
              <a:gd name="adj" fmla="val 30000"/>
            </a:avLst>
          </a:prstGeom>
          <a:solidFill>
            <a:srgbClr val="F3F8F9"/>
          </a:solidFill>
          <a:ln w="9525">
            <a:solidFill>
              <a:srgbClr val="9DB8BC"/>
            </a:solidFill>
          </a:ln>
        </p:spPr>
        <p:txBody>
          <a:bodyPr wrap="square" lIns="91440" tIns="91440" rIns="91440" bIns="91440" anchor="ctr" rtlCol="0">
            <a:normAutofit/>
          </a:bodyPr>
          <a:lstStyle/>
          <a:p>
            <a:pPr algn="l">
              <a:buNone/>
            </a:pPr>
            <a:r>
              <a:rPr lang="en-GB" sz="1200" b="1" i="0" dirty="0">
                <a:solidFill>
                  <a:srgbClr val="333399"/>
                </a:solidFill>
                <a:latin typeface="Arial"/>
                <a:cs typeface="Arial"/>
              </a:rPr>
              <a:t xml:space="preserve">G  </a:t>
            </a:r>
            <a:r>
              <a:rPr lang="en-GB" sz="1200" b="0" i="0" dirty="0">
                <a:solidFill>
                  <a:srgbClr val="1A1A1A"/>
                </a:solidFill>
                <a:latin typeface="Arial"/>
                <a:cs typeface="Arial"/>
              </a:rPr>
              <a:t>Natural language</a:t>
            </a:r>
            <a:endParaRPr lang="en-GB" sz="1200" dirty="0"/>
          </a:p>
        </p:txBody>
      </p:sp>
      <p:sp>
        <p:nvSpPr>
          <p:cNvPr id="36" name="Shape 36"/>
          <p:cNvSpPr/>
          <p:nvPr/>
        </p:nvSpPr>
        <p:spPr>
          <a:xfrm>
            <a:off x="6355080" y="5742432"/>
            <a:ext cx="2148840" cy="402336"/>
          </a:xfrm>
          <a:prstGeom prst="roundRect">
            <a:avLst>
              <a:gd name="adj" fmla="val 30000"/>
            </a:avLst>
          </a:prstGeom>
          <a:solidFill>
            <a:srgbClr val="F3F8F9"/>
          </a:solidFill>
          <a:ln w="9525">
            <a:solidFill>
              <a:srgbClr val="9DB8BC"/>
            </a:solidFill>
          </a:ln>
        </p:spPr>
        <p:txBody>
          <a:bodyPr wrap="square" lIns="91440" tIns="91440" rIns="91440" bIns="91440" anchor="ctr" rtlCol="0">
            <a:normAutofit/>
          </a:bodyPr>
          <a:lstStyle/>
          <a:p>
            <a:pPr algn="l">
              <a:buNone/>
            </a:pPr>
            <a:r>
              <a:rPr lang="en-GB" sz="1200" b="1" i="0" dirty="0">
                <a:solidFill>
                  <a:srgbClr val="333399"/>
                </a:solidFill>
                <a:latin typeface="Arial"/>
                <a:cs typeface="Arial"/>
              </a:rPr>
              <a:t xml:space="preserve">H  </a:t>
            </a:r>
            <a:r>
              <a:rPr lang="en-GB" sz="1200" b="0" i="0" dirty="0">
                <a:solidFill>
                  <a:srgbClr val="1A1A1A"/>
                </a:solidFill>
                <a:latin typeface="Arial"/>
                <a:cs typeface="Arial"/>
              </a:rPr>
              <a:t>Spreadsheet</a:t>
            </a:r>
            <a:endParaRPr lang="en-GB" sz="12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200" b="0" i="0" dirty="0">
                <a:solidFill>
                  <a:srgbClr val="2D2D8A"/>
                </a:solidFill>
                <a:latin typeface="Arial"/>
                <a:cs typeface="Arial"/>
              </a:rPr>
              <a:t>Match the interaction style</a:t>
            </a:r>
          </a:p>
        </p:txBody>
      </p:sp>
      <p:sp>
        <p:nvSpPr>
          <p:cNvPr id="11" name="Shape 11"/>
          <p:cNvSpPr/>
          <p:nvPr/>
        </p:nvSpPr>
        <p:spPr>
          <a:xfrm>
            <a:off x="548640" y="1810512"/>
            <a:ext cx="873252" cy="310896"/>
          </a:xfrm>
          <a:prstGeom prst="roundRect">
            <a:avLst>
              <a:gd name="adj" fmla="val 50000"/>
            </a:avLst>
          </a:prstGeom>
          <a:solidFill>
            <a:srgbClr val="404040"/>
          </a:solidFill>
          <a:ln>
            <a:noFill/>
          </a:ln>
        </p:spPr>
        <p:txBody>
          <a:bodyPr wrap="square" lIns="27432" tIns="27432" rIns="27432" bIns="27432" anchor="ctr" rtlCol="0">
            <a:normAutofit/>
          </a:bodyPr>
          <a:lstStyle/>
          <a:p>
            <a:pPr algn="ctr">
              <a:buNone/>
            </a:pPr>
            <a:r>
              <a:rPr lang="en-GB" sz="1100" b="1" i="0" dirty="0">
                <a:solidFill>
                  <a:srgbClr val="FFFFFF"/>
                </a:solidFill>
                <a:latin typeface="Arial"/>
                <a:cs typeface="Arial"/>
              </a:rPr>
              <a:t>ANSWERS</a:t>
            </a:r>
            <a:endParaRPr lang="en-GB" sz="1100" dirty="0"/>
          </a:p>
        </p:txBody>
      </p:sp>
      <p:sp>
        <p:nvSpPr>
          <p:cNvPr id="12" name="Shape 12"/>
          <p:cNvSpPr/>
          <p:nvPr/>
        </p:nvSpPr>
        <p:spPr>
          <a:xfrm>
            <a:off x="548640" y="2322576"/>
            <a:ext cx="329184" cy="329184"/>
          </a:xfrm>
          <a:prstGeom prst="ellipse">
            <a:avLst/>
          </a:prstGeom>
          <a:solidFill>
            <a:srgbClr val="333399"/>
          </a:solidFill>
          <a:ln>
            <a:noFill/>
          </a:ln>
        </p:spPr>
        <p:txBody>
          <a:bodyPr wrap="square" lIns="0" tIns="0" rIns="0" bIns="0" anchor="ctr" rtlCol="0">
            <a:normAutofit/>
          </a:bodyPr>
          <a:lstStyle/>
          <a:p>
            <a:pPr algn="ctr">
              <a:buNone/>
            </a:pPr>
            <a:r>
              <a:rPr lang="en-GB" sz="1200" b="1" i="0" dirty="0">
                <a:solidFill>
                  <a:srgbClr val="FFFFFF"/>
                </a:solidFill>
                <a:latin typeface="Arial"/>
                <a:cs typeface="Arial"/>
              </a:rPr>
              <a:t>1</a:t>
            </a:r>
            <a:endParaRPr lang="en-GB" sz="1200" dirty="0"/>
          </a:p>
        </p:txBody>
      </p:sp>
      <p:sp>
        <p:nvSpPr>
          <p:cNvPr id="13" name="Shape 13"/>
          <p:cNvSpPr/>
          <p:nvPr/>
        </p:nvSpPr>
        <p:spPr>
          <a:xfrm>
            <a:off x="960120" y="2286000"/>
            <a:ext cx="4206240" cy="402336"/>
          </a:xfrm>
          <a:prstGeom prst="rect">
            <a:avLst/>
          </a:prstGeom>
          <a:noFill/>
          <a:ln w="9525">
            <a:solidFill>
              <a:srgbClr val="9DB8BC"/>
            </a:solidFill>
          </a:ln>
        </p:spPr>
        <p:txBody>
          <a:bodyPr wrap="square" lIns="73152" tIns="73152" rIns="73152" bIns="73152" anchor="ctr" rtlCol="0">
            <a:normAutofit/>
          </a:bodyPr>
          <a:lstStyle/>
          <a:p>
            <a:pPr algn="l">
              <a:buNone/>
            </a:pPr>
            <a:r>
              <a:rPr lang="en-GB" sz="1200" b="0" i="0" dirty="0">
                <a:solidFill>
                  <a:srgbClr val="1A1A1A"/>
                </a:solidFill>
                <a:latin typeface="Arial"/>
                <a:cs typeface="Arial"/>
              </a:rPr>
              <a:t>Typing  git commit -m "fix"  in a terminal</a:t>
            </a:r>
            <a:endParaRPr lang="en-GB" sz="1200" dirty="0"/>
          </a:p>
        </p:txBody>
      </p:sp>
      <p:sp>
        <p:nvSpPr>
          <p:cNvPr id="14" name="Shape 14"/>
          <p:cNvSpPr/>
          <p:nvPr/>
        </p:nvSpPr>
        <p:spPr>
          <a:xfrm>
            <a:off x="5230368" y="2350008"/>
            <a:ext cx="457200" cy="274320"/>
          </a:xfrm>
          <a:prstGeom prst="roundRect">
            <a:avLst>
              <a:gd name="adj" fmla="val 50000"/>
            </a:avLst>
          </a:prstGeom>
          <a:solidFill>
            <a:srgbClr val="4E7A12"/>
          </a:solidFill>
          <a:ln>
            <a:noFill/>
          </a:ln>
        </p:spPr>
        <p:txBody>
          <a:bodyPr wrap="square" lIns="18288" tIns="18288" rIns="18288" bIns="18288" anchor="ctr" rtlCol="0">
            <a:normAutofit/>
          </a:bodyPr>
          <a:lstStyle/>
          <a:p>
            <a:pPr algn="ctr">
              <a:buNone/>
            </a:pPr>
            <a:r>
              <a:rPr lang="en-GB" sz="1200" b="1" i="0" dirty="0">
                <a:solidFill>
                  <a:srgbClr val="FFFFFF"/>
                </a:solidFill>
                <a:latin typeface="Arial"/>
                <a:cs typeface="Arial"/>
              </a:rPr>
              <a:t>C</a:t>
            </a:r>
            <a:endParaRPr lang="en-GB" sz="1200" dirty="0"/>
          </a:p>
        </p:txBody>
      </p:sp>
      <p:cxnSp>
        <p:nvCxnSpPr>
          <p:cNvPr id="15" name="Line 15"/>
          <p:cNvCxnSpPr/>
          <p:nvPr/>
        </p:nvCxnSpPr>
        <p:spPr>
          <a:xfrm>
            <a:off x="5705856" y="2487168"/>
            <a:ext cx="630936" cy="987552"/>
          </a:xfrm>
          <a:prstGeom prst="line">
            <a:avLst/>
          </a:prstGeom>
          <a:ln w="15875">
            <a:solidFill>
              <a:srgbClr val="4E7A12"/>
            </a:solidFill>
            <a:tailEnd type="triangle" w="med" len="med"/>
          </a:ln>
        </p:spPr>
      </p:cxnSp>
      <p:sp>
        <p:nvSpPr>
          <p:cNvPr id="16" name="Shape 16"/>
          <p:cNvSpPr/>
          <p:nvPr/>
        </p:nvSpPr>
        <p:spPr>
          <a:xfrm>
            <a:off x="548640" y="2816352"/>
            <a:ext cx="329184" cy="329184"/>
          </a:xfrm>
          <a:prstGeom prst="ellipse">
            <a:avLst/>
          </a:prstGeom>
          <a:solidFill>
            <a:srgbClr val="333399"/>
          </a:solidFill>
          <a:ln>
            <a:noFill/>
          </a:ln>
        </p:spPr>
        <p:txBody>
          <a:bodyPr wrap="square" lIns="0" tIns="0" rIns="0" bIns="0" anchor="ctr" rtlCol="0">
            <a:normAutofit/>
          </a:bodyPr>
          <a:lstStyle/>
          <a:p>
            <a:pPr algn="ctr">
              <a:buNone/>
            </a:pPr>
            <a:r>
              <a:rPr lang="en-GB" sz="1200" b="1" i="0" dirty="0">
                <a:solidFill>
                  <a:srgbClr val="FFFFFF"/>
                </a:solidFill>
                <a:latin typeface="Arial"/>
                <a:cs typeface="Arial"/>
              </a:rPr>
              <a:t>2</a:t>
            </a:r>
            <a:endParaRPr lang="en-GB" sz="1200" dirty="0"/>
          </a:p>
        </p:txBody>
      </p:sp>
      <p:sp>
        <p:nvSpPr>
          <p:cNvPr id="17" name="Shape 17"/>
          <p:cNvSpPr/>
          <p:nvPr/>
        </p:nvSpPr>
        <p:spPr>
          <a:xfrm>
            <a:off x="960120" y="2779776"/>
            <a:ext cx="4206240" cy="402336"/>
          </a:xfrm>
          <a:prstGeom prst="rect">
            <a:avLst/>
          </a:prstGeom>
          <a:noFill/>
          <a:ln w="9525">
            <a:solidFill>
              <a:srgbClr val="9DB8BC"/>
            </a:solidFill>
          </a:ln>
        </p:spPr>
        <p:txBody>
          <a:bodyPr wrap="square" lIns="73152" tIns="73152" rIns="73152" bIns="73152" anchor="ctr" rtlCol="0">
            <a:normAutofit/>
          </a:bodyPr>
          <a:lstStyle/>
          <a:p>
            <a:pPr algn="l">
              <a:buNone/>
            </a:pPr>
            <a:r>
              <a:rPr lang="en-GB" sz="1200" b="0" i="0" dirty="0">
                <a:solidFill>
                  <a:srgbClr val="1A1A1A"/>
                </a:solidFill>
                <a:latin typeface="Arial"/>
                <a:cs typeface="Arial"/>
              </a:rPr>
              <a:t>ATM: “1 Withdrawal  2 Balance  3 Transfer”</a:t>
            </a:r>
            <a:endParaRPr lang="en-GB" sz="1200" dirty="0"/>
          </a:p>
        </p:txBody>
      </p:sp>
      <p:sp>
        <p:nvSpPr>
          <p:cNvPr id="18" name="Shape 18"/>
          <p:cNvSpPr/>
          <p:nvPr/>
        </p:nvSpPr>
        <p:spPr>
          <a:xfrm>
            <a:off x="5230368" y="2843784"/>
            <a:ext cx="457200" cy="274320"/>
          </a:xfrm>
          <a:prstGeom prst="roundRect">
            <a:avLst>
              <a:gd name="adj" fmla="val 50000"/>
            </a:avLst>
          </a:prstGeom>
          <a:solidFill>
            <a:srgbClr val="4E7A12"/>
          </a:solidFill>
          <a:ln>
            <a:noFill/>
          </a:ln>
        </p:spPr>
        <p:txBody>
          <a:bodyPr wrap="square" lIns="18288" tIns="18288" rIns="18288" bIns="18288" anchor="ctr" rtlCol="0">
            <a:normAutofit/>
          </a:bodyPr>
          <a:lstStyle/>
          <a:p>
            <a:pPr algn="ctr">
              <a:buNone/>
            </a:pPr>
            <a:r>
              <a:rPr lang="en-GB" sz="1200" b="1" i="0" dirty="0">
                <a:solidFill>
                  <a:srgbClr val="FFFFFF"/>
                </a:solidFill>
                <a:latin typeface="Arial"/>
                <a:cs typeface="Arial"/>
              </a:rPr>
              <a:t>E</a:t>
            </a:r>
            <a:endParaRPr lang="en-GB" sz="1200" dirty="0"/>
          </a:p>
        </p:txBody>
      </p:sp>
      <p:cxnSp>
        <p:nvCxnSpPr>
          <p:cNvPr id="19" name="Line 19"/>
          <p:cNvCxnSpPr/>
          <p:nvPr/>
        </p:nvCxnSpPr>
        <p:spPr>
          <a:xfrm>
            <a:off x="5705856" y="2980944"/>
            <a:ext cx="630936" cy="1481328"/>
          </a:xfrm>
          <a:prstGeom prst="line">
            <a:avLst/>
          </a:prstGeom>
          <a:ln w="15875">
            <a:solidFill>
              <a:srgbClr val="4E7A12"/>
            </a:solidFill>
            <a:tailEnd type="triangle" w="med" len="med"/>
          </a:ln>
        </p:spPr>
      </p:cxnSp>
      <p:sp>
        <p:nvSpPr>
          <p:cNvPr id="20" name="Shape 20"/>
          <p:cNvSpPr/>
          <p:nvPr/>
        </p:nvSpPr>
        <p:spPr>
          <a:xfrm>
            <a:off x="548640" y="3310128"/>
            <a:ext cx="329184" cy="329184"/>
          </a:xfrm>
          <a:prstGeom prst="ellipse">
            <a:avLst/>
          </a:prstGeom>
          <a:solidFill>
            <a:srgbClr val="333399"/>
          </a:solidFill>
          <a:ln>
            <a:noFill/>
          </a:ln>
        </p:spPr>
        <p:txBody>
          <a:bodyPr wrap="square" lIns="0" tIns="0" rIns="0" bIns="0" anchor="ctr" rtlCol="0">
            <a:normAutofit/>
          </a:bodyPr>
          <a:lstStyle/>
          <a:p>
            <a:pPr algn="ctr">
              <a:buNone/>
            </a:pPr>
            <a:r>
              <a:rPr lang="en-GB" sz="1200" b="1" i="0" dirty="0">
                <a:solidFill>
                  <a:srgbClr val="FFFFFF"/>
                </a:solidFill>
                <a:latin typeface="Arial"/>
                <a:cs typeface="Arial"/>
              </a:rPr>
              <a:t>3</a:t>
            </a:r>
            <a:endParaRPr lang="en-GB" sz="1200" dirty="0"/>
          </a:p>
        </p:txBody>
      </p:sp>
      <p:sp>
        <p:nvSpPr>
          <p:cNvPr id="21" name="Shape 21"/>
          <p:cNvSpPr/>
          <p:nvPr/>
        </p:nvSpPr>
        <p:spPr>
          <a:xfrm>
            <a:off x="960120" y="3273552"/>
            <a:ext cx="4206240" cy="402336"/>
          </a:xfrm>
          <a:prstGeom prst="rect">
            <a:avLst/>
          </a:prstGeom>
          <a:noFill/>
          <a:ln w="9525">
            <a:solidFill>
              <a:srgbClr val="9DB8BC"/>
            </a:solidFill>
          </a:ln>
        </p:spPr>
        <p:txBody>
          <a:bodyPr wrap="square" lIns="73152" tIns="73152" rIns="73152" bIns="73152" anchor="ctr" rtlCol="0">
            <a:normAutofit/>
          </a:bodyPr>
          <a:lstStyle/>
          <a:p>
            <a:pPr algn="l">
              <a:buNone/>
            </a:pPr>
            <a:r>
              <a:rPr lang="en-GB" sz="1200" b="0" i="0" dirty="0">
                <a:solidFill>
                  <a:srgbClr val="1A1A1A"/>
                </a:solidFill>
                <a:latin typeface="Arial"/>
                <a:cs typeface="Arial"/>
              </a:rPr>
              <a:t>Asking a voice assistant “Weather in Lahore?”</a:t>
            </a:r>
            <a:endParaRPr lang="en-GB" sz="1200" dirty="0"/>
          </a:p>
        </p:txBody>
      </p:sp>
      <p:sp>
        <p:nvSpPr>
          <p:cNvPr id="22" name="Shape 22"/>
          <p:cNvSpPr/>
          <p:nvPr/>
        </p:nvSpPr>
        <p:spPr>
          <a:xfrm>
            <a:off x="5230368" y="3337560"/>
            <a:ext cx="457200" cy="274320"/>
          </a:xfrm>
          <a:prstGeom prst="roundRect">
            <a:avLst>
              <a:gd name="adj" fmla="val 50000"/>
            </a:avLst>
          </a:prstGeom>
          <a:solidFill>
            <a:srgbClr val="4E7A12"/>
          </a:solidFill>
          <a:ln>
            <a:noFill/>
          </a:ln>
        </p:spPr>
        <p:txBody>
          <a:bodyPr wrap="square" lIns="18288" tIns="18288" rIns="18288" bIns="18288" anchor="ctr" rtlCol="0">
            <a:normAutofit/>
          </a:bodyPr>
          <a:lstStyle/>
          <a:p>
            <a:pPr algn="ctr">
              <a:buNone/>
            </a:pPr>
            <a:r>
              <a:rPr lang="en-GB" sz="1200" b="1" i="0" dirty="0">
                <a:solidFill>
                  <a:srgbClr val="FFFFFF"/>
                </a:solidFill>
                <a:latin typeface="Arial"/>
                <a:cs typeface="Arial"/>
              </a:rPr>
              <a:t>G</a:t>
            </a:r>
            <a:endParaRPr lang="en-GB" sz="1200" dirty="0"/>
          </a:p>
        </p:txBody>
      </p:sp>
      <p:cxnSp>
        <p:nvCxnSpPr>
          <p:cNvPr id="23" name="Line 23"/>
          <p:cNvCxnSpPr/>
          <p:nvPr/>
        </p:nvCxnSpPr>
        <p:spPr>
          <a:xfrm>
            <a:off x="5705856" y="3474720"/>
            <a:ext cx="630936" cy="1975104"/>
          </a:xfrm>
          <a:prstGeom prst="line">
            <a:avLst/>
          </a:prstGeom>
          <a:ln w="15875">
            <a:solidFill>
              <a:srgbClr val="4E7A12"/>
            </a:solidFill>
            <a:tailEnd type="triangle" w="med" len="med"/>
          </a:ln>
        </p:spPr>
      </p:cxnSp>
      <p:sp>
        <p:nvSpPr>
          <p:cNvPr id="24" name="Shape 24"/>
          <p:cNvSpPr/>
          <p:nvPr/>
        </p:nvSpPr>
        <p:spPr>
          <a:xfrm>
            <a:off x="548640" y="3803904"/>
            <a:ext cx="329184" cy="329184"/>
          </a:xfrm>
          <a:prstGeom prst="ellipse">
            <a:avLst/>
          </a:prstGeom>
          <a:solidFill>
            <a:srgbClr val="333399"/>
          </a:solidFill>
          <a:ln>
            <a:noFill/>
          </a:ln>
        </p:spPr>
        <p:txBody>
          <a:bodyPr wrap="square" lIns="0" tIns="0" rIns="0" bIns="0" anchor="ctr" rtlCol="0">
            <a:normAutofit/>
          </a:bodyPr>
          <a:lstStyle/>
          <a:p>
            <a:pPr algn="ctr">
              <a:buNone/>
            </a:pPr>
            <a:r>
              <a:rPr lang="en-GB" sz="1200" b="1" i="0" dirty="0">
                <a:solidFill>
                  <a:srgbClr val="FFFFFF"/>
                </a:solidFill>
                <a:latin typeface="Arial"/>
                <a:cs typeface="Arial"/>
              </a:rPr>
              <a:t>4</a:t>
            </a:r>
            <a:endParaRPr lang="en-GB" sz="1200" dirty="0"/>
          </a:p>
        </p:txBody>
      </p:sp>
      <p:sp>
        <p:nvSpPr>
          <p:cNvPr id="25" name="Shape 25"/>
          <p:cNvSpPr/>
          <p:nvPr/>
        </p:nvSpPr>
        <p:spPr>
          <a:xfrm>
            <a:off x="960120" y="3767328"/>
            <a:ext cx="4206240" cy="402336"/>
          </a:xfrm>
          <a:prstGeom prst="rect">
            <a:avLst/>
          </a:prstGeom>
          <a:noFill/>
          <a:ln w="9525">
            <a:solidFill>
              <a:srgbClr val="9DB8BC"/>
            </a:solidFill>
          </a:ln>
        </p:spPr>
        <p:txBody>
          <a:bodyPr wrap="square" lIns="73152" tIns="73152" rIns="73152" bIns="73152" anchor="ctr" rtlCol="0">
            <a:normAutofit/>
          </a:bodyPr>
          <a:lstStyle/>
          <a:p>
            <a:pPr algn="l">
              <a:buNone/>
            </a:pPr>
            <a:r>
              <a:rPr lang="en-GB" sz="1200" b="0" i="0" dirty="0">
                <a:solidFill>
                  <a:srgbClr val="1A1A1A"/>
                </a:solidFill>
                <a:latin typeface="Arial"/>
                <a:cs typeface="Arial"/>
              </a:rPr>
              <a:t>Online admission form: name, CNIC, marks</a:t>
            </a:r>
            <a:endParaRPr lang="en-GB" sz="1200" dirty="0"/>
          </a:p>
        </p:txBody>
      </p:sp>
      <p:sp>
        <p:nvSpPr>
          <p:cNvPr id="26" name="Shape 26"/>
          <p:cNvSpPr/>
          <p:nvPr/>
        </p:nvSpPr>
        <p:spPr>
          <a:xfrm>
            <a:off x="5230368" y="3831336"/>
            <a:ext cx="457200" cy="274320"/>
          </a:xfrm>
          <a:prstGeom prst="roundRect">
            <a:avLst>
              <a:gd name="adj" fmla="val 50000"/>
            </a:avLst>
          </a:prstGeom>
          <a:solidFill>
            <a:srgbClr val="4E7A12"/>
          </a:solidFill>
          <a:ln>
            <a:noFill/>
          </a:ln>
        </p:spPr>
        <p:txBody>
          <a:bodyPr wrap="square" lIns="18288" tIns="18288" rIns="18288" bIns="18288" anchor="ctr" rtlCol="0">
            <a:normAutofit/>
          </a:bodyPr>
          <a:lstStyle/>
          <a:p>
            <a:pPr algn="ctr">
              <a:buNone/>
            </a:pPr>
            <a:r>
              <a:rPr lang="en-GB" sz="1200" b="1" i="0" dirty="0">
                <a:solidFill>
                  <a:srgbClr val="FFFFFF"/>
                </a:solidFill>
                <a:latin typeface="Arial"/>
                <a:cs typeface="Arial"/>
              </a:rPr>
              <a:t>B</a:t>
            </a:r>
            <a:endParaRPr lang="en-GB" sz="1200" dirty="0"/>
          </a:p>
        </p:txBody>
      </p:sp>
      <p:cxnSp>
        <p:nvCxnSpPr>
          <p:cNvPr id="27" name="Line 27"/>
          <p:cNvCxnSpPr/>
          <p:nvPr/>
        </p:nvCxnSpPr>
        <p:spPr>
          <a:xfrm flipV="1">
            <a:off x="5705856" y="2980944"/>
            <a:ext cx="630936" cy="987552"/>
          </a:xfrm>
          <a:prstGeom prst="line">
            <a:avLst/>
          </a:prstGeom>
          <a:ln w="15875">
            <a:solidFill>
              <a:srgbClr val="4E7A12"/>
            </a:solidFill>
            <a:tailEnd type="triangle" w="med" len="med"/>
          </a:ln>
        </p:spPr>
      </p:cxnSp>
      <p:sp>
        <p:nvSpPr>
          <p:cNvPr id="28" name="Shape 28"/>
          <p:cNvSpPr/>
          <p:nvPr/>
        </p:nvSpPr>
        <p:spPr>
          <a:xfrm>
            <a:off x="548640" y="4297680"/>
            <a:ext cx="329184" cy="329184"/>
          </a:xfrm>
          <a:prstGeom prst="ellipse">
            <a:avLst/>
          </a:prstGeom>
          <a:solidFill>
            <a:srgbClr val="333399"/>
          </a:solidFill>
          <a:ln>
            <a:noFill/>
          </a:ln>
        </p:spPr>
        <p:txBody>
          <a:bodyPr wrap="square" lIns="0" tIns="0" rIns="0" bIns="0" anchor="ctr" rtlCol="0">
            <a:normAutofit/>
          </a:bodyPr>
          <a:lstStyle/>
          <a:p>
            <a:pPr algn="ctr">
              <a:buNone/>
            </a:pPr>
            <a:r>
              <a:rPr lang="en-GB" sz="1200" b="1" i="0" dirty="0">
                <a:solidFill>
                  <a:srgbClr val="FFFFFF"/>
                </a:solidFill>
                <a:latin typeface="Arial"/>
                <a:cs typeface="Arial"/>
              </a:rPr>
              <a:t>5</a:t>
            </a:r>
            <a:endParaRPr lang="en-GB" sz="1200" dirty="0"/>
          </a:p>
        </p:txBody>
      </p:sp>
      <p:sp>
        <p:nvSpPr>
          <p:cNvPr id="29" name="Shape 29"/>
          <p:cNvSpPr/>
          <p:nvPr/>
        </p:nvSpPr>
        <p:spPr>
          <a:xfrm>
            <a:off x="960120" y="4261104"/>
            <a:ext cx="4206240" cy="402336"/>
          </a:xfrm>
          <a:prstGeom prst="rect">
            <a:avLst/>
          </a:prstGeom>
          <a:noFill/>
          <a:ln w="9525">
            <a:solidFill>
              <a:srgbClr val="9DB8BC"/>
            </a:solidFill>
          </a:ln>
        </p:spPr>
        <p:txBody>
          <a:bodyPr wrap="square" lIns="73152" tIns="73152" rIns="73152" bIns="73152" anchor="ctr" rtlCol="0">
            <a:normAutofit/>
          </a:bodyPr>
          <a:lstStyle/>
          <a:p>
            <a:pPr algn="l">
              <a:buNone/>
            </a:pPr>
            <a:r>
              <a:rPr lang="en-GB" sz="1200" b="0" i="0" dirty="0">
                <a:solidFill>
                  <a:srgbClr val="1A1A1A"/>
                </a:solidFill>
                <a:latin typeface="Arial"/>
                <a:cs typeface="Arial"/>
              </a:rPr>
              <a:t>Shop’s monthly sales sheet with a SUM formula</a:t>
            </a:r>
            <a:endParaRPr lang="en-GB" sz="1200" dirty="0"/>
          </a:p>
        </p:txBody>
      </p:sp>
      <p:sp>
        <p:nvSpPr>
          <p:cNvPr id="30" name="Shape 30"/>
          <p:cNvSpPr/>
          <p:nvPr/>
        </p:nvSpPr>
        <p:spPr>
          <a:xfrm>
            <a:off x="5230368" y="4325112"/>
            <a:ext cx="457200" cy="274320"/>
          </a:xfrm>
          <a:prstGeom prst="roundRect">
            <a:avLst>
              <a:gd name="adj" fmla="val 50000"/>
            </a:avLst>
          </a:prstGeom>
          <a:solidFill>
            <a:srgbClr val="4E7A12"/>
          </a:solidFill>
          <a:ln>
            <a:noFill/>
          </a:ln>
        </p:spPr>
        <p:txBody>
          <a:bodyPr wrap="square" lIns="18288" tIns="18288" rIns="18288" bIns="18288" anchor="ctr" rtlCol="0">
            <a:normAutofit/>
          </a:bodyPr>
          <a:lstStyle/>
          <a:p>
            <a:pPr algn="ctr">
              <a:buNone/>
            </a:pPr>
            <a:r>
              <a:rPr lang="en-GB" sz="1200" b="1" i="0" dirty="0">
                <a:solidFill>
                  <a:srgbClr val="FFFFFF"/>
                </a:solidFill>
                <a:latin typeface="Arial"/>
                <a:cs typeface="Arial"/>
              </a:rPr>
              <a:t>H</a:t>
            </a:r>
            <a:endParaRPr lang="en-GB" sz="1200" dirty="0"/>
          </a:p>
        </p:txBody>
      </p:sp>
      <p:cxnSp>
        <p:nvCxnSpPr>
          <p:cNvPr id="31" name="Line 31"/>
          <p:cNvCxnSpPr/>
          <p:nvPr/>
        </p:nvCxnSpPr>
        <p:spPr>
          <a:xfrm>
            <a:off x="5705856" y="4462272"/>
            <a:ext cx="630936" cy="1481328"/>
          </a:xfrm>
          <a:prstGeom prst="line">
            <a:avLst/>
          </a:prstGeom>
          <a:ln w="15875">
            <a:solidFill>
              <a:srgbClr val="4E7A12"/>
            </a:solidFill>
            <a:tailEnd type="triangle" w="med" len="med"/>
          </a:ln>
        </p:spPr>
      </p:cxnSp>
      <p:sp>
        <p:nvSpPr>
          <p:cNvPr id="32" name="Shape 32"/>
          <p:cNvSpPr/>
          <p:nvPr/>
        </p:nvSpPr>
        <p:spPr>
          <a:xfrm>
            <a:off x="548640" y="4791456"/>
            <a:ext cx="329184" cy="329184"/>
          </a:xfrm>
          <a:prstGeom prst="ellipse">
            <a:avLst/>
          </a:prstGeom>
          <a:solidFill>
            <a:srgbClr val="333399"/>
          </a:solidFill>
          <a:ln>
            <a:noFill/>
          </a:ln>
        </p:spPr>
        <p:txBody>
          <a:bodyPr wrap="square" lIns="0" tIns="0" rIns="0" bIns="0" anchor="ctr" rtlCol="0">
            <a:normAutofit/>
          </a:bodyPr>
          <a:lstStyle/>
          <a:p>
            <a:pPr algn="ctr">
              <a:buNone/>
            </a:pPr>
            <a:r>
              <a:rPr lang="en-GB" sz="1200" b="1" i="0" dirty="0">
                <a:solidFill>
                  <a:srgbClr val="FFFFFF"/>
                </a:solidFill>
                <a:latin typeface="Arial"/>
                <a:cs typeface="Arial"/>
              </a:rPr>
              <a:t>6</a:t>
            </a:r>
            <a:endParaRPr lang="en-GB" sz="1200" dirty="0"/>
          </a:p>
        </p:txBody>
      </p:sp>
      <p:sp>
        <p:nvSpPr>
          <p:cNvPr id="33" name="Shape 33"/>
          <p:cNvSpPr/>
          <p:nvPr/>
        </p:nvSpPr>
        <p:spPr>
          <a:xfrm>
            <a:off x="960120" y="4754880"/>
            <a:ext cx="4206240" cy="402336"/>
          </a:xfrm>
          <a:prstGeom prst="rect">
            <a:avLst/>
          </a:prstGeom>
          <a:noFill/>
          <a:ln w="9525">
            <a:solidFill>
              <a:srgbClr val="9DB8BC"/>
            </a:solidFill>
          </a:ln>
        </p:spPr>
        <p:txBody>
          <a:bodyPr wrap="square" lIns="73152" tIns="73152" rIns="73152" bIns="73152" anchor="ctr" rtlCol="0">
            <a:normAutofit/>
          </a:bodyPr>
          <a:lstStyle/>
          <a:p>
            <a:pPr algn="l">
              <a:buNone/>
            </a:pPr>
            <a:r>
              <a:rPr lang="en-GB" sz="1200" b="0" i="0" dirty="0">
                <a:solidFill>
                  <a:srgbClr val="1A1A1A"/>
                </a:solidFill>
                <a:latin typeface="Arial"/>
                <a:cs typeface="Arial"/>
              </a:rPr>
              <a:t>Dragging a file into a folder on the desktop</a:t>
            </a:r>
            <a:endParaRPr lang="en-GB" sz="1200" dirty="0"/>
          </a:p>
        </p:txBody>
      </p:sp>
      <p:sp>
        <p:nvSpPr>
          <p:cNvPr id="34" name="Shape 34"/>
          <p:cNvSpPr/>
          <p:nvPr/>
        </p:nvSpPr>
        <p:spPr>
          <a:xfrm>
            <a:off x="5230368" y="4818888"/>
            <a:ext cx="457200" cy="274320"/>
          </a:xfrm>
          <a:prstGeom prst="roundRect">
            <a:avLst>
              <a:gd name="adj" fmla="val 50000"/>
            </a:avLst>
          </a:prstGeom>
          <a:solidFill>
            <a:srgbClr val="4E7A12"/>
          </a:solidFill>
          <a:ln>
            <a:noFill/>
          </a:ln>
        </p:spPr>
        <p:txBody>
          <a:bodyPr wrap="square" lIns="18288" tIns="18288" rIns="18288" bIns="18288" anchor="ctr" rtlCol="0">
            <a:normAutofit/>
          </a:bodyPr>
          <a:lstStyle/>
          <a:p>
            <a:pPr algn="ctr">
              <a:buNone/>
            </a:pPr>
            <a:r>
              <a:rPr lang="en-GB" sz="1200" b="1" i="0" dirty="0">
                <a:solidFill>
                  <a:srgbClr val="FFFFFF"/>
                </a:solidFill>
                <a:latin typeface="Arial"/>
                <a:cs typeface="Arial"/>
              </a:rPr>
              <a:t>A</a:t>
            </a:r>
            <a:endParaRPr lang="en-GB" sz="1200" dirty="0"/>
          </a:p>
        </p:txBody>
      </p:sp>
      <p:cxnSp>
        <p:nvCxnSpPr>
          <p:cNvPr id="35" name="Line 35"/>
          <p:cNvCxnSpPr/>
          <p:nvPr/>
        </p:nvCxnSpPr>
        <p:spPr>
          <a:xfrm flipV="1">
            <a:off x="5705856" y="2487168"/>
            <a:ext cx="630936" cy="2468880"/>
          </a:xfrm>
          <a:prstGeom prst="line">
            <a:avLst/>
          </a:prstGeom>
          <a:ln w="15875">
            <a:solidFill>
              <a:srgbClr val="4E7A12"/>
            </a:solidFill>
            <a:tailEnd type="triangle" w="med" len="med"/>
          </a:ln>
        </p:spPr>
      </p:cxnSp>
      <p:sp>
        <p:nvSpPr>
          <p:cNvPr id="36" name="Shape 36"/>
          <p:cNvSpPr/>
          <p:nvPr/>
        </p:nvSpPr>
        <p:spPr>
          <a:xfrm>
            <a:off x="548640" y="5285232"/>
            <a:ext cx="329184" cy="329184"/>
          </a:xfrm>
          <a:prstGeom prst="ellipse">
            <a:avLst/>
          </a:prstGeom>
          <a:solidFill>
            <a:srgbClr val="333399"/>
          </a:solidFill>
          <a:ln>
            <a:noFill/>
          </a:ln>
        </p:spPr>
        <p:txBody>
          <a:bodyPr wrap="square" lIns="0" tIns="0" rIns="0" bIns="0" anchor="ctr" rtlCol="0">
            <a:normAutofit/>
          </a:bodyPr>
          <a:lstStyle/>
          <a:p>
            <a:pPr algn="ctr">
              <a:buNone/>
            </a:pPr>
            <a:r>
              <a:rPr lang="en-GB" sz="1200" b="1" i="0" dirty="0">
                <a:solidFill>
                  <a:srgbClr val="FFFFFF"/>
                </a:solidFill>
                <a:latin typeface="Arial"/>
                <a:cs typeface="Arial"/>
              </a:rPr>
              <a:t>7</a:t>
            </a:r>
            <a:endParaRPr lang="en-GB" sz="1200" dirty="0"/>
          </a:p>
        </p:txBody>
      </p:sp>
      <p:sp>
        <p:nvSpPr>
          <p:cNvPr id="37" name="Shape 37"/>
          <p:cNvSpPr/>
          <p:nvPr/>
        </p:nvSpPr>
        <p:spPr>
          <a:xfrm>
            <a:off x="960120" y="5248656"/>
            <a:ext cx="4206240" cy="402336"/>
          </a:xfrm>
          <a:prstGeom prst="rect">
            <a:avLst/>
          </a:prstGeom>
          <a:noFill/>
          <a:ln w="9525">
            <a:solidFill>
              <a:srgbClr val="9DB8BC"/>
            </a:solidFill>
          </a:ln>
        </p:spPr>
        <p:txBody>
          <a:bodyPr wrap="square" lIns="73152" tIns="73152" rIns="73152" bIns="73152" anchor="ctr" rtlCol="0">
            <a:normAutofit/>
          </a:bodyPr>
          <a:lstStyle/>
          <a:p>
            <a:pPr algn="l">
              <a:buNone/>
            </a:pPr>
            <a:r>
              <a:rPr lang="en-GB" sz="1200" b="0" i="0" dirty="0">
                <a:solidFill>
                  <a:srgbClr val="1A1A1A"/>
                </a:solidFill>
                <a:latin typeface="Arial"/>
                <a:cs typeface="Arial"/>
              </a:rPr>
              <a:t>Tapping a pin on a map to see a restaurant</a:t>
            </a:r>
            <a:endParaRPr lang="en-GB" sz="1200" dirty="0"/>
          </a:p>
        </p:txBody>
      </p:sp>
      <p:sp>
        <p:nvSpPr>
          <p:cNvPr id="38" name="Shape 38"/>
          <p:cNvSpPr/>
          <p:nvPr/>
        </p:nvSpPr>
        <p:spPr>
          <a:xfrm>
            <a:off x="5230368" y="5312664"/>
            <a:ext cx="457200" cy="274320"/>
          </a:xfrm>
          <a:prstGeom prst="roundRect">
            <a:avLst>
              <a:gd name="adj" fmla="val 50000"/>
            </a:avLst>
          </a:prstGeom>
          <a:solidFill>
            <a:srgbClr val="4E7A12"/>
          </a:solidFill>
          <a:ln>
            <a:noFill/>
          </a:ln>
        </p:spPr>
        <p:txBody>
          <a:bodyPr wrap="square" lIns="18288" tIns="18288" rIns="18288" bIns="18288" anchor="ctr" rtlCol="0">
            <a:normAutofit/>
          </a:bodyPr>
          <a:lstStyle/>
          <a:p>
            <a:pPr algn="ctr">
              <a:buNone/>
            </a:pPr>
            <a:r>
              <a:rPr lang="en-GB" sz="1200" b="1" i="0" dirty="0">
                <a:solidFill>
                  <a:srgbClr val="FFFFFF"/>
                </a:solidFill>
                <a:latin typeface="Arial"/>
                <a:cs typeface="Arial"/>
              </a:rPr>
              <a:t>F</a:t>
            </a:r>
            <a:endParaRPr lang="en-GB" sz="1200" dirty="0"/>
          </a:p>
        </p:txBody>
      </p:sp>
      <p:cxnSp>
        <p:nvCxnSpPr>
          <p:cNvPr id="39" name="Line 39"/>
          <p:cNvCxnSpPr/>
          <p:nvPr/>
        </p:nvCxnSpPr>
        <p:spPr>
          <a:xfrm flipV="1">
            <a:off x="5705856" y="4956048"/>
            <a:ext cx="630936" cy="493776"/>
          </a:xfrm>
          <a:prstGeom prst="line">
            <a:avLst/>
          </a:prstGeom>
          <a:ln w="15875">
            <a:solidFill>
              <a:srgbClr val="4E7A12"/>
            </a:solidFill>
            <a:tailEnd type="triangle" w="med" len="med"/>
          </a:ln>
        </p:spPr>
      </p:cxnSp>
      <p:sp>
        <p:nvSpPr>
          <p:cNvPr id="40" name="Shape 40"/>
          <p:cNvSpPr/>
          <p:nvPr/>
        </p:nvSpPr>
        <p:spPr>
          <a:xfrm>
            <a:off x="548640" y="5779008"/>
            <a:ext cx="329184" cy="329184"/>
          </a:xfrm>
          <a:prstGeom prst="ellipse">
            <a:avLst/>
          </a:prstGeom>
          <a:solidFill>
            <a:srgbClr val="333399"/>
          </a:solidFill>
          <a:ln>
            <a:noFill/>
          </a:ln>
        </p:spPr>
        <p:txBody>
          <a:bodyPr wrap="square" lIns="0" tIns="0" rIns="0" bIns="0" anchor="ctr" rtlCol="0">
            <a:normAutofit/>
          </a:bodyPr>
          <a:lstStyle/>
          <a:p>
            <a:pPr algn="ctr">
              <a:buNone/>
            </a:pPr>
            <a:r>
              <a:rPr lang="en-GB" sz="1200" b="1" i="0" dirty="0">
                <a:solidFill>
                  <a:srgbClr val="FFFFFF"/>
                </a:solidFill>
                <a:latin typeface="Arial"/>
                <a:cs typeface="Arial"/>
              </a:rPr>
              <a:t>8</a:t>
            </a:r>
            <a:endParaRPr lang="en-GB" sz="1200" dirty="0"/>
          </a:p>
        </p:txBody>
      </p:sp>
      <p:sp>
        <p:nvSpPr>
          <p:cNvPr id="41" name="Shape 41"/>
          <p:cNvSpPr/>
          <p:nvPr/>
        </p:nvSpPr>
        <p:spPr>
          <a:xfrm>
            <a:off x="960120" y="5742432"/>
            <a:ext cx="4206240" cy="402336"/>
          </a:xfrm>
          <a:prstGeom prst="rect">
            <a:avLst/>
          </a:prstGeom>
          <a:noFill/>
          <a:ln w="9525">
            <a:solidFill>
              <a:srgbClr val="9DB8BC"/>
            </a:solidFill>
          </a:ln>
        </p:spPr>
        <p:txBody>
          <a:bodyPr wrap="square" lIns="73152" tIns="73152" rIns="73152" bIns="73152" anchor="ctr" rtlCol="0">
            <a:normAutofit/>
          </a:bodyPr>
          <a:lstStyle/>
          <a:p>
            <a:pPr algn="l">
              <a:buNone/>
            </a:pPr>
            <a:r>
              <a:rPr lang="en-GB" sz="1200" b="0" i="0" dirty="0">
                <a:solidFill>
                  <a:srgbClr val="1A1A1A"/>
                </a:solidFill>
                <a:latin typeface="Arial"/>
                <a:cs typeface="Arial"/>
              </a:rPr>
              <a:t>Walking around a museum in a VR headset</a:t>
            </a:r>
            <a:endParaRPr lang="en-GB" sz="1200" dirty="0"/>
          </a:p>
        </p:txBody>
      </p:sp>
      <p:sp>
        <p:nvSpPr>
          <p:cNvPr id="42" name="Shape 42"/>
          <p:cNvSpPr/>
          <p:nvPr/>
        </p:nvSpPr>
        <p:spPr>
          <a:xfrm>
            <a:off x="5230368" y="5806440"/>
            <a:ext cx="457200" cy="274320"/>
          </a:xfrm>
          <a:prstGeom prst="roundRect">
            <a:avLst>
              <a:gd name="adj" fmla="val 50000"/>
            </a:avLst>
          </a:prstGeom>
          <a:solidFill>
            <a:srgbClr val="4E7A12"/>
          </a:solidFill>
          <a:ln>
            <a:noFill/>
          </a:ln>
        </p:spPr>
        <p:txBody>
          <a:bodyPr wrap="square" lIns="18288" tIns="18288" rIns="18288" bIns="18288" anchor="ctr" rtlCol="0">
            <a:normAutofit/>
          </a:bodyPr>
          <a:lstStyle/>
          <a:p>
            <a:pPr algn="ctr">
              <a:buNone/>
            </a:pPr>
            <a:r>
              <a:rPr lang="en-GB" sz="1200" b="1" i="0" dirty="0">
                <a:solidFill>
                  <a:srgbClr val="FFFFFF"/>
                </a:solidFill>
                <a:latin typeface="Arial"/>
                <a:cs typeface="Arial"/>
              </a:rPr>
              <a:t>D</a:t>
            </a:r>
            <a:endParaRPr lang="en-GB" sz="1200" dirty="0"/>
          </a:p>
        </p:txBody>
      </p:sp>
      <p:cxnSp>
        <p:nvCxnSpPr>
          <p:cNvPr id="43" name="Line 43"/>
          <p:cNvCxnSpPr/>
          <p:nvPr/>
        </p:nvCxnSpPr>
        <p:spPr>
          <a:xfrm flipV="1">
            <a:off x="5705856" y="3968496"/>
            <a:ext cx="630936" cy="1975104"/>
          </a:xfrm>
          <a:prstGeom prst="line">
            <a:avLst/>
          </a:prstGeom>
          <a:ln w="15875">
            <a:solidFill>
              <a:srgbClr val="4E7A12"/>
            </a:solidFill>
            <a:tailEnd type="triangle" w="med" len="med"/>
          </a:ln>
        </p:spPr>
      </p:cxnSp>
      <p:sp>
        <p:nvSpPr>
          <p:cNvPr id="44" name="Shape 44"/>
          <p:cNvSpPr/>
          <p:nvPr/>
        </p:nvSpPr>
        <p:spPr>
          <a:xfrm>
            <a:off x="6355080" y="2286000"/>
            <a:ext cx="2148840" cy="402336"/>
          </a:xfrm>
          <a:prstGeom prst="roundRect">
            <a:avLst>
              <a:gd name="adj" fmla="val 30000"/>
            </a:avLst>
          </a:prstGeom>
          <a:solidFill>
            <a:srgbClr val="F3F8F9"/>
          </a:solidFill>
          <a:ln w="9525">
            <a:solidFill>
              <a:srgbClr val="9DB8BC"/>
            </a:solidFill>
          </a:ln>
        </p:spPr>
        <p:txBody>
          <a:bodyPr wrap="square" lIns="91440" tIns="91440" rIns="91440" bIns="91440" anchor="ctr" rtlCol="0">
            <a:normAutofit/>
          </a:bodyPr>
          <a:lstStyle/>
          <a:p>
            <a:pPr algn="l">
              <a:buNone/>
            </a:pPr>
            <a:r>
              <a:rPr lang="en-GB" sz="1200" b="1" i="0" dirty="0">
                <a:solidFill>
                  <a:srgbClr val="333399"/>
                </a:solidFill>
                <a:latin typeface="Arial"/>
                <a:cs typeface="Arial"/>
              </a:rPr>
              <a:t xml:space="preserve">A  </a:t>
            </a:r>
            <a:r>
              <a:rPr lang="en-GB" sz="1200" b="0" i="0" dirty="0">
                <a:solidFill>
                  <a:srgbClr val="1A1A1A"/>
                </a:solidFill>
                <a:latin typeface="Arial"/>
                <a:cs typeface="Arial"/>
              </a:rPr>
              <a:t>WIMP</a:t>
            </a:r>
            <a:endParaRPr lang="en-GB" sz="1200" dirty="0"/>
          </a:p>
        </p:txBody>
      </p:sp>
      <p:sp>
        <p:nvSpPr>
          <p:cNvPr id="45" name="Shape 45"/>
          <p:cNvSpPr/>
          <p:nvPr/>
        </p:nvSpPr>
        <p:spPr>
          <a:xfrm>
            <a:off x="6355080" y="2779776"/>
            <a:ext cx="2148840" cy="402336"/>
          </a:xfrm>
          <a:prstGeom prst="roundRect">
            <a:avLst>
              <a:gd name="adj" fmla="val 30000"/>
            </a:avLst>
          </a:prstGeom>
          <a:solidFill>
            <a:srgbClr val="F3F8F9"/>
          </a:solidFill>
          <a:ln w="9525">
            <a:solidFill>
              <a:srgbClr val="9DB8BC"/>
            </a:solidFill>
          </a:ln>
        </p:spPr>
        <p:txBody>
          <a:bodyPr wrap="square" lIns="91440" tIns="91440" rIns="91440" bIns="91440" anchor="ctr" rtlCol="0">
            <a:normAutofit/>
          </a:bodyPr>
          <a:lstStyle/>
          <a:p>
            <a:pPr algn="l">
              <a:buNone/>
            </a:pPr>
            <a:r>
              <a:rPr lang="en-GB" sz="1200" b="1" i="0" dirty="0">
                <a:solidFill>
                  <a:srgbClr val="333399"/>
                </a:solidFill>
                <a:latin typeface="Arial"/>
                <a:cs typeface="Arial"/>
              </a:rPr>
              <a:t xml:space="preserve">B  </a:t>
            </a:r>
            <a:r>
              <a:rPr lang="en-GB" sz="1200" b="0" i="0" dirty="0">
                <a:solidFill>
                  <a:srgbClr val="1A1A1A"/>
                </a:solidFill>
                <a:latin typeface="Arial"/>
                <a:cs typeface="Arial"/>
              </a:rPr>
              <a:t>Form-fill</a:t>
            </a:r>
            <a:endParaRPr lang="en-GB" sz="1200" dirty="0"/>
          </a:p>
        </p:txBody>
      </p:sp>
      <p:sp>
        <p:nvSpPr>
          <p:cNvPr id="46" name="Shape 46"/>
          <p:cNvSpPr/>
          <p:nvPr/>
        </p:nvSpPr>
        <p:spPr>
          <a:xfrm>
            <a:off x="6355080" y="3273552"/>
            <a:ext cx="2148840" cy="402336"/>
          </a:xfrm>
          <a:prstGeom prst="roundRect">
            <a:avLst>
              <a:gd name="adj" fmla="val 30000"/>
            </a:avLst>
          </a:prstGeom>
          <a:solidFill>
            <a:srgbClr val="F3F8F9"/>
          </a:solidFill>
          <a:ln w="9525">
            <a:solidFill>
              <a:srgbClr val="9DB8BC"/>
            </a:solidFill>
          </a:ln>
        </p:spPr>
        <p:txBody>
          <a:bodyPr wrap="square" lIns="91440" tIns="91440" rIns="91440" bIns="91440" anchor="ctr" rtlCol="0">
            <a:normAutofit/>
          </a:bodyPr>
          <a:lstStyle/>
          <a:p>
            <a:pPr algn="l">
              <a:buNone/>
            </a:pPr>
            <a:r>
              <a:rPr lang="en-GB" sz="1200" b="1" i="0" dirty="0">
                <a:solidFill>
                  <a:srgbClr val="333399"/>
                </a:solidFill>
                <a:latin typeface="Arial"/>
                <a:cs typeface="Arial"/>
              </a:rPr>
              <a:t xml:space="preserve">C  </a:t>
            </a:r>
            <a:r>
              <a:rPr lang="en-GB" sz="1200" b="0" i="0" dirty="0">
                <a:solidFill>
                  <a:srgbClr val="1A1A1A"/>
                </a:solidFill>
                <a:latin typeface="Arial"/>
                <a:cs typeface="Arial"/>
              </a:rPr>
              <a:t>Command line</a:t>
            </a:r>
            <a:endParaRPr lang="en-GB" sz="1200" dirty="0"/>
          </a:p>
        </p:txBody>
      </p:sp>
      <p:sp>
        <p:nvSpPr>
          <p:cNvPr id="47" name="Shape 47"/>
          <p:cNvSpPr/>
          <p:nvPr/>
        </p:nvSpPr>
        <p:spPr>
          <a:xfrm>
            <a:off x="6355080" y="3767328"/>
            <a:ext cx="2148840" cy="402336"/>
          </a:xfrm>
          <a:prstGeom prst="roundRect">
            <a:avLst>
              <a:gd name="adj" fmla="val 30000"/>
            </a:avLst>
          </a:prstGeom>
          <a:solidFill>
            <a:srgbClr val="F3F8F9"/>
          </a:solidFill>
          <a:ln w="9525">
            <a:solidFill>
              <a:srgbClr val="9DB8BC"/>
            </a:solidFill>
          </a:ln>
        </p:spPr>
        <p:txBody>
          <a:bodyPr wrap="square" lIns="91440" tIns="91440" rIns="91440" bIns="91440" anchor="ctr" rtlCol="0">
            <a:normAutofit/>
          </a:bodyPr>
          <a:lstStyle/>
          <a:p>
            <a:pPr algn="l">
              <a:buNone/>
            </a:pPr>
            <a:r>
              <a:rPr lang="en-GB" sz="1200" b="1" i="0" dirty="0">
                <a:solidFill>
                  <a:srgbClr val="333399"/>
                </a:solidFill>
                <a:latin typeface="Arial"/>
                <a:cs typeface="Arial"/>
              </a:rPr>
              <a:t xml:space="preserve">D  </a:t>
            </a:r>
            <a:r>
              <a:rPr lang="en-GB" sz="1200" b="0" i="0" dirty="0">
                <a:solidFill>
                  <a:srgbClr val="1A1A1A"/>
                </a:solidFill>
                <a:latin typeface="Arial"/>
                <a:cs typeface="Arial"/>
              </a:rPr>
              <a:t>Three-dimensional</a:t>
            </a:r>
            <a:endParaRPr lang="en-GB" sz="1200" dirty="0"/>
          </a:p>
        </p:txBody>
      </p:sp>
      <p:sp>
        <p:nvSpPr>
          <p:cNvPr id="48" name="Shape 48"/>
          <p:cNvSpPr/>
          <p:nvPr/>
        </p:nvSpPr>
        <p:spPr>
          <a:xfrm>
            <a:off x="6355080" y="4261104"/>
            <a:ext cx="2148840" cy="402336"/>
          </a:xfrm>
          <a:prstGeom prst="roundRect">
            <a:avLst>
              <a:gd name="adj" fmla="val 30000"/>
            </a:avLst>
          </a:prstGeom>
          <a:solidFill>
            <a:srgbClr val="F3F8F9"/>
          </a:solidFill>
          <a:ln w="9525">
            <a:solidFill>
              <a:srgbClr val="9DB8BC"/>
            </a:solidFill>
          </a:ln>
        </p:spPr>
        <p:txBody>
          <a:bodyPr wrap="square" lIns="91440" tIns="91440" rIns="91440" bIns="91440" anchor="ctr" rtlCol="0">
            <a:normAutofit/>
          </a:bodyPr>
          <a:lstStyle/>
          <a:p>
            <a:pPr algn="l">
              <a:buNone/>
            </a:pPr>
            <a:r>
              <a:rPr lang="en-GB" sz="1200" b="1" i="0" dirty="0">
                <a:solidFill>
                  <a:srgbClr val="333399"/>
                </a:solidFill>
                <a:latin typeface="Arial"/>
                <a:cs typeface="Arial"/>
              </a:rPr>
              <a:t xml:space="preserve">E  </a:t>
            </a:r>
            <a:r>
              <a:rPr lang="en-GB" sz="1200" b="0" i="0" dirty="0">
                <a:solidFill>
                  <a:srgbClr val="1A1A1A"/>
                </a:solidFill>
                <a:latin typeface="Arial"/>
                <a:cs typeface="Arial"/>
              </a:rPr>
              <a:t>Menus</a:t>
            </a:r>
            <a:endParaRPr lang="en-GB" sz="1200" dirty="0"/>
          </a:p>
        </p:txBody>
      </p:sp>
      <p:sp>
        <p:nvSpPr>
          <p:cNvPr id="49" name="Shape 49"/>
          <p:cNvSpPr/>
          <p:nvPr/>
        </p:nvSpPr>
        <p:spPr>
          <a:xfrm>
            <a:off x="6355080" y="4754880"/>
            <a:ext cx="2148840" cy="402336"/>
          </a:xfrm>
          <a:prstGeom prst="roundRect">
            <a:avLst>
              <a:gd name="adj" fmla="val 30000"/>
            </a:avLst>
          </a:prstGeom>
          <a:solidFill>
            <a:srgbClr val="F3F8F9"/>
          </a:solidFill>
          <a:ln w="9525">
            <a:solidFill>
              <a:srgbClr val="9DB8BC"/>
            </a:solidFill>
          </a:ln>
        </p:spPr>
        <p:txBody>
          <a:bodyPr wrap="square" lIns="91440" tIns="91440" rIns="91440" bIns="91440" anchor="ctr" rtlCol="0">
            <a:normAutofit/>
          </a:bodyPr>
          <a:lstStyle/>
          <a:p>
            <a:pPr algn="l">
              <a:buNone/>
            </a:pPr>
            <a:r>
              <a:rPr lang="en-GB" sz="1200" b="1" i="0" dirty="0">
                <a:solidFill>
                  <a:srgbClr val="333399"/>
                </a:solidFill>
                <a:latin typeface="Arial"/>
                <a:cs typeface="Arial"/>
              </a:rPr>
              <a:t xml:space="preserve">F  </a:t>
            </a:r>
            <a:r>
              <a:rPr lang="en-GB" sz="1200" b="0" i="0" dirty="0">
                <a:solidFill>
                  <a:srgbClr val="1A1A1A"/>
                </a:solidFill>
                <a:latin typeface="Arial"/>
                <a:cs typeface="Arial"/>
              </a:rPr>
              <a:t>Point and click</a:t>
            </a:r>
            <a:endParaRPr lang="en-GB" sz="1200" dirty="0"/>
          </a:p>
        </p:txBody>
      </p:sp>
      <p:sp>
        <p:nvSpPr>
          <p:cNvPr id="50" name="Shape 50"/>
          <p:cNvSpPr/>
          <p:nvPr/>
        </p:nvSpPr>
        <p:spPr>
          <a:xfrm>
            <a:off x="6355080" y="5248656"/>
            <a:ext cx="2148840" cy="402336"/>
          </a:xfrm>
          <a:prstGeom prst="roundRect">
            <a:avLst>
              <a:gd name="adj" fmla="val 30000"/>
            </a:avLst>
          </a:prstGeom>
          <a:solidFill>
            <a:srgbClr val="F3F8F9"/>
          </a:solidFill>
          <a:ln w="9525">
            <a:solidFill>
              <a:srgbClr val="9DB8BC"/>
            </a:solidFill>
          </a:ln>
        </p:spPr>
        <p:txBody>
          <a:bodyPr wrap="square" lIns="91440" tIns="91440" rIns="91440" bIns="91440" anchor="ctr" rtlCol="0">
            <a:normAutofit/>
          </a:bodyPr>
          <a:lstStyle/>
          <a:p>
            <a:pPr algn="l">
              <a:buNone/>
            </a:pPr>
            <a:r>
              <a:rPr lang="en-GB" sz="1200" b="1" i="0" dirty="0">
                <a:solidFill>
                  <a:srgbClr val="333399"/>
                </a:solidFill>
                <a:latin typeface="Arial"/>
                <a:cs typeface="Arial"/>
              </a:rPr>
              <a:t xml:space="preserve">G  </a:t>
            </a:r>
            <a:r>
              <a:rPr lang="en-GB" sz="1200" b="0" i="0" dirty="0">
                <a:solidFill>
                  <a:srgbClr val="1A1A1A"/>
                </a:solidFill>
                <a:latin typeface="Arial"/>
                <a:cs typeface="Arial"/>
              </a:rPr>
              <a:t>Natural language</a:t>
            </a:r>
            <a:endParaRPr lang="en-GB" sz="1200" dirty="0"/>
          </a:p>
        </p:txBody>
      </p:sp>
      <p:sp>
        <p:nvSpPr>
          <p:cNvPr id="51" name="Shape 51"/>
          <p:cNvSpPr/>
          <p:nvPr/>
        </p:nvSpPr>
        <p:spPr>
          <a:xfrm>
            <a:off x="6355080" y="5742432"/>
            <a:ext cx="2148840" cy="402336"/>
          </a:xfrm>
          <a:prstGeom prst="roundRect">
            <a:avLst>
              <a:gd name="adj" fmla="val 30000"/>
            </a:avLst>
          </a:prstGeom>
          <a:solidFill>
            <a:srgbClr val="F3F8F9"/>
          </a:solidFill>
          <a:ln w="9525">
            <a:solidFill>
              <a:srgbClr val="9DB8BC"/>
            </a:solidFill>
          </a:ln>
        </p:spPr>
        <p:txBody>
          <a:bodyPr wrap="square" lIns="91440" tIns="91440" rIns="91440" bIns="91440" anchor="ctr" rtlCol="0">
            <a:normAutofit/>
          </a:bodyPr>
          <a:lstStyle/>
          <a:p>
            <a:pPr algn="l">
              <a:buNone/>
            </a:pPr>
            <a:r>
              <a:rPr lang="en-GB" sz="1200" b="1" i="0" dirty="0">
                <a:solidFill>
                  <a:srgbClr val="333399"/>
                </a:solidFill>
                <a:latin typeface="Arial"/>
                <a:cs typeface="Arial"/>
              </a:rPr>
              <a:t xml:space="preserve">H  </a:t>
            </a:r>
            <a:r>
              <a:rPr lang="en-GB" sz="1200" b="0" i="0" dirty="0">
                <a:solidFill>
                  <a:srgbClr val="1A1A1A"/>
                </a:solidFill>
                <a:latin typeface="Arial"/>
                <a:cs typeface="Arial"/>
              </a:rPr>
              <a:t>Spreadsheet</a:t>
            </a:r>
            <a:endParaRPr lang="en-GB" sz="12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200" b="0" i="0" dirty="0">
                <a:solidFill>
                  <a:srgbClr val="2D2D8A"/>
                </a:solidFill>
                <a:latin typeface="Arial"/>
                <a:cs typeface="Arial"/>
              </a:rPr>
              <a:t>Exit ticket</a:t>
            </a:r>
          </a:p>
        </p:txBody>
      </p:sp>
      <p:sp>
        <p:nvSpPr>
          <p:cNvPr id="11" name="Shape 11"/>
          <p:cNvSpPr/>
          <p:nvPr/>
        </p:nvSpPr>
        <p:spPr>
          <a:xfrm>
            <a:off x="548640" y="1810512"/>
            <a:ext cx="585216" cy="310896"/>
          </a:xfrm>
          <a:prstGeom prst="roundRect">
            <a:avLst>
              <a:gd name="adj" fmla="val 50000"/>
            </a:avLst>
          </a:prstGeom>
          <a:solidFill>
            <a:srgbClr val="333399"/>
          </a:solidFill>
          <a:ln>
            <a:noFill/>
          </a:ln>
        </p:spPr>
        <p:txBody>
          <a:bodyPr wrap="square" lIns="27432" tIns="27432" rIns="27432" bIns="27432" anchor="ctr" rtlCol="0">
            <a:normAutofit/>
          </a:bodyPr>
          <a:lstStyle/>
          <a:p>
            <a:pPr algn="ctr">
              <a:buNone/>
            </a:pPr>
            <a:r>
              <a:rPr lang="en-GB" sz="1100" b="1" i="0" dirty="0">
                <a:solidFill>
                  <a:srgbClr val="FFFFFF"/>
                </a:solidFill>
                <a:latin typeface="Arial"/>
                <a:cs typeface="Arial"/>
              </a:rPr>
              <a:t>QUIZ</a:t>
            </a:r>
            <a:endParaRPr lang="en-GB" sz="1100" dirty="0"/>
          </a:p>
        </p:txBody>
      </p:sp>
      <p:sp>
        <p:nvSpPr>
          <p:cNvPr id="12" name="Shape 12"/>
          <p:cNvSpPr txBox="1"/>
          <p:nvPr/>
        </p:nvSpPr>
        <p:spPr>
          <a:xfrm>
            <a:off x="1243584" y="1810512"/>
            <a:ext cx="5486400" cy="310896"/>
          </a:xfrm>
          <a:prstGeom prst="rect">
            <a:avLst/>
          </a:prstGeom>
          <a:noFill/>
          <a:ln>
            <a:noFill/>
          </a:ln>
        </p:spPr>
        <p:txBody>
          <a:bodyPr wrap="square" lIns="18288" tIns="18288" rIns="18288" bIns="18288" anchor="ctr" rtlCol="0">
            <a:normAutofit/>
          </a:bodyPr>
          <a:lstStyle/>
          <a:p>
            <a:pPr algn="l">
              <a:buNone/>
            </a:pPr>
            <a:r>
              <a:rPr lang="en-GB" sz="1200" b="0" i="1" dirty="0">
                <a:solidFill>
                  <a:srgbClr val="595959"/>
                </a:solidFill>
                <a:latin typeface="Arial"/>
                <a:cs typeface="Arial"/>
              </a:rPr>
              <a:t>3 min · exit ticket · write a, b or c on a slip and hand it in</a:t>
            </a:r>
            <a:endParaRPr lang="en-GB" sz="1200" dirty="0"/>
          </a:p>
        </p:txBody>
      </p:sp>
      <p:sp>
        <p:nvSpPr>
          <p:cNvPr id="13" name="Shape 13"/>
          <p:cNvSpPr/>
          <p:nvPr/>
        </p:nvSpPr>
        <p:spPr>
          <a:xfrm>
            <a:off x="548640" y="2304288"/>
            <a:ext cx="329184" cy="329184"/>
          </a:xfrm>
          <a:prstGeom prst="ellipse">
            <a:avLst/>
          </a:prstGeom>
          <a:solidFill>
            <a:srgbClr val="333399"/>
          </a:solidFill>
          <a:ln>
            <a:noFill/>
          </a:ln>
        </p:spPr>
        <p:txBody>
          <a:bodyPr wrap="square" lIns="0" tIns="0" rIns="0" bIns="0" anchor="ctr" rtlCol="0">
            <a:normAutofit/>
          </a:bodyPr>
          <a:lstStyle/>
          <a:p>
            <a:pPr algn="ctr">
              <a:buNone/>
            </a:pPr>
            <a:r>
              <a:rPr lang="en-GB" sz="1200" b="1" i="0" dirty="0">
                <a:solidFill>
                  <a:srgbClr val="FFFFFF"/>
                </a:solidFill>
                <a:latin typeface="Arial"/>
                <a:cs typeface="Arial"/>
              </a:rPr>
              <a:t>1</a:t>
            </a:r>
            <a:endParaRPr lang="en-GB" sz="1200" dirty="0"/>
          </a:p>
        </p:txBody>
      </p:sp>
      <p:sp>
        <p:nvSpPr>
          <p:cNvPr id="14" name="Shape 14"/>
          <p:cNvSpPr txBox="1"/>
          <p:nvPr/>
        </p:nvSpPr>
        <p:spPr>
          <a:xfrm>
            <a:off x="1005840" y="2286000"/>
            <a:ext cx="7498080" cy="329184"/>
          </a:xfrm>
          <a:prstGeom prst="rect">
            <a:avLst/>
          </a:prstGeom>
          <a:noFill/>
          <a:ln>
            <a:noFill/>
          </a:ln>
        </p:spPr>
        <p:txBody>
          <a:bodyPr wrap="square" lIns="18288" tIns="18288" rIns="18288" bIns="18288" anchor="ctr" rtlCol="0">
            <a:normAutofit/>
          </a:bodyPr>
          <a:lstStyle/>
          <a:p>
            <a:pPr algn="l">
              <a:buNone/>
            </a:pPr>
            <a:r>
              <a:rPr lang="en-GB" sz="1300" b="1" i="0" dirty="0">
                <a:solidFill>
                  <a:srgbClr val="1A1A1A"/>
                </a:solidFill>
                <a:latin typeface="Arial"/>
                <a:cs typeface="Arial"/>
              </a:rPr>
              <a:t>The gulf of evaluation is about…</a:t>
            </a:r>
            <a:endParaRPr lang="en-GB" sz="1300" dirty="0"/>
          </a:p>
        </p:txBody>
      </p:sp>
      <p:sp>
        <p:nvSpPr>
          <p:cNvPr id="15" name="Shape 15"/>
          <p:cNvSpPr/>
          <p:nvPr/>
        </p:nvSpPr>
        <p:spPr>
          <a:xfrm>
            <a:off x="1005840" y="2651760"/>
            <a:ext cx="2423160" cy="329184"/>
          </a:xfrm>
          <a:prstGeom prst="roundRect">
            <a:avLst>
              <a:gd name="adj" fmla="val 30000"/>
            </a:avLst>
          </a:prstGeom>
          <a:solidFill>
            <a:srgbClr val="F3F8F9"/>
          </a:solidFill>
          <a:ln w="9525">
            <a:solidFill>
              <a:srgbClr val="9DB8BC"/>
            </a:solidFill>
          </a:ln>
        </p:spPr>
        <p:txBody>
          <a:bodyPr wrap="square" lIns="54864" tIns="54864" rIns="54864" bIns="54864" anchor="ctr" rtlCol="0">
            <a:normAutofit/>
          </a:bodyPr>
          <a:lstStyle/>
          <a:p>
            <a:pPr algn="l">
              <a:buNone/>
            </a:pPr>
            <a:r>
              <a:rPr lang="en-GB" sz="1100" b="0" i="0" dirty="0">
                <a:solidFill>
                  <a:srgbClr val="1A1A1A"/>
                </a:solidFill>
                <a:latin typeface="Arial"/>
                <a:cs typeface="Arial"/>
              </a:rPr>
              <a:t>a)  choosing the right actions</a:t>
            </a:r>
            <a:endParaRPr lang="en-GB" sz="1100" dirty="0"/>
          </a:p>
        </p:txBody>
      </p:sp>
      <p:sp>
        <p:nvSpPr>
          <p:cNvPr id="16" name="Shape 16"/>
          <p:cNvSpPr/>
          <p:nvPr/>
        </p:nvSpPr>
        <p:spPr>
          <a:xfrm>
            <a:off x="3520440" y="2651760"/>
            <a:ext cx="2423160" cy="329184"/>
          </a:xfrm>
          <a:prstGeom prst="roundRect">
            <a:avLst>
              <a:gd name="adj" fmla="val 30000"/>
            </a:avLst>
          </a:prstGeom>
          <a:solidFill>
            <a:srgbClr val="F3F8F9"/>
          </a:solidFill>
          <a:ln w="9525">
            <a:solidFill>
              <a:srgbClr val="9DB8BC"/>
            </a:solidFill>
          </a:ln>
        </p:spPr>
        <p:txBody>
          <a:bodyPr wrap="square" lIns="54864" tIns="54864" rIns="54864" bIns="54864" anchor="ctr" rtlCol="0">
            <a:normAutofit/>
          </a:bodyPr>
          <a:lstStyle/>
          <a:p>
            <a:pPr algn="l">
              <a:buNone/>
            </a:pPr>
            <a:r>
              <a:rPr lang="en-GB" sz="1100" b="0" i="0" dirty="0">
                <a:solidFill>
                  <a:srgbClr val="1A1A1A"/>
                </a:solidFill>
                <a:latin typeface="Arial"/>
                <a:cs typeface="Arial"/>
              </a:rPr>
              <a:t>b)  interpreting the system’s state</a:t>
            </a:r>
            <a:endParaRPr lang="en-GB" sz="1100" dirty="0"/>
          </a:p>
        </p:txBody>
      </p:sp>
      <p:sp>
        <p:nvSpPr>
          <p:cNvPr id="17" name="Shape 17"/>
          <p:cNvSpPr/>
          <p:nvPr/>
        </p:nvSpPr>
        <p:spPr>
          <a:xfrm>
            <a:off x="6035040" y="2651760"/>
            <a:ext cx="2423160" cy="329184"/>
          </a:xfrm>
          <a:prstGeom prst="roundRect">
            <a:avLst>
              <a:gd name="adj" fmla="val 30000"/>
            </a:avLst>
          </a:prstGeom>
          <a:solidFill>
            <a:srgbClr val="F3F8F9"/>
          </a:solidFill>
          <a:ln w="9525">
            <a:solidFill>
              <a:srgbClr val="9DB8BC"/>
            </a:solidFill>
          </a:ln>
        </p:spPr>
        <p:txBody>
          <a:bodyPr wrap="square" lIns="54864" tIns="54864" rIns="54864" bIns="54864" anchor="ctr" rtlCol="0">
            <a:normAutofit/>
          </a:bodyPr>
          <a:lstStyle/>
          <a:p>
            <a:pPr algn="l">
              <a:buNone/>
            </a:pPr>
            <a:r>
              <a:rPr lang="en-GB" sz="1100" b="0" i="0" dirty="0">
                <a:solidFill>
                  <a:srgbClr val="1A1A1A"/>
                </a:solidFill>
                <a:latin typeface="Arial"/>
                <a:cs typeface="Arial"/>
              </a:rPr>
              <a:t>c)  fitting the chair to the user</a:t>
            </a:r>
            <a:endParaRPr lang="en-GB" sz="1100" dirty="0"/>
          </a:p>
        </p:txBody>
      </p:sp>
      <p:sp>
        <p:nvSpPr>
          <p:cNvPr id="18" name="Shape 18"/>
          <p:cNvSpPr/>
          <p:nvPr/>
        </p:nvSpPr>
        <p:spPr>
          <a:xfrm>
            <a:off x="548640" y="3090672"/>
            <a:ext cx="329184" cy="329184"/>
          </a:xfrm>
          <a:prstGeom prst="ellipse">
            <a:avLst/>
          </a:prstGeom>
          <a:solidFill>
            <a:srgbClr val="333399"/>
          </a:solidFill>
          <a:ln>
            <a:noFill/>
          </a:ln>
        </p:spPr>
        <p:txBody>
          <a:bodyPr wrap="square" lIns="0" tIns="0" rIns="0" bIns="0" anchor="ctr" rtlCol="0">
            <a:normAutofit/>
          </a:bodyPr>
          <a:lstStyle/>
          <a:p>
            <a:pPr algn="ctr">
              <a:buNone/>
            </a:pPr>
            <a:r>
              <a:rPr lang="en-GB" sz="1200" b="1" i="0" dirty="0">
                <a:solidFill>
                  <a:srgbClr val="FFFFFF"/>
                </a:solidFill>
                <a:latin typeface="Arial"/>
                <a:cs typeface="Arial"/>
              </a:rPr>
              <a:t>2</a:t>
            </a:r>
            <a:endParaRPr lang="en-GB" sz="1200" dirty="0"/>
          </a:p>
        </p:txBody>
      </p:sp>
      <p:sp>
        <p:nvSpPr>
          <p:cNvPr id="19" name="Shape 19"/>
          <p:cNvSpPr txBox="1"/>
          <p:nvPr/>
        </p:nvSpPr>
        <p:spPr>
          <a:xfrm>
            <a:off x="1005840" y="3072384"/>
            <a:ext cx="7498080" cy="329184"/>
          </a:xfrm>
          <a:prstGeom prst="rect">
            <a:avLst/>
          </a:prstGeom>
          <a:noFill/>
          <a:ln>
            <a:noFill/>
          </a:ln>
        </p:spPr>
        <p:txBody>
          <a:bodyPr wrap="square" lIns="18288" tIns="18288" rIns="18288" bIns="18288" anchor="ctr" rtlCol="0">
            <a:normAutofit/>
          </a:bodyPr>
          <a:lstStyle/>
          <a:p>
            <a:pPr algn="l">
              <a:buNone/>
            </a:pPr>
            <a:r>
              <a:rPr lang="en-GB" sz="1300" b="1" i="0" dirty="0">
                <a:solidFill>
                  <a:srgbClr val="1A1A1A"/>
                </a:solidFill>
                <a:latin typeface="Arial"/>
                <a:cs typeface="Arial"/>
              </a:rPr>
              <a:t>Which stage is NOT on the execution side?</a:t>
            </a:r>
            <a:endParaRPr lang="en-GB" sz="1300" dirty="0"/>
          </a:p>
        </p:txBody>
      </p:sp>
      <p:sp>
        <p:nvSpPr>
          <p:cNvPr id="20" name="Shape 20"/>
          <p:cNvSpPr/>
          <p:nvPr/>
        </p:nvSpPr>
        <p:spPr>
          <a:xfrm>
            <a:off x="1005840" y="3438144"/>
            <a:ext cx="2423160" cy="329184"/>
          </a:xfrm>
          <a:prstGeom prst="roundRect">
            <a:avLst>
              <a:gd name="adj" fmla="val 30000"/>
            </a:avLst>
          </a:prstGeom>
          <a:solidFill>
            <a:srgbClr val="F3F8F9"/>
          </a:solidFill>
          <a:ln w="9525">
            <a:solidFill>
              <a:srgbClr val="9DB8BC"/>
            </a:solidFill>
          </a:ln>
        </p:spPr>
        <p:txBody>
          <a:bodyPr wrap="square" lIns="54864" tIns="54864" rIns="54864" bIns="54864" anchor="ctr" rtlCol="0">
            <a:normAutofit/>
          </a:bodyPr>
          <a:lstStyle/>
          <a:p>
            <a:pPr algn="l">
              <a:buNone/>
            </a:pPr>
            <a:r>
              <a:rPr lang="en-GB" sz="1100" b="0" i="0" dirty="0">
                <a:solidFill>
                  <a:srgbClr val="1A1A1A"/>
                </a:solidFill>
                <a:latin typeface="Arial"/>
                <a:cs typeface="Arial"/>
              </a:rPr>
              <a:t>a)  forming the intention</a:t>
            </a:r>
            <a:endParaRPr lang="en-GB" sz="1100" dirty="0"/>
          </a:p>
        </p:txBody>
      </p:sp>
      <p:sp>
        <p:nvSpPr>
          <p:cNvPr id="21" name="Shape 21"/>
          <p:cNvSpPr/>
          <p:nvPr/>
        </p:nvSpPr>
        <p:spPr>
          <a:xfrm>
            <a:off x="3520440" y="3438144"/>
            <a:ext cx="2423160" cy="329184"/>
          </a:xfrm>
          <a:prstGeom prst="roundRect">
            <a:avLst>
              <a:gd name="adj" fmla="val 30000"/>
            </a:avLst>
          </a:prstGeom>
          <a:solidFill>
            <a:srgbClr val="F3F8F9"/>
          </a:solidFill>
          <a:ln w="9525">
            <a:solidFill>
              <a:srgbClr val="9DB8BC"/>
            </a:solidFill>
          </a:ln>
        </p:spPr>
        <p:txBody>
          <a:bodyPr wrap="square" lIns="54864" tIns="54864" rIns="54864" bIns="54864" anchor="ctr" rtlCol="0">
            <a:normAutofit/>
          </a:bodyPr>
          <a:lstStyle/>
          <a:p>
            <a:pPr algn="l">
              <a:buNone/>
            </a:pPr>
            <a:r>
              <a:rPr lang="en-GB" sz="1100" b="0" i="0" dirty="0">
                <a:solidFill>
                  <a:srgbClr val="1A1A1A"/>
                </a:solidFill>
                <a:latin typeface="Arial"/>
                <a:cs typeface="Arial"/>
              </a:rPr>
              <a:t>b)  specifying the actions</a:t>
            </a:r>
            <a:endParaRPr lang="en-GB" sz="1100" dirty="0"/>
          </a:p>
        </p:txBody>
      </p:sp>
      <p:sp>
        <p:nvSpPr>
          <p:cNvPr id="22" name="Shape 22"/>
          <p:cNvSpPr/>
          <p:nvPr/>
        </p:nvSpPr>
        <p:spPr>
          <a:xfrm>
            <a:off x="6035040" y="3438144"/>
            <a:ext cx="2423160" cy="329184"/>
          </a:xfrm>
          <a:prstGeom prst="roundRect">
            <a:avLst>
              <a:gd name="adj" fmla="val 30000"/>
            </a:avLst>
          </a:prstGeom>
          <a:solidFill>
            <a:srgbClr val="F3F8F9"/>
          </a:solidFill>
          <a:ln w="9525">
            <a:solidFill>
              <a:srgbClr val="9DB8BC"/>
            </a:solidFill>
          </a:ln>
        </p:spPr>
        <p:txBody>
          <a:bodyPr wrap="square" lIns="54864" tIns="54864" rIns="54864" bIns="54864" anchor="ctr" rtlCol="0">
            <a:normAutofit/>
          </a:bodyPr>
          <a:lstStyle/>
          <a:p>
            <a:pPr algn="l">
              <a:buNone/>
            </a:pPr>
            <a:r>
              <a:rPr lang="en-GB" sz="1100" b="0" i="0" dirty="0">
                <a:solidFill>
                  <a:srgbClr val="1A1A1A"/>
                </a:solidFill>
                <a:latin typeface="Arial"/>
                <a:cs typeface="Arial"/>
              </a:rPr>
              <a:t>c)  perceiving system state</a:t>
            </a:r>
            <a:endParaRPr lang="en-GB" sz="1100" dirty="0"/>
          </a:p>
        </p:txBody>
      </p:sp>
      <p:sp>
        <p:nvSpPr>
          <p:cNvPr id="23" name="Shape 23"/>
          <p:cNvSpPr/>
          <p:nvPr/>
        </p:nvSpPr>
        <p:spPr>
          <a:xfrm>
            <a:off x="548640" y="3877056"/>
            <a:ext cx="329184" cy="329184"/>
          </a:xfrm>
          <a:prstGeom prst="ellipse">
            <a:avLst/>
          </a:prstGeom>
          <a:solidFill>
            <a:srgbClr val="333399"/>
          </a:solidFill>
          <a:ln>
            <a:noFill/>
          </a:ln>
        </p:spPr>
        <p:txBody>
          <a:bodyPr wrap="square" lIns="0" tIns="0" rIns="0" bIns="0" anchor="ctr" rtlCol="0">
            <a:normAutofit/>
          </a:bodyPr>
          <a:lstStyle/>
          <a:p>
            <a:pPr algn="ctr">
              <a:buNone/>
            </a:pPr>
            <a:r>
              <a:rPr lang="en-GB" sz="1200" b="1" i="0" dirty="0">
                <a:solidFill>
                  <a:srgbClr val="FFFFFF"/>
                </a:solidFill>
                <a:latin typeface="Arial"/>
                <a:cs typeface="Arial"/>
              </a:rPr>
              <a:t>3</a:t>
            </a:r>
            <a:endParaRPr lang="en-GB" sz="1200" dirty="0"/>
          </a:p>
        </p:txBody>
      </p:sp>
      <p:sp>
        <p:nvSpPr>
          <p:cNvPr id="24" name="Shape 24"/>
          <p:cNvSpPr txBox="1"/>
          <p:nvPr/>
        </p:nvSpPr>
        <p:spPr>
          <a:xfrm>
            <a:off x="1005840" y="3858768"/>
            <a:ext cx="7498080" cy="329184"/>
          </a:xfrm>
          <a:prstGeom prst="rect">
            <a:avLst/>
          </a:prstGeom>
          <a:noFill/>
          <a:ln>
            <a:noFill/>
          </a:ln>
        </p:spPr>
        <p:txBody>
          <a:bodyPr wrap="square" lIns="18288" tIns="18288" rIns="18288" bIns="18288" anchor="ctr" rtlCol="0">
            <a:normAutofit/>
          </a:bodyPr>
          <a:lstStyle/>
          <a:p>
            <a:pPr algn="l">
              <a:buNone/>
            </a:pPr>
            <a:r>
              <a:rPr lang="en-GB" sz="1300" b="1" i="0" dirty="0">
                <a:solidFill>
                  <a:srgbClr val="1A1A1A"/>
                </a:solidFill>
                <a:latin typeface="Arial"/>
                <a:cs typeface="Arial"/>
              </a:rPr>
              <a:t>A slip is best reduced by…</a:t>
            </a:r>
            <a:endParaRPr lang="en-GB" sz="1300" dirty="0"/>
          </a:p>
        </p:txBody>
      </p:sp>
      <p:sp>
        <p:nvSpPr>
          <p:cNvPr id="25" name="Shape 25"/>
          <p:cNvSpPr/>
          <p:nvPr/>
        </p:nvSpPr>
        <p:spPr>
          <a:xfrm>
            <a:off x="1005840" y="4224528"/>
            <a:ext cx="2423160" cy="329184"/>
          </a:xfrm>
          <a:prstGeom prst="roundRect">
            <a:avLst>
              <a:gd name="adj" fmla="val 30000"/>
            </a:avLst>
          </a:prstGeom>
          <a:solidFill>
            <a:srgbClr val="F3F8F9"/>
          </a:solidFill>
          <a:ln w="9525">
            <a:solidFill>
              <a:srgbClr val="9DB8BC"/>
            </a:solidFill>
          </a:ln>
        </p:spPr>
        <p:txBody>
          <a:bodyPr wrap="square" lIns="54864" tIns="54864" rIns="54864" bIns="54864" anchor="ctr" rtlCol="0">
            <a:normAutofit/>
          </a:bodyPr>
          <a:lstStyle/>
          <a:p>
            <a:pPr algn="l">
              <a:buNone/>
            </a:pPr>
            <a:r>
              <a:rPr lang="en-GB" sz="1100" b="0" i="0" dirty="0">
                <a:solidFill>
                  <a:srgbClr val="1A1A1A"/>
                </a:solidFill>
                <a:latin typeface="Arial"/>
                <a:cs typeface="Arial"/>
              </a:rPr>
              <a:t>a)  more user training</a:t>
            </a:r>
            <a:endParaRPr lang="en-GB" sz="1100" dirty="0"/>
          </a:p>
        </p:txBody>
      </p:sp>
      <p:sp>
        <p:nvSpPr>
          <p:cNvPr id="26" name="Shape 26"/>
          <p:cNvSpPr/>
          <p:nvPr/>
        </p:nvSpPr>
        <p:spPr>
          <a:xfrm>
            <a:off x="3520440" y="4224528"/>
            <a:ext cx="2423160" cy="329184"/>
          </a:xfrm>
          <a:prstGeom prst="roundRect">
            <a:avLst>
              <a:gd name="adj" fmla="val 30000"/>
            </a:avLst>
          </a:prstGeom>
          <a:solidFill>
            <a:srgbClr val="F3F8F9"/>
          </a:solidFill>
          <a:ln w="9525">
            <a:solidFill>
              <a:srgbClr val="9DB8BC"/>
            </a:solidFill>
          </a:ln>
        </p:spPr>
        <p:txBody>
          <a:bodyPr wrap="square" lIns="54864" tIns="54864" rIns="54864" bIns="54864" anchor="ctr" rtlCol="0">
            <a:normAutofit/>
          </a:bodyPr>
          <a:lstStyle/>
          <a:p>
            <a:pPr algn="l">
              <a:buNone/>
            </a:pPr>
            <a:r>
              <a:rPr lang="en-GB" sz="1100" b="0" i="0" dirty="0">
                <a:solidFill>
                  <a:srgbClr val="1A1A1A"/>
                </a:solidFill>
                <a:latin typeface="Arial"/>
                <a:cs typeface="Arial"/>
              </a:rPr>
              <a:t>b)  better interface design</a:t>
            </a:r>
            <a:endParaRPr lang="en-GB" sz="1100" dirty="0"/>
          </a:p>
        </p:txBody>
      </p:sp>
      <p:sp>
        <p:nvSpPr>
          <p:cNvPr id="27" name="Shape 27"/>
          <p:cNvSpPr/>
          <p:nvPr/>
        </p:nvSpPr>
        <p:spPr>
          <a:xfrm>
            <a:off x="6035040" y="4224528"/>
            <a:ext cx="2423160" cy="329184"/>
          </a:xfrm>
          <a:prstGeom prst="roundRect">
            <a:avLst>
              <a:gd name="adj" fmla="val 30000"/>
            </a:avLst>
          </a:prstGeom>
          <a:solidFill>
            <a:srgbClr val="F3F8F9"/>
          </a:solidFill>
          <a:ln w="9525">
            <a:solidFill>
              <a:srgbClr val="9DB8BC"/>
            </a:solidFill>
          </a:ln>
        </p:spPr>
        <p:txBody>
          <a:bodyPr wrap="square" lIns="54864" tIns="54864" rIns="54864" bIns="54864" anchor="ctr" rtlCol="0">
            <a:normAutofit/>
          </a:bodyPr>
          <a:lstStyle/>
          <a:p>
            <a:pPr algn="l">
              <a:buNone/>
            </a:pPr>
            <a:r>
              <a:rPr lang="en-GB" sz="1100" b="0" i="0" dirty="0">
                <a:solidFill>
                  <a:srgbClr val="1A1A1A"/>
                </a:solidFill>
                <a:latin typeface="Arial"/>
                <a:cs typeface="Arial"/>
              </a:rPr>
              <a:t>c)  a longer manual</a:t>
            </a:r>
            <a:endParaRPr lang="en-GB" sz="1100" dirty="0"/>
          </a:p>
        </p:txBody>
      </p:sp>
      <p:sp>
        <p:nvSpPr>
          <p:cNvPr id="28" name="Shape 28"/>
          <p:cNvSpPr/>
          <p:nvPr/>
        </p:nvSpPr>
        <p:spPr>
          <a:xfrm>
            <a:off x="548640" y="4663440"/>
            <a:ext cx="329184" cy="329184"/>
          </a:xfrm>
          <a:prstGeom prst="ellipse">
            <a:avLst/>
          </a:prstGeom>
          <a:solidFill>
            <a:srgbClr val="333399"/>
          </a:solidFill>
          <a:ln>
            <a:noFill/>
          </a:ln>
        </p:spPr>
        <p:txBody>
          <a:bodyPr wrap="square" lIns="0" tIns="0" rIns="0" bIns="0" anchor="ctr" rtlCol="0">
            <a:normAutofit/>
          </a:bodyPr>
          <a:lstStyle/>
          <a:p>
            <a:pPr algn="ctr">
              <a:buNone/>
            </a:pPr>
            <a:r>
              <a:rPr lang="en-GB" sz="1200" b="1" i="0" dirty="0">
                <a:solidFill>
                  <a:srgbClr val="FFFFFF"/>
                </a:solidFill>
                <a:latin typeface="Arial"/>
                <a:cs typeface="Arial"/>
              </a:rPr>
              <a:t>4</a:t>
            </a:r>
            <a:endParaRPr lang="en-GB" sz="1200" dirty="0"/>
          </a:p>
        </p:txBody>
      </p:sp>
      <p:sp>
        <p:nvSpPr>
          <p:cNvPr id="29" name="Shape 29"/>
          <p:cNvSpPr txBox="1"/>
          <p:nvPr/>
        </p:nvSpPr>
        <p:spPr>
          <a:xfrm>
            <a:off x="1005840" y="4645152"/>
            <a:ext cx="7498080" cy="329184"/>
          </a:xfrm>
          <a:prstGeom prst="rect">
            <a:avLst/>
          </a:prstGeom>
          <a:noFill/>
          <a:ln>
            <a:noFill/>
          </a:ln>
        </p:spPr>
        <p:txBody>
          <a:bodyPr wrap="square" lIns="18288" tIns="18288" rIns="18288" bIns="18288" anchor="ctr" rtlCol="0">
            <a:normAutofit/>
          </a:bodyPr>
          <a:lstStyle/>
          <a:p>
            <a:pPr algn="l">
              <a:buNone/>
            </a:pPr>
            <a:r>
              <a:rPr lang="en-GB" sz="1300" b="1" i="0" dirty="0">
                <a:solidFill>
                  <a:srgbClr val="1A1A1A"/>
                </a:solidFill>
                <a:latin typeface="Arial"/>
                <a:cs typeface="Arial"/>
              </a:rPr>
              <a:t>For Abowd &amp; Beale, interaction problems are problems of…</a:t>
            </a:r>
            <a:endParaRPr lang="en-GB" sz="1300" dirty="0"/>
          </a:p>
        </p:txBody>
      </p:sp>
      <p:sp>
        <p:nvSpPr>
          <p:cNvPr id="30" name="Shape 30"/>
          <p:cNvSpPr/>
          <p:nvPr/>
        </p:nvSpPr>
        <p:spPr>
          <a:xfrm>
            <a:off x="1005840" y="5010912"/>
            <a:ext cx="2423160" cy="329184"/>
          </a:xfrm>
          <a:prstGeom prst="roundRect">
            <a:avLst>
              <a:gd name="adj" fmla="val 30000"/>
            </a:avLst>
          </a:prstGeom>
          <a:solidFill>
            <a:srgbClr val="F3F8F9"/>
          </a:solidFill>
          <a:ln w="9525">
            <a:solidFill>
              <a:srgbClr val="9DB8BC"/>
            </a:solidFill>
          </a:ln>
        </p:spPr>
        <p:txBody>
          <a:bodyPr wrap="square" lIns="54864" tIns="54864" rIns="54864" bIns="54864" anchor="ctr" rtlCol="0">
            <a:normAutofit/>
          </a:bodyPr>
          <a:lstStyle/>
          <a:p>
            <a:pPr algn="l">
              <a:buNone/>
            </a:pPr>
            <a:r>
              <a:rPr lang="en-GB" sz="1100" b="0" i="0" dirty="0">
                <a:solidFill>
                  <a:srgbClr val="1A1A1A"/>
                </a:solidFill>
                <a:latin typeface="Arial"/>
                <a:cs typeface="Arial"/>
              </a:rPr>
              <a:t>a)  hardware</a:t>
            </a:r>
            <a:endParaRPr lang="en-GB" sz="1100" dirty="0"/>
          </a:p>
        </p:txBody>
      </p:sp>
      <p:sp>
        <p:nvSpPr>
          <p:cNvPr id="31" name="Shape 31"/>
          <p:cNvSpPr/>
          <p:nvPr/>
        </p:nvSpPr>
        <p:spPr>
          <a:xfrm>
            <a:off x="3520440" y="5010912"/>
            <a:ext cx="2423160" cy="329184"/>
          </a:xfrm>
          <a:prstGeom prst="roundRect">
            <a:avLst>
              <a:gd name="adj" fmla="val 30000"/>
            </a:avLst>
          </a:prstGeom>
          <a:solidFill>
            <a:srgbClr val="F3F8F9"/>
          </a:solidFill>
          <a:ln w="9525">
            <a:solidFill>
              <a:srgbClr val="9DB8BC"/>
            </a:solidFill>
          </a:ln>
        </p:spPr>
        <p:txBody>
          <a:bodyPr wrap="square" lIns="54864" tIns="54864" rIns="54864" bIns="54864" anchor="ctr" rtlCol="0">
            <a:normAutofit/>
          </a:bodyPr>
          <a:lstStyle/>
          <a:p>
            <a:pPr algn="l">
              <a:buNone/>
            </a:pPr>
            <a:r>
              <a:rPr lang="en-GB" sz="1100" b="0" i="0" dirty="0">
                <a:solidFill>
                  <a:srgbClr val="1A1A1A"/>
                </a:solidFill>
                <a:latin typeface="Arial"/>
                <a:cs typeface="Arial"/>
              </a:rPr>
              <a:t>b)  translation</a:t>
            </a:r>
            <a:endParaRPr lang="en-GB" sz="1100" dirty="0"/>
          </a:p>
        </p:txBody>
      </p:sp>
      <p:sp>
        <p:nvSpPr>
          <p:cNvPr id="32" name="Shape 32"/>
          <p:cNvSpPr/>
          <p:nvPr/>
        </p:nvSpPr>
        <p:spPr>
          <a:xfrm>
            <a:off x="6035040" y="5010912"/>
            <a:ext cx="2423160" cy="329184"/>
          </a:xfrm>
          <a:prstGeom prst="roundRect">
            <a:avLst>
              <a:gd name="adj" fmla="val 30000"/>
            </a:avLst>
          </a:prstGeom>
          <a:solidFill>
            <a:srgbClr val="F3F8F9"/>
          </a:solidFill>
          <a:ln w="9525">
            <a:solidFill>
              <a:srgbClr val="9DB8BC"/>
            </a:solidFill>
          </a:ln>
        </p:spPr>
        <p:txBody>
          <a:bodyPr wrap="square" lIns="54864" tIns="54864" rIns="54864" bIns="54864" anchor="ctr" rtlCol="0">
            <a:normAutofit/>
          </a:bodyPr>
          <a:lstStyle/>
          <a:p>
            <a:pPr algn="l">
              <a:buNone/>
            </a:pPr>
            <a:r>
              <a:rPr lang="en-GB" sz="1100" b="0" i="0" dirty="0">
                <a:solidFill>
                  <a:srgbClr val="1A1A1A"/>
                </a:solidFill>
                <a:latin typeface="Arial"/>
                <a:cs typeface="Arial"/>
              </a:rPr>
              <a:t>c)  memory</a:t>
            </a:r>
            <a:endParaRPr lang="en-GB" sz="1100" dirty="0"/>
          </a:p>
        </p:txBody>
      </p:sp>
      <p:sp>
        <p:nvSpPr>
          <p:cNvPr id="33" name="Shape 33"/>
          <p:cNvSpPr/>
          <p:nvPr/>
        </p:nvSpPr>
        <p:spPr>
          <a:xfrm>
            <a:off x="548640" y="5449824"/>
            <a:ext cx="329184" cy="329184"/>
          </a:xfrm>
          <a:prstGeom prst="ellipse">
            <a:avLst/>
          </a:prstGeom>
          <a:solidFill>
            <a:srgbClr val="333399"/>
          </a:solidFill>
          <a:ln>
            <a:noFill/>
          </a:ln>
        </p:spPr>
        <p:txBody>
          <a:bodyPr wrap="square" lIns="0" tIns="0" rIns="0" bIns="0" anchor="ctr" rtlCol="0">
            <a:normAutofit/>
          </a:bodyPr>
          <a:lstStyle/>
          <a:p>
            <a:pPr algn="ctr">
              <a:buNone/>
            </a:pPr>
            <a:r>
              <a:rPr lang="en-GB" sz="1200" b="1" i="0" dirty="0">
                <a:solidFill>
                  <a:srgbClr val="FFFFFF"/>
                </a:solidFill>
                <a:latin typeface="Arial"/>
                <a:cs typeface="Arial"/>
              </a:rPr>
              <a:t>5</a:t>
            </a:r>
            <a:endParaRPr lang="en-GB" sz="1200" dirty="0"/>
          </a:p>
        </p:txBody>
      </p:sp>
      <p:sp>
        <p:nvSpPr>
          <p:cNvPr id="34" name="Shape 34"/>
          <p:cNvSpPr txBox="1"/>
          <p:nvPr/>
        </p:nvSpPr>
        <p:spPr>
          <a:xfrm>
            <a:off x="1005840" y="5431536"/>
            <a:ext cx="7498080" cy="329184"/>
          </a:xfrm>
          <a:prstGeom prst="rect">
            <a:avLst/>
          </a:prstGeom>
          <a:noFill/>
          <a:ln>
            <a:noFill/>
          </a:ln>
        </p:spPr>
        <p:txBody>
          <a:bodyPr wrap="square" lIns="18288" tIns="18288" rIns="18288" bIns="18288" anchor="ctr" rtlCol="0">
            <a:normAutofit/>
          </a:bodyPr>
          <a:lstStyle/>
          <a:p>
            <a:pPr algn="l">
              <a:buNone/>
            </a:pPr>
            <a:r>
              <a:rPr lang="en-GB" sz="1300" b="1" i="0" dirty="0">
                <a:solidFill>
                  <a:srgbClr val="1A1A1A"/>
                </a:solidFill>
                <a:latin typeface="Arial"/>
                <a:cs typeface="Arial"/>
              </a:rPr>
              <a:t>Menus work because users rely on…</a:t>
            </a:r>
            <a:endParaRPr lang="en-GB" sz="1300" dirty="0"/>
          </a:p>
        </p:txBody>
      </p:sp>
      <p:sp>
        <p:nvSpPr>
          <p:cNvPr id="35" name="Shape 35"/>
          <p:cNvSpPr/>
          <p:nvPr/>
        </p:nvSpPr>
        <p:spPr>
          <a:xfrm>
            <a:off x="1005840" y="5797296"/>
            <a:ext cx="2423160" cy="329184"/>
          </a:xfrm>
          <a:prstGeom prst="roundRect">
            <a:avLst>
              <a:gd name="adj" fmla="val 30000"/>
            </a:avLst>
          </a:prstGeom>
          <a:solidFill>
            <a:srgbClr val="F3F8F9"/>
          </a:solidFill>
          <a:ln w="9525">
            <a:solidFill>
              <a:srgbClr val="9DB8BC"/>
            </a:solidFill>
          </a:ln>
        </p:spPr>
        <p:txBody>
          <a:bodyPr wrap="square" lIns="54864" tIns="54864" rIns="54864" bIns="54864" anchor="ctr" rtlCol="0">
            <a:normAutofit/>
          </a:bodyPr>
          <a:lstStyle/>
          <a:p>
            <a:pPr algn="l">
              <a:buNone/>
            </a:pPr>
            <a:r>
              <a:rPr lang="en-GB" sz="1100" b="0" i="0" dirty="0">
                <a:solidFill>
                  <a:srgbClr val="1A1A1A"/>
                </a:solidFill>
                <a:latin typeface="Arial"/>
                <a:cs typeface="Arial"/>
              </a:rPr>
              <a:t>a)  recognition, not recall</a:t>
            </a:r>
            <a:endParaRPr lang="en-GB" sz="1100" dirty="0"/>
          </a:p>
        </p:txBody>
      </p:sp>
      <p:sp>
        <p:nvSpPr>
          <p:cNvPr id="36" name="Shape 36"/>
          <p:cNvSpPr/>
          <p:nvPr/>
        </p:nvSpPr>
        <p:spPr>
          <a:xfrm>
            <a:off x="3520440" y="5797296"/>
            <a:ext cx="2423160" cy="329184"/>
          </a:xfrm>
          <a:prstGeom prst="roundRect">
            <a:avLst>
              <a:gd name="adj" fmla="val 30000"/>
            </a:avLst>
          </a:prstGeom>
          <a:solidFill>
            <a:srgbClr val="F3F8F9"/>
          </a:solidFill>
          <a:ln w="9525">
            <a:solidFill>
              <a:srgbClr val="9DB8BC"/>
            </a:solidFill>
          </a:ln>
        </p:spPr>
        <p:txBody>
          <a:bodyPr wrap="square" lIns="54864" tIns="54864" rIns="54864" bIns="54864" anchor="ctr" rtlCol="0">
            <a:normAutofit/>
          </a:bodyPr>
          <a:lstStyle/>
          <a:p>
            <a:pPr algn="l">
              <a:buNone/>
            </a:pPr>
            <a:r>
              <a:rPr lang="en-GB" sz="1100" b="0" i="0" dirty="0">
                <a:solidFill>
                  <a:srgbClr val="1A1A1A"/>
                </a:solidFill>
                <a:latin typeface="Arial"/>
                <a:cs typeface="Arial"/>
              </a:rPr>
              <a:t>b)  typing speed</a:t>
            </a:r>
            <a:endParaRPr lang="en-GB" sz="1100" dirty="0"/>
          </a:p>
        </p:txBody>
      </p:sp>
      <p:sp>
        <p:nvSpPr>
          <p:cNvPr id="37" name="Shape 37"/>
          <p:cNvSpPr/>
          <p:nvPr/>
        </p:nvSpPr>
        <p:spPr>
          <a:xfrm>
            <a:off x="6035040" y="5797296"/>
            <a:ext cx="2423160" cy="329184"/>
          </a:xfrm>
          <a:prstGeom prst="roundRect">
            <a:avLst>
              <a:gd name="adj" fmla="val 30000"/>
            </a:avLst>
          </a:prstGeom>
          <a:solidFill>
            <a:srgbClr val="F3F8F9"/>
          </a:solidFill>
          <a:ln w="9525">
            <a:solidFill>
              <a:srgbClr val="9DB8BC"/>
            </a:solidFill>
          </a:ln>
        </p:spPr>
        <p:txBody>
          <a:bodyPr wrap="square" lIns="54864" tIns="54864" rIns="54864" bIns="54864" anchor="ctr" rtlCol="0">
            <a:normAutofit/>
          </a:bodyPr>
          <a:lstStyle/>
          <a:p>
            <a:pPr algn="l">
              <a:buNone/>
            </a:pPr>
            <a:r>
              <a:rPr lang="en-GB" sz="1100" b="0" i="0" dirty="0">
                <a:solidFill>
                  <a:srgbClr val="1A1A1A"/>
                </a:solidFill>
                <a:latin typeface="Arial"/>
                <a:cs typeface="Arial"/>
              </a:rPr>
              <a:t>c)  natural language</a:t>
            </a:r>
            <a:endParaRPr lang="en-GB" sz="11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200" b="0" i="0" dirty="0">
                <a:solidFill>
                  <a:srgbClr val="2D2D8A"/>
                </a:solidFill>
                <a:latin typeface="Arial"/>
                <a:cs typeface="Arial"/>
              </a:rPr>
              <a:t>Exit ticket</a:t>
            </a:r>
          </a:p>
        </p:txBody>
      </p:sp>
      <p:sp>
        <p:nvSpPr>
          <p:cNvPr id="11" name="Shape 11"/>
          <p:cNvSpPr/>
          <p:nvPr/>
        </p:nvSpPr>
        <p:spPr>
          <a:xfrm>
            <a:off x="548640" y="1810512"/>
            <a:ext cx="873252" cy="310896"/>
          </a:xfrm>
          <a:prstGeom prst="roundRect">
            <a:avLst>
              <a:gd name="adj" fmla="val 50000"/>
            </a:avLst>
          </a:prstGeom>
          <a:solidFill>
            <a:srgbClr val="404040"/>
          </a:solidFill>
          <a:ln>
            <a:noFill/>
          </a:ln>
        </p:spPr>
        <p:txBody>
          <a:bodyPr wrap="square" lIns="27432" tIns="27432" rIns="27432" bIns="27432" anchor="ctr" rtlCol="0">
            <a:normAutofit/>
          </a:bodyPr>
          <a:lstStyle/>
          <a:p>
            <a:pPr algn="ctr">
              <a:buNone/>
            </a:pPr>
            <a:r>
              <a:rPr lang="en-GB" sz="1100" b="1" i="0" dirty="0">
                <a:solidFill>
                  <a:srgbClr val="FFFFFF"/>
                </a:solidFill>
                <a:latin typeface="Arial"/>
                <a:cs typeface="Arial"/>
              </a:rPr>
              <a:t>ANSWERS</a:t>
            </a:r>
            <a:endParaRPr lang="en-GB" sz="1100" dirty="0"/>
          </a:p>
        </p:txBody>
      </p:sp>
      <p:sp>
        <p:nvSpPr>
          <p:cNvPr id="12" name="Shape 12"/>
          <p:cNvSpPr txBox="1"/>
          <p:nvPr/>
        </p:nvSpPr>
        <p:spPr>
          <a:xfrm>
            <a:off x="1531620" y="1810512"/>
            <a:ext cx="5486400" cy="310896"/>
          </a:xfrm>
          <a:prstGeom prst="rect">
            <a:avLst/>
          </a:prstGeom>
          <a:noFill/>
          <a:ln>
            <a:noFill/>
          </a:ln>
        </p:spPr>
        <p:txBody>
          <a:bodyPr wrap="square" lIns="18288" tIns="18288" rIns="18288" bIns="18288" anchor="ctr" rtlCol="0">
            <a:normAutofit/>
          </a:bodyPr>
          <a:lstStyle/>
          <a:p>
            <a:pPr algn="l">
              <a:buNone/>
            </a:pPr>
            <a:r>
              <a:rPr lang="en-GB" sz="1200" b="0" i="1" dirty="0">
                <a:solidFill>
                  <a:srgbClr val="595959"/>
                </a:solidFill>
                <a:latin typeface="Arial"/>
                <a:cs typeface="Arial"/>
              </a:rPr>
              <a:t>check yourself</a:t>
            </a:r>
            <a:endParaRPr lang="en-GB" sz="1200" dirty="0"/>
          </a:p>
        </p:txBody>
      </p:sp>
      <p:sp>
        <p:nvSpPr>
          <p:cNvPr id="13" name="Shape 13"/>
          <p:cNvSpPr/>
          <p:nvPr/>
        </p:nvSpPr>
        <p:spPr>
          <a:xfrm>
            <a:off x="548640" y="2304288"/>
            <a:ext cx="329184" cy="329184"/>
          </a:xfrm>
          <a:prstGeom prst="ellipse">
            <a:avLst/>
          </a:prstGeom>
          <a:solidFill>
            <a:srgbClr val="333399"/>
          </a:solidFill>
          <a:ln>
            <a:noFill/>
          </a:ln>
        </p:spPr>
        <p:txBody>
          <a:bodyPr wrap="square" lIns="0" tIns="0" rIns="0" bIns="0" anchor="ctr" rtlCol="0">
            <a:normAutofit/>
          </a:bodyPr>
          <a:lstStyle/>
          <a:p>
            <a:pPr algn="ctr">
              <a:buNone/>
            </a:pPr>
            <a:r>
              <a:rPr lang="en-GB" sz="1200" b="1" i="0" dirty="0">
                <a:solidFill>
                  <a:srgbClr val="FFFFFF"/>
                </a:solidFill>
                <a:latin typeface="Arial"/>
                <a:cs typeface="Arial"/>
              </a:rPr>
              <a:t>1</a:t>
            </a:r>
            <a:endParaRPr lang="en-GB" sz="1200" dirty="0"/>
          </a:p>
        </p:txBody>
      </p:sp>
      <p:sp>
        <p:nvSpPr>
          <p:cNvPr id="14" name="Shape 14"/>
          <p:cNvSpPr txBox="1"/>
          <p:nvPr/>
        </p:nvSpPr>
        <p:spPr>
          <a:xfrm>
            <a:off x="1005840" y="2286000"/>
            <a:ext cx="7498080" cy="329184"/>
          </a:xfrm>
          <a:prstGeom prst="rect">
            <a:avLst/>
          </a:prstGeom>
          <a:noFill/>
          <a:ln>
            <a:noFill/>
          </a:ln>
        </p:spPr>
        <p:txBody>
          <a:bodyPr wrap="square" lIns="18288" tIns="18288" rIns="18288" bIns="18288" anchor="ctr" rtlCol="0">
            <a:normAutofit/>
          </a:bodyPr>
          <a:lstStyle/>
          <a:p>
            <a:pPr algn="l">
              <a:buNone/>
            </a:pPr>
            <a:r>
              <a:rPr lang="en-GB" sz="1300" b="1" i="0" dirty="0">
                <a:solidFill>
                  <a:srgbClr val="1A1A1A"/>
                </a:solidFill>
                <a:latin typeface="Arial"/>
                <a:cs typeface="Arial"/>
              </a:rPr>
              <a:t>The gulf of evaluation is about…</a:t>
            </a:r>
            <a:endParaRPr lang="en-GB" sz="1300" dirty="0"/>
          </a:p>
        </p:txBody>
      </p:sp>
      <p:sp>
        <p:nvSpPr>
          <p:cNvPr id="15" name="Shape 15"/>
          <p:cNvSpPr/>
          <p:nvPr/>
        </p:nvSpPr>
        <p:spPr>
          <a:xfrm>
            <a:off x="1005840" y="2651760"/>
            <a:ext cx="2423160" cy="329184"/>
          </a:xfrm>
          <a:prstGeom prst="roundRect">
            <a:avLst>
              <a:gd name="adj" fmla="val 30000"/>
            </a:avLst>
          </a:prstGeom>
          <a:solidFill>
            <a:srgbClr val="F3F8F9"/>
          </a:solidFill>
          <a:ln w="9525">
            <a:solidFill>
              <a:srgbClr val="9DB8BC"/>
            </a:solidFill>
          </a:ln>
        </p:spPr>
        <p:txBody>
          <a:bodyPr wrap="square" lIns="54864" tIns="54864" rIns="54864" bIns="54864" anchor="ctr" rtlCol="0">
            <a:normAutofit/>
          </a:bodyPr>
          <a:lstStyle/>
          <a:p>
            <a:pPr algn="l">
              <a:buNone/>
            </a:pPr>
            <a:r>
              <a:rPr lang="en-GB" sz="1100" b="0" i="0" dirty="0">
                <a:solidFill>
                  <a:srgbClr val="1A1A1A"/>
                </a:solidFill>
                <a:latin typeface="Arial"/>
                <a:cs typeface="Arial"/>
              </a:rPr>
              <a:t>a)  choosing the right actions</a:t>
            </a:r>
            <a:endParaRPr lang="en-GB" sz="1100" dirty="0"/>
          </a:p>
        </p:txBody>
      </p:sp>
      <p:sp>
        <p:nvSpPr>
          <p:cNvPr id="16" name="Shape 16"/>
          <p:cNvSpPr/>
          <p:nvPr/>
        </p:nvSpPr>
        <p:spPr>
          <a:xfrm>
            <a:off x="3520440" y="2651760"/>
            <a:ext cx="2423160" cy="329184"/>
          </a:xfrm>
          <a:prstGeom prst="roundRect">
            <a:avLst>
              <a:gd name="adj" fmla="val 30000"/>
            </a:avLst>
          </a:prstGeom>
          <a:solidFill>
            <a:srgbClr val="4E7A12"/>
          </a:solidFill>
          <a:ln>
            <a:noFill/>
          </a:ln>
        </p:spPr>
        <p:txBody>
          <a:bodyPr wrap="square" lIns="54864" tIns="54864" rIns="54864" bIns="54864" anchor="ctr" rtlCol="0">
            <a:normAutofit/>
          </a:bodyPr>
          <a:lstStyle/>
          <a:p>
            <a:pPr algn="l">
              <a:buNone/>
            </a:pPr>
            <a:r>
              <a:rPr lang="en-GB" sz="1100" b="1" i="0" dirty="0">
                <a:solidFill>
                  <a:srgbClr val="FFFFFF"/>
                </a:solidFill>
                <a:latin typeface="Arial"/>
                <a:cs typeface="Arial"/>
              </a:rPr>
              <a:t>b)  interpreting the system’s state</a:t>
            </a:r>
            <a:endParaRPr lang="en-GB" sz="1100" dirty="0"/>
          </a:p>
        </p:txBody>
      </p:sp>
      <p:sp>
        <p:nvSpPr>
          <p:cNvPr id="17" name="Shape 17"/>
          <p:cNvSpPr/>
          <p:nvPr/>
        </p:nvSpPr>
        <p:spPr>
          <a:xfrm>
            <a:off x="6035040" y="2651760"/>
            <a:ext cx="2423160" cy="329184"/>
          </a:xfrm>
          <a:prstGeom prst="roundRect">
            <a:avLst>
              <a:gd name="adj" fmla="val 30000"/>
            </a:avLst>
          </a:prstGeom>
          <a:solidFill>
            <a:srgbClr val="F3F8F9"/>
          </a:solidFill>
          <a:ln w="9525">
            <a:solidFill>
              <a:srgbClr val="9DB8BC"/>
            </a:solidFill>
          </a:ln>
        </p:spPr>
        <p:txBody>
          <a:bodyPr wrap="square" lIns="54864" tIns="54864" rIns="54864" bIns="54864" anchor="ctr" rtlCol="0">
            <a:normAutofit/>
          </a:bodyPr>
          <a:lstStyle/>
          <a:p>
            <a:pPr algn="l">
              <a:buNone/>
            </a:pPr>
            <a:r>
              <a:rPr lang="en-GB" sz="1100" b="0" i="0" dirty="0">
                <a:solidFill>
                  <a:srgbClr val="1A1A1A"/>
                </a:solidFill>
                <a:latin typeface="Arial"/>
                <a:cs typeface="Arial"/>
              </a:rPr>
              <a:t>c)  fitting the chair to the user</a:t>
            </a:r>
            <a:endParaRPr lang="en-GB" sz="1100" dirty="0"/>
          </a:p>
        </p:txBody>
      </p:sp>
      <p:sp>
        <p:nvSpPr>
          <p:cNvPr id="18" name="Shape 18"/>
          <p:cNvSpPr/>
          <p:nvPr/>
        </p:nvSpPr>
        <p:spPr>
          <a:xfrm>
            <a:off x="548640" y="3090672"/>
            <a:ext cx="329184" cy="329184"/>
          </a:xfrm>
          <a:prstGeom prst="ellipse">
            <a:avLst/>
          </a:prstGeom>
          <a:solidFill>
            <a:srgbClr val="333399"/>
          </a:solidFill>
          <a:ln>
            <a:noFill/>
          </a:ln>
        </p:spPr>
        <p:txBody>
          <a:bodyPr wrap="square" lIns="0" tIns="0" rIns="0" bIns="0" anchor="ctr" rtlCol="0">
            <a:normAutofit/>
          </a:bodyPr>
          <a:lstStyle/>
          <a:p>
            <a:pPr algn="ctr">
              <a:buNone/>
            </a:pPr>
            <a:r>
              <a:rPr lang="en-GB" sz="1200" b="1" i="0" dirty="0">
                <a:solidFill>
                  <a:srgbClr val="FFFFFF"/>
                </a:solidFill>
                <a:latin typeface="Arial"/>
                <a:cs typeface="Arial"/>
              </a:rPr>
              <a:t>2</a:t>
            </a:r>
            <a:endParaRPr lang="en-GB" sz="1200" dirty="0"/>
          </a:p>
        </p:txBody>
      </p:sp>
      <p:sp>
        <p:nvSpPr>
          <p:cNvPr id="19" name="Shape 19"/>
          <p:cNvSpPr txBox="1"/>
          <p:nvPr/>
        </p:nvSpPr>
        <p:spPr>
          <a:xfrm>
            <a:off x="1005840" y="3072384"/>
            <a:ext cx="7498080" cy="329184"/>
          </a:xfrm>
          <a:prstGeom prst="rect">
            <a:avLst/>
          </a:prstGeom>
          <a:noFill/>
          <a:ln>
            <a:noFill/>
          </a:ln>
        </p:spPr>
        <p:txBody>
          <a:bodyPr wrap="square" lIns="18288" tIns="18288" rIns="18288" bIns="18288" anchor="ctr" rtlCol="0">
            <a:normAutofit/>
          </a:bodyPr>
          <a:lstStyle/>
          <a:p>
            <a:pPr algn="l">
              <a:buNone/>
            </a:pPr>
            <a:r>
              <a:rPr lang="en-GB" sz="1300" b="1" i="0" dirty="0">
                <a:solidFill>
                  <a:srgbClr val="1A1A1A"/>
                </a:solidFill>
                <a:latin typeface="Arial"/>
                <a:cs typeface="Arial"/>
              </a:rPr>
              <a:t>Which stage is NOT on the execution side?</a:t>
            </a:r>
            <a:endParaRPr lang="en-GB" sz="1300" dirty="0"/>
          </a:p>
        </p:txBody>
      </p:sp>
      <p:sp>
        <p:nvSpPr>
          <p:cNvPr id="20" name="Shape 20"/>
          <p:cNvSpPr/>
          <p:nvPr/>
        </p:nvSpPr>
        <p:spPr>
          <a:xfrm>
            <a:off x="1005840" y="3438144"/>
            <a:ext cx="2423160" cy="329184"/>
          </a:xfrm>
          <a:prstGeom prst="roundRect">
            <a:avLst>
              <a:gd name="adj" fmla="val 30000"/>
            </a:avLst>
          </a:prstGeom>
          <a:solidFill>
            <a:srgbClr val="F3F8F9"/>
          </a:solidFill>
          <a:ln w="9525">
            <a:solidFill>
              <a:srgbClr val="9DB8BC"/>
            </a:solidFill>
          </a:ln>
        </p:spPr>
        <p:txBody>
          <a:bodyPr wrap="square" lIns="54864" tIns="54864" rIns="54864" bIns="54864" anchor="ctr" rtlCol="0">
            <a:normAutofit/>
          </a:bodyPr>
          <a:lstStyle/>
          <a:p>
            <a:pPr algn="l">
              <a:buNone/>
            </a:pPr>
            <a:r>
              <a:rPr lang="en-GB" sz="1100" b="0" i="0" dirty="0">
                <a:solidFill>
                  <a:srgbClr val="1A1A1A"/>
                </a:solidFill>
                <a:latin typeface="Arial"/>
                <a:cs typeface="Arial"/>
              </a:rPr>
              <a:t>a)  forming the intention</a:t>
            </a:r>
            <a:endParaRPr lang="en-GB" sz="1100" dirty="0"/>
          </a:p>
        </p:txBody>
      </p:sp>
      <p:sp>
        <p:nvSpPr>
          <p:cNvPr id="21" name="Shape 21"/>
          <p:cNvSpPr/>
          <p:nvPr/>
        </p:nvSpPr>
        <p:spPr>
          <a:xfrm>
            <a:off x="3520440" y="3438144"/>
            <a:ext cx="2423160" cy="329184"/>
          </a:xfrm>
          <a:prstGeom prst="roundRect">
            <a:avLst>
              <a:gd name="adj" fmla="val 30000"/>
            </a:avLst>
          </a:prstGeom>
          <a:solidFill>
            <a:srgbClr val="F3F8F9"/>
          </a:solidFill>
          <a:ln w="9525">
            <a:solidFill>
              <a:srgbClr val="9DB8BC"/>
            </a:solidFill>
          </a:ln>
        </p:spPr>
        <p:txBody>
          <a:bodyPr wrap="square" lIns="54864" tIns="54864" rIns="54864" bIns="54864" anchor="ctr" rtlCol="0">
            <a:normAutofit/>
          </a:bodyPr>
          <a:lstStyle/>
          <a:p>
            <a:pPr algn="l">
              <a:buNone/>
            </a:pPr>
            <a:r>
              <a:rPr lang="en-GB" sz="1100" b="0" i="0" dirty="0">
                <a:solidFill>
                  <a:srgbClr val="1A1A1A"/>
                </a:solidFill>
                <a:latin typeface="Arial"/>
                <a:cs typeface="Arial"/>
              </a:rPr>
              <a:t>b)  specifying the actions</a:t>
            </a:r>
            <a:endParaRPr lang="en-GB" sz="1100" dirty="0"/>
          </a:p>
        </p:txBody>
      </p:sp>
      <p:sp>
        <p:nvSpPr>
          <p:cNvPr id="22" name="Shape 22"/>
          <p:cNvSpPr/>
          <p:nvPr/>
        </p:nvSpPr>
        <p:spPr>
          <a:xfrm>
            <a:off x="6035040" y="3438144"/>
            <a:ext cx="2423160" cy="329184"/>
          </a:xfrm>
          <a:prstGeom prst="roundRect">
            <a:avLst>
              <a:gd name="adj" fmla="val 30000"/>
            </a:avLst>
          </a:prstGeom>
          <a:solidFill>
            <a:srgbClr val="4E7A12"/>
          </a:solidFill>
          <a:ln>
            <a:noFill/>
          </a:ln>
        </p:spPr>
        <p:txBody>
          <a:bodyPr wrap="square" lIns="54864" tIns="54864" rIns="54864" bIns="54864" anchor="ctr" rtlCol="0">
            <a:normAutofit/>
          </a:bodyPr>
          <a:lstStyle/>
          <a:p>
            <a:pPr algn="l">
              <a:buNone/>
            </a:pPr>
            <a:r>
              <a:rPr lang="en-GB" sz="1100" b="1" i="0" dirty="0">
                <a:solidFill>
                  <a:srgbClr val="FFFFFF"/>
                </a:solidFill>
                <a:latin typeface="Arial"/>
                <a:cs typeface="Arial"/>
              </a:rPr>
              <a:t>c)  perceiving system state</a:t>
            </a:r>
            <a:endParaRPr lang="en-GB" sz="1100" dirty="0"/>
          </a:p>
        </p:txBody>
      </p:sp>
      <p:sp>
        <p:nvSpPr>
          <p:cNvPr id="23" name="Shape 23"/>
          <p:cNvSpPr/>
          <p:nvPr/>
        </p:nvSpPr>
        <p:spPr>
          <a:xfrm>
            <a:off x="548640" y="3877056"/>
            <a:ext cx="329184" cy="329184"/>
          </a:xfrm>
          <a:prstGeom prst="ellipse">
            <a:avLst/>
          </a:prstGeom>
          <a:solidFill>
            <a:srgbClr val="333399"/>
          </a:solidFill>
          <a:ln>
            <a:noFill/>
          </a:ln>
        </p:spPr>
        <p:txBody>
          <a:bodyPr wrap="square" lIns="0" tIns="0" rIns="0" bIns="0" anchor="ctr" rtlCol="0">
            <a:normAutofit/>
          </a:bodyPr>
          <a:lstStyle/>
          <a:p>
            <a:pPr algn="ctr">
              <a:buNone/>
            </a:pPr>
            <a:r>
              <a:rPr lang="en-GB" sz="1200" b="1" i="0" dirty="0">
                <a:solidFill>
                  <a:srgbClr val="FFFFFF"/>
                </a:solidFill>
                <a:latin typeface="Arial"/>
                <a:cs typeface="Arial"/>
              </a:rPr>
              <a:t>3</a:t>
            </a:r>
            <a:endParaRPr lang="en-GB" sz="1200" dirty="0"/>
          </a:p>
        </p:txBody>
      </p:sp>
      <p:sp>
        <p:nvSpPr>
          <p:cNvPr id="24" name="Shape 24"/>
          <p:cNvSpPr txBox="1"/>
          <p:nvPr/>
        </p:nvSpPr>
        <p:spPr>
          <a:xfrm>
            <a:off x="1005840" y="3858768"/>
            <a:ext cx="7498080" cy="329184"/>
          </a:xfrm>
          <a:prstGeom prst="rect">
            <a:avLst/>
          </a:prstGeom>
          <a:noFill/>
          <a:ln>
            <a:noFill/>
          </a:ln>
        </p:spPr>
        <p:txBody>
          <a:bodyPr wrap="square" lIns="18288" tIns="18288" rIns="18288" bIns="18288" anchor="ctr" rtlCol="0">
            <a:normAutofit/>
          </a:bodyPr>
          <a:lstStyle/>
          <a:p>
            <a:pPr algn="l">
              <a:buNone/>
            </a:pPr>
            <a:r>
              <a:rPr lang="en-GB" sz="1300" b="1" i="0" dirty="0">
                <a:solidFill>
                  <a:srgbClr val="1A1A1A"/>
                </a:solidFill>
                <a:latin typeface="Arial"/>
                <a:cs typeface="Arial"/>
              </a:rPr>
              <a:t>A slip is best reduced by…</a:t>
            </a:r>
            <a:endParaRPr lang="en-GB" sz="1300" dirty="0"/>
          </a:p>
        </p:txBody>
      </p:sp>
      <p:sp>
        <p:nvSpPr>
          <p:cNvPr id="25" name="Shape 25"/>
          <p:cNvSpPr/>
          <p:nvPr/>
        </p:nvSpPr>
        <p:spPr>
          <a:xfrm>
            <a:off x="1005840" y="4224528"/>
            <a:ext cx="2423160" cy="329184"/>
          </a:xfrm>
          <a:prstGeom prst="roundRect">
            <a:avLst>
              <a:gd name="adj" fmla="val 30000"/>
            </a:avLst>
          </a:prstGeom>
          <a:solidFill>
            <a:srgbClr val="F3F8F9"/>
          </a:solidFill>
          <a:ln w="9525">
            <a:solidFill>
              <a:srgbClr val="9DB8BC"/>
            </a:solidFill>
          </a:ln>
        </p:spPr>
        <p:txBody>
          <a:bodyPr wrap="square" lIns="54864" tIns="54864" rIns="54864" bIns="54864" anchor="ctr" rtlCol="0">
            <a:normAutofit/>
          </a:bodyPr>
          <a:lstStyle/>
          <a:p>
            <a:pPr algn="l">
              <a:buNone/>
            </a:pPr>
            <a:r>
              <a:rPr lang="en-GB" sz="1100" b="0" i="0" dirty="0">
                <a:solidFill>
                  <a:srgbClr val="1A1A1A"/>
                </a:solidFill>
                <a:latin typeface="Arial"/>
                <a:cs typeface="Arial"/>
              </a:rPr>
              <a:t>a)  more user training</a:t>
            </a:r>
            <a:endParaRPr lang="en-GB" sz="1100" dirty="0"/>
          </a:p>
        </p:txBody>
      </p:sp>
      <p:sp>
        <p:nvSpPr>
          <p:cNvPr id="26" name="Shape 26"/>
          <p:cNvSpPr/>
          <p:nvPr/>
        </p:nvSpPr>
        <p:spPr>
          <a:xfrm>
            <a:off x="3520440" y="4224528"/>
            <a:ext cx="2423160" cy="329184"/>
          </a:xfrm>
          <a:prstGeom prst="roundRect">
            <a:avLst>
              <a:gd name="adj" fmla="val 30000"/>
            </a:avLst>
          </a:prstGeom>
          <a:solidFill>
            <a:srgbClr val="4E7A12"/>
          </a:solidFill>
          <a:ln>
            <a:noFill/>
          </a:ln>
        </p:spPr>
        <p:txBody>
          <a:bodyPr wrap="square" lIns="54864" tIns="54864" rIns="54864" bIns="54864" anchor="ctr" rtlCol="0">
            <a:normAutofit/>
          </a:bodyPr>
          <a:lstStyle/>
          <a:p>
            <a:pPr algn="l">
              <a:buNone/>
            </a:pPr>
            <a:r>
              <a:rPr lang="en-GB" sz="1100" b="1" i="0" dirty="0">
                <a:solidFill>
                  <a:srgbClr val="FFFFFF"/>
                </a:solidFill>
                <a:latin typeface="Arial"/>
                <a:cs typeface="Arial"/>
              </a:rPr>
              <a:t>b)  better interface design</a:t>
            </a:r>
            <a:endParaRPr lang="en-GB" sz="1100" dirty="0"/>
          </a:p>
        </p:txBody>
      </p:sp>
      <p:sp>
        <p:nvSpPr>
          <p:cNvPr id="27" name="Shape 27"/>
          <p:cNvSpPr/>
          <p:nvPr/>
        </p:nvSpPr>
        <p:spPr>
          <a:xfrm>
            <a:off x="6035040" y="4224528"/>
            <a:ext cx="2423160" cy="329184"/>
          </a:xfrm>
          <a:prstGeom prst="roundRect">
            <a:avLst>
              <a:gd name="adj" fmla="val 30000"/>
            </a:avLst>
          </a:prstGeom>
          <a:solidFill>
            <a:srgbClr val="F3F8F9"/>
          </a:solidFill>
          <a:ln w="9525">
            <a:solidFill>
              <a:srgbClr val="9DB8BC"/>
            </a:solidFill>
          </a:ln>
        </p:spPr>
        <p:txBody>
          <a:bodyPr wrap="square" lIns="54864" tIns="54864" rIns="54864" bIns="54864" anchor="ctr" rtlCol="0">
            <a:normAutofit/>
          </a:bodyPr>
          <a:lstStyle/>
          <a:p>
            <a:pPr algn="l">
              <a:buNone/>
            </a:pPr>
            <a:r>
              <a:rPr lang="en-GB" sz="1100" b="0" i="0" dirty="0">
                <a:solidFill>
                  <a:srgbClr val="1A1A1A"/>
                </a:solidFill>
                <a:latin typeface="Arial"/>
                <a:cs typeface="Arial"/>
              </a:rPr>
              <a:t>c)  a longer manual</a:t>
            </a:r>
            <a:endParaRPr lang="en-GB" sz="1100" dirty="0"/>
          </a:p>
        </p:txBody>
      </p:sp>
      <p:sp>
        <p:nvSpPr>
          <p:cNvPr id="28" name="Shape 28"/>
          <p:cNvSpPr/>
          <p:nvPr/>
        </p:nvSpPr>
        <p:spPr>
          <a:xfrm>
            <a:off x="548640" y="4663440"/>
            <a:ext cx="329184" cy="329184"/>
          </a:xfrm>
          <a:prstGeom prst="ellipse">
            <a:avLst/>
          </a:prstGeom>
          <a:solidFill>
            <a:srgbClr val="333399"/>
          </a:solidFill>
          <a:ln>
            <a:noFill/>
          </a:ln>
        </p:spPr>
        <p:txBody>
          <a:bodyPr wrap="square" lIns="0" tIns="0" rIns="0" bIns="0" anchor="ctr" rtlCol="0">
            <a:normAutofit/>
          </a:bodyPr>
          <a:lstStyle/>
          <a:p>
            <a:pPr algn="ctr">
              <a:buNone/>
            </a:pPr>
            <a:r>
              <a:rPr lang="en-GB" sz="1200" b="1" i="0" dirty="0">
                <a:solidFill>
                  <a:srgbClr val="FFFFFF"/>
                </a:solidFill>
                <a:latin typeface="Arial"/>
                <a:cs typeface="Arial"/>
              </a:rPr>
              <a:t>4</a:t>
            </a:r>
            <a:endParaRPr lang="en-GB" sz="1200" dirty="0"/>
          </a:p>
        </p:txBody>
      </p:sp>
      <p:sp>
        <p:nvSpPr>
          <p:cNvPr id="29" name="Shape 29"/>
          <p:cNvSpPr txBox="1"/>
          <p:nvPr/>
        </p:nvSpPr>
        <p:spPr>
          <a:xfrm>
            <a:off x="1005840" y="4645152"/>
            <a:ext cx="7498080" cy="329184"/>
          </a:xfrm>
          <a:prstGeom prst="rect">
            <a:avLst/>
          </a:prstGeom>
          <a:noFill/>
          <a:ln>
            <a:noFill/>
          </a:ln>
        </p:spPr>
        <p:txBody>
          <a:bodyPr wrap="square" lIns="18288" tIns="18288" rIns="18288" bIns="18288" anchor="ctr" rtlCol="0">
            <a:normAutofit/>
          </a:bodyPr>
          <a:lstStyle/>
          <a:p>
            <a:pPr algn="l">
              <a:buNone/>
            </a:pPr>
            <a:r>
              <a:rPr lang="en-GB" sz="1300" b="1" i="0" dirty="0">
                <a:solidFill>
                  <a:srgbClr val="1A1A1A"/>
                </a:solidFill>
                <a:latin typeface="Arial"/>
                <a:cs typeface="Arial"/>
              </a:rPr>
              <a:t>For Abowd &amp; Beale, interaction problems are problems of…</a:t>
            </a:r>
            <a:endParaRPr lang="en-GB" sz="1300" dirty="0"/>
          </a:p>
        </p:txBody>
      </p:sp>
      <p:sp>
        <p:nvSpPr>
          <p:cNvPr id="30" name="Shape 30"/>
          <p:cNvSpPr/>
          <p:nvPr/>
        </p:nvSpPr>
        <p:spPr>
          <a:xfrm>
            <a:off x="1005840" y="5010912"/>
            <a:ext cx="2423160" cy="329184"/>
          </a:xfrm>
          <a:prstGeom prst="roundRect">
            <a:avLst>
              <a:gd name="adj" fmla="val 30000"/>
            </a:avLst>
          </a:prstGeom>
          <a:solidFill>
            <a:srgbClr val="F3F8F9"/>
          </a:solidFill>
          <a:ln w="9525">
            <a:solidFill>
              <a:srgbClr val="9DB8BC"/>
            </a:solidFill>
          </a:ln>
        </p:spPr>
        <p:txBody>
          <a:bodyPr wrap="square" lIns="54864" tIns="54864" rIns="54864" bIns="54864" anchor="ctr" rtlCol="0">
            <a:normAutofit/>
          </a:bodyPr>
          <a:lstStyle/>
          <a:p>
            <a:pPr algn="l">
              <a:buNone/>
            </a:pPr>
            <a:r>
              <a:rPr lang="en-GB" sz="1100" b="0" i="0" dirty="0">
                <a:solidFill>
                  <a:srgbClr val="1A1A1A"/>
                </a:solidFill>
                <a:latin typeface="Arial"/>
                <a:cs typeface="Arial"/>
              </a:rPr>
              <a:t>a)  hardware</a:t>
            </a:r>
            <a:endParaRPr lang="en-GB" sz="1100" dirty="0"/>
          </a:p>
        </p:txBody>
      </p:sp>
      <p:sp>
        <p:nvSpPr>
          <p:cNvPr id="31" name="Shape 31"/>
          <p:cNvSpPr/>
          <p:nvPr/>
        </p:nvSpPr>
        <p:spPr>
          <a:xfrm>
            <a:off x="3520440" y="5010912"/>
            <a:ext cx="2423160" cy="329184"/>
          </a:xfrm>
          <a:prstGeom prst="roundRect">
            <a:avLst>
              <a:gd name="adj" fmla="val 30000"/>
            </a:avLst>
          </a:prstGeom>
          <a:solidFill>
            <a:srgbClr val="4E7A12"/>
          </a:solidFill>
          <a:ln>
            <a:noFill/>
          </a:ln>
        </p:spPr>
        <p:txBody>
          <a:bodyPr wrap="square" lIns="54864" tIns="54864" rIns="54864" bIns="54864" anchor="ctr" rtlCol="0">
            <a:normAutofit/>
          </a:bodyPr>
          <a:lstStyle/>
          <a:p>
            <a:pPr algn="l">
              <a:buNone/>
            </a:pPr>
            <a:r>
              <a:rPr lang="en-GB" sz="1100" b="1" i="0" dirty="0">
                <a:solidFill>
                  <a:srgbClr val="FFFFFF"/>
                </a:solidFill>
                <a:latin typeface="Arial"/>
                <a:cs typeface="Arial"/>
              </a:rPr>
              <a:t>b)  translation</a:t>
            </a:r>
            <a:endParaRPr lang="en-GB" sz="1100" dirty="0"/>
          </a:p>
        </p:txBody>
      </p:sp>
      <p:sp>
        <p:nvSpPr>
          <p:cNvPr id="32" name="Shape 32"/>
          <p:cNvSpPr/>
          <p:nvPr/>
        </p:nvSpPr>
        <p:spPr>
          <a:xfrm>
            <a:off x="6035040" y="5010912"/>
            <a:ext cx="2423160" cy="329184"/>
          </a:xfrm>
          <a:prstGeom prst="roundRect">
            <a:avLst>
              <a:gd name="adj" fmla="val 30000"/>
            </a:avLst>
          </a:prstGeom>
          <a:solidFill>
            <a:srgbClr val="F3F8F9"/>
          </a:solidFill>
          <a:ln w="9525">
            <a:solidFill>
              <a:srgbClr val="9DB8BC"/>
            </a:solidFill>
          </a:ln>
        </p:spPr>
        <p:txBody>
          <a:bodyPr wrap="square" lIns="54864" tIns="54864" rIns="54864" bIns="54864" anchor="ctr" rtlCol="0">
            <a:normAutofit/>
          </a:bodyPr>
          <a:lstStyle/>
          <a:p>
            <a:pPr algn="l">
              <a:buNone/>
            </a:pPr>
            <a:r>
              <a:rPr lang="en-GB" sz="1100" b="0" i="0" dirty="0">
                <a:solidFill>
                  <a:srgbClr val="1A1A1A"/>
                </a:solidFill>
                <a:latin typeface="Arial"/>
                <a:cs typeface="Arial"/>
              </a:rPr>
              <a:t>c)  memory</a:t>
            </a:r>
            <a:endParaRPr lang="en-GB" sz="1100" dirty="0"/>
          </a:p>
        </p:txBody>
      </p:sp>
      <p:sp>
        <p:nvSpPr>
          <p:cNvPr id="33" name="Shape 33"/>
          <p:cNvSpPr/>
          <p:nvPr/>
        </p:nvSpPr>
        <p:spPr>
          <a:xfrm>
            <a:off x="548640" y="5449824"/>
            <a:ext cx="329184" cy="329184"/>
          </a:xfrm>
          <a:prstGeom prst="ellipse">
            <a:avLst/>
          </a:prstGeom>
          <a:solidFill>
            <a:srgbClr val="333399"/>
          </a:solidFill>
          <a:ln>
            <a:noFill/>
          </a:ln>
        </p:spPr>
        <p:txBody>
          <a:bodyPr wrap="square" lIns="0" tIns="0" rIns="0" bIns="0" anchor="ctr" rtlCol="0">
            <a:normAutofit/>
          </a:bodyPr>
          <a:lstStyle/>
          <a:p>
            <a:pPr algn="ctr">
              <a:buNone/>
            </a:pPr>
            <a:r>
              <a:rPr lang="en-GB" sz="1200" b="1" i="0" dirty="0">
                <a:solidFill>
                  <a:srgbClr val="FFFFFF"/>
                </a:solidFill>
                <a:latin typeface="Arial"/>
                <a:cs typeface="Arial"/>
              </a:rPr>
              <a:t>5</a:t>
            </a:r>
            <a:endParaRPr lang="en-GB" sz="1200" dirty="0"/>
          </a:p>
        </p:txBody>
      </p:sp>
      <p:sp>
        <p:nvSpPr>
          <p:cNvPr id="34" name="Shape 34"/>
          <p:cNvSpPr txBox="1"/>
          <p:nvPr/>
        </p:nvSpPr>
        <p:spPr>
          <a:xfrm>
            <a:off x="1005840" y="5431536"/>
            <a:ext cx="7498080" cy="329184"/>
          </a:xfrm>
          <a:prstGeom prst="rect">
            <a:avLst/>
          </a:prstGeom>
          <a:noFill/>
          <a:ln>
            <a:noFill/>
          </a:ln>
        </p:spPr>
        <p:txBody>
          <a:bodyPr wrap="square" lIns="18288" tIns="18288" rIns="18288" bIns="18288" anchor="ctr" rtlCol="0">
            <a:normAutofit/>
          </a:bodyPr>
          <a:lstStyle/>
          <a:p>
            <a:pPr algn="l">
              <a:buNone/>
            </a:pPr>
            <a:r>
              <a:rPr lang="en-GB" sz="1300" b="1" i="0" dirty="0">
                <a:solidFill>
                  <a:srgbClr val="1A1A1A"/>
                </a:solidFill>
                <a:latin typeface="Arial"/>
                <a:cs typeface="Arial"/>
              </a:rPr>
              <a:t>Menus work because users rely on…</a:t>
            </a:r>
            <a:endParaRPr lang="en-GB" sz="1300" dirty="0"/>
          </a:p>
        </p:txBody>
      </p:sp>
      <p:sp>
        <p:nvSpPr>
          <p:cNvPr id="35" name="Shape 35"/>
          <p:cNvSpPr/>
          <p:nvPr/>
        </p:nvSpPr>
        <p:spPr>
          <a:xfrm>
            <a:off x="1005840" y="5797296"/>
            <a:ext cx="2423160" cy="329184"/>
          </a:xfrm>
          <a:prstGeom prst="roundRect">
            <a:avLst>
              <a:gd name="adj" fmla="val 30000"/>
            </a:avLst>
          </a:prstGeom>
          <a:solidFill>
            <a:srgbClr val="4E7A12"/>
          </a:solidFill>
          <a:ln>
            <a:noFill/>
          </a:ln>
        </p:spPr>
        <p:txBody>
          <a:bodyPr wrap="square" lIns="54864" tIns="54864" rIns="54864" bIns="54864" anchor="ctr" rtlCol="0">
            <a:normAutofit/>
          </a:bodyPr>
          <a:lstStyle/>
          <a:p>
            <a:pPr algn="l">
              <a:buNone/>
            </a:pPr>
            <a:r>
              <a:rPr lang="en-GB" sz="1100" b="1" i="0" dirty="0">
                <a:solidFill>
                  <a:srgbClr val="FFFFFF"/>
                </a:solidFill>
                <a:latin typeface="Arial"/>
                <a:cs typeface="Arial"/>
              </a:rPr>
              <a:t>a)  recognition, not recall</a:t>
            </a:r>
            <a:endParaRPr lang="en-GB" sz="1100" dirty="0"/>
          </a:p>
        </p:txBody>
      </p:sp>
      <p:sp>
        <p:nvSpPr>
          <p:cNvPr id="36" name="Shape 36"/>
          <p:cNvSpPr/>
          <p:nvPr/>
        </p:nvSpPr>
        <p:spPr>
          <a:xfrm>
            <a:off x="3520440" y="5797296"/>
            <a:ext cx="2423160" cy="329184"/>
          </a:xfrm>
          <a:prstGeom prst="roundRect">
            <a:avLst>
              <a:gd name="adj" fmla="val 30000"/>
            </a:avLst>
          </a:prstGeom>
          <a:solidFill>
            <a:srgbClr val="F3F8F9"/>
          </a:solidFill>
          <a:ln w="9525">
            <a:solidFill>
              <a:srgbClr val="9DB8BC"/>
            </a:solidFill>
          </a:ln>
        </p:spPr>
        <p:txBody>
          <a:bodyPr wrap="square" lIns="54864" tIns="54864" rIns="54864" bIns="54864" anchor="ctr" rtlCol="0">
            <a:normAutofit/>
          </a:bodyPr>
          <a:lstStyle/>
          <a:p>
            <a:pPr algn="l">
              <a:buNone/>
            </a:pPr>
            <a:r>
              <a:rPr lang="en-GB" sz="1100" b="0" i="0" dirty="0">
                <a:solidFill>
                  <a:srgbClr val="1A1A1A"/>
                </a:solidFill>
                <a:latin typeface="Arial"/>
                <a:cs typeface="Arial"/>
              </a:rPr>
              <a:t>b)  typing speed</a:t>
            </a:r>
            <a:endParaRPr lang="en-GB" sz="1100" dirty="0"/>
          </a:p>
        </p:txBody>
      </p:sp>
      <p:sp>
        <p:nvSpPr>
          <p:cNvPr id="37" name="Shape 37"/>
          <p:cNvSpPr/>
          <p:nvPr/>
        </p:nvSpPr>
        <p:spPr>
          <a:xfrm>
            <a:off x="6035040" y="5797296"/>
            <a:ext cx="2423160" cy="329184"/>
          </a:xfrm>
          <a:prstGeom prst="roundRect">
            <a:avLst>
              <a:gd name="adj" fmla="val 30000"/>
            </a:avLst>
          </a:prstGeom>
          <a:solidFill>
            <a:srgbClr val="F3F8F9"/>
          </a:solidFill>
          <a:ln w="9525">
            <a:solidFill>
              <a:srgbClr val="9DB8BC"/>
            </a:solidFill>
          </a:ln>
        </p:spPr>
        <p:txBody>
          <a:bodyPr wrap="square" lIns="54864" tIns="54864" rIns="54864" bIns="54864" anchor="ctr" rtlCol="0">
            <a:normAutofit/>
          </a:bodyPr>
          <a:lstStyle/>
          <a:p>
            <a:pPr algn="l">
              <a:buNone/>
            </a:pPr>
            <a:r>
              <a:rPr lang="en-GB" sz="1100" b="0" i="0" dirty="0">
                <a:solidFill>
                  <a:srgbClr val="1A1A1A"/>
                </a:solidFill>
                <a:latin typeface="Arial"/>
                <a:cs typeface="Arial"/>
              </a:rPr>
              <a:t>c)  natural language</a:t>
            </a:r>
            <a:endParaRPr lang="en-GB" sz="1100" dirty="0"/>
          </a:p>
        </p:txBody>
      </p:sp>
    </p:spTree>
  </p:cSld>
  <p:clrMapOvr>
    <a:masterClrMapping/>
  </p:clrMapOvr>
</p:sld>
</file>

<file path=ppt/theme/theme1.xml><?xml version="1.0" encoding="utf-8"?>
<a:theme xmlns:a="http://schemas.openxmlformats.org/drawingml/2006/main" name="Blank">
  <a:themeElements>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a:majorFont>
        <a:latin typeface="Comic Sans MS"/>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altLang="en-US" sz="2800" b="0" i="0" u="none" strike="noStrike" cap="none" normalizeH="0" baseline="0" smtClean="0">
            <a:ln>
              <a:noFill/>
            </a:ln>
            <a:solidFill>
              <a:schemeClr val="tx1"/>
            </a:solidFill>
            <a:effectLst/>
            <a:latin typeface="Times"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altLang="en-US" sz="2800" b="0" i="0" u="none" strike="noStrike" cap="none" normalizeH="0" baseline="0" smtClean="0">
            <a:ln>
              <a:noFill/>
            </a:ln>
            <a:solidFill>
              <a:schemeClr val="tx1"/>
            </a:solidFill>
            <a:effectLst/>
            <a:latin typeface="Times" charset="0"/>
          </a:defRPr>
        </a:defPPr>
      </a:lstStyle>
    </a:lnDef>
  </a:objectDefaults>
  <a:extraClrSchemeLst>
    <a:extraClrScheme>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497</TotalTime>
  <Words>2863</Words>
  <Application>Microsoft Macintosh PowerPoint</Application>
  <PresentationFormat>On-screen Show (4:3)</PresentationFormat>
  <Paragraphs>651</Paragraphs>
  <Slides>70</Slides>
  <Notes>3</Notes>
  <HiddenSlides>0</HiddenSlides>
  <MMClips>1</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70</vt:i4>
      </vt:variant>
    </vt:vector>
  </HeadingPairs>
  <TitlesOfParts>
    <vt:vector size="80" baseType="lpstr">
      <vt:lpstr>Arial</vt:lpstr>
      <vt:lpstr>Comic Sans MS</vt:lpstr>
      <vt:lpstr>Helvetica</vt:lpstr>
      <vt:lpstr>Monotype Sorts</vt:lpstr>
      <vt:lpstr>Symbol</vt:lpstr>
      <vt:lpstr>Times</vt:lpstr>
      <vt:lpstr>Times New Roman</vt:lpstr>
      <vt:lpstr>Verdana</vt:lpstr>
      <vt:lpstr>Blank</vt:lpstr>
      <vt:lpstr>Document</vt:lpstr>
      <vt:lpstr>chapter 3</vt:lpstr>
      <vt:lpstr>The Interaction</vt:lpstr>
      <vt:lpstr>What is interaction?</vt:lpstr>
      <vt:lpstr>models of interaction</vt:lpstr>
      <vt:lpstr>Some terms of interaction</vt:lpstr>
      <vt:lpstr>Donald Norman’s model</vt:lpstr>
      <vt:lpstr>execution/evaluation loop</vt:lpstr>
      <vt:lpstr>execution/evaluation loop</vt:lpstr>
      <vt:lpstr>execution/evaluation loop</vt:lpstr>
      <vt:lpstr>execution/evaluation loop</vt:lpstr>
      <vt:lpstr>Using Norman’s model</vt:lpstr>
      <vt:lpstr>Human error - slips and mistakes</vt:lpstr>
      <vt:lpstr>Abowd and Beale framework</vt:lpstr>
      <vt:lpstr>Using Abowd &amp; Beale’s model</vt:lpstr>
      <vt:lpstr>ergonomics</vt:lpstr>
      <vt:lpstr>Ergonomics</vt:lpstr>
      <vt:lpstr>Ergonomics - examples</vt:lpstr>
      <vt:lpstr>Industrial interfaces</vt:lpstr>
      <vt:lpstr>Glass interfaces ?</vt:lpstr>
      <vt:lpstr>Indirect manipulation</vt:lpstr>
      <vt:lpstr>interaction styles</vt:lpstr>
      <vt:lpstr>Common interaction styles</vt:lpstr>
      <vt:lpstr>Command line interface</vt:lpstr>
      <vt:lpstr>Menus</vt:lpstr>
      <vt:lpstr>Natural language</vt:lpstr>
      <vt:lpstr>Query interfaces</vt:lpstr>
      <vt:lpstr>Form-fills</vt:lpstr>
      <vt:lpstr>Spreadsheets</vt:lpstr>
      <vt:lpstr>WIMP Interface</vt:lpstr>
      <vt:lpstr>Point and click interfaces</vt:lpstr>
      <vt:lpstr>Three dimensional interfaces</vt:lpstr>
      <vt:lpstr>elements of the wimp interface</vt:lpstr>
      <vt:lpstr>Windows</vt:lpstr>
      <vt:lpstr>Icons</vt:lpstr>
      <vt:lpstr>Pointers</vt:lpstr>
      <vt:lpstr>Menus</vt:lpstr>
      <vt:lpstr>Kinds of Menus </vt:lpstr>
      <vt:lpstr>Menus extras</vt:lpstr>
      <vt:lpstr>Menus design issues</vt:lpstr>
      <vt:lpstr>Buttons</vt:lpstr>
      <vt:lpstr>Toolbars</vt:lpstr>
      <vt:lpstr>Palettes and tear-off menus</vt:lpstr>
      <vt:lpstr>Dialogue boxes</vt:lpstr>
      <vt:lpstr>interactivity</vt:lpstr>
      <vt:lpstr>Speech–driven interfaces</vt:lpstr>
      <vt:lpstr>Look and … feel</vt:lpstr>
      <vt:lpstr>Initiative </vt:lpstr>
      <vt:lpstr>Error and repair</vt:lpstr>
      <vt:lpstr>Context</vt:lpstr>
      <vt:lpstr>Experience, engagement and fun</vt:lpstr>
      <vt:lpstr>Experience?</vt:lpstr>
      <vt:lpstr>Designing experience</vt:lpstr>
      <vt:lpstr>Designing experience</vt:lpstr>
      <vt:lpstr>Designing experience</vt:lpstr>
      <vt:lpstr>how crackers work</vt:lpstr>
      <vt:lpstr>The crackers experience</vt:lpstr>
      <vt:lpstr>Physical design</vt:lpstr>
      <vt:lpstr>Design trade-offs</vt:lpstr>
      <vt:lpstr>Fluidity</vt:lpstr>
      <vt:lpstr>inverse actions</vt:lpstr>
      <vt:lpstr>spring back controls</vt:lpstr>
      <vt:lpstr>a minidisk controller</vt:lpstr>
      <vt:lpstr>physical layout</vt:lpstr>
      <vt:lpstr>compliant interaction</vt:lpstr>
      <vt:lpstr>Managing value</vt:lpstr>
      <vt:lpstr>Weighing up value</vt:lpstr>
      <vt:lpstr>Discounted future</vt:lpstr>
      <vt:lpstr>example – HCI book search</vt:lpstr>
      <vt:lpstr>Value and organisational design</vt:lpstr>
      <vt:lpstr>General lesson …</vt:lpstr>
    </vt:vector>
  </TitlesOfParts>
  <Company>Lancaster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Alan Dix</dc:creator>
  <cp:lastModifiedBy>Alan Dix</cp:lastModifiedBy>
  <cp:revision>19</cp:revision>
  <dcterms:created xsi:type="dcterms:W3CDTF">2003-08-07T14:10:51Z</dcterms:created>
  <dcterms:modified xsi:type="dcterms:W3CDTF">2025-03-02T09:59:26Z</dcterms:modified>
</cp:coreProperties>
</file>