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 autoCompressPictures="0">
  <p:sldMasterIdLst>
    <p:sldMasterId id="2147483648" r:id="rId1"/>
  </p:sldMasterIdLst>
  <p:notesMasterIdLst>
    <p:notesMasterId r:id="rId94"/>
  </p:notesMasterIdLst>
  <p:sldIdLst>
    <p:sldId id="409" r:id="rId99"/>
    <p:sldId id="410" r:id="rId100"/>
    <p:sldId id="411" r:id="rId101"/>
    <p:sldId id="412" r:id="rId102"/>
    <p:sldId id="385" r:id="rId53"/>
    <p:sldId id="387" r:id="rId54"/>
    <p:sldId id="296" r:id="rId55"/>
    <p:sldId id="297" r:id="rId56"/>
    <p:sldId id="298" r:id="rId57"/>
    <p:sldId id="413" r:id="rId103"/>
    <p:sldId id="414" r:id="rId104"/>
    <p:sldId id="299" r:id="rId58"/>
    <p:sldId id="415" r:id="rId105"/>
    <p:sldId id="416" r:id="rId106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417" r:id="rId107"/>
    <p:sldId id="418" r:id="rId108"/>
    <p:sldId id="309" r:id="rId68"/>
    <p:sldId id="310" r:id="rId69"/>
    <p:sldId id="311" r:id="rId70"/>
    <p:sldId id="312" r:id="rId71"/>
    <p:sldId id="313" r:id="rId72"/>
    <p:sldId id="388" r:id="rId73"/>
    <p:sldId id="396" r:id="rId74"/>
    <p:sldId id="398" r:id="rId75"/>
    <p:sldId id="397" r:id="rId76"/>
    <p:sldId id="399" r:id="rId77"/>
    <p:sldId id="419" r:id="rId109"/>
    <p:sldId id="420" r:id="rId110"/>
    <p:sldId id="400" r:id="rId78"/>
    <p:sldId id="401" r:id="rId79"/>
    <p:sldId id="389" r:id="rId80"/>
    <p:sldId id="406" r:id="rId81"/>
    <p:sldId id="421" r:id="rId111"/>
    <p:sldId id="422" r:id="rId112"/>
    <p:sldId id="407" r:id="rId82"/>
    <p:sldId id="402" r:id="rId83"/>
    <p:sldId id="390" r:id="rId84"/>
    <p:sldId id="423" r:id="rId113"/>
    <p:sldId id="424" r:id="rId114"/>
    <p:sldId id="403" r:id="rId85"/>
    <p:sldId id="404" r:id="rId86"/>
    <p:sldId id="408" r:id="rId87"/>
    <p:sldId id="425" r:id="rId115"/>
    <p:sldId id="405" r:id="rId88"/>
    <p:sldId id="426" r:id="rId116"/>
    <p:sldId id="427" r:id="rId117"/>
    <p:sldId id="386" r:id="rId89"/>
    <p:sldId id="282" r:id="rId90"/>
    <p:sldId id="391" r:id="rId91"/>
    <p:sldId id="283" r:id="rId92"/>
    <p:sldId id="392" r:id="rId93"/>
    <p:sldId id="428" r:id="rId118"/>
    <p:sldId id="429" r:id="rId119"/>
    <p:sldId id="430" r:id="rId120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22"/>
    <p:restoredTop sz="90929"/>
  </p:normalViewPr>
  <p:slideViewPr>
    <p:cSldViewPr>
      <p:cViewPr varScale="1">
        <p:scale>
          <a:sx n="123" d="100"/>
          <a:sy n="123" d="100"/>
        </p:scale>
        <p:origin x="140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736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57" Type="http://schemas.openxmlformats.org/officeDocument/2006/relationships/slide" Target="slides/slide56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  <Relationship Id="rId99" Type="http://schemas.openxmlformats.org/officeDocument/2006/relationships/slide" Target="slides/slide93.xml"/>
  <Relationship Id="rId100" Type="http://schemas.openxmlformats.org/officeDocument/2006/relationships/slide" Target="slides/slide94.xml"/>
  <Relationship Id="rId101" Type="http://schemas.openxmlformats.org/officeDocument/2006/relationships/slide" Target="slides/slide95.xml"/>
  <Relationship Id="rId102" Type="http://schemas.openxmlformats.org/officeDocument/2006/relationships/slide" Target="slides/slide96.xml"/>
  <Relationship Id="rId103" Type="http://schemas.openxmlformats.org/officeDocument/2006/relationships/slide" Target="slides/slide97.xml"/>
  <Relationship Id="rId104" Type="http://schemas.openxmlformats.org/officeDocument/2006/relationships/slide" Target="slides/slide98.xml"/>
  <Relationship Id="rId105" Type="http://schemas.openxmlformats.org/officeDocument/2006/relationships/slide" Target="slides/slide99.xml"/>
  <Relationship Id="rId106" Type="http://schemas.openxmlformats.org/officeDocument/2006/relationships/slide" Target="slides/slide100.xml"/>
  <Relationship Id="rId107" Type="http://schemas.openxmlformats.org/officeDocument/2006/relationships/slide" Target="slides/slide101.xml"/>
  <Relationship Id="rId108" Type="http://schemas.openxmlformats.org/officeDocument/2006/relationships/slide" Target="slides/slide102.xml"/>
  <Relationship Id="rId109" Type="http://schemas.openxmlformats.org/officeDocument/2006/relationships/slide" Target="slides/slide103.xml"/>
  <Relationship Id="rId110" Type="http://schemas.openxmlformats.org/officeDocument/2006/relationships/slide" Target="slides/slide104.xml"/>
  <Relationship Id="rId111" Type="http://schemas.openxmlformats.org/officeDocument/2006/relationships/slide" Target="slides/slide105.xml"/>
  <Relationship Id="rId112" Type="http://schemas.openxmlformats.org/officeDocument/2006/relationships/slide" Target="slides/slide106.xml"/>
  <Relationship Id="rId113" Type="http://schemas.openxmlformats.org/officeDocument/2006/relationships/slide" Target="slides/slide107.xml"/>
  <Relationship Id="rId114" Type="http://schemas.openxmlformats.org/officeDocument/2006/relationships/slide" Target="slides/slide108.xml"/>
  <Relationship Id="rId115" Type="http://schemas.openxmlformats.org/officeDocument/2006/relationships/slide" Target="slides/slide109.xml"/>
  <Relationship Id="rId116" Type="http://schemas.openxmlformats.org/officeDocument/2006/relationships/slide" Target="slides/slide110.xml"/>
  <Relationship Id="rId117" Type="http://schemas.openxmlformats.org/officeDocument/2006/relationships/slide" Target="slides/slide111.xml"/>
  <Relationship Id="rId118" Type="http://schemas.openxmlformats.org/officeDocument/2006/relationships/slide" Target="slides/slide112.xml"/>
  <Relationship Id="rId119" Type="http://schemas.openxmlformats.org/officeDocument/2006/relationships/slide" Target="slides/slide113.xml"/>
  <Relationship Id="rId120" Type="http://schemas.openxmlformats.org/officeDocument/2006/relationships/slide" Target="slides/slide1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D09E35C-8BC6-9CCD-D597-B801130196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alt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345AC56-93C6-9FA8-D9B1-BFF57185556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 alt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34CFC02C-4187-3AEC-CD17-DD0D3018061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2DE5E29F-D63E-BBE0-DDCD-C6631D5DA5B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0F2BF200-8E51-ED05-ECED-234FF9C93A0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alt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F9C10023-8FAA-D4B9-3258-4FC8F838D9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67648EC-9FE6-5740-89BD-C5D960BEABA9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C89209E-6B0C-7909-B01D-E3B8B986C3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B8BAA1-F114-DF41-9511-7C85979AC139}" type="slidenum">
              <a:rPr lang="en-GB" altLang="en-US"/>
              <a:pPr/>
              <a:t>86</a:t>
            </a:fld>
            <a:endParaRPr lang="en-GB" altLang="en-US"/>
          </a:p>
        </p:txBody>
      </p:sp>
      <p:sp>
        <p:nvSpPr>
          <p:cNvPr id="182274" name="Rectangle 2">
            <a:extLst>
              <a:ext uri="{FF2B5EF4-FFF2-40B4-BE49-F238E27FC236}">
                <a16:creationId xmlns:a16="http://schemas.microsoft.com/office/drawing/2014/main" id="{A5B6ECB3-2FE3-E60D-5C50-AA44613EE72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BD2A4465-0696-57BE-F443-0DF1698D6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Spend 30 seconds here. Point at the five badges: every activity slide carries one in the top-left corner.</a:t>
            </a:r>
          </a:p>
          <a:p>
            <a:r>
              <a:rPr lang="en-GB" dirty="0"/>
              <a:t>Today has 11 activities. Two are optional (Cake-recipe syndrome; The greyscale test). Drop those first if the clock runs.</a:t>
            </a:r>
          </a:p>
          <a:p>
            <a:r>
              <a:rPr lang="en-GB" dirty="0"/>
              <a:t>Ground rule: in a POLL everyone votes, even if unsure — a split vote is information, not failure.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RECAP QUIZ, 3 minutes. Students answer on paper; then the next slide reveals.</a:t>
            </a:r>
          </a:p>
          <a:p>
            <a:r>
              <a:rPr lang="en-GB" dirty="0"/>
              <a:t>If the Lecture 1 exit tickets showed a weak spot, spend the extra minute on that question.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ANSWERS: 1 a, 2 c, 3 b, 4 a, 5 b.</a:t>
            </a:r>
          </a:p>
          <a:p>
            <a:r>
              <a:rPr lang="en-GB" dirty="0"/>
              <a:t>Q3 is the one to dwell on: "7 ± 2" is about short-term memory, not menu length — the Dix slide called this a misuse of Miller.</a:t>
            </a:r>
          </a:p>
          <a:p>
            <a:r>
              <a:rPr lang="en-GB" dirty="0"/>
              <a:t>Bridge: last time we looked from one screen OUT to the rest of the system. Today we look INSIDE one screen.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LIVE EXERCISE, 4 minutes, pairs, on paper. Run it straight after the Dix slide "grouping and structure".</a:t>
            </a:r>
          </a:p>
          <a:p>
            <a:r>
              <a:rPr lang="en-GB" dirty="0"/>
              <a:t>Tell them the form is real-looking but invented. The scrambled order is what you get when developers lay out fields in database-column order.</a:t>
            </a:r>
          </a:p>
          <a:p>
            <a:r>
              <a:rPr lang="en-GB" dirty="0"/>
              <a:t>Walk round: most pairs find 3–5 groups. Ask "what papers does the applicant have on the desk while filling this in?" — that is the natural order.</a:t>
            </a:r>
          </a:p>
          <a:p>
            <a:r>
              <a:rPr lang="en-GB" dirty="0"/>
              <a:t>Bonus answer: a declaration ("I confirm the information is correct") just before Submit, at the end of the natural order.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ANSWERS. Four groups: personal details, contact, academic record, programme — then a declaration and Submit.</a:t>
            </a:r>
          </a:p>
          <a:p>
            <a:r>
              <a:rPr lang="en-GB" dirty="0"/>
              <a:t>Accept other sensible groupings (e.g. City inside an Address sub-group). What matters: every group has a name, and the order is defensible.</a:t>
            </a:r>
          </a:p>
          <a:p>
            <a:r>
              <a:rPr lang="en-GB" dirty="0"/>
              <a:t>Tab order: 1–14 runs down each group in turn. Remind them of the Dix slide "set up tabbing right!" — a keyboard user follows the tab order, not the visual layout.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QUIZ, 2 minutes. OPTIONAL — drop first if behind time.</a:t>
            </a:r>
          </a:p>
          <a:p>
            <a:r>
              <a:rPr lang="en-GB" dirty="0"/>
              <a:t>Read the Dix example aloud first. Then students mark each line OK or CAKE.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ANSWERS: 1, 3 and 4 are cake-recipe instructions; 2 and 5 are fine. The green boxes show the rewrite: condition first, action last.</a:t>
            </a:r>
          </a:p>
          <a:p>
            <a:r>
              <a:rPr lang="en-GB" dirty="0"/>
              <a:t>Why it matters: people act as they read. By the time they reach "before that…", the button is already pressed.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LIVE EXERCISE, 3 minutes, pairs. Run it after the "multiple columns" slides.</a:t>
            </a:r>
          </a:p>
          <a:p>
            <a:r>
              <a:rPr lang="en-GB" dirty="0"/>
              <a:t>First 20 seconds: ask them to find the second-largest charge without redrawing. Hands up when found — notice how long it takes (it is Hostel rent, 18,500.50).</a:t>
            </a:r>
          </a:p>
          <a:p>
            <a:r>
              <a:rPr lang="en-GB" dirty="0"/>
              <a:t>Then they redraw on paper using the checklist. Every box on the checklist is one of the Dix slides they just saw.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ANSWERS. Compare a few student versions first, then show this one.</a:t>
            </a:r>
          </a:p>
          <a:p>
            <a:r>
              <a:rPr lang="en-GB" dirty="0"/>
              <a:t>Second-largest charge: Hostel rent, Rs 18,500.50 — much faster to find on the right.</a:t>
            </a:r>
          </a:p>
          <a:p>
            <a:r>
              <a:rPr lang="en-GB" dirty="0"/>
              <a:t>Same digits, same font: only alignment, number format, greying and white space changed. Optional extra: sort largest first if the reader’s task is "where is my money going?".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CASE PUZZLE, 5 minutes, groups of 3. Run it right after the five microwave slides — the same five tools.</a:t>
            </a:r>
          </a:p>
          <a:p>
            <a:r>
              <a:rPr lang="en-GB" dirty="0"/>
              <a:t>Every student in Lahore has fought this remote in summer. Let them enjoy it.</a:t>
            </a:r>
          </a:p>
          <a:p>
            <a:r>
              <a:rPr lang="en-GB" dirty="0"/>
              <a:t>Prompts while walking round: what do you press 20 times a night? (TEMP). What is dangerous to press by accident? (POWER — wakes everyone with a beep and a dead fan). What do you press twice a year? (TURBO, ECO, LIGHT).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ANSWERS. One redesign; groups will have others — judge them on the five tools, not on looks.</a:t>
            </a:r>
          </a:p>
          <a:p>
            <a:r>
              <a:rPr lang="en-GB" dirty="0"/>
              <a:t>The key moves: TEMP becomes the biggest control with a touch cue; ON/OFF is isolated and red; rare buttons go behind a flap (a physical way to reduce choices).</a:t>
            </a:r>
          </a:p>
          <a:p>
            <a:r>
              <a:rPr lang="en-GB" dirty="0"/>
              <a:t>Link to Week 1: size and distance (Fitts) — the most used button is the biggest and nearest the thumb.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POLL, 2 minutes. Point at each element; class votes clickable (1 finger) or not (2 fingers). Record rough counts.</a:t>
            </a:r>
          </a:p>
          <a:p>
            <a:r>
              <a:rPr lang="en-GB" dirty="0"/>
              <a:t>Do it fast: the first instinct is what a real user has.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ANSWERS: 1 yes, 2 no, 3 yes, 4 no, 5 yes, 6 yes.</a:t>
            </a:r>
          </a:p>
          <a:p>
            <a:r>
              <a:rPr lang="en-GB" dirty="0"/>
              <a:t>The interesting ones are 2 and 5. Item 2 is a status chip that LOOKS like a button (false affordance) — users tap it and nothing happens.</a:t>
            </a:r>
          </a:p>
          <a:p>
            <a:r>
              <a:rPr lang="en-GB" dirty="0"/>
              <a:t>Item 5 is clickable but flat design removed the cues (no border, no shadow, no underline) — a weak signifier. Fix: border or "View results →".</a:t>
            </a:r>
          </a:p>
          <a:p>
            <a:r>
              <a:rPr lang="en-GB" dirty="0"/>
              <a:t>Bridge to the next Dix slide: affordance is a psychological term for what shape and look suggest you can do.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QUIZ, 2 minutes. Same data, four tasks, four presentations. Students write A–D next to 1–4.</a:t>
            </a:r>
          </a:p>
          <a:p>
            <a:r>
              <a:rPr lang="en-GB" dirty="0"/>
              <a:t>This applies the Dix slide "presenting information: purpose matters".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ANSWERS: 1 A, 2 B, 3 C, 4 D.</a:t>
            </a:r>
          </a:p>
          <a:p>
            <a:r>
              <a:rPr lang="en-GB" dirty="0"/>
              <a:t>Ask: which ONE presentation would you choose if you could only have one? Then: why not let the user choose? (Dix: interactivity softens design choices.)</a:t>
            </a:r>
          </a:p>
          <a:p>
            <a:r>
              <a:rPr lang="en-GB" dirty="0"/>
              <a:t>Watch for students choosing a 3D pie chart for 3 — the next Dix slides show why not.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LIVE EXERCISE, 2 minutes, own phones. OPTIONAL. This is the Dix slide "do adjust your set!" done with a phone instead of a monitor.</a:t>
            </a:r>
          </a:p>
          <a:p>
            <a:r>
              <a:rPr lang="en-GB" dirty="0"/>
              <a:t>Ask for one shout-out per row: something that disappeared in grey (common: selected tab, red error text, a green "success" with no icon).</a:t>
            </a:r>
          </a:p>
          <a:p>
            <a:r>
              <a:rPr lang="en-GB" dirty="0"/>
              <a:t>Remind them to turn greyscale off — someone always forgets and thinks the phone is broken.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CASE PUZZLE, 4 minutes, groups of 3. Run after the Dix slide "across countries and cultures".</a:t>
            </a:r>
          </a:p>
          <a:p>
            <a:r>
              <a:rPr lang="en-GB" dirty="0"/>
              <a:t>The mock is English on purpose: students must imagine it in Urdu. Point at each part — arrow, name fields, date, amount, progress bar.</a:t>
            </a:r>
          </a:p>
          <a:p>
            <a:r>
              <a:rPr lang="en-GB" dirty="0"/>
              <a:t>Bonus answer: real Urdu readers — including people like Khalid from Lecture 1, not only the developers.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ANSWERS. Six cards; groups usually find direction and names, and miss numbers-inside-RTL and line height.</a:t>
            </a:r>
          </a:p>
          <a:p>
            <a:r>
              <a:rPr lang="en-GB" dirty="0"/>
              <a:t>Numbers: in Urdu text, digits are still written left-to-right — software must handle mixed-direction (bidirectional) text, or "45,000" becomes "000,54".</a:t>
            </a:r>
          </a:p>
          <a:p>
            <a:r>
              <a:rPr lang="en-GB" dirty="0"/>
              <a:t>Names: "First / Last" fields are a Western assumption. The mock even splits "Ayesha Khan" wrongly when there is no family name in that sense.</a:t>
            </a:r>
          </a:p>
          <a:p>
            <a:r>
              <a:rPr lang="en-GB" dirty="0"/>
              <a:t>Tick and cross: the Dix slide says in some cultures both just mean "this is marked". Do not assume your icons travel.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LIVE EXERCISE, 6 minutes, pairs. Run after the Dix slide "pitfalls of prototyping" so they meet the Malverns/Matterhorn idea first.</a:t>
            </a:r>
          </a:p>
          <a:p>
            <a:r>
              <a:rPr lang="en-GB" dirty="0"/>
              <a:t>This is the kiosk from the Lecture 1 quiz (goal, constraint or trade-off) — remind them of the 8-buttons-vs-40-items trade-off.</a:t>
            </a:r>
          </a:p>
          <a:p>
            <a:r>
              <a:rPr lang="en-GB" dirty="0"/>
              <a:t>The "computer" must not explain anything: if the user is stuck, that is a finding. Paper is fine — rough is faster and people criticise it more freely.</a:t>
            </a:r>
          </a:p>
          <a:p>
            <a:r>
              <a:rPr lang="en-GB" dirty="0"/>
              <a:t>Collect one or two sheets to show next week; the lab can turn the winning sketch into a clickable prototype.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EXIT TICKET, 3 minutes. Slips with name/roll number; collect at the door.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ANSWERS: 1 b, 2 c, 3 a, 4 a, 5 b.</a:t>
            </a:r>
          </a:p>
          <a:p>
            <a:r>
              <a:rPr lang="en-GB" dirty="0"/>
              <a:t>Week 4 done: design, process, users, scenarios, navigation, screen layout, user action, appearance and prototyping.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69C9C-6312-60D2-5084-F1CC23EB7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21115-663D-29C6-4809-2660D1E75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627D0-9F6B-85B6-9D3B-8DF37BF9A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62645-BF29-6B22-DA67-7D66B04B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2D416-50DB-DEA4-AEAB-FAB0A3EEF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8FB1D0-F5B2-2445-9DF0-25DEBC595D9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35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D1B17-D0FD-A518-97ED-DC2DF7619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86F1-C14A-1522-36C0-8438936BB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45142-C0E2-4AEA-6EE6-4161A40A8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3BEBB-A1CE-A043-7BD6-A9CB23683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18C76-A799-1862-0BC8-F6BDD418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D632F6-DE13-A74D-99DC-E5D4859881F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32757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2E94A-A8ED-24E7-5373-1680DE86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61E57-0060-52FE-C469-96555CBC7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D7E2B-6E68-AAB0-CA4A-BBDB6F33E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0DFCE-E33E-EC23-CA00-C4DD67AA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EAFCC-1AAC-6247-0937-FEB32AFA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DBA0B6-AD2F-5E46-9A5F-CA886613887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53403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45042-DF16-98E3-7896-EDC9F3D1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44568-D3D9-7EF4-62EB-0151D1178C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09149-7339-0163-3A70-032D0084E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A78510-78D8-80ED-A694-ED54EF295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F3ADA-8D6A-91E4-BFCD-E76CB18C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70BF-E15E-55B7-B721-ADB19C32C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466556-E483-5144-9FFD-2D740501668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85283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8D391-23C2-178A-F0EE-F1B38BE83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AA386-9641-8E2D-4B32-9A2685C79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4C358-3448-25E3-6991-360586B6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941C11-A85C-D80A-BF43-171B03CF8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5EF9CA-D49D-D86A-6403-B7D28A0CF3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E9CBF4-7290-3E4D-7C2C-BF7B1108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956596-AF6E-40B8-9093-B4C3E9A25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8DB91-5937-9E36-D7A8-D8034BB7D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E1960-715F-DE40-B163-ACD72A9BF84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5396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BF61-3E4F-9350-41AE-53B7F56FA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D38F6-786C-338D-E5C4-D959DE052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EF7691-C9E6-751D-6272-074229DB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51416-C65A-CA11-EC9E-CEF6C4AF4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1D0A1-D996-F246-85B9-321A7728EDA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9690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822889-F739-AB86-DFAB-C127F85A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D6B8B2-6DAE-E5EB-F9FC-2FDE410C5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713D7-373E-F036-5F4F-7638AEAB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50D890-B79E-9249-9353-C6A2C556F50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26913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62A33-7F59-FE06-06F4-DC3C4CCFF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6416A-8899-6516-A393-6EADB7EBD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C5B29-ED80-5436-B080-3721ADEC2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9A8C6-D825-4A44-5902-AFFFDC221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97DF6-36C9-BE77-C3AB-A25C9DF60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3085C-E122-6D07-D260-DDA1947E1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29A71C-A54F-3441-B198-1CA64DC3C0A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9250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84E93-F2E9-E986-0F88-104C84EC5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A7B861-B430-E7F1-6B8B-6DD29D7ABD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2B395-7BA5-8A52-FC74-2E63E69D7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35698-F9EC-061D-1316-A2FD56B9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280BB-9C5F-F1FC-B17C-7784A240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F4CF1-A4B5-D494-67CF-A6BF30393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94D23E-3567-7845-ACFE-CA6982B0332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36290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75BD5-C35E-32D0-4E23-170625008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CBDFB-7B60-F026-42E0-CB09B0C54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4EE69-C15E-3799-DAA6-FA2915DE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8DD6E-E7CA-3BD7-05CA-FD3999C15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7D9C2-9CD8-62B4-BE26-1BA807A3B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959538-131D-7F40-8E5C-8C08FF2A550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82367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8BDD2-309D-9967-2DE5-B3FA87FF2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1C942-C352-1087-C763-9AF72D0F5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51921-9DD3-2063-9FBE-CF53CF709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1EA2D-4609-AA55-C26E-F95D636D3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68279-2B84-49F0-96ED-376DAE63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878436-0371-144E-9AA4-6C37F670847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6019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Picture 15">
            <a:extLst>
              <a:ext uri="{FF2B5EF4-FFF2-40B4-BE49-F238E27FC236}">
                <a16:creationId xmlns:a16="http://schemas.microsoft.com/office/drawing/2014/main" id="{3FAC396D-0924-C933-3BD4-95A161FB72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688" y="1066800"/>
            <a:ext cx="87312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6" name="Rectangle 2">
            <a:extLst>
              <a:ext uri="{FF2B5EF4-FFF2-40B4-BE49-F238E27FC236}">
                <a16:creationId xmlns:a16="http://schemas.microsoft.com/office/drawing/2014/main" id="{3AFABC4B-BF13-DCF7-5905-91F72E659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6858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FC5565A-177F-F5B4-1E4F-6A8DB73BAA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9102678-66ED-B746-A789-4D2CF49CAD3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20B5247-99A0-8A04-0459-109D9D08685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CCFBE3D-6A4C-1089-1B7C-70F5E99D63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BED5B80-1933-D647-B70A-04C5F619B6C3}" type="slidenum">
              <a:rPr lang="en-GB" altLang="en-US"/>
              <a:pPr/>
              <a:t>‹#›</a:t>
            </a:fld>
            <a:endParaRPr lang="en-GB" altLang="en-US"/>
          </a:p>
        </p:txBody>
      </p:sp>
      <p:grpSp>
        <p:nvGrpSpPr>
          <p:cNvPr id="1043" name="Group 19">
            <a:extLst>
              <a:ext uri="{FF2B5EF4-FFF2-40B4-BE49-F238E27FC236}">
                <a16:creationId xmlns:a16="http://schemas.microsoft.com/office/drawing/2014/main" id="{D20A2B6E-2E15-073B-C643-1713978028C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28600"/>
            <a:ext cx="9144000" cy="838200"/>
            <a:chOff x="0" y="192"/>
            <a:chExt cx="5760" cy="528"/>
          </a:xfrm>
        </p:grpSpPr>
        <p:sp>
          <p:nvSpPr>
            <p:cNvPr id="1042" name="Rectangle 18">
              <a:extLst>
                <a:ext uri="{FF2B5EF4-FFF2-40B4-BE49-F238E27FC236}">
                  <a16:creationId xmlns:a16="http://schemas.microsoft.com/office/drawing/2014/main" id="{104FFCE0-B935-9438-0360-C714B2E4C15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32" y="52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41" name="Line 17">
              <a:extLst>
                <a:ext uri="{FF2B5EF4-FFF2-40B4-BE49-F238E27FC236}">
                  <a16:creationId xmlns:a16="http://schemas.microsoft.com/office/drawing/2014/main" id="{BC827B3A-566E-3FBF-9973-55F2AF8DB4A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872" y="192"/>
              <a:ext cx="297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1040" name="Picture 16">
              <a:extLst>
                <a:ext uri="{FF2B5EF4-FFF2-40B4-BE49-F238E27FC236}">
                  <a16:creationId xmlns:a16="http://schemas.microsoft.com/office/drawing/2014/main" id="{6AD475D3-7BE5-4DED-0A24-1D8D370F323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9" y="192"/>
              <a:ext cx="1063" cy="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7" name="Picture 13">
              <a:extLst>
                <a:ext uri="{FF2B5EF4-FFF2-40B4-BE49-F238E27FC236}">
                  <a16:creationId xmlns:a16="http://schemas.microsoft.com/office/drawing/2014/main" id="{99AA9D89-1D88-FA5F-30F5-B19230562D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92"/>
              <a:ext cx="2016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42688C16-AC91-67EE-EC19-CE061D7A0CD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2" y="192"/>
              <a:ext cx="1008" cy="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anose="030F0902030302020204" pitchFamily="66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9.xml"/></Relationships>
</file>

<file path=ppt/slides/_rels/slide9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0.xml"/></Relationships>
</file>

<file path=ppt/slides/_rels/slide9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1.xml"/></Relationships>
</file>

<file path=ppt/slides/_rels/slide9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2.xml"/></Relationships>
</file>

<file path=ppt/slides/_rels/slide9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3.xml"/></Relationships>
</file>

<file path=ppt/slides/_rels/slide9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4.xml"/></Relationships>
</file>

<file path=ppt/slides/_rels/slide10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5.xml"/></Relationships>
</file>

<file path=ppt/slides/_rels/slide10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6.xml"/></Relationships>
</file>

<file path=ppt/slides/_rels/slide10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7.xml"/></Relationships>
</file>

<file path=ppt/slides/_rels/slide10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8.xml"/></Relationships>
</file>

<file path=ppt/slides/_rels/slide10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19.xml"/></Relationships>
</file>

<file path=ppt/slides/_rels/slide10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0.xml"/></Relationships>
</file>

<file path=ppt/slides/_rels/slide10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1.xml"/></Relationships>
</file>

<file path=ppt/slides/_rels/slide10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2.xml"/></Relationships>
</file>

<file path=ppt/slides/_rels/slide10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3.xml"/></Relationships>
</file>

<file path=ppt/slides/_rels/slide10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4.xml"/></Relationships>
</file>

<file path=ppt/slides/_rels/slide1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5.xml"/></Relationships>
</file>

<file path=ppt/slides/_rels/slide1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6.xml"/></Relationships>
</file>

<file path=ppt/slides/_rels/slide1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7.xml"/></Relationships>
</file>

<file path=ppt/slides/_rels/slide1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8.xml"/></Relationships>
</file>

<file path=ppt/slides/_rels/slide1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N1" Type="http://schemas.openxmlformats.org/officeDocument/2006/relationships/notesSlide" Target="../notesSlides/notesSlide29.xml"/></Relationships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Oval 2">
            <a:extLst>
              <a:ext uri="{FF2B5EF4-FFF2-40B4-BE49-F238E27FC236}">
                <a16:creationId xmlns:a16="http://schemas.microsoft.com/office/drawing/2014/main" id="{0983B480-65D6-B869-7CA4-B59155106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048000"/>
            <a:ext cx="533400" cy="533400"/>
          </a:xfrm>
          <a:prstGeom prst="ellipse">
            <a:avLst/>
          </a:prstGeom>
          <a:solidFill>
            <a:srgbClr val="ED18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3651B7C6-C708-BAF3-8FD7-272111FC377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US" altLang="en-US" sz="3600">
                <a:solidFill>
                  <a:schemeClr val="tx1"/>
                </a:solidFill>
              </a:rPr>
              <a:t>screen design and layout</a:t>
            </a:r>
            <a:endParaRPr lang="en-GB" altLang="en-US" sz="3600">
              <a:solidFill>
                <a:schemeClr val="tx1"/>
              </a:solidFill>
            </a:endParaRP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45F9363D-B1BA-E2FC-6356-C0DE7EB34D6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altLang="en-US" sz="2800"/>
              <a:t>basic principles</a:t>
            </a:r>
          </a:p>
          <a:p>
            <a:r>
              <a:rPr lang="en-US" altLang="en-US" sz="2800"/>
              <a:t>grouping, structure, order</a:t>
            </a:r>
          </a:p>
          <a:p>
            <a:r>
              <a:rPr lang="en-US" altLang="en-US" sz="2800"/>
              <a:t>alignment</a:t>
            </a:r>
          </a:p>
          <a:p>
            <a:r>
              <a:rPr lang="en-US" altLang="en-US" sz="2800"/>
              <a:t>use of white space</a:t>
            </a:r>
            <a:endParaRPr lang="en-GB" altLang="en-US" sz="2800"/>
          </a:p>
        </p:txBody>
      </p:sp>
      <p:grpSp>
        <p:nvGrpSpPr>
          <p:cNvPr id="153604" name="Group 4">
            <a:extLst>
              <a:ext uri="{FF2B5EF4-FFF2-40B4-BE49-F238E27FC236}">
                <a16:creationId xmlns:a16="http://schemas.microsoft.com/office/drawing/2014/main" id="{0D25EB5F-9ACD-9A26-2B44-7E18CB40B5A5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143000"/>
            <a:ext cx="1981200" cy="1141413"/>
            <a:chOff x="1056" y="1440"/>
            <a:chExt cx="1584" cy="912"/>
          </a:xfrm>
        </p:grpSpPr>
        <p:sp>
          <p:nvSpPr>
            <p:cNvPr id="153605" name="Rectangle 5">
              <a:extLst>
                <a:ext uri="{FF2B5EF4-FFF2-40B4-BE49-F238E27FC236}">
                  <a16:creationId xmlns:a16="http://schemas.microsoft.com/office/drawing/2014/main" id="{2264169E-98D8-12F8-48E1-0A578F603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872"/>
              <a:ext cx="912" cy="48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606" name="Rectangle 6">
              <a:extLst>
                <a:ext uri="{FF2B5EF4-FFF2-40B4-BE49-F238E27FC236}">
                  <a16:creationId xmlns:a16="http://schemas.microsoft.com/office/drawing/2014/main" id="{A9F920D4-91FE-B671-00B4-B3ADBD30C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872"/>
              <a:ext cx="576" cy="48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607" name="Rectangle 7">
              <a:extLst>
                <a:ext uri="{FF2B5EF4-FFF2-40B4-BE49-F238E27FC236}">
                  <a16:creationId xmlns:a16="http://schemas.microsoft.com/office/drawing/2014/main" id="{62288559-0A4B-6A24-DA87-4D3511B2E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440"/>
              <a:ext cx="1584" cy="3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53608" name="Group 8">
            <a:extLst>
              <a:ext uri="{FF2B5EF4-FFF2-40B4-BE49-F238E27FC236}">
                <a16:creationId xmlns:a16="http://schemas.microsoft.com/office/drawing/2014/main" id="{DF0B6523-E19F-41A1-54D8-D631D7A1AE4A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5562600"/>
            <a:ext cx="2133600" cy="998538"/>
            <a:chOff x="1584" y="2448"/>
            <a:chExt cx="3408" cy="1632"/>
          </a:xfrm>
        </p:grpSpPr>
        <p:sp>
          <p:nvSpPr>
            <p:cNvPr id="153609" name="Rectangle 9">
              <a:extLst>
                <a:ext uri="{FF2B5EF4-FFF2-40B4-BE49-F238E27FC236}">
                  <a16:creationId xmlns:a16="http://schemas.microsoft.com/office/drawing/2014/main" id="{15B43B07-50B3-0EC8-BB5F-B6B33B572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48"/>
              <a:ext cx="3408" cy="16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900">
                <a:latin typeface="Times New Roman" panose="02020603050405020304" pitchFamily="18" charset="0"/>
              </a:endParaRPr>
            </a:p>
          </p:txBody>
        </p:sp>
        <p:sp>
          <p:nvSpPr>
            <p:cNvPr id="153610" name="Rectangle 10">
              <a:extLst>
                <a:ext uri="{FF2B5EF4-FFF2-40B4-BE49-F238E27FC236}">
                  <a16:creationId xmlns:a16="http://schemas.microsoft.com/office/drawing/2014/main" id="{CDB9FEFE-714F-AE80-1340-A8DC3ED29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544"/>
              <a:ext cx="1536" cy="720"/>
            </a:xfrm>
            <a:prstGeom prst="rect">
              <a:avLst/>
            </a:prstGeom>
            <a:solidFill>
              <a:schemeClr val="bg1"/>
            </a:solidFill>
            <a:ln w="57150" cmpd="thinThick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611" name="Rectangle 11">
              <a:extLst>
                <a:ext uri="{FF2B5EF4-FFF2-40B4-BE49-F238E27FC236}">
                  <a16:creationId xmlns:a16="http://schemas.microsoft.com/office/drawing/2014/main" id="{4E3A4094-099E-CA2E-E864-115C397BD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360"/>
              <a:ext cx="3216" cy="624"/>
            </a:xfrm>
            <a:prstGeom prst="rect">
              <a:avLst/>
            </a:prstGeom>
            <a:solidFill>
              <a:schemeClr val="bg1"/>
            </a:solidFill>
            <a:ln w="57150" cmpd="thinThick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900">
                  <a:latin typeface="Abadi MT Condensed" pitchFamily="34" charset="0"/>
                </a:rPr>
                <a:t>A</a:t>
              </a:r>
              <a:r>
                <a:rPr lang="en-US" altLang="en-US" sz="900">
                  <a:latin typeface="Arial" panose="020B0604020202020204" pitchFamily="34" charset="0"/>
                </a:rPr>
                <a:t>B</a:t>
              </a:r>
              <a:r>
                <a:rPr lang="en-US" altLang="en-US" sz="900">
                  <a:latin typeface="Arial Black" panose="020B0604020202020204" pitchFamily="34" charset="0"/>
                </a:rPr>
                <a:t>C</a:t>
              </a:r>
              <a:r>
                <a:rPr lang="en-US" altLang="en-US" sz="900">
                  <a:latin typeface="Arial Narrow" panose="020B0604020202020204" pitchFamily="34" charset="0"/>
                </a:rPr>
                <a:t>D</a:t>
              </a:r>
              <a:r>
                <a:rPr lang="en-US" altLang="en-US" sz="900">
                  <a:latin typeface="Book Antiqua" panose="02040602050305030304" pitchFamily="18" charset="0"/>
                </a:rPr>
                <a:t>E</a:t>
              </a:r>
              <a:r>
                <a:rPr lang="en-US" altLang="en-US" sz="900">
                  <a:latin typeface="Bookman Old Style" panose="02050604050505020204" pitchFamily="18" charset="0"/>
                </a:rPr>
                <a:t>F</a:t>
              </a:r>
              <a:r>
                <a:rPr lang="en-US" altLang="en-US" sz="900">
                  <a:latin typeface="Bookshelf Symbol 1" pitchFamily="34" charset="2"/>
                </a:rPr>
                <a:t>G</a:t>
              </a:r>
              <a:r>
                <a:rPr lang="en-US" altLang="en-US" sz="900">
                  <a:latin typeface="Century Gothic" panose="020B0502020202020204" pitchFamily="34" charset="0"/>
                </a:rPr>
                <a:t>H</a:t>
              </a:r>
              <a:r>
                <a:rPr lang="en-US" altLang="en-US" sz="900">
                  <a:latin typeface="Comic Sans MS" panose="030F0902030302020204" pitchFamily="66" charset="0"/>
                </a:rPr>
                <a:t>I</a:t>
              </a:r>
              <a:r>
                <a:rPr lang="en-US" altLang="en-US" sz="900">
                  <a:latin typeface="Century Schoolbook" panose="02040604050505020304" pitchFamily="18" charset="0"/>
                </a:rPr>
                <a:t>J</a:t>
              </a:r>
              <a:r>
                <a:rPr lang="en-US" altLang="en-US" sz="900">
                  <a:latin typeface="Courier New" panose="02070309020205020404" pitchFamily="49" charset="0"/>
                </a:rPr>
                <a:t>K</a:t>
              </a:r>
              <a:r>
                <a:rPr lang="en-US" altLang="en-US" sz="900">
                  <a:latin typeface="Garamond" panose="02020404030301010803" pitchFamily="18" charset="0"/>
                </a:rPr>
                <a:t>L</a:t>
              </a:r>
              <a:r>
                <a:rPr lang="en-US" altLang="en-US" sz="900">
                  <a:latin typeface="Georgia" panose="02040502050405020303" pitchFamily="18" charset="0"/>
                </a:rPr>
                <a:t>M</a:t>
              </a:r>
              <a:endParaRPr lang="en-US" altLang="en-US" sz="90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en-US" sz="900">
                  <a:latin typeface="Haettenschweiler" panose="020B0706040902060204" pitchFamily="34" charset="0"/>
                </a:rPr>
                <a:t>N</a:t>
              </a:r>
              <a:r>
                <a:rPr lang="en-US" altLang="en-US" sz="900">
                  <a:latin typeface="Impact" panose="020B0806030902050204" pitchFamily="34" charset="0"/>
                </a:rPr>
                <a:t>O</a:t>
              </a:r>
              <a:r>
                <a:rPr lang="en-US" altLang="en-US" sz="900">
                  <a:latin typeface="Letter Gothic MT" charset="0"/>
                </a:rPr>
                <a:t>P</a:t>
              </a:r>
              <a:r>
                <a:rPr lang="en-US" altLang="en-US" sz="900">
                  <a:latin typeface="Lucida Console" panose="020B0609040504020204" pitchFamily="49" charset="0"/>
                </a:rPr>
                <a:t>Q</a:t>
              </a:r>
              <a:r>
                <a:rPr lang="en-US" altLang="en-US" sz="900">
                  <a:latin typeface="Lucida Sans Unicode" panose="020B0602030504020204" pitchFamily="34" charset="0"/>
                </a:rPr>
                <a:t>R</a:t>
              </a:r>
              <a:r>
                <a:rPr lang="en-US" altLang="en-US" sz="900">
                  <a:latin typeface="Modern" pitchFamily="50"/>
                </a:rPr>
                <a:t>S</a:t>
              </a:r>
              <a:r>
                <a:rPr lang="en-US" altLang="en-US" sz="900">
                  <a:latin typeface="Roman" pitchFamily="18"/>
                </a:rPr>
                <a:t>T</a:t>
              </a:r>
              <a:r>
                <a:rPr lang="en-US" altLang="en-US" sz="900">
                  <a:latin typeface="Script" pitchFamily="66"/>
                </a:rPr>
                <a:t>U</a:t>
              </a:r>
              <a:r>
                <a:rPr lang="en-US" altLang="en-US" sz="900">
                  <a:latin typeface="Tahoma" panose="020B0604030504040204" pitchFamily="34" charset="0"/>
                </a:rPr>
                <a:t>V</a:t>
              </a:r>
              <a:r>
                <a:rPr lang="en-US" altLang="en-US" sz="900">
                  <a:latin typeface="Times New Roman MT Extra Bold" charset="0"/>
                </a:rPr>
                <a:t>W</a:t>
              </a:r>
              <a:r>
                <a:rPr lang="en-US" altLang="en-US" sz="900">
                  <a:latin typeface="Trebuchet MS" panose="020B0703020202090204" pitchFamily="34" charset="0"/>
                </a:rPr>
                <a:t>X</a:t>
              </a:r>
              <a:r>
                <a:rPr lang="en-US" altLang="en-US" sz="900">
                  <a:latin typeface="Verdana" panose="020B0604030504040204" pitchFamily="34" charset="0"/>
                </a:rPr>
                <a:t>Y</a:t>
              </a:r>
              <a:r>
                <a:rPr lang="en-US" altLang="en-US" sz="900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53612" name="Rectangle 12">
              <a:extLst>
                <a:ext uri="{FF2B5EF4-FFF2-40B4-BE49-F238E27FC236}">
                  <a16:creationId xmlns:a16="http://schemas.microsoft.com/office/drawing/2014/main" id="{1E29C2F4-92F8-9715-9418-1BBB681FF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544"/>
              <a:ext cx="480" cy="672"/>
            </a:xfrm>
            <a:prstGeom prst="rect">
              <a:avLst/>
            </a:prstGeom>
            <a:solidFill>
              <a:schemeClr val="bg1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613" name="Rectangle 13">
              <a:extLst>
                <a:ext uri="{FF2B5EF4-FFF2-40B4-BE49-F238E27FC236}">
                  <a16:creationId xmlns:a16="http://schemas.microsoft.com/office/drawing/2014/main" id="{D6E9FB2F-095A-4BB1-6653-10DB62F36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544"/>
              <a:ext cx="480" cy="672"/>
            </a:xfrm>
            <a:prstGeom prst="rect">
              <a:avLst/>
            </a:prstGeom>
            <a:solidFill>
              <a:schemeClr val="bg1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614" name="Rectangle 14">
              <a:extLst>
                <a:ext uri="{FF2B5EF4-FFF2-40B4-BE49-F238E27FC236}">
                  <a16:creationId xmlns:a16="http://schemas.microsoft.com/office/drawing/2014/main" id="{7639A027-7BF0-F6E7-A31C-DB25F93DF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544"/>
              <a:ext cx="480" cy="672"/>
            </a:xfrm>
            <a:prstGeom prst="rect">
              <a:avLst/>
            </a:prstGeom>
            <a:solidFill>
              <a:schemeClr val="bg1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615" name="Rectangle 15">
              <a:extLst>
                <a:ext uri="{FF2B5EF4-FFF2-40B4-BE49-F238E27FC236}">
                  <a16:creationId xmlns:a16="http://schemas.microsoft.com/office/drawing/2014/main" id="{8472BAF2-9F60-8647-D726-914EB1FC7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640"/>
              <a:ext cx="432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616" name="Rectangle 16">
              <a:extLst>
                <a:ext uri="{FF2B5EF4-FFF2-40B4-BE49-F238E27FC236}">
                  <a16:creationId xmlns:a16="http://schemas.microsoft.com/office/drawing/2014/main" id="{FEBD68E7-EF78-1991-C6D3-2CCB54592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640"/>
              <a:ext cx="432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617" name="Rectangle 17">
              <a:extLst>
                <a:ext uri="{FF2B5EF4-FFF2-40B4-BE49-F238E27FC236}">
                  <a16:creationId xmlns:a16="http://schemas.microsoft.com/office/drawing/2014/main" id="{8CDD35A1-90ED-A881-54CA-CDB66B0F9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024"/>
              <a:ext cx="13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618" name="Rectangle 18">
              <a:extLst>
                <a:ext uri="{FF2B5EF4-FFF2-40B4-BE49-F238E27FC236}">
                  <a16:creationId xmlns:a16="http://schemas.microsoft.com/office/drawing/2014/main" id="{13B93FBD-3279-F57E-0108-E63DB473B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640"/>
              <a:ext cx="240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53622" name="Group 22">
            <a:extLst>
              <a:ext uri="{FF2B5EF4-FFF2-40B4-BE49-F238E27FC236}">
                <a16:creationId xmlns:a16="http://schemas.microsoft.com/office/drawing/2014/main" id="{577CA977-54A2-890D-DA62-38E578E72ACE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76200"/>
            <a:ext cx="2284413" cy="1871663"/>
            <a:chOff x="3120" y="117"/>
            <a:chExt cx="1439" cy="1179"/>
          </a:xfrm>
        </p:grpSpPr>
        <p:sp>
          <p:nvSpPr>
            <p:cNvPr id="153620" name="Text Box 20">
              <a:extLst>
                <a:ext uri="{FF2B5EF4-FFF2-40B4-BE49-F238E27FC236}">
                  <a16:creationId xmlns:a16="http://schemas.microsoft.com/office/drawing/2014/main" id="{A368F2FA-9315-6807-FB92-CEC706BA7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528"/>
              <a:ext cx="1110" cy="76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>
                  <a:latin typeface="Times New Roman" panose="02020603050405020304" pitchFamily="18" charset="0"/>
                </a:rPr>
                <a:t>Dix , Alan</a:t>
              </a:r>
            </a:p>
            <a:p>
              <a:r>
                <a:rPr lang="en-US" altLang="en-US" sz="1800">
                  <a:latin typeface="Times New Roman" panose="02020603050405020304" pitchFamily="18" charset="0"/>
                </a:rPr>
                <a:t>Finlay, Janet</a:t>
              </a:r>
            </a:p>
            <a:p>
              <a:r>
                <a:rPr lang="en-US" altLang="en-US" sz="1800">
                  <a:latin typeface="Times New Roman" panose="02020603050405020304" pitchFamily="18" charset="0"/>
                </a:rPr>
                <a:t>Abowd, Gregory</a:t>
              </a:r>
            </a:p>
            <a:p>
              <a:r>
                <a:rPr lang="en-US" altLang="en-US" sz="1800">
                  <a:latin typeface="Times New Roman" panose="02020603050405020304" pitchFamily="18" charset="0"/>
                </a:rPr>
                <a:t>Beale, Russell</a:t>
              </a:r>
            </a:p>
          </p:txBody>
        </p:sp>
        <p:sp>
          <p:nvSpPr>
            <p:cNvPr id="153621" name="Text Box 21">
              <a:extLst>
                <a:ext uri="{FF2B5EF4-FFF2-40B4-BE49-F238E27FC236}">
                  <a16:creationId xmlns:a16="http://schemas.microsoft.com/office/drawing/2014/main" id="{CDEF7557-E971-A7C6-B946-C45E97AE9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17"/>
              <a:ext cx="719" cy="9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66FF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9600">
                  <a:solidFill>
                    <a:srgbClr val="66FF33"/>
                  </a:solidFill>
                  <a:latin typeface="Times New Roman" panose="02020603050405020304" pitchFamily="18" charset="0"/>
                  <a:sym typeface="Wingdings" pitchFamily="2" charset="2"/>
                </a:rPr>
                <a:t></a:t>
              </a:r>
              <a:endParaRPr lang="en-US" altLang="en-US" sz="9600">
                <a:solidFill>
                  <a:srgbClr val="66FF33"/>
                </a:solidFill>
                <a:latin typeface="Times New Roman" panose="02020603050405020304" pitchFamily="18" charset="0"/>
                <a:sym typeface="Wingdings 2" pitchFamily="2" charset="2"/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BBB85914-B357-D869-6462-5A12466F76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basic princ</a:t>
            </a:r>
            <a:r>
              <a:rPr lang="en-US" altLang="en-US"/>
              <a:t>iples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D634704-4019-7F6C-6B31-96B9744FA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600"/>
              <a:t>ask</a:t>
            </a:r>
          </a:p>
          <a:p>
            <a:pPr marL="1438275" lvl="1"/>
            <a:r>
              <a:rPr lang="en-US" altLang="en-US"/>
              <a:t>what is the user doing?</a:t>
            </a:r>
            <a:endParaRPr lang="en-US" altLang="en-US" sz="2800"/>
          </a:p>
          <a:p>
            <a:r>
              <a:rPr lang="en-US" altLang="en-US" sz="3600"/>
              <a:t>think</a:t>
            </a:r>
          </a:p>
          <a:p>
            <a:pPr marL="1438275" lvl="1"/>
            <a:r>
              <a:rPr lang="en-US" altLang="en-US"/>
              <a:t>what information, comparisons, order</a:t>
            </a:r>
            <a:endParaRPr lang="en-US" altLang="en-US" sz="3200"/>
          </a:p>
          <a:p>
            <a:r>
              <a:rPr lang="en-US" altLang="en-US" sz="3600"/>
              <a:t>design</a:t>
            </a:r>
          </a:p>
          <a:p>
            <a:pPr marL="1438275" lvl="1"/>
            <a:r>
              <a:rPr lang="en-US" altLang="en-US"/>
              <a:t>form follows function</a:t>
            </a:r>
            <a:endParaRPr lang="en-US" altLang="en-US" sz="32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C0131D9D-5851-4453-D0B6-A32A25875F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available tools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63BF8472-A08B-92AA-F57F-F20E26043A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/>
              <a:t>grouping of items</a:t>
            </a:r>
          </a:p>
          <a:p>
            <a:r>
              <a:rPr lang="en-US" altLang="en-US" sz="3200"/>
              <a:t>order of items </a:t>
            </a:r>
          </a:p>
          <a:p>
            <a:r>
              <a:rPr lang="en-US" altLang="en-US" sz="3200"/>
              <a:t>decoration - fonts, boxes etc.</a:t>
            </a:r>
          </a:p>
          <a:p>
            <a:r>
              <a:rPr lang="en-US" altLang="en-US" sz="3200"/>
              <a:t>alignment of items</a:t>
            </a:r>
          </a:p>
          <a:p>
            <a:r>
              <a:rPr lang="en-US" altLang="en-US" sz="3200"/>
              <a:t>white space between items</a:t>
            </a:r>
          </a:p>
          <a:p>
            <a:endParaRPr lang="en-US" altLang="en-US" sz="32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F0E0F7E-1683-3A72-E25C-E726C0E7EE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grouping and structure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1621DC8C-AB17-485C-6178-C84066E5C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altLang="en-US" sz="2400"/>
              <a:t>logically together  </a:t>
            </a:r>
            <a:r>
              <a:rPr lang="en-US" altLang="en-US" sz="2400">
                <a:sym typeface="Symbol" pitchFamily="2" charset="2"/>
              </a:rPr>
              <a:t> </a:t>
            </a:r>
            <a:r>
              <a:rPr lang="en-US" altLang="en-US" sz="2400"/>
              <a:t> physically together</a:t>
            </a:r>
            <a:endParaRPr lang="en-US" altLang="en-US" sz="2000"/>
          </a:p>
          <a:p>
            <a:endParaRPr lang="en-US" altLang="en-US"/>
          </a:p>
        </p:txBody>
      </p:sp>
      <p:grpSp>
        <p:nvGrpSpPr>
          <p:cNvPr id="55300" name="Group 4">
            <a:extLst>
              <a:ext uri="{FF2B5EF4-FFF2-40B4-BE49-F238E27FC236}">
                <a16:creationId xmlns:a16="http://schemas.microsoft.com/office/drawing/2014/main" id="{9A462958-4D9C-0E6D-1CE3-CD31414AEC5A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895600"/>
            <a:ext cx="6781800" cy="3276600"/>
            <a:chOff x="720" y="1824"/>
            <a:chExt cx="4272" cy="2064"/>
          </a:xfrm>
        </p:grpSpPr>
        <p:sp>
          <p:nvSpPr>
            <p:cNvPr id="55301" name="Rectangle 5">
              <a:extLst>
                <a:ext uri="{FF2B5EF4-FFF2-40B4-BE49-F238E27FC236}">
                  <a16:creationId xmlns:a16="http://schemas.microsoft.com/office/drawing/2014/main" id="{7D98D811-E2CD-8540-8E12-E47E52421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824"/>
              <a:ext cx="4272" cy="206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5302" name="Text Box 6">
              <a:extLst>
                <a:ext uri="{FF2B5EF4-FFF2-40B4-BE49-F238E27FC236}">
                  <a16:creationId xmlns:a16="http://schemas.microsoft.com/office/drawing/2014/main" id="{971574B3-B06B-B9D8-A23F-BD7F71628C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833"/>
              <a:ext cx="1834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2000" b="1">
                  <a:latin typeface="Times New Roman" panose="02020603050405020304" pitchFamily="18" charset="0"/>
                </a:rPr>
                <a:t>Billing details</a:t>
              </a:r>
              <a:r>
                <a:rPr lang="en-US" altLang="en-US" sz="2000">
                  <a:latin typeface="Times New Roman" panose="02020603050405020304" pitchFamily="18" charset="0"/>
                </a:rPr>
                <a:t>:</a:t>
              </a:r>
            </a:p>
            <a:p>
              <a:r>
                <a:rPr lang="en-US" altLang="en-US" sz="2000">
                  <a:latin typeface="Times New Roman" panose="02020603050405020304" pitchFamily="18" charset="0"/>
                </a:rPr>
                <a:t>  Name</a:t>
              </a:r>
            </a:p>
            <a:p>
              <a:r>
                <a:rPr lang="en-US" altLang="en-US" sz="2000">
                  <a:latin typeface="Times New Roman" panose="02020603050405020304" pitchFamily="18" charset="0"/>
                </a:rPr>
                <a:t>  Address: …</a:t>
              </a:r>
            </a:p>
            <a:p>
              <a:r>
                <a:rPr lang="en-US" altLang="en-US" sz="2000">
                  <a:latin typeface="Times New Roman" panose="02020603050405020304" pitchFamily="18" charset="0"/>
                </a:rPr>
                <a:t>  Credit card no</a:t>
              </a:r>
            </a:p>
          </p:txBody>
        </p:sp>
        <p:sp>
          <p:nvSpPr>
            <p:cNvPr id="55303" name="Text Box 7">
              <a:extLst>
                <a:ext uri="{FF2B5EF4-FFF2-40B4-BE49-F238E27FC236}">
                  <a16:creationId xmlns:a16="http://schemas.microsoft.com/office/drawing/2014/main" id="{18D0BBFF-D175-DBDA-0843-8186125F3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833"/>
              <a:ext cx="1834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2000" b="1">
                  <a:latin typeface="Times New Roman" panose="02020603050405020304" pitchFamily="18" charset="0"/>
                </a:rPr>
                <a:t>Delivery details</a:t>
              </a:r>
              <a:r>
                <a:rPr lang="en-US" altLang="en-US" sz="2000">
                  <a:latin typeface="Times New Roman" panose="02020603050405020304" pitchFamily="18" charset="0"/>
                </a:rPr>
                <a:t>:</a:t>
              </a:r>
            </a:p>
            <a:p>
              <a:r>
                <a:rPr lang="en-US" altLang="en-US" sz="2000">
                  <a:latin typeface="Times New Roman" panose="02020603050405020304" pitchFamily="18" charset="0"/>
                </a:rPr>
                <a:t>  Name</a:t>
              </a:r>
            </a:p>
            <a:p>
              <a:r>
                <a:rPr lang="en-US" altLang="en-US" sz="2000">
                  <a:latin typeface="Times New Roman" panose="02020603050405020304" pitchFamily="18" charset="0"/>
                </a:rPr>
                <a:t>  Address: …</a:t>
              </a:r>
            </a:p>
            <a:p>
              <a:r>
                <a:rPr lang="en-US" altLang="en-US" sz="2000">
                  <a:latin typeface="Times New Roman" panose="02020603050405020304" pitchFamily="18" charset="0"/>
                </a:rPr>
                <a:t>  Delivery time</a:t>
              </a:r>
            </a:p>
          </p:txBody>
        </p:sp>
        <p:sp>
          <p:nvSpPr>
            <p:cNvPr id="55304" name="Line 8">
              <a:extLst>
                <a:ext uri="{FF2B5EF4-FFF2-40B4-BE49-F238E27FC236}">
                  <a16:creationId xmlns:a16="http://schemas.microsoft.com/office/drawing/2014/main" id="{1315EDBB-B675-A4D1-02B3-28E547239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84"/>
              <a:ext cx="41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5305" name="Text Box 9">
              <a:extLst>
                <a:ext uri="{FF2B5EF4-FFF2-40B4-BE49-F238E27FC236}">
                  <a16:creationId xmlns:a16="http://schemas.microsoft.com/office/drawing/2014/main" id="{316AEC59-D79E-9EE8-CCE6-EFE973AD2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784"/>
              <a:ext cx="4224" cy="10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2000" b="1">
                  <a:latin typeface="Times New Roman" panose="02020603050405020304" pitchFamily="18" charset="0"/>
                </a:rPr>
                <a:t>Order details</a:t>
              </a:r>
              <a:r>
                <a:rPr lang="en-US" altLang="en-US" sz="2000">
                  <a:latin typeface="Times New Roman" panose="02020603050405020304" pitchFamily="18" charset="0"/>
                </a:rPr>
                <a:t>:</a:t>
              </a:r>
            </a:p>
            <a:p>
              <a:r>
                <a:rPr lang="en-US" altLang="en-US" sz="2000">
                  <a:latin typeface="Times New Roman" panose="02020603050405020304" pitchFamily="18" charset="0"/>
                </a:rPr>
                <a:t>  item                                               quantity  cost/item    cost</a:t>
              </a:r>
            </a:p>
            <a:p>
              <a:r>
                <a:rPr lang="en-US" altLang="en-US" sz="2000">
                  <a:latin typeface="Times New Roman" panose="02020603050405020304" pitchFamily="18" charset="0"/>
                </a:rPr>
                <a:t>  </a:t>
              </a:r>
              <a:r>
                <a:rPr lang="en-US" altLang="en-US" sz="1800">
                  <a:latin typeface="Courier New" panose="02070309020205020404" pitchFamily="49" charset="0"/>
                </a:rPr>
                <a:t>size 10 screws (boxes)      7    3.71   25.97</a:t>
              </a:r>
              <a:endParaRPr lang="en-US" altLang="en-US" sz="2000">
                <a:latin typeface="Times New Roman" panose="02020603050405020304" pitchFamily="18" charset="0"/>
              </a:endParaRPr>
            </a:p>
            <a:p>
              <a:r>
                <a:rPr lang="en-US" altLang="en-US" sz="2000">
                  <a:latin typeface="Times New Roman" panose="02020603050405020304" pitchFamily="18" charset="0"/>
                </a:rPr>
                <a:t>      ……			                    …	     …           …</a:t>
              </a:r>
            </a:p>
            <a:p>
              <a:endParaRPr lang="en-US" altLang="en-US" sz="2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4F6254BA-7888-26B3-A9C3-5511187956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order of groups and items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ED30FA1-08F8-D418-4F22-DCD94B376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think! - what is natural order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should match screen order!</a:t>
            </a:r>
          </a:p>
          <a:p>
            <a:pPr marL="1438275" lvl="1">
              <a:lnSpc>
                <a:spcPct val="90000"/>
              </a:lnSpc>
            </a:pPr>
            <a:r>
              <a:rPr lang="en-US" altLang="en-US" sz="2000"/>
              <a:t>use boxes, space etc.</a:t>
            </a:r>
          </a:p>
          <a:p>
            <a:pPr marL="1438275" lvl="1">
              <a:lnSpc>
                <a:spcPct val="90000"/>
              </a:lnSpc>
            </a:pPr>
            <a:r>
              <a:rPr lang="en-US" altLang="en-US" sz="2000"/>
              <a:t>set up tabbing right!</a:t>
            </a:r>
            <a:endParaRPr lang="en-US" altLang="en-US" sz="2800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instructions</a:t>
            </a:r>
          </a:p>
          <a:p>
            <a:pPr marL="1438275" lvl="1">
              <a:lnSpc>
                <a:spcPct val="90000"/>
              </a:lnSpc>
            </a:pPr>
            <a:r>
              <a:rPr lang="en-US" altLang="en-US" sz="2000"/>
              <a:t>beware the cake recipie syndrome!</a:t>
            </a:r>
            <a:br>
              <a:rPr lang="en-US" altLang="en-US" sz="2000"/>
            </a:br>
            <a:r>
              <a:rPr lang="en-US" altLang="en-US" sz="2000"/>
              <a:t>… </a:t>
            </a:r>
            <a:r>
              <a:rPr lang="en-US" altLang="en-US" sz="1800"/>
              <a:t>mix milk and flour, add the fruit</a:t>
            </a:r>
            <a:br>
              <a:rPr lang="en-US" altLang="en-US" sz="1800"/>
            </a:br>
            <a:r>
              <a:rPr lang="en-US" altLang="en-US" sz="1800"/>
              <a:t>    after beating them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E2EF77B4-C9BD-EA1C-B68C-3FE1A7013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decoration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A403B68-0A85-3C60-A1E2-3E280A234A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 boxes to group logical items</a:t>
            </a:r>
          </a:p>
          <a:p>
            <a:r>
              <a:rPr lang="en-US" altLang="en-US"/>
              <a:t>use fonts for emphasis, headings</a:t>
            </a:r>
          </a:p>
          <a:p>
            <a:r>
              <a:rPr lang="en-US" altLang="en-US"/>
              <a:t>but not too many!!</a:t>
            </a:r>
          </a:p>
        </p:txBody>
      </p:sp>
      <p:grpSp>
        <p:nvGrpSpPr>
          <p:cNvPr id="57348" name="Group 4">
            <a:extLst>
              <a:ext uri="{FF2B5EF4-FFF2-40B4-BE49-F238E27FC236}">
                <a16:creationId xmlns:a16="http://schemas.microsoft.com/office/drawing/2014/main" id="{C6A451FB-0130-1473-75B0-645F5F60A980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3886200"/>
            <a:ext cx="5410200" cy="2590800"/>
            <a:chOff x="1584" y="2448"/>
            <a:chExt cx="3408" cy="1632"/>
          </a:xfrm>
        </p:grpSpPr>
        <p:sp>
          <p:nvSpPr>
            <p:cNvPr id="57349" name="Rectangle 5">
              <a:extLst>
                <a:ext uri="{FF2B5EF4-FFF2-40B4-BE49-F238E27FC236}">
                  <a16:creationId xmlns:a16="http://schemas.microsoft.com/office/drawing/2014/main" id="{633A43AA-7D9F-C0EE-03B9-DF46D2812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48"/>
              <a:ext cx="3408" cy="16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7350" name="Rectangle 6">
              <a:extLst>
                <a:ext uri="{FF2B5EF4-FFF2-40B4-BE49-F238E27FC236}">
                  <a16:creationId xmlns:a16="http://schemas.microsoft.com/office/drawing/2014/main" id="{7329EA2B-065E-9B83-79A3-97C8A7177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544"/>
              <a:ext cx="1536" cy="720"/>
            </a:xfrm>
            <a:prstGeom prst="rect">
              <a:avLst/>
            </a:prstGeom>
            <a:solidFill>
              <a:schemeClr val="bg1"/>
            </a:solidFill>
            <a:ln w="57150" cmpd="thinThick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7351" name="Rectangle 7">
              <a:extLst>
                <a:ext uri="{FF2B5EF4-FFF2-40B4-BE49-F238E27FC236}">
                  <a16:creationId xmlns:a16="http://schemas.microsoft.com/office/drawing/2014/main" id="{0021C0C5-A586-CB17-00F0-DD94CD738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360"/>
              <a:ext cx="3216" cy="624"/>
            </a:xfrm>
            <a:prstGeom prst="rect">
              <a:avLst/>
            </a:prstGeom>
            <a:solidFill>
              <a:schemeClr val="bg1"/>
            </a:solidFill>
            <a:ln w="57150" cmpd="thinThick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Abadi MT Condensed" pitchFamily="34" charset="0"/>
                </a:rPr>
                <a:t>A</a:t>
              </a:r>
              <a:r>
                <a:rPr lang="en-US" altLang="en-US">
                  <a:latin typeface="Arial" panose="020B0604020202020204" pitchFamily="34" charset="0"/>
                </a:rPr>
                <a:t>B</a:t>
              </a:r>
              <a:r>
                <a:rPr lang="en-US" altLang="en-US">
                  <a:latin typeface="Arial Black" panose="020B0604020202020204" pitchFamily="34" charset="0"/>
                </a:rPr>
                <a:t>C</a:t>
              </a:r>
              <a:r>
                <a:rPr lang="en-US" altLang="en-US">
                  <a:latin typeface="Arial Narrow" panose="020B0604020202020204" pitchFamily="34" charset="0"/>
                </a:rPr>
                <a:t>D</a:t>
              </a:r>
              <a:r>
                <a:rPr lang="en-US" altLang="en-US">
                  <a:latin typeface="Book Antiqua" panose="02040602050305030304" pitchFamily="18" charset="0"/>
                </a:rPr>
                <a:t>E</a:t>
              </a:r>
              <a:r>
                <a:rPr lang="en-US" altLang="en-US">
                  <a:latin typeface="Bookman Old Style" panose="02050604050505020204" pitchFamily="18" charset="0"/>
                </a:rPr>
                <a:t>F</a:t>
              </a:r>
              <a:r>
                <a:rPr lang="en-US" altLang="en-US">
                  <a:latin typeface="Bookshelf Symbol 1" pitchFamily="34" charset="2"/>
                </a:rPr>
                <a:t>G</a:t>
              </a:r>
              <a:r>
                <a:rPr lang="en-US" altLang="en-US">
                  <a:latin typeface="Century Gothic" panose="020B0502020202020204" pitchFamily="34" charset="0"/>
                </a:rPr>
                <a:t>H</a:t>
              </a:r>
              <a:r>
                <a:rPr lang="en-US" altLang="en-US">
                  <a:latin typeface="Comic Sans MS" panose="030F0902030302020204" pitchFamily="66" charset="0"/>
                </a:rPr>
                <a:t>I</a:t>
              </a:r>
              <a:r>
                <a:rPr lang="en-US" altLang="en-US">
                  <a:latin typeface="Century Schoolbook" panose="02040604050505020304" pitchFamily="18" charset="0"/>
                </a:rPr>
                <a:t>J</a:t>
              </a:r>
              <a:r>
                <a:rPr lang="en-US" altLang="en-US">
                  <a:latin typeface="Courier New" panose="02070309020205020404" pitchFamily="49" charset="0"/>
                </a:rPr>
                <a:t>K</a:t>
              </a:r>
              <a:r>
                <a:rPr lang="en-US" altLang="en-US">
                  <a:latin typeface="Garamond" panose="02020404030301010803" pitchFamily="18" charset="0"/>
                </a:rPr>
                <a:t>L</a:t>
              </a:r>
              <a:r>
                <a:rPr lang="en-US" altLang="en-US">
                  <a:latin typeface="Georgia" panose="02040502050405020303" pitchFamily="18" charset="0"/>
                </a:rPr>
                <a:t>M</a:t>
              </a:r>
              <a:endParaRPr lang="en-US" altLang="en-US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en-US">
                  <a:latin typeface="Haettenschweiler" panose="020B0706040902060204" pitchFamily="34" charset="0"/>
                </a:rPr>
                <a:t>N</a:t>
              </a:r>
              <a:r>
                <a:rPr lang="en-US" altLang="en-US">
                  <a:latin typeface="Impact" panose="020B0806030902050204" pitchFamily="34" charset="0"/>
                </a:rPr>
                <a:t>O</a:t>
              </a:r>
              <a:r>
                <a:rPr lang="en-US" altLang="en-US">
                  <a:latin typeface="Letter Gothic MT" charset="0"/>
                </a:rPr>
                <a:t>P</a:t>
              </a:r>
              <a:r>
                <a:rPr lang="en-US" altLang="en-US">
                  <a:latin typeface="Lucida Console" panose="020B0609040504020204" pitchFamily="49" charset="0"/>
                </a:rPr>
                <a:t>Q</a:t>
              </a:r>
              <a:r>
                <a:rPr lang="en-US" altLang="en-US">
                  <a:latin typeface="Lucida Sans Unicode" panose="020B0602030504020204" pitchFamily="34" charset="0"/>
                </a:rPr>
                <a:t>R</a:t>
              </a:r>
              <a:r>
                <a:rPr lang="en-US" altLang="en-US">
                  <a:latin typeface="Modern" pitchFamily="50"/>
                </a:rPr>
                <a:t>S</a:t>
              </a:r>
              <a:r>
                <a:rPr lang="en-US" altLang="en-US">
                  <a:latin typeface="Roman" pitchFamily="18"/>
                </a:rPr>
                <a:t>T</a:t>
              </a:r>
              <a:r>
                <a:rPr lang="en-US" altLang="en-US">
                  <a:latin typeface="Script" pitchFamily="66"/>
                </a:rPr>
                <a:t>U</a:t>
              </a:r>
              <a:r>
                <a:rPr lang="en-US" altLang="en-US">
                  <a:latin typeface="Tahoma" panose="020B0604030504040204" pitchFamily="34" charset="0"/>
                </a:rPr>
                <a:t>V</a:t>
              </a:r>
              <a:r>
                <a:rPr lang="en-US" altLang="en-US">
                  <a:latin typeface="Times New Roman MT Extra Bold" charset="0"/>
                </a:rPr>
                <a:t>W</a:t>
              </a:r>
              <a:r>
                <a:rPr lang="en-US" altLang="en-US">
                  <a:latin typeface="Trebuchet MS" panose="020B0703020202090204" pitchFamily="34" charset="0"/>
                </a:rPr>
                <a:t>X</a:t>
              </a:r>
              <a:r>
                <a:rPr lang="en-US" altLang="en-US">
                  <a:latin typeface="Verdana" panose="020B0604030504040204" pitchFamily="34" charset="0"/>
                </a:rPr>
                <a:t>Y</a:t>
              </a:r>
              <a:r>
                <a:rPr lang="en-US" altLang="en-US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57352" name="Rectangle 8">
              <a:extLst>
                <a:ext uri="{FF2B5EF4-FFF2-40B4-BE49-F238E27FC236}">
                  <a16:creationId xmlns:a16="http://schemas.microsoft.com/office/drawing/2014/main" id="{4BB008D4-E1D3-4C7D-2D85-C378DDB92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544"/>
              <a:ext cx="480" cy="672"/>
            </a:xfrm>
            <a:prstGeom prst="rect">
              <a:avLst/>
            </a:prstGeom>
            <a:solidFill>
              <a:schemeClr val="bg1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7353" name="Rectangle 9">
              <a:extLst>
                <a:ext uri="{FF2B5EF4-FFF2-40B4-BE49-F238E27FC236}">
                  <a16:creationId xmlns:a16="http://schemas.microsoft.com/office/drawing/2014/main" id="{FA959B67-F464-9003-4F9A-C2CA5A94B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544"/>
              <a:ext cx="480" cy="672"/>
            </a:xfrm>
            <a:prstGeom prst="rect">
              <a:avLst/>
            </a:prstGeom>
            <a:solidFill>
              <a:schemeClr val="bg1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7354" name="Rectangle 10">
              <a:extLst>
                <a:ext uri="{FF2B5EF4-FFF2-40B4-BE49-F238E27FC236}">
                  <a16:creationId xmlns:a16="http://schemas.microsoft.com/office/drawing/2014/main" id="{19E2EF07-534D-90E0-F73E-579EE6E9F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544"/>
              <a:ext cx="480" cy="672"/>
            </a:xfrm>
            <a:prstGeom prst="rect">
              <a:avLst/>
            </a:prstGeom>
            <a:solidFill>
              <a:schemeClr val="bg1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7355" name="Rectangle 11">
              <a:extLst>
                <a:ext uri="{FF2B5EF4-FFF2-40B4-BE49-F238E27FC236}">
                  <a16:creationId xmlns:a16="http://schemas.microsoft.com/office/drawing/2014/main" id="{CD62DB4A-EA7E-58E4-539A-3DF2C5290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640"/>
              <a:ext cx="432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7356" name="Rectangle 12">
              <a:extLst>
                <a:ext uri="{FF2B5EF4-FFF2-40B4-BE49-F238E27FC236}">
                  <a16:creationId xmlns:a16="http://schemas.microsoft.com/office/drawing/2014/main" id="{A6A6989E-0DE9-0792-6679-FA2A64937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640"/>
              <a:ext cx="432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7357" name="Rectangle 13">
              <a:extLst>
                <a:ext uri="{FF2B5EF4-FFF2-40B4-BE49-F238E27FC236}">
                  <a16:creationId xmlns:a16="http://schemas.microsoft.com/office/drawing/2014/main" id="{56F1B61D-4FAA-68D2-A97E-9D1EAF2CC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024"/>
              <a:ext cx="1344" cy="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7358" name="Rectangle 14">
              <a:extLst>
                <a:ext uri="{FF2B5EF4-FFF2-40B4-BE49-F238E27FC236}">
                  <a16:creationId xmlns:a16="http://schemas.microsoft.com/office/drawing/2014/main" id="{336614F7-CAEC-CA09-DFE0-CBB8CD54A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640"/>
              <a:ext cx="240" cy="2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85669D08-32D5-1FB0-B7E9-9F918BDCD2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alignment - text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EBAFC378-60FA-857A-C029-3717F73FF2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you read from left to right   </a:t>
            </a:r>
            <a:r>
              <a:rPr lang="en-US" altLang="en-US" sz="1800"/>
              <a:t>(English and European)</a:t>
            </a:r>
            <a:r>
              <a:rPr lang="en-US" altLang="en-US"/>
              <a:t>                        </a:t>
            </a:r>
          </a:p>
          <a:p>
            <a:pPr>
              <a:buFontTx/>
              <a:buNone/>
            </a:pPr>
            <a:r>
              <a:rPr lang="en-US" altLang="en-US">
                <a:sym typeface="Symbol" pitchFamily="2" charset="2"/>
              </a:rPr>
              <a:t>			</a:t>
            </a:r>
            <a:r>
              <a:rPr lang="en-US" altLang="en-US"/>
              <a:t>  align left hand side</a:t>
            </a:r>
          </a:p>
          <a:p>
            <a:endParaRPr lang="en-US" altLang="en-US"/>
          </a:p>
        </p:txBody>
      </p:sp>
      <p:sp>
        <p:nvSpPr>
          <p:cNvPr id="58372" name="Text Box 4">
            <a:extLst>
              <a:ext uri="{FF2B5EF4-FFF2-40B4-BE49-F238E27FC236}">
                <a16:creationId xmlns:a16="http://schemas.microsoft.com/office/drawing/2014/main" id="{141EEA01-5805-ABD3-9E08-7BAEB6738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505200"/>
            <a:ext cx="38862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>
                <a:latin typeface="Times New Roman" panose="02020603050405020304" pitchFamily="18" charset="0"/>
              </a:rPr>
              <a:t>Willy Wonka and the Chocolate Factory</a:t>
            </a:r>
          </a:p>
          <a:p>
            <a:r>
              <a:rPr lang="en-US" altLang="en-US" sz="1800">
                <a:latin typeface="Times New Roman" panose="02020603050405020304" pitchFamily="18" charset="0"/>
              </a:rPr>
              <a:t>Winston Churchill - A Biography</a:t>
            </a:r>
          </a:p>
          <a:p>
            <a:r>
              <a:rPr lang="en-US" altLang="en-US" sz="1800">
                <a:latin typeface="Times New Roman" panose="02020603050405020304" pitchFamily="18" charset="0"/>
              </a:rPr>
              <a:t>Wizard of Oz</a:t>
            </a:r>
          </a:p>
          <a:p>
            <a:r>
              <a:rPr lang="en-US" altLang="en-US" sz="1800">
                <a:latin typeface="Times New Roman" panose="02020603050405020304" pitchFamily="18" charset="0"/>
              </a:rPr>
              <a:t>Xena - Warrior Princess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3" name="Text Box 5">
            <a:extLst>
              <a:ext uri="{FF2B5EF4-FFF2-40B4-BE49-F238E27FC236}">
                <a16:creationId xmlns:a16="http://schemas.microsoft.com/office/drawing/2014/main" id="{719F85B2-F9CC-3763-9693-E54BAA6BD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953000"/>
            <a:ext cx="38862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en-US" sz="1800">
                <a:latin typeface="Times New Roman" panose="02020603050405020304" pitchFamily="18" charset="0"/>
              </a:rPr>
              <a:t>Willy Wonka and the Chocolate Factory</a:t>
            </a:r>
          </a:p>
          <a:p>
            <a:pPr algn="r"/>
            <a:r>
              <a:rPr lang="en-US" altLang="en-US" sz="1800">
                <a:latin typeface="Times New Roman" panose="02020603050405020304" pitchFamily="18" charset="0"/>
              </a:rPr>
              <a:t>Winston Churchill - A Biography</a:t>
            </a:r>
          </a:p>
          <a:p>
            <a:pPr algn="r"/>
            <a:r>
              <a:rPr lang="en-US" altLang="en-US" sz="1800">
                <a:latin typeface="Times New Roman" panose="02020603050405020304" pitchFamily="18" charset="0"/>
              </a:rPr>
              <a:t>Wizard of Oz</a:t>
            </a:r>
          </a:p>
          <a:p>
            <a:pPr algn="r"/>
            <a:r>
              <a:rPr lang="en-US" altLang="en-US" sz="1800">
                <a:latin typeface="Times New Roman" panose="02020603050405020304" pitchFamily="18" charset="0"/>
              </a:rPr>
              <a:t>Xena - Warrior Princess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4" name="Text Box 6">
            <a:extLst>
              <a:ext uri="{FF2B5EF4-FFF2-40B4-BE49-F238E27FC236}">
                <a16:creationId xmlns:a16="http://schemas.microsoft.com/office/drawing/2014/main" id="{0BD119CC-5579-D67A-E3A2-1FAACB165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562600"/>
            <a:ext cx="3048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latin typeface="Times New Roman" panose="02020603050405020304" pitchFamily="18" charset="0"/>
              </a:rPr>
              <a:t>fine for special effects but hard to scan</a:t>
            </a:r>
          </a:p>
        </p:txBody>
      </p:sp>
      <p:sp>
        <p:nvSpPr>
          <p:cNvPr id="58375" name="AutoShape 7">
            <a:extLst>
              <a:ext uri="{FF2B5EF4-FFF2-40B4-BE49-F238E27FC236}">
                <a16:creationId xmlns:a16="http://schemas.microsoft.com/office/drawing/2014/main" id="{BA248580-1DE4-53DF-00FB-147E028A90A7}"/>
              </a:ext>
            </a:extLst>
          </p:cNvPr>
          <p:cNvSpPr>
            <a:spLocks noChangeArrowheads="1"/>
          </p:cNvSpPr>
          <p:nvPr/>
        </p:nvSpPr>
        <p:spPr bwMode="auto">
          <a:xfrm rot="-838425">
            <a:off x="3810000" y="5638800"/>
            <a:ext cx="1143000" cy="304800"/>
          </a:xfrm>
          <a:prstGeom prst="rightArrow">
            <a:avLst>
              <a:gd name="adj1" fmla="val 50000"/>
              <a:gd name="adj2" fmla="val 937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8376" name="Text Box 8">
            <a:extLst>
              <a:ext uri="{FF2B5EF4-FFF2-40B4-BE49-F238E27FC236}">
                <a16:creationId xmlns:a16="http://schemas.microsoft.com/office/drawing/2014/main" id="{5DD73AA3-8B4E-2680-F32F-7B52720A5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276600"/>
            <a:ext cx="1447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latin typeface="Times New Roman" panose="02020603050405020304" pitchFamily="18" charset="0"/>
              </a:rPr>
              <a:t>boring but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readable!</a:t>
            </a:r>
          </a:p>
        </p:txBody>
      </p:sp>
      <p:sp>
        <p:nvSpPr>
          <p:cNvPr id="58377" name="AutoShape 9">
            <a:extLst>
              <a:ext uri="{FF2B5EF4-FFF2-40B4-BE49-F238E27FC236}">
                <a16:creationId xmlns:a16="http://schemas.microsoft.com/office/drawing/2014/main" id="{86D31537-C3DB-D407-2C01-9FCEC0F0626C}"/>
              </a:ext>
            </a:extLst>
          </p:cNvPr>
          <p:cNvSpPr>
            <a:spLocks noChangeArrowheads="1"/>
          </p:cNvSpPr>
          <p:nvPr/>
        </p:nvSpPr>
        <p:spPr bwMode="auto">
          <a:xfrm rot="-838425" flipH="1" flipV="1">
            <a:off x="4800600" y="3657600"/>
            <a:ext cx="1143000" cy="304800"/>
          </a:xfrm>
          <a:prstGeom prst="rightArrow">
            <a:avLst>
              <a:gd name="adj1" fmla="val 50000"/>
              <a:gd name="adj2" fmla="val 937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78975F1-9974-0763-D5D7-669FA9A1F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alignment - names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7B3AAB09-DDB2-257E-560B-034759757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Usually scanning for surnames   </a:t>
            </a:r>
            <a:r>
              <a:rPr lang="en-US" altLang="en-US">
                <a:sym typeface="Symbol" pitchFamily="2" charset="2"/>
              </a:rPr>
              <a:t>			</a:t>
            </a:r>
            <a:r>
              <a:rPr lang="en-US" altLang="en-US"/>
              <a:t>  make it easy!</a:t>
            </a:r>
          </a:p>
          <a:p>
            <a:endParaRPr lang="en-US" altLang="en-US"/>
          </a:p>
        </p:txBody>
      </p:sp>
      <p:sp>
        <p:nvSpPr>
          <p:cNvPr id="59396" name="Text Box 4">
            <a:extLst>
              <a:ext uri="{FF2B5EF4-FFF2-40B4-BE49-F238E27FC236}">
                <a16:creationId xmlns:a16="http://schemas.microsoft.com/office/drawing/2014/main" id="{36A49F77-8522-156A-841A-9D4033703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429000"/>
            <a:ext cx="1704975" cy="1219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>
                <a:latin typeface="Times New Roman" panose="02020603050405020304" pitchFamily="18" charset="0"/>
              </a:rPr>
              <a:t>Alan Dix</a:t>
            </a:r>
          </a:p>
          <a:p>
            <a:r>
              <a:rPr lang="en-US" altLang="en-US" sz="1800">
                <a:latin typeface="Times New Roman" panose="02020603050405020304" pitchFamily="18" charset="0"/>
              </a:rPr>
              <a:t>Janet Finlay</a:t>
            </a:r>
          </a:p>
          <a:p>
            <a:r>
              <a:rPr lang="en-US" altLang="en-US" sz="1800">
                <a:latin typeface="Times New Roman" panose="02020603050405020304" pitchFamily="18" charset="0"/>
              </a:rPr>
              <a:t>Gregory Abowd</a:t>
            </a:r>
          </a:p>
          <a:p>
            <a:r>
              <a:rPr lang="en-US" altLang="en-US" sz="1800">
                <a:latin typeface="Times New Roman" panose="02020603050405020304" pitchFamily="18" charset="0"/>
              </a:rPr>
              <a:t>Russell Beale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7" name="Text Box 5">
            <a:extLst>
              <a:ext uri="{FF2B5EF4-FFF2-40B4-BE49-F238E27FC236}">
                <a16:creationId xmlns:a16="http://schemas.microsoft.com/office/drawing/2014/main" id="{395CA77B-E3AD-2DB3-5B52-A6D52F349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953000"/>
            <a:ext cx="1762125" cy="1219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>
                <a:latin typeface="Times New Roman" panose="02020603050405020304" pitchFamily="18" charset="0"/>
              </a:rPr>
              <a:t>Alan        Dix</a:t>
            </a:r>
          </a:p>
          <a:p>
            <a:r>
              <a:rPr lang="en-US" altLang="en-US" sz="1800">
                <a:latin typeface="Times New Roman" panose="02020603050405020304" pitchFamily="18" charset="0"/>
              </a:rPr>
              <a:t>Janet        Finlay</a:t>
            </a:r>
          </a:p>
          <a:p>
            <a:r>
              <a:rPr lang="en-US" altLang="en-US" sz="1800">
                <a:latin typeface="Times New Roman" panose="02020603050405020304" pitchFamily="18" charset="0"/>
              </a:rPr>
              <a:t>Gregory  Abowd</a:t>
            </a:r>
          </a:p>
          <a:p>
            <a:r>
              <a:rPr lang="en-US" altLang="en-US" sz="1800">
                <a:latin typeface="Times New Roman" panose="02020603050405020304" pitchFamily="18" charset="0"/>
              </a:rPr>
              <a:t>Russell    Beale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8" name="Text Box 6">
            <a:extLst>
              <a:ext uri="{FF2B5EF4-FFF2-40B4-BE49-F238E27FC236}">
                <a16:creationId xmlns:a16="http://schemas.microsoft.com/office/drawing/2014/main" id="{9AE61E21-BD5B-9C17-11A4-020EC129E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810000"/>
            <a:ext cx="1762125" cy="1219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>
                <a:latin typeface="Times New Roman" panose="02020603050405020304" pitchFamily="18" charset="0"/>
              </a:rPr>
              <a:t>Dix , Alan</a:t>
            </a:r>
          </a:p>
          <a:p>
            <a:r>
              <a:rPr lang="en-US" altLang="en-US" sz="1800">
                <a:latin typeface="Times New Roman" panose="02020603050405020304" pitchFamily="18" charset="0"/>
              </a:rPr>
              <a:t>Finlay, Janet</a:t>
            </a:r>
          </a:p>
          <a:p>
            <a:r>
              <a:rPr lang="en-US" altLang="en-US" sz="1800">
                <a:latin typeface="Times New Roman" panose="02020603050405020304" pitchFamily="18" charset="0"/>
              </a:rPr>
              <a:t>Abowd, Gregory</a:t>
            </a:r>
          </a:p>
          <a:p>
            <a:r>
              <a:rPr lang="en-US" altLang="en-US" sz="1800">
                <a:latin typeface="Times New Roman" panose="02020603050405020304" pitchFamily="18" charset="0"/>
              </a:rPr>
              <a:t>Beale, Russell</a:t>
            </a:r>
          </a:p>
        </p:txBody>
      </p:sp>
      <p:sp>
        <p:nvSpPr>
          <p:cNvPr id="59399" name="Text Box 7">
            <a:extLst>
              <a:ext uri="{FF2B5EF4-FFF2-40B4-BE49-F238E27FC236}">
                <a16:creationId xmlns:a16="http://schemas.microsoft.com/office/drawing/2014/main" id="{C3BACA64-FEEC-A7AC-60AD-E83110F94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928938"/>
            <a:ext cx="9588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9600">
                <a:solidFill>
                  <a:srgbClr val="FF0000"/>
                </a:solidFill>
                <a:latin typeface="Times New Roman" panose="02020603050405020304" pitchFamily="18" charset="0"/>
                <a:sym typeface="Wingdings" pitchFamily="2" charset="2"/>
              </a:rPr>
              <a:t>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400" name="Text Box 8">
            <a:extLst>
              <a:ext uri="{FF2B5EF4-FFF2-40B4-BE49-F238E27FC236}">
                <a16:creationId xmlns:a16="http://schemas.microsoft.com/office/drawing/2014/main" id="{BACC21D4-36CD-E815-2040-7A0C3A8E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157538"/>
            <a:ext cx="1141413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FF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9600">
                <a:solidFill>
                  <a:srgbClr val="66FF33"/>
                </a:solidFill>
                <a:latin typeface="Times New Roman" panose="02020603050405020304" pitchFamily="18" charset="0"/>
                <a:sym typeface="Wingdings" pitchFamily="2" charset="2"/>
              </a:rPr>
              <a:t></a:t>
            </a:r>
            <a:endParaRPr lang="en-US" altLang="en-US" sz="9600">
              <a:solidFill>
                <a:srgbClr val="66FF33"/>
              </a:solidFill>
              <a:latin typeface="Times New Roman" panose="02020603050405020304" pitchFamily="18" charset="0"/>
              <a:sym typeface="Wingdings 2" pitchFamily="2" charset="2"/>
            </a:endParaRPr>
          </a:p>
        </p:txBody>
      </p:sp>
      <p:sp>
        <p:nvSpPr>
          <p:cNvPr id="59401" name="Text Box 9">
            <a:extLst>
              <a:ext uri="{FF2B5EF4-FFF2-40B4-BE49-F238E27FC236}">
                <a16:creationId xmlns:a16="http://schemas.microsoft.com/office/drawing/2014/main" id="{88069F2E-4AD2-A881-3DF0-C0DC8CFF9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148138"/>
            <a:ext cx="1141413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FF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9600">
                <a:solidFill>
                  <a:srgbClr val="66FF33"/>
                </a:solidFill>
                <a:latin typeface="Times New Roman" panose="02020603050405020304" pitchFamily="18" charset="0"/>
                <a:sym typeface="Wingdings" pitchFamily="2" charset="2"/>
              </a:rPr>
              <a:t>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7A16CAC-2C9C-9661-1050-3E0A65E67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alignment - numbers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D1994909-8101-F47F-FA55-EDA3D93DD9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think purpose!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which is biggest?</a:t>
            </a:r>
          </a:p>
          <a:p>
            <a:endParaRPr lang="en-US" altLang="en-US"/>
          </a:p>
        </p:txBody>
      </p:sp>
      <p:sp>
        <p:nvSpPr>
          <p:cNvPr id="60420" name="Text Box 4">
            <a:extLst>
              <a:ext uri="{FF2B5EF4-FFF2-40B4-BE49-F238E27FC236}">
                <a16:creationId xmlns:a16="http://schemas.microsoft.com/office/drawing/2014/main" id="{6F0320A6-C0EB-2761-3626-2F52F94A3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133600"/>
            <a:ext cx="1828800" cy="40195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050925">
              <a:defRPr sz="2400">
                <a:solidFill>
                  <a:schemeClr val="tx1"/>
                </a:solidFill>
                <a:latin typeface="Times" charset="0"/>
              </a:defRPr>
            </a:lvl1pPr>
            <a:lvl2pPr defTabSz="1050925">
              <a:defRPr sz="2400">
                <a:solidFill>
                  <a:schemeClr val="tx1"/>
                </a:solidFill>
                <a:latin typeface="Times" charset="0"/>
              </a:defRPr>
            </a:lvl2pPr>
            <a:lvl3pPr defTabSz="1050925">
              <a:defRPr sz="2400">
                <a:solidFill>
                  <a:schemeClr val="tx1"/>
                </a:solidFill>
                <a:latin typeface="Times" charset="0"/>
              </a:defRPr>
            </a:lvl3pPr>
            <a:lvl4pPr defTabSz="1050925">
              <a:defRPr sz="2400">
                <a:solidFill>
                  <a:schemeClr val="tx1"/>
                </a:solidFill>
                <a:latin typeface="Times" charset="0"/>
              </a:defRPr>
            </a:lvl4pPr>
            <a:lvl5pPr defTabSz="1050925">
              <a:defRPr sz="2400">
                <a:solidFill>
                  <a:schemeClr val="tx1"/>
                </a:solidFill>
                <a:latin typeface="Times" charset="0"/>
              </a:defRPr>
            </a:lvl5pPr>
            <a:lvl6pPr defTabSz="1050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defTabSz="1050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defTabSz="1050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defTabSz="1050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532.56</a:t>
            </a:r>
            <a:br>
              <a:rPr lang="en-US" altLang="en-US" sz="3200">
                <a:latin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</a:rPr>
              <a:t>179.3</a:t>
            </a:r>
            <a:br>
              <a:rPr lang="en-US" altLang="en-US" sz="3200">
                <a:latin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</a:rPr>
              <a:t>256.317</a:t>
            </a:r>
            <a:br>
              <a:rPr lang="en-US" altLang="en-US" sz="3200">
                <a:latin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</a:rPr>
              <a:t>15</a:t>
            </a:r>
            <a:br>
              <a:rPr lang="en-US" altLang="en-US" sz="3200">
                <a:latin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</a:rPr>
              <a:t>73.948</a:t>
            </a:r>
            <a:br>
              <a:rPr lang="en-US" altLang="en-US" sz="3200">
                <a:latin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</a:rPr>
              <a:t>1035</a:t>
            </a:r>
            <a:br>
              <a:rPr lang="en-US" altLang="en-US" sz="3200">
                <a:latin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</a:rPr>
              <a:t>3.142</a:t>
            </a:r>
            <a:br>
              <a:rPr lang="en-US" altLang="en-US" sz="3200">
                <a:latin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</a:rPr>
              <a:t>497.6256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60421" name="Picture 5">
            <a:extLst>
              <a:ext uri="{FF2B5EF4-FFF2-40B4-BE49-F238E27FC236}">
                <a16:creationId xmlns:a16="http://schemas.microsoft.com/office/drawing/2014/main" id="{1EF02FBB-9101-A7F5-2F2F-C62D6EAC7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609600"/>
            <a:ext cx="45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4C083AE-C13D-C372-28A7-779AD8C94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alignment - numbers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C4A14311-90BD-B122-5141-CE0CB899EE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 sz="2400"/>
              <a:t>visually:</a:t>
            </a:r>
          </a:p>
          <a:p>
            <a:pPr>
              <a:buFontTx/>
              <a:buNone/>
            </a:pPr>
            <a:r>
              <a:rPr lang="en-US" altLang="en-US" sz="2400"/>
              <a:t> long number = big number</a:t>
            </a:r>
          </a:p>
          <a:p>
            <a:pPr>
              <a:buFontTx/>
              <a:buNone/>
            </a:pPr>
            <a:endParaRPr lang="en-US" altLang="en-US" sz="2400"/>
          </a:p>
          <a:p>
            <a:pPr>
              <a:buFontTx/>
              <a:buNone/>
            </a:pPr>
            <a:r>
              <a:rPr lang="en-US" altLang="en-US" sz="2400"/>
              <a:t>align decimal points</a:t>
            </a:r>
          </a:p>
          <a:p>
            <a:pPr>
              <a:buFontTx/>
              <a:buNone/>
            </a:pPr>
            <a:r>
              <a:rPr lang="en-US" altLang="en-US" sz="2400"/>
              <a:t>or right align integers</a:t>
            </a:r>
          </a:p>
          <a:p>
            <a:endParaRPr lang="en-US" altLang="en-US" sz="2400"/>
          </a:p>
        </p:txBody>
      </p:sp>
      <p:sp>
        <p:nvSpPr>
          <p:cNvPr id="61444" name="Text Box 4">
            <a:extLst>
              <a:ext uri="{FF2B5EF4-FFF2-40B4-BE49-F238E27FC236}">
                <a16:creationId xmlns:a16="http://schemas.microsoft.com/office/drawing/2014/main" id="{D3D32C83-B344-4F51-6A51-0C98D10AA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209800"/>
            <a:ext cx="2895600" cy="40195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854075">
              <a:tabLst>
                <a:tab pos="1236663" algn="dec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 defTabSz="854075">
              <a:tabLst>
                <a:tab pos="1236663" algn="dec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 defTabSz="854075">
              <a:tabLst>
                <a:tab pos="1236663" algn="dec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 defTabSz="854075">
              <a:tabLst>
                <a:tab pos="1236663" algn="dec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 defTabSz="854075">
              <a:tabLst>
                <a:tab pos="1236663" algn="dec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defTabSz="854075" eaLnBrk="0" fontAlgn="base" hangingPunct="0">
              <a:spcBef>
                <a:spcPct val="0"/>
              </a:spcBef>
              <a:spcAft>
                <a:spcPct val="0"/>
              </a:spcAft>
              <a:tabLst>
                <a:tab pos="1236663" algn="dec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defTabSz="854075" eaLnBrk="0" fontAlgn="base" hangingPunct="0">
              <a:spcBef>
                <a:spcPct val="0"/>
              </a:spcBef>
              <a:spcAft>
                <a:spcPct val="0"/>
              </a:spcAft>
              <a:tabLst>
                <a:tab pos="1236663" algn="dec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defTabSz="854075" eaLnBrk="0" fontAlgn="base" hangingPunct="0">
              <a:spcBef>
                <a:spcPct val="0"/>
              </a:spcBef>
              <a:spcAft>
                <a:spcPct val="0"/>
              </a:spcAft>
              <a:tabLst>
                <a:tab pos="1236663" algn="dec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defTabSz="854075" eaLnBrk="0" fontAlgn="base" hangingPunct="0">
              <a:spcBef>
                <a:spcPct val="0"/>
              </a:spcBef>
              <a:spcAft>
                <a:spcPct val="0"/>
              </a:spcAft>
              <a:tabLst>
                <a:tab pos="1236663" algn="dec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	627.865</a:t>
            </a:r>
            <a:br>
              <a:rPr lang="en-US" altLang="en-US" sz="3200">
                <a:latin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</a:rPr>
              <a:t>	1.005763</a:t>
            </a:r>
            <a:br>
              <a:rPr lang="en-US" altLang="en-US" sz="3200">
                <a:latin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</a:rPr>
              <a:t>	382.583</a:t>
            </a:r>
            <a:br>
              <a:rPr lang="en-US" altLang="en-US" sz="3200">
                <a:latin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</a:rPr>
              <a:t>	2502.56</a:t>
            </a:r>
            <a:br>
              <a:rPr lang="en-US" altLang="en-US" sz="3200">
                <a:latin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</a:rPr>
              <a:t>	432.935</a:t>
            </a:r>
            <a:br>
              <a:rPr lang="en-US" altLang="en-US" sz="3200">
                <a:latin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</a:rPr>
              <a:t>	2.0175</a:t>
            </a:r>
            <a:br>
              <a:rPr lang="en-US" altLang="en-US" sz="3200">
                <a:latin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</a:rPr>
              <a:t>	652.87</a:t>
            </a:r>
            <a:br>
              <a:rPr lang="en-US" altLang="en-US" sz="3200">
                <a:latin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</a:rPr>
              <a:t>	56.34</a:t>
            </a:r>
          </a:p>
        </p:txBody>
      </p:sp>
      <p:pic>
        <p:nvPicPr>
          <p:cNvPr id="61446" name="Picture 6">
            <a:extLst>
              <a:ext uri="{FF2B5EF4-FFF2-40B4-BE49-F238E27FC236}">
                <a16:creationId xmlns:a16="http://schemas.microsoft.com/office/drawing/2014/main" id="{E25EE7BE-CDEA-59FF-28FF-0006A0129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609600"/>
            <a:ext cx="452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2355B7B7-DBEF-E675-8B9C-BF189780F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multiple  columns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39EB2A1-43C5-FB8B-3590-07ED7D05BA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scanning across gaps hard:</a:t>
            </a:r>
            <a:br>
              <a:rPr lang="en-US" altLang="en-US"/>
            </a:br>
            <a:r>
              <a:rPr lang="en-US" altLang="en-US"/>
              <a:t>		</a:t>
            </a:r>
            <a:r>
              <a:rPr lang="en-US" altLang="en-US" sz="1800"/>
              <a:t>(often hard to avoid with large data base fields)</a:t>
            </a:r>
            <a:endParaRPr lang="en-US" altLang="en-US"/>
          </a:p>
          <a:p>
            <a:endParaRPr lang="en-US" altLang="en-US"/>
          </a:p>
        </p:txBody>
      </p:sp>
      <p:sp>
        <p:nvSpPr>
          <p:cNvPr id="62468" name="Text Box 4">
            <a:extLst>
              <a:ext uri="{FF2B5EF4-FFF2-40B4-BE49-F238E27FC236}">
                <a16:creationId xmlns:a16="http://schemas.microsoft.com/office/drawing/2014/main" id="{0FAE5F80-5161-F053-FADE-519DFA89C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505200"/>
            <a:ext cx="6324600" cy="1974850"/>
          </a:xfrm>
          <a:prstGeom prst="rect">
            <a:avLst/>
          </a:prstGeom>
          <a:noFill/>
          <a:ln w="571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527175"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 defTabSz="1527175"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 defTabSz="1527175"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 defTabSz="1527175"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 defTabSz="1527175"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defTabSz="1527175" eaLnBrk="0" fontAlgn="base" hangingPunct="0">
              <a:spcBef>
                <a:spcPct val="0"/>
              </a:spcBef>
              <a:spcAft>
                <a:spcPct val="0"/>
              </a:spcAft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defTabSz="1527175" eaLnBrk="0" fontAlgn="base" hangingPunct="0">
              <a:spcBef>
                <a:spcPct val="0"/>
              </a:spcBef>
              <a:spcAft>
                <a:spcPct val="0"/>
              </a:spcAft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defTabSz="1527175" eaLnBrk="0" fontAlgn="base" hangingPunct="0">
              <a:spcBef>
                <a:spcPct val="0"/>
              </a:spcBef>
              <a:spcAft>
                <a:spcPct val="0"/>
              </a:spcAft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defTabSz="1527175" eaLnBrk="0" fontAlgn="base" hangingPunct="0">
              <a:spcBef>
                <a:spcPct val="0"/>
              </a:spcBef>
              <a:spcAft>
                <a:spcPct val="0"/>
              </a:spcAft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sherbert	75</a:t>
            </a:r>
            <a:br>
              <a:rPr lang="en-US" altLang="en-US">
                <a:latin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</a:rPr>
              <a:t>toffee	120</a:t>
            </a:r>
            <a:br>
              <a:rPr lang="en-US" altLang="en-US">
                <a:latin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</a:rPr>
              <a:t>chocolate	35</a:t>
            </a:r>
            <a:br>
              <a:rPr lang="en-US" altLang="en-US">
                <a:latin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</a:rPr>
              <a:t>fruit gums	27</a:t>
            </a:r>
            <a:br>
              <a:rPr lang="en-US" altLang="en-US">
                <a:latin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</a:rPr>
              <a:t>coconut dreams	85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1117D47E-2A41-7364-149F-E9A82A4280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multiple  columns - </a:t>
            </a:r>
            <a:r>
              <a:rPr lang="en-US" altLang="en-US" sz="2800">
                <a:solidFill>
                  <a:schemeClr val="tx1"/>
                </a:solidFill>
              </a:rPr>
              <a:t>2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B09B4572-1BED-6D86-EB16-B2C1D4C55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 leaders </a:t>
            </a:r>
          </a:p>
          <a:p>
            <a:pPr lvl="1">
              <a:buFontTx/>
              <a:buNone/>
            </a:pPr>
            <a:endParaRPr lang="en-US" altLang="en-US"/>
          </a:p>
          <a:p>
            <a:endParaRPr lang="en-US" altLang="en-US"/>
          </a:p>
        </p:txBody>
      </p:sp>
      <p:grpSp>
        <p:nvGrpSpPr>
          <p:cNvPr id="63500" name="Group 12">
            <a:extLst>
              <a:ext uri="{FF2B5EF4-FFF2-40B4-BE49-F238E27FC236}">
                <a16:creationId xmlns:a16="http://schemas.microsoft.com/office/drawing/2014/main" id="{57472832-13C0-6E1C-C213-4F335310B820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3505200"/>
            <a:ext cx="6324600" cy="1974850"/>
            <a:chOff x="816" y="2208"/>
            <a:chExt cx="3984" cy="1244"/>
          </a:xfrm>
        </p:grpSpPr>
        <p:sp>
          <p:nvSpPr>
            <p:cNvPr id="63493" name="Text Box 5">
              <a:extLst>
                <a:ext uri="{FF2B5EF4-FFF2-40B4-BE49-F238E27FC236}">
                  <a16:creationId xmlns:a16="http://schemas.microsoft.com/office/drawing/2014/main" id="{EC1F5724-7A46-6AC5-6189-9F180B899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208"/>
              <a:ext cx="3984" cy="1244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527175">
                <a:tabLst>
                  <a:tab pos="5813425" algn="r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defTabSz="1527175">
                <a:tabLst>
                  <a:tab pos="5813425" algn="r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defTabSz="1527175">
                <a:tabLst>
                  <a:tab pos="5813425" algn="r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defTabSz="1527175">
                <a:tabLst>
                  <a:tab pos="5813425" algn="r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defTabSz="1527175">
                <a:tabLst>
                  <a:tab pos="5813425" algn="r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defTabSz="15271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813425" algn="r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defTabSz="15271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813425" algn="r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defTabSz="15271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813425" algn="r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defTabSz="15271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813425" algn="r"/>
                </a:tabLs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latin typeface="Arial" panose="020B0604020202020204" pitchFamily="34" charset="0"/>
                </a:rPr>
                <a:t>sherbert	75</a:t>
              </a:r>
              <a:br>
                <a:rPr lang="en-US" altLang="en-US">
                  <a:latin typeface="Arial" panose="020B0604020202020204" pitchFamily="34" charset="0"/>
                </a:rPr>
              </a:br>
              <a:r>
                <a:rPr lang="en-US" altLang="en-US">
                  <a:latin typeface="Arial" panose="020B0604020202020204" pitchFamily="34" charset="0"/>
                </a:rPr>
                <a:t>toffee	120</a:t>
              </a:r>
              <a:br>
                <a:rPr lang="en-US" altLang="en-US">
                  <a:latin typeface="Arial" panose="020B0604020202020204" pitchFamily="34" charset="0"/>
                </a:rPr>
              </a:br>
              <a:r>
                <a:rPr lang="en-US" altLang="en-US">
                  <a:latin typeface="Arial" panose="020B0604020202020204" pitchFamily="34" charset="0"/>
                </a:rPr>
                <a:t>chocolate	35</a:t>
              </a:r>
              <a:br>
                <a:rPr lang="en-US" altLang="en-US">
                  <a:latin typeface="Arial" panose="020B0604020202020204" pitchFamily="34" charset="0"/>
                </a:rPr>
              </a:br>
              <a:r>
                <a:rPr lang="en-US" altLang="en-US">
                  <a:latin typeface="Arial" panose="020B0604020202020204" pitchFamily="34" charset="0"/>
                </a:rPr>
                <a:t>fruit gums	27</a:t>
              </a:r>
              <a:br>
                <a:rPr lang="en-US" altLang="en-US">
                  <a:latin typeface="Arial" panose="020B0604020202020204" pitchFamily="34" charset="0"/>
                </a:rPr>
              </a:br>
              <a:r>
                <a:rPr lang="en-US" altLang="en-US">
                  <a:latin typeface="Arial" panose="020B0604020202020204" pitchFamily="34" charset="0"/>
                </a:rPr>
                <a:t>coconut dreams	85</a:t>
              </a:r>
            </a:p>
          </p:txBody>
        </p:sp>
        <p:sp>
          <p:nvSpPr>
            <p:cNvPr id="63494" name="Line 6">
              <a:extLst>
                <a:ext uri="{FF2B5EF4-FFF2-40B4-BE49-F238E27FC236}">
                  <a16:creationId xmlns:a16="http://schemas.microsoft.com/office/drawing/2014/main" id="{531FD83D-053B-764C-C1D3-46B42869A4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408"/>
              <a:ext cx="2592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3495" name="Line 7">
              <a:extLst>
                <a:ext uri="{FF2B5EF4-FFF2-40B4-BE49-F238E27FC236}">
                  <a16:creationId xmlns:a16="http://schemas.microsoft.com/office/drawing/2014/main" id="{9E49A06B-51A3-BF27-FFBC-7F33AAECE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648"/>
              <a:ext cx="27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3496" name="Line 8">
              <a:extLst>
                <a:ext uri="{FF2B5EF4-FFF2-40B4-BE49-F238E27FC236}">
                  <a16:creationId xmlns:a16="http://schemas.microsoft.com/office/drawing/2014/main" id="{98A63411-29D0-1388-DCF4-F25D0657E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888"/>
              <a:ext cx="249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3497" name="Line 9">
              <a:extLst>
                <a:ext uri="{FF2B5EF4-FFF2-40B4-BE49-F238E27FC236}">
                  <a16:creationId xmlns:a16="http://schemas.microsoft.com/office/drawing/2014/main" id="{72CFE084-C0D3-8529-0B0E-A1B2FAA37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128"/>
              <a:ext cx="249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3498" name="Line 10">
              <a:extLst>
                <a:ext uri="{FF2B5EF4-FFF2-40B4-BE49-F238E27FC236}">
                  <a16:creationId xmlns:a16="http://schemas.microsoft.com/office/drawing/2014/main" id="{FF10109F-1FFD-1378-AC7B-6E75940D7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320"/>
              <a:ext cx="1968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773B4A1-9E02-9916-8076-17DD6C3A2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724400"/>
            <a:ext cx="6172200" cy="3048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B41BB991-3C3D-914A-9073-6F6843421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962400"/>
            <a:ext cx="6172200" cy="3048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D95AB15E-DE47-7EDB-44E9-04582949F9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multiple  columns - </a:t>
            </a:r>
            <a:r>
              <a:rPr lang="en-US" alt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1BFEA7D1-14BE-DDF4-EA60-38D049E747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or greying    (vertical too)</a:t>
            </a:r>
          </a:p>
          <a:p>
            <a:endParaRPr lang="en-US" altLang="en-US"/>
          </a:p>
        </p:txBody>
      </p:sp>
      <p:sp>
        <p:nvSpPr>
          <p:cNvPr id="64518" name="Text Box 6">
            <a:extLst>
              <a:ext uri="{FF2B5EF4-FFF2-40B4-BE49-F238E27FC236}">
                <a16:creationId xmlns:a16="http://schemas.microsoft.com/office/drawing/2014/main" id="{095E394C-E073-32AE-C56D-96A783515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92500"/>
            <a:ext cx="6324600" cy="1974850"/>
          </a:xfrm>
          <a:prstGeom prst="rect">
            <a:avLst/>
          </a:prstGeom>
          <a:noFill/>
          <a:ln w="571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527175"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 defTabSz="1527175"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 defTabSz="1527175"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 defTabSz="1527175"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 defTabSz="1527175"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defTabSz="1527175" eaLnBrk="0" fontAlgn="base" hangingPunct="0">
              <a:spcBef>
                <a:spcPct val="0"/>
              </a:spcBef>
              <a:spcAft>
                <a:spcPct val="0"/>
              </a:spcAft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defTabSz="1527175" eaLnBrk="0" fontAlgn="base" hangingPunct="0">
              <a:spcBef>
                <a:spcPct val="0"/>
              </a:spcBef>
              <a:spcAft>
                <a:spcPct val="0"/>
              </a:spcAft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defTabSz="1527175" eaLnBrk="0" fontAlgn="base" hangingPunct="0">
              <a:spcBef>
                <a:spcPct val="0"/>
              </a:spcBef>
              <a:spcAft>
                <a:spcPct val="0"/>
              </a:spcAft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defTabSz="1527175" eaLnBrk="0" fontAlgn="base" hangingPunct="0">
              <a:spcBef>
                <a:spcPct val="0"/>
              </a:spcBef>
              <a:spcAft>
                <a:spcPct val="0"/>
              </a:spcAft>
              <a:tabLst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sherbert	75</a:t>
            </a:r>
            <a:br>
              <a:rPr lang="en-US" altLang="en-US">
                <a:latin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</a:rPr>
              <a:t>toffee	120</a:t>
            </a:r>
            <a:br>
              <a:rPr lang="en-US" altLang="en-US">
                <a:latin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</a:rPr>
              <a:t>chocolate	35</a:t>
            </a:r>
            <a:br>
              <a:rPr lang="en-US" altLang="en-US">
                <a:latin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</a:rPr>
              <a:t>fruit gums	27</a:t>
            </a:r>
            <a:br>
              <a:rPr lang="en-US" altLang="en-US">
                <a:latin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</a:rPr>
              <a:t>coconut dreams	85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>
            <a:extLst>
              <a:ext uri="{FF2B5EF4-FFF2-40B4-BE49-F238E27FC236}">
                <a16:creationId xmlns:a16="http://schemas.microsoft.com/office/drawing/2014/main" id="{2BB99B56-E6DB-DF0D-8A6B-751DD513B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505200"/>
            <a:ext cx="6324600" cy="1974850"/>
          </a:xfrm>
          <a:prstGeom prst="rect">
            <a:avLst/>
          </a:prstGeom>
          <a:noFill/>
          <a:ln w="571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527175">
              <a:tabLst>
                <a:tab pos="5146675" algn="r"/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1pPr>
            <a:lvl2pPr defTabSz="1527175">
              <a:tabLst>
                <a:tab pos="5146675" algn="r"/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2pPr>
            <a:lvl3pPr defTabSz="1527175">
              <a:tabLst>
                <a:tab pos="5146675" algn="r"/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3pPr>
            <a:lvl4pPr defTabSz="1527175">
              <a:tabLst>
                <a:tab pos="5146675" algn="r"/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4pPr>
            <a:lvl5pPr defTabSz="1527175">
              <a:tabLst>
                <a:tab pos="5146675" algn="r"/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5pPr>
            <a:lvl6pPr defTabSz="1527175" eaLnBrk="0" fontAlgn="base" hangingPunct="0">
              <a:spcBef>
                <a:spcPct val="0"/>
              </a:spcBef>
              <a:spcAft>
                <a:spcPct val="0"/>
              </a:spcAft>
              <a:tabLst>
                <a:tab pos="5146675" algn="r"/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6pPr>
            <a:lvl7pPr defTabSz="1527175" eaLnBrk="0" fontAlgn="base" hangingPunct="0">
              <a:spcBef>
                <a:spcPct val="0"/>
              </a:spcBef>
              <a:spcAft>
                <a:spcPct val="0"/>
              </a:spcAft>
              <a:tabLst>
                <a:tab pos="5146675" algn="r"/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7pPr>
            <a:lvl8pPr defTabSz="1527175" eaLnBrk="0" fontAlgn="base" hangingPunct="0">
              <a:spcBef>
                <a:spcPct val="0"/>
              </a:spcBef>
              <a:spcAft>
                <a:spcPct val="0"/>
              </a:spcAft>
              <a:tabLst>
                <a:tab pos="5146675" algn="r"/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8pPr>
            <a:lvl9pPr defTabSz="1527175" eaLnBrk="0" fontAlgn="base" hangingPunct="0">
              <a:spcBef>
                <a:spcPct val="0"/>
              </a:spcBef>
              <a:spcAft>
                <a:spcPct val="0"/>
              </a:spcAft>
              <a:tabLst>
                <a:tab pos="5146675" algn="r"/>
                <a:tab pos="5900738" algn="r"/>
              </a:tabLs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	sherbert	75</a:t>
            </a:r>
            <a:br>
              <a:rPr lang="en-US" altLang="en-US">
                <a:latin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</a:rPr>
              <a:t>	toffee	120</a:t>
            </a:r>
            <a:br>
              <a:rPr lang="en-US" altLang="en-US">
                <a:latin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</a:rPr>
              <a:t>	chocolate	35</a:t>
            </a:r>
            <a:br>
              <a:rPr lang="en-US" altLang="en-US">
                <a:latin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</a:rPr>
              <a:t>	fruit gums	27</a:t>
            </a:r>
            <a:br>
              <a:rPr lang="en-US" altLang="en-US">
                <a:latin typeface="Arial" panose="020B0604020202020204" pitchFamily="34" charset="0"/>
              </a:rPr>
            </a:br>
            <a:r>
              <a:rPr lang="en-US" altLang="en-US">
                <a:latin typeface="Arial" panose="020B0604020202020204" pitchFamily="34" charset="0"/>
              </a:rPr>
              <a:t>	coconut dreams	85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6912B36-0DD1-65BE-CBFE-3A0834288C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multiple  columns - </a:t>
            </a:r>
            <a:r>
              <a:rPr lang="en-US" altLang="en-US" sz="280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6D5F141C-9E45-98C1-3085-A46E84080C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or even (with care!) ‘bad’ alignment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8D223359-D95D-E319-3AE4-BA13D815D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white space - the counter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2C4DFA52-592B-4428-8C4F-A7EB074B1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 sz="1600"/>
          </a:p>
        </p:txBody>
      </p:sp>
      <p:sp>
        <p:nvSpPr>
          <p:cNvPr id="66564" name="Text Box 4">
            <a:extLst>
              <a:ext uri="{FF2B5EF4-FFF2-40B4-BE49-F238E27FC236}">
                <a16:creationId xmlns:a16="http://schemas.microsoft.com/office/drawing/2014/main" id="{DD685B3D-5C6F-F682-8DC2-E71E82A1D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605088"/>
            <a:ext cx="5432425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4800">
                <a:latin typeface="Arial Black" panose="020B0604020202020204" pitchFamily="34" charset="0"/>
              </a:rPr>
              <a:t>WHAT YOU SEE</a:t>
            </a: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475C44C2-A19A-51E4-75EE-8FB600E219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white space - the counter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78D82D6-BD8B-CF62-40F4-16EE0D7E42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 sz="1600"/>
          </a:p>
        </p:txBody>
      </p:sp>
      <p:sp>
        <p:nvSpPr>
          <p:cNvPr id="67588" name="Text Box 4">
            <a:extLst>
              <a:ext uri="{FF2B5EF4-FFF2-40B4-BE49-F238E27FC236}">
                <a16:creationId xmlns:a16="http://schemas.microsoft.com/office/drawing/2014/main" id="{A5D5C58B-45A0-2772-CAE0-3997A202A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605088"/>
            <a:ext cx="5432425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4800">
                <a:latin typeface="Arial Black" panose="020B0604020202020204" pitchFamily="34" charset="0"/>
              </a:rPr>
              <a:t>WHAT YOU SEE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grpSp>
        <p:nvGrpSpPr>
          <p:cNvPr id="67589" name="Group 5">
            <a:extLst>
              <a:ext uri="{FF2B5EF4-FFF2-40B4-BE49-F238E27FC236}">
                <a16:creationId xmlns:a16="http://schemas.microsoft.com/office/drawing/2014/main" id="{E128857D-04F5-508B-B985-B9901E4A4683}"/>
              </a:ext>
            </a:extLst>
          </p:cNvPr>
          <p:cNvGrpSpPr>
            <a:grpSpLocks/>
          </p:cNvGrpSpPr>
          <p:nvPr/>
        </p:nvGrpSpPr>
        <p:grpSpPr bwMode="auto">
          <a:xfrm>
            <a:off x="403225" y="4191000"/>
            <a:ext cx="8512175" cy="952500"/>
            <a:chOff x="254" y="2496"/>
            <a:chExt cx="5362" cy="600"/>
          </a:xfrm>
        </p:grpSpPr>
        <p:sp>
          <p:nvSpPr>
            <p:cNvPr id="67590" name="Rectangle 6">
              <a:extLst>
                <a:ext uri="{FF2B5EF4-FFF2-40B4-BE49-F238E27FC236}">
                  <a16:creationId xmlns:a16="http://schemas.microsoft.com/office/drawing/2014/main" id="{558A2415-12C2-0720-3B71-131540F48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688"/>
              <a:ext cx="5184" cy="24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7591" name="Text Box 7">
              <a:extLst>
                <a:ext uri="{FF2B5EF4-FFF2-40B4-BE49-F238E27FC236}">
                  <a16:creationId xmlns:a16="http://schemas.microsoft.com/office/drawing/2014/main" id="{1E74E47E-864D-7761-2F01-D306BDD02D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" y="2496"/>
              <a:ext cx="5362" cy="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4800" b="1">
                  <a:solidFill>
                    <a:schemeClr val="bg1"/>
                  </a:solidFill>
                  <a:latin typeface="Arial Black" panose="020B0604020202020204" pitchFamily="34" charset="0"/>
                </a:rPr>
                <a:t>THE  GAPS  BETWEEN</a:t>
              </a:r>
              <a:endParaRPr lang="en-US" altLang="en-US" sz="48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9D97031C-EC1A-D513-DB57-4FC23BF93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space to separate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150D0D8-DE01-E12D-98A4-2E64DC5259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517650"/>
            <a:endParaRPr lang="en-US" altLang="en-US" sz="900"/>
          </a:p>
        </p:txBody>
      </p:sp>
      <p:grpSp>
        <p:nvGrpSpPr>
          <p:cNvPr id="68612" name="Group 4">
            <a:extLst>
              <a:ext uri="{FF2B5EF4-FFF2-40B4-BE49-F238E27FC236}">
                <a16:creationId xmlns:a16="http://schemas.microsoft.com/office/drawing/2014/main" id="{597957AD-9823-3137-4389-5C387B9D1519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2438400"/>
            <a:ext cx="3200400" cy="3352800"/>
            <a:chOff x="1776" y="1536"/>
            <a:chExt cx="2016" cy="2112"/>
          </a:xfrm>
        </p:grpSpPr>
        <p:sp>
          <p:nvSpPr>
            <p:cNvPr id="68613" name="Rectangle 5">
              <a:extLst>
                <a:ext uri="{FF2B5EF4-FFF2-40B4-BE49-F238E27FC236}">
                  <a16:creationId xmlns:a16="http://schemas.microsoft.com/office/drawing/2014/main" id="{18712AEA-4783-C8AB-17B4-BFA9A6CD2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536"/>
              <a:ext cx="2016" cy="57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8614" name="Rectangle 6">
              <a:extLst>
                <a:ext uri="{FF2B5EF4-FFF2-40B4-BE49-F238E27FC236}">
                  <a16:creationId xmlns:a16="http://schemas.microsoft.com/office/drawing/2014/main" id="{91610CFF-A0E4-A18B-9046-A6283646C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304"/>
              <a:ext cx="2016" cy="57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8615" name="Rectangle 7">
              <a:extLst>
                <a:ext uri="{FF2B5EF4-FFF2-40B4-BE49-F238E27FC236}">
                  <a16:creationId xmlns:a16="http://schemas.microsoft.com/office/drawing/2014/main" id="{98BEAAA6-CF52-8BEC-E47D-EC5F32766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072"/>
              <a:ext cx="2016" cy="57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B7673646-E10E-48FC-6584-2A06E133DE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space to structure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97945A20-F136-5DE7-4235-EC3EF18F14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517650"/>
            <a:endParaRPr lang="en-US" altLang="en-US" sz="900"/>
          </a:p>
        </p:txBody>
      </p:sp>
      <p:grpSp>
        <p:nvGrpSpPr>
          <p:cNvPr id="69636" name="Group 4">
            <a:extLst>
              <a:ext uri="{FF2B5EF4-FFF2-40B4-BE49-F238E27FC236}">
                <a16:creationId xmlns:a16="http://schemas.microsoft.com/office/drawing/2014/main" id="{0AA118D6-D331-1CA3-20BD-90A13FD2D258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438400"/>
            <a:ext cx="5486400" cy="3276600"/>
            <a:chOff x="1152" y="1536"/>
            <a:chExt cx="3456" cy="2064"/>
          </a:xfrm>
        </p:grpSpPr>
        <p:sp>
          <p:nvSpPr>
            <p:cNvPr id="69637" name="Rectangle 5">
              <a:extLst>
                <a:ext uri="{FF2B5EF4-FFF2-40B4-BE49-F238E27FC236}">
                  <a16:creationId xmlns:a16="http://schemas.microsoft.com/office/drawing/2014/main" id="{005F6CEC-6245-AEF1-ADC8-46B59849C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688"/>
              <a:ext cx="1584" cy="9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9638" name="Rectangle 6">
              <a:extLst>
                <a:ext uri="{FF2B5EF4-FFF2-40B4-BE49-F238E27FC236}">
                  <a16:creationId xmlns:a16="http://schemas.microsoft.com/office/drawing/2014/main" id="{9A99685B-B3A0-9345-CC53-DC059477C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688"/>
              <a:ext cx="1584" cy="9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9639" name="Rectangle 7">
              <a:extLst>
                <a:ext uri="{FF2B5EF4-FFF2-40B4-BE49-F238E27FC236}">
                  <a16:creationId xmlns:a16="http://schemas.microsoft.com/office/drawing/2014/main" id="{E1B55F44-D19D-FD9A-EC77-5F305298A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536"/>
              <a:ext cx="1584" cy="9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69640" name="Group 8">
              <a:extLst>
                <a:ext uri="{FF2B5EF4-FFF2-40B4-BE49-F238E27FC236}">
                  <a16:creationId xmlns:a16="http://schemas.microsoft.com/office/drawing/2014/main" id="{97F01ED5-4776-26F5-9C4D-CFD47A0721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536"/>
              <a:ext cx="1584" cy="912"/>
              <a:chOff x="1056" y="1440"/>
              <a:chExt cx="1584" cy="912"/>
            </a:xfrm>
          </p:grpSpPr>
          <p:sp>
            <p:nvSpPr>
              <p:cNvPr id="69641" name="Rectangle 9">
                <a:extLst>
                  <a:ext uri="{FF2B5EF4-FFF2-40B4-BE49-F238E27FC236}">
                    <a16:creationId xmlns:a16="http://schemas.microsoft.com/office/drawing/2014/main" id="{49092E33-AC9B-6B5A-F210-B6CA1A17E7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1872"/>
                <a:ext cx="912" cy="48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9642" name="Rectangle 10">
                <a:extLst>
                  <a:ext uri="{FF2B5EF4-FFF2-40B4-BE49-F238E27FC236}">
                    <a16:creationId xmlns:a16="http://schemas.microsoft.com/office/drawing/2014/main" id="{6E3A214F-1D2C-560B-1814-F07669EE0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576" cy="48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9643" name="Rectangle 11">
                <a:extLst>
                  <a:ext uri="{FF2B5EF4-FFF2-40B4-BE49-F238E27FC236}">
                    <a16:creationId xmlns:a16="http://schemas.microsoft.com/office/drawing/2014/main" id="{DAE519F3-B2D6-FC2E-06E4-1A3D6507D7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1440"/>
                <a:ext cx="1584" cy="3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F820A69E-F3AB-4603-A84B-E5FC3C4A91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space to highlight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C58D79BE-55BC-A34D-30A1-D1A9D137AE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517650"/>
            <a:endParaRPr lang="en-US" altLang="en-US" sz="900"/>
          </a:p>
        </p:txBody>
      </p:sp>
      <p:grpSp>
        <p:nvGrpSpPr>
          <p:cNvPr id="70660" name="Group 4">
            <a:extLst>
              <a:ext uri="{FF2B5EF4-FFF2-40B4-BE49-F238E27FC236}">
                <a16:creationId xmlns:a16="http://schemas.microsoft.com/office/drawing/2014/main" id="{DB2EE627-528E-0367-8DBC-86EBFBC7B926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438400"/>
            <a:ext cx="5486400" cy="3276600"/>
            <a:chOff x="1152" y="1536"/>
            <a:chExt cx="3456" cy="2064"/>
          </a:xfrm>
        </p:grpSpPr>
        <p:grpSp>
          <p:nvGrpSpPr>
            <p:cNvPr id="70661" name="Group 5">
              <a:extLst>
                <a:ext uri="{FF2B5EF4-FFF2-40B4-BE49-F238E27FC236}">
                  <a16:creationId xmlns:a16="http://schemas.microsoft.com/office/drawing/2014/main" id="{DEB6016C-9819-4881-A6B4-5A0D97A933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536"/>
              <a:ext cx="1584" cy="2064"/>
              <a:chOff x="1152" y="1536"/>
              <a:chExt cx="1584" cy="2064"/>
            </a:xfrm>
          </p:grpSpPr>
          <p:sp>
            <p:nvSpPr>
              <p:cNvPr id="70662" name="Rectangle 6">
                <a:extLst>
                  <a:ext uri="{FF2B5EF4-FFF2-40B4-BE49-F238E27FC236}">
                    <a16:creationId xmlns:a16="http://schemas.microsoft.com/office/drawing/2014/main" id="{C449D0F5-C98D-7852-3760-4E0DEAE6C8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880"/>
                <a:ext cx="1584" cy="72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0663" name="Rectangle 7">
                <a:extLst>
                  <a:ext uri="{FF2B5EF4-FFF2-40B4-BE49-F238E27FC236}">
                    <a16:creationId xmlns:a16="http://schemas.microsoft.com/office/drawing/2014/main" id="{1BCE6092-C7D2-F6C4-2BE6-680D825A4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536"/>
                <a:ext cx="1584" cy="62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0664" name="Rectangle 8">
                <a:extLst>
                  <a:ext uri="{FF2B5EF4-FFF2-40B4-BE49-F238E27FC236}">
                    <a16:creationId xmlns:a16="http://schemas.microsoft.com/office/drawing/2014/main" id="{2CE391DF-D0DD-8EBB-9F5D-CA9BE8419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160"/>
                <a:ext cx="1008" cy="72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70665" name="Group 9">
              <a:extLst>
                <a:ext uri="{FF2B5EF4-FFF2-40B4-BE49-F238E27FC236}">
                  <a16:creationId xmlns:a16="http://schemas.microsoft.com/office/drawing/2014/main" id="{FF3300E8-21DF-3A6C-8CA4-AD40A348BBF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024" y="1536"/>
              <a:ext cx="1584" cy="2064"/>
              <a:chOff x="1152" y="1536"/>
              <a:chExt cx="1584" cy="2064"/>
            </a:xfrm>
          </p:grpSpPr>
          <p:sp>
            <p:nvSpPr>
              <p:cNvPr id="70666" name="Rectangle 10">
                <a:extLst>
                  <a:ext uri="{FF2B5EF4-FFF2-40B4-BE49-F238E27FC236}">
                    <a16:creationId xmlns:a16="http://schemas.microsoft.com/office/drawing/2014/main" id="{8A386407-9395-BDB6-0AE3-FB01AD2C5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880"/>
                <a:ext cx="1584" cy="72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0667" name="Rectangle 11">
                <a:extLst>
                  <a:ext uri="{FF2B5EF4-FFF2-40B4-BE49-F238E27FC236}">
                    <a16:creationId xmlns:a16="http://schemas.microsoft.com/office/drawing/2014/main" id="{2D270DDA-DA43-030B-296C-7AD9E04FA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536"/>
                <a:ext cx="1584" cy="62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0668" name="Rectangle 12">
                <a:extLst>
                  <a:ext uri="{FF2B5EF4-FFF2-40B4-BE49-F238E27FC236}">
                    <a16:creationId xmlns:a16="http://schemas.microsoft.com/office/drawing/2014/main" id="{675C4D39-2CE4-3D9A-0045-9CB6BA869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160"/>
                <a:ext cx="1008" cy="72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70669" name="Rectangle 13">
              <a:extLst>
                <a:ext uri="{FF2B5EF4-FFF2-40B4-BE49-F238E27FC236}">
                  <a16:creationId xmlns:a16="http://schemas.microsoft.com/office/drawing/2014/main" id="{16DAFC02-8AF8-DCF0-CE0F-F49112CD8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00"/>
              <a:ext cx="864" cy="24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D8313BDD-DD4D-0E91-A47B-E92E022706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physical controls</a:t>
            </a:r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91CC1554-6A74-CD8C-8B6F-E82A98904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81000" indent="-381000">
              <a:lnSpc>
                <a:spcPct val="120000"/>
              </a:lnSpc>
            </a:pPr>
            <a:r>
              <a:rPr lang="en-US" altLang="en-US" sz="3200"/>
              <a:t>grouping of items</a:t>
            </a:r>
          </a:p>
          <a:p>
            <a:pPr marL="857250" lvl="1">
              <a:lnSpc>
                <a:spcPct val="120000"/>
              </a:lnSpc>
            </a:pPr>
            <a:r>
              <a:rPr lang="en-US" altLang="en-US" sz="2800"/>
              <a:t>defrost settings</a:t>
            </a:r>
          </a:p>
          <a:p>
            <a:pPr marL="857250" lvl="1">
              <a:lnSpc>
                <a:spcPct val="120000"/>
              </a:lnSpc>
            </a:pPr>
            <a:r>
              <a:rPr lang="en-US" altLang="en-US" sz="2800"/>
              <a:t>type of food</a:t>
            </a:r>
          </a:p>
          <a:p>
            <a:pPr marL="857250" lvl="1">
              <a:lnSpc>
                <a:spcPct val="120000"/>
              </a:lnSpc>
            </a:pPr>
            <a:r>
              <a:rPr lang="en-US" altLang="en-US" sz="2800"/>
              <a:t>time to cook</a:t>
            </a:r>
          </a:p>
        </p:txBody>
      </p:sp>
      <p:pic>
        <p:nvPicPr>
          <p:cNvPr id="154628" name="Picture 4">
            <a:extLst>
              <a:ext uri="{FF2B5EF4-FFF2-40B4-BE49-F238E27FC236}">
                <a16:creationId xmlns:a16="http://schemas.microsoft.com/office/drawing/2014/main" id="{250C6C4C-8C15-400A-E3C9-7B4E050DD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175" y="1600200"/>
            <a:ext cx="2384425" cy="499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4638" name="Rectangle 14">
            <a:extLst>
              <a:ext uri="{FF2B5EF4-FFF2-40B4-BE49-F238E27FC236}">
                <a16:creationId xmlns:a16="http://schemas.microsoft.com/office/drawing/2014/main" id="{F0F357CA-252C-772B-5D85-4BA26FEA1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743200"/>
            <a:ext cx="3429000" cy="1828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54641" name="Group 17">
            <a:extLst>
              <a:ext uri="{FF2B5EF4-FFF2-40B4-BE49-F238E27FC236}">
                <a16:creationId xmlns:a16="http://schemas.microsoft.com/office/drawing/2014/main" id="{B4214509-985A-4D6D-26FB-72CBC56FD0D3}"/>
              </a:ext>
            </a:extLst>
          </p:cNvPr>
          <p:cNvGrpSpPr>
            <a:grpSpLocks/>
          </p:cNvGrpSpPr>
          <p:nvPr/>
        </p:nvGrpSpPr>
        <p:grpSpPr bwMode="auto">
          <a:xfrm>
            <a:off x="1374775" y="3429000"/>
            <a:ext cx="7007225" cy="1828800"/>
            <a:chOff x="866" y="2160"/>
            <a:chExt cx="4414" cy="1152"/>
          </a:xfrm>
        </p:grpSpPr>
        <p:sp>
          <p:nvSpPr>
            <p:cNvPr id="154630" name="Oval 6">
              <a:extLst>
                <a:ext uri="{FF2B5EF4-FFF2-40B4-BE49-F238E27FC236}">
                  <a16:creationId xmlns:a16="http://schemas.microsoft.com/office/drawing/2014/main" id="{BB4F9EB8-230F-237D-4E6D-238205325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400"/>
              <a:ext cx="624" cy="912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4633" name="Line 9">
              <a:extLst>
                <a:ext uri="{FF2B5EF4-FFF2-40B4-BE49-F238E27FC236}">
                  <a16:creationId xmlns:a16="http://schemas.microsoft.com/office/drawing/2014/main" id="{888B63EF-10F1-3359-CDCF-F4DC5AF23F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400"/>
              <a:ext cx="2256" cy="33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4635" name="Rectangle 11">
              <a:extLst>
                <a:ext uri="{FF2B5EF4-FFF2-40B4-BE49-F238E27FC236}">
                  <a16:creationId xmlns:a16="http://schemas.microsoft.com/office/drawing/2014/main" id="{153E4317-D698-B7B5-AB7B-8E39F53BB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" y="2160"/>
              <a:ext cx="147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en-US" sz="2800">
                  <a:latin typeface="Verdana" panose="020B0604030504040204" pitchFamily="34" charset="0"/>
                </a:rPr>
                <a:t>type of food</a:t>
              </a:r>
              <a:endParaRPr lang="en-GB" altLang="en-US" sz="2800">
                <a:latin typeface="Verdana" panose="020B0604030504040204" pitchFamily="34" charset="0"/>
              </a:endParaRPr>
            </a:p>
          </p:txBody>
        </p:sp>
      </p:grpSp>
      <p:grpSp>
        <p:nvGrpSpPr>
          <p:cNvPr id="154642" name="Group 18">
            <a:extLst>
              <a:ext uri="{FF2B5EF4-FFF2-40B4-BE49-F238E27FC236}">
                <a16:creationId xmlns:a16="http://schemas.microsoft.com/office/drawing/2014/main" id="{A76CB425-35A2-90D2-A691-9EB731DCC28E}"/>
              </a:ext>
            </a:extLst>
          </p:cNvPr>
          <p:cNvGrpSpPr>
            <a:grpSpLocks/>
          </p:cNvGrpSpPr>
          <p:nvPr/>
        </p:nvGrpSpPr>
        <p:grpSpPr bwMode="auto">
          <a:xfrm>
            <a:off x="1374775" y="4114800"/>
            <a:ext cx="6931025" cy="2209800"/>
            <a:chOff x="866" y="2592"/>
            <a:chExt cx="4366" cy="1392"/>
          </a:xfrm>
        </p:grpSpPr>
        <p:sp>
          <p:nvSpPr>
            <p:cNvPr id="154631" name="Oval 7">
              <a:extLst>
                <a:ext uri="{FF2B5EF4-FFF2-40B4-BE49-F238E27FC236}">
                  <a16:creationId xmlns:a16="http://schemas.microsoft.com/office/drawing/2014/main" id="{73C1D317-FD9C-D429-21DA-11B74795F94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10320">
              <a:off x="4176" y="3456"/>
              <a:ext cx="1056" cy="528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4634" name="Line 10">
              <a:extLst>
                <a:ext uri="{FF2B5EF4-FFF2-40B4-BE49-F238E27FC236}">
                  <a16:creationId xmlns:a16="http://schemas.microsoft.com/office/drawing/2014/main" id="{49EAE38B-82A7-6D8F-84BE-D5AD5E4FB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880"/>
              <a:ext cx="1776" cy="72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4637" name="Rectangle 13">
              <a:extLst>
                <a:ext uri="{FF2B5EF4-FFF2-40B4-BE49-F238E27FC236}">
                  <a16:creationId xmlns:a16="http://schemas.microsoft.com/office/drawing/2014/main" id="{977CE215-A509-2310-E8ED-3D9A52293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" y="2592"/>
              <a:ext cx="1520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en-US" sz="2800">
                  <a:latin typeface="Verdana" panose="020B0604030504040204" pitchFamily="34" charset="0"/>
                </a:rPr>
                <a:t>time to cook</a:t>
              </a:r>
              <a:endParaRPr lang="en-GB" altLang="en-US" sz="2800">
                <a:latin typeface="Verdana" panose="020B0604030504040204" pitchFamily="34" charset="0"/>
              </a:endParaRPr>
            </a:p>
          </p:txBody>
        </p:sp>
      </p:grpSp>
      <p:grpSp>
        <p:nvGrpSpPr>
          <p:cNvPr id="154640" name="Group 16">
            <a:extLst>
              <a:ext uri="{FF2B5EF4-FFF2-40B4-BE49-F238E27FC236}">
                <a16:creationId xmlns:a16="http://schemas.microsoft.com/office/drawing/2014/main" id="{BD48F225-13DB-8140-E32E-7942F7CDA99B}"/>
              </a:ext>
            </a:extLst>
          </p:cNvPr>
          <p:cNvGrpSpPr>
            <a:grpSpLocks/>
          </p:cNvGrpSpPr>
          <p:nvPr/>
        </p:nvGrpSpPr>
        <p:grpSpPr bwMode="auto">
          <a:xfrm>
            <a:off x="1374775" y="2743200"/>
            <a:ext cx="6245225" cy="1066800"/>
            <a:chOff x="866" y="1728"/>
            <a:chExt cx="3934" cy="672"/>
          </a:xfrm>
        </p:grpSpPr>
        <p:sp>
          <p:nvSpPr>
            <p:cNvPr id="154629" name="Oval 5">
              <a:extLst>
                <a:ext uri="{FF2B5EF4-FFF2-40B4-BE49-F238E27FC236}">
                  <a16:creationId xmlns:a16="http://schemas.microsoft.com/office/drawing/2014/main" id="{F11B6268-1BCD-A355-3B62-9AFBD7BE7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824"/>
              <a:ext cx="768" cy="576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4632" name="Line 8">
              <a:extLst>
                <a:ext uri="{FF2B5EF4-FFF2-40B4-BE49-F238E27FC236}">
                  <a16:creationId xmlns:a16="http://schemas.microsoft.com/office/drawing/2014/main" id="{E81340AA-1AD3-5C23-D1C8-D13F5E9F9B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920"/>
              <a:ext cx="1200" cy="14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4636" name="Rectangle 12">
              <a:extLst>
                <a:ext uri="{FF2B5EF4-FFF2-40B4-BE49-F238E27FC236}">
                  <a16:creationId xmlns:a16="http://schemas.microsoft.com/office/drawing/2014/main" id="{43280F3D-AEEE-54AA-812D-4EB56550E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" y="1728"/>
              <a:ext cx="1870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20000"/>
                </a:spcBef>
              </a:pPr>
              <a:r>
                <a:rPr lang="en-US" altLang="en-US" sz="2800">
                  <a:latin typeface="Verdana" panose="020B0604030504040204" pitchFamily="34" charset="0"/>
                </a:rPr>
                <a:t>defrost settings</a:t>
              </a:r>
              <a:endParaRPr lang="en-GB" altLang="en-US" sz="280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2CB6C1B3-E0FF-6A9C-705D-A115939015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physical controls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E546345A-8C8A-D69F-61C9-A70959149F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81000" indent="-381000">
              <a:lnSpc>
                <a:spcPct val="120000"/>
              </a:lnSpc>
            </a:pPr>
            <a:r>
              <a:rPr lang="en-US" altLang="en-US" sz="3200">
                <a:solidFill>
                  <a:schemeClr val="bg2"/>
                </a:solidFill>
              </a:rPr>
              <a:t>grouping of items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sz="3200"/>
              <a:t>order of items</a:t>
            </a:r>
          </a:p>
          <a:p>
            <a:pPr marL="1244600" lvl="2" indent="-482600">
              <a:lnSpc>
                <a:spcPct val="120000"/>
              </a:lnSpc>
              <a:buFont typeface="Times" charset="0"/>
              <a:buAutoNum type="arabicParenR"/>
            </a:pPr>
            <a:r>
              <a:rPr lang="en-US" altLang="en-US" sz="2400"/>
              <a:t>type of heating</a:t>
            </a:r>
          </a:p>
          <a:p>
            <a:pPr marL="1244600" lvl="2" indent="-482600">
              <a:lnSpc>
                <a:spcPct val="120000"/>
              </a:lnSpc>
              <a:buFont typeface="Times" charset="0"/>
              <a:buAutoNum type="arabicParenR"/>
            </a:pPr>
            <a:r>
              <a:rPr lang="en-US" altLang="en-US" sz="2400"/>
              <a:t>temperature</a:t>
            </a:r>
          </a:p>
          <a:p>
            <a:pPr marL="1244600" lvl="2" indent="-482600">
              <a:lnSpc>
                <a:spcPct val="120000"/>
              </a:lnSpc>
              <a:buFont typeface="Times" charset="0"/>
              <a:buAutoNum type="arabicParenR"/>
            </a:pPr>
            <a:r>
              <a:rPr lang="en-US" altLang="en-US" sz="2400"/>
              <a:t>time to cook</a:t>
            </a:r>
          </a:p>
          <a:p>
            <a:pPr marL="1244600" lvl="2" indent="-482600">
              <a:lnSpc>
                <a:spcPct val="120000"/>
              </a:lnSpc>
              <a:buFont typeface="Times" charset="0"/>
              <a:buAutoNum type="arabicParenR"/>
            </a:pPr>
            <a:r>
              <a:rPr lang="en-US" altLang="en-US" sz="2400"/>
              <a:t>start</a:t>
            </a:r>
          </a:p>
        </p:txBody>
      </p:sp>
      <p:pic>
        <p:nvPicPr>
          <p:cNvPr id="162820" name="Picture 4">
            <a:extLst>
              <a:ext uri="{FF2B5EF4-FFF2-40B4-BE49-F238E27FC236}">
                <a16:creationId xmlns:a16="http://schemas.microsoft.com/office/drawing/2014/main" id="{B58E3916-C894-C5A2-19F7-8D6B79D12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175" y="1600200"/>
            <a:ext cx="2384425" cy="499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2832" name="Rectangle 16">
            <a:extLst>
              <a:ext uri="{FF2B5EF4-FFF2-40B4-BE49-F238E27FC236}">
                <a16:creationId xmlns:a16="http://schemas.microsoft.com/office/drawing/2014/main" id="{3D4127A3-5151-015E-47E9-B81918382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3048000" cy="2057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62836" name="Group 20">
            <a:extLst>
              <a:ext uri="{FF2B5EF4-FFF2-40B4-BE49-F238E27FC236}">
                <a16:creationId xmlns:a16="http://schemas.microsoft.com/office/drawing/2014/main" id="{BF4D4374-C1A9-8B24-B06B-48DF7CE0A019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253038"/>
            <a:ext cx="6172200" cy="1376362"/>
            <a:chOff x="816" y="3309"/>
            <a:chExt cx="3888" cy="867"/>
          </a:xfrm>
        </p:grpSpPr>
        <p:sp>
          <p:nvSpPr>
            <p:cNvPr id="162824" name="Oval 8">
              <a:extLst>
                <a:ext uri="{FF2B5EF4-FFF2-40B4-BE49-F238E27FC236}">
                  <a16:creationId xmlns:a16="http://schemas.microsoft.com/office/drawing/2014/main" id="{794291D4-C0E2-9BB8-DD21-FA83BAABA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936"/>
              <a:ext cx="240" cy="2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62829" name="Text Box 13">
              <a:extLst>
                <a:ext uri="{FF2B5EF4-FFF2-40B4-BE49-F238E27FC236}">
                  <a16:creationId xmlns:a16="http://schemas.microsoft.com/office/drawing/2014/main" id="{4FDCCCBD-AE21-E1BC-F73D-49E7655142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309"/>
              <a:ext cx="86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82600" indent="-482600"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67310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r>
                <a:rPr lang="en-GB" altLang="en-US">
                  <a:latin typeface="Verdana" panose="020B0604030504040204" pitchFamily="34" charset="0"/>
                </a:rPr>
                <a:t>4)	start</a:t>
              </a:r>
            </a:p>
          </p:txBody>
        </p:sp>
      </p:grpSp>
      <p:grpSp>
        <p:nvGrpSpPr>
          <p:cNvPr id="162834" name="Group 18">
            <a:extLst>
              <a:ext uri="{FF2B5EF4-FFF2-40B4-BE49-F238E27FC236}">
                <a16:creationId xmlns:a16="http://schemas.microsoft.com/office/drawing/2014/main" id="{5FABB15D-59C9-325F-7406-342896EBD8CC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033838"/>
            <a:ext cx="5410200" cy="1376362"/>
            <a:chOff x="816" y="2541"/>
            <a:chExt cx="3408" cy="867"/>
          </a:xfrm>
        </p:grpSpPr>
        <p:sp>
          <p:nvSpPr>
            <p:cNvPr id="162822" name="Oval 6">
              <a:extLst>
                <a:ext uri="{FF2B5EF4-FFF2-40B4-BE49-F238E27FC236}">
                  <a16:creationId xmlns:a16="http://schemas.microsoft.com/office/drawing/2014/main" id="{3FC15E8C-9834-6871-074A-06367DB05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168"/>
              <a:ext cx="240" cy="2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62830" name="Text Box 14">
              <a:extLst>
                <a:ext uri="{FF2B5EF4-FFF2-40B4-BE49-F238E27FC236}">
                  <a16:creationId xmlns:a16="http://schemas.microsoft.com/office/drawing/2014/main" id="{4FE9F05C-61E0-DB0D-A7AB-81E07178DF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541"/>
              <a:ext cx="16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82600" indent="-482600"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67310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r>
                <a:rPr lang="en-GB" altLang="en-US">
                  <a:latin typeface="Verdana" panose="020B0604030504040204" pitchFamily="34" charset="0"/>
                </a:rPr>
                <a:t>2)	temperature</a:t>
              </a:r>
            </a:p>
          </p:txBody>
        </p:sp>
      </p:grpSp>
      <p:grpSp>
        <p:nvGrpSpPr>
          <p:cNvPr id="162835" name="Group 19">
            <a:extLst>
              <a:ext uri="{FF2B5EF4-FFF2-40B4-BE49-F238E27FC236}">
                <a16:creationId xmlns:a16="http://schemas.microsoft.com/office/drawing/2014/main" id="{6029A559-7AD2-F3CC-C4E7-E99DDD781CF3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643438"/>
            <a:ext cx="5562600" cy="1376362"/>
            <a:chOff x="816" y="2925"/>
            <a:chExt cx="3504" cy="867"/>
          </a:xfrm>
        </p:grpSpPr>
        <p:sp>
          <p:nvSpPr>
            <p:cNvPr id="162823" name="Oval 7">
              <a:extLst>
                <a:ext uri="{FF2B5EF4-FFF2-40B4-BE49-F238E27FC236}">
                  <a16:creationId xmlns:a16="http://schemas.microsoft.com/office/drawing/2014/main" id="{ACBA98C1-AAC5-D2CF-D31C-B2C1AB640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552"/>
              <a:ext cx="240" cy="2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62831" name="Text Box 15">
              <a:extLst>
                <a:ext uri="{FF2B5EF4-FFF2-40B4-BE49-F238E27FC236}">
                  <a16:creationId xmlns:a16="http://schemas.microsoft.com/office/drawing/2014/main" id="{5DECB467-9F26-8595-9C12-F5361DEE3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925"/>
              <a:ext cx="16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82600" indent="-482600"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67310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r>
                <a:rPr lang="en-GB" altLang="en-US">
                  <a:latin typeface="Verdana" panose="020B0604030504040204" pitchFamily="34" charset="0"/>
                </a:rPr>
                <a:t>3)	time to cook</a:t>
              </a:r>
            </a:p>
          </p:txBody>
        </p:sp>
      </p:grpSp>
      <p:grpSp>
        <p:nvGrpSpPr>
          <p:cNvPr id="162833" name="Group 17">
            <a:extLst>
              <a:ext uri="{FF2B5EF4-FFF2-40B4-BE49-F238E27FC236}">
                <a16:creationId xmlns:a16="http://schemas.microsoft.com/office/drawing/2014/main" id="{097B9539-E470-3B22-E0D5-D11BAE4E555D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3429000"/>
            <a:ext cx="5486400" cy="685800"/>
            <a:chOff x="816" y="2160"/>
            <a:chExt cx="3456" cy="432"/>
          </a:xfrm>
        </p:grpSpPr>
        <p:sp>
          <p:nvSpPr>
            <p:cNvPr id="162821" name="Oval 5">
              <a:extLst>
                <a:ext uri="{FF2B5EF4-FFF2-40B4-BE49-F238E27FC236}">
                  <a16:creationId xmlns:a16="http://schemas.microsoft.com/office/drawing/2014/main" id="{3F232DF7-CC28-68D5-7B10-0C2C87D34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352"/>
              <a:ext cx="240" cy="2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b="1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62826" name="Text Box 10">
              <a:extLst>
                <a:ext uri="{FF2B5EF4-FFF2-40B4-BE49-F238E27FC236}">
                  <a16:creationId xmlns:a16="http://schemas.microsoft.com/office/drawing/2014/main" id="{BE5C3797-51CA-D007-2E04-91C7BD150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160"/>
              <a:ext cx="188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82600" indent="-482600"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67310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r>
                <a:rPr lang="en-GB" altLang="en-US">
                  <a:latin typeface="Verdana" panose="020B0604030504040204" pitchFamily="34" charset="0"/>
                </a:rPr>
                <a:t>1)	type of heating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21EDF001-4699-909E-939F-B3C05CB757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physical controls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5D90B1E4-7542-D9D6-1592-601501740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81000" indent="-381000">
              <a:lnSpc>
                <a:spcPct val="120000"/>
              </a:lnSpc>
            </a:pPr>
            <a:r>
              <a:rPr lang="en-US" altLang="en-US" sz="3200">
                <a:solidFill>
                  <a:schemeClr val="bg2"/>
                </a:solidFill>
              </a:rPr>
              <a:t>grouping of items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sz="3200">
                <a:solidFill>
                  <a:schemeClr val="bg2"/>
                </a:solidFill>
              </a:rPr>
              <a:t>order of items</a:t>
            </a:r>
            <a:r>
              <a:rPr lang="en-US" altLang="en-US" sz="3200"/>
              <a:t> 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sz="3200"/>
              <a:t>decoration</a:t>
            </a:r>
          </a:p>
          <a:p>
            <a:pPr marL="857250" lvl="1">
              <a:lnSpc>
                <a:spcPct val="120000"/>
              </a:lnSpc>
            </a:pPr>
            <a:r>
              <a:rPr lang="en-US" altLang="en-US"/>
              <a:t>different colours</a:t>
            </a:r>
            <a:br>
              <a:rPr lang="en-US" altLang="en-US"/>
            </a:br>
            <a:r>
              <a:rPr lang="en-US" altLang="en-US"/>
              <a:t>for different functions</a:t>
            </a:r>
          </a:p>
          <a:p>
            <a:pPr marL="857250" lvl="1">
              <a:lnSpc>
                <a:spcPct val="120000"/>
              </a:lnSpc>
            </a:pPr>
            <a:r>
              <a:rPr lang="en-US" altLang="en-US"/>
              <a:t>lines around related</a:t>
            </a:r>
            <a:br>
              <a:rPr lang="en-US" altLang="en-US"/>
            </a:br>
            <a:r>
              <a:rPr lang="en-US" altLang="en-US"/>
              <a:t>buttons</a:t>
            </a:r>
          </a:p>
        </p:txBody>
      </p:sp>
      <p:pic>
        <p:nvPicPr>
          <p:cNvPr id="164868" name="Picture 4">
            <a:extLst>
              <a:ext uri="{FF2B5EF4-FFF2-40B4-BE49-F238E27FC236}">
                <a16:creationId xmlns:a16="http://schemas.microsoft.com/office/drawing/2014/main" id="{81B5D3D0-32B9-7F58-6BCB-B2C234373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175" y="1600200"/>
            <a:ext cx="2384425" cy="499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4870" name="Rectangle 6">
            <a:extLst>
              <a:ext uri="{FF2B5EF4-FFF2-40B4-BE49-F238E27FC236}">
                <a16:creationId xmlns:a16="http://schemas.microsoft.com/office/drawing/2014/main" id="{BE128C92-EA95-0C50-583D-0A3B5B474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038600"/>
            <a:ext cx="4038600" cy="1981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64875" name="Group 11">
            <a:extLst>
              <a:ext uri="{FF2B5EF4-FFF2-40B4-BE49-F238E27FC236}">
                <a16:creationId xmlns:a16="http://schemas.microsoft.com/office/drawing/2014/main" id="{0C1AD0C4-C5F9-4FDF-971A-38B987EF2D6C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581400"/>
            <a:ext cx="5562600" cy="1447800"/>
            <a:chOff x="864" y="2256"/>
            <a:chExt cx="3504" cy="912"/>
          </a:xfrm>
        </p:grpSpPr>
        <p:sp>
          <p:nvSpPr>
            <p:cNvPr id="164869" name="Text Box 5">
              <a:extLst>
                <a:ext uri="{FF2B5EF4-FFF2-40B4-BE49-F238E27FC236}">
                  <a16:creationId xmlns:a16="http://schemas.microsoft.com/office/drawing/2014/main" id="{36CB6B72-CE95-9A18-04F4-5D5547267D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644"/>
              <a:ext cx="2688" cy="5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altLang="en-US">
                  <a:latin typeface="Verdana" panose="020B0604030504040204" pitchFamily="34" charset="0"/>
                </a:rPr>
                <a:t>different colours for different functions</a:t>
              </a:r>
            </a:p>
          </p:txBody>
        </p:sp>
        <p:sp>
          <p:nvSpPr>
            <p:cNvPr id="164872" name="Line 8">
              <a:extLst>
                <a:ext uri="{FF2B5EF4-FFF2-40B4-BE49-F238E27FC236}">
                  <a16:creationId xmlns:a16="http://schemas.microsoft.com/office/drawing/2014/main" id="{DD11F281-66C4-B4D2-480E-44EA24EE0F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2256"/>
              <a:ext cx="1344" cy="52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873" name="Line 9">
              <a:extLst>
                <a:ext uri="{FF2B5EF4-FFF2-40B4-BE49-F238E27FC236}">
                  <a16:creationId xmlns:a16="http://schemas.microsoft.com/office/drawing/2014/main" id="{918230E6-925C-289B-CFDE-0310490C58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2784"/>
              <a:ext cx="1536" cy="24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64876" name="Group 12">
            <a:extLst>
              <a:ext uri="{FF2B5EF4-FFF2-40B4-BE49-F238E27FC236}">
                <a16:creationId xmlns:a16="http://schemas.microsoft.com/office/drawing/2014/main" id="{6D93855A-B14B-48D5-712A-058B24F87C5D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5187950"/>
            <a:ext cx="5334000" cy="831850"/>
            <a:chOff x="864" y="3268"/>
            <a:chExt cx="3360" cy="524"/>
          </a:xfrm>
        </p:grpSpPr>
        <p:sp>
          <p:nvSpPr>
            <p:cNvPr id="164871" name="Text Box 7">
              <a:extLst>
                <a:ext uri="{FF2B5EF4-FFF2-40B4-BE49-F238E27FC236}">
                  <a16:creationId xmlns:a16="http://schemas.microsoft.com/office/drawing/2014/main" id="{2B388292-DFDD-9C1C-7C9A-D7B6B33EE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268"/>
              <a:ext cx="2236" cy="5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Verdana" panose="020B0604030504040204" pitchFamily="34" charset="0"/>
                </a:rPr>
                <a:t>lines around related </a:t>
              </a:r>
              <a:br>
                <a:rPr lang="en-GB" altLang="en-US">
                  <a:latin typeface="Verdana" panose="020B0604030504040204" pitchFamily="34" charset="0"/>
                </a:rPr>
              </a:br>
              <a:r>
                <a:rPr lang="en-GB" altLang="en-US">
                  <a:latin typeface="Verdana" panose="020B0604030504040204" pitchFamily="34" charset="0"/>
                </a:rPr>
                <a:t>buttons </a:t>
              </a:r>
              <a:r>
                <a:rPr lang="en-GB" altLang="en-US" sz="2000">
                  <a:latin typeface="Verdana" panose="020B0604030504040204" pitchFamily="34" charset="0"/>
                </a:rPr>
                <a:t>(temp up/down)</a:t>
              </a:r>
            </a:p>
          </p:txBody>
        </p:sp>
        <p:sp>
          <p:nvSpPr>
            <p:cNvPr id="164874" name="Line 10">
              <a:extLst>
                <a:ext uri="{FF2B5EF4-FFF2-40B4-BE49-F238E27FC236}">
                  <a16:creationId xmlns:a16="http://schemas.microsoft.com/office/drawing/2014/main" id="{77BDFFD4-E793-8D17-B145-2D00B6E153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" y="3360"/>
              <a:ext cx="1248" cy="14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386C204F-D6D1-AB7C-004B-42CCA8DF4E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physical controls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170C38F8-81A2-A796-9867-3992D309D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81000" indent="-381000">
              <a:lnSpc>
                <a:spcPct val="120000"/>
              </a:lnSpc>
            </a:pPr>
            <a:r>
              <a:rPr lang="en-US" altLang="en-US" sz="3200">
                <a:solidFill>
                  <a:schemeClr val="bg2"/>
                </a:solidFill>
              </a:rPr>
              <a:t>grouping of items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sz="3200">
                <a:solidFill>
                  <a:schemeClr val="bg2"/>
                </a:solidFill>
              </a:rPr>
              <a:t>order of items 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sz="3200">
                <a:solidFill>
                  <a:schemeClr val="bg2"/>
                </a:solidFill>
              </a:rPr>
              <a:t>decoration</a:t>
            </a:r>
            <a:endParaRPr lang="en-US" altLang="en-US" sz="3200"/>
          </a:p>
          <a:p>
            <a:pPr marL="381000" indent="-381000">
              <a:lnSpc>
                <a:spcPct val="120000"/>
              </a:lnSpc>
            </a:pPr>
            <a:r>
              <a:rPr lang="en-US" altLang="en-US" sz="3200"/>
              <a:t>alignment</a:t>
            </a:r>
          </a:p>
          <a:p>
            <a:pPr marL="857250" lvl="1">
              <a:lnSpc>
                <a:spcPct val="120000"/>
              </a:lnSpc>
            </a:pPr>
            <a:r>
              <a:rPr lang="en-US" altLang="en-US"/>
              <a:t>centered text in buttons</a:t>
            </a:r>
            <a:br>
              <a:rPr lang="en-US" altLang="en-US"/>
            </a:br>
            <a:r>
              <a:rPr lang="en-US" altLang="en-US"/>
              <a:t>? easy to scan ?</a:t>
            </a:r>
          </a:p>
        </p:txBody>
      </p:sp>
      <p:pic>
        <p:nvPicPr>
          <p:cNvPr id="163844" name="Picture 4">
            <a:extLst>
              <a:ext uri="{FF2B5EF4-FFF2-40B4-BE49-F238E27FC236}">
                <a16:creationId xmlns:a16="http://schemas.microsoft.com/office/drawing/2014/main" id="{834B7E31-A21F-D7E1-DE1F-82EDBBDC5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175" y="1600200"/>
            <a:ext cx="2384425" cy="499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47" name="Rectangle 7">
            <a:extLst>
              <a:ext uri="{FF2B5EF4-FFF2-40B4-BE49-F238E27FC236}">
                <a16:creationId xmlns:a16="http://schemas.microsoft.com/office/drawing/2014/main" id="{7C41A161-CDDE-F39B-841E-60650B48A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724400"/>
            <a:ext cx="4267200" cy="106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846" name="Text Box 6">
            <a:extLst>
              <a:ext uri="{FF2B5EF4-FFF2-40B4-BE49-F238E27FC236}">
                <a16:creationId xmlns:a16="http://schemas.microsoft.com/office/drawing/2014/main" id="{36D74B93-812F-31C8-D862-731803196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562600"/>
            <a:ext cx="26527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latin typeface="Verdana" panose="020B0604030504040204" pitchFamily="34" charset="0"/>
              </a:rPr>
              <a:t>? easy to scan ?</a:t>
            </a:r>
          </a:p>
        </p:txBody>
      </p:sp>
      <p:grpSp>
        <p:nvGrpSpPr>
          <p:cNvPr id="163850" name="Group 10">
            <a:extLst>
              <a:ext uri="{FF2B5EF4-FFF2-40B4-BE49-F238E27FC236}">
                <a16:creationId xmlns:a16="http://schemas.microsoft.com/office/drawing/2014/main" id="{B7556C83-AFDA-3EFD-FBFD-E0323C167A09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3886200"/>
            <a:ext cx="6172200" cy="1528763"/>
            <a:chOff x="912" y="2448"/>
            <a:chExt cx="3888" cy="963"/>
          </a:xfrm>
        </p:grpSpPr>
        <p:sp>
          <p:nvSpPr>
            <p:cNvPr id="163845" name="Text Box 5">
              <a:extLst>
                <a:ext uri="{FF2B5EF4-FFF2-40B4-BE49-F238E27FC236}">
                  <a16:creationId xmlns:a16="http://schemas.microsoft.com/office/drawing/2014/main" id="{DBC94E63-91B1-1D72-3DFF-5D0AF01A6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120"/>
              <a:ext cx="2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Verdana" panose="020B0604030504040204" pitchFamily="34" charset="0"/>
                </a:rPr>
                <a:t>centred text in buttons</a:t>
              </a:r>
            </a:p>
          </p:txBody>
        </p:sp>
        <p:sp>
          <p:nvSpPr>
            <p:cNvPr id="163848" name="AutoShape 8">
              <a:extLst>
                <a:ext uri="{FF2B5EF4-FFF2-40B4-BE49-F238E27FC236}">
                  <a16:creationId xmlns:a16="http://schemas.microsoft.com/office/drawing/2014/main" id="{110EC15E-ADE9-17E6-7B92-FF2366E52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2448"/>
              <a:ext cx="192" cy="816"/>
            </a:xfrm>
            <a:prstGeom prst="leftBrace">
              <a:avLst>
                <a:gd name="adj1" fmla="val 35417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3849" name="Line 9">
              <a:extLst>
                <a:ext uri="{FF2B5EF4-FFF2-40B4-BE49-F238E27FC236}">
                  <a16:creationId xmlns:a16="http://schemas.microsoft.com/office/drawing/2014/main" id="{E1774362-F223-3CE1-084D-B4E781036D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2928"/>
              <a:ext cx="1152" cy="33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6" grpId="0" build="p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0B92D854-367B-A0AD-DB23-AD7BC69A9F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physical controls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98031A31-270A-FE2A-6210-1C3FD0A08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81000" indent="-381000">
              <a:lnSpc>
                <a:spcPct val="120000"/>
              </a:lnSpc>
            </a:pPr>
            <a:r>
              <a:rPr lang="en-US" altLang="en-US" sz="3200">
                <a:solidFill>
                  <a:schemeClr val="bg2"/>
                </a:solidFill>
              </a:rPr>
              <a:t>grouping of items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sz="3200">
                <a:solidFill>
                  <a:schemeClr val="bg2"/>
                </a:solidFill>
              </a:rPr>
              <a:t>order of items 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sz="3200">
                <a:solidFill>
                  <a:schemeClr val="bg2"/>
                </a:solidFill>
              </a:rPr>
              <a:t>decoration</a:t>
            </a:r>
          </a:p>
          <a:p>
            <a:pPr marL="381000" indent="-381000">
              <a:lnSpc>
                <a:spcPct val="120000"/>
              </a:lnSpc>
            </a:pPr>
            <a:r>
              <a:rPr lang="en-US" altLang="en-US" sz="3200">
                <a:solidFill>
                  <a:schemeClr val="bg2"/>
                </a:solidFill>
              </a:rPr>
              <a:t>alignment</a:t>
            </a:r>
            <a:endParaRPr lang="en-US" altLang="en-US" sz="3200"/>
          </a:p>
          <a:p>
            <a:pPr marL="381000" indent="-381000">
              <a:lnSpc>
                <a:spcPct val="120000"/>
              </a:lnSpc>
            </a:pPr>
            <a:r>
              <a:rPr lang="en-US" altLang="en-US" sz="3200"/>
              <a:t>white space</a:t>
            </a:r>
          </a:p>
          <a:p>
            <a:pPr marL="857250" lvl="1">
              <a:lnSpc>
                <a:spcPct val="120000"/>
              </a:lnSpc>
            </a:pPr>
            <a:r>
              <a:rPr lang="en-US" altLang="en-US"/>
              <a:t>gaps to aid grouping</a:t>
            </a:r>
            <a:endParaRPr lang="en-US" altLang="en-US" sz="2800"/>
          </a:p>
        </p:txBody>
      </p:sp>
      <p:pic>
        <p:nvPicPr>
          <p:cNvPr id="165892" name="Picture 4">
            <a:extLst>
              <a:ext uri="{FF2B5EF4-FFF2-40B4-BE49-F238E27FC236}">
                <a16:creationId xmlns:a16="http://schemas.microsoft.com/office/drawing/2014/main" id="{0114C879-7D7B-7C3E-729A-03149BE51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175" y="1600200"/>
            <a:ext cx="2384425" cy="499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5894" name="Rectangle 6">
            <a:extLst>
              <a:ext uri="{FF2B5EF4-FFF2-40B4-BE49-F238E27FC236}">
                <a16:creationId xmlns:a16="http://schemas.microsoft.com/office/drawing/2014/main" id="{DA90B4A4-CA3E-D8D2-3447-F0C7058F0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410200"/>
            <a:ext cx="38862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65899" name="Group 11">
            <a:extLst>
              <a:ext uri="{FF2B5EF4-FFF2-40B4-BE49-F238E27FC236}">
                <a16:creationId xmlns:a16="http://schemas.microsoft.com/office/drawing/2014/main" id="{41AEFED4-834D-E242-EA2B-A87DC7EAC7B8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3810000"/>
            <a:ext cx="5943600" cy="2286000"/>
            <a:chOff x="912" y="2400"/>
            <a:chExt cx="3744" cy="1440"/>
          </a:xfrm>
        </p:grpSpPr>
        <p:sp>
          <p:nvSpPr>
            <p:cNvPr id="165893" name="Rectangle 5">
              <a:extLst>
                <a:ext uri="{FF2B5EF4-FFF2-40B4-BE49-F238E27FC236}">
                  <a16:creationId xmlns:a16="http://schemas.microsoft.com/office/drawing/2014/main" id="{88E8AFB8-AF5A-5130-3479-18FD78D4C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549"/>
              <a:ext cx="21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Verdana" panose="020B0604030504040204" pitchFamily="34" charset="0"/>
                </a:rPr>
                <a:t>gaps to aid grouping</a:t>
              </a:r>
              <a:endParaRPr lang="en-GB" altLang="en-US">
                <a:latin typeface="Verdana" panose="020B0604030504040204" pitchFamily="34" charset="0"/>
              </a:endParaRPr>
            </a:p>
          </p:txBody>
        </p:sp>
        <p:sp>
          <p:nvSpPr>
            <p:cNvPr id="165895" name="Line 7">
              <a:extLst>
                <a:ext uri="{FF2B5EF4-FFF2-40B4-BE49-F238E27FC236}">
                  <a16:creationId xmlns:a16="http://schemas.microsoft.com/office/drawing/2014/main" id="{9D17E98D-4ED6-097F-FBF9-DAD87A9573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400"/>
              <a:ext cx="1152" cy="120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5896" name="Line 8">
              <a:extLst>
                <a:ext uri="{FF2B5EF4-FFF2-40B4-BE49-F238E27FC236}">
                  <a16:creationId xmlns:a16="http://schemas.microsoft.com/office/drawing/2014/main" id="{464D0CB6-76BA-B45F-2D77-A93C2D02BC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2832"/>
              <a:ext cx="1536" cy="81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5897" name="Line 9">
              <a:extLst>
                <a:ext uri="{FF2B5EF4-FFF2-40B4-BE49-F238E27FC236}">
                  <a16:creationId xmlns:a16="http://schemas.microsoft.com/office/drawing/2014/main" id="{56893DE8-7AFD-01FF-F847-4B40467525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3552"/>
              <a:ext cx="1488" cy="19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5898" name="Line 10">
              <a:extLst>
                <a:ext uri="{FF2B5EF4-FFF2-40B4-BE49-F238E27FC236}">
                  <a16:creationId xmlns:a16="http://schemas.microsoft.com/office/drawing/2014/main" id="{7B26482A-8073-F910-7B6A-A2F9BD1E34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3840"/>
              <a:ext cx="1584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Oval 2">
            <a:extLst>
              <a:ext uri="{FF2B5EF4-FFF2-40B4-BE49-F238E27FC236}">
                <a16:creationId xmlns:a16="http://schemas.microsoft.com/office/drawing/2014/main" id="{B64F7DBB-C78B-C662-9C67-A256D8D12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048000"/>
            <a:ext cx="533400" cy="533400"/>
          </a:xfrm>
          <a:prstGeom prst="ellipse">
            <a:avLst/>
          </a:prstGeom>
          <a:solidFill>
            <a:srgbClr val="ED18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865A3A91-B569-C95D-A20A-9143DDC183F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GB" altLang="en-US" sz="3600"/>
              <a:t>user action and control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78216457-EE51-EE03-D8C0-9A49D23D441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2800"/>
              <a:t>entering information</a:t>
            </a:r>
          </a:p>
          <a:p>
            <a:r>
              <a:rPr lang="en-GB" altLang="en-US" sz="2800"/>
              <a:t>knowing what to do</a:t>
            </a:r>
          </a:p>
          <a:p>
            <a:r>
              <a:rPr lang="en-GB" altLang="en-US" sz="2800"/>
              <a:t>affordances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CF2CC956-5538-A41F-EB8D-ED5A7232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entering information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B4434DAB-C4B0-85A1-73AD-7A3A139DB1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forms, dialogue boxes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presentation + data input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similar layout issues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alignment - </a:t>
            </a:r>
            <a:r>
              <a:rPr lang="en-GB" altLang="en-US" sz="1600"/>
              <a:t>N.B. different label lengths</a:t>
            </a:r>
            <a:endParaRPr lang="en-GB" altLang="en-US" sz="2000"/>
          </a:p>
          <a:p>
            <a:pPr lvl="1">
              <a:lnSpc>
                <a:spcPct val="90000"/>
              </a:lnSpc>
            </a:pPr>
            <a:endParaRPr lang="en-GB" altLang="en-US" sz="2000"/>
          </a:p>
          <a:p>
            <a:pPr>
              <a:lnSpc>
                <a:spcPct val="90000"/>
              </a:lnSpc>
            </a:pPr>
            <a:r>
              <a:rPr lang="en-GB" altLang="en-US" sz="2400"/>
              <a:t>logical layout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use task analysis (ch15)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groupings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natural order for entering information</a:t>
            </a:r>
          </a:p>
          <a:p>
            <a:pPr marL="1162050" lvl="2">
              <a:lnSpc>
                <a:spcPct val="90000"/>
              </a:lnSpc>
            </a:pPr>
            <a:r>
              <a:rPr lang="en-GB" altLang="en-US" sz="1800"/>
              <a:t>top-bottom, left-right (depending on culture)</a:t>
            </a:r>
          </a:p>
          <a:p>
            <a:pPr marL="1162050" lvl="2">
              <a:lnSpc>
                <a:spcPct val="90000"/>
              </a:lnSpc>
            </a:pPr>
            <a:r>
              <a:rPr lang="en-GB" altLang="en-US" sz="1800"/>
              <a:t>set tab order for keyboard entry</a:t>
            </a:r>
          </a:p>
        </p:txBody>
      </p:sp>
      <p:sp>
        <p:nvSpPr>
          <p:cNvPr id="155652" name="Text Box 4">
            <a:extLst>
              <a:ext uri="{FF2B5EF4-FFF2-40B4-BE49-F238E27FC236}">
                <a16:creationId xmlns:a16="http://schemas.microsoft.com/office/drawing/2014/main" id="{8CCF6812-31B6-186D-E7E6-9B5BBD2C0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6400800"/>
            <a:ext cx="360997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1400">
                <a:latin typeface="Verdana" panose="020B0604030504040204" pitchFamily="34" charset="0"/>
              </a:rPr>
              <a:t>N.B. see extra slides for widget choice</a:t>
            </a:r>
          </a:p>
        </p:txBody>
      </p:sp>
      <p:grpSp>
        <p:nvGrpSpPr>
          <p:cNvPr id="155663" name="Group 15">
            <a:extLst>
              <a:ext uri="{FF2B5EF4-FFF2-40B4-BE49-F238E27FC236}">
                <a16:creationId xmlns:a16="http://schemas.microsoft.com/office/drawing/2014/main" id="{1BBC77A1-0FB5-2B61-1996-FCCDDE62FC32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1295400"/>
            <a:ext cx="2895600" cy="990600"/>
            <a:chOff x="3840" y="1296"/>
            <a:chExt cx="1824" cy="624"/>
          </a:xfrm>
        </p:grpSpPr>
        <p:sp>
          <p:nvSpPr>
            <p:cNvPr id="155657" name="Rectangle 9">
              <a:extLst>
                <a:ext uri="{FF2B5EF4-FFF2-40B4-BE49-F238E27FC236}">
                  <a16:creationId xmlns:a16="http://schemas.microsoft.com/office/drawing/2014/main" id="{9D3B1FAE-1F4C-02D8-BE1E-95FE39551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96"/>
              <a:ext cx="1824" cy="6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5653" name="Text Box 5">
              <a:extLst>
                <a:ext uri="{FF2B5EF4-FFF2-40B4-BE49-F238E27FC236}">
                  <a16:creationId xmlns:a16="http://schemas.microsoft.com/office/drawing/2014/main" id="{C989B091-9008-ADB4-6EFC-E2A3A3AC86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392"/>
              <a:ext cx="50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600" b="1">
                  <a:latin typeface="Arial" panose="020B0604020202020204" pitchFamily="34" charset="0"/>
                </a:rPr>
                <a:t>Name:</a:t>
              </a:r>
            </a:p>
          </p:txBody>
        </p:sp>
        <p:sp>
          <p:nvSpPr>
            <p:cNvPr id="155654" name="Text Box 6">
              <a:extLst>
                <a:ext uri="{FF2B5EF4-FFF2-40B4-BE49-F238E27FC236}">
                  <a16:creationId xmlns:a16="http://schemas.microsoft.com/office/drawing/2014/main" id="{1537A02A-4A8D-0B30-4F21-CF2C003FE5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612"/>
              <a:ext cx="67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600" b="1">
                  <a:latin typeface="Arial" panose="020B0604020202020204" pitchFamily="34" charset="0"/>
                </a:rPr>
                <a:t>Address:</a:t>
              </a:r>
            </a:p>
          </p:txBody>
        </p:sp>
        <p:sp>
          <p:nvSpPr>
            <p:cNvPr id="155655" name="Rectangle 7">
              <a:extLst>
                <a:ext uri="{FF2B5EF4-FFF2-40B4-BE49-F238E27FC236}">
                  <a16:creationId xmlns:a16="http://schemas.microsoft.com/office/drawing/2014/main" id="{12CD0F80-3893-59C2-F5BE-7F0B4BC0E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1152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GB" altLang="en-US" sz="1800">
                  <a:latin typeface="Courier New" panose="02070309020205020404" pitchFamily="49" charset="0"/>
                </a:rPr>
                <a:t>Alan Dix</a:t>
              </a:r>
            </a:p>
          </p:txBody>
        </p:sp>
        <p:sp>
          <p:nvSpPr>
            <p:cNvPr id="155656" name="Rectangle 8">
              <a:extLst>
                <a:ext uri="{FF2B5EF4-FFF2-40B4-BE49-F238E27FC236}">
                  <a16:creationId xmlns:a16="http://schemas.microsoft.com/office/drawing/2014/main" id="{A80B73C5-5EA5-CCAC-C202-B508538A5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612"/>
              <a:ext cx="100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GB" altLang="en-US" sz="1800">
                  <a:latin typeface="Courier New" panose="02070309020205020404" pitchFamily="49" charset="0"/>
                </a:rPr>
                <a:t>Lancaster</a:t>
              </a:r>
            </a:p>
          </p:txBody>
        </p:sp>
      </p:grpSp>
      <p:grpSp>
        <p:nvGrpSpPr>
          <p:cNvPr id="155664" name="Group 16">
            <a:extLst>
              <a:ext uri="{FF2B5EF4-FFF2-40B4-BE49-F238E27FC236}">
                <a16:creationId xmlns:a16="http://schemas.microsoft.com/office/drawing/2014/main" id="{4A32524C-D645-4859-1B3A-9ACDD1919548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514600"/>
            <a:ext cx="2895600" cy="990600"/>
            <a:chOff x="3840" y="2112"/>
            <a:chExt cx="1824" cy="624"/>
          </a:xfrm>
        </p:grpSpPr>
        <p:sp>
          <p:nvSpPr>
            <p:cNvPr id="155658" name="Rectangle 10">
              <a:extLst>
                <a:ext uri="{FF2B5EF4-FFF2-40B4-BE49-F238E27FC236}">
                  <a16:creationId xmlns:a16="http://schemas.microsoft.com/office/drawing/2014/main" id="{4D973685-C18D-986C-C0ED-762FF3C03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112"/>
              <a:ext cx="1824" cy="6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5659" name="Text Box 11">
              <a:extLst>
                <a:ext uri="{FF2B5EF4-FFF2-40B4-BE49-F238E27FC236}">
                  <a16:creationId xmlns:a16="http://schemas.microsoft.com/office/drawing/2014/main" id="{70C65C41-493F-359E-AC8C-26AC75ABF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208"/>
              <a:ext cx="50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600" b="1">
                  <a:latin typeface="Arial" panose="020B0604020202020204" pitchFamily="34" charset="0"/>
                </a:rPr>
                <a:t>Name:</a:t>
              </a:r>
            </a:p>
          </p:txBody>
        </p:sp>
        <p:sp>
          <p:nvSpPr>
            <p:cNvPr id="155660" name="Text Box 12">
              <a:extLst>
                <a:ext uri="{FF2B5EF4-FFF2-40B4-BE49-F238E27FC236}">
                  <a16:creationId xmlns:a16="http://schemas.microsoft.com/office/drawing/2014/main" id="{89B71AC5-89F5-9FB1-9E51-689176514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428"/>
              <a:ext cx="67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600" b="1">
                  <a:latin typeface="Arial" panose="020B0604020202020204" pitchFamily="34" charset="0"/>
                </a:rPr>
                <a:t>Address:</a:t>
              </a:r>
            </a:p>
          </p:txBody>
        </p:sp>
        <p:sp>
          <p:nvSpPr>
            <p:cNvPr id="155661" name="Rectangle 13">
              <a:extLst>
                <a:ext uri="{FF2B5EF4-FFF2-40B4-BE49-F238E27FC236}">
                  <a16:creationId xmlns:a16="http://schemas.microsoft.com/office/drawing/2014/main" id="{3A4D09D8-1C2F-D77E-957F-7FF0B2F72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208"/>
              <a:ext cx="100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GB" altLang="en-US" sz="1800">
                  <a:latin typeface="Courier New" panose="02070309020205020404" pitchFamily="49" charset="0"/>
                </a:rPr>
                <a:t>Alan Dix</a:t>
              </a:r>
            </a:p>
          </p:txBody>
        </p:sp>
        <p:sp>
          <p:nvSpPr>
            <p:cNvPr id="155662" name="Rectangle 14">
              <a:extLst>
                <a:ext uri="{FF2B5EF4-FFF2-40B4-BE49-F238E27FC236}">
                  <a16:creationId xmlns:a16="http://schemas.microsoft.com/office/drawing/2014/main" id="{568B1E5A-322D-BD14-6907-D4F49B49F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428"/>
              <a:ext cx="100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GB" altLang="en-US" sz="1800">
                  <a:latin typeface="Courier New" panose="02070309020205020404" pitchFamily="49" charset="0"/>
                </a:rPr>
                <a:t>Lancaster</a:t>
              </a:r>
            </a:p>
          </p:txBody>
        </p:sp>
      </p:grpSp>
      <p:grpSp>
        <p:nvGrpSpPr>
          <p:cNvPr id="155671" name="Group 23">
            <a:extLst>
              <a:ext uri="{FF2B5EF4-FFF2-40B4-BE49-F238E27FC236}">
                <a16:creationId xmlns:a16="http://schemas.microsoft.com/office/drawing/2014/main" id="{BD79503B-8E58-84C8-95CB-F9689E7652A2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3733800"/>
            <a:ext cx="2895600" cy="990600"/>
            <a:chOff x="3840" y="2352"/>
            <a:chExt cx="1824" cy="624"/>
          </a:xfrm>
        </p:grpSpPr>
        <p:sp>
          <p:nvSpPr>
            <p:cNvPr id="155666" name="Rectangle 18">
              <a:extLst>
                <a:ext uri="{FF2B5EF4-FFF2-40B4-BE49-F238E27FC236}">
                  <a16:creationId xmlns:a16="http://schemas.microsoft.com/office/drawing/2014/main" id="{7D829D9E-C862-D569-BD23-7FE4703B8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352"/>
              <a:ext cx="1824" cy="6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5667" name="Text Box 19">
              <a:extLst>
                <a:ext uri="{FF2B5EF4-FFF2-40B4-BE49-F238E27FC236}">
                  <a16:creationId xmlns:a16="http://schemas.microsoft.com/office/drawing/2014/main" id="{660108F0-353A-B969-B18B-A6B823B3B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3" y="2448"/>
              <a:ext cx="50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600" b="1">
                  <a:latin typeface="Arial" panose="020B0604020202020204" pitchFamily="34" charset="0"/>
                </a:rPr>
                <a:t>Name:</a:t>
              </a:r>
            </a:p>
          </p:txBody>
        </p:sp>
        <p:sp>
          <p:nvSpPr>
            <p:cNvPr id="155668" name="Text Box 20">
              <a:extLst>
                <a:ext uri="{FF2B5EF4-FFF2-40B4-BE49-F238E27FC236}">
                  <a16:creationId xmlns:a16="http://schemas.microsoft.com/office/drawing/2014/main" id="{03AD38C8-3084-CDB1-0FB9-D72AB7C12D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668"/>
              <a:ext cx="67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600" b="1">
                  <a:latin typeface="Arial" panose="020B0604020202020204" pitchFamily="34" charset="0"/>
                </a:rPr>
                <a:t>Address:</a:t>
              </a:r>
            </a:p>
          </p:txBody>
        </p:sp>
        <p:sp>
          <p:nvSpPr>
            <p:cNvPr id="155669" name="Rectangle 21">
              <a:extLst>
                <a:ext uri="{FF2B5EF4-FFF2-40B4-BE49-F238E27FC236}">
                  <a16:creationId xmlns:a16="http://schemas.microsoft.com/office/drawing/2014/main" id="{1BDE22C8-4888-B30B-29DF-9D756CBC5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448"/>
              <a:ext cx="100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GB" altLang="en-US" sz="1800">
                  <a:latin typeface="Courier New" panose="02070309020205020404" pitchFamily="49" charset="0"/>
                </a:rPr>
                <a:t>Alan Dix</a:t>
              </a:r>
            </a:p>
          </p:txBody>
        </p:sp>
        <p:sp>
          <p:nvSpPr>
            <p:cNvPr id="155670" name="Rectangle 22">
              <a:extLst>
                <a:ext uri="{FF2B5EF4-FFF2-40B4-BE49-F238E27FC236}">
                  <a16:creationId xmlns:a16="http://schemas.microsoft.com/office/drawing/2014/main" id="{F46C92B3-DEC7-10CA-1AFC-28E9879FB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668"/>
              <a:ext cx="100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GB" altLang="en-US" sz="1800">
                  <a:latin typeface="Courier New" panose="02070309020205020404" pitchFamily="49" charset="0"/>
                </a:rPr>
                <a:t>Lancaster</a:t>
              </a:r>
            </a:p>
          </p:txBody>
        </p:sp>
      </p:grpSp>
      <p:sp>
        <p:nvSpPr>
          <p:cNvPr id="155673" name="Line 25">
            <a:extLst>
              <a:ext uri="{FF2B5EF4-FFF2-40B4-BE49-F238E27FC236}">
                <a16:creationId xmlns:a16="http://schemas.microsoft.com/office/drawing/2014/main" id="{CACF9407-0FC1-4382-7E78-3E062AF0D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143000"/>
            <a:ext cx="1219200" cy="12192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5674" name="Line 26">
            <a:extLst>
              <a:ext uri="{FF2B5EF4-FFF2-40B4-BE49-F238E27FC236}">
                <a16:creationId xmlns:a16="http://schemas.microsoft.com/office/drawing/2014/main" id="{D671219D-A41F-A2FB-8696-46D130BBDD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1143000"/>
            <a:ext cx="1219200" cy="12192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5676" name="Text Box 28">
            <a:extLst>
              <a:ext uri="{FF2B5EF4-FFF2-40B4-BE49-F238E27FC236}">
                <a16:creationId xmlns:a16="http://schemas.microsoft.com/office/drawing/2014/main" id="{F55A9073-DB69-9DEE-7A89-4DA2A1A8F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209800"/>
            <a:ext cx="1141413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FF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9600">
                <a:solidFill>
                  <a:srgbClr val="66FF33"/>
                </a:solidFill>
                <a:latin typeface="Times New Roman" panose="02020603050405020304" pitchFamily="18" charset="0"/>
                <a:sym typeface="Wingdings" pitchFamily="2" charset="2"/>
              </a:rPr>
              <a:t></a:t>
            </a:r>
          </a:p>
        </p:txBody>
      </p:sp>
      <p:sp>
        <p:nvSpPr>
          <p:cNvPr id="155677" name="Text Box 29">
            <a:extLst>
              <a:ext uri="{FF2B5EF4-FFF2-40B4-BE49-F238E27FC236}">
                <a16:creationId xmlns:a16="http://schemas.microsoft.com/office/drawing/2014/main" id="{7E467A00-A211-0D56-FA9E-249FD1CDC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140075"/>
            <a:ext cx="7937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9600" b="1">
                <a:solidFill>
                  <a:schemeClr val="accent2"/>
                </a:solidFill>
                <a:latin typeface="Times New Roman" panose="02020603050405020304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76" grpId="0" autoUpdateAnimBg="0"/>
      <p:bldP spid="155677" grpId="0" build="p" autoUpdateAnimBg="0" advAuto="100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C45EBD70-C9D1-2E1F-1608-FD31D9D96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knowing what to do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D0DBFA28-005E-95C4-797F-699D4E4933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what is active what is passive</a:t>
            </a:r>
          </a:p>
          <a:p>
            <a:pPr lvl="1"/>
            <a:r>
              <a:rPr lang="en-GB" altLang="en-US"/>
              <a:t>where do you click</a:t>
            </a:r>
          </a:p>
          <a:p>
            <a:pPr lvl="1"/>
            <a:r>
              <a:rPr lang="en-GB" altLang="en-US"/>
              <a:t>where do you type</a:t>
            </a:r>
          </a:p>
          <a:p>
            <a:r>
              <a:rPr lang="en-GB" altLang="en-US"/>
              <a:t>consistent style helps</a:t>
            </a:r>
          </a:p>
          <a:p>
            <a:pPr lvl="1"/>
            <a:r>
              <a:rPr lang="en-GB" altLang="en-US"/>
              <a:t>e.g. web </a:t>
            </a:r>
            <a:r>
              <a:rPr lang="en-GB" altLang="en-US" u="sng">
                <a:solidFill>
                  <a:srgbClr val="2E005D"/>
                </a:solidFill>
              </a:rPr>
              <a:t>underlined links</a:t>
            </a:r>
            <a:endParaRPr lang="en-GB" altLang="en-US"/>
          </a:p>
          <a:p>
            <a:r>
              <a:rPr lang="en-GB" altLang="en-US"/>
              <a:t>labels and icons</a:t>
            </a:r>
          </a:p>
          <a:p>
            <a:pPr lvl="1"/>
            <a:r>
              <a:rPr lang="en-GB" altLang="en-US"/>
              <a:t>standards for common actions</a:t>
            </a:r>
          </a:p>
          <a:p>
            <a:pPr lvl="1"/>
            <a:r>
              <a:rPr lang="en-GB" altLang="en-US"/>
              <a:t>language – bold = current state or action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3A3BF323-9394-159E-C0DD-188292B6BB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affordances</a:t>
            </a:r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328E87C7-AEFB-1553-1C85-6AE2A06DF5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psychological term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for physical objects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shape and size suggest actions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pick up, twist, throw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also cultural – buttons ‘afford’ pushing 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for screen objects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button–like object ‘affords’ mouse click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physical-like objects suggest use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culture of computer use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icons ‘afford’ clicking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or even double clicking … not like real buttons!</a:t>
            </a:r>
          </a:p>
        </p:txBody>
      </p:sp>
      <p:grpSp>
        <p:nvGrpSpPr>
          <p:cNvPr id="177168" name="Group 16">
            <a:extLst>
              <a:ext uri="{FF2B5EF4-FFF2-40B4-BE49-F238E27FC236}">
                <a16:creationId xmlns:a16="http://schemas.microsoft.com/office/drawing/2014/main" id="{82E7D24E-9084-741C-81DD-61BAEE4A6EBF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1219200"/>
            <a:ext cx="3429000" cy="1516063"/>
            <a:chOff x="3408" y="768"/>
            <a:chExt cx="2160" cy="955"/>
          </a:xfrm>
        </p:grpSpPr>
        <p:pic>
          <p:nvPicPr>
            <p:cNvPr id="177167" name="Picture 15">
              <a:extLst>
                <a:ext uri="{FF2B5EF4-FFF2-40B4-BE49-F238E27FC236}">
                  <a16:creationId xmlns:a16="http://schemas.microsoft.com/office/drawing/2014/main" id="{18420A05-A29A-6C43-8A74-0CC24F9A31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768"/>
              <a:ext cx="960" cy="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7158" name="Text Box 6">
              <a:extLst>
                <a:ext uri="{FF2B5EF4-FFF2-40B4-BE49-F238E27FC236}">
                  <a16:creationId xmlns:a16="http://schemas.microsoft.com/office/drawing/2014/main" id="{C9ED4C98-77FA-9B20-7EEB-409B667E3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6" y="1008"/>
              <a:ext cx="97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800">
                  <a:latin typeface="Verdana" panose="020B0604030504040204" pitchFamily="34" charset="0"/>
                </a:rPr>
                <a:t>mug handle</a:t>
              </a:r>
            </a:p>
          </p:txBody>
        </p:sp>
        <p:sp>
          <p:nvSpPr>
            <p:cNvPr id="177160" name="Line 8">
              <a:extLst>
                <a:ext uri="{FF2B5EF4-FFF2-40B4-BE49-F238E27FC236}">
                  <a16:creationId xmlns:a16="http://schemas.microsoft.com/office/drawing/2014/main" id="{9883C6CC-3B84-86C4-1812-37ED1D52EC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2" y="1152"/>
              <a:ext cx="336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77169" name="Group 17">
            <a:extLst>
              <a:ext uri="{FF2B5EF4-FFF2-40B4-BE49-F238E27FC236}">
                <a16:creationId xmlns:a16="http://schemas.microsoft.com/office/drawing/2014/main" id="{FE8B4CEB-2725-0EE8-D6D8-E444D0F719C3}"/>
              </a:ext>
            </a:extLst>
          </p:cNvPr>
          <p:cNvGrpSpPr>
            <a:grpSpLocks/>
          </p:cNvGrpSpPr>
          <p:nvPr/>
        </p:nvGrpSpPr>
        <p:grpSpPr bwMode="auto">
          <a:xfrm>
            <a:off x="6999288" y="2209800"/>
            <a:ext cx="1870075" cy="2895600"/>
            <a:chOff x="4409" y="1392"/>
            <a:chExt cx="1178" cy="1824"/>
          </a:xfrm>
        </p:grpSpPr>
        <p:pic>
          <p:nvPicPr>
            <p:cNvPr id="177166" name="Picture 14">
              <a:extLst>
                <a:ext uri="{FF2B5EF4-FFF2-40B4-BE49-F238E27FC236}">
                  <a16:creationId xmlns:a16="http://schemas.microsoft.com/office/drawing/2014/main" id="{5DEF8ACD-B6B6-B7C5-F275-4BA43B328D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9" y="2112"/>
              <a:ext cx="1063" cy="1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7159" name="Text Box 7">
              <a:extLst>
                <a:ext uri="{FF2B5EF4-FFF2-40B4-BE49-F238E27FC236}">
                  <a16:creationId xmlns:a16="http://schemas.microsoft.com/office/drawing/2014/main" id="{9E8B2DC1-17EB-E96C-0AEE-1F40C6BF6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1392"/>
              <a:ext cx="739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800">
                  <a:latin typeface="Verdana" panose="020B0604030504040204" pitchFamily="34" charset="0"/>
                </a:rPr>
                <a:t>‘affords’</a:t>
              </a:r>
              <a:br>
                <a:rPr lang="en-GB" altLang="en-US" sz="1800">
                  <a:latin typeface="Verdana" panose="020B0604030504040204" pitchFamily="34" charset="0"/>
                </a:rPr>
              </a:br>
              <a:r>
                <a:rPr lang="en-GB" altLang="en-US" sz="1800">
                  <a:latin typeface="Verdana" panose="020B0604030504040204" pitchFamily="34" charset="0"/>
                </a:rPr>
                <a:t>grasping</a:t>
              </a:r>
            </a:p>
          </p:txBody>
        </p:sp>
        <p:sp>
          <p:nvSpPr>
            <p:cNvPr id="177161" name="Line 9">
              <a:extLst>
                <a:ext uri="{FF2B5EF4-FFF2-40B4-BE49-F238E27FC236}">
                  <a16:creationId xmlns:a16="http://schemas.microsoft.com/office/drawing/2014/main" id="{29523E00-2FFD-ABB4-9065-3751098F7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1824"/>
              <a:ext cx="96" cy="5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4570C976-5522-9F11-D37F-6743E10B6F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GB" altLang="en-US" sz="3600"/>
              <a:t>appropriate appearance</a:t>
            </a:r>
          </a:p>
        </p:txBody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1107572E-DDD3-3009-523C-E017DF4DE91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2800"/>
              <a:t>presenting information</a:t>
            </a:r>
          </a:p>
          <a:p>
            <a:r>
              <a:rPr lang="en-GB" altLang="en-US" sz="2800"/>
              <a:t>aesthetics and utility</a:t>
            </a:r>
          </a:p>
          <a:p>
            <a:r>
              <a:rPr lang="en-GB" altLang="en-US" sz="2800"/>
              <a:t>colour and 3D</a:t>
            </a:r>
          </a:p>
          <a:p>
            <a:r>
              <a:rPr lang="en-GB" altLang="en-US" sz="2800"/>
              <a:t>localisation &amp; internationalisation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CDDBA861-825D-4924-7A8A-B917EE936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presenting information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72998B30-235B-FD94-8A1F-EC2B9EB30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purpose matters</a:t>
            </a:r>
          </a:p>
          <a:p>
            <a:pPr lvl="1"/>
            <a:r>
              <a:rPr lang="en-GB" altLang="en-US" sz="2000"/>
              <a:t>sort order </a:t>
            </a:r>
            <a:r>
              <a:rPr lang="en-GB" altLang="en-US" sz="1600"/>
              <a:t>(which column, numeric alphabetic)</a:t>
            </a:r>
            <a:endParaRPr lang="en-GB" altLang="en-US" sz="2000"/>
          </a:p>
          <a:p>
            <a:pPr lvl="1"/>
            <a:r>
              <a:rPr lang="en-GB" altLang="en-US" sz="2000"/>
              <a:t>text vs. diagram</a:t>
            </a:r>
          </a:p>
          <a:p>
            <a:pPr lvl="1"/>
            <a:r>
              <a:rPr lang="en-GB" altLang="en-US" sz="2000"/>
              <a:t>scatter graph vs. histogram</a:t>
            </a:r>
          </a:p>
          <a:p>
            <a:endParaRPr lang="en-GB" altLang="en-US" sz="1200"/>
          </a:p>
          <a:p>
            <a:r>
              <a:rPr lang="en-GB" altLang="en-US" sz="2400"/>
              <a:t>use paper presentation principles!</a:t>
            </a:r>
          </a:p>
          <a:p>
            <a:endParaRPr lang="en-GB" altLang="en-US" sz="1200"/>
          </a:p>
          <a:p>
            <a:r>
              <a:rPr lang="en-GB" altLang="en-US" sz="2400"/>
              <a:t>but add interactivity</a:t>
            </a:r>
          </a:p>
          <a:p>
            <a:pPr lvl="1"/>
            <a:r>
              <a:rPr lang="en-GB" altLang="en-US" sz="2000"/>
              <a:t>softens design choices </a:t>
            </a:r>
          </a:p>
          <a:p>
            <a:pPr marL="1162050" lvl="2"/>
            <a:r>
              <a:rPr lang="en-GB" altLang="en-US" sz="1800"/>
              <a:t>e.g. re-ordering columns</a:t>
            </a:r>
          </a:p>
          <a:p>
            <a:pPr marL="1162050" lvl="2"/>
            <a:r>
              <a:rPr lang="en-GB" altLang="en-US" sz="1800"/>
              <a:t>‘dancing histograms’ (chap 21)</a:t>
            </a:r>
          </a:p>
        </p:txBody>
      </p:sp>
      <p:grpSp>
        <p:nvGrpSpPr>
          <p:cNvPr id="156684" name="Group 12">
            <a:extLst>
              <a:ext uri="{FF2B5EF4-FFF2-40B4-BE49-F238E27FC236}">
                <a16:creationId xmlns:a16="http://schemas.microsoft.com/office/drawing/2014/main" id="{2A3A2A79-B2E1-24DE-99A8-E4B6BF3263D9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057400"/>
            <a:ext cx="1905000" cy="2362200"/>
            <a:chOff x="4416" y="1296"/>
            <a:chExt cx="1200" cy="1488"/>
          </a:xfrm>
        </p:grpSpPr>
        <p:sp>
          <p:nvSpPr>
            <p:cNvPr id="156685" name="Rectangle 13">
              <a:extLst>
                <a:ext uri="{FF2B5EF4-FFF2-40B4-BE49-F238E27FC236}">
                  <a16:creationId xmlns:a16="http://schemas.microsoft.com/office/drawing/2014/main" id="{AB91CA41-86EF-5FDC-DE46-A77353322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296"/>
              <a:ext cx="1200" cy="1488"/>
            </a:xfrm>
            <a:prstGeom prst="rect">
              <a:avLst/>
            </a:prstGeom>
            <a:solidFill>
              <a:srgbClr val="F3FA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6686" name="Text Box 14">
              <a:extLst>
                <a:ext uri="{FF2B5EF4-FFF2-40B4-BE49-F238E27FC236}">
                  <a16:creationId xmlns:a16="http://schemas.microsoft.com/office/drawing/2014/main" id="{AEF57C5B-D3DB-4787-2626-A11E49CD8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5" y="1584"/>
              <a:ext cx="535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600">
                  <a:latin typeface="Arial" panose="020B0604020202020204" pitchFamily="34" charset="0"/>
                </a:rPr>
                <a:t>chap1</a:t>
              </a:r>
            </a:p>
            <a:p>
              <a:r>
                <a:rPr lang="en-GB" altLang="en-US" sz="1600">
                  <a:latin typeface="Arial" panose="020B0604020202020204" pitchFamily="34" charset="0"/>
                </a:rPr>
                <a:t>chap10</a:t>
              </a:r>
            </a:p>
            <a:p>
              <a:r>
                <a:rPr lang="en-GB" altLang="en-US" sz="1600">
                  <a:latin typeface="Arial" panose="020B0604020202020204" pitchFamily="34" charset="0"/>
                </a:rPr>
                <a:t>chap11</a:t>
              </a:r>
            </a:p>
            <a:p>
              <a:r>
                <a:rPr lang="en-GB" altLang="en-US" sz="1600">
                  <a:latin typeface="Arial" panose="020B0604020202020204" pitchFamily="34" charset="0"/>
                </a:rPr>
                <a:t>chap12</a:t>
              </a:r>
            </a:p>
            <a:p>
              <a:r>
                <a:rPr lang="en-GB" altLang="en-US" sz="1600">
                  <a:latin typeface="Arial" panose="020B0604020202020204" pitchFamily="34" charset="0"/>
                </a:rPr>
                <a:t>chap13</a:t>
              </a:r>
            </a:p>
            <a:p>
              <a:r>
                <a:rPr lang="en-GB" altLang="en-US" sz="1600">
                  <a:latin typeface="Arial" panose="020B0604020202020204" pitchFamily="34" charset="0"/>
                </a:rPr>
                <a:t>chap14</a:t>
              </a:r>
            </a:p>
            <a:p>
              <a:r>
                <a:rPr lang="en-GB" altLang="en-US" sz="1600">
                  <a:latin typeface="Arial" panose="020B0604020202020204" pitchFamily="34" charset="0"/>
                </a:rPr>
                <a:t>   </a:t>
              </a:r>
              <a:r>
                <a:rPr lang="en-GB" altLang="en-US" sz="1600" b="1"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156687" name="Text Box 15">
              <a:extLst>
                <a:ext uri="{FF2B5EF4-FFF2-40B4-BE49-F238E27FC236}">
                  <a16:creationId xmlns:a16="http://schemas.microsoft.com/office/drawing/2014/main" id="{FBD3A10C-5195-9888-2B5E-61A1C5388A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8" y="1584"/>
              <a:ext cx="352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17</a:t>
              </a:r>
            </a:p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12</a:t>
              </a:r>
            </a:p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51</a:t>
              </a:r>
            </a:p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262</a:t>
              </a:r>
            </a:p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83</a:t>
              </a:r>
            </a:p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22</a:t>
              </a:r>
            </a:p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   </a:t>
              </a:r>
              <a:r>
                <a:rPr lang="en-GB" altLang="en-US" sz="1600" b="1"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156688" name="Line 16">
              <a:extLst>
                <a:ext uri="{FF2B5EF4-FFF2-40B4-BE49-F238E27FC236}">
                  <a16:creationId xmlns:a16="http://schemas.microsoft.com/office/drawing/2014/main" id="{C51FBD04-8096-36B9-C3E9-1961E4677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536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6689" name="Rectangle 17">
              <a:extLst>
                <a:ext uri="{FF2B5EF4-FFF2-40B4-BE49-F238E27FC236}">
                  <a16:creationId xmlns:a16="http://schemas.microsoft.com/office/drawing/2014/main" id="{FA0FC0B0-ED23-609B-3C85-D7EBB6DC8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296"/>
              <a:ext cx="52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sz="1600" b="1">
                  <a:latin typeface="Arial" panose="020B0604020202020204" pitchFamily="34" charset="0"/>
                </a:rPr>
                <a:t>size</a:t>
              </a:r>
            </a:p>
          </p:txBody>
        </p:sp>
        <p:sp>
          <p:nvSpPr>
            <p:cNvPr id="156690" name="Rectangle 18">
              <a:extLst>
                <a:ext uri="{FF2B5EF4-FFF2-40B4-BE49-F238E27FC236}">
                  <a16:creationId xmlns:a16="http://schemas.microsoft.com/office/drawing/2014/main" id="{2E0A1472-14D3-72D2-B8AF-C913001A1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296"/>
              <a:ext cx="67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sz="1600" b="1">
                  <a:latin typeface="Arial" panose="020B0604020202020204" pitchFamily="34" charset="0"/>
                </a:rPr>
                <a:t>name</a:t>
              </a:r>
            </a:p>
          </p:txBody>
        </p:sp>
      </p:grpSp>
      <p:sp>
        <p:nvSpPr>
          <p:cNvPr id="156691" name="Rectangle 19">
            <a:extLst>
              <a:ext uri="{FF2B5EF4-FFF2-40B4-BE49-F238E27FC236}">
                <a16:creationId xmlns:a16="http://schemas.microsoft.com/office/drawing/2014/main" id="{3591CD07-8522-5A7F-E313-51ECCF21D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057400"/>
            <a:ext cx="838200" cy="381000"/>
          </a:xfrm>
          <a:prstGeom prst="rect">
            <a:avLst/>
          </a:prstGeom>
          <a:solidFill>
            <a:srgbClr val="2E005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1600" b="1">
                <a:solidFill>
                  <a:schemeClr val="bg1"/>
                </a:solidFill>
                <a:latin typeface="Arial" panose="020B0604020202020204" pitchFamily="34" charset="0"/>
              </a:rPr>
              <a:t>size</a:t>
            </a:r>
          </a:p>
        </p:txBody>
      </p:sp>
      <p:grpSp>
        <p:nvGrpSpPr>
          <p:cNvPr id="156692" name="Group 20">
            <a:extLst>
              <a:ext uri="{FF2B5EF4-FFF2-40B4-BE49-F238E27FC236}">
                <a16:creationId xmlns:a16="http://schemas.microsoft.com/office/drawing/2014/main" id="{6D007E01-1B7A-DE46-D33D-AFD4FD4E1BE1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057400"/>
            <a:ext cx="1905000" cy="2362200"/>
            <a:chOff x="1680" y="2016"/>
            <a:chExt cx="1200" cy="1488"/>
          </a:xfrm>
        </p:grpSpPr>
        <p:sp>
          <p:nvSpPr>
            <p:cNvPr id="156693" name="Rectangle 21">
              <a:extLst>
                <a:ext uri="{FF2B5EF4-FFF2-40B4-BE49-F238E27FC236}">
                  <a16:creationId xmlns:a16="http://schemas.microsoft.com/office/drawing/2014/main" id="{29512864-5F90-6B06-2527-43BF87B5A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016"/>
              <a:ext cx="1200" cy="1488"/>
            </a:xfrm>
            <a:prstGeom prst="rect">
              <a:avLst/>
            </a:prstGeom>
            <a:solidFill>
              <a:srgbClr val="F3FA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6694" name="Text Box 22">
              <a:extLst>
                <a:ext uri="{FF2B5EF4-FFF2-40B4-BE49-F238E27FC236}">
                  <a16:creationId xmlns:a16="http://schemas.microsoft.com/office/drawing/2014/main" id="{74F6DB8C-A8D3-19C8-A43A-18544495E4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9" y="2304"/>
              <a:ext cx="535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600">
                  <a:latin typeface="Arial" panose="020B0604020202020204" pitchFamily="34" charset="0"/>
                </a:rPr>
                <a:t>chap10</a:t>
              </a:r>
            </a:p>
            <a:p>
              <a:r>
                <a:rPr lang="en-GB" altLang="en-US" sz="1600">
                  <a:latin typeface="Arial" panose="020B0604020202020204" pitchFamily="34" charset="0"/>
                </a:rPr>
                <a:t>chap5</a:t>
              </a:r>
            </a:p>
            <a:p>
              <a:r>
                <a:rPr lang="en-GB" altLang="en-US" sz="1600">
                  <a:latin typeface="Arial" panose="020B0604020202020204" pitchFamily="34" charset="0"/>
                </a:rPr>
                <a:t>chap1</a:t>
              </a:r>
            </a:p>
            <a:p>
              <a:r>
                <a:rPr lang="en-GB" altLang="en-US" sz="1600">
                  <a:latin typeface="Arial" panose="020B0604020202020204" pitchFamily="34" charset="0"/>
                </a:rPr>
                <a:t>chap14</a:t>
              </a:r>
            </a:p>
            <a:p>
              <a:r>
                <a:rPr lang="en-GB" altLang="en-US" sz="1600">
                  <a:latin typeface="Arial" panose="020B0604020202020204" pitchFamily="34" charset="0"/>
                </a:rPr>
                <a:t>chap20</a:t>
              </a:r>
            </a:p>
            <a:p>
              <a:r>
                <a:rPr lang="en-GB" altLang="en-US" sz="1600">
                  <a:latin typeface="Arial" panose="020B0604020202020204" pitchFamily="34" charset="0"/>
                </a:rPr>
                <a:t>chap8</a:t>
              </a:r>
            </a:p>
            <a:p>
              <a:r>
                <a:rPr lang="en-GB" altLang="en-US" sz="1600" b="1"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156695" name="Text Box 23">
              <a:extLst>
                <a:ext uri="{FF2B5EF4-FFF2-40B4-BE49-F238E27FC236}">
                  <a16:creationId xmlns:a16="http://schemas.microsoft.com/office/drawing/2014/main" id="{32EF9309-FB91-DCC0-EFFF-3894B74C2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6" y="2304"/>
              <a:ext cx="258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12</a:t>
              </a:r>
            </a:p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16</a:t>
              </a:r>
            </a:p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17</a:t>
              </a:r>
            </a:p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22</a:t>
              </a:r>
            </a:p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27</a:t>
              </a:r>
            </a:p>
            <a:p>
              <a:pPr algn="r"/>
              <a:r>
                <a:rPr lang="en-GB" altLang="en-US" sz="1600">
                  <a:latin typeface="Arial" panose="020B0604020202020204" pitchFamily="34" charset="0"/>
                </a:rPr>
                <a:t>32</a:t>
              </a:r>
            </a:p>
            <a:p>
              <a:pPr algn="r"/>
              <a:r>
                <a:rPr lang="en-GB" altLang="en-US" sz="1600" b="1"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156696" name="Line 24">
              <a:extLst>
                <a:ext uri="{FF2B5EF4-FFF2-40B4-BE49-F238E27FC236}">
                  <a16:creationId xmlns:a16="http://schemas.microsoft.com/office/drawing/2014/main" id="{D26F399B-043C-7794-6AF4-72DA33EC9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256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6697" name="Rectangle 25">
              <a:extLst>
                <a:ext uri="{FF2B5EF4-FFF2-40B4-BE49-F238E27FC236}">
                  <a16:creationId xmlns:a16="http://schemas.microsoft.com/office/drawing/2014/main" id="{10F50183-60B7-C3EA-AA04-331C5C7FA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016"/>
              <a:ext cx="67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sz="1600" b="1">
                  <a:latin typeface="Arial" panose="020B0604020202020204" pitchFamily="34" charset="0"/>
                </a:rPr>
                <a:t>name</a:t>
              </a:r>
            </a:p>
          </p:txBody>
        </p:sp>
        <p:sp>
          <p:nvSpPr>
            <p:cNvPr id="156698" name="Rectangle 26">
              <a:extLst>
                <a:ext uri="{FF2B5EF4-FFF2-40B4-BE49-F238E27FC236}">
                  <a16:creationId xmlns:a16="http://schemas.microsoft.com/office/drawing/2014/main" id="{F17DC225-F3F2-08F6-13F2-37D8A16A4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016"/>
              <a:ext cx="52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altLang="en-US" sz="1600" b="1">
                  <a:latin typeface="Arial" panose="020B0604020202020204" pitchFamily="34" charset="0"/>
                </a:rPr>
                <a:t>size</a:t>
              </a:r>
            </a:p>
          </p:txBody>
        </p:sp>
      </p:grpSp>
      <p:sp>
        <p:nvSpPr>
          <p:cNvPr id="156699" name="Line 27">
            <a:extLst>
              <a:ext uri="{FF2B5EF4-FFF2-40B4-BE49-F238E27FC236}">
                <a16:creationId xmlns:a16="http://schemas.microsoft.com/office/drawing/2014/main" id="{B72E1179-87C4-F3FD-C001-01DC9B1D63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82000" y="2286000"/>
            <a:ext cx="457200" cy="3810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91" grpId="0" animBg="1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8" name="Rectangle 4">
            <a:extLst>
              <a:ext uri="{FF2B5EF4-FFF2-40B4-BE49-F238E27FC236}">
                <a16:creationId xmlns:a16="http://schemas.microsoft.com/office/drawing/2014/main" id="{98E86CAE-BAC5-B329-A752-74BBEB2EA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05000"/>
            <a:ext cx="8001000" cy="434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9986" name="Rectangle 2">
            <a:extLst>
              <a:ext uri="{FF2B5EF4-FFF2-40B4-BE49-F238E27FC236}">
                <a16:creationId xmlns:a16="http://schemas.microsoft.com/office/drawing/2014/main" id="{8D78F925-BFBD-C72F-64A6-E9366F1E2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aesthetics and utility</a:t>
            </a: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FBC33230-36B3-59E2-AB42-20B12C9E7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aesthetically pleasing designs</a:t>
            </a:r>
          </a:p>
          <a:p>
            <a:pPr lvl="1"/>
            <a:r>
              <a:rPr lang="en-GB" altLang="en-US" sz="2000"/>
              <a:t>increase user satisfaction and improve productivity</a:t>
            </a:r>
          </a:p>
          <a:p>
            <a:r>
              <a:rPr lang="en-GB" altLang="en-US" sz="2400"/>
              <a:t>beauty and utility may conflict</a:t>
            </a:r>
          </a:p>
          <a:p>
            <a:pPr lvl="1"/>
            <a:r>
              <a:rPr lang="en-GB" altLang="en-US" sz="2000"/>
              <a:t>mixed up visual styles </a:t>
            </a:r>
            <a:r>
              <a:rPr lang="en-GB" altLang="en-US" sz="2000">
                <a:sym typeface="Symbol" pitchFamily="2" charset="2"/>
              </a:rPr>
              <a:t></a:t>
            </a:r>
            <a:r>
              <a:rPr lang="en-GB" altLang="en-US" sz="2000"/>
              <a:t> easy to distinguish</a:t>
            </a:r>
          </a:p>
          <a:p>
            <a:pPr lvl="1"/>
            <a:r>
              <a:rPr lang="en-GB" altLang="en-US" sz="2000"/>
              <a:t>clean design – little differentiation </a:t>
            </a:r>
            <a:r>
              <a:rPr lang="en-GB" altLang="en-US" sz="2000">
                <a:sym typeface="Symbol" pitchFamily="2" charset="2"/>
              </a:rPr>
              <a:t></a:t>
            </a:r>
            <a:r>
              <a:rPr lang="en-GB" altLang="en-US" sz="2000"/>
              <a:t> confusing</a:t>
            </a:r>
          </a:p>
          <a:p>
            <a:pPr lvl="1"/>
            <a:r>
              <a:rPr lang="en-GB" altLang="en-US" sz="2000"/>
              <a:t>backgrounds behind text</a:t>
            </a:r>
            <a:br>
              <a:rPr lang="en-GB" altLang="en-US" sz="2000"/>
            </a:br>
            <a:r>
              <a:rPr lang="en-GB" altLang="en-US" sz="2000"/>
              <a:t>	… good to look at, but hard to read</a:t>
            </a:r>
          </a:p>
          <a:p>
            <a:r>
              <a:rPr lang="en-GB" altLang="en-US" sz="2400"/>
              <a:t>but can work together</a:t>
            </a:r>
          </a:p>
          <a:p>
            <a:pPr lvl="1"/>
            <a:r>
              <a:rPr lang="en-GB" altLang="en-US" sz="2000"/>
              <a:t>e.g. the design of the counter</a:t>
            </a:r>
          </a:p>
          <a:p>
            <a:pPr lvl="1"/>
            <a:r>
              <a:rPr lang="en-GB" altLang="en-US" sz="2000"/>
              <a:t>in consumer products – key differentiator </a:t>
            </a:r>
            <a:r>
              <a:rPr lang="en-GB" altLang="en-US" sz="1800"/>
              <a:t>(e.g. iMac)</a:t>
            </a:r>
            <a:endParaRPr lang="en-GB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14" name="Picture 6">
            <a:extLst>
              <a:ext uri="{FF2B5EF4-FFF2-40B4-BE49-F238E27FC236}">
                <a16:creationId xmlns:a16="http://schemas.microsoft.com/office/drawing/2014/main" id="{439B0D51-8955-B1CB-9459-515A945C2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5668963"/>
            <a:ext cx="2209800" cy="88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010" name="Rectangle 2">
            <a:extLst>
              <a:ext uri="{FF2B5EF4-FFF2-40B4-BE49-F238E27FC236}">
                <a16:creationId xmlns:a16="http://schemas.microsoft.com/office/drawing/2014/main" id="{9B846C1F-5098-0E6A-3F11-F1EC058352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colour and 3D</a:t>
            </a:r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E92F19B8-8D4F-3178-535E-7FFBCEC54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/>
              <a:t>both often used very badly!</a:t>
            </a:r>
          </a:p>
          <a:p>
            <a:r>
              <a:rPr lang="en-GB" altLang="en-US" sz="2400"/>
              <a:t>colour</a:t>
            </a:r>
          </a:p>
          <a:p>
            <a:pPr lvl="1"/>
            <a:r>
              <a:rPr lang="en-GB" altLang="en-US" sz="2000"/>
              <a:t>older monitors limited palette</a:t>
            </a:r>
          </a:p>
          <a:p>
            <a:pPr lvl="1"/>
            <a:r>
              <a:rPr lang="en-GB" altLang="en-US" sz="2000"/>
              <a:t>colour over used because ‘it is there’</a:t>
            </a:r>
          </a:p>
          <a:p>
            <a:pPr lvl="1"/>
            <a:r>
              <a:rPr lang="en-GB" altLang="en-US" sz="2000"/>
              <a:t>beware colour blind!</a:t>
            </a:r>
          </a:p>
          <a:p>
            <a:pPr lvl="1"/>
            <a:r>
              <a:rPr lang="en-GB" altLang="en-US" sz="2000"/>
              <a:t>use sparingly to </a:t>
            </a:r>
            <a:r>
              <a:rPr lang="en-GB" altLang="en-US" sz="2000">
                <a:solidFill>
                  <a:srgbClr val="009900"/>
                </a:solidFill>
              </a:rPr>
              <a:t>reinforce</a:t>
            </a:r>
            <a:r>
              <a:rPr lang="en-GB" altLang="en-US" sz="2000"/>
              <a:t> other information</a:t>
            </a:r>
          </a:p>
          <a:p>
            <a:r>
              <a:rPr lang="en-GB" altLang="en-US" sz="2400"/>
              <a:t>3D effects</a:t>
            </a:r>
          </a:p>
          <a:p>
            <a:pPr lvl="1"/>
            <a:r>
              <a:rPr lang="en-GB" altLang="en-US" sz="2000"/>
              <a:t>good for physical information and some graphs</a:t>
            </a:r>
          </a:p>
          <a:p>
            <a:pPr lvl="1"/>
            <a:r>
              <a:rPr lang="en-GB" altLang="en-US" sz="2000"/>
              <a:t>but if over used …</a:t>
            </a:r>
            <a:br>
              <a:rPr lang="en-GB" altLang="en-US" sz="2000"/>
            </a:br>
            <a:r>
              <a:rPr lang="en-GB" altLang="en-US" sz="2000"/>
              <a:t>	e.g. text in perspective!!  3D pie charts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E9766AEC-0B88-A3FC-26B7-CEEF3B3BF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6666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bad</a:t>
            </a:r>
            <a:r>
              <a:rPr lang="en-US" altLang="en-US"/>
              <a:t> </a:t>
            </a:r>
            <a:r>
              <a:rPr lang="en-US" altLang="en-US">
                <a:solidFill>
                  <a:srgbClr val="6666FF"/>
                </a:solidFill>
              </a:rPr>
              <a:t>use</a:t>
            </a:r>
            <a:r>
              <a:rPr lang="en-US" altLang="en-US"/>
              <a:t> </a:t>
            </a:r>
            <a:r>
              <a:rPr lang="en-US" altLang="en-US">
                <a:solidFill>
                  <a:srgbClr val="99FF99"/>
                </a:solidFill>
              </a:rPr>
              <a:t>of</a:t>
            </a:r>
            <a:r>
              <a:rPr lang="en-US" altLang="en-US"/>
              <a:t> </a:t>
            </a:r>
            <a:r>
              <a:rPr lang="en-US" altLang="en-US">
                <a:solidFill>
                  <a:schemeClr val="accent2"/>
                </a:solidFill>
              </a:rPr>
              <a:t>c</a:t>
            </a:r>
            <a:r>
              <a:rPr lang="en-US" altLang="en-US">
                <a:solidFill>
                  <a:srgbClr val="33CCFF"/>
                </a:solidFill>
              </a:rPr>
              <a:t>olou</a:t>
            </a:r>
            <a:r>
              <a:rPr lang="en-US" altLang="en-US">
                <a:solidFill>
                  <a:schemeClr val="accent2"/>
                </a:solidFill>
              </a:rPr>
              <a:t>r</a:t>
            </a:r>
            <a:endParaRPr lang="en-US" altLang="en-US"/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52917EED-A8D8-9BA6-C615-A94825E6E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0000"/>
          </a:solidFill>
        </p:spPr>
        <p:txBody>
          <a:bodyPr/>
          <a:lstStyle/>
          <a:p>
            <a:r>
              <a:rPr lang="en-US" altLang="en-US">
                <a:solidFill>
                  <a:srgbClr val="33CCFF"/>
                </a:solidFill>
              </a:rPr>
              <a:t>over</a:t>
            </a:r>
            <a:r>
              <a:rPr lang="en-US" altLang="en-US"/>
              <a:t> </a:t>
            </a:r>
            <a:r>
              <a:rPr lang="en-US" altLang="en-US">
                <a:solidFill>
                  <a:srgbClr val="660066"/>
                </a:solidFill>
              </a:rPr>
              <a:t>use</a:t>
            </a:r>
            <a:r>
              <a:rPr lang="en-US" altLang="en-US"/>
              <a:t> - </a:t>
            </a:r>
            <a:r>
              <a:rPr lang="en-US" altLang="en-US" sz="2000">
                <a:solidFill>
                  <a:schemeClr val="accent1"/>
                </a:solidFill>
              </a:rPr>
              <a:t>without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0000FF"/>
                </a:solidFill>
              </a:rPr>
              <a:t>very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33CCFF"/>
                </a:solidFill>
              </a:rPr>
              <a:t>good</a:t>
            </a:r>
            <a:r>
              <a:rPr lang="en-US" altLang="en-US" sz="2000"/>
              <a:t> reason (e.g. kids’ site)</a:t>
            </a:r>
          </a:p>
          <a:p>
            <a:r>
              <a:rPr lang="en-US" altLang="en-US">
                <a:solidFill>
                  <a:srgbClr val="00FF00"/>
                </a:solidFill>
              </a:rPr>
              <a:t>colour blindness</a:t>
            </a:r>
            <a:endParaRPr lang="en-US" altLang="en-US"/>
          </a:p>
          <a:p>
            <a:r>
              <a:rPr lang="en-US" altLang="en-US"/>
              <a:t>poor </a:t>
            </a:r>
            <a:r>
              <a:rPr lang="en-US" altLang="en-US">
                <a:solidFill>
                  <a:srgbClr val="FF3399"/>
                </a:solidFill>
              </a:rPr>
              <a:t>use of</a:t>
            </a:r>
            <a:r>
              <a:rPr lang="en-US" altLang="en-US"/>
              <a:t> contrast</a:t>
            </a:r>
          </a:p>
          <a:p>
            <a:r>
              <a:rPr lang="en-US" altLang="en-US"/>
              <a:t>do adjust your set!</a:t>
            </a:r>
          </a:p>
          <a:p>
            <a:pPr lvl="1"/>
            <a:r>
              <a:rPr lang="en-US" altLang="en-US"/>
              <a:t>adjust your monitor to greys only</a:t>
            </a:r>
          </a:p>
          <a:p>
            <a:pPr lvl="1"/>
            <a:r>
              <a:rPr lang="en-US" altLang="en-US"/>
              <a:t>can you still read your screen?</a:t>
            </a:r>
          </a:p>
        </p:txBody>
      </p:sp>
      <p:pic>
        <p:nvPicPr>
          <p:cNvPr id="181253" name="Picture 5">
            <a:extLst>
              <a:ext uri="{FF2B5EF4-FFF2-40B4-BE49-F238E27FC236}">
                <a16:creationId xmlns:a16="http://schemas.microsoft.com/office/drawing/2014/main" id="{91E58F0A-9DC7-C770-FB6D-B3828BEC6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25968473-A9E8-7451-5984-65EB3640B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across countries and cultures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BB6F6481-3975-6722-3A8D-5B1109124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localisation &amp; internationalisation</a:t>
            </a:r>
          </a:p>
          <a:p>
            <a:pPr marL="819150" lvl="1">
              <a:lnSpc>
                <a:spcPct val="90000"/>
              </a:lnSpc>
            </a:pPr>
            <a:r>
              <a:rPr lang="en-GB" altLang="en-US" sz="1800"/>
              <a:t>changing interfaces for particular cultures/languages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globalisation</a:t>
            </a:r>
          </a:p>
          <a:p>
            <a:pPr marL="819150" lvl="1">
              <a:lnSpc>
                <a:spcPct val="90000"/>
              </a:lnSpc>
            </a:pPr>
            <a:r>
              <a:rPr lang="en-GB" altLang="en-US" sz="1800"/>
              <a:t>try to choose symbols etc. that work everywhere</a:t>
            </a:r>
          </a:p>
          <a:p>
            <a:pPr>
              <a:lnSpc>
                <a:spcPct val="90000"/>
              </a:lnSpc>
            </a:pPr>
            <a:endParaRPr lang="en-GB" altLang="en-US" sz="1000"/>
          </a:p>
          <a:p>
            <a:pPr>
              <a:lnSpc>
                <a:spcPct val="90000"/>
              </a:lnSpc>
            </a:pPr>
            <a:r>
              <a:rPr lang="en-GB" altLang="en-US" sz="2000"/>
              <a:t>simply change language?</a:t>
            </a:r>
          </a:p>
          <a:p>
            <a:pPr marL="819150" lvl="1">
              <a:lnSpc>
                <a:spcPct val="90000"/>
              </a:lnSpc>
            </a:pPr>
            <a:r>
              <a:rPr lang="en-GB" altLang="en-US" sz="1800"/>
              <a:t>use ‘resource’ database instead of literal text</a:t>
            </a:r>
            <a:br>
              <a:rPr lang="en-GB" altLang="en-US" sz="1800"/>
            </a:br>
            <a:r>
              <a:rPr lang="en-GB" altLang="en-US" sz="1800"/>
              <a:t>… but changes sizes, left-right order etc.</a:t>
            </a:r>
          </a:p>
          <a:p>
            <a:pPr>
              <a:lnSpc>
                <a:spcPct val="90000"/>
              </a:lnSpc>
            </a:pPr>
            <a:r>
              <a:rPr lang="en-GB" altLang="en-US" sz="2000"/>
              <a:t>deeper issues</a:t>
            </a:r>
          </a:p>
          <a:p>
            <a:pPr marL="819150" lvl="1">
              <a:lnSpc>
                <a:spcPct val="90000"/>
              </a:lnSpc>
            </a:pPr>
            <a:r>
              <a:rPr lang="en-GB" altLang="en-US" sz="1800"/>
              <a:t>cultural assumptions and values</a:t>
            </a:r>
          </a:p>
          <a:p>
            <a:pPr marL="819150" lvl="1">
              <a:lnSpc>
                <a:spcPct val="90000"/>
              </a:lnSpc>
            </a:pPr>
            <a:r>
              <a:rPr lang="en-GB" altLang="en-US" sz="1800"/>
              <a:t>meanings of symbols</a:t>
            </a:r>
          </a:p>
          <a:p>
            <a:pPr marL="819150" lvl="1">
              <a:lnSpc>
                <a:spcPct val="90000"/>
              </a:lnSpc>
              <a:buFontTx/>
              <a:buChar char=" "/>
            </a:pPr>
            <a:r>
              <a:rPr lang="en-GB" altLang="en-US" sz="1800"/>
              <a:t>e.g tick and cross …  +ve and -ve in some cultures</a:t>
            </a:r>
            <a:br>
              <a:rPr lang="en-GB" altLang="en-US" sz="1800"/>
            </a:br>
            <a:r>
              <a:rPr lang="en-GB" altLang="en-US" sz="1800"/>
              <a:t>      … but … mean the same thing (mark this) in others</a:t>
            </a:r>
            <a:endParaRPr lang="en-GB" altLang="en-US" sz="1000"/>
          </a:p>
        </p:txBody>
      </p:sp>
      <p:sp>
        <p:nvSpPr>
          <p:cNvPr id="172036" name="Text Box 4">
            <a:extLst>
              <a:ext uri="{FF2B5EF4-FFF2-40B4-BE49-F238E27FC236}">
                <a16:creationId xmlns:a16="http://schemas.microsoft.com/office/drawing/2014/main" id="{FB501D11-0533-C3F3-2AAD-0B3AED5EC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668963"/>
            <a:ext cx="765175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7200">
                <a:solidFill>
                  <a:srgbClr val="FF0000"/>
                </a:solidFill>
                <a:latin typeface="Times New Roman" panose="02020603050405020304" pitchFamily="18" charset="0"/>
                <a:sym typeface="Wingdings" pitchFamily="2" charset="2"/>
              </a:rPr>
              <a:t></a:t>
            </a:r>
            <a:endParaRPr lang="en-US" altLang="en-US" sz="7200">
              <a:latin typeface="Times New Roman" panose="02020603050405020304" pitchFamily="18" charset="0"/>
            </a:endParaRPr>
          </a:p>
        </p:txBody>
      </p:sp>
      <p:sp>
        <p:nvSpPr>
          <p:cNvPr id="172037" name="Text Box 5">
            <a:extLst>
              <a:ext uri="{FF2B5EF4-FFF2-40B4-BE49-F238E27FC236}">
                <a16:creationId xmlns:a16="http://schemas.microsoft.com/office/drawing/2014/main" id="{35011B22-23AC-BB7D-1480-9D48B2117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668963"/>
            <a:ext cx="903288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FF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7200">
                <a:solidFill>
                  <a:srgbClr val="66FF33"/>
                </a:solidFill>
                <a:latin typeface="Times New Roman" panose="02020603050405020304" pitchFamily="18" charset="0"/>
                <a:sym typeface="Wingdings" pitchFamily="2" charset="2"/>
              </a:rPr>
              <a:t>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Oval 2">
            <a:extLst>
              <a:ext uri="{FF2B5EF4-FFF2-40B4-BE49-F238E27FC236}">
                <a16:creationId xmlns:a16="http://schemas.microsoft.com/office/drawing/2014/main" id="{45CF1B38-653C-6CB8-1633-29B79ADE5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048000"/>
            <a:ext cx="533400" cy="533400"/>
          </a:xfrm>
          <a:prstGeom prst="ellipse">
            <a:avLst/>
          </a:prstGeom>
          <a:solidFill>
            <a:srgbClr val="ED181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7AF64585-B9F3-20E0-375A-8D2507214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590800"/>
            <a:ext cx="7772400" cy="1143000"/>
          </a:xfrm>
        </p:spPr>
        <p:txBody>
          <a:bodyPr/>
          <a:lstStyle/>
          <a:p>
            <a:r>
              <a:rPr lang="en-GB" altLang="en-US" sz="5400"/>
              <a:t>prototyping</a:t>
            </a:r>
            <a:br>
              <a:rPr lang="en-GB" altLang="en-US"/>
            </a:br>
            <a:endParaRPr lang="en-GB" alt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534903CC-F3F5-A8A8-B95C-A42DFDDC15A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GB" altLang="en-US" sz="3600"/>
              <a:t>iteration and prototyping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2B243D49-1145-E73E-825B-5D3F4D7513C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GB" altLang="en-US" sz="2800"/>
              <a:t>getting better …</a:t>
            </a:r>
          </a:p>
          <a:p>
            <a:r>
              <a:rPr lang="en-GB" altLang="en-US" sz="2800"/>
              <a:t>… and starting well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EFE1E0D-ACBA-DE08-8623-365D7BAF2B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prototyping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07C22EC-EE4E-D126-E1C9-C12A63AC4B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you never get it right first time</a:t>
            </a:r>
          </a:p>
          <a:p>
            <a:r>
              <a:rPr lang="en-US" altLang="en-US"/>
              <a:t>if at first you don’t succeed …</a:t>
            </a:r>
          </a:p>
          <a:p>
            <a:endParaRPr lang="en-US" altLang="en-US"/>
          </a:p>
        </p:txBody>
      </p:sp>
      <p:grpSp>
        <p:nvGrpSpPr>
          <p:cNvPr id="38916" name="Group 4">
            <a:extLst>
              <a:ext uri="{FF2B5EF4-FFF2-40B4-BE49-F238E27FC236}">
                <a16:creationId xmlns:a16="http://schemas.microsoft.com/office/drawing/2014/main" id="{5FB7DECF-6106-FA69-EBF1-5AB61CC60DAB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595688"/>
            <a:ext cx="7735888" cy="1890712"/>
            <a:chOff x="720" y="2457"/>
            <a:chExt cx="4873" cy="1191"/>
          </a:xfrm>
        </p:grpSpPr>
        <p:sp>
          <p:nvSpPr>
            <p:cNvPr id="38917" name="AutoShape 5">
              <a:extLst>
                <a:ext uri="{FF2B5EF4-FFF2-40B4-BE49-F238E27FC236}">
                  <a16:creationId xmlns:a16="http://schemas.microsoft.com/office/drawing/2014/main" id="{98F222F2-F011-4E37-75FC-1C959964C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544"/>
              <a:ext cx="1008" cy="384"/>
            </a:xfrm>
            <a:prstGeom prst="flowChart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prototype</a:t>
              </a:r>
            </a:p>
          </p:txBody>
        </p:sp>
        <p:sp>
          <p:nvSpPr>
            <p:cNvPr id="38918" name="AutoShape 6">
              <a:extLst>
                <a:ext uri="{FF2B5EF4-FFF2-40B4-BE49-F238E27FC236}">
                  <a16:creationId xmlns:a16="http://schemas.microsoft.com/office/drawing/2014/main" id="{D9B8428D-C9B3-421A-A4DA-C4C8176BA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544"/>
              <a:ext cx="960" cy="384"/>
            </a:xfrm>
            <a:prstGeom prst="flowChartPrepara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evaluate</a:t>
              </a:r>
            </a:p>
          </p:txBody>
        </p:sp>
        <p:sp>
          <p:nvSpPr>
            <p:cNvPr id="38919" name="AutoShape 7">
              <a:extLst>
                <a:ext uri="{FF2B5EF4-FFF2-40B4-BE49-F238E27FC236}">
                  <a16:creationId xmlns:a16="http://schemas.microsoft.com/office/drawing/2014/main" id="{57A432BF-8AED-CD11-CB21-5A805F4AD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44"/>
              <a:ext cx="960" cy="384"/>
            </a:xfrm>
            <a:prstGeom prst="flowChartAlternate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design</a:t>
              </a:r>
            </a:p>
          </p:txBody>
        </p:sp>
        <p:sp>
          <p:nvSpPr>
            <p:cNvPr id="38920" name="AutoShape 8">
              <a:extLst>
                <a:ext uri="{FF2B5EF4-FFF2-40B4-BE49-F238E27FC236}">
                  <a16:creationId xmlns:a16="http://schemas.microsoft.com/office/drawing/2014/main" id="{C6AD654A-DC18-8DD6-3FAE-A62A9BCB5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4" y="3264"/>
              <a:ext cx="960" cy="384"/>
            </a:xfrm>
            <a:prstGeom prst="flowChartAlternateProcess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re-design</a:t>
              </a:r>
            </a:p>
          </p:txBody>
        </p:sp>
        <p:cxnSp>
          <p:nvCxnSpPr>
            <p:cNvPr id="38921" name="AutoShape 9">
              <a:extLst>
                <a:ext uri="{FF2B5EF4-FFF2-40B4-BE49-F238E27FC236}">
                  <a16:creationId xmlns:a16="http://schemas.microsoft.com/office/drawing/2014/main" id="{547D1451-BCBE-54F9-C193-E11FEE019D4E}"/>
                </a:ext>
              </a:extLst>
            </p:cNvPr>
            <p:cNvCxnSpPr>
              <a:cxnSpLocks noChangeShapeType="1"/>
              <a:stCxn id="38917" idx="3"/>
              <a:endCxn id="38918" idx="1"/>
            </p:cNvCxnSpPr>
            <p:nvPr/>
          </p:nvCxnSpPr>
          <p:spPr bwMode="auto">
            <a:xfrm>
              <a:off x="3168" y="2736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22" name="AutoShape 10">
              <a:extLst>
                <a:ext uri="{FF2B5EF4-FFF2-40B4-BE49-F238E27FC236}">
                  <a16:creationId xmlns:a16="http://schemas.microsoft.com/office/drawing/2014/main" id="{D497A902-7B16-70D6-965C-87B4440ACB3B}"/>
                </a:ext>
              </a:extLst>
            </p:cNvPr>
            <p:cNvCxnSpPr>
              <a:cxnSpLocks noChangeShapeType="1"/>
              <a:stCxn id="38919" idx="3"/>
              <a:endCxn id="38917" idx="1"/>
            </p:cNvCxnSpPr>
            <p:nvPr/>
          </p:nvCxnSpPr>
          <p:spPr bwMode="auto">
            <a:xfrm>
              <a:off x="1680" y="2736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23" name="AutoShape 11">
              <a:extLst>
                <a:ext uri="{FF2B5EF4-FFF2-40B4-BE49-F238E27FC236}">
                  <a16:creationId xmlns:a16="http://schemas.microsoft.com/office/drawing/2014/main" id="{EAF3B772-53B8-41CF-D574-32B1232DDB05}"/>
                </a:ext>
              </a:extLst>
            </p:cNvPr>
            <p:cNvCxnSpPr>
              <a:cxnSpLocks noChangeShapeType="1"/>
              <a:stCxn id="38918" idx="2"/>
              <a:endCxn id="38920" idx="3"/>
            </p:cNvCxnSpPr>
            <p:nvPr/>
          </p:nvCxnSpPr>
          <p:spPr bwMode="auto">
            <a:xfrm rot="5400000">
              <a:off x="3372" y="2700"/>
              <a:ext cx="528" cy="98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24" name="AutoShape 12">
              <a:extLst>
                <a:ext uri="{FF2B5EF4-FFF2-40B4-BE49-F238E27FC236}">
                  <a16:creationId xmlns:a16="http://schemas.microsoft.com/office/drawing/2014/main" id="{151EB4EE-D779-AC61-86A0-0FC21A4ACAB3}"/>
                </a:ext>
              </a:extLst>
            </p:cNvPr>
            <p:cNvCxnSpPr>
              <a:cxnSpLocks noChangeShapeType="1"/>
              <a:stCxn id="38920" idx="0"/>
              <a:endCxn id="38917" idx="2"/>
            </p:cNvCxnSpPr>
            <p:nvPr/>
          </p:nvCxnSpPr>
          <p:spPr bwMode="auto">
            <a:xfrm flipV="1">
              <a:off x="2664" y="2928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25" name="Line 13">
              <a:extLst>
                <a:ext uri="{FF2B5EF4-FFF2-40B4-BE49-F238E27FC236}">
                  <a16:creationId xmlns:a16="http://schemas.microsoft.com/office/drawing/2014/main" id="{CEFE4308-DBE0-134D-E800-D3C18D7DD5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73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8926" name="Text Box 14">
              <a:extLst>
                <a:ext uri="{FF2B5EF4-FFF2-40B4-BE49-F238E27FC236}">
                  <a16:creationId xmlns:a16="http://schemas.microsoft.com/office/drawing/2014/main" id="{4129E160-CF0A-80D9-E30C-C8A4EDE1D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2592"/>
              <a:ext cx="5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imes New Roman" panose="02020603050405020304" pitchFamily="18" charset="0"/>
                </a:rPr>
                <a:t>done!</a:t>
              </a:r>
            </a:p>
          </p:txBody>
        </p:sp>
        <p:sp>
          <p:nvSpPr>
            <p:cNvPr id="38927" name="Text Box 15">
              <a:extLst>
                <a:ext uri="{FF2B5EF4-FFF2-40B4-BE49-F238E27FC236}">
                  <a16:creationId xmlns:a16="http://schemas.microsoft.com/office/drawing/2014/main" id="{1BD32D58-AB93-D515-46E4-8D777D765C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457"/>
              <a:ext cx="3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800">
                  <a:latin typeface="Times New Roman" panose="02020603050405020304" pitchFamily="18" charset="0"/>
                </a:rPr>
                <a:t>OK?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8C38E052-BFE0-6B2B-1CE4-C066B09AC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pitfalls of prototyping</a:t>
            </a:r>
            <a:endParaRPr lang="en-GB" altLang="en-US"/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2E819C75-4A87-E1C8-1DA3-08A04748BE7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2286000"/>
            <a:ext cx="7772400" cy="1219200"/>
          </a:xfrm>
        </p:spPr>
        <p:txBody>
          <a:bodyPr/>
          <a:lstStyle/>
          <a:p>
            <a:r>
              <a:rPr lang="en-US" altLang="en-US" sz="2400"/>
              <a:t>moving little by little … but to where</a:t>
            </a:r>
          </a:p>
          <a:p>
            <a:r>
              <a:rPr lang="en-US" altLang="en-US" sz="2400"/>
              <a:t>Malverns or the Matterhorn?</a:t>
            </a:r>
            <a:endParaRPr lang="en-GB" altLang="en-US"/>
          </a:p>
        </p:txBody>
      </p:sp>
      <p:sp>
        <p:nvSpPr>
          <p:cNvPr id="158724" name="Rectangle 4">
            <a:extLst>
              <a:ext uri="{FF2B5EF4-FFF2-40B4-BE49-F238E27FC236}">
                <a16:creationId xmlns:a16="http://schemas.microsoft.com/office/drawing/2014/main" id="{87EB2A78-F5E4-993C-BEA2-EC75E907FEC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5105400"/>
            <a:ext cx="7772400" cy="990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/>
              <a:t>   </a:t>
            </a:r>
            <a:r>
              <a:rPr lang="en-US" altLang="en-US" sz="2400">
                <a:sym typeface="Wingdings 2" pitchFamily="2" charset="2"/>
              </a:rPr>
              <a:t>1.   </a:t>
            </a:r>
            <a:r>
              <a:rPr lang="en-US" altLang="en-US" sz="2400"/>
              <a:t>need a good start point</a:t>
            </a:r>
          </a:p>
          <a:p>
            <a:pPr>
              <a:buFont typeface="Wingdings 2" pitchFamily="2" charset="2"/>
              <a:buNone/>
            </a:pPr>
            <a:r>
              <a:rPr lang="en-US" altLang="en-US" sz="2400"/>
              <a:t>   </a:t>
            </a:r>
            <a:r>
              <a:rPr lang="en-US" altLang="en-US" sz="2400">
                <a:sym typeface="Wingdings 2" pitchFamily="2" charset="2"/>
              </a:rPr>
              <a:t>2.   </a:t>
            </a:r>
            <a:r>
              <a:rPr lang="en-US" altLang="en-US" sz="2400"/>
              <a:t>need to understand what is wrong</a:t>
            </a:r>
            <a:endParaRPr lang="en-GB" altLang="en-US"/>
          </a:p>
        </p:txBody>
      </p:sp>
      <p:sp>
        <p:nvSpPr>
          <p:cNvPr id="158725" name="Freeform 5">
            <a:extLst>
              <a:ext uri="{FF2B5EF4-FFF2-40B4-BE49-F238E27FC236}">
                <a16:creationId xmlns:a16="http://schemas.microsoft.com/office/drawing/2014/main" id="{91747A2A-B854-21DA-F45D-C189474C44F1}"/>
              </a:ext>
            </a:extLst>
          </p:cNvPr>
          <p:cNvSpPr>
            <a:spLocks/>
          </p:cNvSpPr>
          <p:nvPr/>
        </p:nvSpPr>
        <p:spPr bwMode="auto">
          <a:xfrm>
            <a:off x="457200" y="1701800"/>
            <a:ext cx="8178800" cy="2925763"/>
          </a:xfrm>
          <a:custGeom>
            <a:avLst/>
            <a:gdLst>
              <a:gd name="T0" fmla="*/ 0 w 5152"/>
              <a:gd name="T1" fmla="*/ 1816 h 1843"/>
              <a:gd name="T2" fmla="*/ 136 w 5152"/>
              <a:gd name="T3" fmla="*/ 1712 h 1843"/>
              <a:gd name="T4" fmla="*/ 240 w 5152"/>
              <a:gd name="T5" fmla="*/ 1760 h 1843"/>
              <a:gd name="T6" fmla="*/ 408 w 5152"/>
              <a:gd name="T7" fmla="*/ 1720 h 1843"/>
              <a:gd name="T8" fmla="*/ 528 w 5152"/>
              <a:gd name="T9" fmla="*/ 1776 h 1843"/>
              <a:gd name="T10" fmla="*/ 640 w 5152"/>
              <a:gd name="T11" fmla="*/ 1712 h 1843"/>
              <a:gd name="T12" fmla="*/ 776 w 5152"/>
              <a:gd name="T13" fmla="*/ 1656 h 1843"/>
              <a:gd name="T14" fmla="*/ 800 w 5152"/>
              <a:gd name="T15" fmla="*/ 1576 h 1843"/>
              <a:gd name="T16" fmla="*/ 832 w 5152"/>
              <a:gd name="T17" fmla="*/ 1584 h 1843"/>
              <a:gd name="T18" fmla="*/ 896 w 5152"/>
              <a:gd name="T19" fmla="*/ 1632 h 1843"/>
              <a:gd name="T20" fmla="*/ 984 w 5152"/>
              <a:gd name="T21" fmla="*/ 1784 h 1843"/>
              <a:gd name="T22" fmla="*/ 1112 w 5152"/>
              <a:gd name="T23" fmla="*/ 1800 h 1843"/>
              <a:gd name="T24" fmla="*/ 1184 w 5152"/>
              <a:gd name="T25" fmla="*/ 1840 h 1843"/>
              <a:gd name="T26" fmla="*/ 1368 w 5152"/>
              <a:gd name="T27" fmla="*/ 1784 h 1843"/>
              <a:gd name="T28" fmla="*/ 1536 w 5152"/>
              <a:gd name="T29" fmla="*/ 1744 h 1843"/>
              <a:gd name="T30" fmla="*/ 1680 w 5152"/>
              <a:gd name="T31" fmla="*/ 1816 h 1843"/>
              <a:gd name="T32" fmla="*/ 1904 w 5152"/>
              <a:gd name="T33" fmla="*/ 1712 h 1843"/>
              <a:gd name="T34" fmla="*/ 2112 w 5152"/>
              <a:gd name="T35" fmla="*/ 1776 h 1843"/>
              <a:gd name="T36" fmla="*/ 2280 w 5152"/>
              <a:gd name="T37" fmla="*/ 1840 h 1843"/>
              <a:gd name="T38" fmla="*/ 2448 w 5152"/>
              <a:gd name="T39" fmla="*/ 1760 h 1843"/>
              <a:gd name="T40" fmla="*/ 2632 w 5152"/>
              <a:gd name="T41" fmla="*/ 1768 h 1843"/>
              <a:gd name="T42" fmla="*/ 2728 w 5152"/>
              <a:gd name="T43" fmla="*/ 1744 h 1843"/>
              <a:gd name="T44" fmla="*/ 3008 w 5152"/>
              <a:gd name="T45" fmla="*/ 1600 h 1843"/>
              <a:gd name="T46" fmla="*/ 3104 w 5152"/>
              <a:gd name="T47" fmla="*/ 1656 h 1843"/>
              <a:gd name="T48" fmla="*/ 3232 w 5152"/>
              <a:gd name="T49" fmla="*/ 1672 h 1843"/>
              <a:gd name="T50" fmla="*/ 3352 w 5152"/>
              <a:gd name="T51" fmla="*/ 1696 h 1843"/>
              <a:gd name="T52" fmla="*/ 3576 w 5152"/>
              <a:gd name="T53" fmla="*/ 1728 h 1843"/>
              <a:gd name="T54" fmla="*/ 3624 w 5152"/>
              <a:gd name="T55" fmla="*/ 1712 h 1843"/>
              <a:gd name="T56" fmla="*/ 3728 w 5152"/>
              <a:gd name="T57" fmla="*/ 1608 h 1843"/>
              <a:gd name="T58" fmla="*/ 3848 w 5152"/>
              <a:gd name="T59" fmla="*/ 1448 h 1843"/>
              <a:gd name="T60" fmla="*/ 3928 w 5152"/>
              <a:gd name="T61" fmla="*/ 1360 h 1843"/>
              <a:gd name="T62" fmla="*/ 4024 w 5152"/>
              <a:gd name="T63" fmla="*/ 1200 h 1843"/>
              <a:gd name="T64" fmla="*/ 4152 w 5152"/>
              <a:gd name="T65" fmla="*/ 1184 h 1843"/>
              <a:gd name="T66" fmla="*/ 4272 w 5152"/>
              <a:gd name="T67" fmla="*/ 1120 h 1843"/>
              <a:gd name="T68" fmla="*/ 4424 w 5152"/>
              <a:gd name="T69" fmla="*/ 872 h 1843"/>
              <a:gd name="T70" fmla="*/ 4608 w 5152"/>
              <a:gd name="T71" fmla="*/ 544 h 1843"/>
              <a:gd name="T72" fmla="*/ 4664 w 5152"/>
              <a:gd name="T73" fmla="*/ 432 h 1843"/>
              <a:gd name="T74" fmla="*/ 4744 w 5152"/>
              <a:gd name="T75" fmla="*/ 208 h 1843"/>
              <a:gd name="T76" fmla="*/ 4800 w 5152"/>
              <a:gd name="T77" fmla="*/ 184 h 1843"/>
              <a:gd name="T78" fmla="*/ 4888 w 5152"/>
              <a:gd name="T79" fmla="*/ 32 h 1843"/>
              <a:gd name="T80" fmla="*/ 4896 w 5152"/>
              <a:gd name="T81" fmla="*/ 8 h 1843"/>
              <a:gd name="T82" fmla="*/ 4936 w 5152"/>
              <a:gd name="T83" fmla="*/ 0 h 1843"/>
              <a:gd name="T84" fmla="*/ 5016 w 5152"/>
              <a:gd name="T85" fmla="*/ 120 h 1843"/>
              <a:gd name="T86" fmla="*/ 5096 w 5152"/>
              <a:gd name="T87" fmla="*/ 152 h 1843"/>
              <a:gd name="T88" fmla="*/ 5152 w 5152"/>
              <a:gd name="T89" fmla="*/ 240 h 18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152" h="1843">
                <a:moveTo>
                  <a:pt x="0" y="1816"/>
                </a:moveTo>
                <a:cubicBezTo>
                  <a:pt x="55" y="1793"/>
                  <a:pt x="90" y="1748"/>
                  <a:pt x="136" y="1712"/>
                </a:cubicBezTo>
                <a:cubicBezTo>
                  <a:pt x="172" y="1730"/>
                  <a:pt x="200" y="1750"/>
                  <a:pt x="240" y="1760"/>
                </a:cubicBezTo>
                <a:cubicBezTo>
                  <a:pt x="297" y="1745"/>
                  <a:pt x="349" y="1728"/>
                  <a:pt x="408" y="1720"/>
                </a:cubicBezTo>
                <a:cubicBezTo>
                  <a:pt x="445" y="1744"/>
                  <a:pt x="487" y="1755"/>
                  <a:pt x="528" y="1776"/>
                </a:cubicBezTo>
                <a:cubicBezTo>
                  <a:pt x="557" y="1702"/>
                  <a:pt x="527" y="1746"/>
                  <a:pt x="640" y="1712"/>
                </a:cubicBezTo>
                <a:cubicBezTo>
                  <a:pt x="744" y="1679"/>
                  <a:pt x="723" y="1691"/>
                  <a:pt x="776" y="1656"/>
                </a:cubicBezTo>
                <a:cubicBezTo>
                  <a:pt x="784" y="1629"/>
                  <a:pt x="782" y="1597"/>
                  <a:pt x="800" y="1576"/>
                </a:cubicBezTo>
                <a:cubicBezTo>
                  <a:pt x="806" y="1567"/>
                  <a:pt x="822" y="1578"/>
                  <a:pt x="832" y="1584"/>
                </a:cubicBezTo>
                <a:cubicBezTo>
                  <a:pt x="855" y="1596"/>
                  <a:pt x="873" y="1617"/>
                  <a:pt x="896" y="1632"/>
                </a:cubicBezTo>
                <a:cubicBezTo>
                  <a:pt x="911" y="1669"/>
                  <a:pt x="937" y="1759"/>
                  <a:pt x="984" y="1784"/>
                </a:cubicBezTo>
                <a:cubicBezTo>
                  <a:pt x="1021" y="1804"/>
                  <a:pt x="1069" y="1793"/>
                  <a:pt x="1112" y="1800"/>
                </a:cubicBezTo>
                <a:cubicBezTo>
                  <a:pt x="1134" y="1815"/>
                  <a:pt x="1156" y="1843"/>
                  <a:pt x="1184" y="1840"/>
                </a:cubicBezTo>
                <a:cubicBezTo>
                  <a:pt x="1237" y="1834"/>
                  <a:pt x="1318" y="1800"/>
                  <a:pt x="1368" y="1784"/>
                </a:cubicBezTo>
                <a:cubicBezTo>
                  <a:pt x="1434" y="1717"/>
                  <a:pt x="1424" y="1726"/>
                  <a:pt x="1536" y="1744"/>
                </a:cubicBezTo>
                <a:cubicBezTo>
                  <a:pt x="1588" y="1796"/>
                  <a:pt x="1604" y="1803"/>
                  <a:pt x="1680" y="1816"/>
                </a:cubicBezTo>
                <a:cubicBezTo>
                  <a:pt x="1791" y="1803"/>
                  <a:pt x="1825" y="1790"/>
                  <a:pt x="1904" y="1712"/>
                </a:cubicBezTo>
                <a:cubicBezTo>
                  <a:pt x="1976" y="1784"/>
                  <a:pt x="1973" y="1761"/>
                  <a:pt x="2112" y="1776"/>
                </a:cubicBezTo>
                <a:cubicBezTo>
                  <a:pt x="2166" y="1803"/>
                  <a:pt x="2225" y="1812"/>
                  <a:pt x="2280" y="1840"/>
                </a:cubicBezTo>
                <a:cubicBezTo>
                  <a:pt x="2340" y="1824"/>
                  <a:pt x="2395" y="1794"/>
                  <a:pt x="2448" y="1760"/>
                </a:cubicBezTo>
                <a:cubicBezTo>
                  <a:pt x="2501" y="1763"/>
                  <a:pt x="2576" y="1781"/>
                  <a:pt x="2632" y="1768"/>
                </a:cubicBezTo>
                <a:cubicBezTo>
                  <a:pt x="2664" y="1760"/>
                  <a:pt x="2728" y="1744"/>
                  <a:pt x="2728" y="1744"/>
                </a:cubicBezTo>
                <a:cubicBezTo>
                  <a:pt x="2815" y="1685"/>
                  <a:pt x="2905" y="1629"/>
                  <a:pt x="3008" y="1600"/>
                </a:cubicBezTo>
                <a:cubicBezTo>
                  <a:pt x="3039" y="1652"/>
                  <a:pt x="3043" y="1645"/>
                  <a:pt x="3104" y="1656"/>
                </a:cubicBezTo>
                <a:cubicBezTo>
                  <a:pt x="3151" y="1646"/>
                  <a:pt x="3186" y="1656"/>
                  <a:pt x="3232" y="1672"/>
                </a:cubicBezTo>
                <a:cubicBezTo>
                  <a:pt x="3302" y="1660"/>
                  <a:pt x="3286" y="1674"/>
                  <a:pt x="3352" y="1696"/>
                </a:cubicBezTo>
                <a:cubicBezTo>
                  <a:pt x="3447" y="1727"/>
                  <a:pt x="3469" y="1721"/>
                  <a:pt x="3576" y="1728"/>
                </a:cubicBezTo>
                <a:cubicBezTo>
                  <a:pt x="3592" y="1722"/>
                  <a:pt x="3610" y="1721"/>
                  <a:pt x="3624" y="1712"/>
                </a:cubicBezTo>
                <a:cubicBezTo>
                  <a:pt x="3657" y="1688"/>
                  <a:pt x="3685" y="1636"/>
                  <a:pt x="3728" y="1608"/>
                </a:cubicBezTo>
                <a:cubicBezTo>
                  <a:pt x="3744" y="1541"/>
                  <a:pt x="3779" y="1470"/>
                  <a:pt x="3848" y="1448"/>
                </a:cubicBezTo>
                <a:cubicBezTo>
                  <a:pt x="3874" y="1418"/>
                  <a:pt x="3903" y="1390"/>
                  <a:pt x="3928" y="1360"/>
                </a:cubicBezTo>
                <a:cubicBezTo>
                  <a:pt x="3968" y="1309"/>
                  <a:pt x="3942" y="1216"/>
                  <a:pt x="4024" y="1200"/>
                </a:cubicBezTo>
                <a:cubicBezTo>
                  <a:pt x="4066" y="1191"/>
                  <a:pt x="4109" y="1189"/>
                  <a:pt x="4152" y="1184"/>
                </a:cubicBezTo>
                <a:cubicBezTo>
                  <a:pt x="4217" y="1165"/>
                  <a:pt x="4223" y="1168"/>
                  <a:pt x="4272" y="1120"/>
                </a:cubicBezTo>
                <a:cubicBezTo>
                  <a:pt x="4210" y="996"/>
                  <a:pt x="4285" y="1171"/>
                  <a:pt x="4424" y="872"/>
                </a:cubicBezTo>
                <a:cubicBezTo>
                  <a:pt x="4477" y="756"/>
                  <a:pt x="4532" y="644"/>
                  <a:pt x="4608" y="544"/>
                </a:cubicBezTo>
                <a:cubicBezTo>
                  <a:pt x="4615" y="496"/>
                  <a:pt x="4621" y="460"/>
                  <a:pt x="4664" y="432"/>
                </a:cubicBezTo>
                <a:cubicBezTo>
                  <a:pt x="4681" y="348"/>
                  <a:pt x="4677" y="266"/>
                  <a:pt x="4744" y="208"/>
                </a:cubicBezTo>
                <a:cubicBezTo>
                  <a:pt x="4759" y="194"/>
                  <a:pt x="4781" y="193"/>
                  <a:pt x="4800" y="184"/>
                </a:cubicBezTo>
                <a:cubicBezTo>
                  <a:pt x="4829" y="133"/>
                  <a:pt x="4869" y="87"/>
                  <a:pt x="4888" y="32"/>
                </a:cubicBezTo>
                <a:cubicBezTo>
                  <a:pt x="4890" y="24"/>
                  <a:pt x="4888" y="12"/>
                  <a:pt x="4896" y="8"/>
                </a:cubicBezTo>
                <a:cubicBezTo>
                  <a:pt x="4907" y="0"/>
                  <a:pt x="4922" y="2"/>
                  <a:pt x="4936" y="0"/>
                </a:cubicBezTo>
                <a:cubicBezTo>
                  <a:pt x="4963" y="39"/>
                  <a:pt x="4978" y="89"/>
                  <a:pt x="5016" y="120"/>
                </a:cubicBezTo>
                <a:cubicBezTo>
                  <a:pt x="5038" y="137"/>
                  <a:pt x="5069" y="141"/>
                  <a:pt x="5096" y="152"/>
                </a:cubicBezTo>
                <a:cubicBezTo>
                  <a:pt x="5112" y="200"/>
                  <a:pt x="5116" y="204"/>
                  <a:pt x="5152" y="240"/>
                </a:cubicBezTo>
              </a:path>
            </a:pathLst>
          </a:custGeom>
          <a:noFill/>
          <a:ln w="38100" cmpd="sng">
            <a:solidFill>
              <a:srgbClr val="18605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8726" name="Line 6">
            <a:extLst>
              <a:ext uri="{FF2B5EF4-FFF2-40B4-BE49-F238E27FC236}">
                <a16:creationId xmlns:a16="http://schemas.microsoft.com/office/drawing/2014/main" id="{14B255D7-FC14-BFD2-1D00-CF5F75D8525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93900" y="4419600"/>
            <a:ext cx="381000" cy="76200"/>
          </a:xfrm>
          <a:prstGeom prst="line">
            <a:avLst/>
          </a:prstGeom>
          <a:noFill/>
          <a:ln w="38100">
            <a:solidFill>
              <a:srgbClr val="ED181E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8727" name="Line 7">
            <a:extLst>
              <a:ext uri="{FF2B5EF4-FFF2-40B4-BE49-F238E27FC236}">
                <a16:creationId xmlns:a16="http://schemas.microsoft.com/office/drawing/2014/main" id="{F3670BB2-76F0-E0C6-5514-1A1F490766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41500" y="4114800"/>
            <a:ext cx="228600" cy="304800"/>
          </a:xfrm>
          <a:prstGeom prst="line">
            <a:avLst/>
          </a:prstGeom>
          <a:noFill/>
          <a:ln w="38100">
            <a:solidFill>
              <a:srgbClr val="ED181E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8728" name="Oval 8">
            <a:extLst>
              <a:ext uri="{FF2B5EF4-FFF2-40B4-BE49-F238E27FC236}">
                <a16:creationId xmlns:a16="http://schemas.microsoft.com/office/drawing/2014/main" id="{623667D6-F1F4-48AF-5A0F-2508FFFB8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4495800"/>
            <a:ext cx="152400" cy="152400"/>
          </a:xfrm>
          <a:prstGeom prst="ellipse">
            <a:avLst/>
          </a:prstGeom>
          <a:solidFill>
            <a:srgbClr val="1822C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E1B8B8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8729" name="Oval 9">
            <a:extLst>
              <a:ext uri="{FF2B5EF4-FFF2-40B4-BE49-F238E27FC236}">
                <a16:creationId xmlns:a16="http://schemas.microsoft.com/office/drawing/2014/main" id="{2FE5492D-9CE6-6C9B-CBCA-C066776E7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100" y="4038600"/>
            <a:ext cx="152400" cy="152400"/>
          </a:xfrm>
          <a:prstGeom prst="ellipse">
            <a:avLst/>
          </a:prstGeom>
          <a:solidFill>
            <a:srgbClr val="1822C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E1B8B8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8730" name="Oval 10">
            <a:extLst>
              <a:ext uri="{FF2B5EF4-FFF2-40B4-BE49-F238E27FC236}">
                <a16:creationId xmlns:a16="http://schemas.microsoft.com/office/drawing/2014/main" id="{D2C230B4-CC21-E348-813F-ECC85186D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0" y="4267200"/>
            <a:ext cx="152400" cy="152400"/>
          </a:xfrm>
          <a:prstGeom prst="ellipse">
            <a:avLst/>
          </a:prstGeom>
          <a:solidFill>
            <a:srgbClr val="1822C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E1B8B8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8731" name="Line 11">
            <a:extLst>
              <a:ext uri="{FF2B5EF4-FFF2-40B4-BE49-F238E27FC236}">
                <a16:creationId xmlns:a16="http://schemas.microsoft.com/office/drawing/2014/main" id="{0FFE9E82-D8FD-DF48-352E-3A67B0DD45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61100" y="3581400"/>
            <a:ext cx="457200" cy="685800"/>
          </a:xfrm>
          <a:prstGeom prst="line">
            <a:avLst/>
          </a:prstGeom>
          <a:noFill/>
          <a:ln w="38100">
            <a:solidFill>
              <a:srgbClr val="ED181E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8732" name="Line 12">
            <a:extLst>
              <a:ext uri="{FF2B5EF4-FFF2-40B4-BE49-F238E27FC236}">
                <a16:creationId xmlns:a16="http://schemas.microsoft.com/office/drawing/2014/main" id="{8A4887B3-124A-C5F5-7991-E0D1C3435E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94500" y="3276600"/>
            <a:ext cx="533400" cy="228600"/>
          </a:xfrm>
          <a:prstGeom prst="line">
            <a:avLst/>
          </a:prstGeom>
          <a:noFill/>
          <a:ln w="38100">
            <a:solidFill>
              <a:srgbClr val="ED181E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8733" name="Line 13">
            <a:extLst>
              <a:ext uri="{FF2B5EF4-FFF2-40B4-BE49-F238E27FC236}">
                <a16:creationId xmlns:a16="http://schemas.microsoft.com/office/drawing/2014/main" id="{3701E306-0655-1CB1-97F6-B1224A4D72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27900" y="2057400"/>
            <a:ext cx="533400" cy="1143000"/>
          </a:xfrm>
          <a:prstGeom prst="line">
            <a:avLst/>
          </a:prstGeom>
          <a:noFill/>
          <a:ln w="38100">
            <a:solidFill>
              <a:srgbClr val="ED181E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8734" name="Line 14">
            <a:extLst>
              <a:ext uri="{FF2B5EF4-FFF2-40B4-BE49-F238E27FC236}">
                <a16:creationId xmlns:a16="http://schemas.microsoft.com/office/drawing/2014/main" id="{0B38DDF5-7AE2-F8B2-581A-BB4A495722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61300" y="1600200"/>
            <a:ext cx="381000" cy="381000"/>
          </a:xfrm>
          <a:prstGeom prst="line">
            <a:avLst/>
          </a:prstGeom>
          <a:noFill/>
          <a:ln w="38100">
            <a:solidFill>
              <a:srgbClr val="ED181E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8735" name="Oval 15">
            <a:extLst>
              <a:ext uri="{FF2B5EF4-FFF2-40B4-BE49-F238E27FC236}">
                <a16:creationId xmlns:a16="http://schemas.microsoft.com/office/drawing/2014/main" id="{CC8D62D5-F56C-A1E2-9250-A4FDA02B7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2300" y="1447800"/>
            <a:ext cx="152400" cy="152400"/>
          </a:xfrm>
          <a:prstGeom prst="ellipse">
            <a:avLst/>
          </a:prstGeom>
          <a:solidFill>
            <a:srgbClr val="1822C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E1B8B8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4" grpId="0" build="p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CA76A7EE-EFB4-86EF-677D-DE2BDF619D4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981200"/>
            <a:ext cx="6629400" cy="1219200"/>
          </a:xfrm>
        </p:spPr>
        <p:txBody>
          <a:bodyPr anchor="ctr"/>
          <a:lstStyle/>
          <a:p>
            <a:pPr>
              <a:spcAft>
                <a:spcPct val="30000"/>
              </a:spcAft>
            </a:pPr>
            <a:r>
              <a:rPr lang="en-GB" altLang="en-US" sz="4000">
                <a:solidFill>
                  <a:srgbClr val="2E005D"/>
                </a:solidFill>
                <a:latin typeface="Verdana" panose="020B0604030504040204" pitchFamily="34" charset="0"/>
              </a:rPr>
              <a:t>chapter 5</a:t>
            </a:r>
            <a:endParaRPr lang="en-GB" altLang="en-US" sz="4000">
              <a:solidFill>
                <a:srgbClr val="2E005D"/>
              </a:solidFill>
            </a:endParaRP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E5CFCF6A-91EF-ED33-F13A-A61E1882B8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352800"/>
            <a:ext cx="6400800" cy="2286000"/>
          </a:xfrm>
        </p:spPr>
        <p:txBody>
          <a:bodyPr/>
          <a:lstStyle/>
          <a:p>
            <a:r>
              <a:rPr lang="en-GB" altLang="en-US" sz="4400" dirty="0">
                <a:latin typeface="Arial" panose="020B0604020202020204" pitchFamily="34" charset="0"/>
                <a:cs typeface="Arial" panose="020B0604020202020204" pitchFamily="34" charset="0"/>
              </a:rPr>
              <a:t>interaction design basics</a:t>
            </a:r>
          </a:p>
        </p:txBody>
      </p:sp>
      <p:grpSp>
        <p:nvGrpSpPr>
          <p:cNvPr id="103428" name="Group 4">
            <a:extLst>
              <a:ext uri="{FF2B5EF4-FFF2-40B4-BE49-F238E27FC236}">
                <a16:creationId xmlns:a16="http://schemas.microsoft.com/office/drawing/2014/main" id="{C0B463BE-53DA-4B9D-E9EE-727033E014E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03429" name="Rectangle 5">
              <a:extLst>
                <a:ext uri="{FF2B5EF4-FFF2-40B4-BE49-F238E27FC236}">
                  <a16:creationId xmlns:a16="http://schemas.microsoft.com/office/drawing/2014/main" id="{554952E9-4696-B733-DD1D-0F23012B7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528"/>
              <a:ext cx="624" cy="3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30" name="Rectangle 6">
              <a:extLst>
                <a:ext uri="{FF2B5EF4-FFF2-40B4-BE49-F238E27FC236}">
                  <a16:creationId xmlns:a16="http://schemas.microsoft.com/office/drawing/2014/main" id="{3FFB2452-6032-EE02-E8A2-1CBEB4BE7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672"/>
            </a:xfrm>
            <a:prstGeom prst="rect">
              <a:avLst/>
            </a:prstGeom>
            <a:solidFill>
              <a:srgbClr val="2E005D"/>
            </a:solidFill>
            <a:ln w="9525">
              <a:solidFill>
                <a:srgbClr val="2E005D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pic>
          <p:nvPicPr>
            <p:cNvPr id="103431" name="Picture 7">
              <a:extLst>
                <a:ext uri="{FF2B5EF4-FFF2-40B4-BE49-F238E27FC236}">
                  <a16:creationId xmlns:a16="http://schemas.microsoft.com/office/drawing/2014/main" id="{A69C8C7E-35F9-830A-8E35-27F30A5B43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0"/>
              <a:ext cx="3264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432" name="Picture 8">
              <a:extLst>
                <a:ext uri="{FF2B5EF4-FFF2-40B4-BE49-F238E27FC236}">
                  <a16:creationId xmlns:a16="http://schemas.microsoft.com/office/drawing/2014/main" id="{67FB80DF-6971-6249-29F7-C2EB97E82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0"/>
              <a:ext cx="67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433" name="Picture 9">
              <a:extLst>
                <a:ext uri="{FF2B5EF4-FFF2-40B4-BE49-F238E27FC236}">
                  <a16:creationId xmlns:a16="http://schemas.microsoft.com/office/drawing/2014/main" id="{2D448AE5-E7F7-06FA-5587-395A2B2E10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67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434" name="Picture 10">
              <a:extLst>
                <a:ext uri="{FF2B5EF4-FFF2-40B4-BE49-F238E27FC236}">
                  <a16:creationId xmlns:a16="http://schemas.microsoft.com/office/drawing/2014/main" id="{14E0B68E-520C-41CF-A576-ECA6826A9C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0" y="0"/>
              <a:ext cx="176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435" name="Picture 11">
              <a:extLst>
                <a:ext uri="{FF2B5EF4-FFF2-40B4-BE49-F238E27FC236}">
                  <a16:creationId xmlns:a16="http://schemas.microsoft.com/office/drawing/2014/main" id="{CC2FBA0E-1457-01C5-128C-4CD54DE287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4" y="0"/>
              <a:ext cx="176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01" name="Shape 901"/>
          <p:cNvSpPr txBox="1"/>
          <p:nvPr/>
        </p:nvSpPr>
        <p:spPr>
          <a:xfrm>
            <a:off x="914400" y="470916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GB" sz="2000" b="1" i="0" dirty="0">
                <a:solidFill>
                  <a:srgbClr val="2D2D8A"/>
                </a:solidFill>
                <a:latin typeface="Arial"/>
                <a:cs typeface="Arial"/>
              </a:rPr>
              <a:t>Week 4 · Lecture 2</a:t>
            </a:r>
            <a:endParaRPr lang="en-GB" sz="2000" dirty="0"/>
          </a:p>
          <a:p>
            <a:pPr algn="ctr">
              <a:buNone/>
            </a:pPr>
            <a:r>
              <a:rPr lang="en-GB" sz="1400" b="0" i="1" dirty="0">
                <a:solidFill>
                  <a:srgbClr val="595959"/>
                </a:solidFill>
                <a:latin typeface="Arial"/>
                <a:cs typeface="Arial"/>
              </a:rPr>
              <a:t>screen design and layout, user action, appearance and prototyping</a:t>
            </a:r>
            <a:endParaRPr lang="en-GB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How today’s lecture works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824228" cy="310896"/>
          </a:xfrm>
          <a:prstGeom prst="roundRect">
            <a:avLst>
              <a:gd name="adj" fmla="val 50000"/>
            </a:avLst>
          </a:prstGeom>
          <a:solidFill>
            <a:srgbClr val="2D2D8A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HOW TODAY WORKS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482596" y="1810512"/>
            <a:ext cx="565556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look for these badges in the top-left of a slide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317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0726F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POLL</a:t>
            </a:r>
            <a:endParaRPr lang="en-GB" sz="1100" dirty="0"/>
          </a:p>
        </p:txBody>
      </p:sp>
      <p:sp>
        <p:nvSpPr>
          <p:cNvPr id="14" name="Shape 14"/>
          <p:cNvSpPr txBox="1"/>
          <p:nvPr/>
        </p:nvSpPr>
        <p:spPr>
          <a:xfrm>
            <a:off x="2743200" y="2267712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Vote with your hands (1 or 2 fingers) — everyone answers, no one is wrong.</a:t>
            </a:r>
            <a:endParaRPr lang="en-GB" sz="1400" dirty="0"/>
          </a:p>
        </p:txBody>
      </p:sp>
      <p:sp>
        <p:nvSpPr>
          <p:cNvPr id="15" name="Shape 15"/>
          <p:cNvSpPr/>
          <p:nvPr/>
        </p:nvSpPr>
        <p:spPr>
          <a:xfrm>
            <a:off x="548640" y="288036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6" name="Shape 16"/>
          <p:cNvSpPr txBox="1"/>
          <p:nvPr/>
        </p:nvSpPr>
        <p:spPr>
          <a:xfrm>
            <a:off x="2743200" y="2816352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Answer on paper first; the next slide reveals the answer.</a:t>
            </a:r>
            <a:endParaRPr lang="en-GB" sz="1400" dirty="0"/>
          </a:p>
        </p:txBody>
      </p:sp>
      <p:sp>
        <p:nvSpPr>
          <p:cNvPr id="17" name="Shape 17"/>
          <p:cNvSpPr/>
          <p:nvPr/>
        </p:nvSpPr>
        <p:spPr>
          <a:xfrm>
            <a:off x="548640" y="34290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THINK-PAIR-SHARE</a:t>
            </a:r>
            <a:endParaRPr lang="en-GB" sz="1100" dirty="0"/>
          </a:p>
        </p:txBody>
      </p:sp>
      <p:sp>
        <p:nvSpPr>
          <p:cNvPr id="18" name="Shape 18"/>
          <p:cNvSpPr txBox="1"/>
          <p:nvPr/>
        </p:nvSpPr>
        <p:spPr>
          <a:xfrm>
            <a:off x="2743200" y="3364992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1 min alone → 2 min with your neighbour → a few pairs share.</a:t>
            </a:r>
            <a:endParaRPr lang="en-GB" sz="1400" dirty="0"/>
          </a:p>
        </p:txBody>
      </p:sp>
      <p:sp>
        <p:nvSpPr>
          <p:cNvPr id="19" name="Shape 19"/>
          <p:cNvSpPr/>
          <p:nvPr/>
        </p:nvSpPr>
        <p:spPr>
          <a:xfrm>
            <a:off x="548640" y="397764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LIVE EXERCISE</a:t>
            </a:r>
            <a:endParaRPr lang="en-GB" sz="1100" dirty="0"/>
          </a:p>
        </p:txBody>
      </p:sp>
      <p:sp>
        <p:nvSpPr>
          <p:cNvPr id="20" name="Shape 20"/>
          <p:cNvSpPr txBox="1"/>
          <p:nvPr/>
        </p:nvSpPr>
        <p:spPr>
          <a:xfrm>
            <a:off x="2743200" y="3913632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Do it now, in class, with paper, your phone or the room around you.</a:t>
            </a:r>
            <a:endParaRPr lang="en-GB" sz="1400" dirty="0"/>
          </a:p>
        </p:txBody>
      </p:sp>
      <p:sp>
        <p:nvSpPr>
          <p:cNvPr id="21" name="Shape 21"/>
          <p:cNvSpPr/>
          <p:nvPr/>
        </p:nvSpPr>
        <p:spPr>
          <a:xfrm>
            <a:off x="548640" y="45262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CASE PUZZLE</a:t>
            </a:r>
            <a:endParaRPr lang="en-GB" sz="1100" dirty="0"/>
          </a:p>
        </p:txBody>
      </p:sp>
      <p:sp>
        <p:nvSpPr>
          <p:cNvPr id="22" name="Shape 22"/>
          <p:cNvSpPr txBox="1"/>
          <p:nvPr/>
        </p:nvSpPr>
        <p:spPr>
          <a:xfrm>
            <a:off x="2743200" y="4462272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A real system you use; apply today’s idea to it in small groups.</a:t>
            </a:r>
            <a:endParaRPr lang="en-GB" sz="1400" dirty="0"/>
          </a:p>
        </p:txBody>
      </p:sp>
      <p:sp>
        <p:nvSpPr>
          <p:cNvPr id="23" name="Shape 23"/>
          <p:cNvSpPr/>
          <p:nvPr/>
        </p:nvSpPr>
        <p:spPr>
          <a:xfrm>
            <a:off x="548640" y="5166360"/>
            <a:ext cx="7589520" cy="86868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Today: </a:t>
            </a: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screen design and layout → user action and control → appearance → prototyping, with 11 short activities (~36 min; two are optional)</a:t>
            </a:r>
            <a:endParaRPr lang="en-GB" sz="1200" dirty="0"/>
          </a:p>
          <a:p>
            <a:pPr algn="l">
              <a:spcBef>
                <a:spcPts val="300"/>
              </a:spcBef>
              <a:buNone/>
            </a:pPr>
            <a:r>
              <a:rPr lang="en-GB" sz="12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Have ready: </a:t>
            </a: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 sheet of paper, a pen and your phone (you will turn it grey today)</a:t>
            </a:r>
            <a:endParaRPr lang="en-GB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Recap: Lecture 1 in five questions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27048" y="1810512"/>
            <a:ext cx="661111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3 min · write a, b or c — no notes, no phones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0428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4" name="Shape 14"/>
          <p:cNvSpPr txBox="1"/>
          <p:nvPr/>
        </p:nvSpPr>
        <p:spPr>
          <a:xfrm>
            <a:off x="960120" y="226771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Design is achieving … within …</a:t>
            </a:r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960120" y="263347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goals, constraints</a:t>
            </a:r>
            <a:endParaRPr lang="en-GB" sz="1100" dirty="0"/>
          </a:p>
        </p:txBody>
      </p:sp>
      <p:sp>
        <p:nvSpPr>
          <p:cNvPr id="16" name="Shape 16"/>
          <p:cNvSpPr/>
          <p:nvPr/>
        </p:nvSpPr>
        <p:spPr>
          <a:xfrm>
            <a:off x="3401568" y="263347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features, budgets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5843016" y="263347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users, deadlines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548640" y="312724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9" name="Shape 19"/>
          <p:cNvSpPr txBox="1"/>
          <p:nvPr/>
        </p:nvSpPr>
        <p:spPr>
          <a:xfrm>
            <a:off x="960120" y="309067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Which is NOT one of the four golden rules of navigation?</a:t>
            </a:r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960120" y="345643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knowing where you are</a:t>
            </a:r>
            <a:endParaRPr lang="en-GB" sz="1100" dirty="0"/>
          </a:p>
        </p:txBody>
      </p:sp>
      <p:sp>
        <p:nvSpPr>
          <p:cNvPr id="21" name="Shape 21"/>
          <p:cNvSpPr/>
          <p:nvPr/>
        </p:nvSpPr>
        <p:spPr>
          <a:xfrm>
            <a:off x="3401568" y="345643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knowing where you’ve been</a:t>
            </a:r>
            <a:endParaRPr lang="en-GB" sz="1100" dirty="0"/>
          </a:p>
        </p:txBody>
      </p:sp>
      <p:sp>
        <p:nvSpPr>
          <p:cNvPr id="22" name="Shape 22"/>
          <p:cNvSpPr/>
          <p:nvPr/>
        </p:nvSpPr>
        <p:spPr>
          <a:xfrm>
            <a:off x="5843016" y="345643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knowing how the code works</a:t>
            </a:r>
            <a:endParaRPr lang="en-GB" sz="1100" dirty="0"/>
          </a:p>
        </p:txBody>
      </p:sp>
      <p:sp>
        <p:nvSpPr>
          <p:cNvPr id="23" name="Shape 23"/>
          <p:cNvSpPr/>
          <p:nvPr/>
        </p:nvSpPr>
        <p:spPr>
          <a:xfrm>
            <a:off x="548640" y="395020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4" name="Shape 24"/>
          <p:cNvSpPr txBox="1"/>
          <p:nvPr/>
        </p:nvSpPr>
        <p:spPr>
          <a:xfrm>
            <a:off x="960120" y="391363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Deep menus are slow mainly because …</a:t>
            </a:r>
            <a:endParaRPr lang="en-GB" sz="1200" dirty="0"/>
          </a:p>
        </p:txBody>
      </p:sp>
      <p:sp>
        <p:nvSpPr>
          <p:cNvPr id="25" name="Shape 25"/>
          <p:cNvSpPr/>
          <p:nvPr/>
        </p:nvSpPr>
        <p:spPr>
          <a:xfrm>
            <a:off x="960120" y="427939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7 ± 2 limits a menu</a:t>
            </a:r>
            <a:endParaRPr lang="en-GB" sz="1100" dirty="0"/>
          </a:p>
        </p:txBody>
      </p:sp>
      <p:sp>
        <p:nvSpPr>
          <p:cNvPr id="26" name="Shape 26"/>
          <p:cNvSpPr/>
          <p:nvPr/>
        </p:nvSpPr>
        <p:spPr>
          <a:xfrm>
            <a:off x="3401568" y="427939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more loads, more wrong turns</a:t>
            </a:r>
            <a:endParaRPr lang="en-GB" sz="1100" dirty="0"/>
          </a:p>
        </p:txBody>
      </p:sp>
      <p:sp>
        <p:nvSpPr>
          <p:cNvPr id="27" name="Shape 27"/>
          <p:cNvSpPr/>
          <p:nvPr/>
        </p:nvSpPr>
        <p:spPr>
          <a:xfrm>
            <a:off x="5843016" y="427939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users hate scrolling</a:t>
            </a:r>
            <a:endParaRPr lang="en-GB" sz="1100" dirty="0"/>
          </a:p>
        </p:txBody>
      </p:sp>
      <p:sp>
        <p:nvSpPr>
          <p:cNvPr id="28" name="Shape 28"/>
          <p:cNvSpPr/>
          <p:nvPr/>
        </p:nvSpPr>
        <p:spPr>
          <a:xfrm>
            <a:off x="548640" y="477316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9" name="Shape 29"/>
          <p:cNvSpPr txBox="1"/>
          <p:nvPr/>
        </p:nvSpPr>
        <p:spPr>
          <a:xfrm>
            <a:off x="960120" y="473659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A phone that deletes contacts in your pocket has a problem with …</a:t>
            </a:r>
            <a:endParaRPr lang="en-GB" sz="1200" dirty="0"/>
          </a:p>
        </p:txBody>
      </p:sp>
      <p:sp>
        <p:nvSpPr>
          <p:cNvPr id="30" name="Shape 30"/>
          <p:cNvSpPr/>
          <p:nvPr/>
        </p:nvSpPr>
        <p:spPr>
          <a:xfrm>
            <a:off x="960120" y="510235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modes</a:t>
            </a:r>
            <a:endParaRPr lang="en-GB" sz="1100" dirty="0"/>
          </a:p>
        </p:txBody>
      </p:sp>
      <p:sp>
        <p:nvSpPr>
          <p:cNvPr id="31" name="Shape 31"/>
          <p:cNvSpPr/>
          <p:nvPr/>
        </p:nvSpPr>
        <p:spPr>
          <a:xfrm>
            <a:off x="3401568" y="510235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breadcrumbs</a:t>
            </a:r>
            <a:endParaRPr lang="en-GB" sz="1100" dirty="0"/>
          </a:p>
        </p:txBody>
      </p:sp>
      <p:sp>
        <p:nvSpPr>
          <p:cNvPr id="32" name="Shape 32"/>
          <p:cNvSpPr/>
          <p:nvPr/>
        </p:nvSpPr>
        <p:spPr>
          <a:xfrm>
            <a:off x="5843016" y="510235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colour</a:t>
            </a:r>
            <a:endParaRPr lang="en-GB" sz="1100" dirty="0"/>
          </a:p>
        </p:txBody>
      </p:sp>
      <p:sp>
        <p:nvSpPr>
          <p:cNvPr id="33" name="Shape 33"/>
          <p:cNvSpPr/>
          <p:nvPr/>
        </p:nvSpPr>
        <p:spPr>
          <a:xfrm>
            <a:off x="548640" y="559612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34" name="Shape 34"/>
          <p:cNvSpPr txBox="1"/>
          <p:nvPr/>
        </p:nvSpPr>
        <p:spPr>
          <a:xfrm>
            <a:off x="960120" y="555955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Betty’s restricted right hand should change …</a:t>
            </a:r>
            <a:endParaRPr lang="en-GB" sz="1200" dirty="0"/>
          </a:p>
        </p:txBody>
      </p:sp>
      <p:sp>
        <p:nvSpPr>
          <p:cNvPr id="35" name="Shape 35"/>
          <p:cNvSpPr/>
          <p:nvPr/>
        </p:nvSpPr>
        <p:spPr>
          <a:xfrm>
            <a:off x="960120" y="592531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the colour scheme</a:t>
            </a:r>
            <a:endParaRPr lang="en-GB" sz="1100" dirty="0"/>
          </a:p>
        </p:txBody>
      </p:sp>
      <p:sp>
        <p:nvSpPr>
          <p:cNvPr id="36" name="Shape 36"/>
          <p:cNvSpPr/>
          <p:nvPr/>
        </p:nvSpPr>
        <p:spPr>
          <a:xfrm>
            <a:off x="3401568" y="592531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precise mouse work</a:t>
            </a:r>
            <a:endParaRPr lang="en-GB" sz="1100" dirty="0"/>
          </a:p>
        </p:txBody>
      </p:sp>
      <p:sp>
        <p:nvSpPr>
          <p:cNvPr id="37" name="Shape 37"/>
          <p:cNvSpPr/>
          <p:nvPr/>
        </p:nvSpPr>
        <p:spPr>
          <a:xfrm>
            <a:off x="5843016" y="592531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nothing — it is private</a:t>
            </a:r>
            <a:endParaRPr lang="en-GB" sz="11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Recap: Lecture 1 in five questions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check yourself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0428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4" name="Shape 14"/>
          <p:cNvSpPr txBox="1"/>
          <p:nvPr/>
        </p:nvSpPr>
        <p:spPr>
          <a:xfrm>
            <a:off x="960120" y="226771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Design is achieving … within …</a:t>
            </a:r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960120" y="263347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a)  </a:t>
            </a: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goals, constraints</a:t>
            </a:r>
            <a:endParaRPr lang="en-GB" sz="1100" dirty="0"/>
          </a:p>
        </p:txBody>
      </p:sp>
      <p:sp>
        <p:nvSpPr>
          <p:cNvPr id="16" name="Shape 16"/>
          <p:cNvSpPr/>
          <p:nvPr/>
        </p:nvSpPr>
        <p:spPr>
          <a:xfrm>
            <a:off x="3401568" y="263347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features, budgets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5843016" y="263347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users, deadlines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548640" y="312724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9" name="Shape 19"/>
          <p:cNvSpPr txBox="1"/>
          <p:nvPr/>
        </p:nvSpPr>
        <p:spPr>
          <a:xfrm>
            <a:off x="960120" y="309067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Which is NOT one of the four golden rules of navigation?</a:t>
            </a:r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960120" y="345643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knowing where you are</a:t>
            </a:r>
            <a:endParaRPr lang="en-GB" sz="1100" dirty="0"/>
          </a:p>
        </p:txBody>
      </p:sp>
      <p:sp>
        <p:nvSpPr>
          <p:cNvPr id="21" name="Shape 21"/>
          <p:cNvSpPr/>
          <p:nvPr/>
        </p:nvSpPr>
        <p:spPr>
          <a:xfrm>
            <a:off x="3401568" y="345643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knowing where you’ve been</a:t>
            </a:r>
            <a:endParaRPr lang="en-GB" sz="1100" dirty="0"/>
          </a:p>
        </p:txBody>
      </p:sp>
      <p:sp>
        <p:nvSpPr>
          <p:cNvPr id="22" name="Shape 22"/>
          <p:cNvSpPr/>
          <p:nvPr/>
        </p:nvSpPr>
        <p:spPr>
          <a:xfrm>
            <a:off x="5843016" y="345643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c)  </a:t>
            </a: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knowing how the code works</a:t>
            </a:r>
            <a:endParaRPr lang="en-GB" sz="1100" dirty="0"/>
          </a:p>
        </p:txBody>
      </p:sp>
      <p:sp>
        <p:nvSpPr>
          <p:cNvPr id="23" name="Shape 23"/>
          <p:cNvSpPr/>
          <p:nvPr/>
        </p:nvSpPr>
        <p:spPr>
          <a:xfrm>
            <a:off x="548640" y="395020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4" name="Shape 24"/>
          <p:cNvSpPr txBox="1"/>
          <p:nvPr/>
        </p:nvSpPr>
        <p:spPr>
          <a:xfrm>
            <a:off x="960120" y="391363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Deep menus are slow mainly because …</a:t>
            </a:r>
            <a:endParaRPr lang="en-GB" sz="1200" dirty="0"/>
          </a:p>
        </p:txBody>
      </p:sp>
      <p:sp>
        <p:nvSpPr>
          <p:cNvPr id="25" name="Shape 25"/>
          <p:cNvSpPr/>
          <p:nvPr/>
        </p:nvSpPr>
        <p:spPr>
          <a:xfrm>
            <a:off x="960120" y="427939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7 ± 2 limits a menu</a:t>
            </a:r>
            <a:endParaRPr lang="en-GB" sz="1100" dirty="0"/>
          </a:p>
        </p:txBody>
      </p:sp>
      <p:sp>
        <p:nvSpPr>
          <p:cNvPr id="26" name="Shape 26"/>
          <p:cNvSpPr/>
          <p:nvPr/>
        </p:nvSpPr>
        <p:spPr>
          <a:xfrm>
            <a:off x="3401568" y="427939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b)  </a:t>
            </a: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more loads, more wrong turns</a:t>
            </a:r>
            <a:endParaRPr lang="en-GB" sz="1100" dirty="0"/>
          </a:p>
        </p:txBody>
      </p:sp>
      <p:sp>
        <p:nvSpPr>
          <p:cNvPr id="27" name="Shape 27"/>
          <p:cNvSpPr/>
          <p:nvPr/>
        </p:nvSpPr>
        <p:spPr>
          <a:xfrm>
            <a:off x="5843016" y="427939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users hate scrolling</a:t>
            </a:r>
            <a:endParaRPr lang="en-GB" sz="1100" dirty="0"/>
          </a:p>
        </p:txBody>
      </p:sp>
      <p:sp>
        <p:nvSpPr>
          <p:cNvPr id="28" name="Shape 28"/>
          <p:cNvSpPr/>
          <p:nvPr/>
        </p:nvSpPr>
        <p:spPr>
          <a:xfrm>
            <a:off x="548640" y="477316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9" name="Shape 29"/>
          <p:cNvSpPr txBox="1"/>
          <p:nvPr/>
        </p:nvSpPr>
        <p:spPr>
          <a:xfrm>
            <a:off x="960120" y="473659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A phone that deletes contacts in your pocket has a problem with …</a:t>
            </a:r>
            <a:endParaRPr lang="en-GB" sz="1200" dirty="0"/>
          </a:p>
        </p:txBody>
      </p:sp>
      <p:sp>
        <p:nvSpPr>
          <p:cNvPr id="30" name="Shape 30"/>
          <p:cNvSpPr/>
          <p:nvPr/>
        </p:nvSpPr>
        <p:spPr>
          <a:xfrm>
            <a:off x="960120" y="510235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a)  </a:t>
            </a: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modes</a:t>
            </a:r>
            <a:endParaRPr lang="en-GB" sz="1100" dirty="0"/>
          </a:p>
        </p:txBody>
      </p:sp>
      <p:sp>
        <p:nvSpPr>
          <p:cNvPr id="31" name="Shape 31"/>
          <p:cNvSpPr/>
          <p:nvPr/>
        </p:nvSpPr>
        <p:spPr>
          <a:xfrm>
            <a:off x="3401568" y="510235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breadcrumbs</a:t>
            </a:r>
            <a:endParaRPr lang="en-GB" sz="1100" dirty="0"/>
          </a:p>
        </p:txBody>
      </p:sp>
      <p:sp>
        <p:nvSpPr>
          <p:cNvPr id="32" name="Shape 32"/>
          <p:cNvSpPr/>
          <p:nvPr/>
        </p:nvSpPr>
        <p:spPr>
          <a:xfrm>
            <a:off x="5843016" y="510235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colour</a:t>
            </a:r>
            <a:endParaRPr lang="en-GB" sz="1100" dirty="0"/>
          </a:p>
        </p:txBody>
      </p:sp>
      <p:sp>
        <p:nvSpPr>
          <p:cNvPr id="33" name="Shape 33"/>
          <p:cNvSpPr/>
          <p:nvPr/>
        </p:nvSpPr>
        <p:spPr>
          <a:xfrm>
            <a:off x="548640" y="559612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34" name="Shape 34"/>
          <p:cNvSpPr txBox="1"/>
          <p:nvPr/>
        </p:nvSpPr>
        <p:spPr>
          <a:xfrm>
            <a:off x="960120" y="555955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Betty’s restricted right hand should change …</a:t>
            </a:r>
            <a:endParaRPr lang="en-GB" sz="1200" dirty="0"/>
          </a:p>
        </p:txBody>
      </p:sp>
      <p:sp>
        <p:nvSpPr>
          <p:cNvPr id="35" name="Shape 35"/>
          <p:cNvSpPr/>
          <p:nvPr/>
        </p:nvSpPr>
        <p:spPr>
          <a:xfrm>
            <a:off x="960120" y="592531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the colour scheme</a:t>
            </a:r>
            <a:endParaRPr lang="en-GB" sz="1100" dirty="0"/>
          </a:p>
        </p:txBody>
      </p:sp>
      <p:sp>
        <p:nvSpPr>
          <p:cNvPr id="36" name="Shape 36"/>
          <p:cNvSpPr/>
          <p:nvPr/>
        </p:nvSpPr>
        <p:spPr>
          <a:xfrm>
            <a:off x="3401568" y="592531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b)  </a:t>
            </a: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precise mouse work</a:t>
            </a:r>
            <a:endParaRPr lang="en-GB" sz="1100" dirty="0"/>
          </a:p>
        </p:txBody>
      </p:sp>
      <p:sp>
        <p:nvSpPr>
          <p:cNvPr id="37" name="Shape 37"/>
          <p:cNvSpPr/>
          <p:nvPr/>
        </p:nvSpPr>
        <p:spPr>
          <a:xfrm>
            <a:off x="5843016" y="592531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nothing — it is private</a:t>
            </a:r>
            <a:endParaRPr lang="en-GB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Regroup this form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632204" cy="310896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LIVE EXERCISE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290572" y="1810512"/>
            <a:ext cx="584758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4 min · pairs · sketch on paper</a:t>
            </a:r>
            <a:endParaRPr lang="en-GB" sz="1200" dirty="0"/>
          </a:p>
        </p:txBody>
      </p:sp>
      <p:sp>
        <p:nvSpPr>
          <p:cNvPr id="13" name="Shape 13"/>
          <p:cNvSpPr txBox="1"/>
          <p:nvPr/>
        </p:nvSpPr>
        <p:spPr>
          <a:xfrm>
            <a:off x="548640" y="2240280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500" b="1" i="0" dirty="0">
                <a:solidFill>
                  <a:srgbClr val="2D2D8A"/>
                </a:solidFill>
                <a:latin typeface="Arial"/>
                <a:cs typeface="Arial"/>
              </a:rPr>
              <a:t>This admission form lists 14 fields in the order the database stores them. Group them, name each group, and number the tab order.</a:t>
            </a:r>
            <a:endParaRPr lang="en-GB" sz="1500" dirty="0"/>
          </a:p>
        </p:txBody>
      </p:sp>
      <p:sp>
        <p:nvSpPr>
          <p:cNvPr id="14" name="Shape 14"/>
          <p:cNvSpPr/>
          <p:nvPr/>
        </p:nvSpPr>
        <p:spPr>
          <a:xfrm>
            <a:off x="548640" y="2880360"/>
            <a:ext cx="52578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294436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000" b="1" i="0" dirty="0">
                <a:solidFill>
                  <a:srgbClr val="595959"/>
                </a:solidFill>
                <a:latin typeface="Arial"/>
                <a:cs typeface="Arial"/>
              </a:rPr>
              <a:t>UET ADMISSION FORM — FALL 2026</a:t>
            </a:r>
            <a:endParaRPr lang="en-GB" sz="100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246120"/>
            <a:ext cx="1260043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Entry-test score</a:t>
            </a:r>
            <a:endParaRPr lang="en-GB" sz="1000" dirty="0"/>
          </a:p>
        </p:txBody>
      </p:sp>
      <p:sp>
        <p:nvSpPr>
          <p:cNvPr id="17" name="Shape 17"/>
          <p:cNvSpPr/>
          <p:nvPr/>
        </p:nvSpPr>
        <p:spPr>
          <a:xfrm>
            <a:off x="1970075" y="3273552"/>
            <a:ext cx="113888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8" name="Shape 18"/>
          <p:cNvSpPr txBox="1"/>
          <p:nvPr/>
        </p:nvSpPr>
        <p:spPr>
          <a:xfrm>
            <a:off x="685800" y="3593592"/>
            <a:ext cx="1260043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Mobile number</a:t>
            </a:r>
            <a:endParaRPr lang="en-GB" sz="1000" dirty="0"/>
          </a:p>
        </p:txBody>
      </p:sp>
      <p:sp>
        <p:nvSpPr>
          <p:cNvPr id="19" name="Shape 19"/>
          <p:cNvSpPr/>
          <p:nvPr/>
        </p:nvSpPr>
        <p:spPr>
          <a:xfrm>
            <a:off x="1970075" y="3621024"/>
            <a:ext cx="113888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3941064"/>
            <a:ext cx="1260043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Programme choice 2</a:t>
            </a:r>
            <a:endParaRPr lang="en-GB" sz="1000" dirty="0"/>
          </a:p>
        </p:txBody>
      </p:sp>
      <p:sp>
        <p:nvSpPr>
          <p:cNvPr id="21" name="Shape 21"/>
          <p:cNvSpPr/>
          <p:nvPr/>
        </p:nvSpPr>
        <p:spPr>
          <a:xfrm>
            <a:off x="1970075" y="3968496"/>
            <a:ext cx="113888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2" name="Shape 22"/>
          <p:cNvSpPr txBox="1"/>
          <p:nvPr/>
        </p:nvSpPr>
        <p:spPr>
          <a:xfrm>
            <a:off x="685800" y="4288536"/>
            <a:ext cx="1260043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Date of birth</a:t>
            </a:r>
            <a:endParaRPr lang="en-GB" sz="1000" dirty="0"/>
          </a:p>
        </p:txBody>
      </p:sp>
      <p:sp>
        <p:nvSpPr>
          <p:cNvPr id="23" name="Shape 23"/>
          <p:cNvSpPr/>
          <p:nvPr/>
        </p:nvSpPr>
        <p:spPr>
          <a:xfrm>
            <a:off x="1970075" y="4315968"/>
            <a:ext cx="113888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4" name="Shape 24"/>
          <p:cNvSpPr txBox="1"/>
          <p:nvPr/>
        </p:nvSpPr>
        <p:spPr>
          <a:xfrm>
            <a:off x="685800" y="4636008"/>
            <a:ext cx="1260043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City</a:t>
            </a:r>
            <a:endParaRPr lang="en-GB" sz="1000" dirty="0"/>
          </a:p>
        </p:txBody>
      </p:sp>
      <p:sp>
        <p:nvSpPr>
          <p:cNvPr id="25" name="Shape 25"/>
          <p:cNvSpPr/>
          <p:nvPr/>
        </p:nvSpPr>
        <p:spPr>
          <a:xfrm>
            <a:off x="1970075" y="4663440"/>
            <a:ext cx="113888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6" name="Shape 26"/>
          <p:cNvSpPr txBox="1"/>
          <p:nvPr/>
        </p:nvSpPr>
        <p:spPr>
          <a:xfrm>
            <a:off x="685800" y="4983480"/>
            <a:ext cx="1260043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Father’s name</a:t>
            </a:r>
            <a:endParaRPr lang="en-GB" sz="1000" dirty="0"/>
          </a:p>
        </p:txBody>
      </p:sp>
      <p:sp>
        <p:nvSpPr>
          <p:cNvPr id="27" name="Shape 27"/>
          <p:cNvSpPr/>
          <p:nvPr/>
        </p:nvSpPr>
        <p:spPr>
          <a:xfrm>
            <a:off x="1970075" y="5010912"/>
            <a:ext cx="113888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8" name="Shape 28"/>
          <p:cNvSpPr txBox="1"/>
          <p:nvPr/>
        </p:nvSpPr>
        <p:spPr>
          <a:xfrm>
            <a:off x="685800" y="5330952"/>
            <a:ext cx="1260043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FSc marks</a:t>
            </a:r>
            <a:endParaRPr lang="en-GB" sz="1000" dirty="0"/>
          </a:p>
        </p:txBody>
      </p:sp>
      <p:sp>
        <p:nvSpPr>
          <p:cNvPr id="29" name="Shape 29"/>
          <p:cNvSpPr/>
          <p:nvPr/>
        </p:nvSpPr>
        <p:spPr>
          <a:xfrm>
            <a:off x="1970075" y="5358384"/>
            <a:ext cx="113888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0" name="Shape 30"/>
          <p:cNvSpPr txBox="1"/>
          <p:nvPr/>
        </p:nvSpPr>
        <p:spPr>
          <a:xfrm>
            <a:off x="3246120" y="3246120"/>
            <a:ext cx="1260043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Email</a:t>
            </a:r>
            <a:endParaRPr lang="en-GB" sz="1000" dirty="0"/>
          </a:p>
        </p:txBody>
      </p:sp>
      <p:sp>
        <p:nvSpPr>
          <p:cNvPr id="31" name="Shape 31"/>
          <p:cNvSpPr/>
          <p:nvPr/>
        </p:nvSpPr>
        <p:spPr>
          <a:xfrm>
            <a:off x="4530395" y="3273552"/>
            <a:ext cx="113888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2" name="Shape 32"/>
          <p:cNvSpPr txBox="1"/>
          <p:nvPr/>
        </p:nvSpPr>
        <p:spPr>
          <a:xfrm>
            <a:off x="3246120" y="3593592"/>
            <a:ext cx="1260043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Hostel required?</a:t>
            </a:r>
            <a:endParaRPr lang="en-GB" sz="1000" dirty="0"/>
          </a:p>
        </p:txBody>
      </p:sp>
      <p:sp>
        <p:nvSpPr>
          <p:cNvPr id="33" name="Shape 33"/>
          <p:cNvSpPr/>
          <p:nvPr/>
        </p:nvSpPr>
        <p:spPr>
          <a:xfrm>
            <a:off x="4530395" y="3621024"/>
            <a:ext cx="113888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4" name="Shape 34"/>
          <p:cNvSpPr txBox="1"/>
          <p:nvPr/>
        </p:nvSpPr>
        <p:spPr>
          <a:xfrm>
            <a:off x="3246120" y="3941064"/>
            <a:ext cx="1260043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Full name</a:t>
            </a:r>
            <a:endParaRPr lang="en-GB" sz="1000" dirty="0"/>
          </a:p>
        </p:txBody>
      </p:sp>
      <p:sp>
        <p:nvSpPr>
          <p:cNvPr id="35" name="Shape 35"/>
          <p:cNvSpPr/>
          <p:nvPr/>
        </p:nvSpPr>
        <p:spPr>
          <a:xfrm>
            <a:off x="4530395" y="3968496"/>
            <a:ext cx="113888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6" name="Shape 36"/>
          <p:cNvSpPr txBox="1"/>
          <p:nvPr/>
        </p:nvSpPr>
        <p:spPr>
          <a:xfrm>
            <a:off x="3246120" y="4288536"/>
            <a:ext cx="1260043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Matric marks</a:t>
            </a:r>
            <a:endParaRPr lang="en-GB" sz="1000" dirty="0"/>
          </a:p>
        </p:txBody>
      </p:sp>
      <p:sp>
        <p:nvSpPr>
          <p:cNvPr id="37" name="Shape 37"/>
          <p:cNvSpPr/>
          <p:nvPr/>
        </p:nvSpPr>
        <p:spPr>
          <a:xfrm>
            <a:off x="4530395" y="4315968"/>
            <a:ext cx="113888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8" name="Shape 38"/>
          <p:cNvSpPr txBox="1"/>
          <p:nvPr/>
        </p:nvSpPr>
        <p:spPr>
          <a:xfrm>
            <a:off x="3246120" y="4636008"/>
            <a:ext cx="1260043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Postal address</a:t>
            </a:r>
            <a:endParaRPr lang="en-GB" sz="1000" dirty="0"/>
          </a:p>
        </p:txBody>
      </p:sp>
      <p:sp>
        <p:nvSpPr>
          <p:cNvPr id="39" name="Shape 39"/>
          <p:cNvSpPr/>
          <p:nvPr/>
        </p:nvSpPr>
        <p:spPr>
          <a:xfrm>
            <a:off x="4530395" y="4663440"/>
            <a:ext cx="113888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0" name="Shape 40"/>
          <p:cNvSpPr txBox="1"/>
          <p:nvPr/>
        </p:nvSpPr>
        <p:spPr>
          <a:xfrm>
            <a:off x="3246120" y="4983480"/>
            <a:ext cx="1260043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Programme choice 1</a:t>
            </a:r>
            <a:endParaRPr lang="en-GB" sz="1000" dirty="0"/>
          </a:p>
        </p:txBody>
      </p:sp>
      <p:sp>
        <p:nvSpPr>
          <p:cNvPr id="41" name="Shape 41"/>
          <p:cNvSpPr/>
          <p:nvPr/>
        </p:nvSpPr>
        <p:spPr>
          <a:xfrm>
            <a:off x="4530395" y="5010912"/>
            <a:ext cx="113888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2" name="Shape 42"/>
          <p:cNvSpPr txBox="1"/>
          <p:nvPr/>
        </p:nvSpPr>
        <p:spPr>
          <a:xfrm>
            <a:off x="3246120" y="5330952"/>
            <a:ext cx="1260043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CNIC / B-form no.</a:t>
            </a:r>
            <a:endParaRPr lang="en-GB" sz="1000" dirty="0"/>
          </a:p>
        </p:txBody>
      </p:sp>
      <p:sp>
        <p:nvSpPr>
          <p:cNvPr id="43" name="Shape 43"/>
          <p:cNvSpPr/>
          <p:nvPr/>
        </p:nvSpPr>
        <p:spPr>
          <a:xfrm>
            <a:off x="4530395" y="5358384"/>
            <a:ext cx="113888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4" name="Shape 44"/>
          <p:cNvSpPr/>
          <p:nvPr/>
        </p:nvSpPr>
        <p:spPr>
          <a:xfrm>
            <a:off x="4434840" y="57150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D2D8A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000" b="1" i="0" dirty="0">
                <a:solidFill>
                  <a:srgbClr val="FFFFFF"/>
                </a:solidFill>
                <a:latin typeface="Arial"/>
                <a:cs typeface="Arial"/>
              </a:rPr>
              <a:t>Submit</a:t>
            </a:r>
            <a:endParaRPr lang="en-GB" sz="1000" dirty="0"/>
          </a:p>
        </p:txBody>
      </p:sp>
      <p:sp>
        <p:nvSpPr>
          <p:cNvPr id="45" name="Shape 45"/>
          <p:cNvSpPr/>
          <p:nvPr/>
        </p:nvSpPr>
        <p:spPr>
          <a:xfrm>
            <a:off x="5989320" y="2880360"/>
            <a:ext cx="2148840" cy="32004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09728" tIns="109728" rIns="109728" bIns="109728" anchor="t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B03A2E"/>
                </a:solidFill>
                <a:latin typeface="Arial"/>
                <a:cs typeface="Arial"/>
              </a:rPr>
              <a:t>Your tasks</a:t>
            </a:r>
            <a:endParaRPr lang="en-GB" sz="1100" dirty="0"/>
          </a:p>
          <a:p>
            <a:pPr algn="l">
              <a:spcBef>
                <a:spcPts val="600"/>
              </a:spcBef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1. Circle fields that belong together</a:t>
            </a:r>
            <a:endParaRPr lang="en-GB" sz="1100" dirty="0"/>
          </a:p>
          <a:p>
            <a:pPr algn="l">
              <a:spcBef>
                <a:spcPts val="400"/>
              </a:spcBef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2. Give each group a name</a:t>
            </a:r>
            <a:endParaRPr lang="en-GB" sz="1100" dirty="0"/>
          </a:p>
          <a:p>
            <a:pPr algn="l">
              <a:spcBef>
                <a:spcPts val="400"/>
              </a:spcBef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3. Number the fields 1–14 in the order you would fill them</a:t>
            </a:r>
            <a:endParaRPr lang="en-GB" sz="1100" dirty="0"/>
          </a:p>
          <a:p>
            <a:pPr algn="l">
              <a:spcBef>
                <a:spcPts val="800"/>
              </a:spcBef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Bonus: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where does the Submit button go, and what must come just before it?</a:t>
            </a:r>
            <a:endParaRPr lang="en-GB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Regroup this form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one good grouping and tab order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40280"/>
            <a:ext cx="3749040" cy="16459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 txBox="1"/>
          <p:nvPr/>
        </p:nvSpPr>
        <p:spPr>
          <a:xfrm>
            <a:off x="658368" y="229514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2D2D8A"/>
                </a:solidFill>
                <a:latin typeface="Arial"/>
                <a:cs typeface="Arial"/>
              </a:rPr>
              <a:t>1  Personal details</a:t>
            </a:r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685800" y="2660904"/>
            <a:ext cx="237744" cy="23774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9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900" dirty="0"/>
          </a:p>
        </p:txBody>
      </p:sp>
      <p:sp>
        <p:nvSpPr>
          <p:cNvPr id="16" name="Shape 16"/>
          <p:cNvSpPr txBox="1"/>
          <p:nvPr/>
        </p:nvSpPr>
        <p:spPr>
          <a:xfrm>
            <a:off x="978408" y="2624328"/>
            <a:ext cx="16309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Full name</a:t>
            </a:r>
            <a:endParaRPr lang="en-GB" sz="1000" dirty="0"/>
          </a:p>
        </p:txBody>
      </p:sp>
      <p:sp>
        <p:nvSpPr>
          <p:cNvPr id="17" name="Shape 17"/>
          <p:cNvSpPr/>
          <p:nvPr/>
        </p:nvSpPr>
        <p:spPr>
          <a:xfrm>
            <a:off x="2640696" y="2651760"/>
            <a:ext cx="14741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8" name="Shape 18"/>
          <p:cNvSpPr/>
          <p:nvPr/>
        </p:nvSpPr>
        <p:spPr>
          <a:xfrm>
            <a:off x="685800" y="2962656"/>
            <a:ext cx="237744" cy="23774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9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900" dirty="0"/>
          </a:p>
        </p:txBody>
      </p:sp>
      <p:sp>
        <p:nvSpPr>
          <p:cNvPr id="19" name="Shape 19"/>
          <p:cNvSpPr txBox="1"/>
          <p:nvPr/>
        </p:nvSpPr>
        <p:spPr>
          <a:xfrm>
            <a:off x="978408" y="2926080"/>
            <a:ext cx="16309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Father’s name</a:t>
            </a:r>
            <a:endParaRPr lang="en-GB" sz="1000" dirty="0"/>
          </a:p>
        </p:txBody>
      </p:sp>
      <p:sp>
        <p:nvSpPr>
          <p:cNvPr id="20" name="Shape 20"/>
          <p:cNvSpPr/>
          <p:nvPr/>
        </p:nvSpPr>
        <p:spPr>
          <a:xfrm>
            <a:off x="2640696" y="2953512"/>
            <a:ext cx="14741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1" name="Shape 21"/>
          <p:cNvSpPr/>
          <p:nvPr/>
        </p:nvSpPr>
        <p:spPr>
          <a:xfrm>
            <a:off x="685800" y="3264408"/>
            <a:ext cx="237744" cy="23774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9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900" dirty="0"/>
          </a:p>
        </p:txBody>
      </p:sp>
      <p:sp>
        <p:nvSpPr>
          <p:cNvPr id="22" name="Shape 22"/>
          <p:cNvSpPr txBox="1"/>
          <p:nvPr/>
        </p:nvSpPr>
        <p:spPr>
          <a:xfrm>
            <a:off x="978408" y="3227832"/>
            <a:ext cx="16309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Date of birth</a:t>
            </a:r>
            <a:endParaRPr lang="en-GB" sz="1000" dirty="0"/>
          </a:p>
        </p:txBody>
      </p:sp>
      <p:sp>
        <p:nvSpPr>
          <p:cNvPr id="23" name="Shape 23"/>
          <p:cNvSpPr/>
          <p:nvPr/>
        </p:nvSpPr>
        <p:spPr>
          <a:xfrm>
            <a:off x="2640696" y="3255264"/>
            <a:ext cx="14741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4" name="Shape 24"/>
          <p:cNvSpPr/>
          <p:nvPr/>
        </p:nvSpPr>
        <p:spPr>
          <a:xfrm>
            <a:off x="685800" y="3566160"/>
            <a:ext cx="237744" cy="23774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9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900" dirty="0"/>
          </a:p>
        </p:txBody>
      </p:sp>
      <p:sp>
        <p:nvSpPr>
          <p:cNvPr id="25" name="Shape 25"/>
          <p:cNvSpPr txBox="1"/>
          <p:nvPr/>
        </p:nvSpPr>
        <p:spPr>
          <a:xfrm>
            <a:off x="978408" y="3529584"/>
            <a:ext cx="16309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CNIC / B-form no.</a:t>
            </a:r>
            <a:endParaRPr lang="en-GB" sz="1000" dirty="0"/>
          </a:p>
        </p:txBody>
      </p:sp>
      <p:sp>
        <p:nvSpPr>
          <p:cNvPr id="26" name="Shape 26"/>
          <p:cNvSpPr/>
          <p:nvPr/>
        </p:nvSpPr>
        <p:spPr>
          <a:xfrm>
            <a:off x="2640696" y="3557016"/>
            <a:ext cx="14741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7" name="Shape 27"/>
          <p:cNvSpPr/>
          <p:nvPr/>
        </p:nvSpPr>
        <p:spPr>
          <a:xfrm>
            <a:off x="4389120" y="2240280"/>
            <a:ext cx="3749040" cy="16459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8" name="Shape 28"/>
          <p:cNvSpPr txBox="1"/>
          <p:nvPr/>
        </p:nvSpPr>
        <p:spPr>
          <a:xfrm>
            <a:off x="4498848" y="229514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2D2D8A"/>
                </a:solidFill>
                <a:latin typeface="Arial"/>
                <a:cs typeface="Arial"/>
              </a:rPr>
              <a:t>2  Contact</a:t>
            </a:r>
            <a:endParaRPr lang="en-GB" sz="1200" dirty="0"/>
          </a:p>
        </p:txBody>
      </p:sp>
      <p:sp>
        <p:nvSpPr>
          <p:cNvPr id="29" name="Shape 29"/>
          <p:cNvSpPr/>
          <p:nvPr/>
        </p:nvSpPr>
        <p:spPr>
          <a:xfrm>
            <a:off x="4526280" y="2660904"/>
            <a:ext cx="237744" cy="23774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9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900" dirty="0"/>
          </a:p>
        </p:txBody>
      </p:sp>
      <p:sp>
        <p:nvSpPr>
          <p:cNvPr id="30" name="Shape 30"/>
          <p:cNvSpPr txBox="1"/>
          <p:nvPr/>
        </p:nvSpPr>
        <p:spPr>
          <a:xfrm>
            <a:off x="4818888" y="2624328"/>
            <a:ext cx="16309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Mobile number</a:t>
            </a:r>
            <a:endParaRPr lang="en-GB" sz="1000" dirty="0"/>
          </a:p>
        </p:txBody>
      </p:sp>
      <p:sp>
        <p:nvSpPr>
          <p:cNvPr id="31" name="Shape 31"/>
          <p:cNvSpPr/>
          <p:nvPr/>
        </p:nvSpPr>
        <p:spPr>
          <a:xfrm>
            <a:off x="6481176" y="2651760"/>
            <a:ext cx="14741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2" name="Shape 32"/>
          <p:cNvSpPr/>
          <p:nvPr/>
        </p:nvSpPr>
        <p:spPr>
          <a:xfrm>
            <a:off x="4526280" y="2962656"/>
            <a:ext cx="237744" cy="23774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9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n-GB" sz="900" dirty="0"/>
          </a:p>
        </p:txBody>
      </p:sp>
      <p:sp>
        <p:nvSpPr>
          <p:cNvPr id="33" name="Shape 33"/>
          <p:cNvSpPr txBox="1"/>
          <p:nvPr/>
        </p:nvSpPr>
        <p:spPr>
          <a:xfrm>
            <a:off x="4818888" y="2926080"/>
            <a:ext cx="16309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Email</a:t>
            </a:r>
            <a:endParaRPr lang="en-GB" sz="1000" dirty="0"/>
          </a:p>
        </p:txBody>
      </p:sp>
      <p:sp>
        <p:nvSpPr>
          <p:cNvPr id="34" name="Shape 34"/>
          <p:cNvSpPr/>
          <p:nvPr/>
        </p:nvSpPr>
        <p:spPr>
          <a:xfrm>
            <a:off x="6481176" y="2953512"/>
            <a:ext cx="14741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5" name="Shape 35"/>
          <p:cNvSpPr/>
          <p:nvPr/>
        </p:nvSpPr>
        <p:spPr>
          <a:xfrm>
            <a:off x="4526280" y="3264408"/>
            <a:ext cx="237744" cy="23774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900" b="1" i="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lang="en-GB" sz="900" dirty="0"/>
          </a:p>
        </p:txBody>
      </p:sp>
      <p:sp>
        <p:nvSpPr>
          <p:cNvPr id="36" name="Shape 36"/>
          <p:cNvSpPr txBox="1"/>
          <p:nvPr/>
        </p:nvSpPr>
        <p:spPr>
          <a:xfrm>
            <a:off x="4818888" y="3227832"/>
            <a:ext cx="16309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Postal address</a:t>
            </a:r>
            <a:endParaRPr lang="en-GB" sz="1000" dirty="0"/>
          </a:p>
        </p:txBody>
      </p:sp>
      <p:sp>
        <p:nvSpPr>
          <p:cNvPr id="37" name="Shape 37"/>
          <p:cNvSpPr/>
          <p:nvPr/>
        </p:nvSpPr>
        <p:spPr>
          <a:xfrm>
            <a:off x="6481176" y="3255264"/>
            <a:ext cx="14741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8" name="Shape 38"/>
          <p:cNvSpPr/>
          <p:nvPr/>
        </p:nvSpPr>
        <p:spPr>
          <a:xfrm>
            <a:off x="4526280" y="3566160"/>
            <a:ext cx="237744" cy="23774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900" b="1" i="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lang="en-GB" sz="900" dirty="0"/>
          </a:p>
        </p:txBody>
      </p:sp>
      <p:sp>
        <p:nvSpPr>
          <p:cNvPr id="39" name="Shape 39"/>
          <p:cNvSpPr txBox="1"/>
          <p:nvPr/>
        </p:nvSpPr>
        <p:spPr>
          <a:xfrm>
            <a:off x="4818888" y="3529584"/>
            <a:ext cx="16309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City</a:t>
            </a:r>
            <a:endParaRPr lang="en-GB" sz="1000" dirty="0"/>
          </a:p>
        </p:txBody>
      </p:sp>
      <p:sp>
        <p:nvSpPr>
          <p:cNvPr id="40" name="Shape 40"/>
          <p:cNvSpPr/>
          <p:nvPr/>
        </p:nvSpPr>
        <p:spPr>
          <a:xfrm>
            <a:off x="6481176" y="3557016"/>
            <a:ext cx="14741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1" name="Shape 41"/>
          <p:cNvSpPr/>
          <p:nvPr/>
        </p:nvSpPr>
        <p:spPr>
          <a:xfrm>
            <a:off x="548640" y="4023360"/>
            <a:ext cx="3749040" cy="16459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2" name="Shape 42"/>
          <p:cNvSpPr txBox="1"/>
          <p:nvPr/>
        </p:nvSpPr>
        <p:spPr>
          <a:xfrm>
            <a:off x="658368" y="407822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2D2D8A"/>
                </a:solidFill>
                <a:latin typeface="Arial"/>
                <a:cs typeface="Arial"/>
              </a:rPr>
              <a:t>3  Academic record</a:t>
            </a:r>
            <a:endParaRPr lang="en-GB" sz="1200" dirty="0"/>
          </a:p>
        </p:txBody>
      </p:sp>
      <p:sp>
        <p:nvSpPr>
          <p:cNvPr id="43" name="Shape 43"/>
          <p:cNvSpPr/>
          <p:nvPr/>
        </p:nvSpPr>
        <p:spPr>
          <a:xfrm>
            <a:off x="685800" y="4443984"/>
            <a:ext cx="237744" cy="23774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900" b="1" i="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lang="en-GB" sz="900" dirty="0"/>
          </a:p>
        </p:txBody>
      </p:sp>
      <p:sp>
        <p:nvSpPr>
          <p:cNvPr id="44" name="Shape 44"/>
          <p:cNvSpPr txBox="1"/>
          <p:nvPr/>
        </p:nvSpPr>
        <p:spPr>
          <a:xfrm>
            <a:off x="978408" y="4407408"/>
            <a:ext cx="16309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Matric marks</a:t>
            </a:r>
            <a:endParaRPr lang="en-GB" sz="1000" dirty="0"/>
          </a:p>
        </p:txBody>
      </p:sp>
      <p:sp>
        <p:nvSpPr>
          <p:cNvPr id="45" name="Shape 45"/>
          <p:cNvSpPr/>
          <p:nvPr/>
        </p:nvSpPr>
        <p:spPr>
          <a:xfrm>
            <a:off x="2640696" y="4434840"/>
            <a:ext cx="14741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6" name="Shape 46"/>
          <p:cNvSpPr/>
          <p:nvPr/>
        </p:nvSpPr>
        <p:spPr>
          <a:xfrm>
            <a:off x="685800" y="4745736"/>
            <a:ext cx="237744" cy="23774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900" b="1" i="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lang="en-GB" sz="900" dirty="0"/>
          </a:p>
        </p:txBody>
      </p:sp>
      <p:sp>
        <p:nvSpPr>
          <p:cNvPr id="47" name="Shape 47"/>
          <p:cNvSpPr txBox="1"/>
          <p:nvPr/>
        </p:nvSpPr>
        <p:spPr>
          <a:xfrm>
            <a:off x="978408" y="4709160"/>
            <a:ext cx="16309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FSc marks</a:t>
            </a:r>
            <a:endParaRPr lang="en-GB" sz="1000" dirty="0"/>
          </a:p>
        </p:txBody>
      </p:sp>
      <p:sp>
        <p:nvSpPr>
          <p:cNvPr id="48" name="Shape 48"/>
          <p:cNvSpPr/>
          <p:nvPr/>
        </p:nvSpPr>
        <p:spPr>
          <a:xfrm>
            <a:off x="2640696" y="4736592"/>
            <a:ext cx="14741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9" name="Shape 49"/>
          <p:cNvSpPr/>
          <p:nvPr/>
        </p:nvSpPr>
        <p:spPr>
          <a:xfrm>
            <a:off x="685800" y="5047488"/>
            <a:ext cx="237744" cy="23774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900" b="1" i="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lang="en-GB" sz="900" dirty="0"/>
          </a:p>
        </p:txBody>
      </p:sp>
      <p:sp>
        <p:nvSpPr>
          <p:cNvPr id="50" name="Shape 50"/>
          <p:cNvSpPr txBox="1"/>
          <p:nvPr/>
        </p:nvSpPr>
        <p:spPr>
          <a:xfrm>
            <a:off x="978408" y="5010912"/>
            <a:ext cx="16309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Entry-test score</a:t>
            </a:r>
            <a:endParaRPr lang="en-GB" sz="1000" dirty="0"/>
          </a:p>
        </p:txBody>
      </p:sp>
      <p:sp>
        <p:nvSpPr>
          <p:cNvPr id="51" name="Shape 51"/>
          <p:cNvSpPr/>
          <p:nvPr/>
        </p:nvSpPr>
        <p:spPr>
          <a:xfrm>
            <a:off x="2640696" y="5038344"/>
            <a:ext cx="14741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52" name="Shape 52"/>
          <p:cNvSpPr/>
          <p:nvPr/>
        </p:nvSpPr>
        <p:spPr>
          <a:xfrm>
            <a:off x="4389120" y="4023360"/>
            <a:ext cx="3749040" cy="16459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53" name="Shape 53"/>
          <p:cNvSpPr txBox="1"/>
          <p:nvPr/>
        </p:nvSpPr>
        <p:spPr>
          <a:xfrm>
            <a:off x="4498848" y="407822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2D2D8A"/>
                </a:solidFill>
                <a:latin typeface="Arial"/>
                <a:cs typeface="Arial"/>
              </a:rPr>
              <a:t>4  Programme</a:t>
            </a:r>
            <a:endParaRPr lang="en-GB" sz="1200" dirty="0"/>
          </a:p>
        </p:txBody>
      </p:sp>
      <p:sp>
        <p:nvSpPr>
          <p:cNvPr id="54" name="Shape 54"/>
          <p:cNvSpPr/>
          <p:nvPr/>
        </p:nvSpPr>
        <p:spPr>
          <a:xfrm>
            <a:off x="4526280" y="4443984"/>
            <a:ext cx="237744" cy="23774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900" b="1" i="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lang="en-GB" sz="900" dirty="0"/>
          </a:p>
        </p:txBody>
      </p:sp>
      <p:sp>
        <p:nvSpPr>
          <p:cNvPr id="55" name="Shape 55"/>
          <p:cNvSpPr txBox="1"/>
          <p:nvPr/>
        </p:nvSpPr>
        <p:spPr>
          <a:xfrm>
            <a:off x="4818888" y="4407408"/>
            <a:ext cx="16309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Programme choice 1</a:t>
            </a:r>
            <a:endParaRPr lang="en-GB" sz="1000" dirty="0"/>
          </a:p>
        </p:txBody>
      </p:sp>
      <p:sp>
        <p:nvSpPr>
          <p:cNvPr id="56" name="Shape 56"/>
          <p:cNvSpPr/>
          <p:nvPr/>
        </p:nvSpPr>
        <p:spPr>
          <a:xfrm>
            <a:off x="6481176" y="4434840"/>
            <a:ext cx="14741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57" name="Shape 57"/>
          <p:cNvSpPr/>
          <p:nvPr/>
        </p:nvSpPr>
        <p:spPr>
          <a:xfrm>
            <a:off x="4526280" y="4745736"/>
            <a:ext cx="237744" cy="23774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900" b="1" i="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lang="en-GB" sz="900" dirty="0"/>
          </a:p>
        </p:txBody>
      </p:sp>
      <p:sp>
        <p:nvSpPr>
          <p:cNvPr id="58" name="Shape 58"/>
          <p:cNvSpPr txBox="1"/>
          <p:nvPr/>
        </p:nvSpPr>
        <p:spPr>
          <a:xfrm>
            <a:off x="4818888" y="4709160"/>
            <a:ext cx="16309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Programme choice 2</a:t>
            </a:r>
            <a:endParaRPr lang="en-GB" sz="1000" dirty="0"/>
          </a:p>
        </p:txBody>
      </p:sp>
      <p:sp>
        <p:nvSpPr>
          <p:cNvPr id="59" name="Shape 59"/>
          <p:cNvSpPr/>
          <p:nvPr/>
        </p:nvSpPr>
        <p:spPr>
          <a:xfrm>
            <a:off x="6481176" y="4736592"/>
            <a:ext cx="14741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60" name="Shape 60"/>
          <p:cNvSpPr/>
          <p:nvPr/>
        </p:nvSpPr>
        <p:spPr>
          <a:xfrm>
            <a:off x="4526280" y="5047488"/>
            <a:ext cx="237744" cy="237744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900" b="1" i="0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lang="en-GB" sz="900" dirty="0"/>
          </a:p>
        </p:txBody>
      </p:sp>
      <p:sp>
        <p:nvSpPr>
          <p:cNvPr id="61" name="Shape 61"/>
          <p:cNvSpPr txBox="1"/>
          <p:nvPr/>
        </p:nvSpPr>
        <p:spPr>
          <a:xfrm>
            <a:off x="4818888" y="5010912"/>
            <a:ext cx="16309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Hostel required?</a:t>
            </a:r>
            <a:endParaRPr lang="en-GB" sz="1000" dirty="0"/>
          </a:p>
        </p:txBody>
      </p:sp>
      <p:sp>
        <p:nvSpPr>
          <p:cNvPr id="62" name="Shape 62"/>
          <p:cNvSpPr/>
          <p:nvPr/>
        </p:nvSpPr>
        <p:spPr>
          <a:xfrm>
            <a:off x="6481176" y="5038344"/>
            <a:ext cx="147410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63" name="Shape 63"/>
          <p:cNvSpPr/>
          <p:nvPr/>
        </p:nvSpPr>
        <p:spPr>
          <a:xfrm>
            <a:off x="548640" y="5779008"/>
            <a:ext cx="5852160" cy="329184"/>
          </a:xfrm>
          <a:prstGeom prst="rect">
            <a:avLst/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Declaration: “The information above is correct.”  ☐</a:t>
            </a:r>
            <a:endParaRPr lang="en-GB" sz="1100" dirty="0"/>
          </a:p>
        </p:txBody>
      </p:sp>
      <p:sp>
        <p:nvSpPr>
          <p:cNvPr id="64" name="Shape 64"/>
          <p:cNvSpPr/>
          <p:nvPr/>
        </p:nvSpPr>
        <p:spPr>
          <a:xfrm>
            <a:off x="6583680" y="578815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D2D8A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Submit</a:t>
            </a:r>
            <a:endParaRPr lang="en-GB" sz="1100" dirty="0"/>
          </a:p>
        </p:txBody>
      </p:sp>
      <p:sp>
        <p:nvSpPr>
          <p:cNvPr id="65" name="Shape 65"/>
          <p:cNvSpPr txBox="1"/>
          <p:nvPr/>
        </p:nvSpPr>
        <p:spPr>
          <a:xfrm>
            <a:off x="548640" y="619963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050" b="0" i="1" dirty="0">
                <a:solidFill>
                  <a:srgbClr val="595959"/>
                </a:solidFill>
                <a:latin typeface="Arial"/>
                <a:cs typeface="Arial"/>
              </a:rPr>
              <a:t>Logically together → physically together. The order follows the papers on the applicant’s desk (CNIC, then certificates) — and the Tab key must follow the same order.</a:t>
            </a:r>
            <a:endParaRPr lang="en-GB" sz="10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Cake-recipe syndrome?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27048" y="1810512"/>
            <a:ext cx="661111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2 min · write OK or CAKE · optional if short of time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40280"/>
            <a:ext cx="7589520" cy="566928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ctr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Remember: </a:t>
            </a: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“mix milk and flour, add the fruit after beating them” — you read the action before the condition.</a:t>
            </a:r>
            <a:endParaRPr lang="en-GB" sz="1300" dirty="0"/>
          </a:p>
        </p:txBody>
      </p:sp>
      <p:sp>
        <p:nvSpPr>
          <p:cNvPr id="14" name="Shape 14"/>
          <p:cNvSpPr/>
          <p:nvPr/>
        </p:nvSpPr>
        <p:spPr>
          <a:xfrm>
            <a:off x="548640" y="3063240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/>
          <p:nvPr/>
        </p:nvSpPr>
        <p:spPr>
          <a:xfrm>
            <a:off x="960120" y="2971800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Click Submit. Before that, make sure all three files are attached.</a:t>
            </a:r>
            <a:endParaRPr lang="en-GB" sz="1250" dirty="0"/>
          </a:p>
        </p:txBody>
      </p:sp>
      <p:sp>
        <p:nvSpPr>
          <p:cNvPr id="16" name="Shape 16"/>
          <p:cNvSpPr/>
          <p:nvPr/>
        </p:nvSpPr>
        <p:spPr>
          <a:xfrm>
            <a:off x="6766560" y="3072384"/>
            <a:ext cx="13716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>OK  /  CAKE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548640" y="3685032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960120" y="3593592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Enter your roll number, then press Search.</a:t>
            </a:r>
            <a:endParaRPr lang="en-GB" sz="1250" dirty="0"/>
          </a:p>
        </p:txBody>
      </p:sp>
      <p:sp>
        <p:nvSpPr>
          <p:cNvPr id="19" name="Shape 19"/>
          <p:cNvSpPr/>
          <p:nvPr/>
        </p:nvSpPr>
        <p:spPr>
          <a:xfrm>
            <a:off x="6766560" y="3694176"/>
            <a:ext cx="13716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>OK  /  CAKE</a:t>
            </a:r>
            <a:endParaRPr lang="en-GB" sz="1100" dirty="0"/>
          </a:p>
        </p:txBody>
      </p:sp>
      <p:sp>
        <p:nvSpPr>
          <p:cNvPr id="20" name="Shape 20"/>
          <p:cNvSpPr/>
          <p:nvPr/>
        </p:nvSpPr>
        <p:spPr>
          <a:xfrm>
            <a:off x="548640" y="4306824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1" name="Shape 21"/>
          <p:cNvSpPr/>
          <p:nvPr/>
        </p:nvSpPr>
        <p:spPr>
          <a:xfrm>
            <a:off x="960120" y="4215384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Delete the old version after you have saved a backup copy.</a:t>
            </a:r>
            <a:endParaRPr lang="en-GB" sz="1250" dirty="0"/>
          </a:p>
        </p:txBody>
      </p:sp>
      <p:sp>
        <p:nvSpPr>
          <p:cNvPr id="22" name="Shape 22"/>
          <p:cNvSpPr/>
          <p:nvPr/>
        </p:nvSpPr>
        <p:spPr>
          <a:xfrm>
            <a:off x="6766560" y="4315968"/>
            <a:ext cx="13716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>OK  /  CAKE</a:t>
            </a:r>
            <a:endParaRPr lang="en-GB" sz="1100" dirty="0"/>
          </a:p>
        </p:txBody>
      </p:sp>
      <p:sp>
        <p:nvSpPr>
          <p:cNvPr id="23" name="Shape 23"/>
          <p:cNvSpPr/>
          <p:nvPr/>
        </p:nvSpPr>
        <p:spPr>
          <a:xfrm>
            <a:off x="548640" y="4928616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4" name="Shape 24"/>
          <p:cNvSpPr/>
          <p:nvPr/>
        </p:nvSpPr>
        <p:spPr>
          <a:xfrm>
            <a:off x="960120" y="4837176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Turn the knob to Grill, having first removed the plastic lid.</a:t>
            </a:r>
            <a:endParaRPr lang="en-GB" sz="1250" dirty="0"/>
          </a:p>
        </p:txBody>
      </p:sp>
      <p:sp>
        <p:nvSpPr>
          <p:cNvPr id="25" name="Shape 25"/>
          <p:cNvSpPr/>
          <p:nvPr/>
        </p:nvSpPr>
        <p:spPr>
          <a:xfrm>
            <a:off x="6766560" y="4937760"/>
            <a:ext cx="13716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>OK  /  CAKE</a:t>
            </a:r>
            <a:endParaRPr lang="en-GB" sz="1100" dirty="0"/>
          </a:p>
        </p:txBody>
      </p:sp>
      <p:sp>
        <p:nvSpPr>
          <p:cNvPr id="26" name="Shape 26"/>
          <p:cNvSpPr/>
          <p:nvPr/>
        </p:nvSpPr>
        <p:spPr>
          <a:xfrm>
            <a:off x="548640" y="555040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27" name="Shape 27"/>
          <p:cNvSpPr/>
          <p:nvPr/>
        </p:nvSpPr>
        <p:spPr>
          <a:xfrm>
            <a:off x="960120" y="5458968"/>
            <a:ext cx="5669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Check that the printer is on, then print your fee challan.</a:t>
            </a:r>
            <a:endParaRPr lang="en-GB" sz="1250" dirty="0"/>
          </a:p>
        </p:txBody>
      </p:sp>
      <p:sp>
        <p:nvSpPr>
          <p:cNvPr id="28" name="Shape 28"/>
          <p:cNvSpPr/>
          <p:nvPr/>
        </p:nvSpPr>
        <p:spPr>
          <a:xfrm>
            <a:off x="6766560" y="5559552"/>
            <a:ext cx="13716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>OK  /  CAKE</a:t>
            </a:r>
            <a:endParaRPr lang="en-GB" sz="11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Cake-recipe syndrome?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condition first, action last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40280"/>
            <a:ext cx="7589520" cy="566928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ctr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Remember: </a:t>
            </a: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“mix milk and flour, add the fruit after beating them” — you read the action before the condition.</a:t>
            </a:r>
            <a:endParaRPr lang="en-GB" sz="1300" dirty="0"/>
          </a:p>
        </p:txBody>
      </p:sp>
      <p:sp>
        <p:nvSpPr>
          <p:cNvPr id="14" name="Shape 14"/>
          <p:cNvSpPr/>
          <p:nvPr/>
        </p:nvSpPr>
        <p:spPr>
          <a:xfrm>
            <a:off x="548640" y="3063240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/>
          <p:nvPr/>
        </p:nvSpPr>
        <p:spPr>
          <a:xfrm>
            <a:off x="960120" y="2971800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ctr" rtlCol="0">
            <a:no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>Click Submit. Before that, make sure all three files are attached.</a:t>
            </a:r>
            <a:endParaRPr lang="en-GB" sz="1100" dirty="0"/>
          </a:p>
        </p:txBody>
      </p:sp>
      <p:sp>
        <p:nvSpPr>
          <p:cNvPr id="16" name="Shape 16"/>
          <p:cNvSpPr/>
          <p:nvPr/>
        </p:nvSpPr>
        <p:spPr>
          <a:xfrm>
            <a:off x="4846320" y="30815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050" b="1" i="0" dirty="0">
                <a:solidFill>
                  <a:srgbClr val="FFFFFF"/>
                </a:solidFill>
                <a:latin typeface="Arial"/>
                <a:cs typeface="Arial"/>
              </a:rPr>
              <a:t>CAKE</a:t>
            </a:r>
            <a:endParaRPr lang="en-GB" sz="1050" dirty="0"/>
          </a:p>
        </p:txBody>
      </p:sp>
      <p:sp>
        <p:nvSpPr>
          <p:cNvPr id="17" name="Shape 17"/>
          <p:cNvSpPr/>
          <p:nvPr/>
        </p:nvSpPr>
        <p:spPr>
          <a:xfrm>
            <a:off x="5715000" y="2971800"/>
            <a:ext cx="2423160" cy="530352"/>
          </a:xfrm>
          <a:prstGeom prst="rect">
            <a:avLst/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4E7A12"/>
                </a:solidFill>
                <a:latin typeface="Arial"/>
                <a:cs typeface="Arial"/>
              </a:rPr>
              <a:t>Attach all three files, then click Submit.</a:t>
            </a:r>
            <a:endParaRPr lang="en-GB" sz="1050" dirty="0"/>
          </a:p>
        </p:txBody>
      </p:sp>
      <p:sp>
        <p:nvSpPr>
          <p:cNvPr id="18" name="Shape 18"/>
          <p:cNvSpPr/>
          <p:nvPr/>
        </p:nvSpPr>
        <p:spPr>
          <a:xfrm>
            <a:off x="548640" y="3685032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9" name="Shape 19"/>
          <p:cNvSpPr/>
          <p:nvPr/>
        </p:nvSpPr>
        <p:spPr>
          <a:xfrm>
            <a:off x="960120" y="3593592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ctr" rtlCol="0">
            <a:no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>Enter your roll number, then press Search.</a:t>
            </a:r>
            <a:endParaRPr lang="en-GB" sz="1100" dirty="0"/>
          </a:p>
        </p:txBody>
      </p:sp>
      <p:sp>
        <p:nvSpPr>
          <p:cNvPr id="20" name="Shape 20"/>
          <p:cNvSpPr/>
          <p:nvPr/>
        </p:nvSpPr>
        <p:spPr>
          <a:xfrm>
            <a:off x="4846320" y="3703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050" b="1" i="0" dirty="0">
                <a:solidFill>
                  <a:srgbClr val="FFFFFF"/>
                </a:solidFill>
                <a:latin typeface="Arial"/>
                <a:cs typeface="Arial"/>
              </a:rPr>
              <a:t>OK</a:t>
            </a:r>
            <a:endParaRPr lang="en-GB" sz="1050" dirty="0"/>
          </a:p>
        </p:txBody>
      </p:sp>
      <p:sp>
        <p:nvSpPr>
          <p:cNvPr id="21" name="Shape 21"/>
          <p:cNvSpPr/>
          <p:nvPr/>
        </p:nvSpPr>
        <p:spPr>
          <a:xfrm>
            <a:off x="548640" y="4306824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2" name="Shape 22"/>
          <p:cNvSpPr/>
          <p:nvPr/>
        </p:nvSpPr>
        <p:spPr>
          <a:xfrm>
            <a:off x="960120" y="4215384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ctr" rtlCol="0">
            <a:no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>Delete the old version after you have saved a backup copy.</a:t>
            </a:r>
            <a:endParaRPr lang="en-GB" sz="1100" dirty="0"/>
          </a:p>
        </p:txBody>
      </p:sp>
      <p:sp>
        <p:nvSpPr>
          <p:cNvPr id="23" name="Shape 23"/>
          <p:cNvSpPr/>
          <p:nvPr/>
        </p:nvSpPr>
        <p:spPr>
          <a:xfrm>
            <a:off x="4846320" y="4325112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050" b="1" i="0" dirty="0">
                <a:solidFill>
                  <a:srgbClr val="FFFFFF"/>
                </a:solidFill>
                <a:latin typeface="Arial"/>
                <a:cs typeface="Arial"/>
              </a:rPr>
              <a:t>CAKE</a:t>
            </a:r>
            <a:endParaRPr lang="en-GB" sz="1050" dirty="0"/>
          </a:p>
        </p:txBody>
      </p:sp>
      <p:sp>
        <p:nvSpPr>
          <p:cNvPr id="24" name="Shape 24"/>
          <p:cNvSpPr/>
          <p:nvPr/>
        </p:nvSpPr>
        <p:spPr>
          <a:xfrm>
            <a:off x="5715000" y="4215384"/>
            <a:ext cx="2423160" cy="530352"/>
          </a:xfrm>
          <a:prstGeom prst="rect">
            <a:avLst/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4E7A12"/>
                </a:solidFill>
                <a:latin typeface="Arial"/>
                <a:cs typeface="Arial"/>
              </a:rPr>
              <a:t>Save a backup copy, then delete the old version.</a:t>
            </a:r>
            <a:endParaRPr lang="en-GB" sz="1050" dirty="0"/>
          </a:p>
        </p:txBody>
      </p:sp>
      <p:sp>
        <p:nvSpPr>
          <p:cNvPr id="25" name="Shape 25"/>
          <p:cNvSpPr/>
          <p:nvPr/>
        </p:nvSpPr>
        <p:spPr>
          <a:xfrm>
            <a:off x="548640" y="4928616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6" name="Shape 26"/>
          <p:cNvSpPr/>
          <p:nvPr/>
        </p:nvSpPr>
        <p:spPr>
          <a:xfrm>
            <a:off x="960120" y="4837176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ctr" rtlCol="0">
            <a:no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>Turn the knob to Grill, having first removed the plastic lid.</a:t>
            </a:r>
            <a:endParaRPr lang="en-GB" sz="1100" dirty="0"/>
          </a:p>
        </p:txBody>
      </p:sp>
      <p:sp>
        <p:nvSpPr>
          <p:cNvPr id="27" name="Shape 27"/>
          <p:cNvSpPr/>
          <p:nvPr/>
        </p:nvSpPr>
        <p:spPr>
          <a:xfrm>
            <a:off x="4846320" y="494690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050" b="1" i="0" dirty="0">
                <a:solidFill>
                  <a:srgbClr val="FFFFFF"/>
                </a:solidFill>
                <a:latin typeface="Arial"/>
                <a:cs typeface="Arial"/>
              </a:rPr>
              <a:t>CAKE</a:t>
            </a:r>
            <a:endParaRPr lang="en-GB" sz="1050" dirty="0"/>
          </a:p>
        </p:txBody>
      </p:sp>
      <p:sp>
        <p:nvSpPr>
          <p:cNvPr id="28" name="Shape 28"/>
          <p:cNvSpPr/>
          <p:nvPr/>
        </p:nvSpPr>
        <p:spPr>
          <a:xfrm>
            <a:off x="5715000" y="4837176"/>
            <a:ext cx="2423160" cy="530352"/>
          </a:xfrm>
          <a:prstGeom prst="rect">
            <a:avLst/>
          </a:prstGeom>
          <a:solidFill>
            <a:srgbClr val="E6EFD9"/>
          </a:solidFill>
          <a:ln w="12700">
            <a:solidFill>
              <a:srgbClr val="9DB8BC"/>
            </a:solidFill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4E7A12"/>
                </a:solidFill>
                <a:latin typeface="Arial"/>
                <a:cs typeface="Arial"/>
              </a:rPr>
              <a:t>Remove the plastic lid, then turn the knob to Grill.</a:t>
            </a:r>
            <a:endParaRPr lang="en-GB" sz="1050" dirty="0"/>
          </a:p>
        </p:txBody>
      </p:sp>
      <p:sp>
        <p:nvSpPr>
          <p:cNvPr id="29" name="Shape 29"/>
          <p:cNvSpPr/>
          <p:nvPr/>
        </p:nvSpPr>
        <p:spPr>
          <a:xfrm>
            <a:off x="548640" y="5550408"/>
            <a:ext cx="310896" cy="310896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30" name="Shape 30"/>
          <p:cNvSpPr/>
          <p:nvPr/>
        </p:nvSpPr>
        <p:spPr>
          <a:xfrm>
            <a:off x="960120" y="5458968"/>
            <a:ext cx="3794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ctr" rtlCol="0">
            <a:noAutofit/>
          </a:bodyPr>
          <a:lstStyle/>
          <a:p>
            <a:pPr algn="l">
              <a:buNone/>
            </a:pPr>
            <a:r>
              <a:rPr lang="en-GB" sz="1100" b="0" i="0" dirty="0">
                <a:solidFill>
                  <a:srgbClr val="595959"/>
                </a:solidFill>
                <a:latin typeface="Arial"/>
                <a:cs typeface="Arial"/>
              </a:rPr>
              <a:t>Check that the printer is on, then print your fee challan.</a:t>
            </a:r>
            <a:endParaRPr lang="en-GB" sz="1100" dirty="0"/>
          </a:p>
        </p:txBody>
      </p:sp>
      <p:sp>
        <p:nvSpPr>
          <p:cNvPr id="31" name="Shape 31"/>
          <p:cNvSpPr/>
          <p:nvPr/>
        </p:nvSpPr>
        <p:spPr>
          <a:xfrm>
            <a:off x="4846320" y="556869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050" b="1" i="0" dirty="0">
                <a:solidFill>
                  <a:srgbClr val="FFFFFF"/>
                </a:solidFill>
                <a:latin typeface="Arial"/>
                <a:cs typeface="Arial"/>
              </a:rPr>
              <a:t>OK</a:t>
            </a:r>
            <a:endParaRPr lang="en-GB" sz="10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Fix the fee statement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632204" cy="310896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LIVE EXERCISE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290572" y="1810512"/>
            <a:ext cx="584758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3 min · pairs · redraw it on paper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40280"/>
            <a:ext cx="384048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237744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FEE STATEMENT — FALL 2026</a:t>
            </a:r>
            <a:endParaRPr lang="en-GB" sz="120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2834640"/>
            <a:ext cx="1961388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Tuition fee</a:t>
            </a:r>
            <a:endParaRPr lang="en-GB" sz="1200" dirty="0"/>
          </a:p>
        </p:txBody>
      </p:sp>
      <p:sp>
        <p:nvSpPr>
          <p:cNvPr id="16" name="Shape 16"/>
          <p:cNvSpPr txBox="1"/>
          <p:nvPr/>
        </p:nvSpPr>
        <p:spPr>
          <a:xfrm>
            <a:off x="2468880" y="2834640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45000</a:t>
            </a:r>
            <a:endParaRPr lang="en-GB" sz="1200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3182112"/>
            <a:ext cx="1961388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Hostel rent</a:t>
            </a:r>
            <a:endParaRPr lang="en-GB" sz="1200" dirty="0"/>
          </a:p>
        </p:txBody>
      </p:sp>
      <p:sp>
        <p:nvSpPr>
          <p:cNvPr id="18" name="Shape 18"/>
          <p:cNvSpPr txBox="1"/>
          <p:nvPr/>
        </p:nvSpPr>
        <p:spPr>
          <a:xfrm>
            <a:off x="2468880" y="3182112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18,500.5</a:t>
            </a:r>
            <a:endParaRPr lang="en-GB" sz="120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529584"/>
            <a:ext cx="1961388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Library fine</a:t>
            </a:r>
            <a:endParaRPr lang="en-GB" sz="1200" dirty="0"/>
          </a:p>
        </p:txBody>
      </p:sp>
      <p:sp>
        <p:nvSpPr>
          <p:cNvPr id="20" name="Shape 20"/>
          <p:cNvSpPr txBox="1"/>
          <p:nvPr/>
        </p:nvSpPr>
        <p:spPr>
          <a:xfrm>
            <a:off x="2468880" y="3529584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250</a:t>
            </a:r>
            <a:endParaRPr lang="en-GB" sz="1200" dirty="0"/>
          </a:p>
        </p:txBody>
      </p:sp>
      <p:sp>
        <p:nvSpPr>
          <p:cNvPr id="21" name="Shape 21"/>
          <p:cNvSpPr txBox="1"/>
          <p:nvPr/>
        </p:nvSpPr>
        <p:spPr>
          <a:xfrm>
            <a:off x="685800" y="3877056"/>
            <a:ext cx="1961388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Transport</a:t>
            </a:r>
            <a:endParaRPr lang="en-GB" sz="1200" dirty="0"/>
          </a:p>
        </p:txBody>
      </p:sp>
      <p:sp>
        <p:nvSpPr>
          <p:cNvPr id="22" name="Shape 22"/>
          <p:cNvSpPr txBox="1"/>
          <p:nvPr/>
        </p:nvSpPr>
        <p:spPr>
          <a:xfrm>
            <a:off x="2468880" y="3877056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7,800.00</a:t>
            </a:r>
            <a:endParaRPr lang="en-GB" sz="1200" dirty="0"/>
          </a:p>
        </p:txBody>
      </p:sp>
      <p:sp>
        <p:nvSpPr>
          <p:cNvPr id="23" name="Shape 23"/>
          <p:cNvSpPr txBox="1"/>
          <p:nvPr/>
        </p:nvSpPr>
        <p:spPr>
          <a:xfrm>
            <a:off x="685800" y="4224528"/>
            <a:ext cx="1961388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Lab charges</a:t>
            </a:r>
            <a:endParaRPr lang="en-GB" sz="1200" dirty="0"/>
          </a:p>
        </p:txBody>
      </p:sp>
      <p:sp>
        <p:nvSpPr>
          <p:cNvPr id="24" name="Shape 24"/>
          <p:cNvSpPr txBox="1"/>
          <p:nvPr/>
        </p:nvSpPr>
        <p:spPr>
          <a:xfrm>
            <a:off x="2468880" y="4224528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1200.75</a:t>
            </a:r>
            <a:endParaRPr lang="en-GB" sz="1200" dirty="0"/>
          </a:p>
        </p:txBody>
      </p:sp>
      <p:sp>
        <p:nvSpPr>
          <p:cNvPr id="25" name="Shape 25"/>
          <p:cNvSpPr txBox="1"/>
          <p:nvPr/>
        </p:nvSpPr>
        <p:spPr>
          <a:xfrm>
            <a:off x="685800" y="4572000"/>
            <a:ext cx="1961388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TOTAL</a:t>
            </a:r>
            <a:endParaRPr lang="en-GB" sz="1200" dirty="0"/>
          </a:p>
        </p:txBody>
      </p:sp>
      <p:sp>
        <p:nvSpPr>
          <p:cNvPr id="26" name="Shape 26"/>
          <p:cNvSpPr txBox="1"/>
          <p:nvPr/>
        </p:nvSpPr>
        <p:spPr>
          <a:xfrm>
            <a:off x="2468880" y="4572000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72751.25</a:t>
            </a:r>
            <a:endParaRPr lang="en-GB" sz="1200" dirty="0"/>
          </a:p>
        </p:txBody>
      </p:sp>
      <p:sp>
        <p:nvSpPr>
          <p:cNvPr id="27" name="Shape 27"/>
          <p:cNvSpPr/>
          <p:nvPr/>
        </p:nvSpPr>
        <p:spPr>
          <a:xfrm>
            <a:off x="4572000" y="2240280"/>
            <a:ext cx="3566160" cy="361188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t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B03A2E"/>
                </a:solidFill>
                <a:latin typeface="Arial"/>
                <a:cs typeface="Arial"/>
              </a:rPr>
              <a:t xml:space="preserve">First, time yourself: </a:t>
            </a: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which is the second-largest charge?</a:t>
            </a:r>
            <a:endParaRPr lang="en-GB" sz="1200" dirty="0"/>
          </a:p>
          <a:p>
            <a:pPr algn="l">
              <a:spcBef>
                <a:spcPts val="1000"/>
              </a:spcBef>
              <a:buNone/>
            </a:pPr>
            <a:r>
              <a:rPr lang="en-GB" sz="1200" b="1" i="0" dirty="0">
                <a:solidFill>
                  <a:srgbClr val="2D2D8A"/>
                </a:solidFill>
                <a:latin typeface="Arial"/>
                <a:cs typeface="Arial"/>
              </a:rPr>
              <a:t>Then redraw it:</a:t>
            </a:r>
            <a:endParaRPr lang="en-GB" sz="1200" dirty="0"/>
          </a:p>
          <a:p>
            <a:pPr algn="l">
              <a:spcBef>
                <a:spcPts val="500"/>
              </a:spcBef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☐  item names: align them …</a:t>
            </a:r>
            <a:endParaRPr lang="en-GB" sz="1200" dirty="0"/>
          </a:p>
          <a:p>
            <a:pPr algn="l">
              <a:spcBef>
                <a:spcPts val="400"/>
              </a:spcBef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☐  amounts: align them on …</a:t>
            </a:r>
            <a:endParaRPr lang="en-GB" sz="1200" dirty="0"/>
          </a:p>
          <a:p>
            <a:pPr algn="l">
              <a:spcBef>
                <a:spcPts val="400"/>
              </a:spcBef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☐  one number format everywhere</a:t>
            </a:r>
            <a:endParaRPr lang="en-GB" sz="1200" dirty="0"/>
          </a:p>
          <a:p>
            <a:pPr algn="l">
              <a:spcBef>
                <a:spcPts val="400"/>
              </a:spcBef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☐  help the eye across the gap</a:t>
            </a:r>
            <a:endParaRPr lang="en-GB" sz="1200" dirty="0"/>
          </a:p>
          <a:p>
            <a:pPr algn="l">
              <a:spcBef>
                <a:spcPts val="400"/>
              </a:spcBef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☐  make the total stand out with space, not colour</a:t>
            </a:r>
            <a:endParaRPr lang="en-GB" sz="1200" dirty="0"/>
          </a:p>
        </p:txBody>
      </p:sp>
      <p:sp>
        <p:nvSpPr>
          <p:cNvPr id="28" name="Shape 28"/>
          <p:cNvSpPr txBox="1"/>
          <p:nvPr/>
        </p:nvSpPr>
        <p:spPr>
          <a:xfrm>
            <a:off x="548640" y="59893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“Think purpose!” — a fee statement is read to compare amounts and check the total.</a:t>
            </a:r>
            <a:endParaRPr lang="en-GB" sz="1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Fix the fee statement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same data, laid out with Dix’s rules</a:t>
            </a:r>
            <a:endParaRPr lang="en-GB" sz="1200" dirty="0"/>
          </a:p>
        </p:txBody>
      </p:sp>
      <p:sp>
        <p:nvSpPr>
          <p:cNvPr id="13" name="Shape 13"/>
          <p:cNvSpPr txBox="1"/>
          <p:nvPr/>
        </p:nvSpPr>
        <p:spPr>
          <a:xfrm>
            <a:off x="548640" y="2240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B03A2E"/>
                </a:solidFill>
                <a:latin typeface="Arial"/>
                <a:cs typeface="Arial"/>
              </a:rPr>
              <a:t>Before</a:t>
            </a:r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548640" y="2560320"/>
            <a:ext cx="32918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5" name="Shape 15"/>
          <p:cNvSpPr txBox="1"/>
          <p:nvPr/>
        </p:nvSpPr>
        <p:spPr>
          <a:xfrm>
            <a:off x="640080" y="2633472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FEE STATEMENT — FALL 2026</a:t>
            </a:r>
            <a:endParaRPr lang="en-GB" sz="1100" dirty="0"/>
          </a:p>
        </p:txBody>
      </p:sp>
      <p:sp>
        <p:nvSpPr>
          <p:cNvPr id="16" name="Shape 16"/>
          <p:cNvSpPr txBox="1"/>
          <p:nvPr/>
        </p:nvSpPr>
        <p:spPr>
          <a:xfrm>
            <a:off x="640080" y="3090672"/>
            <a:ext cx="170992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Tuition fee</a:t>
            </a:r>
            <a:endParaRPr lang="en-GB" sz="1100" dirty="0"/>
          </a:p>
        </p:txBody>
      </p:sp>
      <p:sp>
        <p:nvSpPr>
          <p:cNvPr id="17" name="Shape 17"/>
          <p:cNvSpPr txBox="1"/>
          <p:nvPr/>
        </p:nvSpPr>
        <p:spPr>
          <a:xfrm>
            <a:off x="2194560" y="309067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45000</a:t>
            </a:r>
            <a:endParaRPr lang="en-GB" sz="1100" dirty="0"/>
          </a:p>
        </p:txBody>
      </p:sp>
      <p:sp>
        <p:nvSpPr>
          <p:cNvPr id="18" name="Shape 18"/>
          <p:cNvSpPr txBox="1"/>
          <p:nvPr/>
        </p:nvSpPr>
        <p:spPr>
          <a:xfrm>
            <a:off x="640080" y="3419856"/>
            <a:ext cx="170992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Hostel rent</a:t>
            </a:r>
            <a:endParaRPr lang="en-GB" sz="1100" dirty="0"/>
          </a:p>
        </p:txBody>
      </p:sp>
      <p:sp>
        <p:nvSpPr>
          <p:cNvPr id="19" name="Shape 19"/>
          <p:cNvSpPr txBox="1"/>
          <p:nvPr/>
        </p:nvSpPr>
        <p:spPr>
          <a:xfrm>
            <a:off x="2194560" y="341985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18,500.5</a:t>
            </a:r>
            <a:endParaRPr lang="en-GB" sz="1100" dirty="0"/>
          </a:p>
        </p:txBody>
      </p:sp>
      <p:sp>
        <p:nvSpPr>
          <p:cNvPr id="20" name="Shape 20"/>
          <p:cNvSpPr txBox="1"/>
          <p:nvPr/>
        </p:nvSpPr>
        <p:spPr>
          <a:xfrm>
            <a:off x="640080" y="3749040"/>
            <a:ext cx="170992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Library fine</a:t>
            </a:r>
            <a:endParaRPr lang="en-GB" sz="1100" dirty="0"/>
          </a:p>
        </p:txBody>
      </p:sp>
      <p:sp>
        <p:nvSpPr>
          <p:cNvPr id="21" name="Shape 21"/>
          <p:cNvSpPr txBox="1"/>
          <p:nvPr/>
        </p:nvSpPr>
        <p:spPr>
          <a:xfrm>
            <a:off x="2194560" y="3749040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250</a:t>
            </a:r>
            <a:endParaRPr lang="en-GB" sz="1100" dirty="0"/>
          </a:p>
        </p:txBody>
      </p:sp>
      <p:sp>
        <p:nvSpPr>
          <p:cNvPr id="22" name="Shape 22"/>
          <p:cNvSpPr txBox="1"/>
          <p:nvPr/>
        </p:nvSpPr>
        <p:spPr>
          <a:xfrm>
            <a:off x="640080" y="4078224"/>
            <a:ext cx="170992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Transport</a:t>
            </a:r>
            <a:endParaRPr lang="en-GB" sz="1100" dirty="0"/>
          </a:p>
        </p:txBody>
      </p:sp>
      <p:sp>
        <p:nvSpPr>
          <p:cNvPr id="23" name="Shape 23"/>
          <p:cNvSpPr txBox="1"/>
          <p:nvPr/>
        </p:nvSpPr>
        <p:spPr>
          <a:xfrm>
            <a:off x="2194560" y="4078224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7,800.00</a:t>
            </a:r>
            <a:endParaRPr lang="en-GB" sz="1100" dirty="0"/>
          </a:p>
        </p:txBody>
      </p:sp>
      <p:sp>
        <p:nvSpPr>
          <p:cNvPr id="24" name="Shape 24"/>
          <p:cNvSpPr txBox="1"/>
          <p:nvPr/>
        </p:nvSpPr>
        <p:spPr>
          <a:xfrm>
            <a:off x="640080" y="4407408"/>
            <a:ext cx="170992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Lab charges</a:t>
            </a:r>
            <a:endParaRPr lang="en-GB" sz="1100" dirty="0"/>
          </a:p>
        </p:txBody>
      </p:sp>
      <p:sp>
        <p:nvSpPr>
          <p:cNvPr id="25" name="Shape 25"/>
          <p:cNvSpPr txBox="1"/>
          <p:nvPr/>
        </p:nvSpPr>
        <p:spPr>
          <a:xfrm>
            <a:off x="2194560" y="4407408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1200.75</a:t>
            </a:r>
            <a:endParaRPr lang="en-GB" sz="1100" dirty="0"/>
          </a:p>
        </p:txBody>
      </p:sp>
      <p:sp>
        <p:nvSpPr>
          <p:cNvPr id="26" name="Shape 26"/>
          <p:cNvSpPr txBox="1"/>
          <p:nvPr/>
        </p:nvSpPr>
        <p:spPr>
          <a:xfrm>
            <a:off x="640080" y="4736592"/>
            <a:ext cx="170992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TOTAL</a:t>
            </a:r>
            <a:endParaRPr lang="en-GB" sz="1100" dirty="0"/>
          </a:p>
        </p:txBody>
      </p:sp>
      <p:sp>
        <p:nvSpPr>
          <p:cNvPr id="27" name="Shape 27"/>
          <p:cNvSpPr txBox="1"/>
          <p:nvPr/>
        </p:nvSpPr>
        <p:spPr>
          <a:xfrm>
            <a:off x="2194560" y="473659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72751.25</a:t>
            </a:r>
            <a:endParaRPr lang="en-GB" sz="1100" dirty="0"/>
          </a:p>
        </p:txBody>
      </p:sp>
      <p:sp>
        <p:nvSpPr>
          <p:cNvPr id="28" name="Shape 28"/>
          <p:cNvSpPr txBox="1"/>
          <p:nvPr/>
        </p:nvSpPr>
        <p:spPr>
          <a:xfrm>
            <a:off x="4114800" y="22402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4E7A12"/>
                </a:solidFill>
                <a:latin typeface="Arial"/>
                <a:cs typeface="Arial"/>
              </a:rPr>
              <a:t>After</a:t>
            </a:r>
            <a:endParaRPr lang="en-GB" sz="1200" dirty="0"/>
          </a:p>
        </p:txBody>
      </p:sp>
      <p:sp>
        <p:nvSpPr>
          <p:cNvPr id="29" name="Shape 29"/>
          <p:cNvSpPr/>
          <p:nvPr/>
        </p:nvSpPr>
        <p:spPr>
          <a:xfrm>
            <a:off x="4114800" y="2560320"/>
            <a:ext cx="40233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0" name="Shape 30"/>
          <p:cNvSpPr txBox="1"/>
          <p:nvPr/>
        </p:nvSpPr>
        <p:spPr>
          <a:xfrm>
            <a:off x="4251960" y="2651760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1A1A1A"/>
                </a:solidFill>
                <a:latin typeface="Arial"/>
                <a:cs typeface="Arial"/>
              </a:rPr>
              <a:t>Fee statement — Fall 2026</a:t>
            </a:r>
            <a:endParaRPr lang="en-GB" sz="1150" dirty="0"/>
          </a:p>
        </p:txBody>
      </p:sp>
      <p:sp>
        <p:nvSpPr>
          <p:cNvPr id="31" name="Shape 31"/>
          <p:cNvSpPr txBox="1"/>
          <p:nvPr/>
        </p:nvSpPr>
        <p:spPr>
          <a:xfrm>
            <a:off x="6629400" y="265176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r">
              <a:buNone/>
            </a:pPr>
            <a:r>
              <a:rPr lang="en-GB" sz="1150" b="1" i="0" dirty="0">
                <a:solidFill>
                  <a:srgbClr val="1A1A1A"/>
                </a:solidFill>
                <a:latin typeface="Arial"/>
                <a:cs typeface="Arial"/>
              </a:rPr>
              <a:t>Rs</a:t>
            </a:r>
            <a:endParaRPr lang="en-GB" sz="1150" dirty="0"/>
          </a:p>
        </p:txBody>
      </p:sp>
      <p:sp>
        <p:nvSpPr>
          <p:cNvPr id="32" name="Shape 32"/>
          <p:cNvSpPr/>
          <p:nvPr/>
        </p:nvSpPr>
        <p:spPr>
          <a:xfrm>
            <a:off x="4251960" y="3035808"/>
            <a:ext cx="3749040" cy="329184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3" name="Shape 33"/>
          <p:cNvSpPr txBox="1"/>
          <p:nvPr/>
        </p:nvSpPr>
        <p:spPr>
          <a:xfrm>
            <a:off x="4251960" y="303580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Tuition fee</a:t>
            </a:r>
            <a:endParaRPr lang="en-GB" sz="1150" dirty="0"/>
          </a:p>
        </p:txBody>
      </p:sp>
      <p:sp>
        <p:nvSpPr>
          <p:cNvPr id="34" name="Shape 34"/>
          <p:cNvSpPr txBox="1"/>
          <p:nvPr/>
        </p:nvSpPr>
        <p:spPr>
          <a:xfrm>
            <a:off x="6537960" y="303580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r">
              <a:buNone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45,000.00</a:t>
            </a:r>
            <a:endParaRPr lang="en-GB" sz="1150" dirty="0"/>
          </a:p>
        </p:txBody>
      </p:sp>
      <p:sp>
        <p:nvSpPr>
          <p:cNvPr id="35" name="Shape 35"/>
          <p:cNvSpPr txBox="1"/>
          <p:nvPr/>
        </p:nvSpPr>
        <p:spPr>
          <a:xfrm>
            <a:off x="4251960" y="3364992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6" name="Shape 36"/>
          <p:cNvSpPr txBox="1"/>
          <p:nvPr/>
        </p:nvSpPr>
        <p:spPr>
          <a:xfrm>
            <a:off x="4251960" y="3364992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Hostel rent</a:t>
            </a:r>
            <a:endParaRPr lang="en-GB" sz="1150" dirty="0"/>
          </a:p>
        </p:txBody>
      </p:sp>
      <p:sp>
        <p:nvSpPr>
          <p:cNvPr id="37" name="Shape 37"/>
          <p:cNvSpPr txBox="1"/>
          <p:nvPr/>
        </p:nvSpPr>
        <p:spPr>
          <a:xfrm>
            <a:off x="6537960" y="336499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r">
              <a:buNone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18,500.50</a:t>
            </a:r>
            <a:endParaRPr lang="en-GB" sz="1150" dirty="0"/>
          </a:p>
        </p:txBody>
      </p:sp>
      <p:sp>
        <p:nvSpPr>
          <p:cNvPr id="38" name="Shape 38"/>
          <p:cNvSpPr/>
          <p:nvPr/>
        </p:nvSpPr>
        <p:spPr>
          <a:xfrm>
            <a:off x="4251960" y="3694176"/>
            <a:ext cx="3749040" cy="329184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9" name="Shape 39"/>
          <p:cNvSpPr txBox="1"/>
          <p:nvPr/>
        </p:nvSpPr>
        <p:spPr>
          <a:xfrm>
            <a:off x="4251960" y="3694176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Library fine</a:t>
            </a:r>
            <a:endParaRPr lang="en-GB" sz="1150" dirty="0"/>
          </a:p>
        </p:txBody>
      </p:sp>
      <p:sp>
        <p:nvSpPr>
          <p:cNvPr id="40" name="Shape 40"/>
          <p:cNvSpPr txBox="1"/>
          <p:nvPr/>
        </p:nvSpPr>
        <p:spPr>
          <a:xfrm>
            <a:off x="6537960" y="3694176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r">
              <a:buNone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250.00</a:t>
            </a:r>
            <a:endParaRPr lang="en-GB" sz="1150" dirty="0"/>
          </a:p>
        </p:txBody>
      </p:sp>
      <p:sp>
        <p:nvSpPr>
          <p:cNvPr id="41" name="Shape 41"/>
          <p:cNvSpPr txBox="1"/>
          <p:nvPr/>
        </p:nvSpPr>
        <p:spPr>
          <a:xfrm>
            <a:off x="4251960" y="4023360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2" name="Shape 42"/>
          <p:cNvSpPr txBox="1"/>
          <p:nvPr/>
        </p:nvSpPr>
        <p:spPr>
          <a:xfrm>
            <a:off x="4251960" y="402336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Transport</a:t>
            </a:r>
            <a:endParaRPr lang="en-GB" sz="1150" dirty="0"/>
          </a:p>
        </p:txBody>
      </p:sp>
      <p:sp>
        <p:nvSpPr>
          <p:cNvPr id="43" name="Shape 43"/>
          <p:cNvSpPr txBox="1"/>
          <p:nvPr/>
        </p:nvSpPr>
        <p:spPr>
          <a:xfrm>
            <a:off x="6537960" y="4023360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r">
              <a:buNone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7,800.00</a:t>
            </a:r>
            <a:endParaRPr lang="en-GB" sz="1150" dirty="0"/>
          </a:p>
        </p:txBody>
      </p:sp>
      <p:sp>
        <p:nvSpPr>
          <p:cNvPr id="44" name="Shape 44"/>
          <p:cNvSpPr/>
          <p:nvPr/>
        </p:nvSpPr>
        <p:spPr>
          <a:xfrm>
            <a:off x="4251960" y="4352544"/>
            <a:ext cx="3749040" cy="329184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5" name="Shape 45"/>
          <p:cNvSpPr txBox="1"/>
          <p:nvPr/>
        </p:nvSpPr>
        <p:spPr>
          <a:xfrm>
            <a:off x="4251960" y="4352544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Lab charges</a:t>
            </a:r>
            <a:endParaRPr lang="en-GB" sz="1150" dirty="0"/>
          </a:p>
        </p:txBody>
      </p:sp>
      <p:sp>
        <p:nvSpPr>
          <p:cNvPr id="46" name="Shape 46"/>
          <p:cNvSpPr txBox="1"/>
          <p:nvPr/>
        </p:nvSpPr>
        <p:spPr>
          <a:xfrm>
            <a:off x="6537960" y="4352544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r">
              <a:buNone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1,200.75</a:t>
            </a:r>
            <a:endParaRPr lang="en-GB" sz="1150" dirty="0"/>
          </a:p>
        </p:txBody>
      </p:sp>
      <p:cxnSp>
        <p:nvCxnSpPr>
          <p:cNvPr id="47" name="Connector 47"/>
          <p:cNvCxnSpPr/>
          <p:nvPr/>
        </p:nvCxnSpPr>
        <p:spPr>
          <a:xfrm>
            <a:off x="4251960" y="4791456"/>
            <a:ext cx="3749040" cy="0"/>
          </a:xfrm>
          <a:prstGeom prst="line">
            <a:avLst/>
          </a:prstGeom>
          <a:ln w="12700">
            <a:solidFill>
              <a:srgbClr val="1A1A1A"/>
            </a:solidFill>
          </a:ln>
        </p:spPr>
      </p:cxnSp>
      <p:sp>
        <p:nvSpPr>
          <p:cNvPr id="48" name="Shape 48"/>
          <p:cNvSpPr txBox="1"/>
          <p:nvPr/>
        </p:nvSpPr>
        <p:spPr>
          <a:xfrm>
            <a:off x="4251960" y="4837176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Total</a:t>
            </a:r>
            <a:endParaRPr lang="en-GB" sz="1200" dirty="0"/>
          </a:p>
        </p:txBody>
      </p:sp>
      <p:sp>
        <p:nvSpPr>
          <p:cNvPr id="49" name="Shape 49"/>
          <p:cNvSpPr txBox="1"/>
          <p:nvPr/>
        </p:nvSpPr>
        <p:spPr>
          <a:xfrm>
            <a:off x="6537960" y="4837176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r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72,751.25</a:t>
            </a:r>
            <a:endParaRPr lang="en-GB" sz="1200" dirty="0"/>
          </a:p>
        </p:txBody>
      </p:sp>
      <p:sp>
        <p:nvSpPr>
          <p:cNvPr id="50" name="Shape 50"/>
          <p:cNvSpPr/>
          <p:nvPr/>
        </p:nvSpPr>
        <p:spPr>
          <a:xfrm>
            <a:off x="548640" y="5687568"/>
            <a:ext cx="7589520" cy="6858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Left-align words, right-align money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(with two decimals every time, the decimal points line up). Grey every other row so the eye can cross the gap. The total is set apart by space and a rule — no extra colour needed.</a:t>
            </a:r>
            <a:endParaRPr lang="en-GB" sz="11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Redesign the AC remote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440180" cy="310896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CASE PUZZLE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098548" y="1810512"/>
            <a:ext cx="603961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5 min · groups of 3 · sketch the new layout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822960" y="2240280"/>
            <a:ext cx="2377440" cy="4114800"/>
          </a:xfrm>
          <a:prstGeom prst="roundRect">
            <a:avLst>
              <a:gd name="adj" fmla="val 18000"/>
            </a:avLst>
          </a:prstGeom>
          <a:solidFill>
            <a:srgbClr val="3A3A3A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1051560" y="246888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C9DCC0"/>
          </a:solidFill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2000" b="1" i="0" dirty="0">
                <a:solidFill>
                  <a:srgbClr val="1A3A1A"/>
                </a:solidFill>
                <a:latin typeface="Arial"/>
                <a:cs typeface="Arial"/>
              </a:rPr>
              <a:t>24 °C</a:t>
            </a:r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1005840" y="3246120"/>
            <a:ext cx="62179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850" b="1" i="0" dirty="0">
                <a:solidFill>
                  <a:srgbClr val="1A1A1A"/>
                </a:solidFill>
                <a:latin typeface="Arial"/>
                <a:cs typeface="Arial"/>
              </a:rPr>
              <a:t>MODE</a:t>
            </a:r>
            <a:endParaRPr lang="en-GB" sz="850" dirty="0"/>
          </a:p>
        </p:txBody>
      </p:sp>
      <p:sp>
        <p:nvSpPr>
          <p:cNvPr id="16" name="Shape 16"/>
          <p:cNvSpPr/>
          <p:nvPr/>
        </p:nvSpPr>
        <p:spPr>
          <a:xfrm>
            <a:off x="1691640" y="3246120"/>
            <a:ext cx="62179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850" b="1" i="0" dirty="0">
                <a:solidFill>
                  <a:srgbClr val="1A1A1A"/>
                </a:solidFill>
                <a:latin typeface="Arial"/>
                <a:cs typeface="Arial"/>
              </a:rPr>
              <a:t>TEMP +</a:t>
            </a:r>
            <a:endParaRPr lang="en-GB" sz="850" dirty="0"/>
          </a:p>
        </p:txBody>
      </p:sp>
      <p:sp>
        <p:nvSpPr>
          <p:cNvPr id="17" name="Shape 17"/>
          <p:cNvSpPr/>
          <p:nvPr/>
        </p:nvSpPr>
        <p:spPr>
          <a:xfrm>
            <a:off x="2377440" y="3246120"/>
            <a:ext cx="62179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850" b="1" i="0" dirty="0">
                <a:solidFill>
                  <a:srgbClr val="1A1A1A"/>
                </a:solidFill>
                <a:latin typeface="Arial"/>
                <a:cs typeface="Arial"/>
              </a:rPr>
              <a:t>FAN</a:t>
            </a:r>
            <a:endParaRPr lang="en-GB" sz="850" dirty="0"/>
          </a:p>
        </p:txBody>
      </p:sp>
      <p:sp>
        <p:nvSpPr>
          <p:cNvPr id="18" name="Shape 18"/>
          <p:cNvSpPr/>
          <p:nvPr/>
        </p:nvSpPr>
        <p:spPr>
          <a:xfrm>
            <a:off x="1005840" y="3904488"/>
            <a:ext cx="62179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850" b="1" i="0" dirty="0">
                <a:solidFill>
                  <a:srgbClr val="1A1A1A"/>
                </a:solidFill>
                <a:latin typeface="Arial"/>
                <a:cs typeface="Arial"/>
              </a:rPr>
              <a:t>TIMER ON</a:t>
            </a:r>
            <a:endParaRPr lang="en-GB" sz="850" dirty="0"/>
          </a:p>
        </p:txBody>
      </p:sp>
      <p:sp>
        <p:nvSpPr>
          <p:cNvPr id="19" name="Shape 19"/>
          <p:cNvSpPr/>
          <p:nvPr/>
        </p:nvSpPr>
        <p:spPr>
          <a:xfrm>
            <a:off x="1691640" y="3904488"/>
            <a:ext cx="62179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850" b="1" i="0" dirty="0">
                <a:solidFill>
                  <a:srgbClr val="1A1A1A"/>
                </a:solidFill>
                <a:latin typeface="Arial"/>
                <a:cs typeface="Arial"/>
              </a:rPr>
              <a:t>POWER</a:t>
            </a:r>
            <a:endParaRPr lang="en-GB" sz="850" dirty="0"/>
          </a:p>
        </p:txBody>
      </p:sp>
      <p:sp>
        <p:nvSpPr>
          <p:cNvPr id="20" name="Shape 20"/>
          <p:cNvSpPr/>
          <p:nvPr/>
        </p:nvSpPr>
        <p:spPr>
          <a:xfrm>
            <a:off x="2377440" y="3904488"/>
            <a:ext cx="62179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850" b="1" i="0" dirty="0">
                <a:solidFill>
                  <a:srgbClr val="1A1A1A"/>
                </a:solidFill>
                <a:latin typeface="Arial"/>
                <a:cs typeface="Arial"/>
              </a:rPr>
              <a:t>SWING</a:t>
            </a:r>
            <a:endParaRPr lang="en-GB" sz="850" dirty="0"/>
          </a:p>
        </p:txBody>
      </p:sp>
      <p:sp>
        <p:nvSpPr>
          <p:cNvPr id="21" name="Shape 21"/>
          <p:cNvSpPr/>
          <p:nvPr/>
        </p:nvSpPr>
        <p:spPr>
          <a:xfrm>
            <a:off x="1005840" y="4562856"/>
            <a:ext cx="62179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850" b="1" i="0" dirty="0">
                <a:solidFill>
                  <a:srgbClr val="1A1A1A"/>
                </a:solidFill>
                <a:latin typeface="Arial"/>
                <a:cs typeface="Arial"/>
              </a:rPr>
              <a:t>TEMP −</a:t>
            </a:r>
            <a:endParaRPr lang="en-GB" sz="850" dirty="0"/>
          </a:p>
        </p:txBody>
      </p:sp>
      <p:sp>
        <p:nvSpPr>
          <p:cNvPr id="22" name="Shape 22"/>
          <p:cNvSpPr/>
          <p:nvPr/>
        </p:nvSpPr>
        <p:spPr>
          <a:xfrm>
            <a:off x="1691640" y="4562856"/>
            <a:ext cx="62179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850" b="1" i="0" dirty="0">
                <a:solidFill>
                  <a:srgbClr val="1A1A1A"/>
                </a:solidFill>
                <a:latin typeface="Arial"/>
                <a:cs typeface="Arial"/>
              </a:rPr>
              <a:t>SLEEP</a:t>
            </a:r>
            <a:endParaRPr lang="en-GB" sz="850" dirty="0"/>
          </a:p>
        </p:txBody>
      </p:sp>
      <p:sp>
        <p:nvSpPr>
          <p:cNvPr id="23" name="Shape 23"/>
          <p:cNvSpPr/>
          <p:nvPr/>
        </p:nvSpPr>
        <p:spPr>
          <a:xfrm>
            <a:off x="2377440" y="4562856"/>
            <a:ext cx="62179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850" b="1" i="0" dirty="0">
                <a:solidFill>
                  <a:srgbClr val="1A1A1A"/>
                </a:solidFill>
                <a:latin typeface="Arial"/>
                <a:cs typeface="Arial"/>
              </a:rPr>
              <a:t>TIMER OFF</a:t>
            </a:r>
            <a:endParaRPr lang="en-GB" sz="850" dirty="0"/>
          </a:p>
        </p:txBody>
      </p:sp>
      <p:sp>
        <p:nvSpPr>
          <p:cNvPr id="24" name="Shape 24"/>
          <p:cNvSpPr/>
          <p:nvPr/>
        </p:nvSpPr>
        <p:spPr>
          <a:xfrm>
            <a:off x="1005840" y="5221224"/>
            <a:ext cx="62179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850" b="1" i="0" dirty="0">
                <a:solidFill>
                  <a:srgbClr val="1A1A1A"/>
                </a:solidFill>
                <a:latin typeface="Arial"/>
                <a:cs typeface="Arial"/>
              </a:rPr>
              <a:t>TURBO</a:t>
            </a:r>
            <a:endParaRPr lang="en-GB" sz="850" dirty="0"/>
          </a:p>
        </p:txBody>
      </p:sp>
      <p:sp>
        <p:nvSpPr>
          <p:cNvPr id="25" name="Shape 25"/>
          <p:cNvSpPr/>
          <p:nvPr/>
        </p:nvSpPr>
        <p:spPr>
          <a:xfrm>
            <a:off x="1691640" y="5221224"/>
            <a:ext cx="62179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850" b="1" i="0" dirty="0">
                <a:solidFill>
                  <a:srgbClr val="1A1A1A"/>
                </a:solidFill>
                <a:latin typeface="Arial"/>
                <a:cs typeface="Arial"/>
              </a:rPr>
              <a:t>ECO</a:t>
            </a:r>
            <a:endParaRPr lang="en-GB" sz="850" dirty="0"/>
          </a:p>
        </p:txBody>
      </p:sp>
      <p:sp>
        <p:nvSpPr>
          <p:cNvPr id="26" name="Shape 26"/>
          <p:cNvSpPr/>
          <p:nvPr/>
        </p:nvSpPr>
        <p:spPr>
          <a:xfrm>
            <a:off x="2377440" y="5221224"/>
            <a:ext cx="62179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850" b="1" i="0" dirty="0">
                <a:solidFill>
                  <a:srgbClr val="1A1A1A"/>
                </a:solidFill>
                <a:latin typeface="Arial"/>
                <a:cs typeface="Arial"/>
              </a:rPr>
              <a:t>LIGHT</a:t>
            </a:r>
            <a:endParaRPr lang="en-GB" sz="850" dirty="0"/>
          </a:p>
        </p:txBody>
      </p:sp>
      <p:sp>
        <p:nvSpPr>
          <p:cNvPr id="27" name="Shape 27"/>
          <p:cNvSpPr/>
          <p:nvPr/>
        </p:nvSpPr>
        <p:spPr>
          <a:xfrm>
            <a:off x="3566160" y="224028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ctr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8A5A00"/>
                </a:solidFill>
                <a:latin typeface="Arial"/>
                <a:cs typeface="Arial"/>
              </a:rPr>
              <a:t xml:space="preserve">The situation: </a:t>
            </a: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2 a.m. in June, lights off. You want the room 1 °C cooler without waking anyone.</a:t>
            </a:r>
            <a:endParaRPr lang="en-GB" sz="1300" dirty="0"/>
          </a:p>
        </p:txBody>
      </p:sp>
      <p:sp>
        <p:nvSpPr>
          <p:cNvPr id="28" name="Shape 28"/>
          <p:cNvSpPr/>
          <p:nvPr/>
        </p:nvSpPr>
        <p:spPr>
          <a:xfrm>
            <a:off x="3566160" y="3520440"/>
            <a:ext cx="4572000" cy="283464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t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2D2D8A"/>
                </a:solidFill>
                <a:latin typeface="Arial"/>
                <a:cs typeface="Arial"/>
              </a:rPr>
              <a:t>Redesign the layout with the five tools from the microwave:</a:t>
            </a:r>
            <a:endParaRPr lang="en-GB" sz="1200" dirty="0"/>
          </a:p>
          <a:p>
            <a:pPr algn="l">
              <a:spcBef>
                <a:spcPts val="400"/>
              </a:spcBef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grouping · order · decoration · alignment · white space</a:t>
            </a:r>
            <a:endParaRPr lang="en-GB" sz="1200" dirty="0"/>
          </a:p>
          <a:p>
            <a:pPr algn="l">
              <a:spcBef>
                <a:spcPts val="1000"/>
              </a:spcBef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Answer three questions first:</a:t>
            </a:r>
            <a:endParaRPr lang="en-GB" sz="1200" dirty="0"/>
          </a:p>
          <a:p>
            <a:pPr algn="l" marL="201168" indent="-182880">
              <a:spcBef>
                <a:spcPts val="400"/>
              </a:spcBef>
              <a:buFont typeface="Arial"/>
              <a:buChar char="•"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Which button is pressed most often?</a:t>
            </a:r>
            <a:endParaRPr lang="en-GB" sz="1200" dirty="0"/>
          </a:p>
          <a:p>
            <a:pPr algn="l" marL="201168" indent="-182880">
              <a:spcBef>
                <a:spcPts val="300"/>
              </a:spcBef>
              <a:buFont typeface="Arial"/>
              <a:buChar char="•"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Which must be found by touch, in the dark?</a:t>
            </a:r>
            <a:endParaRPr lang="en-GB" sz="1200" dirty="0"/>
          </a:p>
          <a:p>
            <a:pPr algn="l" marL="201168" indent="-182880">
              <a:spcBef>
                <a:spcPts val="300"/>
              </a:spcBef>
              <a:buFont typeface="Arial"/>
              <a:buChar char="•"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Which could hide behind a flap?</a:t>
            </a:r>
            <a:endParaRPr lang="en-GB" sz="1200" dirty="0"/>
          </a:p>
          <a:p>
            <a:pPr algn="l">
              <a:spcBef>
                <a:spcPts val="1000"/>
              </a:spcBef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Sketch the new remote. Same 12 buttons — you may change size, shape, position and colour.</a:t>
            </a:r>
            <a:endParaRPr lang="en-GB" sz="1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Redesign the AC remote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one redesign — the microwave rules applied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822960" y="2240280"/>
            <a:ext cx="2377440" cy="4160520"/>
          </a:xfrm>
          <a:prstGeom prst="roundRect">
            <a:avLst>
              <a:gd name="adj" fmla="val 18000"/>
            </a:avLst>
          </a:prstGeom>
          <a:solidFill>
            <a:srgbClr val="3A3A3A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1051560" y="246888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C9DCC0"/>
          </a:solidFill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2000" b="1" i="0" dirty="0">
                <a:solidFill>
                  <a:srgbClr val="1A3A1A"/>
                </a:solidFill>
                <a:latin typeface="Arial"/>
                <a:cs typeface="Arial"/>
              </a:rPr>
              <a:t>24 °C</a:t>
            </a:r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2395728" y="3108960"/>
            <a:ext cx="621792" cy="621792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800" b="1" i="0" dirty="0">
                <a:solidFill>
                  <a:srgbClr val="FFFFFF"/>
                </a:solidFill>
                <a:latin typeface="Arial"/>
                <a:cs typeface="Arial"/>
              </a:rPr>
              <a:t>ON/OFF</a:t>
            </a:r>
            <a:endParaRPr lang="en-GB" sz="800" dirty="0"/>
          </a:p>
        </p:txBody>
      </p:sp>
      <p:sp>
        <p:nvSpPr>
          <p:cNvPr id="16" name="Shape 16"/>
          <p:cNvSpPr/>
          <p:nvPr/>
        </p:nvSpPr>
        <p:spPr>
          <a:xfrm>
            <a:off x="1051560" y="3063240"/>
            <a:ext cx="1097280" cy="566928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TEMP +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1051560" y="3675888"/>
            <a:ext cx="1097280" cy="566928"/>
          </a:xfrm>
          <a:prstGeom prst="roundRect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>TEMP −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1527048" y="3127248"/>
            <a:ext cx="146304" cy="73152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9" name="Shape 19"/>
          <p:cNvSpPr/>
          <p:nvPr/>
        </p:nvSpPr>
        <p:spPr>
          <a:xfrm>
            <a:off x="960120" y="4434840"/>
            <a:ext cx="2103120" cy="54864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9A9A9A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1033272" y="4507992"/>
            <a:ext cx="603504" cy="402336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800" b="1" i="0" dirty="0">
                <a:solidFill>
                  <a:srgbClr val="1A1A1A"/>
                </a:solidFill>
                <a:latin typeface="Arial"/>
                <a:cs typeface="Arial"/>
              </a:rPr>
              <a:t>MODE</a:t>
            </a:r>
            <a:endParaRPr lang="en-GB" sz="800" dirty="0"/>
          </a:p>
        </p:txBody>
      </p:sp>
      <p:sp>
        <p:nvSpPr>
          <p:cNvPr id="21" name="Shape 21"/>
          <p:cNvSpPr/>
          <p:nvPr/>
        </p:nvSpPr>
        <p:spPr>
          <a:xfrm>
            <a:off x="1709928" y="4507992"/>
            <a:ext cx="603504" cy="402336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800" b="1" i="0" dirty="0">
                <a:solidFill>
                  <a:srgbClr val="1A1A1A"/>
                </a:solidFill>
                <a:latin typeface="Arial"/>
                <a:cs typeface="Arial"/>
              </a:rPr>
              <a:t>FAN</a:t>
            </a:r>
            <a:endParaRPr lang="en-GB" sz="800" dirty="0"/>
          </a:p>
        </p:txBody>
      </p:sp>
      <p:sp>
        <p:nvSpPr>
          <p:cNvPr id="22" name="Shape 22"/>
          <p:cNvSpPr/>
          <p:nvPr/>
        </p:nvSpPr>
        <p:spPr>
          <a:xfrm>
            <a:off x="2386584" y="4507992"/>
            <a:ext cx="603504" cy="402336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800" b="1" i="0" dirty="0">
                <a:solidFill>
                  <a:srgbClr val="1A1A1A"/>
                </a:solidFill>
                <a:latin typeface="Arial"/>
                <a:cs typeface="Arial"/>
              </a:rPr>
              <a:t>SWING</a:t>
            </a:r>
            <a:endParaRPr lang="en-GB" sz="800" dirty="0"/>
          </a:p>
        </p:txBody>
      </p:sp>
      <p:sp>
        <p:nvSpPr>
          <p:cNvPr id="23" name="Shape 23"/>
          <p:cNvSpPr/>
          <p:nvPr/>
        </p:nvSpPr>
        <p:spPr>
          <a:xfrm>
            <a:off x="960120" y="5074920"/>
            <a:ext cx="2103120" cy="54864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9A9A9A"/>
            </a:solidFill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4" name="Shape 24"/>
          <p:cNvSpPr/>
          <p:nvPr/>
        </p:nvSpPr>
        <p:spPr>
          <a:xfrm>
            <a:off x="1033272" y="5148072"/>
            <a:ext cx="603504" cy="402336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750" b="1" i="0" dirty="0">
                <a:solidFill>
                  <a:srgbClr val="1A1A1A"/>
                </a:solidFill>
                <a:latin typeface="Arial"/>
                <a:cs typeface="Arial"/>
              </a:rPr>
              <a:t>TIMER ON</a:t>
            </a:r>
            <a:endParaRPr lang="en-GB" sz="750" dirty="0"/>
          </a:p>
        </p:txBody>
      </p:sp>
      <p:sp>
        <p:nvSpPr>
          <p:cNvPr id="25" name="Shape 25"/>
          <p:cNvSpPr/>
          <p:nvPr/>
        </p:nvSpPr>
        <p:spPr>
          <a:xfrm>
            <a:off x="1709928" y="5148072"/>
            <a:ext cx="603504" cy="402336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750" b="1" i="0" dirty="0">
                <a:solidFill>
                  <a:srgbClr val="1A1A1A"/>
                </a:solidFill>
                <a:latin typeface="Arial"/>
                <a:cs typeface="Arial"/>
              </a:rPr>
              <a:t>TIMER OFF</a:t>
            </a:r>
            <a:endParaRPr lang="en-GB" sz="750" dirty="0"/>
          </a:p>
        </p:txBody>
      </p:sp>
      <p:sp>
        <p:nvSpPr>
          <p:cNvPr id="26" name="Shape 26"/>
          <p:cNvSpPr/>
          <p:nvPr/>
        </p:nvSpPr>
        <p:spPr>
          <a:xfrm>
            <a:off x="2386584" y="5148072"/>
            <a:ext cx="603504" cy="402336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750" b="1" i="0" dirty="0">
                <a:solidFill>
                  <a:srgbClr val="1A1A1A"/>
                </a:solidFill>
                <a:latin typeface="Arial"/>
                <a:cs typeface="Arial"/>
              </a:rPr>
              <a:t>SLEEP</a:t>
            </a:r>
            <a:endParaRPr lang="en-GB" sz="750" dirty="0"/>
          </a:p>
        </p:txBody>
      </p:sp>
      <p:sp>
        <p:nvSpPr>
          <p:cNvPr id="27" name="Shape 27"/>
          <p:cNvSpPr/>
          <p:nvPr/>
        </p:nvSpPr>
        <p:spPr>
          <a:xfrm>
            <a:off x="960120" y="5742432"/>
            <a:ext cx="2103120" cy="50292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9A9A9A"/>
            </a:solidFill>
            <a:prstDash val="dash"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8" name="Shape 28"/>
          <p:cNvSpPr/>
          <p:nvPr/>
        </p:nvSpPr>
        <p:spPr>
          <a:xfrm>
            <a:off x="1069848" y="5833872"/>
            <a:ext cx="548640" cy="310896"/>
          </a:xfrm>
          <a:prstGeom prst="roundRect">
            <a:avLst>
              <a:gd name="adj" fmla="val 25000"/>
            </a:avLst>
          </a:prstGeom>
          <a:solidFill>
            <a:srgbClr val="A6A6A6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700" b="1" i="0" dirty="0">
                <a:solidFill>
                  <a:srgbClr val="1A1A1A"/>
                </a:solidFill>
                <a:latin typeface="Arial"/>
                <a:cs typeface="Arial"/>
              </a:rPr>
              <a:t>TURBO</a:t>
            </a:r>
            <a:endParaRPr lang="en-GB" sz="700" dirty="0"/>
          </a:p>
        </p:txBody>
      </p:sp>
      <p:sp>
        <p:nvSpPr>
          <p:cNvPr id="29" name="Shape 29"/>
          <p:cNvSpPr/>
          <p:nvPr/>
        </p:nvSpPr>
        <p:spPr>
          <a:xfrm>
            <a:off x="1728216" y="5833872"/>
            <a:ext cx="548640" cy="310896"/>
          </a:xfrm>
          <a:prstGeom prst="roundRect">
            <a:avLst>
              <a:gd name="adj" fmla="val 25000"/>
            </a:avLst>
          </a:prstGeom>
          <a:solidFill>
            <a:srgbClr val="A6A6A6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700" b="1" i="0" dirty="0">
                <a:solidFill>
                  <a:srgbClr val="1A1A1A"/>
                </a:solidFill>
                <a:latin typeface="Arial"/>
                <a:cs typeface="Arial"/>
              </a:rPr>
              <a:t>ECO</a:t>
            </a:r>
            <a:endParaRPr lang="en-GB" sz="700" dirty="0"/>
          </a:p>
        </p:txBody>
      </p:sp>
      <p:sp>
        <p:nvSpPr>
          <p:cNvPr id="30" name="Shape 30"/>
          <p:cNvSpPr/>
          <p:nvPr/>
        </p:nvSpPr>
        <p:spPr>
          <a:xfrm>
            <a:off x="2386584" y="5833872"/>
            <a:ext cx="548640" cy="310896"/>
          </a:xfrm>
          <a:prstGeom prst="roundRect">
            <a:avLst>
              <a:gd name="adj" fmla="val 25000"/>
            </a:avLst>
          </a:prstGeom>
          <a:solidFill>
            <a:srgbClr val="A6A6A6"/>
          </a:solidFill>
          <a:ln>
            <a:noFill/>
          </a:ln>
        </p:spPr>
        <p:txBody>
          <a:bodyPr wrap="square" lIns="9144" tIns="9144" rIns="9144" bIns="9144" anchor="ctr" rtlCol="0">
            <a:noAutofit/>
          </a:bodyPr>
          <a:lstStyle/>
          <a:p>
            <a:pPr algn="ctr">
              <a:buNone/>
            </a:pPr>
            <a:r>
              <a:rPr lang="en-GB" sz="700" b="1" i="0" dirty="0">
                <a:solidFill>
                  <a:srgbClr val="1A1A1A"/>
                </a:solidFill>
                <a:latin typeface="Arial"/>
                <a:cs typeface="Arial"/>
              </a:rPr>
              <a:t>LIGHT</a:t>
            </a:r>
            <a:endParaRPr lang="en-GB" sz="700" dirty="0"/>
          </a:p>
        </p:txBody>
      </p:sp>
      <p:sp>
        <p:nvSpPr>
          <p:cNvPr id="31" name="Shape 31"/>
          <p:cNvSpPr/>
          <p:nvPr/>
        </p:nvSpPr>
        <p:spPr>
          <a:xfrm>
            <a:off x="3566160" y="224028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8A5A00"/>
                </a:solidFill>
                <a:latin typeface="Arial"/>
                <a:cs typeface="Arial"/>
              </a:rPr>
              <a:t xml:space="preserve">Grouping: </a:t>
            </a: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comfort (mode, fan, swing) · time (timers, sleep) · rarely used, under a flap</a:t>
            </a:r>
            <a:endParaRPr lang="en-GB" sz="1150" dirty="0"/>
          </a:p>
        </p:txBody>
      </p:sp>
      <p:sp>
        <p:nvSpPr>
          <p:cNvPr id="32" name="Shape 32"/>
          <p:cNvSpPr/>
          <p:nvPr/>
        </p:nvSpPr>
        <p:spPr>
          <a:xfrm>
            <a:off x="3566160" y="306324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8A5A00"/>
                </a:solidFill>
                <a:latin typeface="Arial"/>
                <a:cs typeface="Arial"/>
              </a:rPr>
              <a:t xml:space="preserve">Order: </a:t>
            </a: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most-used TEMP at thumb height; rare buttons at the bottom</a:t>
            </a:r>
            <a:endParaRPr lang="en-GB" sz="1150" dirty="0"/>
          </a:p>
        </p:txBody>
      </p:sp>
      <p:sp>
        <p:nvSpPr>
          <p:cNvPr id="33" name="Shape 33"/>
          <p:cNvSpPr/>
          <p:nvPr/>
        </p:nvSpPr>
        <p:spPr>
          <a:xfrm>
            <a:off x="3566160" y="388620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8A5A00"/>
                </a:solidFill>
                <a:latin typeface="Arial"/>
                <a:cs typeface="Arial"/>
              </a:rPr>
              <a:t xml:space="preserve">Decoration: </a:t>
            </a: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red only for ON/OFF; a raised dot on TEMP + to find it by touch</a:t>
            </a:r>
            <a:endParaRPr lang="en-GB" sz="1150" dirty="0"/>
          </a:p>
        </p:txBody>
      </p:sp>
      <p:sp>
        <p:nvSpPr>
          <p:cNvPr id="34" name="Shape 34"/>
          <p:cNvSpPr/>
          <p:nvPr/>
        </p:nvSpPr>
        <p:spPr>
          <a:xfrm>
            <a:off x="3566160" y="470916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8A5A00"/>
                </a:solidFill>
                <a:latin typeface="Arial"/>
                <a:cs typeface="Arial"/>
              </a:rPr>
              <a:t xml:space="preserve">Alignment: </a:t>
            </a: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one grid; every label in the same place on its button</a:t>
            </a:r>
            <a:endParaRPr lang="en-GB" sz="1150" dirty="0"/>
          </a:p>
        </p:txBody>
      </p:sp>
      <p:sp>
        <p:nvSpPr>
          <p:cNvPr id="35" name="Shape 35"/>
          <p:cNvSpPr/>
          <p:nvPr/>
        </p:nvSpPr>
        <p:spPr>
          <a:xfrm>
            <a:off x="3566160" y="553212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8A5A00"/>
                </a:solidFill>
                <a:latin typeface="Arial"/>
                <a:cs typeface="Arial"/>
              </a:rPr>
              <a:t xml:space="preserve">White space: </a:t>
            </a: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a gap around ON/OFF so it is never pressed by accident</a:t>
            </a:r>
            <a:endParaRPr lang="en-GB" sz="11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Click it or not?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0726F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POLL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27048" y="1810512"/>
            <a:ext cx="661111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1 finger = clickable · 2 fingers = not clickable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246888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621792" y="2359152"/>
            <a:ext cx="292608" cy="2926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 txBox="1"/>
          <p:nvPr/>
        </p:nvSpPr>
        <p:spPr>
          <a:xfrm>
            <a:off x="731520" y="26974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500" b="0" i="0" u="sng" dirty="0">
                <a:solidFill>
                  <a:srgbClr val="1F4FB4"/>
                </a:solidFill>
                <a:latin typeface="Arial"/>
                <a:cs typeface="Arial"/>
              </a:rPr>
              <a:t>Fee schedule</a:t>
            </a:r>
            <a:endParaRPr lang="en-GB" sz="1500" dirty="0"/>
          </a:p>
        </p:txBody>
      </p:sp>
      <p:sp>
        <p:nvSpPr>
          <p:cNvPr id="16" name="Shape 16"/>
          <p:cNvSpPr/>
          <p:nvPr/>
        </p:nvSpPr>
        <p:spPr>
          <a:xfrm>
            <a:off x="3108960" y="2286000"/>
            <a:ext cx="246888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7" name="Shape 17"/>
          <p:cNvSpPr/>
          <p:nvPr/>
        </p:nvSpPr>
        <p:spPr>
          <a:xfrm>
            <a:off x="3182112" y="2359152"/>
            <a:ext cx="292608" cy="2926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3703320" y="2743200"/>
            <a:ext cx="1280160" cy="384048"/>
          </a:xfrm>
          <a:prstGeom prst="roundRect">
            <a:avLst>
              <a:gd name="adj" fmla="val 20000"/>
            </a:avLst>
          </a:prstGeom>
          <a:solidFill>
            <a:srgbClr val="E3E3E3"/>
          </a:solidFill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595959"/>
                </a:solidFill>
                <a:latin typeface="Arial"/>
                <a:cs typeface="Arial"/>
              </a:rPr>
              <a:t>Submitted</a:t>
            </a:r>
            <a:endParaRPr lang="en-GB" sz="1200" dirty="0"/>
          </a:p>
        </p:txBody>
      </p:sp>
      <p:sp>
        <p:nvSpPr>
          <p:cNvPr id="19" name="Shape 19"/>
          <p:cNvSpPr/>
          <p:nvPr/>
        </p:nvSpPr>
        <p:spPr>
          <a:xfrm>
            <a:off x="5669280" y="2286000"/>
            <a:ext cx="246888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5742432" y="2359152"/>
            <a:ext cx="292608" cy="2926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1" name="Shape 21"/>
          <p:cNvSpPr/>
          <p:nvPr/>
        </p:nvSpPr>
        <p:spPr>
          <a:xfrm>
            <a:off x="6263640" y="2715768"/>
            <a:ext cx="1280160" cy="420624"/>
          </a:xfrm>
          <a:prstGeom prst="roundRect">
            <a:avLst>
              <a:gd name="adj" fmla="val 20000"/>
            </a:avLst>
          </a:prstGeom>
          <a:solidFill>
            <a:srgbClr val="2D2D8A"/>
          </a:solidFill>
          <a:ln>
            <a:noFill/>
          </a:ln>
          <a:effectLst>
            <a:outerShdw blurRad="38100" dist="25400" dir="2700000" algn="tl" rotWithShape="0">
              <a:srgbClr val="000000">
                <a:alpha val="35000"/>
              </a:srgbClr>
            </a:outerShdw>
          </a:effectLst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Download</a:t>
            </a:r>
            <a:endParaRPr lang="en-GB" sz="1200" dirty="0"/>
          </a:p>
        </p:txBody>
      </p:sp>
      <p:sp>
        <p:nvSpPr>
          <p:cNvPr id="22" name="Shape 22"/>
          <p:cNvSpPr/>
          <p:nvPr/>
        </p:nvSpPr>
        <p:spPr>
          <a:xfrm>
            <a:off x="548640" y="4114800"/>
            <a:ext cx="246888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3" name="Shape 23"/>
          <p:cNvSpPr/>
          <p:nvPr/>
        </p:nvSpPr>
        <p:spPr>
          <a:xfrm>
            <a:off x="621792" y="4187952"/>
            <a:ext cx="292608" cy="2926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4" name="Shape 24"/>
          <p:cNvSpPr txBox="1"/>
          <p:nvPr/>
        </p:nvSpPr>
        <p:spPr>
          <a:xfrm>
            <a:off x="731520" y="45262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600" b="1" i="0" dirty="0">
                <a:solidFill>
                  <a:srgbClr val="1A1A1A"/>
                </a:solidFill>
                <a:latin typeface="Arial"/>
                <a:cs typeface="Arial"/>
              </a:rPr>
              <a:t>Semester 3</a:t>
            </a:r>
            <a:endParaRPr lang="en-GB" sz="1600" dirty="0"/>
          </a:p>
        </p:txBody>
      </p:sp>
      <p:sp>
        <p:nvSpPr>
          <p:cNvPr id="25" name="Shape 25"/>
          <p:cNvSpPr/>
          <p:nvPr/>
        </p:nvSpPr>
        <p:spPr>
          <a:xfrm>
            <a:off x="3108960" y="4114800"/>
            <a:ext cx="246888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3182112" y="4187952"/>
            <a:ext cx="292608" cy="2926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27" name="Shape 27"/>
          <p:cNvSpPr/>
          <p:nvPr/>
        </p:nvSpPr>
        <p:spPr>
          <a:xfrm>
            <a:off x="3794760" y="4416552"/>
            <a:ext cx="1097280" cy="685800"/>
          </a:xfrm>
          <a:prstGeom prst="rect">
            <a:avLst/>
          </a:prstGeom>
          <a:solidFill>
            <a:srgbClr val="EAF1F2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8" name="Shape 28"/>
          <p:cNvSpPr/>
          <p:nvPr/>
        </p:nvSpPr>
        <p:spPr>
          <a:xfrm>
            <a:off x="4041648" y="4672584"/>
            <a:ext cx="128016" cy="201168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9" name="Shape 29"/>
          <p:cNvSpPr/>
          <p:nvPr/>
        </p:nvSpPr>
        <p:spPr>
          <a:xfrm>
            <a:off x="4242816" y="4526280"/>
            <a:ext cx="128016" cy="347472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0" name="Shape 30"/>
          <p:cNvSpPr/>
          <p:nvPr/>
        </p:nvSpPr>
        <p:spPr>
          <a:xfrm>
            <a:off x="4443984" y="4599432"/>
            <a:ext cx="128016" cy="274320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1" name="Shape 31"/>
          <p:cNvSpPr txBox="1"/>
          <p:nvPr/>
        </p:nvSpPr>
        <p:spPr>
          <a:xfrm>
            <a:off x="3794760" y="491032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Results</a:t>
            </a:r>
            <a:endParaRPr lang="en-GB" sz="1000" dirty="0"/>
          </a:p>
        </p:txBody>
      </p:sp>
      <p:sp>
        <p:nvSpPr>
          <p:cNvPr id="32" name="Shape 32"/>
          <p:cNvSpPr/>
          <p:nvPr/>
        </p:nvSpPr>
        <p:spPr>
          <a:xfrm>
            <a:off x="5669280" y="4114800"/>
            <a:ext cx="246888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3" name="Shape 33"/>
          <p:cNvSpPr/>
          <p:nvPr/>
        </p:nvSpPr>
        <p:spPr>
          <a:xfrm>
            <a:off x="5742432" y="4187952"/>
            <a:ext cx="292608" cy="2926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n-GB" sz="1100" dirty="0"/>
          </a:p>
        </p:txBody>
      </p:sp>
      <p:sp>
        <p:nvSpPr>
          <p:cNvPr id="34" name="Shape 34"/>
          <p:cNvSpPr/>
          <p:nvPr/>
        </p:nvSpPr>
        <p:spPr>
          <a:xfrm>
            <a:off x="5852160" y="4544568"/>
            <a:ext cx="2103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Attendance</a:t>
            </a:r>
            <a:endParaRPr lang="en-GB" sz="1200" dirty="0"/>
          </a:p>
        </p:txBody>
      </p:sp>
      <p:sp>
        <p:nvSpPr>
          <p:cNvPr id="35" name="Shape 35"/>
          <p:cNvSpPr txBox="1"/>
          <p:nvPr/>
        </p:nvSpPr>
        <p:spPr>
          <a:xfrm>
            <a:off x="7589520" y="4544568"/>
            <a:ext cx="3200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800" b="1" i="0" dirty="0">
                <a:solidFill>
                  <a:srgbClr val="595959"/>
                </a:solidFill>
                <a:latin typeface="Arial"/>
                <a:cs typeface="Arial"/>
              </a:rPr>
              <a:t>›</a:t>
            </a:r>
            <a:endParaRPr lang="en-GB" sz="1800" dirty="0"/>
          </a:p>
        </p:txBody>
      </p:sp>
      <p:sp>
        <p:nvSpPr>
          <p:cNvPr id="36" name="Shape 36"/>
          <p:cNvSpPr txBox="1"/>
          <p:nvPr/>
        </p:nvSpPr>
        <p:spPr>
          <a:xfrm>
            <a:off x="548640" y="59893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Vote on each element in turn: you have one second per element — first instinct only.</a:t>
            </a:r>
            <a:endParaRPr lang="en-GB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Click it or not?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and why you thought so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246888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4" name="Shape 14"/>
          <p:cNvSpPr/>
          <p:nvPr/>
        </p:nvSpPr>
        <p:spPr>
          <a:xfrm>
            <a:off x="621792" y="2359152"/>
            <a:ext cx="292608" cy="2926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 txBox="1"/>
          <p:nvPr/>
        </p:nvSpPr>
        <p:spPr>
          <a:xfrm>
            <a:off x="731520" y="26974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500" b="0" i="0" u="sng" dirty="0">
                <a:solidFill>
                  <a:srgbClr val="1F4FB4"/>
                </a:solidFill>
                <a:latin typeface="Arial"/>
                <a:cs typeface="Arial"/>
              </a:rPr>
              <a:t>Fee schedule</a:t>
            </a:r>
            <a:endParaRPr lang="en-GB" sz="1500" dirty="0"/>
          </a:p>
        </p:txBody>
      </p:sp>
      <p:sp>
        <p:nvSpPr>
          <p:cNvPr id="16" name="Shape 16"/>
          <p:cNvSpPr/>
          <p:nvPr/>
        </p:nvSpPr>
        <p:spPr>
          <a:xfrm>
            <a:off x="960120" y="331012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950" b="1" i="0" dirty="0">
                <a:solidFill>
                  <a:srgbClr val="FFFFFF"/>
                </a:solidFill>
                <a:latin typeface="Arial"/>
                <a:cs typeface="Arial"/>
              </a:rPr>
              <a:t>CLICKABLE</a:t>
            </a:r>
            <a:endParaRPr lang="en-GB" sz="950" dirty="0"/>
          </a:p>
        </p:txBody>
      </p:sp>
      <p:sp>
        <p:nvSpPr>
          <p:cNvPr id="17" name="Shape 17"/>
          <p:cNvSpPr txBox="1"/>
          <p:nvPr/>
        </p:nvSpPr>
        <p:spPr>
          <a:xfrm>
            <a:off x="621792" y="3593592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950" b="0" i="1" dirty="0">
                <a:solidFill>
                  <a:srgbClr val="1A1A1A"/>
                </a:solidFill>
                <a:latin typeface="Arial"/>
                <a:cs typeface="Arial"/>
              </a:rPr>
              <a:t>Blue + underline: a web convention</a:t>
            </a:r>
            <a:endParaRPr lang="en-GB" sz="950" dirty="0"/>
          </a:p>
        </p:txBody>
      </p:sp>
      <p:sp>
        <p:nvSpPr>
          <p:cNvPr id="18" name="Shape 18"/>
          <p:cNvSpPr/>
          <p:nvPr/>
        </p:nvSpPr>
        <p:spPr>
          <a:xfrm>
            <a:off x="3108960" y="2286000"/>
            <a:ext cx="246888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9" name="Shape 19"/>
          <p:cNvSpPr/>
          <p:nvPr/>
        </p:nvSpPr>
        <p:spPr>
          <a:xfrm>
            <a:off x="3182112" y="2359152"/>
            <a:ext cx="292608" cy="2926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20" name="Shape 20"/>
          <p:cNvSpPr/>
          <p:nvPr/>
        </p:nvSpPr>
        <p:spPr>
          <a:xfrm>
            <a:off x="3703320" y="2743200"/>
            <a:ext cx="1280160" cy="384048"/>
          </a:xfrm>
          <a:prstGeom prst="roundRect">
            <a:avLst>
              <a:gd name="adj" fmla="val 20000"/>
            </a:avLst>
          </a:prstGeom>
          <a:solidFill>
            <a:srgbClr val="E3E3E3"/>
          </a:solidFill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595959"/>
                </a:solidFill>
                <a:latin typeface="Arial"/>
                <a:cs typeface="Arial"/>
              </a:rPr>
              <a:t>Submitted</a:t>
            </a:r>
            <a:endParaRPr lang="en-GB" sz="1200" dirty="0"/>
          </a:p>
        </p:txBody>
      </p:sp>
      <p:sp>
        <p:nvSpPr>
          <p:cNvPr id="21" name="Shape 21"/>
          <p:cNvSpPr/>
          <p:nvPr/>
        </p:nvSpPr>
        <p:spPr>
          <a:xfrm>
            <a:off x="3520440" y="331012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950" b="1" i="0" dirty="0">
                <a:solidFill>
                  <a:srgbClr val="FFFFFF"/>
                </a:solidFill>
                <a:latin typeface="Arial"/>
                <a:cs typeface="Arial"/>
              </a:rPr>
              <a:t>NOT CLICKABLE</a:t>
            </a:r>
            <a:endParaRPr lang="en-GB" sz="950" dirty="0"/>
          </a:p>
        </p:txBody>
      </p:sp>
      <p:sp>
        <p:nvSpPr>
          <p:cNvPr id="22" name="Shape 22"/>
          <p:cNvSpPr txBox="1"/>
          <p:nvPr/>
        </p:nvSpPr>
        <p:spPr>
          <a:xfrm>
            <a:off x="3182112" y="3593592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950" b="0" i="1" dirty="0">
                <a:solidFill>
                  <a:srgbClr val="1A1A1A"/>
                </a:solidFill>
                <a:latin typeface="Arial"/>
                <a:cs typeface="Arial"/>
              </a:rPr>
              <a:t>Looks like a button: a false affordance</a:t>
            </a:r>
            <a:endParaRPr lang="en-GB" sz="950" dirty="0"/>
          </a:p>
        </p:txBody>
      </p:sp>
      <p:sp>
        <p:nvSpPr>
          <p:cNvPr id="23" name="Shape 23"/>
          <p:cNvSpPr/>
          <p:nvPr/>
        </p:nvSpPr>
        <p:spPr>
          <a:xfrm>
            <a:off x="5669280" y="2286000"/>
            <a:ext cx="246888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4" name="Shape 24"/>
          <p:cNvSpPr/>
          <p:nvPr/>
        </p:nvSpPr>
        <p:spPr>
          <a:xfrm>
            <a:off x="5742432" y="2359152"/>
            <a:ext cx="292608" cy="2926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5" name="Shape 25"/>
          <p:cNvSpPr/>
          <p:nvPr/>
        </p:nvSpPr>
        <p:spPr>
          <a:xfrm>
            <a:off x="6263640" y="2715768"/>
            <a:ext cx="1280160" cy="420624"/>
          </a:xfrm>
          <a:prstGeom prst="roundRect">
            <a:avLst>
              <a:gd name="adj" fmla="val 20000"/>
            </a:avLst>
          </a:prstGeom>
          <a:solidFill>
            <a:srgbClr val="2D2D8A"/>
          </a:solidFill>
          <a:ln>
            <a:noFill/>
          </a:ln>
          <a:effectLst>
            <a:outerShdw blurRad="38100" dist="25400" dir="2700000" algn="tl" rotWithShape="0">
              <a:srgbClr val="000000">
                <a:alpha val="35000"/>
              </a:srgbClr>
            </a:outerShdw>
          </a:effectLst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Download</a:t>
            </a:r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6080760" y="331012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950" b="1" i="0" dirty="0">
                <a:solidFill>
                  <a:srgbClr val="FFFFFF"/>
                </a:solidFill>
                <a:latin typeface="Arial"/>
                <a:cs typeface="Arial"/>
              </a:rPr>
              <a:t>CLICKABLE</a:t>
            </a:r>
            <a:endParaRPr lang="en-GB" sz="950" dirty="0"/>
          </a:p>
        </p:txBody>
      </p:sp>
      <p:sp>
        <p:nvSpPr>
          <p:cNvPr id="27" name="Shape 27"/>
          <p:cNvSpPr txBox="1"/>
          <p:nvPr/>
        </p:nvSpPr>
        <p:spPr>
          <a:xfrm>
            <a:off x="5742432" y="3593592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950" b="0" i="1" dirty="0">
                <a:solidFill>
                  <a:srgbClr val="1A1A1A"/>
                </a:solidFill>
                <a:latin typeface="Arial"/>
                <a:cs typeface="Arial"/>
              </a:rPr>
              <a:t>Raised, shadowed: it says “press me”</a:t>
            </a:r>
            <a:endParaRPr lang="en-GB" sz="950" dirty="0"/>
          </a:p>
        </p:txBody>
      </p:sp>
      <p:sp>
        <p:nvSpPr>
          <p:cNvPr id="28" name="Shape 28"/>
          <p:cNvSpPr/>
          <p:nvPr/>
        </p:nvSpPr>
        <p:spPr>
          <a:xfrm>
            <a:off x="548640" y="4114800"/>
            <a:ext cx="246888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9" name="Shape 29"/>
          <p:cNvSpPr/>
          <p:nvPr/>
        </p:nvSpPr>
        <p:spPr>
          <a:xfrm>
            <a:off x="621792" y="4187952"/>
            <a:ext cx="292608" cy="2926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30" name="Shape 30"/>
          <p:cNvSpPr txBox="1"/>
          <p:nvPr/>
        </p:nvSpPr>
        <p:spPr>
          <a:xfrm>
            <a:off x="731520" y="45262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600" b="1" i="0" dirty="0">
                <a:solidFill>
                  <a:srgbClr val="1A1A1A"/>
                </a:solidFill>
                <a:latin typeface="Arial"/>
                <a:cs typeface="Arial"/>
              </a:rPr>
              <a:t>Semester 3</a:t>
            </a:r>
            <a:endParaRPr lang="en-GB" sz="1600" dirty="0"/>
          </a:p>
        </p:txBody>
      </p:sp>
      <p:sp>
        <p:nvSpPr>
          <p:cNvPr id="31" name="Shape 31"/>
          <p:cNvSpPr/>
          <p:nvPr/>
        </p:nvSpPr>
        <p:spPr>
          <a:xfrm>
            <a:off x="960120" y="513892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950" b="1" i="0" dirty="0">
                <a:solidFill>
                  <a:srgbClr val="FFFFFF"/>
                </a:solidFill>
                <a:latin typeface="Arial"/>
                <a:cs typeface="Arial"/>
              </a:rPr>
              <a:t>NOT CLICKABLE</a:t>
            </a:r>
            <a:endParaRPr lang="en-GB" sz="950" dirty="0"/>
          </a:p>
        </p:txBody>
      </p:sp>
      <p:sp>
        <p:nvSpPr>
          <p:cNvPr id="32" name="Shape 32"/>
          <p:cNvSpPr txBox="1"/>
          <p:nvPr/>
        </p:nvSpPr>
        <p:spPr>
          <a:xfrm>
            <a:off x="621792" y="5422392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950" b="0" i="1" dirty="0">
                <a:solidFill>
                  <a:srgbClr val="1A1A1A"/>
                </a:solidFill>
                <a:latin typeface="Arial"/>
                <a:cs typeface="Arial"/>
              </a:rPr>
              <a:t>Bold text is a label, not an action</a:t>
            </a:r>
            <a:endParaRPr lang="en-GB" sz="950" dirty="0"/>
          </a:p>
        </p:txBody>
      </p:sp>
      <p:sp>
        <p:nvSpPr>
          <p:cNvPr id="33" name="Shape 33"/>
          <p:cNvSpPr/>
          <p:nvPr/>
        </p:nvSpPr>
        <p:spPr>
          <a:xfrm>
            <a:off x="3108960" y="4114800"/>
            <a:ext cx="246888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4" name="Shape 34"/>
          <p:cNvSpPr/>
          <p:nvPr/>
        </p:nvSpPr>
        <p:spPr>
          <a:xfrm>
            <a:off x="3182112" y="4187952"/>
            <a:ext cx="292608" cy="2926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35" name="Shape 35"/>
          <p:cNvSpPr/>
          <p:nvPr/>
        </p:nvSpPr>
        <p:spPr>
          <a:xfrm>
            <a:off x="3794760" y="4416552"/>
            <a:ext cx="1097280" cy="685800"/>
          </a:xfrm>
          <a:prstGeom prst="rect">
            <a:avLst/>
          </a:prstGeom>
          <a:solidFill>
            <a:srgbClr val="EAF1F2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6" name="Shape 36"/>
          <p:cNvSpPr/>
          <p:nvPr/>
        </p:nvSpPr>
        <p:spPr>
          <a:xfrm>
            <a:off x="4041648" y="4672584"/>
            <a:ext cx="128016" cy="201168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7" name="Shape 37"/>
          <p:cNvSpPr/>
          <p:nvPr/>
        </p:nvSpPr>
        <p:spPr>
          <a:xfrm>
            <a:off x="4242816" y="4526280"/>
            <a:ext cx="128016" cy="347472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8" name="Shape 38"/>
          <p:cNvSpPr/>
          <p:nvPr/>
        </p:nvSpPr>
        <p:spPr>
          <a:xfrm>
            <a:off x="4443984" y="4599432"/>
            <a:ext cx="128016" cy="274320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9" name="Shape 39"/>
          <p:cNvSpPr txBox="1"/>
          <p:nvPr/>
        </p:nvSpPr>
        <p:spPr>
          <a:xfrm>
            <a:off x="3794760" y="491032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000" b="0" i="0" dirty="0">
                <a:solidFill>
                  <a:srgbClr val="1A1A1A"/>
                </a:solidFill>
                <a:latin typeface="Arial"/>
                <a:cs typeface="Arial"/>
              </a:rPr>
              <a:t>Results</a:t>
            </a:r>
            <a:endParaRPr lang="en-GB" sz="1000" dirty="0"/>
          </a:p>
        </p:txBody>
      </p:sp>
      <p:sp>
        <p:nvSpPr>
          <p:cNvPr id="40" name="Shape 40"/>
          <p:cNvSpPr/>
          <p:nvPr/>
        </p:nvSpPr>
        <p:spPr>
          <a:xfrm>
            <a:off x="3520440" y="513892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950" b="1" i="0" dirty="0">
                <a:solidFill>
                  <a:srgbClr val="FFFFFF"/>
                </a:solidFill>
                <a:latin typeface="Arial"/>
                <a:cs typeface="Arial"/>
              </a:rPr>
              <a:t>CLICKABLE</a:t>
            </a:r>
            <a:endParaRPr lang="en-GB" sz="950" dirty="0"/>
          </a:p>
        </p:txBody>
      </p:sp>
      <p:sp>
        <p:nvSpPr>
          <p:cNvPr id="41" name="Shape 41"/>
          <p:cNvSpPr txBox="1"/>
          <p:nvPr/>
        </p:nvSpPr>
        <p:spPr>
          <a:xfrm>
            <a:off x="3182112" y="5422392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950" b="0" i="1" dirty="0">
                <a:solidFill>
                  <a:srgbClr val="1A1A1A"/>
                </a:solidFill>
                <a:latin typeface="Arial"/>
                <a:cs typeface="Arial"/>
              </a:rPr>
              <a:t>Flat card hides it: a weak signifier</a:t>
            </a:r>
            <a:endParaRPr lang="en-GB" sz="950" dirty="0"/>
          </a:p>
        </p:txBody>
      </p:sp>
      <p:sp>
        <p:nvSpPr>
          <p:cNvPr id="42" name="Shape 42"/>
          <p:cNvSpPr/>
          <p:nvPr/>
        </p:nvSpPr>
        <p:spPr>
          <a:xfrm>
            <a:off x="5669280" y="4114800"/>
            <a:ext cx="246888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3" name="Shape 43"/>
          <p:cNvSpPr/>
          <p:nvPr/>
        </p:nvSpPr>
        <p:spPr>
          <a:xfrm>
            <a:off x="5742432" y="4187952"/>
            <a:ext cx="292608" cy="2926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n-GB" sz="1100" dirty="0"/>
          </a:p>
        </p:txBody>
      </p:sp>
      <p:sp>
        <p:nvSpPr>
          <p:cNvPr id="44" name="Shape 44"/>
          <p:cNvSpPr/>
          <p:nvPr/>
        </p:nvSpPr>
        <p:spPr>
          <a:xfrm>
            <a:off x="5852160" y="4544568"/>
            <a:ext cx="2103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Attendance</a:t>
            </a:r>
            <a:endParaRPr lang="en-GB" sz="1200" dirty="0"/>
          </a:p>
        </p:txBody>
      </p:sp>
      <p:sp>
        <p:nvSpPr>
          <p:cNvPr id="45" name="Shape 45"/>
          <p:cNvSpPr txBox="1"/>
          <p:nvPr/>
        </p:nvSpPr>
        <p:spPr>
          <a:xfrm>
            <a:off x="7589520" y="4544568"/>
            <a:ext cx="3200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800" b="1" i="0" dirty="0">
                <a:solidFill>
                  <a:srgbClr val="595959"/>
                </a:solidFill>
                <a:latin typeface="Arial"/>
                <a:cs typeface="Arial"/>
              </a:rPr>
              <a:t>›</a:t>
            </a:r>
            <a:endParaRPr lang="en-GB" sz="1800" dirty="0"/>
          </a:p>
        </p:txBody>
      </p:sp>
      <p:sp>
        <p:nvSpPr>
          <p:cNvPr id="46" name="Shape 46"/>
          <p:cNvSpPr/>
          <p:nvPr/>
        </p:nvSpPr>
        <p:spPr>
          <a:xfrm>
            <a:off x="6080760" y="513892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950" b="1" i="0" dirty="0">
                <a:solidFill>
                  <a:srgbClr val="FFFFFF"/>
                </a:solidFill>
                <a:latin typeface="Arial"/>
                <a:cs typeface="Arial"/>
              </a:rPr>
              <a:t>CLICKABLE</a:t>
            </a:r>
            <a:endParaRPr lang="en-GB" sz="950" dirty="0"/>
          </a:p>
        </p:txBody>
      </p:sp>
      <p:sp>
        <p:nvSpPr>
          <p:cNvPr id="47" name="Shape 47"/>
          <p:cNvSpPr txBox="1"/>
          <p:nvPr/>
        </p:nvSpPr>
        <p:spPr>
          <a:xfrm>
            <a:off x="5742432" y="5422392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950" b="0" i="1" dirty="0">
                <a:solidFill>
                  <a:srgbClr val="1A1A1A"/>
                </a:solidFill>
                <a:latin typeface="Arial"/>
                <a:cs typeface="Arial"/>
              </a:rPr>
              <a:t>The › chevron is a list convention</a:t>
            </a:r>
            <a:endParaRPr lang="en-GB" sz="950" dirty="0"/>
          </a:p>
        </p:txBody>
      </p:sp>
      <p:sp>
        <p:nvSpPr>
          <p:cNvPr id="48" name="Shape 48"/>
          <p:cNvSpPr txBox="1"/>
          <p:nvPr/>
        </p:nvSpPr>
        <p:spPr>
          <a:xfrm>
            <a:off x="548640" y="59893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When the class splits, the design is ambiguous: the element does not afford what it does. Next: Dix on affordances.</a:t>
            </a:r>
            <a:endParaRPr lang="en-GB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Match the task to the presentation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27048" y="1810512"/>
            <a:ext cx="661111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2 min · write A, B, C or D next to each task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40280"/>
            <a:ext cx="7589520" cy="4572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ctr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Data: </a:t>
            </a: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results of 120 students — roll no., name, attendance %, marks</a:t>
            </a:r>
            <a:endParaRPr lang="en-GB" sz="1300" dirty="0"/>
          </a:p>
        </p:txBody>
      </p:sp>
      <p:sp>
        <p:nvSpPr>
          <p:cNvPr id="14" name="Shape 14"/>
          <p:cNvSpPr/>
          <p:nvPr/>
        </p:nvSpPr>
        <p:spPr>
          <a:xfrm>
            <a:off x="548640" y="3035808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/>
          <p:nvPr/>
        </p:nvSpPr>
        <p:spPr>
          <a:xfrm>
            <a:off x="960120" y="288036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Find Ayesha’s marks</a:t>
            </a:r>
            <a:endParaRPr lang="en-GB" sz="1200" dirty="0"/>
          </a:p>
        </p:txBody>
      </p:sp>
      <p:sp>
        <p:nvSpPr>
          <p:cNvPr id="16" name="Shape 16"/>
          <p:cNvSpPr/>
          <p:nvPr/>
        </p:nvSpPr>
        <p:spPr>
          <a:xfrm>
            <a:off x="3977640" y="3035808"/>
            <a:ext cx="4572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595959"/>
                </a:solidFill>
                <a:latin typeface="Arial"/>
                <a:cs typeface="Arial"/>
              </a:rPr>
              <a:t>?</a:t>
            </a:r>
            <a:endParaRPr lang="en-GB" sz="1200" dirty="0"/>
          </a:p>
        </p:txBody>
      </p:sp>
      <p:sp>
        <p:nvSpPr>
          <p:cNvPr id="17" name="Shape 17"/>
          <p:cNvSpPr/>
          <p:nvPr/>
        </p:nvSpPr>
        <p:spPr>
          <a:xfrm>
            <a:off x="548640" y="3813048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960120" y="365760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Who topped the class?</a:t>
            </a:r>
            <a:endParaRPr lang="en-GB" sz="1200" dirty="0"/>
          </a:p>
        </p:txBody>
      </p:sp>
      <p:sp>
        <p:nvSpPr>
          <p:cNvPr id="19" name="Shape 19"/>
          <p:cNvSpPr/>
          <p:nvPr/>
        </p:nvSpPr>
        <p:spPr>
          <a:xfrm>
            <a:off x="3977640" y="3813048"/>
            <a:ext cx="4572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595959"/>
                </a:solidFill>
                <a:latin typeface="Arial"/>
                <a:cs typeface="Arial"/>
              </a:rPr>
              <a:t>?</a:t>
            </a:r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548640" y="4590288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1" name="Shape 21"/>
          <p:cNvSpPr/>
          <p:nvPr/>
        </p:nvSpPr>
        <p:spPr>
          <a:xfrm>
            <a:off x="960120" y="443484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Was the paper too hard? How spread out are the marks?</a:t>
            </a:r>
            <a:endParaRPr lang="en-GB" sz="1200" dirty="0"/>
          </a:p>
        </p:txBody>
      </p:sp>
      <p:sp>
        <p:nvSpPr>
          <p:cNvPr id="22" name="Shape 22"/>
          <p:cNvSpPr/>
          <p:nvPr/>
        </p:nvSpPr>
        <p:spPr>
          <a:xfrm>
            <a:off x="3977640" y="4590288"/>
            <a:ext cx="4572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595959"/>
                </a:solidFill>
                <a:latin typeface="Arial"/>
                <a:cs typeface="Arial"/>
              </a:rPr>
              <a:t>?</a:t>
            </a:r>
            <a:endParaRPr lang="en-GB" sz="1200" dirty="0"/>
          </a:p>
        </p:txBody>
      </p:sp>
      <p:sp>
        <p:nvSpPr>
          <p:cNvPr id="23" name="Shape 23"/>
          <p:cNvSpPr/>
          <p:nvPr/>
        </p:nvSpPr>
        <p:spPr>
          <a:xfrm>
            <a:off x="548640" y="5367528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4" name="Shape 24"/>
          <p:cNvSpPr/>
          <p:nvPr/>
        </p:nvSpPr>
        <p:spPr>
          <a:xfrm>
            <a:off x="960120" y="521208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Do students who attend more score more?</a:t>
            </a:r>
            <a:endParaRPr lang="en-GB" sz="1200" dirty="0"/>
          </a:p>
        </p:txBody>
      </p:sp>
      <p:sp>
        <p:nvSpPr>
          <p:cNvPr id="25" name="Shape 25"/>
          <p:cNvSpPr/>
          <p:nvPr/>
        </p:nvSpPr>
        <p:spPr>
          <a:xfrm>
            <a:off x="3977640" y="5367528"/>
            <a:ext cx="4572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DB8BC"/>
            </a:solidFill>
            <a:prstDash val="dash"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ctr">
              <a:buNone/>
            </a:pPr>
            <a:r>
              <a:rPr lang="en-GB" sz="1200" b="0" i="0" dirty="0">
                <a:solidFill>
                  <a:srgbClr val="595959"/>
                </a:solidFill>
                <a:latin typeface="Arial"/>
                <a:cs typeface="Arial"/>
              </a:rPr>
              <a:t>?</a:t>
            </a:r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5120640" y="288036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7" name="Shape 27"/>
          <p:cNvSpPr/>
          <p:nvPr/>
        </p:nvSpPr>
        <p:spPr>
          <a:xfrm>
            <a:off x="5166360" y="3035808"/>
            <a:ext cx="329184" cy="329184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lang="en-GB" sz="1100" dirty="0"/>
          </a:p>
        </p:txBody>
      </p:sp>
      <p:sp>
        <p:nvSpPr>
          <p:cNvPr id="28" name="Shape 28"/>
          <p:cNvSpPr txBox="1"/>
          <p:nvPr/>
        </p:nvSpPr>
        <p:spPr>
          <a:xfrm>
            <a:off x="5559552" y="288036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Table sorted by roll number</a:t>
            </a:r>
            <a:endParaRPr lang="en-GB" sz="1050" dirty="0"/>
          </a:p>
        </p:txBody>
      </p:sp>
      <p:sp>
        <p:nvSpPr>
          <p:cNvPr id="29" name="Shape 29"/>
          <p:cNvSpPr/>
          <p:nvPr/>
        </p:nvSpPr>
        <p:spPr>
          <a:xfrm>
            <a:off x="7269480" y="2953512"/>
            <a:ext cx="685800" cy="100584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0" name="Shape 30"/>
          <p:cNvSpPr/>
          <p:nvPr/>
        </p:nvSpPr>
        <p:spPr>
          <a:xfrm>
            <a:off x="7269480" y="3072384"/>
            <a:ext cx="685800" cy="10058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1" name="Shape 31"/>
          <p:cNvSpPr/>
          <p:nvPr/>
        </p:nvSpPr>
        <p:spPr>
          <a:xfrm>
            <a:off x="7269480" y="3191256"/>
            <a:ext cx="685800" cy="10058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2" name="Shape 32"/>
          <p:cNvSpPr/>
          <p:nvPr/>
        </p:nvSpPr>
        <p:spPr>
          <a:xfrm>
            <a:off x="7269480" y="3310128"/>
            <a:ext cx="685800" cy="10058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3" name="Shape 33"/>
          <p:cNvSpPr/>
          <p:nvPr/>
        </p:nvSpPr>
        <p:spPr>
          <a:xfrm>
            <a:off x="5120640" y="365760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4" name="Shape 34"/>
          <p:cNvSpPr/>
          <p:nvPr/>
        </p:nvSpPr>
        <p:spPr>
          <a:xfrm>
            <a:off x="5166360" y="3813048"/>
            <a:ext cx="329184" cy="329184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lang="en-GB" sz="1100" dirty="0"/>
          </a:p>
        </p:txBody>
      </p:sp>
      <p:sp>
        <p:nvSpPr>
          <p:cNvPr id="35" name="Shape 35"/>
          <p:cNvSpPr txBox="1"/>
          <p:nvPr/>
        </p:nvSpPr>
        <p:spPr>
          <a:xfrm>
            <a:off x="5559552" y="365760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Table sorted by marks, highest first</a:t>
            </a:r>
            <a:endParaRPr lang="en-GB" sz="1050" dirty="0"/>
          </a:p>
        </p:txBody>
      </p:sp>
      <p:sp>
        <p:nvSpPr>
          <p:cNvPr id="36" name="Shape 36"/>
          <p:cNvSpPr/>
          <p:nvPr/>
        </p:nvSpPr>
        <p:spPr>
          <a:xfrm>
            <a:off x="7269480" y="3730752"/>
            <a:ext cx="685800" cy="100584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7" name="Shape 37"/>
          <p:cNvSpPr/>
          <p:nvPr/>
        </p:nvSpPr>
        <p:spPr>
          <a:xfrm>
            <a:off x="7269480" y="3849624"/>
            <a:ext cx="685800" cy="10058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8" name="Shape 38"/>
          <p:cNvSpPr/>
          <p:nvPr/>
        </p:nvSpPr>
        <p:spPr>
          <a:xfrm>
            <a:off x="7269480" y="3968496"/>
            <a:ext cx="685800" cy="10058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9" name="Shape 39"/>
          <p:cNvSpPr/>
          <p:nvPr/>
        </p:nvSpPr>
        <p:spPr>
          <a:xfrm>
            <a:off x="7269480" y="4087368"/>
            <a:ext cx="685800" cy="10058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cxnSp>
        <p:nvCxnSpPr>
          <p:cNvPr id="40" name="Connector 40"/>
          <p:cNvCxnSpPr/>
          <p:nvPr/>
        </p:nvCxnSpPr>
        <p:spPr>
          <a:xfrm flipV="1">
            <a:off x="8046720" y="3749040"/>
            <a:ext cx="0" cy="420624"/>
          </a:xfrm>
          <a:prstGeom prst="line">
            <a:avLst/>
          </a:prstGeom>
          <a:ln w="15875">
            <a:solidFill>
              <a:srgbClr val="00726F"/>
            </a:solidFill>
            <a:tailEnd type="triangle" w="med" len="med"/>
          </a:ln>
        </p:spPr>
      </p:cxnSp>
      <p:sp>
        <p:nvSpPr>
          <p:cNvPr id="41" name="Shape 41"/>
          <p:cNvSpPr/>
          <p:nvPr/>
        </p:nvSpPr>
        <p:spPr>
          <a:xfrm>
            <a:off x="5120640" y="443484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2" name="Shape 42"/>
          <p:cNvSpPr/>
          <p:nvPr/>
        </p:nvSpPr>
        <p:spPr>
          <a:xfrm>
            <a:off x="5166360" y="4590288"/>
            <a:ext cx="329184" cy="329184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lang="en-GB" sz="1100" dirty="0"/>
          </a:p>
        </p:txBody>
      </p:sp>
      <p:sp>
        <p:nvSpPr>
          <p:cNvPr id="43" name="Shape 43"/>
          <p:cNvSpPr txBox="1"/>
          <p:nvPr/>
        </p:nvSpPr>
        <p:spPr>
          <a:xfrm>
            <a:off x="5559552" y="443484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Histogram of marks</a:t>
            </a:r>
            <a:endParaRPr lang="en-GB" sz="1050" dirty="0"/>
          </a:p>
        </p:txBody>
      </p:sp>
      <p:sp>
        <p:nvSpPr>
          <p:cNvPr id="44" name="Shape 44"/>
          <p:cNvSpPr/>
          <p:nvPr/>
        </p:nvSpPr>
        <p:spPr>
          <a:xfrm>
            <a:off x="7269480" y="4873752"/>
            <a:ext cx="118872" cy="109728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5" name="Shape 45"/>
          <p:cNvSpPr/>
          <p:nvPr/>
        </p:nvSpPr>
        <p:spPr>
          <a:xfrm>
            <a:off x="7415784" y="4709160"/>
            <a:ext cx="118872" cy="274320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6" name="Shape 46"/>
          <p:cNvSpPr/>
          <p:nvPr/>
        </p:nvSpPr>
        <p:spPr>
          <a:xfrm>
            <a:off x="7562088" y="4544568"/>
            <a:ext cx="118872" cy="438912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7" name="Shape 47"/>
          <p:cNvSpPr/>
          <p:nvPr/>
        </p:nvSpPr>
        <p:spPr>
          <a:xfrm>
            <a:off x="7708392" y="4654296"/>
            <a:ext cx="118872" cy="329184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8" name="Shape 48"/>
          <p:cNvSpPr/>
          <p:nvPr/>
        </p:nvSpPr>
        <p:spPr>
          <a:xfrm>
            <a:off x="7854696" y="4837176"/>
            <a:ext cx="118872" cy="146304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9" name="Shape 49"/>
          <p:cNvSpPr/>
          <p:nvPr/>
        </p:nvSpPr>
        <p:spPr>
          <a:xfrm>
            <a:off x="5120640" y="521208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50" name="Shape 50"/>
          <p:cNvSpPr/>
          <p:nvPr/>
        </p:nvSpPr>
        <p:spPr>
          <a:xfrm>
            <a:off x="5166360" y="5367528"/>
            <a:ext cx="329184" cy="329184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lang="en-GB" sz="1100" dirty="0"/>
          </a:p>
        </p:txBody>
      </p:sp>
      <p:sp>
        <p:nvSpPr>
          <p:cNvPr id="51" name="Shape 51"/>
          <p:cNvSpPr txBox="1"/>
          <p:nvPr/>
        </p:nvSpPr>
        <p:spPr>
          <a:xfrm>
            <a:off x="5559552" y="521208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Scatter graph: attendance vs marks</a:t>
            </a:r>
            <a:endParaRPr lang="en-GB" sz="1050" dirty="0"/>
          </a:p>
        </p:txBody>
      </p:sp>
      <p:cxnSp>
        <p:nvCxnSpPr>
          <p:cNvPr id="52" name="Connector 52"/>
          <p:cNvCxnSpPr/>
          <p:nvPr/>
        </p:nvCxnSpPr>
        <p:spPr>
          <a:xfrm>
            <a:off x="7269480" y="5788152"/>
            <a:ext cx="777240" cy="0"/>
          </a:xfrm>
          <a:prstGeom prst="line">
            <a:avLst/>
          </a:prstGeom>
          <a:ln w="9525">
            <a:solidFill>
              <a:srgbClr val="595959"/>
            </a:solidFill>
          </a:ln>
        </p:spPr>
      </p:cxnSp>
      <p:cxnSp>
        <p:nvCxnSpPr>
          <p:cNvPr id="53" name="Connector 53"/>
          <p:cNvCxnSpPr/>
          <p:nvPr/>
        </p:nvCxnSpPr>
        <p:spPr>
          <a:xfrm>
            <a:off x="7269480" y="5285232"/>
            <a:ext cx="0" cy="502920"/>
          </a:xfrm>
          <a:prstGeom prst="line">
            <a:avLst/>
          </a:prstGeom>
          <a:ln w="9525">
            <a:solidFill>
              <a:srgbClr val="595959"/>
            </a:solidFill>
          </a:ln>
        </p:spPr>
      </p:cxnSp>
      <p:sp>
        <p:nvSpPr>
          <p:cNvPr id="54" name="Shape 54"/>
          <p:cNvSpPr/>
          <p:nvPr/>
        </p:nvSpPr>
        <p:spPr>
          <a:xfrm>
            <a:off x="7379208" y="5669280"/>
            <a:ext cx="64008" cy="640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55" name="Shape 55"/>
          <p:cNvSpPr/>
          <p:nvPr/>
        </p:nvSpPr>
        <p:spPr>
          <a:xfrm>
            <a:off x="7498080" y="5614416"/>
            <a:ext cx="64008" cy="640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56" name="Shape 56"/>
          <p:cNvSpPr/>
          <p:nvPr/>
        </p:nvSpPr>
        <p:spPr>
          <a:xfrm>
            <a:off x="7571232" y="5650992"/>
            <a:ext cx="64008" cy="640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57" name="Shape 57"/>
          <p:cNvSpPr/>
          <p:nvPr/>
        </p:nvSpPr>
        <p:spPr>
          <a:xfrm>
            <a:off x="7680960" y="5513832"/>
            <a:ext cx="64008" cy="640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58" name="Shape 58"/>
          <p:cNvSpPr/>
          <p:nvPr/>
        </p:nvSpPr>
        <p:spPr>
          <a:xfrm>
            <a:off x="7772400" y="5541264"/>
            <a:ext cx="64008" cy="640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59" name="Shape 59"/>
          <p:cNvSpPr/>
          <p:nvPr/>
        </p:nvSpPr>
        <p:spPr>
          <a:xfrm>
            <a:off x="7891272" y="5394960"/>
            <a:ext cx="64008" cy="640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60" name="Shape 60"/>
          <p:cNvSpPr/>
          <p:nvPr/>
        </p:nvSpPr>
        <p:spPr>
          <a:xfrm>
            <a:off x="7955280" y="5431536"/>
            <a:ext cx="64008" cy="640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Match the task to the presentation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purpose matters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40280"/>
            <a:ext cx="7589520" cy="4572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ctr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Data: </a:t>
            </a:r>
            <a:r>
              <a:rPr lang="en-GB" sz="1300" b="0" i="0" dirty="0">
                <a:solidFill>
                  <a:srgbClr val="1A1A1A"/>
                </a:solidFill>
                <a:latin typeface="Arial"/>
                <a:cs typeface="Arial"/>
              </a:rPr>
              <a:t>results of 120 students — roll no., name, attendance %, marks</a:t>
            </a:r>
            <a:endParaRPr lang="en-GB" sz="1300" dirty="0"/>
          </a:p>
        </p:txBody>
      </p:sp>
      <p:sp>
        <p:nvSpPr>
          <p:cNvPr id="14" name="Shape 14"/>
          <p:cNvSpPr/>
          <p:nvPr/>
        </p:nvSpPr>
        <p:spPr>
          <a:xfrm>
            <a:off x="548640" y="3035808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5" name="Shape 15"/>
          <p:cNvSpPr/>
          <p:nvPr/>
        </p:nvSpPr>
        <p:spPr>
          <a:xfrm>
            <a:off x="960120" y="288036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Find Ayesha’s marks</a:t>
            </a:r>
            <a:endParaRPr lang="en-GB" sz="1200" dirty="0"/>
          </a:p>
        </p:txBody>
      </p:sp>
      <p:sp>
        <p:nvSpPr>
          <p:cNvPr id="16" name="Shape 16"/>
          <p:cNvSpPr/>
          <p:nvPr/>
        </p:nvSpPr>
        <p:spPr>
          <a:xfrm>
            <a:off x="548640" y="3813048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960120" y="365760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Who topped the class?</a:t>
            </a:r>
            <a:endParaRPr lang="en-GB" sz="1200" dirty="0"/>
          </a:p>
        </p:txBody>
      </p:sp>
      <p:sp>
        <p:nvSpPr>
          <p:cNvPr id="18" name="Shape 18"/>
          <p:cNvSpPr/>
          <p:nvPr/>
        </p:nvSpPr>
        <p:spPr>
          <a:xfrm>
            <a:off x="548640" y="4590288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19" name="Shape 19"/>
          <p:cNvSpPr/>
          <p:nvPr/>
        </p:nvSpPr>
        <p:spPr>
          <a:xfrm>
            <a:off x="960120" y="443484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Was the paper too hard? How spread out are the marks?</a:t>
            </a:r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548640" y="5367528"/>
            <a:ext cx="329184" cy="329184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1" name="Shape 21"/>
          <p:cNvSpPr/>
          <p:nvPr/>
        </p:nvSpPr>
        <p:spPr>
          <a:xfrm>
            <a:off x="960120" y="521208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C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l">
              <a:buNone/>
            </a:pP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Do students who attend more score more?</a:t>
            </a:r>
            <a:endParaRPr lang="en-GB" sz="1200" dirty="0"/>
          </a:p>
        </p:txBody>
      </p:sp>
      <p:sp>
        <p:nvSpPr>
          <p:cNvPr id="22" name="Shape 22"/>
          <p:cNvSpPr/>
          <p:nvPr/>
        </p:nvSpPr>
        <p:spPr>
          <a:xfrm>
            <a:off x="5120640" y="288036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3" name="Shape 23"/>
          <p:cNvSpPr/>
          <p:nvPr/>
        </p:nvSpPr>
        <p:spPr>
          <a:xfrm>
            <a:off x="5166360" y="3035808"/>
            <a:ext cx="329184" cy="329184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lang="en-GB" sz="1100" dirty="0"/>
          </a:p>
        </p:txBody>
      </p:sp>
      <p:sp>
        <p:nvSpPr>
          <p:cNvPr id="24" name="Shape 24"/>
          <p:cNvSpPr txBox="1"/>
          <p:nvPr/>
        </p:nvSpPr>
        <p:spPr>
          <a:xfrm>
            <a:off x="5559552" y="288036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Table sorted by roll number</a:t>
            </a:r>
            <a:endParaRPr lang="en-GB" sz="1050" dirty="0"/>
          </a:p>
        </p:txBody>
      </p:sp>
      <p:sp>
        <p:nvSpPr>
          <p:cNvPr id="25" name="Shape 25"/>
          <p:cNvSpPr/>
          <p:nvPr/>
        </p:nvSpPr>
        <p:spPr>
          <a:xfrm>
            <a:off x="7269480" y="2953512"/>
            <a:ext cx="685800" cy="100584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7269480" y="3072384"/>
            <a:ext cx="685800" cy="10058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7" name="Shape 27"/>
          <p:cNvSpPr/>
          <p:nvPr/>
        </p:nvSpPr>
        <p:spPr>
          <a:xfrm>
            <a:off x="7269480" y="3191256"/>
            <a:ext cx="685800" cy="10058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8" name="Shape 28"/>
          <p:cNvSpPr/>
          <p:nvPr/>
        </p:nvSpPr>
        <p:spPr>
          <a:xfrm>
            <a:off x="7269480" y="3310128"/>
            <a:ext cx="685800" cy="10058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cxnSp>
        <p:nvCxnSpPr>
          <p:cNvPr id="29" name="Connector 29"/>
          <p:cNvCxnSpPr/>
          <p:nvPr/>
        </p:nvCxnSpPr>
        <p:spPr>
          <a:xfrm>
            <a:off x="3904488" y="3200400"/>
            <a:ext cx="1197864" cy="0"/>
          </a:xfrm>
          <a:prstGeom prst="line">
            <a:avLst/>
          </a:prstGeom>
          <a:ln w="25400">
            <a:solidFill>
              <a:srgbClr val="4E7A12"/>
            </a:solidFill>
            <a:tailEnd type="triangle" w="med" len="med"/>
          </a:ln>
        </p:spPr>
      </p:cxnSp>
      <p:sp>
        <p:nvSpPr>
          <p:cNvPr id="30" name="Shape 30"/>
          <p:cNvSpPr/>
          <p:nvPr/>
        </p:nvSpPr>
        <p:spPr>
          <a:xfrm>
            <a:off x="4160520" y="2926080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950" b="1" i="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lang="en-GB" sz="950" dirty="0"/>
          </a:p>
        </p:txBody>
      </p:sp>
      <p:sp>
        <p:nvSpPr>
          <p:cNvPr id="31" name="Shape 31"/>
          <p:cNvSpPr/>
          <p:nvPr/>
        </p:nvSpPr>
        <p:spPr>
          <a:xfrm>
            <a:off x="5120640" y="365760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2" name="Shape 32"/>
          <p:cNvSpPr/>
          <p:nvPr/>
        </p:nvSpPr>
        <p:spPr>
          <a:xfrm>
            <a:off x="5166360" y="3813048"/>
            <a:ext cx="329184" cy="329184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lang="en-GB" sz="1100" dirty="0"/>
          </a:p>
        </p:txBody>
      </p:sp>
      <p:sp>
        <p:nvSpPr>
          <p:cNvPr id="33" name="Shape 33"/>
          <p:cNvSpPr txBox="1"/>
          <p:nvPr/>
        </p:nvSpPr>
        <p:spPr>
          <a:xfrm>
            <a:off x="5559552" y="365760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Table sorted by marks, highest first</a:t>
            </a:r>
            <a:endParaRPr lang="en-GB" sz="1050" dirty="0"/>
          </a:p>
        </p:txBody>
      </p:sp>
      <p:sp>
        <p:nvSpPr>
          <p:cNvPr id="34" name="Shape 34"/>
          <p:cNvSpPr/>
          <p:nvPr/>
        </p:nvSpPr>
        <p:spPr>
          <a:xfrm>
            <a:off x="7269480" y="3730752"/>
            <a:ext cx="685800" cy="100584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5" name="Shape 35"/>
          <p:cNvSpPr/>
          <p:nvPr/>
        </p:nvSpPr>
        <p:spPr>
          <a:xfrm>
            <a:off x="7269480" y="3849624"/>
            <a:ext cx="685800" cy="10058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6" name="Shape 36"/>
          <p:cNvSpPr/>
          <p:nvPr/>
        </p:nvSpPr>
        <p:spPr>
          <a:xfrm>
            <a:off x="7269480" y="3968496"/>
            <a:ext cx="685800" cy="10058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37" name="Shape 37"/>
          <p:cNvSpPr/>
          <p:nvPr/>
        </p:nvSpPr>
        <p:spPr>
          <a:xfrm>
            <a:off x="7269480" y="4087368"/>
            <a:ext cx="685800" cy="10058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cxnSp>
        <p:nvCxnSpPr>
          <p:cNvPr id="38" name="Connector 38"/>
          <p:cNvCxnSpPr/>
          <p:nvPr/>
        </p:nvCxnSpPr>
        <p:spPr>
          <a:xfrm flipV="1">
            <a:off x="8046720" y="3749040"/>
            <a:ext cx="0" cy="420624"/>
          </a:xfrm>
          <a:prstGeom prst="line">
            <a:avLst/>
          </a:prstGeom>
          <a:ln w="15875">
            <a:solidFill>
              <a:srgbClr val="00726F"/>
            </a:solidFill>
            <a:tailEnd type="triangle" w="med" len="med"/>
          </a:ln>
        </p:spPr>
      </p:cxnSp>
      <p:cxnSp>
        <p:nvCxnSpPr>
          <p:cNvPr id="39" name="Connector 39"/>
          <p:cNvCxnSpPr/>
          <p:nvPr/>
        </p:nvCxnSpPr>
        <p:spPr>
          <a:xfrm>
            <a:off x="3904488" y="3977640"/>
            <a:ext cx="1197864" cy="0"/>
          </a:xfrm>
          <a:prstGeom prst="line">
            <a:avLst/>
          </a:prstGeom>
          <a:ln w="25400">
            <a:solidFill>
              <a:srgbClr val="4E7A12"/>
            </a:solidFill>
            <a:tailEnd type="triangle" w="med" len="med"/>
          </a:ln>
        </p:spPr>
      </p:cxnSp>
      <p:sp>
        <p:nvSpPr>
          <p:cNvPr id="40" name="Shape 40"/>
          <p:cNvSpPr/>
          <p:nvPr/>
        </p:nvSpPr>
        <p:spPr>
          <a:xfrm>
            <a:off x="4160520" y="3703320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950" b="1" i="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lang="en-GB" sz="950" dirty="0"/>
          </a:p>
        </p:txBody>
      </p:sp>
      <p:sp>
        <p:nvSpPr>
          <p:cNvPr id="41" name="Shape 41"/>
          <p:cNvSpPr/>
          <p:nvPr/>
        </p:nvSpPr>
        <p:spPr>
          <a:xfrm>
            <a:off x="5120640" y="443484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2" name="Shape 42"/>
          <p:cNvSpPr/>
          <p:nvPr/>
        </p:nvSpPr>
        <p:spPr>
          <a:xfrm>
            <a:off x="5166360" y="4590288"/>
            <a:ext cx="329184" cy="329184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lang="en-GB" sz="1100" dirty="0"/>
          </a:p>
        </p:txBody>
      </p:sp>
      <p:sp>
        <p:nvSpPr>
          <p:cNvPr id="43" name="Shape 43"/>
          <p:cNvSpPr txBox="1"/>
          <p:nvPr/>
        </p:nvSpPr>
        <p:spPr>
          <a:xfrm>
            <a:off x="5559552" y="443484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Histogram of marks</a:t>
            </a:r>
            <a:endParaRPr lang="en-GB" sz="1050" dirty="0"/>
          </a:p>
        </p:txBody>
      </p:sp>
      <p:sp>
        <p:nvSpPr>
          <p:cNvPr id="44" name="Shape 44"/>
          <p:cNvSpPr/>
          <p:nvPr/>
        </p:nvSpPr>
        <p:spPr>
          <a:xfrm>
            <a:off x="7269480" y="4873752"/>
            <a:ext cx="118872" cy="109728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5" name="Shape 45"/>
          <p:cNvSpPr/>
          <p:nvPr/>
        </p:nvSpPr>
        <p:spPr>
          <a:xfrm>
            <a:off x="7415784" y="4709160"/>
            <a:ext cx="118872" cy="274320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6" name="Shape 46"/>
          <p:cNvSpPr/>
          <p:nvPr/>
        </p:nvSpPr>
        <p:spPr>
          <a:xfrm>
            <a:off x="7562088" y="4544568"/>
            <a:ext cx="118872" cy="438912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7" name="Shape 47"/>
          <p:cNvSpPr/>
          <p:nvPr/>
        </p:nvSpPr>
        <p:spPr>
          <a:xfrm>
            <a:off x="7708392" y="4654296"/>
            <a:ext cx="118872" cy="329184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48" name="Shape 48"/>
          <p:cNvSpPr/>
          <p:nvPr/>
        </p:nvSpPr>
        <p:spPr>
          <a:xfrm>
            <a:off x="7854696" y="4837176"/>
            <a:ext cx="118872" cy="146304"/>
          </a:xfrm>
          <a:prstGeom prst="rect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cxnSp>
        <p:nvCxnSpPr>
          <p:cNvPr id="49" name="Connector 49"/>
          <p:cNvCxnSpPr/>
          <p:nvPr/>
        </p:nvCxnSpPr>
        <p:spPr>
          <a:xfrm>
            <a:off x="3904488" y="4754880"/>
            <a:ext cx="1197864" cy="0"/>
          </a:xfrm>
          <a:prstGeom prst="line">
            <a:avLst/>
          </a:prstGeom>
          <a:ln w="25400">
            <a:solidFill>
              <a:srgbClr val="4E7A12"/>
            </a:solidFill>
            <a:tailEnd type="triangle" w="med" len="med"/>
          </a:ln>
        </p:spPr>
      </p:cxnSp>
      <p:sp>
        <p:nvSpPr>
          <p:cNvPr id="50" name="Shape 50"/>
          <p:cNvSpPr/>
          <p:nvPr/>
        </p:nvSpPr>
        <p:spPr>
          <a:xfrm>
            <a:off x="4160520" y="4480560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950" b="1" i="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lang="en-GB" sz="950" dirty="0"/>
          </a:p>
        </p:txBody>
      </p:sp>
      <p:sp>
        <p:nvSpPr>
          <p:cNvPr id="51" name="Shape 51"/>
          <p:cNvSpPr/>
          <p:nvPr/>
        </p:nvSpPr>
        <p:spPr>
          <a:xfrm>
            <a:off x="5120640" y="521208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82296" tIns="82296" rIns="82296" bIns="8229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52" name="Shape 52"/>
          <p:cNvSpPr/>
          <p:nvPr/>
        </p:nvSpPr>
        <p:spPr>
          <a:xfrm>
            <a:off x="5166360" y="5367528"/>
            <a:ext cx="329184" cy="329184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lang="en-GB" sz="1100" dirty="0"/>
          </a:p>
        </p:txBody>
      </p:sp>
      <p:sp>
        <p:nvSpPr>
          <p:cNvPr id="53" name="Shape 53"/>
          <p:cNvSpPr txBox="1"/>
          <p:nvPr/>
        </p:nvSpPr>
        <p:spPr>
          <a:xfrm>
            <a:off x="5559552" y="5212080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 rtlCol="0">
            <a:noAutofit/>
          </a:bodyPr>
          <a:lstStyle/>
          <a:p>
            <a:pPr algn="l">
              <a:buNone/>
            </a:pPr>
            <a:r>
              <a:rPr lang="en-GB" sz="1050" b="0" i="0" dirty="0">
                <a:solidFill>
                  <a:srgbClr val="1A1A1A"/>
                </a:solidFill>
                <a:latin typeface="Arial"/>
                <a:cs typeface="Arial"/>
              </a:rPr>
              <a:t>Scatter graph: attendance vs marks</a:t>
            </a:r>
            <a:endParaRPr lang="en-GB" sz="1050" dirty="0"/>
          </a:p>
        </p:txBody>
      </p:sp>
      <p:cxnSp>
        <p:nvCxnSpPr>
          <p:cNvPr id="54" name="Connector 54"/>
          <p:cNvCxnSpPr/>
          <p:nvPr/>
        </p:nvCxnSpPr>
        <p:spPr>
          <a:xfrm>
            <a:off x="7269480" y="5788152"/>
            <a:ext cx="777240" cy="0"/>
          </a:xfrm>
          <a:prstGeom prst="line">
            <a:avLst/>
          </a:prstGeom>
          <a:ln w="9525">
            <a:solidFill>
              <a:srgbClr val="595959"/>
            </a:solidFill>
          </a:ln>
        </p:spPr>
      </p:cxnSp>
      <p:cxnSp>
        <p:nvCxnSpPr>
          <p:cNvPr id="55" name="Connector 55"/>
          <p:cNvCxnSpPr/>
          <p:nvPr/>
        </p:nvCxnSpPr>
        <p:spPr>
          <a:xfrm>
            <a:off x="7269480" y="5285232"/>
            <a:ext cx="0" cy="502920"/>
          </a:xfrm>
          <a:prstGeom prst="line">
            <a:avLst/>
          </a:prstGeom>
          <a:ln w="9525">
            <a:solidFill>
              <a:srgbClr val="595959"/>
            </a:solidFill>
          </a:ln>
        </p:spPr>
      </p:cxnSp>
      <p:sp>
        <p:nvSpPr>
          <p:cNvPr id="56" name="Shape 56"/>
          <p:cNvSpPr/>
          <p:nvPr/>
        </p:nvSpPr>
        <p:spPr>
          <a:xfrm>
            <a:off x="7379208" y="5669280"/>
            <a:ext cx="64008" cy="640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57" name="Shape 57"/>
          <p:cNvSpPr/>
          <p:nvPr/>
        </p:nvSpPr>
        <p:spPr>
          <a:xfrm>
            <a:off x="7498080" y="5614416"/>
            <a:ext cx="64008" cy="640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58" name="Shape 58"/>
          <p:cNvSpPr/>
          <p:nvPr/>
        </p:nvSpPr>
        <p:spPr>
          <a:xfrm>
            <a:off x="7571232" y="5650992"/>
            <a:ext cx="64008" cy="640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59" name="Shape 59"/>
          <p:cNvSpPr/>
          <p:nvPr/>
        </p:nvSpPr>
        <p:spPr>
          <a:xfrm>
            <a:off x="7680960" y="5513832"/>
            <a:ext cx="64008" cy="640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60" name="Shape 60"/>
          <p:cNvSpPr/>
          <p:nvPr/>
        </p:nvSpPr>
        <p:spPr>
          <a:xfrm>
            <a:off x="7772400" y="5541264"/>
            <a:ext cx="64008" cy="640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61" name="Shape 61"/>
          <p:cNvSpPr/>
          <p:nvPr/>
        </p:nvSpPr>
        <p:spPr>
          <a:xfrm>
            <a:off x="7891272" y="5394960"/>
            <a:ext cx="64008" cy="640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62" name="Shape 62"/>
          <p:cNvSpPr/>
          <p:nvPr/>
        </p:nvSpPr>
        <p:spPr>
          <a:xfrm>
            <a:off x="7955280" y="5431536"/>
            <a:ext cx="64008" cy="64008"/>
          </a:xfrm>
          <a:prstGeom prst="ellipse">
            <a:avLst/>
          </a:prstGeom>
          <a:solidFill>
            <a:srgbClr val="00726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cxnSp>
        <p:nvCxnSpPr>
          <p:cNvPr id="63" name="Connector 63"/>
          <p:cNvCxnSpPr/>
          <p:nvPr/>
        </p:nvCxnSpPr>
        <p:spPr>
          <a:xfrm>
            <a:off x="3904488" y="5532120"/>
            <a:ext cx="1197864" cy="0"/>
          </a:xfrm>
          <a:prstGeom prst="line">
            <a:avLst/>
          </a:prstGeom>
          <a:ln w="25400">
            <a:solidFill>
              <a:srgbClr val="4E7A12"/>
            </a:solidFill>
            <a:tailEnd type="triangle" w="med" len="med"/>
          </a:ln>
        </p:spPr>
      </p:cxnSp>
      <p:sp>
        <p:nvSpPr>
          <p:cNvPr id="64" name="Shape 64"/>
          <p:cNvSpPr/>
          <p:nvPr/>
        </p:nvSpPr>
        <p:spPr>
          <a:xfrm>
            <a:off x="4160520" y="5257800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4E7A12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950" b="1" i="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lang="en-GB" sz="950" dirty="0"/>
          </a:p>
        </p:txBody>
      </p:sp>
      <p:sp>
        <p:nvSpPr>
          <p:cNvPr id="65" name="Shape 65"/>
          <p:cNvSpPr txBox="1"/>
          <p:nvPr/>
        </p:nvSpPr>
        <p:spPr>
          <a:xfrm>
            <a:off x="548640" y="60533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Use paper-presentation principles — then add interactivity: let the user click a column to re-sort, and the “wrong” choice of order matters much less.</a:t>
            </a:r>
            <a:endParaRPr lang="en-GB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The greyscale test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632204" cy="310896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LIVE EXERCISE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290572" y="1810512"/>
            <a:ext cx="584758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2 min · your own phone · optional if short of time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86000"/>
            <a:ext cx="2423160" cy="31089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t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B03A2E"/>
                </a:solidFill>
                <a:latin typeface="Arial"/>
                <a:cs typeface="Arial"/>
              </a:rPr>
              <a:t>Turn greyscale on</a:t>
            </a:r>
            <a:endParaRPr lang="en-GB" sz="1150" dirty="0"/>
          </a:p>
          <a:p>
            <a:pPr algn="l">
              <a:buNone/>
            </a:pPr>
            <a:r>
              <a:rPr lang="en-GB" sz="11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Android: </a:t>
            </a: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Settings › Accessibility › Colour correction (or Colour filters) › Greyscale</a:t>
            </a:r>
            <a:endParaRPr lang="en-GB" sz="1150" dirty="0"/>
          </a:p>
          <a:p>
            <a:pPr algn="l">
              <a:spcBef>
                <a:spcPts val="500"/>
              </a:spcBef>
              <a:buNone/>
            </a:pPr>
            <a:r>
              <a:rPr lang="en-GB" sz="1150" b="1" i="0" dirty="0">
                <a:solidFill>
                  <a:srgbClr val="1A1A1A"/>
                </a:solidFill>
                <a:latin typeface="Arial"/>
                <a:cs typeface="Arial"/>
              </a:rPr>
              <a:t xml:space="preserve">iPhone: </a:t>
            </a: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Settings › Accessibility › Display &amp; Text Size › Colour Filters › Greyscale</a:t>
            </a:r>
            <a:endParaRPr lang="en-GB" sz="1150" dirty="0"/>
          </a:p>
          <a:p>
            <a:pPr algn="l">
              <a:spcBef>
                <a:spcPts val="500"/>
              </a:spcBef>
              <a:buNone/>
            </a:pPr>
            <a:r>
              <a:rPr lang="en-GB" sz="1150" b="0" i="1" dirty="0">
                <a:solidFill>
                  <a:srgbClr val="595959"/>
                </a:solidFill>
                <a:latin typeface="Arial"/>
                <a:cs typeface="Arial"/>
              </a:rPr>
              <a:t>Menus differ — search Settings for “greyscale”.</a:t>
            </a:r>
            <a:endParaRPr lang="en-GB" sz="1150" dirty="0"/>
          </a:p>
        </p:txBody>
      </p:sp>
      <p:sp>
        <p:nvSpPr>
          <p:cNvPr id="14" name="Shape 14"/>
          <p:cNvSpPr/>
          <p:nvPr/>
        </p:nvSpPr>
        <p:spPr>
          <a:xfrm>
            <a:off x="2560320" y="2121408"/>
            <a:ext cx="365760" cy="365760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3127248" y="2286000"/>
            <a:ext cx="2423160" cy="31089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t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B03A2E"/>
                </a:solidFill>
                <a:latin typeface="Arial"/>
                <a:cs typeface="Arial"/>
              </a:rPr>
              <a:t>Open an app you use every day</a:t>
            </a:r>
            <a:endParaRPr lang="en-GB" sz="1150" dirty="0"/>
          </a:p>
          <a:p>
            <a:pPr algn="l">
              <a:buNone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Banking, food delivery, the LMS, a ride-hailing app …</a:t>
            </a:r>
            <a:endParaRPr lang="en-GB" sz="1150" dirty="0"/>
          </a:p>
          <a:p>
            <a:pPr algn="l">
              <a:spcBef>
                <a:spcPts val="500"/>
              </a:spcBef>
              <a:buNone/>
            </a:pPr>
            <a:r>
              <a:rPr lang="en-GB" sz="1150" b="0" i="1" dirty="0">
                <a:solidFill>
                  <a:srgbClr val="595959"/>
                </a:solidFill>
                <a:latin typeface="Arial"/>
                <a:cs typeface="Arial"/>
              </a:rPr>
              <a:t>Do one normal task in it.</a:t>
            </a:r>
            <a:endParaRPr lang="en-GB" sz="1150" dirty="0"/>
          </a:p>
        </p:txBody>
      </p:sp>
      <p:sp>
        <p:nvSpPr>
          <p:cNvPr id="16" name="Shape 16"/>
          <p:cNvSpPr/>
          <p:nvPr/>
        </p:nvSpPr>
        <p:spPr>
          <a:xfrm>
            <a:off x="5138928" y="2121408"/>
            <a:ext cx="365760" cy="365760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200" dirty="0"/>
          </a:p>
        </p:txBody>
      </p:sp>
      <p:sp>
        <p:nvSpPr>
          <p:cNvPr id="17" name="Shape 17"/>
          <p:cNvSpPr/>
          <p:nvPr/>
        </p:nvSpPr>
        <p:spPr>
          <a:xfrm>
            <a:off x="5705856" y="2286000"/>
            <a:ext cx="2423160" cy="310896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t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B03A2E"/>
                </a:solidFill>
                <a:latin typeface="Arial"/>
                <a:cs typeface="Arial"/>
              </a:rPr>
              <a:t>Can you still tell …</a:t>
            </a:r>
            <a:endParaRPr lang="en-GB" sz="1150" dirty="0"/>
          </a:p>
          <a:p>
            <a:pPr algn="l" marL="201168" indent="-182880">
              <a:buFont typeface="Arial"/>
              <a:buChar char="•"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which tab is selected?</a:t>
            </a:r>
            <a:endParaRPr lang="en-GB" sz="1150" dirty="0"/>
          </a:p>
          <a:p>
            <a:pPr algn="l" marL="201168" indent="-182880">
              <a:spcBef>
                <a:spcPts val="300"/>
              </a:spcBef>
              <a:buFont typeface="Arial"/>
              <a:buChar char="•"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an error from a success?</a:t>
            </a:r>
            <a:endParaRPr lang="en-GB" sz="1150" dirty="0"/>
          </a:p>
          <a:p>
            <a:pPr algn="l" marL="201168" indent="-182880">
              <a:spcBef>
                <a:spcPts val="300"/>
              </a:spcBef>
              <a:buFont typeface="Arial"/>
              <a:buChar char="•"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which fields are required?</a:t>
            </a:r>
            <a:endParaRPr lang="en-GB" sz="1150" dirty="0"/>
          </a:p>
          <a:p>
            <a:pPr algn="l" marL="201168" indent="-182880">
              <a:spcBef>
                <a:spcPts val="300"/>
              </a:spcBef>
              <a:buFont typeface="Arial"/>
              <a:buChar char="•"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“Pay” from “Cancel”?</a:t>
            </a:r>
            <a:endParaRPr lang="en-GB" sz="1150" dirty="0"/>
          </a:p>
        </p:txBody>
      </p:sp>
      <p:sp>
        <p:nvSpPr>
          <p:cNvPr id="18" name="Shape 18"/>
          <p:cNvSpPr/>
          <p:nvPr/>
        </p:nvSpPr>
        <p:spPr>
          <a:xfrm>
            <a:off x="7717536" y="2121408"/>
            <a:ext cx="365760" cy="365760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200" dirty="0"/>
          </a:p>
        </p:txBody>
      </p:sp>
      <p:sp>
        <p:nvSpPr>
          <p:cNvPr id="19" name="Shape 19"/>
          <p:cNvSpPr/>
          <p:nvPr/>
        </p:nvSpPr>
        <p:spPr>
          <a:xfrm>
            <a:off x="548640" y="5532120"/>
            <a:ext cx="7589520" cy="658368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28016" tIns="128016" rIns="128016" bIns="128016" anchor="ctr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2D2D8A"/>
                </a:solidFill>
                <a:latin typeface="Arial"/>
                <a:cs typeface="Arial"/>
              </a:rPr>
              <a:t xml:space="preserve">Colour should reinforce other information, never carry it alone: </a:t>
            </a: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about 1 in 12 men has some colour-vision deficiency. Then switch greyscale off again!</a:t>
            </a:r>
            <a:endParaRPr lang="en-GB" sz="11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Switch the portal to Urdu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440180" cy="310896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CASE PUZZLE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098548" y="1810512"/>
            <a:ext cx="603961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4 min · groups of 3</a:t>
            </a:r>
            <a:endParaRPr lang="en-GB" sz="1200" dirty="0"/>
          </a:p>
        </p:txBody>
      </p:sp>
      <p:sp>
        <p:nvSpPr>
          <p:cNvPr id="13" name="Shape 13"/>
          <p:cNvSpPr txBox="1"/>
          <p:nvPr/>
        </p:nvSpPr>
        <p:spPr>
          <a:xfrm>
            <a:off x="548640" y="224028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500" b="1" i="0" dirty="0">
                <a:solidFill>
                  <a:srgbClr val="2D2D8A"/>
                </a:solidFill>
                <a:latin typeface="Arial"/>
                <a:cs typeface="Arial"/>
              </a:rPr>
              <a:t>The parents’ portal gets an Urdu version. “Just translate the words” — what else breaks?</a:t>
            </a:r>
            <a:endParaRPr lang="en-GB" sz="1500" dirty="0"/>
          </a:p>
        </p:txBody>
      </p:sp>
      <p:sp>
        <p:nvSpPr>
          <p:cNvPr id="14" name="Shape 14"/>
          <p:cNvSpPr/>
          <p:nvPr/>
        </p:nvSpPr>
        <p:spPr>
          <a:xfrm>
            <a:off x="822960" y="2852928"/>
            <a:ext cx="2377440" cy="338328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932688" y="3035808"/>
            <a:ext cx="2157984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16" name="Shape 16"/>
          <p:cNvSpPr/>
          <p:nvPr/>
        </p:nvSpPr>
        <p:spPr>
          <a:xfrm>
            <a:off x="932688" y="3035808"/>
            <a:ext cx="2157984" cy="384048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txBody>
          <a:bodyPr wrap="square" lIns="73152" tIns="73152" rIns="73152" bIns="73152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←  Fee status</a:t>
            </a:r>
            <a:endParaRPr lang="en-GB" sz="1100" dirty="0"/>
          </a:p>
        </p:txBody>
      </p:sp>
      <p:sp>
        <p:nvSpPr>
          <p:cNvPr id="17" name="Shape 17"/>
          <p:cNvSpPr txBox="1"/>
          <p:nvPr/>
        </p:nvSpPr>
        <p:spPr>
          <a:xfrm>
            <a:off x="1005840" y="349300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850" b="0" i="0" dirty="0">
                <a:solidFill>
                  <a:srgbClr val="595959"/>
                </a:solidFill>
                <a:latin typeface="Arial"/>
                <a:cs typeface="Arial"/>
              </a:rPr>
              <a:t>Student</a:t>
            </a:r>
            <a:endParaRPr lang="en-GB" sz="850" dirty="0"/>
          </a:p>
        </p:txBody>
      </p:sp>
      <p:sp>
        <p:nvSpPr>
          <p:cNvPr id="18" name="Shape 18"/>
          <p:cNvSpPr txBox="1"/>
          <p:nvPr/>
        </p:nvSpPr>
        <p:spPr>
          <a:xfrm>
            <a:off x="1005840" y="366674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1A1A1A"/>
                </a:solidFill>
                <a:latin typeface="Arial"/>
                <a:cs typeface="Arial"/>
              </a:rPr>
              <a:t>Ayesha Khan</a:t>
            </a:r>
            <a:endParaRPr lang="en-GB" sz="1050" dirty="0"/>
          </a:p>
        </p:txBody>
      </p:sp>
      <p:sp>
        <p:nvSpPr>
          <p:cNvPr id="19" name="Shape 19"/>
          <p:cNvSpPr txBox="1"/>
          <p:nvPr/>
        </p:nvSpPr>
        <p:spPr>
          <a:xfrm>
            <a:off x="1005840" y="392277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850" b="0" i="0" dirty="0">
                <a:solidFill>
                  <a:srgbClr val="595959"/>
                </a:solidFill>
                <a:latin typeface="Arial"/>
                <a:cs typeface="Arial"/>
              </a:rPr>
              <a:t>First name / Last name</a:t>
            </a:r>
            <a:endParaRPr lang="en-GB" sz="850" dirty="0"/>
          </a:p>
        </p:txBody>
      </p:sp>
      <p:sp>
        <p:nvSpPr>
          <p:cNvPr id="20" name="Shape 20"/>
          <p:cNvSpPr txBox="1"/>
          <p:nvPr/>
        </p:nvSpPr>
        <p:spPr>
          <a:xfrm>
            <a:off x="1005840" y="409651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1A1A1A"/>
                </a:solidFill>
                <a:latin typeface="Arial"/>
                <a:cs typeface="Arial"/>
              </a:rPr>
              <a:t>Ayesha / Khan</a:t>
            </a:r>
            <a:endParaRPr lang="en-GB" sz="1050" dirty="0"/>
          </a:p>
        </p:txBody>
      </p:sp>
      <p:sp>
        <p:nvSpPr>
          <p:cNvPr id="21" name="Shape 21"/>
          <p:cNvSpPr txBox="1"/>
          <p:nvPr/>
        </p:nvSpPr>
        <p:spPr>
          <a:xfrm>
            <a:off x="1005840" y="435254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850" b="0" i="0" dirty="0">
                <a:solidFill>
                  <a:srgbClr val="595959"/>
                </a:solidFill>
                <a:latin typeface="Arial"/>
                <a:cs typeface="Arial"/>
              </a:rPr>
              <a:t>Due date</a:t>
            </a:r>
            <a:endParaRPr lang="en-GB" sz="850" dirty="0"/>
          </a:p>
        </p:txBody>
      </p:sp>
      <p:sp>
        <p:nvSpPr>
          <p:cNvPr id="22" name="Shape 22"/>
          <p:cNvSpPr txBox="1"/>
          <p:nvPr/>
        </p:nvSpPr>
        <p:spPr>
          <a:xfrm>
            <a:off x="1005840" y="452628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1A1A1A"/>
                </a:solidFill>
                <a:latin typeface="Arial"/>
                <a:cs typeface="Arial"/>
              </a:rPr>
              <a:t>15 Oct 2026</a:t>
            </a:r>
            <a:endParaRPr lang="en-GB" sz="1050" dirty="0"/>
          </a:p>
        </p:txBody>
      </p:sp>
      <p:sp>
        <p:nvSpPr>
          <p:cNvPr id="23" name="Shape 23"/>
          <p:cNvSpPr txBox="1"/>
          <p:nvPr/>
        </p:nvSpPr>
        <p:spPr>
          <a:xfrm>
            <a:off x="1005840" y="478231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850" b="0" i="0" dirty="0">
                <a:solidFill>
                  <a:srgbClr val="595959"/>
                </a:solidFill>
                <a:latin typeface="Arial"/>
                <a:cs typeface="Arial"/>
              </a:rPr>
              <a:t>Amount</a:t>
            </a:r>
            <a:endParaRPr lang="en-GB" sz="850" dirty="0"/>
          </a:p>
        </p:txBody>
      </p:sp>
      <p:sp>
        <p:nvSpPr>
          <p:cNvPr id="24" name="Shape 24"/>
          <p:cNvSpPr txBox="1"/>
          <p:nvPr/>
        </p:nvSpPr>
        <p:spPr>
          <a:xfrm>
            <a:off x="1005840" y="495604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050" b="1" i="0" dirty="0">
                <a:solidFill>
                  <a:srgbClr val="1A1A1A"/>
                </a:solidFill>
                <a:latin typeface="Arial"/>
                <a:cs typeface="Arial"/>
              </a:rPr>
              <a:t>Rs 45,000</a:t>
            </a:r>
            <a:endParaRPr lang="en-GB" sz="1050" dirty="0"/>
          </a:p>
        </p:txBody>
      </p:sp>
      <p:sp>
        <p:nvSpPr>
          <p:cNvPr id="25" name="Shape 25"/>
          <p:cNvSpPr/>
          <p:nvPr/>
        </p:nvSpPr>
        <p:spPr>
          <a:xfrm>
            <a:off x="1005840" y="5248656"/>
            <a:ext cx="2011680" cy="146304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6" name="Shape 26"/>
          <p:cNvSpPr/>
          <p:nvPr/>
        </p:nvSpPr>
        <p:spPr>
          <a:xfrm>
            <a:off x="1005840" y="5248656"/>
            <a:ext cx="1188720" cy="146304"/>
          </a:xfrm>
          <a:prstGeom prst="rect">
            <a:avLst/>
          </a:prstGeom>
          <a:solidFill>
            <a:srgbClr val="4E7A12"/>
          </a:solidFill>
          <a:ln>
            <a:noFill/>
          </a:ln>
        </p:spPr>
        <p:txBody>
          <a:bodyPr wrap="square" lIns="36576" tIns="36576" rIns="36576" bIns="36576" anchor="t" rtlCol="0">
            <a:noAutofit/>
          </a:bodyPr>
          <a:lstStyle/>
          <a:p>
            <a:endParaRPr lang="en-GB" sz="1200" dirty="0"/>
          </a:p>
        </p:txBody>
      </p:sp>
      <p:sp>
        <p:nvSpPr>
          <p:cNvPr id="27" name="Shape 27"/>
          <p:cNvSpPr txBox="1"/>
          <p:nvPr/>
        </p:nvSpPr>
        <p:spPr>
          <a:xfrm>
            <a:off x="1005840" y="541324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850" b="0" i="0" dirty="0">
                <a:solidFill>
                  <a:srgbClr val="595959"/>
                </a:solidFill>
                <a:latin typeface="Arial"/>
                <a:cs typeface="Arial"/>
              </a:rPr>
              <a:t>Paid 60%</a:t>
            </a:r>
            <a:endParaRPr lang="en-GB" sz="850" dirty="0"/>
          </a:p>
        </p:txBody>
      </p:sp>
      <p:sp>
        <p:nvSpPr>
          <p:cNvPr id="28" name="Shape 28"/>
          <p:cNvSpPr/>
          <p:nvPr/>
        </p:nvSpPr>
        <p:spPr>
          <a:xfrm>
            <a:off x="1097280" y="566928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2D2D8A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050" b="1" i="0" dirty="0">
                <a:solidFill>
                  <a:srgbClr val="FFFFFF"/>
                </a:solidFill>
                <a:latin typeface="Arial"/>
                <a:cs typeface="Arial"/>
              </a:rPr>
              <a:t>Pay now  →</a:t>
            </a:r>
            <a:endParaRPr lang="en-GB" sz="1050" dirty="0"/>
          </a:p>
        </p:txBody>
      </p:sp>
      <p:sp>
        <p:nvSpPr>
          <p:cNvPr id="29" name="Shape 29"/>
          <p:cNvSpPr/>
          <p:nvPr/>
        </p:nvSpPr>
        <p:spPr>
          <a:xfrm>
            <a:off x="3657600" y="2880360"/>
            <a:ext cx="4480560" cy="329184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t" rtlCol="0">
            <a:noAutofit/>
          </a:bodyPr>
          <a:lstStyle/>
          <a:p>
            <a:pPr algn="l">
              <a:buNone/>
            </a:pPr>
            <a:r>
              <a:rPr lang="en-GB" sz="1250" b="1" i="0" dirty="0">
                <a:solidFill>
                  <a:srgbClr val="8A5A00"/>
                </a:solidFill>
                <a:latin typeface="Arial"/>
                <a:cs typeface="Arial"/>
              </a:rPr>
              <a:t>List five things that must change beyond the words.</a:t>
            </a:r>
            <a:endParaRPr lang="en-GB" sz="1250" dirty="0"/>
          </a:p>
          <a:p>
            <a:pPr algn="l">
              <a:spcBef>
                <a:spcPts val="800"/>
              </a:spcBef>
              <a:buNone/>
            </a:pPr>
            <a:r>
              <a:rPr lang="en-GB" sz="1250" b="0" i="0" dirty="0">
                <a:solidFill>
                  <a:srgbClr val="1A1A1A"/>
                </a:solidFill>
                <a:latin typeface="Arial"/>
                <a:cs typeface="Arial"/>
              </a:rPr>
              <a:t>Look at every part of the screen on the left. Think about:</a:t>
            </a:r>
            <a:endParaRPr lang="en-GB" sz="1250" dirty="0"/>
          </a:p>
        </p:txBody>
      </p:sp>
      <p:sp>
        <p:nvSpPr>
          <p:cNvPr id="30" name="Shape 30"/>
          <p:cNvSpPr/>
          <p:nvPr/>
        </p:nvSpPr>
        <p:spPr>
          <a:xfrm>
            <a:off x="3840480" y="397764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5ECD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8A5A00"/>
                </a:solidFill>
                <a:latin typeface="Arial"/>
                <a:cs typeface="Arial"/>
              </a:rPr>
              <a:t>direction</a:t>
            </a:r>
            <a:endParaRPr lang="en-GB" sz="1200" dirty="0"/>
          </a:p>
        </p:txBody>
      </p:sp>
      <p:sp>
        <p:nvSpPr>
          <p:cNvPr id="31" name="Shape 31"/>
          <p:cNvSpPr/>
          <p:nvPr/>
        </p:nvSpPr>
        <p:spPr>
          <a:xfrm>
            <a:off x="5943600" y="397764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5ECD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8A5A00"/>
                </a:solidFill>
                <a:latin typeface="Arial"/>
                <a:cs typeface="Arial"/>
              </a:rPr>
              <a:t>numbers</a:t>
            </a:r>
            <a:endParaRPr lang="en-GB" sz="1200" dirty="0"/>
          </a:p>
        </p:txBody>
      </p:sp>
      <p:sp>
        <p:nvSpPr>
          <p:cNvPr id="32" name="Shape 32"/>
          <p:cNvSpPr/>
          <p:nvPr/>
        </p:nvSpPr>
        <p:spPr>
          <a:xfrm>
            <a:off x="3840480" y="44805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5ECD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8A5A00"/>
                </a:solidFill>
                <a:latin typeface="Arial"/>
                <a:cs typeface="Arial"/>
              </a:rPr>
              <a:t>text size</a:t>
            </a:r>
            <a:endParaRPr lang="en-GB" sz="1200" dirty="0"/>
          </a:p>
        </p:txBody>
      </p:sp>
      <p:sp>
        <p:nvSpPr>
          <p:cNvPr id="33" name="Shape 33"/>
          <p:cNvSpPr/>
          <p:nvPr/>
        </p:nvSpPr>
        <p:spPr>
          <a:xfrm>
            <a:off x="5943600" y="44805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5ECD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8A5A00"/>
                </a:solidFill>
                <a:latin typeface="Arial"/>
                <a:cs typeface="Arial"/>
              </a:rPr>
              <a:t>dates</a:t>
            </a:r>
            <a:endParaRPr lang="en-GB" sz="1200" dirty="0"/>
          </a:p>
        </p:txBody>
      </p:sp>
      <p:sp>
        <p:nvSpPr>
          <p:cNvPr id="34" name="Shape 34"/>
          <p:cNvSpPr/>
          <p:nvPr/>
        </p:nvSpPr>
        <p:spPr>
          <a:xfrm>
            <a:off x="3840480" y="49834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5ECD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8A5A00"/>
                </a:solidFill>
                <a:latin typeface="Arial"/>
                <a:cs typeface="Arial"/>
              </a:rPr>
              <a:t>names</a:t>
            </a:r>
            <a:endParaRPr lang="en-GB" sz="1200" dirty="0"/>
          </a:p>
        </p:txBody>
      </p:sp>
      <p:sp>
        <p:nvSpPr>
          <p:cNvPr id="35" name="Shape 35"/>
          <p:cNvSpPr/>
          <p:nvPr/>
        </p:nvSpPr>
        <p:spPr>
          <a:xfrm>
            <a:off x="5943600" y="49834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5ECD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8A5A00"/>
                </a:solidFill>
                <a:latin typeface="Arial"/>
                <a:cs typeface="Arial"/>
              </a:rPr>
              <a:t>symbols &amp; colour</a:t>
            </a:r>
            <a:endParaRPr lang="en-GB" sz="1200" dirty="0"/>
          </a:p>
        </p:txBody>
      </p:sp>
      <p:sp>
        <p:nvSpPr>
          <p:cNvPr id="36" name="Shape 36"/>
          <p:cNvSpPr txBox="1"/>
          <p:nvPr/>
        </p:nvSpPr>
        <p:spPr>
          <a:xfrm>
            <a:off x="3840480" y="553212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150" b="0" i="1" dirty="0">
                <a:solidFill>
                  <a:srgbClr val="595959"/>
                </a:solidFill>
                <a:latin typeface="Arial"/>
                <a:cs typeface="Arial"/>
              </a:rPr>
              <a:t>Bonus: who should test the Urdu version before launch?</a:t>
            </a:r>
            <a:endParaRPr lang="en-GB" sz="11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Switch the portal to Urdu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six things that break besides the words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40280"/>
            <a:ext cx="3749040" cy="1078992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18872" tIns="118872" rIns="118872" bIns="118872" anchor="t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8A5A00"/>
                </a:solidFill>
                <a:latin typeface="Arial"/>
                <a:cs typeface="Arial"/>
              </a:rPr>
              <a:t>Direction</a:t>
            </a:r>
            <a:endParaRPr lang="en-GB" sz="1100" dirty="0"/>
          </a:p>
          <a:p>
            <a:pPr algn="l">
              <a:spcBef>
                <a:spcPts val="300"/>
              </a:spcBef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Urdu reads right to left: mirror the layout. The back arrow points →, menus open from the right, progress fills from the right.</a:t>
            </a:r>
            <a:endParaRPr lang="en-GB" sz="1100" dirty="0"/>
          </a:p>
        </p:txBody>
      </p:sp>
      <p:sp>
        <p:nvSpPr>
          <p:cNvPr id="14" name="Shape 14"/>
          <p:cNvSpPr/>
          <p:nvPr/>
        </p:nvSpPr>
        <p:spPr>
          <a:xfrm>
            <a:off x="4389120" y="2240280"/>
            <a:ext cx="3749040" cy="1078992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18872" tIns="118872" rIns="118872" bIns="118872" anchor="t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8A5A00"/>
                </a:solidFill>
                <a:latin typeface="Arial"/>
                <a:cs typeface="Arial"/>
              </a:rPr>
              <a:t>Numbers</a:t>
            </a:r>
            <a:endParaRPr lang="en-GB" sz="1100" dirty="0"/>
          </a:p>
          <a:p>
            <a:pPr algn="l">
              <a:spcBef>
                <a:spcPts val="300"/>
              </a:spcBef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Digits stay left-to-right inside right-to-left text: “Rs 45,000” must not come out reversed (bidirectional text).</a:t>
            </a:r>
            <a:endParaRPr lang="en-GB" sz="1100" dirty="0"/>
          </a:p>
        </p:txBody>
      </p:sp>
      <p:sp>
        <p:nvSpPr>
          <p:cNvPr id="15" name="Shape 15"/>
          <p:cNvSpPr/>
          <p:nvPr/>
        </p:nvSpPr>
        <p:spPr>
          <a:xfrm>
            <a:off x="548640" y="3429000"/>
            <a:ext cx="3749040" cy="1078992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18872" tIns="118872" rIns="118872" bIns="118872" anchor="t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8A5A00"/>
                </a:solidFill>
                <a:latin typeface="Arial"/>
                <a:cs typeface="Arial"/>
              </a:rPr>
              <a:t>Text size</a:t>
            </a:r>
            <a:endParaRPr lang="en-GB" sz="1100" dirty="0"/>
          </a:p>
          <a:p>
            <a:pPr algn="l">
              <a:spcBef>
                <a:spcPts val="300"/>
              </a:spcBef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Nastaliq script is taller and needs more line height; labels change length, so fixed-width buttons break.</a:t>
            </a:r>
            <a:endParaRPr lang="en-GB" sz="1100" dirty="0"/>
          </a:p>
        </p:txBody>
      </p:sp>
      <p:sp>
        <p:nvSpPr>
          <p:cNvPr id="16" name="Shape 16"/>
          <p:cNvSpPr/>
          <p:nvPr/>
        </p:nvSpPr>
        <p:spPr>
          <a:xfrm>
            <a:off x="4389120" y="3429000"/>
            <a:ext cx="3749040" cy="1078992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18872" tIns="118872" rIns="118872" bIns="118872" anchor="t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8A5A00"/>
                </a:solidFill>
                <a:latin typeface="Arial"/>
                <a:cs typeface="Arial"/>
              </a:rPr>
              <a:t>Dates</a:t>
            </a:r>
            <a:endParaRPr lang="en-GB" sz="1100" dirty="0"/>
          </a:p>
          <a:p>
            <a:pPr algn="l">
              <a:spcBef>
                <a:spcPts val="300"/>
              </a:spcBef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Month names, day–month order and which digits to use all need a decision — test what parents actually read.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548640" y="4617720"/>
            <a:ext cx="3749040" cy="1078992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18872" tIns="118872" rIns="118872" bIns="118872" anchor="t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8A5A00"/>
                </a:solidFill>
                <a:latin typeface="Arial"/>
                <a:cs typeface="Arial"/>
              </a:rPr>
              <a:t>Names</a:t>
            </a:r>
            <a:endParaRPr lang="en-GB" sz="1100" dirty="0"/>
          </a:p>
          <a:p>
            <a:pPr algn="l">
              <a:spcBef>
                <a:spcPts val="300"/>
              </a:spcBef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Many Pakistani names have no “last name”: ask for Full name and Father’s name, not First / Last.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4389120" y="4617720"/>
            <a:ext cx="3749040" cy="1078992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18872" tIns="118872" rIns="118872" bIns="118872" anchor="t" rtlCol="0">
            <a:noAutofit/>
          </a:bodyPr>
          <a:lstStyle/>
          <a:p>
            <a:pPr algn="l">
              <a:buNone/>
            </a:pPr>
            <a:r>
              <a:rPr lang="en-GB" sz="1300" b="1" i="0" dirty="0">
                <a:solidFill>
                  <a:srgbClr val="8A5A00"/>
                </a:solidFill>
                <a:latin typeface="Arial"/>
                <a:cs typeface="Arial"/>
              </a:rPr>
              <a:t>Symbols &amp; colour</a:t>
            </a:r>
            <a:endParaRPr lang="en-GB" sz="1100" dirty="0"/>
          </a:p>
          <a:p>
            <a:pPr algn="l">
              <a:spcBef>
                <a:spcPts val="300"/>
              </a:spcBef>
              <a:buNone/>
            </a:pP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Tick and cross do not mean the same everywhere (Dix); check icons and colours with real users.</a:t>
            </a:r>
            <a:endParaRPr lang="en-GB" sz="1100" dirty="0"/>
          </a:p>
        </p:txBody>
      </p:sp>
      <p:sp>
        <p:nvSpPr>
          <p:cNvPr id="19" name="Shape 19"/>
          <p:cNvSpPr txBox="1"/>
          <p:nvPr/>
        </p:nvSpPr>
        <p:spPr>
          <a:xfrm>
            <a:off x="548640" y="585216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buNone/>
            </a:pPr>
            <a:r>
              <a:rPr lang="en-GB" sz="1150" b="1" i="0" dirty="0">
                <a:solidFill>
                  <a:srgbClr val="2D2D8A"/>
                </a:solidFill>
                <a:latin typeface="Arial"/>
                <a:cs typeface="Arial"/>
              </a:rPr>
              <a:t xml:space="preserve">Dix: keep text in a resource file, not in the code — </a:t>
            </a: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but localisation changes layout, not just language. Test with real Urdu readers.</a:t>
            </a:r>
            <a:endParaRPr lang="en-GB" sz="115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Paper prototype: the cafeteria kiosk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632204" cy="310896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LIVE EXERCISE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2290572" y="1810512"/>
            <a:ext cx="5847588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6 min · pairs · paper and pen · finish it in the lab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240280"/>
            <a:ext cx="7589520" cy="45720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ctr" rtlCol="0">
            <a:no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Task for your user: </a:t>
            </a:r>
            <a:r>
              <a:rPr lang="en-GB" sz="1400" b="0" i="0" dirty="0">
                <a:solidFill>
                  <a:srgbClr val="1A1A1A"/>
                </a:solidFill>
                <a:latin typeface="Arial"/>
                <a:cs typeface="Arial"/>
              </a:rPr>
              <a:t>order one chai and one samosa, and pay cash.</a:t>
            </a:r>
            <a:endParaRPr lang="en-GB" sz="1400" dirty="0"/>
          </a:p>
        </p:txBody>
      </p:sp>
      <p:sp>
        <p:nvSpPr>
          <p:cNvPr id="14" name="Shape 14"/>
          <p:cNvSpPr/>
          <p:nvPr/>
        </p:nvSpPr>
        <p:spPr>
          <a:xfrm>
            <a:off x="548640" y="2880360"/>
            <a:ext cx="1783080" cy="23317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18872" tIns="118872" rIns="118872" bIns="118872" anchor="t" rtlCol="0">
            <a:no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B03A2E"/>
                </a:solidFill>
                <a:latin typeface="Arial"/>
                <a:cs typeface="Arial"/>
              </a:rPr>
              <a:t>Sketch</a:t>
            </a:r>
            <a:endParaRPr lang="en-GB" sz="1150" dirty="0"/>
          </a:p>
          <a:p>
            <a:pPr algn="l">
              <a:buNone/>
            </a:pPr>
            <a:r>
              <a:rPr lang="en-GB" sz="1150" b="0" i="1" dirty="0">
                <a:solidFill>
                  <a:srgbClr val="595959"/>
                </a:solidFill>
                <a:latin typeface="Arial"/>
                <a:cs typeface="Arial"/>
              </a:rPr>
              <a:t>2 min</a:t>
            </a:r>
            <a:endParaRPr lang="en-GB" sz="1150" dirty="0"/>
          </a:p>
          <a:p>
            <a:pPr algn="l">
              <a:spcBef>
                <a:spcPts val="600"/>
              </a:spcBef>
              <a:buNone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Two different first screens, e.g. a photo grid and a category list. One sheet each.</a:t>
            </a:r>
            <a:endParaRPr lang="en-GB" sz="1150" dirty="0"/>
          </a:p>
        </p:txBody>
      </p:sp>
      <p:sp>
        <p:nvSpPr>
          <p:cNvPr id="15" name="Shape 15"/>
          <p:cNvSpPr/>
          <p:nvPr/>
        </p:nvSpPr>
        <p:spPr>
          <a:xfrm>
            <a:off x="1920240" y="2724912"/>
            <a:ext cx="365760" cy="365760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200" dirty="0"/>
          </a:p>
        </p:txBody>
      </p:sp>
      <p:cxnSp>
        <p:nvCxnSpPr>
          <p:cNvPr id="16" name="Connector 16"/>
          <p:cNvCxnSpPr/>
          <p:nvPr/>
        </p:nvCxnSpPr>
        <p:spPr>
          <a:xfrm>
            <a:off x="2350008" y="4023360"/>
            <a:ext cx="11887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17" name="Shape 17"/>
          <p:cNvSpPr/>
          <p:nvPr/>
        </p:nvSpPr>
        <p:spPr>
          <a:xfrm>
            <a:off x="2487168" y="2880360"/>
            <a:ext cx="1783080" cy="23317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18872" tIns="118872" rIns="118872" bIns="118872" anchor="t" rtlCol="0">
            <a:no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B03A2E"/>
                </a:solidFill>
                <a:latin typeface="Arial"/>
                <a:cs typeface="Arial"/>
              </a:rPr>
              <a:t>Test</a:t>
            </a:r>
            <a:endParaRPr lang="en-GB" sz="1150" dirty="0"/>
          </a:p>
          <a:p>
            <a:pPr algn="l">
              <a:buNone/>
            </a:pPr>
            <a:r>
              <a:rPr lang="en-GB" sz="1150" b="0" i="1" dirty="0">
                <a:solidFill>
                  <a:srgbClr val="595959"/>
                </a:solidFill>
                <a:latin typeface="Arial"/>
                <a:cs typeface="Arial"/>
              </a:rPr>
              <a:t>2 min</a:t>
            </a:r>
            <a:endParaRPr lang="en-GB" sz="1150" dirty="0"/>
          </a:p>
          <a:p>
            <a:pPr algn="l">
              <a:spcBef>
                <a:spcPts val="600"/>
              </a:spcBef>
              <a:buNone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Your neighbour is the user; you are the computer. They “tap” with a pen; you swap in the next sheet. Don’t help!</a:t>
            </a:r>
            <a:endParaRPr lang="en-GB" sz="1150" dirty="0"/>
          </a:p>
        </p:txBody>
      </p:sp>
      <p:sp>
        <p:nvSpPr>
          <p:cNvPr id="18" name="Shape 18"/>
          <p:cNvSpPr/>
          <p:nvPr/>
        </p:nvSpPr>
        <p:spPr>
          <a:xfrm>
            <a:off x="3858768" y="2724912"/>
            <a:ext cx="365760" cy="365760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200" dirty="0"/>
          </a:p>
        </p:txBody>
      </p:sp>
      <p:cxnSp>
        <p:nvCxnSpPr>
          <p:cNvPr id="19" name="Connector 19"/>
          <p:cNvCxnSpPr/>
          <p:nvPr/>
        </p:nvCxnSpPr>
        <p:spPr>
          <a:xfrm>
            <a:off x="4288536" y="4023360"/>
            <a:ext cx="11887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20" name="Shape 20"/>
          <p:cNvSpPr/>
          <p:nvPr/>
        </p:nvSpPr>
        <p:spPr>
          <a:xfrm>
            <a:off x="4425696" y="2880360"/>
            <a:ext cx="1783080" cy="23317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18872" tIns="118872" rIns="118872" bIns="118872" anchor="t" rtlCol="0">
            <a:no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B03A2E"/>
                </a:solidFill>
                <a:latin typeface="Arial"/>
                <a:cs typeface="Arial"/>
              </a:rPr>
              <a:t>Fix</a:t>
            </a:r>
            <a:endParaRPr lang="en-GB" sz="1150" dirty="0"/>
          </a:p>
          <a:p>
            <a:pPr algn="l">
              <a:buNone/>
            </a:pPr>
            <a:r>
              <a:rPr lang="en-GB" sz="1150" b="0" i="1" dirty="0">
                <a:solidFill>
                  <a:srgbClr val="595959"/>
                </a:solidFill>
                <a:latin typeface="Arial"/>
                <a:cs typeface="Arial"/>
              </a:rPr>
              <a:t>1 min</a:t>
            </a:r>
            <a:endParaRPr lang="en-GB" sz="1150" dirty="0"/>
          </a:p>
          <a:p>
            <a:pPr algn="l">
              <a:spcBef>
                <a:spcPts val="600"/>
              </a:spcBef>
              <a:buNone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Mark every place they hesitated. Redraw one screen.</a:t>
            </a:r>
            <a:endParaRPr lang="en-GB" sz="1150" dirty="0"/>
          </a:p>
        </p:txBody>
      </p:sp>
      <p:sp>
        <p:nvSpPr>
          <p:cNvPr id="21" name="Shape 21"/>
          <p:cNvSpPr/>
          <p:nvPr/>
        </p:nvSpPr>
        <p:spPr>
          <a:xfrm>
            <a:off x="5797296" y="2724912"/>
            <a:ext cx="365760" cy="365760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200" dirty="0"/>
          </a:p>
        </p:txBody>
      </p:sp>
      <p:cxnSp>
        <p:nvCxnSpPr>
          <p:cNvPr id="22" name="Connector 22"/>
          <p:cNvCxnSpPr/>
          <p:nvPr/>
        </p:nvCxnSpPr>
        <p:spPr>
          <a:xfrm>
            <a:off x="6227064" y="4023360"/>
            <a:ext cx="11887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</p:cxnSp>
      <p:sp>
        <p:nvSpPr>
          <p:cNvPr id="23" name="Shape 23"/>
          <p:cNvSpPr/>
          <p:nvPr/>
        </p:nvSpPr>
        <p:spPr>
          <a:xfrm>
            <a:off x="6364224" y="2880360"/>
            <a:ext cx="1783080" cy="233172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18872" tIns="118872" rIns="118872" bIns="118872" anchor="t" rtlCol="0">
            <a:noAutofit/>
          </a:bodyPr>
          <a:lstStyle/>
          <a:p>
            <a:pPr algn="l">
              <a:buNone/>
            </a:pPr>
            <a:r>
              <a:rPr lang="en-GB" sz="1400" b="1" i="0" dirty="0">
                <a:solidFill>
                  <a:srgbClr val="B03A2E"/>
                </a:solidFill>
                <a:latin typeface="Arial"/>
                <a:cs typeface="Arial"/>
              </a:rPr>
              <a:t>Share</a:t>
            </a:r>
            <a:endParaRPr lang="en-GB" sz="1150" dirty="0"/>
          </a:p>
          <a:p>
            <a:pPr algn="l">
              <a:buNone/>
            </a:pPr>
            <a:r>
              <a:rPr lang="en-GB" sz="1150" b="0" i="1" dirty="0">
                <a:solidFill>
                  <a:srgbClr val="595959"/>
                </a:solidFill>
                <a:latin typeface="Arial"/>
                <a:cs typeface="Arial"/>
              </a:rPr>
              <a:t>1 min</a:t>
            </a:r>
            <a:endParaRPr lang="en-GB" sz="1150" dirty="0"/>
          </a:p>
          <a:p>
            <a:pPr algn="l">
              <a:spcBef>
                <a:spcPts val="600"/>
              </a:spcBef>
              <a:buNone/>
            </a:pPr>
            <a:r>
              <a:rPr lang="en-GB" sz="1150" b="0" i="0" dirty="0">
                <a:solidFill>
                  <a:srgbClr val="1A1A1A"/>
                </a:solidFill>
                <a:latin typeface="Arial"/>
                <a:cs typeface="Arial"/>
              </a:rPr>
              <a:t>Which start won, and why?</a:t>
            </a:r>
            <a:endParaRPr lang="en-GB" sz="1150" dirty="0"/>
          </a:p>
        </p:txBody>
      </p:sp>
      <p:sp>
        <p:nvSpPr>
          <p:cNvPr id="24" name="Shape 24"/>
          <p:cNvSpPr/>
          <p:nvPr/>
        </p:nvSpPr>
        <p:spPr>
          <a:xfrm>
            <a:off x="7735824" y="2724912"/>
            <a:ext cx="365760" cy="365760"/>
          </a:xfrm>
          <a:prstGeom prst="ellipse">
            <a:avLst/>
          </a:prstGeom>
          <a:solidFill>
            <a:srgbClr val="B03A2E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2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200" dirty="0"/>
          </a:p>
        </p:txBody>
      </p:sp>
      <p:sp>
        <p:nvSpPr>
          <p:cNvPr id="25" name="Shape 25"/>
          <p:cNvSpPr/>
          <p:nvPr/>
        </p:nvSpPr>
        <p:spPr>
          <a:xfrm>
            <a:off x="548640" y="5376672"/>
            <a:ext cx="7589520" cy="777240"/>
          </a:xfrm>
          <a:prstGeom prst="roundRect">
            <a:avLst>
              <a:gd name="adj" fmla="val 8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137160" tIns="137160" rIns="137160" bIns="137160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2D2D8A"/>
                </a:solidFill>
                <a:latin typeface="Arial"/>
                <a:cs typeface="Arial"/>
              </a:rPr>
              <a:t xml:space="preserve">Why two starts? </a:t>
            </a:r>
            <a:r>
              <a:rPr lang="en-GB" sz="1200" b="0" i="0" dirty="0">
                <a:solidFill>
                  <a:srgbClr val="1A1A1A"/>
                </a:solidFill>
                <a:latin typeface="Arial"/>
                <a:cs typeface="Arial"/>
              </a:rPr>
              <a:t>Iterating from one weak start only climbs the hill you are on — the Malverns. Two different starts give you a chance at the Matterhorn.</a:t>
            </a:r>
            <a:endParaRPr lang="en-GB" sz="1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Exit ticket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333399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527048" y="1810512"/>
            <a:ext cx="6611112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3 min · write a, b or c for each on a slip and hand it in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0428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4" name="Shape 14"/>
          <p:cNvSpPr txBox="1"/>
          <p:nvPr/>
        </p:nvSpPr>
        <p:spPr>
          <a:xfrm>
            <a:off x="960120" y="226771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Five layout tools: grouping, order, decoration, alignment and …</a:t>
            </a:r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960120" y="263347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colour</a:t>
            </a:r>
            <a:endParaRPr lang="en-GB" sz="1100" dirty="0"/>
          </a:p>
        </p:txBody>
      </p:sp>
      <p:sp>
        <p:nvSpPr>
          <p:cNvPr id="16" name="Shape 16"/>
          <p:cNvSpPr/>
          <p:nvPr/>
        </p:nvSpPr>
        <p:spPr>
          <a:xfrm>
            <a:off x="3401568" y="263347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white space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5843016" y="263347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animation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548640" y="312724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9" name="Shape 19"/>
          <p:cNvSpPr txBox="1"/>
          <p:nvPr/>
        </p:nvSpPr>
        <p:spPr>
          <a:xfrm>
            <a:off x="960120" y="309067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A column of rupee amounts should be …</a:t>
            </a:r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960120" y="345643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centred</a:t>
            </a:r>
            <a:endParaRPr lang="en-GB" sz="1100" dirty="0"/>
          </a:p>
        </p:txBody>
      </p:sp>
      <p:sp>
        <p:nvSpPr>
          <p:cNvPr id="21" name="Shape 21"/>
          <p:cNvSpPr/>
          <p:nvPr/>
        </p:nvSpPr>
        <p:spPr>
          <a:xfrm>
            <a:off x="3401568" y="345643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left-aligned</a:t>
            </a:r>
            <a:endParaRPr lang="en-GB" sz="1100" dirty="0"/>
          </a:p>
        </p:txBody>
      </p:sp>
      <p:sp>
        <p:nvSpPr>
          <p:cNvPr id="22" name="Shape 22"/>
          <p:cNvSpPr/>
          <p:nvPr/>
        </p:nvSpPr>
        <p:spPr>
          <a:xfrm>
            <a:off x="5843016" y="345643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right / decimal-aligned</a:t>
            </a:r>
            <a:endParaRPr lang="en-GB" sz="1100" dirty="0"/>
          </a:p>
        </p:txBody>
      </p:sp>
      <p:sp>
        <p:nvSpPr>
          <p:cNvPr id="23" name="Shape 23"/>
          <p:cNvSpPr/>
          <p:nvPr/>
        </p:nvSpPr>
        <p:spPr>
          <a:xfrm>
            <a:off x="548640" y="395020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4" name="Shape 24"/>
          <p:cNvSpPr txBox="1"/>
          <p:nvPr/>
        </p:nvSpPr>
        <p:spPr>
          <a:xfrm>
            <a:off x="960120" y="391363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“Click Submit after attaching your files” suffers from …</a:t>
            </a:r>
            <a:endParaRPr lang="en-GB" sz="1200" dirty="0"/>
          </a:p>
        </p:txBody>
      </p:sp>
      <p:sp>
        <p:nvSpPr>
          <p:cNvPr id="25" name="Shape 25"/>
          <p:cNvSpPr/>
          <p:nvPr/>
        </p:nvSpPr>
        <p:spPr>
          <a:xfrm>
            <a:off x="960120" y="427939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the cake-recipe syndrome</a:t>
            </a:r>
            <a:endParaRPr lang="en-GB" sz="1100" dirty="0"/>
          </a:p>
        </p:txBody>
      </p:sp>
      <p:sp>
        <p:nvSpPr>
          <p:cNvPr id="26" name="Shape 26"/>
          <p:cNvSpPr/>
          <p:nvPr/>
        </p:nvSpPr>
        <p:spPr>
          <a:xfrm>
            <a:off x="3401568" y="427939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the big button trap</a:t>
            </a:r>
            <a:endParaRPr lang="en-GB" sz="1100" dirty="0"/>
          </a:p>
        </p:txBody>
      </p:sp>
      <p:sp>
        <p:nvSpPr>
          <p:cNvPr id="27" name="Shape 27"/>
          <p:cNvSpPr/>
          <p:nvPr/>
        </p:nvSpPr>
        <p:spPr>
          <a:xfrm>
            <a:off x="5843016" y="427939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 mode error</a:t>
            </a:r>
            <a:endParaRPr lang="en-GB" sz="1100" dirty="0"/>
          </a:p>
        </p:txBody>
      </p:sp>
      <p:sp>
        <p:nvSpPr>
          <p:cNvPr id="28" name="Shape 28"/>
          <p:cNvSpPr/>
          <p:nvPr/>
        </p:nvSpPr>
        <p:spPr>
          <a:xfrm>
            <a:off x="548640" y="477316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9" name="Shape 29"/>
          <p:cNvSpPr txBox="1"/>
          <p:nvPr/>
        </p:nvSpPr>
        <p:spPr>
          <a:xfrm>
            <a:off x="960120" y="473659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An affordance is …</a:t>
            </a:r>
            <a:endParaRPr lang="en-GB" sz="1200" dirty="0"/>
          </a:p>
        </p:txBody>
      </p:sp>
      <p:sp>
        <p:nvSpPr>
          <p:cNvPr id="30" name="Shape 30"/>
          <p:cNvSpPr/>
          <p:nvPr/>
        </p:nvSpPr>
        <p:spPr>
          <a:xfrm>
            <a:off x="960120" y="510235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 cue to how it is used</a:t>
            </a:r>
            <a:endParaRPr lang="en-GB" sz="1100" dirty="0"/>
          </a:p>
        </p:txBody>
      </p:sp>
      <p:sp>
        <p:nvSpPr>
          <p:cNvPr id="31" name="Shape 31"/>
          <p:cNvSpPr/>
          <p:nvPr/>
        </p:nvSpPr>
        <p:spPr>
          <a:xfrm>
            <a:off x="3401568" y="510235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the price of a feature</a:t>
            </a:r>
            <a:endParaRPr lang="en-GB" sz="1100" dirty="0"/>
          </a:p>
        </p:txBody>
      </p:sp>
      <p:sp>
        <p:nvSpPr>
          <p:cNvPr id="32" name="Shape 32"/>
          <p:cNvSpPr/>
          <p:nvPr/>
        </p:nvSpPr>
        <p:spPr>
          <a:xfrm>
            <a:off x="5843016" y="510235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 help screen</a:t>
            </a:r>
            <a:endParaRPr lang="en-GB" sz="1100" dirty="0"/>
          </a:p>
        </p:txBody>
      </p:sp>
      <p:sp>
        <p:nvSpPr>
          <p:cNvPr id="33" name="Shape 33"/>
          <p:cNvSpPr/>
          <p:nvPr/>
        </p:nvSpPr>
        <p:spPr>
          <a:xfrm>
            <a:off x="548640" y="559612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34" name="Shape 34"/>
          <p:cNvSpPr txBox="1"/>
          <p:nvPr/>
        </p:nvSpPr>
        <p:spPr>
          <a:xfrm>
            <a:off x="960120" y="555955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“Malverns or the Matterhorn?” warns that …</a:t>
            </a:r>
            <a:endParaRPr lang="en-GB" sz="1200" dirty="0"/>
          </a:p>
        </p:txBody>
      </p:sp>
      <p:sp>
        <p:nvSpPr>
          <p:cNvPr id="35" name="Shape 35"/>
          <p:cNvSpPr/>
          <p:nvPr/>
        </p:nvSpPr>
        <p:spPr>
          <a:xfrm>
            <a:off x="960120" y="592531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prototypes are expensive</a:t>
            </a:r>
            <a:endParaRPr lang="en-GB" sz="1100" dirty="0"/>
          </a:p>
        </p:txBody>
      </p:sp>
      <p:sp>
        <p:nvSpPr>
          <p:cNvPr id="36" name="Shape 36"/>
          <p:cNvSpPr/>
          <p:nvPr/>
        </p:nvSpPr>
        <p:spPr>
          <a:xfrm>
            <a:off x="3401568" y="592531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 bad start limits iteration</a:t>
            </a:r>
            <a:endParaRPr lang="en-GB" sz="1100" dirty="0"/>
          </a:p>
        </p:txBody>
      </p:sp>
      <p:sp>
        <p:nvSpPr>
          <p:cNvPr id="37" name="Shape 37"/>
          <p:cNvSpPr/>
          <p:nvPr/>
        </p:nvSpPr>
        <p:spPr>
          <a:xfrm>
            <a:off x="5843016" y="592531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paper is too slow</a:t>
            </a:r>
            <a:endParaRPr lang="en-GB" sz="11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2D2D8A"/>
                </a:solidFill>
                <a:latin typeface="Arial"/>
                <a:cs typeface="Arial"/>
              </a:rPr>
              <a:t>Exit ticket</a:t>
            </a:r>
          </a:p>
        </p:txBody>
      </p:sp>
      <p:sp>
        <p:nvSpPr>
          <p:cNvPr id="11" name="Shape 11"/>
          <p:cNvSpPr/>
          <p:nvPr/>
        </p:nvSpPr>
        <p:spPr>
          <a:xfrm>
            <a:off x="548640" y="1810512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ANSWERS</a:t>
            </a:r>
            <a:endParaRPr lang="en-GB" sz="1100" dirty="0"/>
          </a:p>
        </p:txBody>
      </p:sp>
      <p:sp>
        <p:nvSpPr>
          <p:cNvPr id="12" name="Shape 12"/>
          <p:cNvSpPr txBox="1"/>
          <p:nvPr/>
        </p:nvSpPr>
        <p:spPr>
          <a:xfrm>
            <a:off x="1714500" y="1810512"/>
            <a:ext cx="64236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0" i="1" dirty="0">
                <a:solidFill>
                  <a:srgbClr val="595959"/>
                </a:solidFill>
                <a:latin typeface="Arial"/>
                <a:cs typeface="Arial"/>
              </a:rPr>
              <a:t>check yourself</a:t>
            </a:r>
            <a:endParaRPr lang="en-GB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30428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GB" sz="1100" dirty="0"/>
          </a:p>
        </p:txBody>
      </p:sp>
      <p:sp>
        <p:nvSpPr>
          <p:cNvPr id="14" name="Shape 14"/>
          <p:cNvSpPr txBox="1"/>
          <p:nvPr/>
        </p:nvSpPr>
        <p:spPr>
          <a:xfrm>
            <a:off x="960120" y="226771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Five layout tools: grouping, order, decoration, alignment and …</a:t>
            </a:r>
            <a:endParaRPr lang="en-GB" sz="1200" dirty="0"/>
          </a:p>
        </p:txBody>
      </p:sp>
      <p:sp>
        <p:nvSpPr>
          <p:cNvPr id="15" name="Shape 15"/>
          <p:cNvSpPr/>
          <p:nvPr/>
        </p:nvSpPr>
        <p:spPr>
          <a:xfrm>
            <a:off x="960120" y="263347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colour</a:t>
            </a:r>
            <a:endParaRPr lang="en-GB" sz="1100" dirty="0"/>
          </a:p>
        </p:txBody>
      </p:sp>
      <p:sp>
        <p:nvSpPr>
          <p:cNvPr id="16" name="Shape 16"/>
          <p:cNvSpPr/>
          <p:nvPr/>
        </p:nvSpPr>
        <p:spPr>
          <a:xfrm>
            <a:off x="3401568" y="263347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b)  </a:t>
            </a: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white space</a:t>
            </a:r>
            <a:endParaRPr lang="en-GB" sz="1100" dirty="0"/>
          </a:p>
        </p:txBody>
      </p:sp>
      <p:sp>
        <p:nvSpPr>
          <p:cNvPr id="17" name="Shape 17"/>
          <p:cNvSpPr/>
          <p:nvPr/>
        </p:nvSpPr>
        <p:spPr>
          <a:xfrm>
            <a:off x="5843016" y="263347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animation</a:t>
            </a:r>
            <a:endParaRPr lang="en-GB" sz="1100" dirty="0"/>
          </a:p>
        </p:txBody>
      </p:sp>
      <p:sp>
        <p:nvSpPr>
          <p:cNvPr id="18" name="Shape 18"/>
          <p:cNvSpPr/>
          <p:nvPr/>
        </p:nvSpPr>
        <p:spPr>
          <a:xfrm>
            <a:off x="548640" y="312724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GB" sz="1100" dirty="0"/>
          </a:p>
        </p:txBody>
      </p:sp>
      <p:sp>
        <p:nvSpPr>
          <p:cNvPr id="19" name="Shape 19"/>
          <p:cNvSpPr txBox="1"/>
          <p:nvPr/>
        </p:nvSpPr>
        <p:spPr>
          <a:xfrm>
            <a:off x="960120" y="309067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A column of rupee amounts should be …</a:t>
            </a:r>
            <a:endParaRPr lang="en-GB" sz="1200" dirty="0"/>
          </a:p>
        </p:txBody>
      </p:sp>
      <p:sp>
        <p:nvSpPr>
          <p:cNvPr id="20" name="Shape 20"/>
          <p:cNvSpPr/>
          <p:nvPr/>
        </p:nvSpPr>
        <p:spPr>
          <a:xfrm>
            <a:off x="960120" y="345643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centred</a:t>
            </a:r>
            <a:endParaRPr lang="en-GB" sz="1100" dirty="0"/>
          </a:p>
        </p:txBody>
      </p:sp>
      <p:sp>
        <p:nvSpPr>
          <p:cNvPr id="21" name="Shape 21"/>
          <p:cNvSpPr/>
          <p:nvPr/>
        </p:nvSpPr>
        <p:spPr>
          <a:xfrm>
            <a:off x="3401568" y="345643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left-aligned</a:t>
            </a:r>
            <a:endParaRPr lang="en-GB" sz="1100" dirty="0"/>
          </a:p>
        </p:txBody>
      </p:sp>
      <p:sp>
        <p:nvSpPr>
          <p:cNvPr id="22" name="Shape 22"/>
          <p:cNvSpPr/>
          <p:nvPr/>
        </p:nvSpPr>
        <p:spPr>
          <a:xfrm>
            <a:off x="5843016" y="345643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c)  </a:t>
            </a: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right / decimal-aligned</a:t>
            </a:r>
            <a:endParaRPr lang="en-GB" sz="1100" dirty="0"/>
          </a:p>
        </p:txBody>
      </p:sp>
      <p:sp>
        <p:nvSpPr>
          <p:cNvPr id="23" name="Shape 23"/>
          <p:cNvSpPr/>
          <p:nvPr/>
        </p:nvSpPr>
        <p:spPr>
          <a:xfrm>
            <a:off x="548640" y="395020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GB" sz="1100" dirty="0"/>
          </a:p>
        </p:txBody>
      </p:sp>
      <p:sp>
        <p:nvSpPr>
          <p:cNvPr id="24" name="Shape 24"/>
          <p:cNvSpPr txBox="1"/>
          <p:nvPr/>
        </p:nvSpPr>
        <p:spPr>
          <a:xfrm>
            <a:off x="960120" y="391363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“Click Submit after attaching your files” suffers from …</a:t>
            </a:r>
            <a:endParaRPr lang="en-GB" sz="1200" dirty="0"/>
          </a:p>
        </p:txBody>
      </p:sp>
      <p:sp>
        <p:nvSpPr>
          <p:cNvPr id="25" name="Shape 25"/>
          <p:cNvSpPr/>
          <p:nvPr/>
        </p:nvSpPr>
        <p:spPr>
          <a:xfrm>
            <a:off x="960120" y="427939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a)  </a:t>
            </a: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the cake-recipe syndrome</a:t>
            </a:r>
            <a:endParaRPr lang="en-GB" sz="1100" dirty="0"/>
          </a:p>
        </p:txBody>
      </p:sp>
      <p:sp>
        <p:nvSpPr>
          <p:cNvPr id="26" name="Shape 26"/>
          <p:cNvSpPr/>
          <p:nvPr/>
        </p:nvSpPr>
        <p:spPr>
          <a:xfrm>
            <a:off x="3401568" y="427939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the big button trap</a:t>
            </a:r>
            <a:endParaRPr lang="en-GB" sz="1100" dirty="0"/>
          </a:p>
        </p:txBody>
      </p:sp>
      <p:sp>
        <p:nvSpPr>
          <p:cNvPr id="27" name="Shape 27"/>
          <p:cNvSpPr/>
          <p:nvPr/>
        </p:nvSpPr>
        <p:spPr>
          <a:xfrm>
            <a:off x="5843016" y="427939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 mode error</a:t>
            </a:r>
            <a:endParaRPr lang="en-GB" sz="1100" dirty="0"/>
          </a:p>
        </p:txBody>
      </p:sp>
      <p:sp>
        <p:nvSpPr>
          <p:cNvPr id="28" name="Shape 28"/>
          <p:cNvSpPr/>
          <p:nvPr/>
        </p:nvSpPr>
        <p:spPr>
          <a:xfrm>
            <a:off x="548640" y="477316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GB" sz="1100" dirty="0"/>
          </a:p>
        </p:txBody>
      </p:sp>
      <p:sp>
        <p:nvSpPr>
          <p:cNvPr id="29" name="Shape 29"/>
          <p:cNvSpPr txBox="1"/>
          <p:nvPr/>
        </p:nvSpPr>
        <p:spPr>
          <a:xfrm>
            <a:off x="960120" y="473659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An affordance is …</a:t>
            </a:r>
            <a:endParaRPr lang="en-GB" sz="1200" dirty="0"/>
          </a:p>
        </p:txBody>
      </p:sp>
      <p:sp>
        <p:nvSpPr>
          <p:cNvPr id="30" name="Shape 30"/>
          <p:cNvSpPr/>
          <p:nvPr/>
        </p:nvSpPr>
        <p:spPr>
          <a:xfrm>
            <a:off x="960120" y="510235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a)  </a:t>
            </a: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 cue to how it is used</a:t>
            </a:r>
            <a:endParaRPr lang="en-GB" sz="1100" dirty="0"/>
          </a:p>
        </p:txBody>
      </p:sp>
      <p:sp>
        <p:nvSpPr>
          <p:cNvPr id="31" name="Shape 31"/>
          <p:cNvSpPr/>
          <p:nvPr/>
        </p:nvSpPr>
        <p:spPr>
          <a:xfrm>
            <a:off x="3401568" y="510235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b)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the price of a feature</a:t>
            </a:r>
            <a:endParaRPr lang="en-GB" sz="1100" dirty="0"/>
          </a:p>
        </p:txBody>
      </p:sp>
      <p:sp>
        <p:nvSpPr>
          <p:cNvPr id="32" name="Shape 32"/>
          <p:cNvSpPr/>
          <p:nvPr/>
        </p:nvSpPr>
        <p:spPr>
          <a:xfrm>
            <a:off x="5843016" y="510235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a help screen</a:t>
            </a:r>
            <a:endParaRPr lang="en-GB" sz="1100" dirty="0"/>
          </a:p>
        </p:txBody>
      </p:sp>
      <p:sp>
        <p:nvSpPr>
          <p:cNvPr id="33" name="Shape 33"/>
          <p:cNvSpPr/>
          <p:nvPr/>
        </p:nvSpPr>
        <p:spPr>
          <a:xfrm>
            <a:off x="548640" y="5596128"/>
            <a:ext cx="292608" cy="292608"/>
          </a:xfrm>
          <a:prstGeom prst="ellipse">
            <a:avLst/>
          </a:prstGeom>
          <a:solidFill>
            <a:srgbClr val="33339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GB" sz="1100" dirty="0"/>
          </a:p>
        </p:txBody>
      </p:sp>
      <p:sp>
        <p:nvSpPr>
          <p:cNvPr id="34" name="Shape 34"/>
          <p:cNvSpPr txBox="1"/>
          <p:nvPr/>
        </p:nvSpPr>
        <p:spPr>
          <a:xfrm>
            <a:off x="960120" y="5559552"/>
            <a:ext cx="71780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buNone/>
            </a:pPr>
            <a:r>
              <a:rPr lang="en-GB" sz="1200" b="1" i="0" dirty="0">
                <a:solidFill>
                  <a:srgbClr val="1A1A1A"/>
                </a:solidFill>
                <a:latin typeface="Arial"/>
                <a:cs typeface="Arial"/>
              </a:rPr>
              <a:t>“Malverns or the Matterhorn?” warns that …</a:t>
            </a:r>
            <a:endParaRPr lang="en-GB" sz="1200" dirty="0"/>
          </a:p>
        </p:txBody>
      </p:sp>
      <p:sp>
        <p:nvSpPr>
          <p:cNvPr id="35" name="Shape 35"/>
          <p:cNvSpPr/>
          <p:nvPr/>
        </p:nvSpPr>
        <p:spPr>
          <a:xfrm>
            <a:off x="960120" y="592531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a)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prototypes are expensive</a:t>
            </a:r>
            <a:endParaRPr lang="en-GB" sz="1100" dirty="0"/>
          </a:p>
        </p:txBody>
      </p:sp>
      <p:sp>
        <p:nvSpPr>
          <p:cNvPr id="36" name="Shape 36"/>
          <p:cNvSpPr/>
          <p:nvPr/>
        </p:nvSpPr>
        <p:spPr>
          <a:xfrm>
            <a:off x="3401568" y="592531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4E7A12"/>
          </a:solidFill>
          <a:ln>
            <a:noFill/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b)  </a:t>
            </a:r>
            <a:r>
              <a:rPr lang="en-GB" sz="1100" b="1" i="0" dirty="0">
                <a:solidFill>
                  <a:srgbClr val="FFFFFF"/>
                </a:solidFill>
                <a:latin typeface="Arial"/>
                <a:cs typeface="Arial"/>
              </a:rPr>
              <a:t>a bad start limits iteration</a:t>
            </a:r>
            <a:endParaRPr lang="en-GB" sz="1100" dirty="0"/>
          </a:p>
        </p:txBody>
      </p:sp>
      <p:sp>
        <p:nvSpPr>
          <p:cNvPr id="37" name="Shape 37"/>
          <p:cNvSpPr/>
          <p:nvPr/>
        </p:nvSpPr>
        <p:spPr>
          <a:xfrm>
            <a:off x="5843016" y="5925312"/>
            <a:ext cx="2331720" cy="329184"/>
          </a:xfrm>
          <a:prstGeom prst="roundRect">
            <a:avLst>
              <a:gd name="adj" fmla="val 30000"/>
            </a:avLst>
          </a:prstGeom>
          <a:solidFill>
            <a:srgbClr val="F3F8F9"/>
          </a:solidFill>
          <a:ln w="12700">
            <a:solidFill>
              <a:srgbClr val="9DB8BC"/>
            </a:solidFill>
          </a:ln>
        </p:spPr>
        <p:txBody>
          <a:bodyPr wrap="square" lIns="54864" tIns="54864" rIns="54864" bIns="54864" anchor="ctr" rtlCol="0">
            <a:noAutofit/>
          </a:bodyPr>
          <a:lstStyle/>
          <a:p>
            <a:pPr algn="l">
              <a:buNone/>
            </a:pPr>
            <a:r>
              <a:rPr lang="en-GB" sz="1100" b="1" i="0" dirty="0">
                <a:solidFill>
                  <a:srgbClr val="1A1A1A"/>
                </a:solidFill>
                <a:latin typeface="Arial"/>
                <a:cs typeface="Arial"/>
              </a:rPr>
              <a:t xml:space="preserve">c)  </a:t>
            </a:r>
            <a:r>
              <a:rPr lang="en-GB" sz="1100" b="0" i="0" dirty="0">
                <a:solidFill>
                  <a:srgbClr val="1A1A1A"/>
                </a:solidFill>
                <a:latin typeface="Arial"/>
                <a:cs typeface="Arial"/>
              </a:rPr>
              <a:t>paper is too slow</a:t>
            </a:r>
            <a:endParaRPr lang="en-GB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Comic Sans MS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3021</Words>
  <Application>Microsoft Macintosh PowerPoint</Application>
  <PresentationFormat>On-screen Show (4:3)</PresentationFormat>
  <Paragraphs>726</Paragraphs>
  <Slides>92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23" baseType="lpstr">
      <vt:lpstr>Abadi MT Condensed</vt:lpstr>
      <vt:lpstr>Arial</vt:lpstr>
      <vt:lpstr>Arial Black</vt:lpstr>
      <vt:lpstr>Arial Narrow</vt:lpstr>
      <vt:lpstr>Book Antiqua</vt:lpstr>
      <vt:lpstr>Bookman Old Style</vt:lpstr>
      <vt:lpstr>Bookshelf Symbol 1</vt:lpstr>
      <vt:lpstr>Century Gothic</vt:lpstr>
      <vt:lpstr>Century Schoolbook</vt:lpstr>
      <vt:lpstr>Comic Sans MS</vt:lpstr>
      <vt:lpstr>Courier New</vt:lpstr>
      <vt:lpstr>Garamond</vt:lpstr>
      <vt:lpstr>Georgia</vt:lpstr>
      <vt:lpstr>Haettenschweiler</vt:lpstr>
      <vt:lpstr>Impact</vt:lpstr>
      <vt:lpstr>Letter Gothic MT</vt:lpstr>
      <vt:lpstr>Lucida Console</vt:lpstr>
      <vt:lpstr>Lucida Sans Unicode</vt:lpstr>
      <vt:lpstr>Modern</vt:lpstr>
      <vt:lpstr>Monotype Sorts</vt:lpstr>
      <vt:lpstr>Roman</vt:lpstr>
      <vt:lpstr>Script</vt:lpstr>
      <vt:lpstr>Symbol</vt:lpstr>
      <vt:lpstr>Tahoma</vt:lpstr>
      <vt:lpstr>Times</vt:lpstr>
      <vt:lpstr>Times New Roman</vt:lpstr>
      <vt:lpstr>Times New Roman MT Extra Bold</vt:lpstr>
      <vt:lpstr>Trebuchet MS</vt:lpstr>
      <vt:lpstr>Verdana</vt:lpstr>
      <vt:lpstr>Wingdings 2</vt:lpstr>
      <vt:lpstr>Blank</vt:lpstr>
      <vt:lpstr>chapter 5</vt:lpstr>
      <vt:lpstr>interaction design basics</vt:lpstr>
      <vt:lpstr>interactions and interventions</vt:lpstr>
      <vt:lpstr>what is design?</vt:lpstr>
      <vt:lpstr>what is design?</vt:lpstr>
      <vt:lpstr>golden rule of design</vt:lpstr>
      <vt:lpstr>for Human–Computer Interaction</vt:lpstr>
      <vt:lpstr>To err is human</vt:lpstr>
      <vt:lpstr>Central message …</vt:lpstr>
      <vt:lpstr>The process of design</vt:lpstr>
      <vt:lpstr>Steps …</vt:lpstr>
      <vt:lpstr>… but how can I do it all ! !</vt:lpstr>
      <vt:lpstr>PowerPoint Presentation</vt:lpstr>
      <vt:lpstr>user focus</vt:lpstr>
      <vt:lpstr>know your user</vt:lpstr>
      <vt:lpstr>persona</vt:lpstr>
      <vt:lpstr>example persona</vt:lpstr>
      <vt:lpstr>cultural probes</vt:lpstr>
      <vt:lpstr>scenarios</vt:lpstr>
      <vt:lpstr>scenarios</vt:lpstr>
      <vt:lpstr>scenarios …</vt:lpstr>
      <vt:lpstr>scenario – movie player</vt:lpstr>
      <vt:lpstr>also play act …</vt:lpstr>
      <vt:lpstr>… explore the depths</vt:lpstr>
      <vt:lpstr>use scenarios to ..</vt:lpstr>
      <vt:lpstr>linearity</vt:lpstr>
      <vt:lpstr>PowerPoint Presentation</vt:lpstr>
      <vt:lpstr>navigation design</vt:lpstr>
      <vt:lpstr>levels</vt:lpstr>
      <vt:lpstr>the web …</vt:lpstr>
      <vt:lpstr>physical devices</vt:lpstr>
      <vt:lpstr>think about structure</vt:lpstr>
      <vt:lpstr>local</vt:lpstr>
      <vt:lpstr>goal seeking</vt:lpstr>
      <vt:lpstr>goal seeking</vt:lpstr>
      <vt:lpstr>goal seeking</vt:lpstr>
      <vt:lpstr>goal seeking</vt:lpstr>
      <vt:lpstr>four golden rules</vt:lpstr>
      <vt:lpstr>where you are – breadcrumbs</vt:lpstr>
      <vt:lpstr>beware the big button trap</vt:lpstr>
      <vt:lpstr>modes</vt:lpstr>
      <vt:lpstr>global</vt:lpstr>
      <vt:lpstr>hierarchical diagrams </vt:lpstr>
      <vt:lpstr>hierarchical diagrams ctd.</vt:lpstr>
      <vt:lpstr>navigating hierarchies</vt:lpstr>
      <vt:lpstr>think about dialogue</vt:lpstr>
      <vt:lpstr>think about dialogue</vt:lpstr>
      <vt:lpstr>network diagrams</vt:lpstr>
      <vt:lpstr>network diagrams ctd.</vt:lpstr>
      <vt:lpstr>wider still</vt:lpstr>
      <vt:lpstr>wider still …</vt:lpstr>
      <vt:lpstr>PowerPoint Presentation</vt:lpstr>
      <vt:lpstr>screen design and layout</vt:lpstr>
      <vt:lpstr>basic principles</vt:lpstr>
      <vt:lpstr>available tools</vt:lpstr>
      <vt:lpstr>grouping and structure</vt:lpstr>
      <vt:lpstr>order of groups and items</vt:lpstr>
      <vt:lpstr>decoration</vt:lpstr>
      <vt:lpstr>alignment - text</vt:lpstr>
      <vt:lpstr>alignment - names</vt:lpstr>
      <vt:lpstr>alignment - numbers</vt:lpstr>
      <vt:lpstr>alignment - numbers</vt:lpstr>
      <vt:lpstr>multiple  columns</vt:lpstr>
      <vt:lpstr>multiple  columns - 2</vt:lpstr>
      <vt:lpstr>multiple  columns - 3</vt:lpstr>
      <vt:lpstr>multiple  columns - 4</vt:lpstr>
      <vt:lpstr>white space - the counter</vt:lpstr>
      <vt:lpstr>white space - the counter</vt:lpstr>
      <vt:lpstr>space to separate</vt:lpstr>
      <vt:lpstr>space to structure</vt:lpstr>
      <vt:lpstr>space to highlight</vt:lpstr>
      <vt:lpstr>physical controls</vt:lpstr>
      <vt:lpstr>physical controls</vt:lpstr>
      <vt:lpstr>physical controls</vt:lpstr>
      <vt:lpstr>physical controls</vt:lpstr>
      <vt:lpstr>physical controls</vt:lpstr>
      <vt:lpstr>PowerPoint Presentation</vt:lpstr>
      <vt:lpstr>user action and control</vt:lpstr>
      <vt:lpstr>entering information</vt:lpstr>
      <vt:lpstr>knowing what to do</vt:lpstr>
      <vt:lpstr>affordances</vt:lpstr>
      <vt:lpstr>appropriate appearance</vt:lpstr>
      <vt:lpstr>presenting information</vt:lpstr>
      <vt:lpstr>aesthetics and utility</vt:lpstr>
      <vt:lpstr>colour and 3D</vt:lpstr>
      <vt:lpstr>bad use of colour</vt:lpstr>
      <vt:lpstr>across countries and cultures</vt:lpstr>
      <vt:lpstr>PowerPoint Presentation</vt:lpstr>
      <vt:lpstr>prototyping </vt:lpstr>
      <vt:lpstr>iteration and prototyping</vt:lpstr>
      <vt:lpstr>prototyping</vt:lpstr>
      <vt:lpstr>pitfalls of prototyping</vt:lpstr>
    </vt:vector>
  </TitlesOfParts>
  <Company>Lancaster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 Dix</dc:creator>
  <cp:lastModifiedBy>Alan Dix</cp:lastModifiedBy>
  <cp:revision>16</cp:revision>
  <dcterms:created xsi:type="dcterms:W3CDTF">2003-08-07T14:10:51Z</dcterms:created>
  <dcterms:modified xsi:type="dcterms:W3CDTF">2025-03-02T09:48:57Z</dcterms:modified>
</cp:coreProperties>
</file>