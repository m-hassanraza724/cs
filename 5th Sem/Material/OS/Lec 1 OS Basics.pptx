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56"/>
  </p:notesMasterIdLst>
  <p:handoutMasterIdLst>
    <p:handoutMasterId r:id="rId57"/>
  </p:handoutMasterIdLst>
  <p:sldIdLst>
    <p:sldId id="257" r:id="rId2"/>
    <p:sldId id="284" r:id="rId3"/>
    <p:sldId id="258" r:id="rId4"/>
    <p:sldId id="260" r:id="rId5"/>
    <p:sldId id="286" r:id="rId6"/>
    <p:sldId id="334" r:id="rId7"/>
    <p:sldId id="259" r:id="rId8"/>
    <p:sldId id="287" r:id="rId9"/>
    <p:sldId id="261" r:id="rId10"/>
    <p:sldId id="262" r:id="rId11"/>
    <p:sldId id="291" r:id="rId12"/>
    <p:sldId id="303" r:id="rId13"/>
    <p:sldId id="304" r:id="rId14"/>
    <p:sldId id="302" r:id="rId15"/>
    <p:sldId id="289" r:id="rId16"/>
    <p:sldId id="301" r:id="rId17"/>
    <p:sldId id="282" r:id="rId18"/>
    <p:sldId id="292" r:id="rId19"/>
    <p:sldId id="293" r:id="rId20"/>
    <p:sldId id="294" r:id="rId21"/>
    <p:sldId id="295" r:id="rId22"/>
    <p:sldId id="296" r:id="rId23"/>
    <p:sldId id="298" r:id="rId24"/>
    <p:sldId id="299" r:id="rId25"/>
    <p:sldId id="297" r:id="rId26"/>
    <p:sldId id="300" r:id="rId27"/>
    <p:sldId id="333"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5" r:id="rId48"/>
    <p:sldId id="326" r:id="rId49"/>
    <p:sldId id="327" r:id="rId50"/>
    <p:sldId id="328" r:id="rId51"/>
    <p:sldId id="329" r:id="rId52"/>
    <p:sldId id="331" r:id="rId53"/>
    <p:sldId id="332" r:id="rId54"/>
    <p:sldId id="283"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56" autoAdjust="0"/>
    <p:restoredTop sz="94322" autoAdjust="0"/>
  </p:normalViewPr>
  <p:slideViewPr>
    <p:cSldViewPr snapToGrid="0">
      <p:cViewPr>
        <p:scale>
          <a:sx n="100" d="100"/>
          <a:sy n="100" d="100"/>
        </p:scale>
        <p:origin x="437" y="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0F33F72-4345-43EB-9D50-22A28716DB6A}" type="datetimeFigureOut">
              <a:rPr lang="en-US" smtClean="0"/>
              <a:pPr/>
              <a:t>10/9/2026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BBA8CB-EB9C-4201-8058-05B51BDDF0EB}" type="slidenum">
              <a:rPr lang="en-US" smtClean="0"/>
              <a:pPr/>
              <a:t>‹#›</a:t>
            </a:fld>
            <a:endParaRPr lang="en-US"/>
          </a:p>
        </p:txBody>
      </p:sp>
    </p:spTree>
    <p:extLst>
      <p:ext uri="{BB962C8B-B14F-4D97-AF65-F5344CB8AC3E}">
        <p14:creationId xmlns:p14="http://schemas.microsoft.com/office/powerpoint/2010/main" val="908272609"/>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33334B-387A-4760-B2D7-7C6A34A0B6CC}" type="datetimeFigureOut">
              <a:rPr lang="en-US" smtClean="0"/>
              <a:pPr/>
              <a:t>10/9/2026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026A4D-5053-4FDB-93C4-872D09897126}" type="slidenum">
              <a:rPr lang="en-US" smtClean="0"/>
              <a:pPr/>
              <a:t>‹#›</a:t>
            </a:fld>
            <a:endParaRPr lang="en-US"/>
          </a:p>
        </p:txBody>
      </p:sp>
    </p:spTree>
    <p:extLst>
      <p:ext uri="{BB962C8B-B14F-4D97-AF65-F5344CB8AC3E}">
        <p14:creationId xmlns:p14="http://schemas.microsoft.com/office/powerpoint/2010/main" val="207913849"/>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4E87C911-49CC-4179-B597-38065368FB09}"/>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E04FB5D-BEC5-4124-A1E0-92CEEB0C572F}" type="slidenum">
              <a:rPr lang="en-US" altLang="en-US">
                <a:latin typeface="Arial" panose="020B0604020202020204" pitchFamily="34" charset="0"/>
              </a:rPr>
              <a:pPr/>
              <a:t>5</a:t>
            </a:fld>
            <a:endParaRPr lang="en-US" altLang="en-US">
              <a:latin typeface="Arial" panose="020B0604020202020204" pitchFamily="34" charset="0"/>
            </a:endParaRPr>
          </a:p>
        </p:txBody>
      </p:sp>
      <p:sp>
        <p:nvSpPr>
          <p:cNvPr id="7171" name="Rectangle 2">
            <a:extLst>
              <a:ext uri="{FF2B5EF4-FFF2-40B4-BE49-F238E27FC236}">
                <a16:creationId xmlns:a16="http://schemas.microsoft.com/office/drawing/2014/main" id="{96EDE9F6-BDA7-4E0A-82A5-F7B60A14141D}"/>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25284872-FCF6-4941-9774-00F3948FCE9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4E87C911-49CC-4179-B597-38065368FB09}"/>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E04FB5D-BEC5-4124-A1E0-92CEEB0C572F}" type="slidenum">
              <a:rPr lang="en-US" altLang="en-US">
                <a:latin typeface="Arial" panose="020B0604020202020204" pitchFamily="34" charset="0"/>
              </a:rPr>
              <a:pPr/>
              <a:t>6</a:t>
            </a:fld>
            <a:endParaRPr lang="en-US" altLang="en-US">
              <a:latin typeface="Arial" panose="020B0604020202020204" pitchFamily="34" charset="0"/>
            </a:endParaRPr>
          </a:p>
        </p:txBody>
      </p:sp>
      <p:sp>
        <p:nvSpPr>
          <p:cNvPr id="7171" name="Rectangle 2">
            <a:extLst>
              <a:ext uri="{FF2B5EF4-FFF2-40B4-BE49-F238E27FC236}">
                <a16:creationId xmlns:a16="http://schemas.microsoft.com/office/drawing/2014/main" id="{96EDE9F6-BDA7-4E0A-82A5-F7B60A14141D}"/>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25284872-FCF6-4941-9774-00F3948FCE93}"/>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957682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1C3F7676-E5C5-4A2C-9096-FF04C78293D6}"/>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BD6A6F8-AF5F-49E6-BCAB-C584F48C7826}" type="slidenum">
              <a:rPr lang="en-US" altLang="en-US">
                <a:latin typeface="Arial" panose="020B0604020202020204" pitchFamily="34" charset="0"/>
              </a:rPr>
              <a:pPr/>
              <a:t>7</a:t>
            </a:fld>
            <a:endParaRPr lang="en-US" altLang="en-US">
              <a:latin typeface="Arial" panose="020B0604020202020204" pitchFamily="34" charset="0"/>
            </a:endParaRPr>
          </a:p>
        </p:txBody>
      </p:sp>
      <p:sp>
        <p:nvSpPr>
          <p:cNvPr id="9219" name="Rectangle 2">
            <a:extLst>
              <a:ext uri="{FF2B5EF4-FFF2-40B4-BE49-F238E27FC236}">
                <a16:creationId xmlns:a16="http://schemas.microsoft.com/office/drawing/2014/main" id="{236E2FE5-1A0D-429B-A38D-F73B84CEE6AC}"/>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1AB9CB3-91CD-4B42-9796-76A7E542D70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5344552-9710-4529-8D57-685DEDA5D8A5}"/>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49B1784-0C6F-4AB4-94E9-B24197D5F5A8}" type="slidenum">
              <a:rPr lang="en-US" altLang="en-US">
                <a:latin typeface="Arial" panose="020B0604020202020204" pitchFamily="34" charset="0"/>
              </a:rPr>
              <a:pPr/>
              <a:t>8</a:t>
            </a:fld>
            <a:endParaRPr lang="en-US" altLang="en-US">
              <a:latin typeface="Arial" panose="020B0604020202020204" pitchFamily="34" charset="0"/>
            </a:endParaRPr>
          </a:p>
        </p:txBody>
      </p:sp>
      <p:sp>
        <p:nvSpPr>
          <p:cNvPr id="11267" name="Rectangle 2">
            <a:extLst>
              <a:ext uri="{FF2B5EF4-FFF2-40B4-BE49-F238E27FC236}">
                <a16:creationId xmlns:a16="http://schemas.microsoft.com/office/drawing/2014/main" id="{7DF3CDBA-57A0-49BD-B922-81EEC50073EE}"/>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5F8187C2-4B4A-47E4-BA91-7B71F6CA00DF}"/>
              </a:ext>
            </a:extLst>
          </p:cNvPr>
          <p:cNvSpPr>
            <a:spLocks noGrp="1" noChangeArrowheads="1"/>
          </p:cNvSpPr>
          <p:nvPr>
            <p:ph type="body" idx="1"/>
          </p:nvPr>
        </p:nvSpPr>
        <p:spPr>
          <a:noFill/>
        </p:spPr>
        <p:txBody>
          <a:bodyPr/>
          <a:lstStyle/>
          <a:p>
            <a:pPr eaLnBrk="1" hangingPunct="1"/>
            <a:r>
              <a:rPr lang="en-US" altLang="en-US" dirty="0"/>
              <a:t>Assembler converts</a:t>
            </a:r>
            <a:r>
              <a:rPr lang="en-US" altLang="en-US" baseline="0" dirty="0"/>
              <a:t> low level machine language to high level human language</a:t>
            </a: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BEA771F9-0DAF-4A65-A51D-A3733DA001F2}"/>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4EA52DF-B4BD-4630-9876-C3CCC1558FF6}" type="slidenum">
              <a:rPr lang="en-US" altLang="en-US">
                <a:latin typeface="Arial" panose="020B0604020202020204" pitchFamily="34" charset="0"/>
              </a:rPr>
              <a:pPr/>
              <a:t>9</a:t>
            </a:fld>
            <a:endParaRPr lang="en-US" altLang="en-US">
              <a:latin typeface="Arial" panose="020B0604020202020204" pitchFamily="34" charset="0"/>
            </a:endParaRPr>
          </a:p>
        </p:txBody>
      </p:sp>
      <p:sp>
        <p:nvSpPr>
          <p:cNvPr id="13315" name="Rectangle 2">
            <a:extLst>
              <a:ext uri="{FF2B5EF4-FFF2-40B4-BE49-F238E27FC236}">
                <a16:creationId xmlns:a16="http://schemas.microsoft.com/office/drawing/2014/main" id="{FC7A1801-B8A9-4DC9-8273-7615ECEE4FAF}"/>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F629BA3E-94C3-43C1-9964-69696A72358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80122167-4A7A-4E54-AA17-3C77BFE667D1}"/>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D472AFD-C378-4763-95E2-BDAED02A2B08}" type="slidenum">
              <a:rPr lang="en-US" altLang="en-US">
                <a:latin typeface="Arial" panose="020B0604020202020204" pitchFamily="34" charset="0"/>
              </a:rPr>
              <a:pPr/>
              <a:t>10</a:t>
            </a:fld>
            <a:endParaRPr lang="en-US" altLang="en-US">
              <a:latin typeface="Arial" panose="020B0604020202020204" pitchFamily="34" charset="0"/>
            </a:endParaRPr>
          </a:p>
        </p:txBody>
      </p:sp>
      <p:sp>
        <p:nvSpPr>
          <p:cNvPr id="15363" name="Rectangle 2">
            <a:extLst>
              <a:ext uri="{FF2B5EF4-FFF2-40B4-BE49-F238E27FC236}">
                <a16:creationId xmlns:a16="http://schemas.microsoft.com/office/drawing/2014/main" id="{19AC8E13-9F07-4B1B-A6B0-ACF1C0E72292}"/>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10C4944D-1FFC-4A15-BBDA-C5CBC37B876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11</a:t>
            </a:fld>
            <a:endParaRPr lang="en-US"/>
          </a:p>
        </p:txBody>
      </p:sp>
    </p:spTree>
    <p:extLst>
      <p:ext uri="{BB962C8B-B14F-4D97-AF65-F5344CB8AC3E}">
        <p14:creationId xmlns:p14="http://schemas.microsoft.com/office/powerpoint/2010/main" val="187735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12</a:t>
            </a:fld>
            <a:endParaRPr lang="en-US"/>
          </a:p>
        </p:txBody>
      </p:sp>
    </p:spTree>
    <p:extLst>
      <p:ext uri="{BB962C8B-B14F-4D97-AF65-F5344CB8AC3E}">
        <p14:creationId xmlns:p14="http://schemas.microsoft.com/office/powerpoint/2010/main" val="884093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13</a:t>
            </a:fld>
            <a:endParaRPr lang="en-US"/>
          </a:p>
        </p:txBody>
      </p:sp>
    </p:spTree>
    <p:extLst>
      <p:ext uri="{BB962C8B-B14F-4D97-AF65-F5344CB8AC3E}">
        <p14:creationId xmlns:p14="http://schemas.microsoft.com/office/powerpoint/2010/main" val="4015173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14</a:t>
            </a:fld>
            <a:endParaRPr lang="en-US"/>
          </a:p>
        </p:txBody>
      </p:sp>
    </p:spTree>
    <p:extLst>
      <p:ext uri="{BB962C8B-B14F-4D97-AF65-F5344CB8AC3E}">
        <p14:creationId xmlns:p14="http://schemas.microsoft.com/office/powerpoint/2010/main" val="675997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C26259CA-886C-4377-9991-AB7A99A82CD5}"/>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C3FD77F-1441-47E1-80FE-9E6D4F1889A7}" type="slidenum">
              <a:rPr lang="en-US" altLang="en-US">
                <a:latin typeface="Arial" panose="020B0604020202020204" pitchFamily="34" charset="0"/>
              </a:rPr>
              <a:pPr/>
              <a:t>17</a:t>
            </a:fld>
            <a:endParaRPr lang="en-US" altLang="en-US">
              <a:latin typeface="Arial" panose="020B0604020202020204" pitchFamily="34" charset="0"/>
            </a:endParaRPr>
          </a:p>
        </p:txBody>
      </p:sp>
      <p:sp>
        <p:nvSpPr>
          <p:cNvPr id="56323" name="Rectangle 2">
            <a:extLst>
              <a:ext uri="{FF2B5EF4-FFF2-40B4-BE49-F238E27FC236}">
                <a16:creationId xmlns:a16="http://schemas.microsoft.com/office/drawing/2014/main" id="{E237FFE7-80D7-4B09-830C-29A00ABDCB45}"/>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8AACC773-A4D2-49B1-AA46-0718A69DC9F5}"/>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9472618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28</a:t>
            </a:fld>
            <a:endParaRPr lang="en-US"/>
          </a:p>
        </p:txBody>
      </p:sp>
    </p:spTree>
    <p:extLst>
      <p:ext uri="{BB962C8B-B14F-4D97-AF65-F5344CB8AC3E}">
        <p14:creationId xmlns:p14="http://schemas.microsoft.com/office/powerpoint/2010/main" val="2863461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29</a:t>
            </a:fld>
            <a:endParaRPr lang="en-US"/>
          </a:p>
        </p:txBody>
      </p:sp>
    </p:spTree>
    <p:extLst>
      <p:ext uri="{BB962C8B-B14F-4D97-AF65-F5344CB8AC3E}">
        <p14:creationId xmlns:p14="http://schemas.microsoft.com/office/powerpoint/2010/main" val="1110904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000000"/>
                </a:solidFill>
                <a:effectLst/>
                <a:latin typeface="Poppins" panose="020B0502040204020203" pitchFamily="2" charset="0"/>
              </a:rPr>
              <a:t>Examples of Batch OS: </a:t>
            </a:r>
            <a:r>
              <a:rPr lang="en-US" b="0" i="0" dirty="0">
                <a:solidFill>
                  <a:srgbClr val="000000"/>
                </a:solidFill>
                <a:effectLst/>
                <a:latin typeface="Poppins" panose="020B0502040204020203" pitchFamily="2" charset="0"/>
              </a:rPr>
              <a:t>payroll system, bank statements, data entry, etc.</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DE026A4D-5053-4FDB-93C4-872D09897126}" type="slidenum">
              <a:rPr lang="en-US" smtClean="0"/>
              <a:pPr/>
              <a:t>30</a:t>
            </a:fld>
            <a:endParaRPr lang="en-US"/>
          </a:p>
        </p:txBody>
      </p:sp>
    </p:spTree>
    <p:extLst>
      <p:ext uri="{BB962C8B-B14F-4D97-AF65-F5344CB8AC3E}">
        <p14:creationId xmlns:p14="http://schemas.microsoft.com/office/powerpoint/2010/main" val="89112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33</a:t>
            </a:fld>
            <a:endParaRPr lang="en-US"/>
          </a:p>
        </p:txBody>
      </p:sp>
    </p:spTree>
    <p:extLst>
      <p:ext uri="{BB962C8B-B14F-4D97-AF65-F5344CB8AC3E}">
        <p14:creationId xmlns:p14="http://schemas.microsoft.com/office/powerpoint/2010/main" val="1935292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35</a:t>
            </a:fld>
            <a:endParaRPr lang="en-US"/>
          </a:p>
        </p:txBody>
      </p:sp>
    </p:spTree>
    <p:extLst>
      <p:ext uri="{BB962C8B-B14F-4D97-AF65-F5344CB8AC3E}">
        <p14:creationId xmlns:p14="http://schemas.microsoft.com/office/powerpoint/2010/main" val="72360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AC83144-00E8-4752-BBBE-C0B06C19CAD5}" type="datetime1">
              <a:rPr lang="en-US" smtClean="0"/>
              <a:pPr/>
              <a:t>10/9/2026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Lahore Garrison University</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37598070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9346B6-79BD-452A-96E0-AA0D20F6D42A}" type="datetime1">
              <a:rPr lang="en-US" smtClean="0"/>
              <a:pPr/>
              <a:t>10/9/2026</a:t>
            </a:fld>
            <a:endParaRPr lang="en-US"/>
          </a:p>
        </p:txBody>
      </p:sp>
      <p:sp>
        <p:nvSpPr>
          <p:cNvPr id="5" name="Footer Placeholder 4"/>
          <p:cNvSpPr>
            <a:spLocks noGrp="1"/>
          </p:cNvSpPr>
          <p:nvPr>
            <p:ph type="ftr" sz="quarter" idx="11"/>
          </p:nvPr>
        </p:nvSpPr>
        <p:spPr/>
        <p:txBody>
          <a:bodyPr/>
          <a:lstStyle/>
          <a:p>
            <a:r>
              <a:rPr lang="en-US"/>
              <a:t>Lahore Garrison University</a:t>
            </a:r>
          </a:p>
        </p:txBody>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8021164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954862E-3CAB-4A63-A087-14C3E964BFC2}" type="datetime1">
              <a:rPr lang="en-US" smtClean="0"/>
              <a:pPr/>
              <a:t>10/9/2026</a:t>
            </a:fld>
            <a:endParaRPr lang="en-US"/>
          </a:p>
        </p:txBody>
      </p:sp>
      <p:sp>
        <p:nvSpPr>
          <p:cNvPr id="5" name="Footer Placeholder 4"/>
          <p:cNvSpPr>
            <a:spLocks noGrp="1"/>
          </p:cNvSpPr>
          <p:nvPr>
            <p:ph type="ftr" sz="quarter" idx="11"/>
          </p:nvPr>
        </p:nvSpPr>
        <p:spPr/>
        <p:txBody>
          <a:bodyPr/>
          <a:lstStyle/>
          <a:p>
            <a:r>
              <a:rPr lang="en-US"/>
              <a:t>Lahore Garrison University</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57724902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3610FC-2FA2-4432-AE21-CAD95D581DDE}" type="datetime1">
              <a:rPr lang="en-US" smtClean="0"/>
              <a:pPr/>
              <a:t>10/9/2026</a:t>
            </a:fld>
            <a:endParaRPr lang="en-US"/>
          </a:p>
        </p:txBody>
      </p:sp>
      <p:sp>
        <p:nvSpPr>
          <p:cNvPr id="6" name="Footer Placeholder 5"/>
          <p:cNvSpPr>
            <a:spLocks noGrp="1"/>
          </p:cNvSpPr>
          <p:nvPr>
            <p:ph type="ftr" sz="quarter" idx="11"/>
          </p:nvPr>
        </p:nvSpPr>
        <p:spPr/>
        <p:txBody>
          <a:bodyPr/>
          <a:lstStyle/>
          <a:p>
            <a:r>
              <a:rPr lang="en-US"/>
              <a:t>Lahore Garrison University</a:t>
            </a:r>
          </a:p>
        </p:txBody>
      </p:sp>
      <p:sp>
        <p:nvSpPr>
          <p:cNvPr id="7" name="Slide Number Placeholder 6"/>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2260112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24B866-D5F1-42DC-A89A-F2EEAE7999BF}" type="datetime1">
              <a:rPr lang="en-US" smtClean="0"/>
              <a:pPr/>
              <a:t>10/9/2026</a:t>
            </a:fld>
            <a:endParaRPr lang="en-US"/>
          </a:p>
        </p:txBody>
      </p:sp>
      <p:sp>
        <p:nvSpPr>
          <p:cNvPr id="8" name="Footer Placeholder 7"/>
          <p:cNvSpPr>
            <a:spLocks noGrp="1"/>
          </p:cNvSpPr>
          <p:nvPr>
            <p:ph type="ftr" sz="quarter" idx="11"/>
          </p:nvPr>
        </p:nvSpPr>
        <p:spPr/>
        <p:txBody>
          <a:bodyPr/>
          <a:lstStyle/>
          <a:p>
            <a:r>
              <a:rPr lang="en-US"/>
              <a:t>Lahore Garrison University</a:t>
            </a:r>
          </a:p>
        </p:txBody>
      </p:sp>
      <p:sp>
        <p:nvSpPr>
          <p:cNvPr id="9" name="Slide Number Placeholder 8"/>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373528912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6315F8-6404-4637-944B-EECB2B4AEDC5}" type="datetime1">
              <a:rPr lang="en-US" smtClean="0"/>
              <a:pPr/>
              <a:t>10/9/2026</a:t>
            </a:fld>
            <a:endParaRPr lang="en-US"/>
          </a:p>
        </p:txBody>
      </p:sp>
      <p:sp>
        <p:nvSpPr>
          <p:cNvPr id="4" name="Footer Placeholder 3"/>
          <p:cNvSpPr>
            <a:spLocks noGrp="1"/>
          </p:cNvSpPr>
          <p:nvPr>
            <p:ph type="ftr" sz="quarter" idx="11"/>
          </p:nvPr>
        </p:nvSpPr>
        <p:spPr/>
        <p:txBody>
          <a:bodyPr/>
          <a:lstStyle/>
          <a:p>
            <a:r>
              <a:rPr lang="en-US"/>
              <a:t>Lahore Garrison University</a:t>
            </a:r>
          </a:p>
        </p:txBody>
      </p:sp>
      <p:sp>
        <p:nvSpPr>
          <p:cNvPr id="5" name="Slide Number Placeholder 4"/>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409130193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9B236D-160B-47A1-A56A-892C175B68E2}" type="datetime1">
              <a:rPr lang="en-US" smtClean="0"/>
              <a:pPr/>
              <a:t>10/9/2026</a:t>
            </a:fld>
            <a:endParaRPr lang="en-US"/>
          </a:p>
        </p:txBody>
      </p:sp>
      <p:sp>
        <p:nvSpPr>
          <p:cNvPr id="3" name="Footer Placeholder 2"/>
          <p:cNvSpPr>
            <a:spLocks noGrp="1"/>
          </p:cNvSpPr>
          <p:nvPr>
            <p:ph type="ftr" sz="quarter" idx="11"/>
          </p:nvPr>
        </p:nvSpPr>
        <p:spPr/>
        <p:txBody>
          <a:bodyPr/>
          <a:lstStyle/>
          <a:p>
            <a:r>
              <a:rPr lang="en-US"/>
              <a:t>Lahore Garrison University</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4651608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ADE9719-2080-4674-844C-C64A8A413934}" type="datetime1">
              <a:rPr lang="en-US" smtClean="0"/>
              <a:pPr/>
              <a:t>10/9/2026</a:t>
            </a:fld>
            <a:endParaRPr lang="en-US"/>
          </a:p>
        </p:txBody>
      </p:sp>
      <p:sp>
        <p:nvSpPr>
          <p:cNvPr id="6" name="Footer Placeholder 5"/>
          <p:cNvSpPr>
            <a:spLocks noGrp="1"/>
          </p:cNvSpPr>
          <p:nvPr>
            <p:ph type="ftr" sz="quarter" idx="11"/>
          </p:nvPr>
        </p:nvSpPr>
        <p:spPr/>
        <p:txBody>
          <a:bodyPr/>
          <a:lstStyle/>
          <a:p>
            <a:r>
              <a:rPr lang="en-US"/>
              <a:t>Lahore Garrison University</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2959921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6FF8296-DE0B-4896-86F9-917D57899506}" type="datetime1">
              <a:rPr lang="en-US" smtClean="0"/>
              <a:pPr/>
              <a:t>10/9/2026</a:t>
            </a:fld>
            <a:endParaRPr lang="en-US"/>
          </a:p>
        </p:txBody>
      </p:sp>
      <p:sp>
        <p:nvSpPr>
          <p:cNvPr id="6" name="Footer Placeholder 5"/>
          <p:cNvSpPr>
            <a:spLocks noGrp="1"/>
          </p:cNvSpPr>
          <p:nvPr>
            <p:ph type="ftr" sz="quarter" idx="11"/>
          </p:nvPr>
        </p:nvSpPr>
        <p:spPr/>
        <p:txBody>
          <a:bodyPr/>
          <a:lstStyle/>
          <a:p>
            <a:r>
              <a:rPr lang="en-US"/>
              <a:t>Lahore Garrison University</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49318066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9970D0B-E49C-4B90-A272-A47C637DAED6}" type="datetime1">
              <a:rPr lang="en-US" smtClean="0"/>
              <a:pPr/>
              <a:t>10/9/2026</a:t>
            </a:fld>
            <a:endParaRPr lang="en-US"/>
          </a:p>
        </p:txBody>
      </p:sp>
      <p:sp>
        <p:nvSpPr>
          <p:cNvPr id="6" name="Footer Placeholder 5"/>
          <p:cNvSpPr>
            <a:spLocks noGrp="1"/>
          </p:cNvSpPr>
          <p:nvPr>
            <p:ph type="ftr" sz="quarter" idx="11"/>
          </p:nvPr>
        </p:nvSpPr>
        <p:spPr/>
        <p:txBody>
          <a:bodyPr/>
          <a:lstStyle/>
          <a:p>
            <a:r>
              <a:rPr lang="en-US"/>
              <a:t>Lahore Garrison University</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25438082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9970D0B-E49C-4B90-A272-A47C637DAED6}" type="datetime1">
              <a:rPr lang="en-US" smtClean="0"/>
              <a:pPr/>
              <a:t>10/9/2026</a:t>
            </a:fld>
            <a:endParaRPr lang="en-US"/>
          </a:p>
        </p:txBody>
      </p:sp>
      <p:sp>
        <p:nvSpPr>
          <p:cNvPr id="5" name="Footer Placeholder 4"/>
          <p:cNvSpPr>
            <a:spLocks noGrp="1"/>
          </p:cNvSpPr>
          <p:nvPr>
            <p:ph type="ftr" sz="quarter" idx="11"/>
          </p:nvPr>
        </p:nvSpPr>
        <p:spPr/>
        <p:txBody>
          <a:bodyPr/>
          <a:lstStyle/>
          <a:p>
            <a:r>
              <a:rPr lang="en-US"/>
              <a:t>Lahore Garrison University</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7726293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9970D0B-E49C-4B90-A272-A47C637DAED6}" type="datetime1">
              <a:rPr lang="en-US" smtClean="0"/>
              <a:pPr/>
              <a:t>10/9/2026</a:t>
            </a:fld>
            <a:endParaRPr lang="en-US"/>
          </a:p>
        </p:txBody>
      </p:sp>
      <p:sp>
        <p:nvSpPr>
          <p:cNvPr id="5" name="Footer Placeholder 4"/>
          <p:cNvSpPr>
            <a:spLocks noGrp="1"/>
          </p:cNvSpPr>
          <p:nvPr>
            <p:ph type="ftr" sz="quarter" idx="11"/>
          </p:nvPr>
        </p:nvSpPr>
        <p:spPr/>
        <p:txBody>
          <a:bodyPr/>
          <a:lstStyle/>
          <a:p>
            <a:r>
              <a:rPr lang="en-US"/>
              <a:t>Lahore Garrison University</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36455100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9970D0B-E49C-4B90-A272-A47C637DAED6}" type="datetime1">
              <a:rPr lang="en-US" smtClean="0"/>
              <a:pPr/>
              <a:t>10/9/2026</a:t>
            </a:fld>
            <a:endParaRPr lang="en-US"/>
          </a:p>
        </p:txBody>
      </p:sp>
      <p:sp>
        <p:nvSpPr>
          <p:cNvPr id="5" name="Footer Placeholder 4"/>
          <p:cNvSpPr>
            <a:spLocks noGrp="1"/>
          </p:cNvSpPr>
          <p:nvPr>
            <p:ph type="ftr" sz="quarter" idx="11"/>
          </p:nvPr>
        </p:nvSpPr>
        <p:spPr/>
        <p:txBody>
          <a:bodyPr/>
          <a:lstStyle/>
          <a:p>
            <a:r>
              <a:rPr lang="en-US"/>
              <a:t>Lahore Garrison University</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5131823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9970D0B-E49C-4B90-A272-A47C637DAED6}" type="datetime1">
              <a:rPr lang="en-US" smtClean="0"/>
              <a:pPr/>
              <a:t>10/9/2026</a:t>
            </a:fld>
            <a:endParaRPr lang="en-US"/>
          </a:p>
        </p:txBody>
      </p:sp>
      <p:sp>
        <p:nvSpPr>
          <p:cNvPr id="8" name="Footer Placeholder 7"/>
          <p:cNvSpPr>
            <a:spLocks noGrp="1"/>
          </p:cNvSpPr>
          <p:nvPr>
            <p:ph type="ftr" sz="quarter" idx="11"/>
          </p:nvPr>
        </p:nvSpPr>
        <p:spPr/>
        <p:txBody>
          <a:bodyPr/>
          <a:lstStyle/>
          <a:p>
            <a:r>
              <a:rPr lang="en-US"/>
              <a:t>Lahore Garrison University</a:t>
            </a:r>
          </a:p>
        </p:txBody>
      </p:sp>
      <p:sp>
        <p:nvSpPr>
          <p:cNvPr id="9" name="Slide Number Placeholder 8"/>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1951338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9970D0B-E49C-4B90-A272-A47C637DAED6}" type="datetime1">
              <a:rPr lang="en-US" smtClean="0"/>
              <a:pPr/>
              <a:t>10/9/2026</a:t>
            </a:fld>
            <a:endParaRPr lang="en-US"/>
          </a:p>
        </p:txBody>
      </p:sp>
      <p:sp>
        <p:nvSpPr>
          <p:cNvPr id="8" name="Footer Placeholder 7"/>
          <p:cNvSpPr>
            <a:spLocks noGrp="1"/>
          </p:cNvSpPr>
          <p:nvPr>
            <p:ph type="ftr" sz="quarter" idx="11"/>
          </p:nvPr>
        </p:nvSpPr>
        <p:spPr>
          <a:xfrm>
            <a:off x="561111" y="6391838"/>
            <a:ext cx="3644282" cy="304801"/>
          </a:xfrm>
        </p:spPr>
        <p:txBody>
          <a:bodyPr/>
          <a:lstStyle/>
          <a:p>
            <a:r>
              <a:rPr lang="en-US"/>
              <a:t>Lahore Garrison University</a:t>
            </a:r>
          </a:p>
        </p:txBody>
      </p:sp>
      <p:sp>
        <p:nvSpPr>
          <p:cNvPr id="9" name="Slide Number Placeholder 8"/>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300892859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97826A8-14F0-49E1-BD6E-B5F394B01B88}" type="datetime1">
              <a:rPr lang="en-US" smtClean="0"/>
              <a:pPr/>
              <a:t>10/9/2026</a:t>
            </a:fld>
            <a:endParaRPr lang="en-US"/>
          </a:p>
        </p:txBody>
      </p:sp>
      <p:sp>
        <p:nvSpPr>
          <p:cNvPr id="5" name="Footer Placeholder 4"/>
          <p:cNvSpPr>
            <a:spLocks noGrp="1"/>
          </p:cNvSpPr>
          <p:nvPr>
            <p:ph type="ftr" sz="quarter" idx="11"/>
          </p:nvPr>
        </p:nvSpPr>
        <p:spPr/>
        <p:txBody>
          <a:bodyPr/>
          <a:lstStyle/>
          <a:p>
            <a:r>
              <a:rPr lang="en-US"/>
              <a:t>Lahore Garrison University</a:t>
            </a:r>
          </a:p>
        </p:txBody>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28612611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D28BD5E0-7BF2-4A4C-835B-6E2996BECCF7}" type="datetime1">
              <a:rPr lang="en-US" smtClean="0"/>
              <a:pPr/>
              <a:t>10/9/2026</a:t>
            </a:fld>
            <a:endParaRPr lang="en-US"/>
          </a:p>
        </p:txBody>
      </p:sp>
      <p:sp>
        <p:nvSpPr>
          <p:cNvPr id="5" name="Footer Placeholder 4"/>
          <p:cNvSpPr>
            <a:spLocks noGrp="1"/>
          </p:cNvSpPr>
          <p:nvPr>
            <p:ph type="ftr" sz="quarter" idx="11"/>
          </p:nvPr>
        </p:nvSpPr>
        <p:spPr/>
        <p:txBody>
          <a:bodyPr/>
          <a:lstStyle/>
          <a:p>
            <a:r>
              <a:rPr lang="en-US"/>
              <a:t>Lahore Garrison University</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25811092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lang="en-US"/>
              <a:t>Click to edit Master title style</a:t>
            </a:r>
            <a:endParaRPr lang="en-US" dirty="0"/>
          </a:p>
        </p:txBody>
      </p:sp>
      <p:sp>
        <p:nvSpPr>
          <p:cNvPr id="5" name="Date Placeholder 4"/>
          <p:cNvSpPr>
            <a:spLocks noGrp="1"/>
          </p:cNvSpPr>
          <p:nvPr>
            <p:ph type="dt" sz="half" idx="10"/>
          </p:nvPr>
        </p:nvSpPr>
        <p:spPr/>
        <p:txBody>
          <a:bodyPr/>
          <a:lstStyle/>
          <a:p>
            <a:r>
              <a:rPr lang="en-US"/>
              <a:t>‹#›</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9" name="Content Placeholder 8"/>
          <p:cNvSpPr>
            <a:spLocks noGrp="1"/>
          </p:cNvSpPr>
          <p:nvPr>
            <p:ph sz="quarter" idx="1"/>
          </p:nvPr>
        </p:nvSpPr>
        <p:spPr>
          <a:xfrm>
            <a:off x="812800" y="1752600"/>
            <a:ext cx="10871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lang="en-US"/>
              <a:t>Click to edit Master title style</a:t>
            </a:r>
            <a:endParaRPr lang="en-US" dirty="0"/>
          </a:p>
        </p:txBody>
      </p:sp>
      <p:sp>
        <p:nvSpPr>
          <p:cNvPr id="5" name="Date Placeholder 4"/>
          <p:cNvSpPr>
            <a:spLocks noGrp="1"/>
          </p:cNvSpPr>
          <p:nvPr>
            <p:ph type="dt" sz="half" idx="10"/>
          </p:nvPr>
        </p:nvSpPr>
        <p:spPr/>
        <p:txBody>
          <a:bodyPr/>
          <a:lstStyle/>
          <a:p>
            <a:r>
              <a:rPr lang="en-US"/>
              <a:t>‹#›</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9" name="Content Placeholder 8"/>
          <p:cNvSpPr>
            <a:spLocks noGrp="1"/>
          </p:cNvSpPr>
          <p:nvPr>
            <p:ph sz="quarter" idx="1"/>
          </p:nvPr>
        </p:nvSpPr>
        <p:spPr>
          <a:xfrm>
            <a:off x="812800" y="1752600"/>
            <a:ext cx="10871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DFFCD-E2D3-4500-90D2-05A0F7475214}"/>
              </a:ext>
            </a:extLst>
          </p:cNvPr>
          <p:cNvSpPr>
            <a:spLocks noGrp="1"/>
          </p:cNvSpPr>
          <p:nvPr>
            <p:ph type="title"/>
          </p:nvPr>
        </p:nvSpPr>
        <p:spPr>
          <a:xfrm>
            <a:off x="609600" y="381000"/>
            <a:ext cx="10972800" cy="13716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29D43616-F118-4722-B4C2-FD06E9E598C1}"/>
              </a:ext>
            </a:extLst>
          </p:cNvPr>
          <p:cNvSpPr>
            <a:spLocks noGrp="1"/>
          </p:cNvSpPr>
          <p:nvPr>
            <p:ph type="body" sz="half" idx="1"/>
          </p:nvPr>
        </p:nvSpPr>
        <p:spPr>
          <a:xfrm>
            <a:off x="609600" y="1981200"/>
            <a:ext cx="5384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B3E067-8888-4EAF-A404-38487C01B92A}"/>
              </a:ext>
            </a:extLst>
          </p:cNvPr>
          <p:cNvSpPr>
            <a:spLocks noGrp="1"/>
          </p:cNvSpPr>
          <p:nvPr>
            <p:ph sz="quarter" idx="2"/>
          </p:nvPr>
        </p:nvSpPr>
        <p:spPr>
          <a:xfrm>
            <a:off x="6197600" y="1981200"/>
            <a:ext cx="53848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256FE48-0C7F-4E60-B55B-7D599DD28708}"/>
              </a:ext>
            </a:extLst>
          </p:cNvPr>
          <p:cNvSpPr>
            <a:spLocks noGrp="1"/>
          </p:cNvSpPr>
          <p:nvPr>
            <p:ph sz="quarter" idx="3"/>
          </p:nvPr>
        </p:nvSpPr>
        <p:spPr>
          <a:xfrm>
            <a:off x="6197600" y="4114800"/>
            <a:ext cx="53848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2E569247-0C96-49AF-BE62-15771AE82E04}"/>
              </a:ext>
            </a:extLst>
          </p:cNvPr>
          <p:cNvSpPr>
            <a:spLocks noGrp="1" noChangeArrowheads="1"/>
          </p:cNvSpPr>
          <p:nvPr>
            <p:ph type="dt" sz="half" idx="10"/>
          </p:nvPr>
        </p:nvSpPr>
        <p:spPr>
          <a:ln/>
        </p:spPr>
        <p:txBody>
          <a:bodyPr/>
          <a:lstStyle>
            <a:lvl1pPr>
              <a:defRPr/>
            </a:lvl1pPr>
          </a:lstStyle>
          <a:p>
            <a:pPr>
              <a:defRPr/>
            </a:pPr>
            <a:fld id="{9C07C294-E4B4-44E2-A723-BC287EED363B}" type="datetime3">
              <a:rPr lang="en-US" altLang="en-US" smtClean="0"/>
              <a:t>9 October 2026</a:t>
            </a:fld>
            <a:endParaRPr lang="en-US" altLang="en-US"/>
          </a:p>
        </p:txBody>
      </p:sp>
      <p:sp>
        <p:nvSpPr>
          <p:cNvPr id="7" name="Rectangle 5">
            <a:extLst>
              <a:ext uri="{FF2B5EF4-FFF2-40B4-BE49-F238E27FC236}">
                <a16:creationId xmlns:a16="http://schemas.microsoft.com/office/drawing/2014/main" id="{ED0BB849-DDF0-4A17-AB30-A75C457A8E1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0F684CAD-2E51-4CF6-B705-173209E05900}"/>
              </a:ext>
            </a:extLst>
          </p:cNvPr>
          <p:cNvSpPr>
            <a:spLocks noGrp="1" noChangeArrowheads="1"/>
          </p:cNvSpPr>
          <p:nvPr>
            <p:ph type="sldNum" sz="quarter" idx="12"/>
          </p:nvPr>
        </p:nvSpPr>
        <p:spPr>
          <a:ln/>
        </p:spPr>
        <p:txBody>
          <a:bodyPr/>
          <a:lstStyle>
            <a:lvl1pPr>
              <a:defRPr/>
            </a:lvl1pPr>
          </a:lstStyle>
          <a:p>
            <a:pPr>
              <a:defRPr/>
            </a:pPr>
            <a:fld id="{387DC8AA-DC2C-4371-B4D2-D5B7DA7881E6}" type="slidenum">
              <a:rPr lang="en-US" altLang="en-US"/>
              <a:pPr>
                <a:defRPr/>
              </a:pPr>
              <a:t>‹#›</a:t>
            </a:fld>
            <a:endParaRPr lang="en-US" altLang="en-US"/>
          </a:p>
        </p:txBody>
      </p:sp>
    </p:spTree>
    <p:extLst>
      <p:ext uri="{BB962C8B-B14F-4D97-AF65-F5344CB8AC3E}">
        <p14:creationId xmlns:p14="http://schemas.microsoft.com/office/powerpoint/2010/main" val="1325435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9970D0B-E49C-4B90-A272-A47C637DAED6}" type="datetime1">
              <a:rPr lang="en-US" smtClean="0"/>
              <a:pPr/>
              <a:t>10/9/2026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Lahore Garrison University</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E9ED8F5-F0EE-4F30-BF79-1CB5FF8C36DA}" type="slidenum">
              <a:rPr lang="en-US" smtClean="0"/>
              <a:pPr/>
              <a:t>‹#›</a:t>
            </a:fld>
            <a:endParaRPr lang="en-US"/>
          </a:p>
        </p:txBody>
      </p:sp>
    </p:spTree>
    <p:extLst>
      <p:ext uri="{BB962C8B-B14F-4D97-AF65-F5344CB8AC3E}">
        <p14:creationId xmlns:p14="http://schemas.microsoft.com/office/powerpoint/2010/main" val="194910255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hd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nailanoreen@lgu.edu.p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computerhope.com/jargon/w/windows.htm" TargetMode="External"/><Relationship Id="rId2" Type="http://schemas.openxmlformats.org/officeDocument/2006/relationships/hyperlink" Target="https://www.computerhope.com/jargon/g/gui.htm" TargetMode="Externa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hyperlink" Target="https://www.computerhope.com/dirhlp.htm" TargetMode="External"/><Relationship Id="rId4" Type="http://schemas.openxmlformats.org/officeDocument/2006/relationships/hyperlink" Target="https://www.computerhope.com/cdhlp.htm"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webopedia.com/definitions/operating-system/" TargetMode="External"/><Relationship Id="rId2" Type="http://schemas.openxmlformats.org/officeDocument/2006/relationships/hyperlink" Target="https://www.webopedia.com/definitions/microsoft-windows/" TargetMode="External"/><Relationship Id="rId1" Type="http://schemas.openxmlformats.org/officeDocument/2006/relationships/slideLayout" Target="../slideLayouts/slideLayout2.xml"/><Relationship Id="rId4" Type="http://schemas.openxmlformats.org/officeDocument/2006/relationships/hyperlink" Target="https://www.webopedia.com/definitions/gui/"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hatis.techtarget.com/definition/queue"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a:br>
            <a:br>
              <a:rPr lang="en-US" dirty="0"/>
            </a:br>
            <a:br>
              <a:rPr lang="en-US" dirty="0"/>
            </a:br>
            <a:br>
              <a:rPr lang="en-US" dirty="0"/>
            </a:br>
            <a:br>
              <a:rPr lang="en-US" dirty="0"/>
            </a:br>
            <a:br>
              <a:rPr lang="en-US" dirty="0"/>
            </a:br>
            <a:r>
              <a:rPr lang="en-US" dirty="0"/>
              <a:t>CSC351-Operating Systems</a:t>
            </a:r>
            <a:br>
              <a:rPr lang="en-US" sz="4400" dirty="0"/>
            </a:br>
            <a:r>
              <a:rPr lang="en-US" sz="4400" dirty="0"/>
              <a:t>					Week-1		Lecture-1,2</a:t>
            </a:r>
            <a:br>
              <a:rPr lang="en-US" sz="4400" dirty="0"/>
            </a:br>
            <a:r>
              <a:rPr lang="en-US" sz="4400" dirty="0"/>
              <a:t>										</a:t>
            </a:r>
            <a:r>
              <a:rPr lang="en-US" sz="2800" dirty="0"/>
              <a:t>Semester #05</a:t>
            </a:r>
          </a:p>
        </p:txBody>
      </p:sp>
      <p:sp>
        <p:nvSpPr>
          <p:cNvPr id="3" name="Subtitle 2"/>
          <p:cNvSpPr>
            <a:spLocks noGrp="1"/>
          </p:cNvSpPr>
          <p:nvPr>
            <p:ph type="subTitle" idx="1"/>
          </p:nvPr>
        </p:nvSpPr>
        <p:spPr/>
        <p:txBody>
          <a:bodyPr>
            <a:normAutofit/>
          </a:bodyPr>
          <a:lstStyle/>
          <a:p>
            <a:pPr lvl="8" algn="l"/>
            <a:r>
              <a:rPr lang="en-US" dirty="0">
                <a:latin typeface="Arial" panose="020B0604020202020204" pitchFamily="34" charset="0"/>
                <a:cs typeface="Arial" panose="020B0604020202020204" pitchFamily="34" charset="0"/>
              </a:rPr>
              <a:t>						Prepared by:</a:t>
            </a:r>
          </a:p>
          <a:p>
            <a:pPr lvl="8" algn="l"/>
            <a:r>
              <a:rPr lang="en-US" dirty="0">
                <a:latin typeface="Arial" panose="020B0604020202020204" pitchFamily="34" charset="0"/>
                <a:cs typeface="Arial" panose="020B0604020202020204" pitchFamily="34" charset="0"/>
              </a:rPr>
              <a:t>							M. Shoaib</a:t>
            </a:r>
          </a:p>
        </p:txBody>
      </p:sp>
      <p:sp>
        <p:nvSpPr>
          <p:cNvPr id="5" name="Footer Placeholder 4"/>
          <p:cNvSpPr>
            <a:spLocks noGrp="1"/>
          </p:cNvSpPr>
          <p:nvPr>
            <p:ph type="ftr" sz="quarter" idx="11"/>
          </p:nvPr>
        </p:nvSpPr>
        <p:spPr/>
        <p:txBody>
          <a:bodyPr/>
          <a:lstStyle/>
          <a:p>
            <a:r>
              <a:rPr lang="en-US" dirty="0"/>
              <a:t>Lahore Garrison University</a:t>
            </a:r>
          </a:p>
        </p:txBody>
      </p:sp>
      <p:sp>
        <p:nvSpPr>
          <p:cNvPr id="6" name="Slide Number Placeholder 5"/>
          <p:cNvSpPr>
            <a:spLocks noGrp="1"/>
          </p:cNvSpPr>
          <p:nvPr>
            <p:ph type="sldNum" sz="quarter" idx="12"/>
          </p:nvPr>
        </p:nvSpPr>
        <p:spPr/>
        <p:txBody>
          <a:bodyPr/>
          <a:lstStyle/>
          <a:p>
            <a:fld id="{8E9ED8F5-F0EE-4F30-BF79-1CB5FF8C36DA}" type="slidenum">
              <a:rPr lang="en-US" smtClean="0"/>
              <a:pPr/>
              <a:t>1</a:t>
            </a:fld>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 y="90351"/>
            <a:ext cx="1905000" cy="1905000"/>
          </a:xfrm>
          <a:prstGeom prst="rect">
            <a:avLst/>
          </a:prstGeom>
        </p:spPr>
      </p:pic>
    </p:spTree>
    <p:extLst>
      <p:ext uri="{BB962C8B-B14F-4D97-AF65-F5344CB8AC3E}">
        <p14:creationId xmlns:p14="http://schemas.microsoft.com/office/powerpoint/2010/main" val="27530823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Contact Details		</a:t>
            </a:r>
          </a:p>
        </p:txBody>
      </p:sp>
      <p:sp>
        <p:nvSpPr>
          <p:cNvPr id="3" name="Content Placeholder 2"/>
          <p:cNvSpPr>
            <a:spLocks noGrp="1"/>
          </p:cNvSpPr>
          <p:nvPr>
            <p:ph idx="1"/>
          </p:nvPr>
        </p:nvSpPr>
        <p:spPr/>
        <p:txBody>
          <a:bodyPr/>
          <a:lstStyle/>
          <a:p>
            <a:r>
              <a:rPr lang="en-US" dirty="0"/>
              <a:t>Name: Miss M. Shoaib</a:t>
            </a:r>
          </a:p>
          <a:p>
            <a:r>
              <a:rPr lang="en-US" dirty="0"/>
              <a:t>Course Instructor:  CSC351- Operating Systems</a:t>
            </a:r>
          </a:p>
          <a:p>
            <a:r>
              <a:rPr lang="en-US" dirty="0"/>
              <a:t>Credit Hours: 2+1</a:t>
            </a:r>
          </a:p>
          <a:p>
            <a:r>
              <a:rPr lang="en-US" dirty="0"/>
              <a:t>Designation: Lecturer</a:t>
            </a:r>
          </a:p>
          <a:p>
            <a:r>
              <a:rPr lang="en-US" dirty="0"/>
              <a:t>Email: </a:t>
            </a:r>
            <a:r>
              <a:rPr lang="en-US" dirty="0">
                <a:hlinkClick r:id="rId2"/>
              </a:rPr>
              <a:t>nailanoreen@lgu.edu.pk</a:t>
            </a:r>
            <a:endParaRPr lang="en-US" dirty="0"/>
          </a:p>
          <a:p>
            <a:r>
              <a:rPr lang="en-US" u="sng" dirty="0"/>
              <a:t>Staffroom: first floor NB, female staffroom </a:t>
            </a:r>
          </a:p>
          <a:p>
            <a:endParaRPr lang="en-US" u="sng" dirty="0"/>
          </a:p>
          <a:p>
            <a:pPr marL="0" indent="0">
              <a:buNone/>
            </a:pPr>
            <a:endParaRPr lang="en-US" dirty="0"/>
          </a:p>
        </p:txBody>
      </p:sp>
      <p:sp>
        <p:nvSpPr>
          <p:cNvPr id="4" name="Footer Placeholder 3"/>
          <p:cNvSpPr>
            <a:spLocks noGrp="1"/>
          </p:cNvSpPr>
          <p:nvPr>
            <p:ph type="ftr" sz="quarter" idx="11"/>
          </p:nvPr>
        </p:nvSpPr>
        <p:spPr/>
        <p:txBody>
          <a:bodyPr/>
          <a:lstStyle/>
          <a:p>
            <a:r>
              <a:rPr lang="en-US"/>
              <a:t>Lahore Garrison University</a:t>
            </a:r>
          </a:p>
        </p:txBody>
      </p:sp>
      <p:sp>
        <p:nvSpPr>
          <p:cNvPr id="5" name="Slide Number Placeholder 4"/>
          <p:cNvSpPr>
            <a:spLocks noGrp="1"/>
          </p:cNvSpPr>
          <p:nvPr>
            <p:ph type="sldNum" sz="quarter" idx="12"/>
          </p:nvPr>
        </p:nvSpPr>
        <p:spPr/>
        <p:txBody>
          <a:bodyPr/>
          <a:lstStyle/>
          <a:p>
            <a:fld id="{8E9ED8F5-F0EE-4F30-BF79-1CB5FF8C36DA}" type="slidenum">
              <a:rPr lang="en-US" smtClean="0"/>
              <a:pPr/>
              <a:t>2</a:t>
            </a:fld>
            <a:endParaRPr lang="en-US"/>
          </a:p>
        </p:txBody>
      </p:sp>
    </p:spTree>
    <p:extLst>
      <p:ext uri="{BB962C8B-B14F-4D97-AF65-F5344CB8AC3E}">
        <p14:creationId xmlns:p14="http://schemas.microsoft.com/office/powerpoint/2010/main" val="32369608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882650"/>
            <a:ext cx="10769600" cy="869950"/>
          </a:xfrm>
        </p:spPr>
        <p:txBody>
          <a:bodyPr>
            <a:normAutofit/>
          </a:bodyPr>
          <a:lstStyle/>
          <a:p>
            <a:r>
              <a:rPr lang="en-US" dirty="0"/>
              <a:t>Course Learning Outcomes</a:t>
            </a:r>
          </a:p>
        </p:txBody>
      </p:sp>
      <p:sp>
        <p:nvSpPr>
          <p:cNvPr id="3" name="Slide Number Placeholder 2"/>
          <p:cNvSpPr>
            <a:spLocks noGrp="1"/>
          </p:cNvSpPr>
          <p:nvPr>
            <p:ph type="sldNum" sz="quarter" idx="12"/>
          </p:nvPr>
        </p:nvSpPr>
        <p:spPr/>
        <p:txBody>
          <a:bodyPr>
            <a:normAutofit/>
          </a:bodyPr>
          <a:lstStyle/>
          <a:p>
            <a:fld id="{1AD93096-5B34-4342-9326-69289CEAE4C2}" type="slidenum">
              <a:rPr lang="en-US" smtClean="0"/>
              <a:pPr/>
              <a:t>3</a:t>
            </a:fld>
            <a:endParaRPr lang="en-US" dirty="0">
              <a:solidFill>
                <a:srgbClr val="FFFFFF"/>
              </a:solidFill>
            </a:endParaRPr>
          </a:p>
        </p:txBody>
      </p:sp>
      <p:sp>
        <p:nvSpPr>
          <p:cNvPr id="4" name="Content Placeholder 3"/>
          <p:cNvSpPr>
            <a:spLocks noGrp="1"/>
          </p:cNvSpPr>
          <p:nvPr>
            <p:ph sz="quarter" idx="1"/>
          </p:nvPr>
        </p:nvSpPr>
        <p:spPr/>
        <p:txBody>
          <a:bodyPr>
            <a:normAutofit/>
          </a:bodyPr>
          <a:lstStyle/>
          <a:p>
            <a:pPr marL="0" indent="0">
              <a:buNone/>
            </a:pPr>
            <a:endParaRPr lang="en-US" dirty="0"/>
          </a:p>
          <a:p>
            <a:pPr marL="0" indent="0">
              <a:buNone/>
            </a:pPr>
            <a:endParaRPr lang="en-US" dirty="0"/>
          </a:p>
          <a:p>
            <a:pPr marL="0" indent="0">
              <a:buNone/>
            </a:pPr>
            <a:r>
              <a:rPr lang="en-US" dirty="0"/>
              <a:t>Upon completion of the course, students will be able to:</a:t>
            </a:r>
          </a:p>
          <a:p>
            <a:endParaRPr lang="en-US" dirty="0"/>
          </a:p>
          <a:p>
            <a:r>
              <a:rPr lang="en-GB" b="1" dirty="0"/>
              <a:t>Describe </a:t>
            </a:r>
            <a:r>
              <a:rPr lang="en-GB" dirty="0"/>
              <a:t>fundamental operating system abstractions(concept) such as processes, threads, files, semaphores, IPC abstractions, shared memory regions, etc.</a:t>
            </a:r>
          </a:p>
          <a:p>
            <a:r>
              <a:rPr lang="en-GB" b="1" dirty="0"/>
              <a:t>Investigate </a:t>
            </a:r>
            <a:r>
              <a:rPr lang="en-GB" dirty="0"/>
              <a:t>important algorithms e.g., Process scheduling and synchronization</a:t>
            </a:r>
          </a:p>
          <a:p>
            <a:r>
              <a:rPr lang="en-GB" b="1" dirty="0"/>
              <a:t>Classify</a:t>
            </a:r>
            <a:r>
              <a:rPr lang="en-GB" dirty="0"/>
              <a:t> the operating system’s resource management techniques, dead lock management techniques, memory management algorithms, file management.</a:t>
            </a:r>
            <a:endParaRPr lang="en-US" dirty="0"/>
          </a:p>
        </p:txBody>
      </p:sp>
    </p:spTree>
    <p:extLst>
      <p:ext uri="{BB962C8B-B14F-4D97-AF65-F5344CB8AC3E}">
        <p14:creationId xmlns:p14="http://schemas.microsoft.com/office/powerpoint/2010/main" val="11476152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600" y="687918"/>
            <a:ext cx="10769600" cy="869950"/>
          </a:xfrm>
        </p:spPr>
        <p:txBody>
          <a:bodyPr/>
          <a:lstStyle/>
          <a:p>
            <a:r>
              <a:rPr lang="en-US" dirty="0"/>
              <a:t>Recommended Resources</a:t>
            </a:r>
          </a:p>
        </p:txBody>
      </p:sp>
      <p:sp>
        <p:nvSpPr>
          <p:cNvPr id="3" name="Slide Number Placeholder 2"/>
          <p:cNvSpPr>
            <a:spLocks noGrp="1"/>
          </p:cNvSpPr>
          <p:nvPr>
            <p:ph type="sldNum" sz="quarter" idx="12"/>
          </p:nvPr>
        </p:nvSpPr>
        <p:spPr/>
        <p:txBody>
          <a:bodyPr>
            <a:normAutofit/>
          </a:bodyPr>
          <a:lstStyle/>
          <a:p>
            <a:fld id="{1AD93096-5B34-4342-9326-69289CEAE4C2}" type="slidenum">
              <a:rPr lang="en-US" smtClean="0"/>
              <a:pPr/>
              <a:t>4</a:t>
            </a:fld>
            <a:endParaRPr lang="en-US" dirty="0">
              <a:solidFill>
                <a:srgbClr val="FFFFFF"/>
              </a:solidFill>
            </a:endParaRPr>
          </a:p>
        </p:txBody>
      </p:sp>
      <p:sp>
        <p:nvSpPr>
          <p:cNvPr id="4" name="Content Placeholder 3"/>
          <p:cNvSpPr>
            <a:spLocks noGrp="1"/>
          </p:cNvSpPr>
          <p:nvPr>
            <p:ph sz="quarter" idx="1"/>
          </p:nvPr>
        </p:nvSpPr>
        <p:spPr/>
        <p:txBody>
          <a:bodyPr>
            <a:normAutofit/>
          </a:bodyPr>
          <a:lstStyle/>
          <a:p>
            <a:endParaRPr lang="en-US" dirty="0"/>
          </a:p>
          <a:p>
            <a:endParaRPr lang="en-US" dirty="0"/>
          </a:p>
          <a:p>
            <a:r>
              <a:rPr lang="en-US" dirty="0"/>
              <a:t>Textbook</a:t>
            </a:r>
          </a:p>
          <a:p>
            <a:pPr lvl="1"/>
            <a:r>
              <a:rPr lang="en-US" b="1" dirty="0">
                <a:solidFill>
                  <a:schemeClr val="accent5">
                    <a:lumMod val="75000"/>
                  </a:schemeClr>
                </a:solidFill>
              </a:rPr>
              <a:t>Operating Systems Concepts, 9th edition by Abraham </a:t>
            </a:r>
            <a:r>
              <a:rPr lang="en-US" b="1" dirty="0" err="1">
                <a:solidFill>
                  <a:schemeClr val="accent5">
                    <a:lumMod val="75000"/>
                  </a:schemeClr>
                </a:solidFill>
              </a:rPr>
              <a:t>Silberschatz</a:t>
            </a:r>
            <a:r>
              <a:rPr lang="en-US" b="1" dirty="0">
                <a:solidFill>
                  <a:schemeClr val="accent5">
                    <a:lumMod val="75000"/>
                  </a:schemeClr>
                </a:solidFill>
              </a:rPr>
              <a:t> 	</a:t>
            </a:r>
            <a:r>
              <a:rPr lang="en-US" dirty="0"/>
              <a:t>	</a:t>
            </a:r>
          </a:p>
          <a:p>
            <a:r>
              <a:rPr lang="en-US" dirty="0"/>
              <a:t>Other</a:t>
            </a:r>
          </a:p>
          <a:p>
            <a:pPr lvl="1"/>
            <a:r>
              <a:rPr lang="en-US" dirty="0"/>
              <a:t>Modern Operating Systems, 4</a:t>
            </a:r>
            <a:r>
              <a:rPr lang="en-US" sz="800" dirty="0"/>
              <a:t>th </a:t>
            </a:r>
            <a:r>
              <a:rPr lang="en-US" dirty="0"/>
              <a:t>edition by Andrew S. Tanenbaum </a:t>
            </a:r>
          </a:p>
          <a:p>
            <a:pPr lvl="1"/>
            <a:r>
              <a:rPr lang="en-US" dirty="0"/>
              <a:t>Operating Systems, Internals and Design Principles, 9</a:t>
            </a:r>
            <a:r>
              <a:rPr lang="en-US" sz="800" dirty="0"/>
              <a:t>th </a:t>
            </a:r>
            <a:r>
              <a:rPr lang="en-US" dirty="0"/>
              <a:t>edition by William Stallings </a:t>
            </a:r>
          </a:p>
          <a:p>
            <a:pPr lvl="1"/>
            <a:r>
              <a:rPr lang="en-US" dirty="0"/>
              <a:t>Davis, W.S. and Rajkumar, T.M. (2004) Operating Systems: A Systematic View. 3rd </a:t>
            </a:r>
            <a:r>
              <a:rPr lang="en-US" dirty="0" err="1"/>
              <a:t>Ed.Harlow</a:t>
            </a:r>
            <a:r>
              <a:rPr lang="en-US" dirty="0"/>
              <a:t>, Addison-Wesley.</a:t>
            </a:r>
          </a:p>
          <a:p>
            <a:pPr lvl="1"/>
            <a:endParaRPr lang="en-US" dirty="0"/>
          </a:p>
        </p:txBody>
      </p:sp>
    </p:spTree>
    <p:extLst>
      <p:ext uri="{BB962C8B-B14F-4D97-AF65-F5344CB8AC3E}">
        <p14:creationId xmlns:p14="http://schemas.microsoft.com/office/powerpoint/2010/main" val="247160674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22FB210-9D05-407F-99BE-6CF5ADFFB54B}"/>
              </a:ext>
            </a:extLst>
          </p:cNvPr>
          <p:cNvSpPr>
            <a:spLocks noRot="1" noChangeArrowheads="1"/>
          </p:cNvSpPr>
          <p:nvPr/>
        </p:nvSpPr>
        <p:spPr bwMode="auto">
          <a:xfrm>
            <a:off x="2133600" y="4270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457200" fontAlgn="base">
              <a:spcBef>
                <a:spcPct val="0"/>
              </a:spcBef>
              <a:spcAft>
                <a:spcPct val="0"/>
              </a:spcAft>
              <a:defRPr>
                <a:solidFill>
                  <a:schemeClr val="tx1"/>
                </a:solidFill>
                <a:latin typeface="Arial" panose="020B0604020202020204" pitchFamily="34" charset="0"/>
              </a:defRPr>
            </a:lvl6pPr>
            <a:lvl7pPr marL="914400" fontAlgn="base">
              <a:spcBef>
                <a:spcPct val="0"/>
              </a:spcBef>
              <a:spcAft>
                <a:spcPct val="0"/>
              </a:spcAft>
              <a:defRPr>
                <a:solidFill>
                  <a:schemeClr val="tx1"/>
                </a:solidFill>
                <a:latin typeface="Arial" panose="020B0604020202020204" pitchFamily="34" charset="0"/>
              </a:defRPr>
            </a:lvl7pPr>
            <a:lvl8pPr marL="1371600" fontAlgn="base">
              <a:spcBef>
                <a:spcPct val="0"/>
              </a:spcBef>
              <a:spcAft>
                <a:spcPct val="0"/>
              </a:spcAft>
              <a:defRPr>
                <a:solidFill>
                  <a:schemeClr val="tx1"/>
                </a:solidFill>
                <a:latin typeface="Arial" panose="020B0604020202020204" pitchFamily="34" charset="0"/>
              </a:defRPr>
            </a:lvl8pPr>
            <a:lvl9pPr marL="1828800" fontAlgn="base">
              <a:spcBef>
                <a:spcPct val="0"/>
              </a:spcBef>
              <a:spcAft>
                <a:spcPct val="0"/>
              </a:spcAft>
              <a:defRPr>
                <a:solidFill>
                  <a:schemeClr val="tx1"/>
                </a:solidFill>
                <a:latin typeface="Arial" panose="020B0604020202020204" pitchFamily="34" charset="0"/>
              </a:defRPr>
            </a:lvl9pPr>
          </a:lstStyle>
          <a:p>
            <a:pPr algn="ctr" eaLnBrk="1" hangingPunct="1">
              <a:defRPr/>
            </a:pPr>
            <a:r>
              <a:rPr lang="en-US" altLang="zh-TW" sz="5400" b="1" dirty="0">
                <a:solidFill>
                  <a:schemeClr val="bg1"/>
                </a:solidFill>
                <a:effectLst>
                  <a:outerShdw blurRad="38100" dist="38100" dir="2700000" algn="tl">
                    <a:srgbClr val="000000"/>
                  </a:outerShdw>
                </a:effectLst>
                <a:latin typeface="Garamond" panose="02020404030301010803" pitchFamily="18" charset="0"/>
                <a:ea typeface="新細明體" panose="02020500000000000000" pitchFamily="18" charset="-120"/>
              </a:rPr>
              <a:t>Agenda for Today</a:t>
            </a:r>
            <a:endParaRPr lang="en-US" altLang="en-US" sz="5400" b="1" dirty="0">
              <a:solidFill>
                <a:schemeClr val="bg1"/>
              </a:solidFill>
              <a:effectLst>
                <a:outerShdw blurRad="38100" dist="38100" dir="2700000" algn="tl">
                  <a:srgbClr val="000000"/>
                </a:outerShdw>
              </a:effectLst>
              <a:latin typeface="Garamond" panose="02020404030301010803" pitchFamily="18" charset="0"/>
              <a:ea typeface="新細明體" panose="02020500000000000000" pitchFamily="18" charset="-120"/>
            </a:endParaRPr>
          </a:p>
        </p:txBody>
      </p:sp>
      <p:sp>
        <p:nvSpPr>
          <p:cNvPr id="6147" name="Rectangle 3">
            <a:extLst>
              <a:ext uri="{FF2B5EF4-FFF2-40B4-BE49-F238E27FC236}">
                <a16:creationId xmlns:a16="http://schemas.microsoft.com/office/drawing/2014/main" id="{BD6F33E4-A84A-478D-B534-B078D7C26B64}"/>
              </a:ext>
            </a:extLst>
          </p:cNvPr>
          <p:cNvSpPr>
            <a:spLocks noChangeArrowheads="1"/>
          </p:cNvSpPr>
          <p:nvPr/>
        </p:nvSpPr>
        <p:spPr bwMode="auto">
          <a:xfrm>
            <a:off x="563522" y="2362863"/>
            <a:ext cx="11290853"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457200" indent="-457200" eaLnBrk="1" hangingPunct="1">
              <a:spcBef>
                <a:spcPct val="20000"/>
              </a:spcBef>
              <a:buClr>
                <a:schemeClr val="hlink"/>
              </a:buClr>
              <a:buSzPct val="70000"/>
              <a:buFont typeface="Arial" panose="020B0604020202020204" pitchFamily="34" charset="0"/>
              <a:buChar char="•"/>
              <a:defRPr/>
            </a:pPr>
            <a:r>
              <a:rPr lang="en-US" altLang="zh-TW" sz="2800" dirty="0">
                <a:ea typeface="新細明體" panose="02020500000000000000" pitchFamily="18" charset="-120"/>
              </a:rPr>
              <a:t>Introduction and purpose of the course</a:t>
            </a:r>
          </a:p>
          <a:p>
            <a:pPr marL="457200" indent="-457200" eaLnBrk="1" hangingPunct="1">
              <a:spcBef>
                <a:spcPct val="20000"/>
              </a:spcBef>
              <a:buClr>
                <a:schemeClr val="hlink"/>
              </a:buClr>
              <a:buSzPct val="70000"/>
              <a:buFont typeface="Arial" panose="020B0604020202020204" pitchFamily="34" charset="0"/>
              <a:buChar char="•"/>
              <a:defRPr/>
            </a:pPr>
            <a:r>
              <a:rPr lang="en-US" altLang="zh-TW" sz="2800" dirty="0">
                <a:ea typeface="新細明體" panose="02020500000000000000" pitchFamily="18" charset="-120"/>
              </a:rPr>
              <a:t>Organization of a computer system</a:t>
            </a:r>
          </a:p>
          <a:p>
            <a:pPr marL="457200" indent="-457200" eaLnBrk="1" hangingPunct="1">
              <a:spcBef>
                <a:spcPct val="20000"/>
              </a:spcBef>
              <a:buClr>
                <a:schemeClr val="hlink"/>
              </a:buClr>
              <a:buSzPct val="70000"/>
              <a:buFont typeface="Arial" panose="020B0604020202020204" pitchFamily="34" charset="0"/>
              <a:buChar char="•"/>
              <a:defRPr/>
            </a:pPr>
            <a:r>
              <a:rPr lang="en-US" altLang="zh-TW" sz="2800" dirty="0">
                <a:ea typeface="新細明體" panose="02020500000000000000" pitchFamily="18" charset="-120"/>
              </a:rPr>
              <a:t>Purpose of a computer system—setting the stage for OS concepts and principles</a:t>
            </a:r>
          </a:p>
          <a:p>
            <a:pPr marL="457200" indent="-457200" eaLnBrk="1" hangingPunct="1">
              <a:spcBef>
                <a:spcPct val="20000"/>
              </a:spcBef>
              <a:buClr>
                <a:schemeClr val="hlink"/>
              </a:buClr>
              <a:buSzPct val="70000"/>
              <a:buFont typeface="Arial" panose="020B0604020202020204" pitchFamily="34" charset="0"/>
              <a:buChar char="•"/>
              <a:defRPr/>
            </a:pPr>
            <a:r>
              <a:rPr lang="en-US" altLang="zh-TW" sz="2800" dirty="0">
                <a:ea typeface="新細明體" panose="02020500000000000000" pitchFamily="18" charset="-120"/>
              </a:rPr>
              <a:t>Outline of topics to be discussed in the course</a:t>
            </a:r>
          </a:p>
          <a:p>
            <a:pPr marL="457200" indent="-457200" eaLnBrk="1" hangingPunct="1">
              <a:spcBef>
                <a:spcPct val="20000"/>
              </a:spcBef>
              <a:buClr>
                <a:schemeClr val="hlink"/>
              </a:buClr>
              <a:buSzPct val="70000"/>
              <a:buFont typeface="Arial" panose="020B0604020202020204" pitchFamily="34" charset="0"/>
              <a:buChar char="•"/>
              <a:defRPr/>
            </a:pPr>
            <a:r>
              <a:rPr lang="en-US" altLang="zh-TW" sz="2800" dirty="0">
                <a:ea typeface="新細明體" panose="02020500000000000000" pitchFamily="18" charset="-120"/>
              </a:rPr>
              <a:t>What is an operating system? </a:t>
            </a:r>
          </a:p>
          <a:p>
            <a:pPr marL="457200" indent="-457200" eaLnBrk="1" hangingPunct="1">
              <a:spcBef>
                <a:spcPct val="20000"/>
              </a:spcBef>
              <a:buClr>
                <a:schemeClr val="hlink"/>
              </a:buClr>
              <a:buSzPct val="70000"/>
              <a:buFont typeface="Arial" panose="020B0604020202020204" pitchFamily="34" charset="0"/>
              <a:buChar char="•"/>
              <a:defRPr/>
            </a:pPr>
            <a:r>
              <a:rPr lang="en-US" altLang="zh-TW" sz="2800" dirty="0">
                <a:ea typeface="新細明體" panose="02020500000000000000" pitchFamily="18" charset="-120"/>
              </a:rPr>
              <a:t>History and Evolution</a:t>
            </a:r>
          </a:p>
          <a:p>
            <a:pPr eaLnBrk="1" hangingPunct="1">
              <a:spcBef>
                <a:spcPct val="20000"/>
              </a:spcBef>
              <a:buClr>
                <a:schemeClr val="hlink"/>
              </a:buClr>
              <a:buSzPct val="70000"/>
              <a:buFont typeface="Wingdings" panose="05000000000000000000" pitchFamily="2" charset="2"/>
              <a:buChar char="n"/>
              <a:defRPr/>
            </a:pPr>
            <a:endParaRPr lang="en-US" altLang="zh-TW" sz="2800" dirty="0">
              <a:ea typeface="新細明體" panose="02020500000000000000" pitchFamily="18" charset="-120"/>
            </a:endParaRP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22FB210-9D05-407F-99BE-6CF5ADFFB54B}"/>
              </a:ext>
            </a:extLst>
          </p:cNvPr>
          <p:cNvSpPr>
            <a:spLocks noRot="1" noChangeArrowheads="1"/>
          </p:cNvSpPr>
          <p:nvPr/>
        </p:nvSpPr>
        <p:spPr bwMode="auto">
          <a:xfrm>
            <a:off x="2133600" y="4270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457200" fontAlgn="base">
              <a:spcBef>
                <a:spcPct val="0"/>
              </a:spcBef>
              <a:spcAft>
                <a:spcPct val="0"/>
              </a:spcAft>
              <a:defRPr>
                <a:solidFill>
                  <a:schemeClr val="tx1"/>
                </a:solidFill>
                <a:latin typeface="Arial" panose="020B0604020202020204" pitchFamily="34" charset="0"/>
              </a:defRPr>
            </a:lvl6pPr>
            <a:lvl7pPr marL="914400" fontAlgn="base">
              <a:spcBef>
                <a:spcPct val="0"/>
              </a:spcBef>
              <a:spcAft>
                <a:spcPct val="0"/>
              </a:spcAft>
              <a:defRPr>
                <a:solidFill>
                  <a:schemeClr val="tx1"/>
                </a:solidFill>
                <a:latin typeface="Arial" panose="020B0604020202020204" pitchFamily="34" charset="0"/>
              </a:defRPr>
            </a:lvl7pPr>
            <a:lvl8pPr marL="1371600" fontAlgn="base">
              <a:spcBef>
                <a:spcPct val="0"/>
              </a:spcBef>
              <a:spcAft>
                <a:spcPct val="0"/>
              </a:spcAft>
              <a:defRPr>
                <a:solidFill>
                  <a:schemeClr val="tx1"/>
                </a:solidFill>
                <a:latin typeface="Arial" panose="020B0604020202020204" pitchFamily="34" charset="0"/>
              </a:defRPr>
            </a:lvl8pPr>
            <a:lvl9pPr marL="1828800" fontAlgn="base">
              <a:spcBef>
                <a:spcPct val="0"/>
              </a:spcBef>
              <a:spcAft>
                <a:spcPct val="0"/>
              </a:spcAft>
              <a:defRPr>
                <a:solidFill>
                  <a:schemeClr val="tx1"/>
                </a:solidFill>
                <a:latin typeface="Arial" panose="020B0604020202020204" pitchFamily="34" charset="0"/>
              </a:defRPr>
            </a:lvl9pPr>
          </a:lstStyle>
          <a:p>
            <a:pPr algn="ctr" eaLnBrk="1" hangingPunct="1">
              <a:defRPr/>
            </a:pPr>
            <a:r>
              <a:rPr lang="en-US" altLang="zh-TW" sz="5400" b="1" dirty="0">
                <a:solidFill>
                  <a:schemeClr val="bg1"/>
                </a:solidFill>
                <a:effectLst>
                  <a:outerShdw blurRad="38100" dist="38100" dir="2700000" algn="tl">
                    <a:srgbClr val="000000"/>
                  </a:outerShdw>
                </a:effectLst>
                <a:latin typeface="Garamond" panose="02020404030301010803" pitchFamily="18" charset="0"/>
                <a:ea typeface="新細明體" panose="02020500000000000000" pitchFamily="18" charset="-120"/>
              </a:rPr>
              <a:t>Agenda for Today</a:t>
            </a:r>
            <a:endParaRPr lang="en-US" altLang="en-US" sz="5400" b="1" dirty="0">
              <a:solidFill>
                <a:schemeClr val="bg1"/>
              </a:solidFill>
              <a:effectLst>
                <a:outerShdw blurRad="38100" dist="38100" dir="2700000" algn="tl">
                  <a:srgbClr val="000000"/>
                </a:outerShdw>
              </a:effectLst>
              <a:latin typeface="Garamond" panose="02020404030301010803" pitchFamily="18" charset="0"/>
              <a:ea typeface="新細明體" panose="02020500000000000000" pitchFamily="18" charset="-120"/>
            </a:endParaRPr>
          </a:p>
        </p:txBody>
      </p:sp>
      <p:sp>
        <p:nvSpPr>
          <p:cNvPr id="6147" name="Rectangle 3">
            <a:extLst>
              <a:ext uri="{FF2B5EF4-FFF2-40B4-BE49-F238E27FC236}">
                <a16:creationId xmlns:a16="http://schemas.microsoft.com/office/drawing/2014/main" id="{BD6F33E4-A84A-478D-B534-B078D7C26B64}"/>
              </a:ext>
            </a:extLst>
          </p:cNvPr>
          <p:cNvSpPr>
            <a:spLocks noChangeArrowheads="1"/>
          </p:cNvSpPr>
          <p:nvPr/>
        </p:nvSpPr>
        <p:spPr bwMode="auto">
          <a:xfrm>
            <a:off x="563522" y="2362863"/>
            <a:ext cx="11290853"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457200" indent="-457200">
              <a:buFont typeface="Arial" panose="020B0604020202020204" pitchFamily="34" charset="0"/>
              <a:buChar char="•"/>
            </a:pPr>
            <a:r>
              <a:rPr lang="en-US" altLang="zh-TW" sz="2800" dirty="0">
                <a:ea typeface="新細明體" panose="02020500000000000000" pitchFamily="18" charset="-120"/>
              </a:rPr>
              <a:t>Single-user systems</a:t>
            </a:r>
          </a:p>
          <a:p>
            <a:pPr marL="457200" indent="-457200">
              <a:buFont typeface="Arial" panose="020B0604020202020204" pitchFamily="34" charset="0"/>
              <a:buChar char="•"/>
            </a:pPr>
            <a:r>
              <a:rPr lang="en-US" altLang="zh-TW" sz="2800" dirty="0">
                <a:ea typeface="新細明體" panose="02020500000000000000" pitchFamily="18" charset="-120"/>
              </a:rPr>
              <a:t>Batch systems</a:t>
            </a:r>
          </a:p>
          <a:p>
            <a:pPr marL="457200" indent="-457200">
              <a:buFont typeface="Arial" panose="020B0604020202020204" pitchFamily="34" charset="0"/>
              <a:buChar char="•"/>
            </a:pPr>
            <a:r>
              <a:rPr lang="en-US" altLang="zh-TW" sz="2800" dirty="0" err="1">
                <a:ea typeface="新細明體" panose="02020500000000000000" pitchFamily="18" charset="-120"/>
              </a:rPr>
              <a:t>Multiprogram</a:t>
            </a:r>
            <a:r>
              <a:rPr lang="en-US" altLang="zh-TW" sz="2800" dirty="0">
                <a:ea typeface="新細明體" panose="02020500000000000000" pitchFamily="18" charset="-120"/>
              </a:rPr>
              <a:t> systems</a:t>
            </a:r>
          </a:p>
          <a:p>
            <a:pPr marL="457200" indent="-457200">
              <a:buFont typeface="Arial" panose="020B0604020202020204" pitchFamily="34" charset="0"/>
              <a:buChar char="•"/>
            </a:pPr>
            <a:r>
              <a:rPr lang="en-US" altLang="zh-TW" sz="2800" dirty="0">
                <a:ea typeface="新細明體" panose="02020500000000000000" pitchFamily="18" charset="-120"/>
              </a:rPr>
              <a:t>Time-sharing systems</a:t>
            </a:r>
          </a:p>
          <a:p>
            <a:pPr marL="457200" indent="-457200">
              <a:buFont typeface="Arial" panose="020B0604020202020204" pitchFamily="34" charset="0"/>
              <a:buChar char="•"/>
            </a:pPr>
            <a:r>
              <a:rPr lang="en-US" altLang="zh-TW" sz="2800" dirty="0">
                <a:ea typeface="新細明體" panose="02020500000000000000" pitchFamily="18" charset="-120"/>
              </a:rPr>
              <a:t>Distributed systems</a:t>
            </a:r>
          </a:p>
          <a:p>
            <a:pPr marL="457200" indent="-457200">
              <a:buFont typeface="Arial" panose="020B0604020202020204" pitchFamily="34" charset="0"/>
              <a:buChar char="•"/>
            </a:pPr>
            <a:r>
              <a:rPr lang="en-US" altLang="zh-TW" sz="2800" dirty="0">
                <a:ea typeface="新細明體" panose="02020500000000000000" pitchFamily="18" charset="-120"/>
              </a:rPr>
              <a:t>Real-time systems</a:t>
            </a:r>
          </a:p>
          <a:p>
            <a:pPr marL="457200" indent="-457200">
              <a:buFont typeface="Arial" panose="020B0604020202020204" pitchFamily="34" charset="0"/>
              <a:buChar char="•"/>
            </a:pPr>
            <a:r>
              <a:rPr lang="en-US" altLang="zh-TW" sz="2800" dirty="0">
                <a:ea typeface="新細明體" panose="02020500000000000000" pitchFamily="18" charset="-120"/>
              </a:rPr>
              <a:t>Mobile OS</a:t>
            </a:r>
          </a:p>
          <a:p>
            <a:pPr marL="457200" indent="-457200">
              <a:buFont typeface="Arial" panose="020B0604020202020204" pitchFamily="34" charset="0"/>
              <a:buChar char="•"/>
            </a:pPr>
            <a:r>
              <a:rPr lang="en-US" altLang="zh-TW" sz="2800" dirty="0">
                <a:ea typeface="新細明體" panose="02020500000000000000" pitchFamily="18" charset="-120"/>
              </a:rPr>
              <a:t>Interrupts, traps, and signals</a:t>
            </a:r>
          </a:p>
          <a:p>
            <a:pPr marL="457200" indent="-457200">
              <a:buFont typeface="Arial" panose="020B0604020202020204" pitchFamily="34" charset="0"/>
              <a:buChar char="•"/>
            </a:pPr>
            <a:r>
              <a:rPr lang="en-US" altLang="zh-TW" sz="2800" dirty="0">
                <a:ea typeface="新細明體" panose="02020500000000000000" pitchFamily="18" charset="-120"/>
              </a:rPr>
              <a:t>CPU, I/O, and memory protection </a:t>
            </a:r>
            <a:r>
              <a:rPr lang="en-US" altLang="en-US" sz="2800" dirty="0"/>
              <a:t>Interactive</a:t>
            </a:r>
          </a:p>
          <a:p>
            <a:pPr eaLnBrk="1" hangingPunct="1">
              <a:spcBef>
                <a:spcPct val="20000"/>
              </a:spcBef>
              <a:buClr>
                <a:schemeClr val="hlink"/>
              </a:buClr>
              <a:buSzPct val="70000"/>
              <a:buFont typeface="Wingdings" panose="05000000000000000000" pitchFamily="2" charset="2"/>
              <a:buChar char="n"/>
              <a:defRPr/>
            </a:pPr>
            <a:endParaRPr lang="en-US" altLang="zh-TW" sz="2800" dirty="0">
              <a:ea typeface="新細明體" panose="02020500000000000000" pitchFamily="18" charset="-120"/>
            </a:endParaRPr>
          </a:p>
        </p:txBody>
      </p:sp>
    </p:spTree>
    <p:extLst>
      <p:ext uri="{BB962C8B-B14F-4D97-AF65-F5344CB8AC3E}">
        <p14:creationId xmlns:p14="http://schemas.microsoft.com/office/powerpoint/2010/main" val="191345687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3081030-F17C-4AB6-92D2-ACD22736DD39}"/>
              </a:ext>
            </a:extLst>
          </p:cNvPr>
          <p:cNvSpPr>
            <a:spLocks noGrp="1" noChangeArrowheads="1"/>
          </p:cNvSpPr>
          <p:nvPr>
            <p:ph type="title"/>
          </p:nvPr>
        </p:nvSpPr>
        <p:spPr>
          <a:xfrm>
            <a:off x="787791" y="696351"/>
            <a:ext cx="10592972" cy="1143000"/>
          </a:xfrm>
        </p:spPr>
        <p:txBody>
          <a:bodyPr/>
          <a:lstStyle/>
          <a:p>
            <a:pPr eaLnBrk="1" hangingPunct="1">
              <a:defRPr/>
            </a:pPr>
            <a:r>
              <a:rPr lang="en-US" altLang="en-US" sz="4800" b="1" dirty="0">
                <a:solidFill>
                  <a:schemeClr val="bg1"/>
                </a:solidFill>
              </a:rPr>
              <a:t>Structure of a Computer System</a:t>
            </a:r>
          </a:p>
        </p:txBody>
      </p:sp>
      <p:sp>
        <p:nvSpPr>
          <p:cNvPr id="8195" name="Rectangle 3">
            <a:extLst>
              <a:ext uri="{FF2B5EF4-FFF2-40B4-BE49-F238E27FC236}">
                <a16:creationId xmlns:a16="http://schemas.microsoft.com/office/drawing/2014/main" id="{43A52DA6-6B07-4A10-90C3-399515BE4794}"/>
              </a:ext>
            </a:extLst>
          </p:cNvPr>
          <p:cNvSpPr>
            <a:spLocks noGrp="1" noChangeArrowheads="1"/>
          </p:cNvSpPr>
          <p:nvPr>
            <p:ph type="body" idx="1"/>
          </p:nvPr>
        </p:nvSpPr>
        <p:spPr>
          <a:xfrm>
            <a:off x="549535" y="2466590"/>
            <a:ext cx="7328374" cy="4400741"/>
          </a:xfrm>
        </p:spPr>
        <p:txBody>
          <a:bodyPr>
            <a:normAutofit fontScale="77500" lnSpcReduction="20000"/>
          </a:bodyPr>
          <a:lstStyle/>
          <a:p>
            <a:pPr algn="just"/>
            <a:r>
              <a:rPr lang="en-US" sz="3600" b="0" i="0" dirty="0">
                <a:solidFill>
                  <a:srgbClr val="333333"/>
                </a:solidFill>
                <a:effectLst/>
                <a:latin typeface="inter-regular"/>
              </a:rPr>
              <a:t>A Computer System consists of:</a:t>
            </a:r>
          </a:p>
          <a:p>
            <a:pPr algn="just">
              <a:buFont typeface="Arial" panose="020B0604020202020204" pitchFamily="34" charset="0"/>
              <a:buChar char="•"/>
            </a:pPr>
            <a:r>
              <a:rPr lang="en-US" sz="3600" b="0" i="0" dirty="0">
                <a:solidFill>
                  <a:srgbClr val="000000"/>
                </a:solidFill>
                <a:effectLst/>
                <a:latin typeface="inter-regular"/>
              </a:rPr>
              <a:t>Users (people who are using the computer)</a:t>
            </a:r>
          </a:p>
          <a:p>
            <a:pPr algn="just">
              <a:buFont typeface="Arial" panose="020B0604020202020204" pitchFamily="34" charset="0"/>
              <a:buChar char="•"/>
            </a:pPr>
            <a:r>
              <a:rPr lang="en-US" sz="3600" b="0" i="0" dirty="0">
                <a:solidFill>
                  <a:srgbClr val="000000"/>
                </a:solidFill>
                <a:effectLst/>
                <a:latin typeface="inter-regular"/>
              </a:rPr>
              <a:t>Application Programs (Compilers, Databases, Games, Video player, Browsers, etc.)</a:t>
            </a:r>
          </a:p>
          <a:p>
            <a:pPr algn="just">
              <a:buFont typeface="Arial" panose="020B0604020202020204" pitchFamily="34" charset="0"/>
              <a:buChar char="•"/>
            </a:pPr>
            <a:r>
              <a:rPr lang="en-US" sz="3600" b="0" i="0" dirty="0">
                <a:solidFill>
                  <a:srgbClr val="000000"/>
                </a:solidFill>
                <a:effectLst/>
                <a:latin typeface="inter-regular"/>
              </a:rPr>
              <a:t>System Programs (Shells, Editors, Compilers, etc.)</a:t>
            </a:r>
          </a:p>
          <a:p>
            <a:pPr algn="just">
              <a:buFont typeface="Arial" panose="020B0604020202020204" pitchFamily="34" charset="0"/>
              <a:buChar char="•"/>
            </a:pPr>
            <a:r>
              <a:rPr lang="en-US" sz="3600" b="0" i="0" dirty="0">
                <a:solidFill>
                  <a:srgbClr val="000000"/>
                </a:solidFill>
                <a:effectLst/>
                <a:latin typeface="inter-regular"/>
              </a:rPr>
              <a:t>Operating System ( A special program which acts as an interface between user and hardware )</a:t>
            </a:r>
          </a:p>
          <a:p>
            <a:pPr algn="just">
              <a:buFont typeface="Arial" panose="020B0604020202020204" pitchFamily="34" charset="0"/>
              <a:buChar char="•"/>
            </a:pPr>
            <a:r>
              <a:rPr lang="en-US" sz="3600" b="0" i="0" dirty="0">
                <a:solidFill>
                  <a:srgbClr val="000000"/>
                </a:solidFill>
                <a:effectLst/>
                <a:latin typeface="inter-regular"/>
              </a:rPr>
              <a:t>Hardware ( CPU, Disks, Memory, etc.)</a:t>
            </a:r>
          </a:p>
        </p:txBody>
      </p:sp>
      <p:pic>
        <p:nvPicPr>
          <p:cNvPr id="1026" name="Picture 2" descr="Structure of a Computer System">
            <a:extLst>
              <a:ext uri="{FF2B5EF4-FFF2-40B4-BE49-F238E27FC236}">
                <a16:creationId xmlns:a16="http://schemas.microsoft.com/office/drawing/2014/main" id="{D20795E0-86EA-4E0B-9EBC-FD9CE34E21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5607" y="2514096"/>
            <a:ext cx="4324350" cy="39992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AEEE81B-6CC4-40A8-9452-A8DF3DA9F690}"/>
              </a:ext>
            </a:extLst>
          </p:cNvPr>
          <p:cNvSpPr>
            <a:spLocks noGrp="1" noChangeArrowheads="1"/>
          </p:cNvSpPr>
          <p:nvPr>
            <p:ph type="title"/>
          </p:nvPr>
        </p:nvSpPr>
        <p:spPr>
          <a:xfrm>
            <a:off x="689113" y="646113"/>
            <a:ext cx="10776055" cy="1182687"/>
          </a:xfrm>
        </p:spPr>
        <p:txBody>
          <a:bodyPr/>
          <a:lstStyle/>
          <a:p>
            <a:pPr eaLnBrk="1" hangingPunct="1">
              <a:defRPr/>
            </a:pPr>
            <a:r>
              <a:rPr lang="en-US" altLang="en-US" sz="4400" dirty="0">
                <a:solidFill>
                  <a:schemeClr val="bg1"/>
                </a:solidFill>
              </a:rPr>
              <a:t>Layered View of a Computer System</a:t>
            </a:r>
          </a:p>
        </p:txBody>
      </p:sp>
      <p:pic>
        <p:nvPicPr>
          <p:cNvPr id="10243" name="Picture 3">
            <a:extLst>
              <a:ext uri="{FF2B5EF4-FFF2-40B4-BE49-F238E27FC236}">
                <a16:creationId xmlns:a16="http://schemas.microsoft.com/office/drawing/2014/main" id="{FD6533F5-7A12-4941-9E1B-657D576F1CE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6973" t="7501" r="7574" b="5063"/>
          <a:stretch>
            <a:fillRect/>
          </a:stretch>
        </p:blipFill>
        <p:spPr>
          <a:xfrm>
            <a:off x="1298713" y="2358886"/>
            <a:ext cx="9780104" cy="4346713"/>
          </a:xfrm>
          <a:noFill/>
          <a:ln w="57150" cmpd="thickThin">
            <a:solidFill>
              <a:srgbClr val="660066"/>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FFCC99"/>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anim calcmode="lin" valueType="num">
                                      <p:cBhvr>
                                        <p:cTn id="7" dur="1000" fill="hold"/>
                                        <p:tgtEl>
                                          <p:spTgt spid="10243"/>
                                        </p:tgtEl>
                                        <p:attrNameLst>
                                          <p:attrName>ppt_w</p:attrName>
                                        </p:attrNameLst>
                                      </p:cBhvr>
                                      <p:tavLst>
                                        <p:tav tm="0">
                                          <p:val>
                                            <p:fltVal val="0"/>
                                          </p:val>
                                        </p:tav>
                                        <p:tav tm="100000">
                                          <p:val>
                                            <p:strVal val="#ppt_w"/>
                                          </p:val>
                                        </p:tav>
                                      </p:tavLst>
                                    </p:anim>
                                    <p:anim calcmode="lin" valueType="num">
                                      <p:cBhvr>
                                        <p:cTn id="8" dur="1000" fill="hold"/>
                                        <p:tgtEl>
                                          <p:spTgt spid="10243"/>
                                        </p:tgtEl>
                                        <p:attrNameLst>
                                          <p:attrName>ppt_h</p:attrName>
                                        </p:attrNameLst>
                                      </p:cBhvr>
                                      <p:tavLst>
                                        <p:tav tm="0">
                                          <p:val>
                                            <p:fltVal val="0"/>
                                          </p:val>
                                        </p:tav>
                                        <p:tav tm="100000">
                                          <p:val>
                                            <p:strVal val="#ppt_h"/>
                                          </p:val>
                                        </p:tav>
                                      </p:tavLst>
                                    </p:anim>
                                    <p:anim calcmode="lin" valueType="num">
                                      <p:cBhvr>
                                        <p:cTn id="9" dur="1000" fill="hold"/>
                                        <p:tgtEl>
                                          <p:spTgt spid="1024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24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E1153F7-677C-4C98-9DAB-40DE863AFD7C}"/>
              </a:ext>
            </a:extLst>
          </p:cNvPr>
          <p:cNvSpPr>
            <a:spLocks noGrp="1" noChangeArrowheads="1"/>
          </p:cNvSpPr>
          <p:nvPr>
            <p:ph type="title"/>
          </p:nvPr>
        </p:nvSpPr>
        <p:spPr>
          <a:xfrm>
            <a:off x="675045" y="703530"/>
            <a:ext cx="10719785" cy="1143000"/>
          </a:xfrm>
        </p:spPr>
        <p:txBody>
          <a:bodyPr/>
          <a:lstStyle/>
          <a:p>
            <a:pPr eaLnBrk="1" hangingPunct="1">
              <a:defRPr/>
            </a:pPr>
            <a:r>
              <a:rPr lang="en-US" altLang="en-US" sz="5400" dirty="0">
                <a:solidFill>
                  <a:schemeClr val="bg1"/>
                </a:solidFill>
              </a:rPr>
              <a:t>Purpose of a Computer System</a:t>
            </a:r>
          </a:p>
        </p:txBody>
      </p:sp>
      <p:sp>
        <p:nvSpPr>
          <p:cNvPr id="12291" name="Rectangle 3">
            <a:extLst>
              <a:ext uri="{FF2B5EF4-FFF2-40B4-BE49-F238E27FC236}">
                <a16:creationId xmlns:a16="http://schemas.microsoft.com/office/drawing/2014/main" id="{83D24B14-598B-40DB-8FD8-A8FF3BEED53E}"/>
              </a:ext>
            </a:extLst>
          </p:cNvPr>
          <p:cNvSpPr>
            <a:spLocks noGrp="1" noChangeArrowheads="1"/>
          </p:cNvSpPr>
          <p:nvPr>
            <p:ph type="body" sz="half" idx="1"/>
          </p:nvPr>
        </p:nvSpPr>
        <p:spPr>
          <a:xfrm>
            <a:off x="591673" y="2490569"/>
            <a:ext cx="8214702" cy="3190875"/>
          </a:xfrm>
        </p:spPr>
        <p:txBody>
          <a:bodyPr/>
          <a:lstStyle/>
          <a:p>
            <a:pPr eaLnBrk="1" hangingPunct="1">
              <a:defRPr/>
            </a:pPr>
            <a:r>
              <a:rPr lang="en-US" altLang="en-US" dirty="0">
                <a:latin typeface="Arial" panose="020B0604020202020204" pitchFamily="34" charset="0"/>
              </a:rPr>
              <a:t>Computer systems consist of software and hardware that are combined to provide a tool to solve specific problems in an efficient manner</a:t>
            </a:r>
          </a:p>
          <a:p>
            <a:pPr eaLnBrk="1" hangingPunct="1">
              <a:defRPr/>
            </a:pPr>
            <a:r>
              <a:rPr lang="en-US" altLang="en-US" dirty="0">
                <a:latin typeface="Arial" panose="020B0604020202020204" pitchFamily="34" charset="0"/>
              </a:rPr>
              <a:t>Execute programs</a:t>
            </a:r>
          </a:p>
        </p:txBody>
      </p:sp>
      <p:pic>
        <p:nvPicPr>
          <p:cNvPr id="12294" name="Picture 4" descr="j0195384">
            <a:extLst>
              <a:ext uri="{FF2B5EF4-FFF2-40B4-BE49-F238E27FC236}">
                <a16:creationId xmlns:a16="http://schemas.microsoft.com/office/drawing/2014/main" id="{BC5EA720-0388-460B-99EB-FC39625ACF11}"/>
              </a:ext>
            </a:extLst>
          </p:cNvPr>
          <p:cNvPicPr>
            <a:picLocks noGrp="1" noChangeAspect="1" noChangeArrowheads="1"/>
          </p:cNvPicPr>
          <p:nvPr>
            <p:ph sz="quarter" idx="3"/>
          </p:nvPr>
        </p:nvPicPr>
        <p:blipFill>
          <a:blip r:embed="rId3" cstate="print">
            <a:extLst>
              <a:ext uri="{28A0092B-C50C-407E-A947-70E740481C1C}">
                <a14:useLocalDpi xmlns:a14="http://schemas.microsoft.com/office/drawing/2010/main" val="0"/>
              </a:ext>
            </a:extLst>
          </a:blip>
          <a:srcRect/>
          <a:stretch>
            <a:fillRect/>
          </a:stretch>
        </p:blipFill>
        <p:spPr>
          <a:xfrm>
            <a:off x="9008014" y="2564521"/>
            <a:ext cx="1795463" cy="16652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additive="base">
                                        <p:cTn id="13" dur="500" fill="hold"/>
                                        <p:tgtEl>
                                          <p:spTgt spid="122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9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F04531B0-5AFA-44BA-9D17-62C3D33469AE}"/>
              </a:ext>
            </a:extLst>
          </p:cNvPr>
          <p:cNvSpPr>
            <a:spLocks noRot="1" noChangeArrowheads="1"/>
          </p:cNvSpPr>
          <p:nvPr/>
        </p:nvSpPr>
        <p:spPr bwMode="auto">
          <a:xfrm>
            <a:off x="1981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457200" fontAlgn="base">
              <a:spcBef>
                <a:spcPct val="0"/>
              </a:spcBef>
              <a:spcAft>
                <a:spcPct val="0"/>
              </a:spcAft>
              <a:defRPr>
                <a:solidFill>
                  <a:schemeClr val="tx1"/>
                </a:solidFill>
                <a:latin typeface="Arial" panose="020B0604020202020204" pitchFamily="34" charset="0"/>
              </a:defRPr>
            </a:lvl6pPr>
            <a:lvl7pPr marL="914400" fontAlgn="base">
              <a:spcBef>
                <a:spcPct val="0"/>
              </a:spcBef>
              <a:spcAft>
                <a:spcPct val="0"/>
              </a:spcAft>
              <a:defRPr>
                <a:solidFill>
                  <a:schemeClr val="tx1"/>
                </a:solidFill>
                <a:latin typeface="Arial" panose="020B0604020202020204" pitchFamily="34" charset="0"/>
              </a:defRPr>
            </a:lvl7pPr>
            <a:lvl8pPr marL="1371600" fontAlgn="base">
              <a:spcBef>
                <a:spcPct val="0"/>
              </a:spcBef>
              <a:spcAft>
                <a:spcPct val="0"/>
              </a:spcAft>
              <a:defRPr>
                <a:solidFill>
                  <a:schemeClr val="tx1"/>
                </a:solidFill>
                <a:latin typeface="Arial" panose="020B0604020202020204" pitchFamily="34" charset="0"/>
              </a:defRPr>
            </a:lvl8pPr>
            <a:lvl9pPr marL="1828800" fontAlgn="base">
              <a:spcBef>
                <a:spcPct val="0"/>
              </a:spcBef>
              <a:spcAft>
                <a:spcPct val="0"/>
              </a:spcAft>
              <a:defRPr>
                <a:solidFill>
                  <a:schemeClr val="tx1"/>
                </a:solidFill>
                <a:latin typeface="Arial" panose="020B0604020202020204" pitchFamily="34" charset="0"/>
              </a:defRPr>
            </a:lvl9pPr>
          </a:lstStyle>
          <a:p>
            <a:pPr algn="ctr" eaLnBrk="1" hangingPunct="1">
              <a:defRPr/>
            </a:pPr>
            <a:r>
              <a:rPr lang="en-US" altLang="en-US" sz="4800" b="1" dirty="0">
                <a:solidFill>
                  <a:schemeClr val="hlink"/>
                </a:solidFill>
                <a:effectLst>
                  <a:outerShdw blurRad="38100" dist="38100" dir="2700000" algn="tl">
                    <a:srgbClr val="000000"/>
                  </a:outerShdw>
                </a:effectLst>
                <a:latin typeface="Garamond" panose="02020404030301010803" pitchFamily="18" charset="0"/>
              </a:rPr>
              <a:t>Computer System Hardware</a:t>
            </a:r>
          </a:p>
        </p:txBody>
      </p:sp>
      <p:pic>
        <p:nvPicPr>
          <p:cNvPr id="14339" name="Picture 3">
            <a:extLst>
              <a:ext uri="{FF2B5EF4-FFF2-40B4-BE49-F238E27FC236}">
                <a16:creationId xmlns:a16="http://schemas.microsoft.com/office/drawing/2014/main" id="{E7E94BA6-0AD8-4FF3-8EFD-0ECC6061F5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7526" y="1251828"/>
            <a:ext cx="7664417" cy="5468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additive="base">
                                        <p:cTn id="7" dur="500" fill="hold"/>
                                        <p:tgtEl>
                                          <p:spTgt spid="14339"/>
                                        </p:tgtEl>
                                        <p:attrNameLst>
                                          <p:attrName>ppt_x</p:attrName>
                                        </p:attrNameLst>
                                      </p:cBhvr>
                                      <p:tavLst>
                                        <p:tav tm="0">
                                          <p:val>
                                            <p:strVal val="#ppt_x"/>
                                          </p:val>
                                        </p:tav>
                                        <p:tav tm="100000">
                                          <p:val>
                                            <p:strVal val="#ppt_x"/>
                                          </p:val>
                                        </p:tav>
                                      </p:tavLst>
                                    </p:anim>
                                    <p:anim calcmode="lin" valueType="num">
                                      <p:cBhvr additive="base">
                                        <p:cTn id="8" dur="500" fill="hold"/>
                                        <p:tgtEl>
                                          <p:spTgt spid="143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E9C91-0890-4847-9D3F-5C6C22E38D10}"/>
              </a:ext>
            </a:extLst>
          </p:cNvPr>
          <p:cNvSpPr>
            <a:spLocks noGrp="1"/>
          </p:cNvSpPr>
          <p:nvPr>
            <p:ph type="title"/>
          </p:nvPr>
        </p:nvSpPr>
        <p:spPr>
          <a:xfrm>
            <a:off x="1154954" y="838200"/>
            <a:ext cx="8761413" cy="706964"/>
          </a:xfrm>
        </p:spPr>
        <p:txBody>
          <a:bodyPr/>
          <a:lstStyle/>
          <a:p>
            <a:pPr algn="ctr">
              <a:defRPr/>
            </a:pPr>
            <a:r>
              <a:rPr lang="en-US" altLang="en-US" b="1" dirty="0">
                <a:solidFill>
                  <a:schemeClr val="bg1"/>
                </a:solidFill>
                <a:effectLst>
                  <a:outerShdw blurRad="38100" dist="38100" dir="2700000" algn="tl">
                    <a:srgbClr val="000000"/>
                  </a:outerShdw>
                </a:effectLst>
                <a:latin typeface="Garamond" panose="02020404030301010803" pitchFamily="18" charset="0"/>
              </a:rPr>
              <a:t>Computer System Hardware</a:t>
            </a:r>
          </a:p>
        </p:txBody>
      </p:sp>
      <p:sp>
        <p:nvSpPr>
          <p:cNvPr id="3" name="Content Placeholder 2">
            <a:extLst>
              <a:ext uri="{FF2B5EF4-FFF2-40B4-BE49-F238E27FC236}">
                <a16:creationId xmlns:a16="http://schemas.microsoft.com/office/drawing/2014/main" id="{2E2F8485-35F1-4EB3-95F4-50A30783F75A}"/>
              </a:ext>
            </a:extLst>
          </p:cNvPr>
          <p:cNvSpPr>
            <a:spLocks noGrp="1"/>
          </p:cNvSpPr>
          <p:nvPr>
            <p:ph idx="1"/>
          </p:nvPr>
        </p:nvSpPr>
        <p:spPr>
          <a:xfrm>
            <a:off x="351692" y="2286000"/>
            <a:ext cx="11043139" cy="4213274"/>
          </a:xfrm>
        </p:spPr>
        <p:txBody>
          <a:bodyPr>
            <a:normAutofit fontScale="92500" lnSpcReduction="20000"/>
          </a:bodyPr>
          <a:lstStyle/>
          <a:p>
            <a:pPr marL="0" indent="0">
              <a:buNone/>
            </a:pPr>
            <a:r>
              <a:rPr lang="en-US" sz="2600" b="1" dirty="0"/>
              <a:t>Processor (CPU)</a:t>
            </a:r>
          </a:p>
          <a:p>
            <a:r>
              <a:rPr lang="en-US" b="1" dirty="0"/>
              <a:t>Integer Unit</a:t>
            </a:r>
            <a:r>
              <a:rPr lang="en-US" dirty="0"/>
              <a:t>: Handles arithmetic and logical operations with integers (like addition, subtraction, AND, OR).</a:t>
            </a:r>
          </a:p>
          <a:p>
            <a:r>
              <a:rPr lang="en-US" b="1" dirty="0"/>
              <a:t>Control Unit (CU)</a:t>
            </a:r>
            <a:r>
              <a:rPr lang="en-US" dirty="0"/>
              <a:t>: Directs the flow of instructions and data; tells other parts of the system what to do.</a:t>
            </a:r>
          </a:p>
          <a:p>
            <a:r>
              <a:rPr lang="en-US" b="1" dirty="0"/>
              <a:t>Floating Point Unit (FPU)</a:t>
            </a:r>
            <a:r>
              <a:rPr lang="en-US" dirty="0"/>
              <a:t>: Performs arithmetic on real numbers (decimals, fractions), useful for scientific calculations.</a:t>
            </a:r>
          </a:p>
          <a:p>
            <a:r>
              <a:rPr lang="en-US" b="1" dirty="0"/>
              <a:t>Cache</a:t>
            </a:r>
            <a:r>
              <a:rPr lang="en-US" dirty="0"/>
              <a:t>: A small, very fast memory inside the CPU that stores frequently used instructions/data for quick access</a:t>
            </a:r>
          </a:p>
          <a:p>
            <a:pPr marL="0" indent="0" eaLnBrk="1" hangingPunct="1">
              <a:spcBef>
                <a:spcPct val="20000"/>
              </a:spcBef>
              <a:buClr>
                <a:schemeClr val="hlink"/>
              </a:buClr>
              <a:buSzPct val="70000"/>
              <a:buNone/>
              <a:defRPr/>
            </a:pPr>
            <a:endParaRPr lang="en-US" dirty="0"/>
          </a:p>
          <a:p>
            <a:pPr marL="0" indent="0">
              <a:buNone/>
            </a:pPr>
            <a:r>
              <a:rPr lang="en-US" sz="2600" b="1" dirty="0"/>
              <a:t>System Bus</a:t>
            </a:r>
          </a:p>
          <a:p>
            <a:r>
              <a:rPr lang="en-US" sz="2000" dirty="0"/>
              <a:t>Acts like a </a:t>
            </a:r>
            <a:r>
              <a:rPr lang="en-US" sz="2000" b="1" dirty="0"/>
              <a:t>highway</a:t>
            </a:r>
            <a:r>
              <a:rPr lang="en-US" sz="2000" dirty="0"/>
              <a:t> connecting all the main components.</a:t>
            </a:r>
          </a:p>
          <a:p>
            <a:r>
              <a:rPr lang="en-US" sz="2000" dirty="0"/>
              <a:t>Transports </a:t>
            </a:r>
            <a:r>
              <a:rPr lang="en-US" sz="2000" b="1" dirty="0"/>
              <a:t>data, addresses, and control signals</a:t>
            </a:r>
            <a:r>
              <a:rPr lang="en-US" sz="2000" dirty="0"/>
              <a:t> between the CPU, memory, and input/output (I/O) devices.</a:t>
            </a:r>
          </a:p>
        </p:txBody>
      </p:sp>
      <p:sp>
        <p:nvSpPr>
          <p:cNvPr id="4" name="Footer Placeholder 3">
            <a:extLst>
              <a:ext uri="{FF2B5EF4-FFF2-40B4-BE49-F238E27FC236}">
                <a16:creationId xmlns:a16="http://schemas.microsoft.com/office/drawing/2014/main" id="{1F3708CE-FD7C-4115-AEEF-2F5262F75F67}"/>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17DA8D7E-1041-4D6F-8C91-03F1167840D6}"/>
              </a:ext>
            </a:extLst>
          </p:cNvPr>
          <p:cNvSpPr>
            <a:spLocks noGrp="1"/>
          </p:cNvSpPr>
          <p:nvPr>
            <p:ph type="sldNum" sz="quarter" idx="12"/>
          </p:nvPr>
        </p:nvSpPr>
        <p:spPr/>
        <p:txBody>
          <a:bodyPr/>
          <a:lstStyle/>
          <a:p>
            <a:fld id="{8E9ED8F5-F0EE-4F30-BF79-1CB5FF8C36DA}" type="slidenum">
              <a:rPr lang="en-US" smtClean="0"/>
              <a:pPr/>
              <a:t>11</a:t>
            </a:fld>
            <a:endParaRPr lang="en-US"/>
          </a:p>
        </p:txBody>
      </p:sp>
    </p:spTree>
    <p:extLst>
      <p:ext uri="{BB962C8B-B14F-4D97-AF65-F5344CB8AC3E}">
        <p14:creationId xmlns:p14="http://schemas.microsoft.com/office/powerpoint/2010/main" val="356760561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E9C91-0890-4847-9D3F-5C6C22E38D10}"/>
              </a:ext>
            </a:extLst>
          </p:cNvPr>
          <p:cNvSpPr>
            <a:spLocks noGrp="1"/>
          </p:cNvSpPr>
          <p:nvPr>
            <p:ph type="title"/>
          </p:nvPr>
        </p:nvSpPr>
        <p:spPr>
          <a:xfrm>
            <a:off x="1154954" y="838200"/>
            <a:ext cx="8761413" cy="706964"/>
          </a:xfrm>
        </p:spPr>
        <p:txBody>
          <a:bodyPr/>
          <a:lstStyle/>
          <a:p>
            <a:pPr algn="ctr">
              <a:defRPr/>
            </a:pPr>
            <a:r>
              <a:rPr lang="en-US" altLang="en-US" b="1" dirty="0">
                <a:solidFill>
                  <a:schemeClr val="bg1"/>
                </a:solidFill>
                <a:effectLst>
                  <a:outerShdw blurRad="38100" dist="38100" dir="2700000" algn="tl">
                    <a:srgbClr val="000000"/>
                  </a:outerShdw>
                </a:effectLst>
                <a:latin typeface="Garamond" panose="02020404030301010803" pitchFamily="18" charset="0"/>
              </a:rPr>
              <a:t>Computer System Hardware</a:t>
            </a:r>
          </a:p>
        </p:txBody>
      </p:sp>
      <p:sp>
        <p:nvSpPr>
          <p:cNvPr id="3" name="Content Placeholder 2">
            <a:extLst>
              <a:ext uri="{FF2B5EF4-FFF2-40B4-BE49-F238E27FC236}">
                <a16:creationId xmlns:a16="http://schemas.microsoft.com/office/drawing/2014/main" id="{2E2F8485-35F1-4EB3-95F4-50A30783F75A}"/>
              </a:ext>
            </a:extLst>
          </p:cNvPr>
          <p:cNvSpPr>
            <a:spLocks noGrp="1"/>
          </p:cNvSpPr>
          <p:nvPr>
            <p:ph idx="1"/>
          </p:nvPr>
        </p:nvSpPr>
        <p:spPr>
          <a:xfrm>
            <a:off x="351692" y="2286000"/>
            <a:ext cx="11043139" cy="4213274"/>
          </a:xfrm>
        </p:spPr>
        <p:txBody>
          <a:bodyPr>
            <a:normAutofit/>
          </a:bodyPr>
          <a:lstStyle/>
          <a:p>
            <a:pPr marL="0" indent="0">
              <a:buNone/>
            </a:pPr>
            <a:r>
              <a:rPr lang="en-US" sz="2800" b="1" dirty="0"/>
              <a:t>Memory Bus</a:t>
            </a:r>
          </a:p>
          <a:p>
            <a:r>
              <a:rPr lang="en-US" sz="1700" dirty="0"/>
              <a:t>Connects the CPU to </a:t>
            </a:r>
            <a:r>
              <a:rPr lang="en-US" sz="1700" b="1" dirty="0"/>
              <a:t>RAM/ROM</a:t>
            </a:r>
            <a:r>
              <a:rPr lang="en-US" sz="1700" dirty="0"/>
              <a:t>.</a:t>
            </a:r>
          </a:p>
          <a:p>
            <a:r>
              <a:rPr lang="en-US" sz="1700" b="1" dirty="0"/>
              <a:t>RAM (Random Access Memory):</a:t>
            </a:r>
            <a:r>
              <a:rPr lang="en-US" sz="1700" dirty="0"/>
              <a:t> Temporary, volatile storage for currently running programs and data.</a:t>
            </a:r>
          </a:p>
          <a:p>
            <a:r>
              <a:rPr lang="en-US" sz="1700" b="1" dirty="0"/>
              <a:t>ROM (Read Only Memory):</a:t>
            </a:r>
            <a:r>
              <a:rPr lang="en-US" sz="1700" dirty="0"/>
              <a:t> Permanent memory storing essential instructions (like firmware/bootloader).</a:t>
            </a:r>
          </a:p>
          <a:p>
            <a:pPr marL="0" indent="0">
              <a:buNone/>
            </a:pPr>
            <a:r>
              <a:rPr lang="en-US" sz="2800" b="1" dirty="0"/>
              <a:t>Input Devices (connected via System Bus)</a:t>
            </a:r>
          </a:p>
          <a:p>
            <a:r>
              <a:rPr lang="en-US" sz="1700" dirty="0"/>
              <a:t>Keyboard: Used to input text and commands.</a:t>
            </a:r>
          </a:p>
          <a:p>
            <a:r>
              <a:rPr lang="en-US" sz="1700" dirty="0"/>
              <a:t>Mouse: Used to control the graphical interface (cursor movement, clicks).</a:t>
            </a:r>
          </a:p>
          <a:p>
            <a:endParaRPr lang="en-US" sz="2800" dirty="0"/>
          </a:p>
        </p:txBody>
      </p:sp>
      <p:sp>
        <p:nvSpPr>
          <p:cNvPr id="4" name="Footer Placeholder 3">
            <a:extLst>
              <a:ext uri="{FF2B5EF4-FFF2-40B4-BE49-F238E27FC236}">
                <a16:creationId xmlns:a16="http://schemas.microsoft.com/office/drawing/2014/main" id="{1F3708CE-FD7C-4115-AEEF-2F5262F75F67}"/>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17DA8D7E-1041-4D6F-8C91-03F1167840D6}"/>
              </a:ext>
            </a:extLst>
          </p:cNvPr>
          <p:cNvSpPr>
            <a:spLocks noGrp="1"/>
          </p:cNvSpPr>
          <p:nvPr>
            <p:ph type="sldNum" sz="quarter" idx="12"/>
          </p:nvPr>
        </p:nvSpPr>
        <p:spPr/>
        <p:txBody>
          <a:bodyPr/>
          <a:lstStyle/>
          <a:p>
            <a:fld id="{8E9ED8F5-F0EE-4F30-BF79-1CB5FF8C36DA}" type="slidenum">
              <a:rPr lang="en-US" smtClean="0"/>
              <a:pPr/>
              <a:t>12</a:t>
            </a:fld>
            <a:endParaRPr lang="en-US"/>
          </a:p>
        </p:txBody>
      </p:sp>
    </p:spTree>
    <p:extLst>
      <p:ext uri="{BB962C8B-B14F-4D97-AF65-F5344CB8AC3E}">
        <p14:creationId xmlns:p14="http://schemas.microsoft.com/office/powerpoint/2010/main" val="427350561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E9C91-0890-4847-9D3F-5C6C22E38D10}"/>
              </a:ext>
            </a:extLst>
          </p:cNvPr>
          <p:cNvSpPr>
            <a:spLocks noGrp="1"/>
          </p:cNvSpPr>
          <p:nvPr>
            <p:ph type="title"/>
          </p:nvPr>
        </p:nvSpPr>
        <p:spPr>
          <a:xfrm>
            <a:off x="1154954" y="838200"/>
            <a:ext cx="8761413" cy="706964"/>
          </a:xfrm>
        </p:spPr>
        <p:txBody>
          <a:bodyPr/>
          <a:lstStyle/>
          <a:p>
            <a:pPr algn="ctr">
              <a:defRPr/>
            </a:pPr>
            <a:r>
              <a:rPr lang="en-US" altLang="en-US" b="1" dirty="0">
                <a:solidFill>
                  <a:schemeClr val="bg1"/>
                </a:solidFill>
                <a:effectLst>
                  <a:outerShdw blurRad="38100" dist="38100" dir="2700000" algn="tl">
                    <a:srgbClr val="000000"/>
                  </a:outerShdw>
                </a:effectLst>
                <a:latin typeface="Garamond" panose="02020404030301010803" pitchFamily="18" charset="0"/>
              </a:rPr>
              <a:t>Computer System Hardware</a:t>
            </a:r>
          </a:p>
        </p:txBody>
      </p:sp>
      <p:sp>
        <p:nvSpPr>
          <p:cNvPr id="3" name="Content Placeholder 2">
            <a:extLst>
              <a:ext uri="{FF2B5EF4-FFF2-40B4-BE49-F238E27FC236}">
                <a16:creationId xmlns:a16="http://schemas.microsoft.com/office/drawing/2014/main" id="{2E2F8485-35F1-4EB3-95F4-50A30783F75A}"/>
              </a:ext>
            </a:extLst>
          </p:cNvPr>
          <p:cNvSpPr>
            <a:spLocks noGrp="1"/>
          </p:cNvSpPr>
          <p:nvPr>
            <p:ph idx="1"/>
          </p:nvPr>
        </p:nvSpPr>
        <p:spPr>
          <a:xfrm>
            <a:off x="390881" y="2827256"/>
            <a:ext cx="11043139" cy="3082834"/>
          </a:xfrm>
        </p:spPr>
        <p:txBody>
          <a:bodyPr>
            <a:normAutofit/>
          </a:bodyPr>
          <a:lstStyle/>
          <a:p>
            <a:r>
              <a:rPr lang="en-US" sz="2800" b="1" dirty="0"/>
              <a:t>Output Devices</a:t>
            </a:r>
          </a:p>
          <a:p>
            <a:r>
              <a:rPr lang="en-US" sz="1700" dirty="0"/>
              <a:t>Monitor: Displays information visually to the user.</a:t>
            </a:r>
          </a:p>
          <a:p>
            <a:r>
              <a:rPr lang="en-US" sz="1700" dirty="0"/>
              <a:t>Printer: Produces a physical (paper) copy of digital information.</a:t>
            </a:r>
          </a:p>
          <a:p>
            <a:r>
              <a:rPr lang="en-US" sz="2800" b="1" dirty="0"/>
              <a:t>Storage Devices</a:t>
            </a:r>
          </a:p>
          <a:p>
            <a:r>
              <a:rPr lang="en-US" sz="1700" dirty="0"/>
              <a:t>HD (Hard Disk): Long-term data storage, holds the operating system, applications, and files.</a:t>
            </a:r>
          </a:p>
          <a:p>
            <a:r>
              <a:rPr lang="en-US" sz="1700" dirty="0"/>
              <a:t>CD: Optical disk used for reading/writing data (older storage medium, still shown here for completeness).</a:t>
            </a:r>
          </a:p>
        </p:txBody>
      </p:sp>
      <p:sp>
        <p:nvSpPr>
          <p:cNvPr id="4" name="Footer Placeholder 3">
            <a:extLst>
              <a:ext uri="{FF2B5EF4-FFF2-40B4-BE49-F238E27FC236}">
                <a16:creationId xmlns:a16="http://schemas.microsoft.com/office/drawing/2014/main" id="{1F3708CE-FD7C-4115-AEEF-2F5262F75F67}"/>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17DA8D7E-1041-4D6F-8C91-03F1167840D6}"/>
              </a:ext>
            </a:extLst>
          </p:cNvPr>
          <p:cNvSpPr>
            <a:spLocks noGrp="1"/>
          </p:cNvSpPr>
          <p:nvPr>
            <p:ph type="sldNum" sz="quarter" idx="12"/>
          </p:nvPr>
        </p:nvSpPr>
        <p:spPr/>
        <p:txBody>
          <a:bodyPr/>
          <a:lstStyle/>
          <a:p>
            <a:fld id="{8E9ED8F5-F0EE-4F30-BF79-1CB5FF8C36DA}" type="slidenum">
              <a:rPr lang="en-US" smtClean="0"/>
              <a:pPr/>
              <a:t>13</a:t>
            </a:fld>
            <a:endParaRPr lang="en-US"/>
          </a:p>
        </p:txBody>
      </p:sp>
    </p:spTree>
    <p:extLst>
      <p:ext uri="{BB962C8B-B14F-4D97-AF65-F5344CB8AC3E}">
        <p14:creationId xmlns:p14="http://schemas.microsoft.com/office/powerpoint/2010/main" val="9710187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E9C91-0890-4847-9D3F-5C6C22E38D10}"/>
              </a:ext>
            </a:extLst>
          </p:cNvPr>
          <p:cNvSpPr>
            <a:spLocks noGrp="1"/>
          </p:cNvSpPr>
          <p:nvPr>
            <p:ph type="title"/>
          </p:nvPr>
        </p:nvSpPr>
        <p:spPr>
          <a:xfrm>
            <a:off x="1154954" y="838200"/>
            <a:ext cx="8761413" cy="706964"/>
          </a:xfrm>
        </p:spPr>
        <p:txBody>
          <a:bodyPr/>
          <a:lstStyle/>
          <a:p>
            <a:r>
              <a:rPr lang="en-US" dirty="0"/>
              <a:t>What is an Operating System?</a:t>
            </a:r>
          </a:p>
        </p:txBody>
      </p:sp>
      <p:sp>
        <p:nvSpPr>
          <p:cNvPr id="3" name="Content Placeholder 2">
            <a:extLst>
              <a:ext uri="{FF2B5EF4-FFF2-40B4-BE49-F238E27FC236}">
                <a16:creationId xmlns:a16="http://schemas.microsoft.com/office/drawing/2014/main" id="{2E2F8485-35F1-4EB3-95F4-50A30783F75A}"/>
              </a:ext>
            </a:extLst>
          </p:cNvPr>
          <p:cNvSpPr>
            <a:spLocks noGrp="1"/>
          </p:cNvSpPr>
          <p:nvPr>
            <p:ph idx="1"/>
          </p:nvPr>
        </p:nvSpPr>
        <p:spPr>
          <a:xfrm>
            <a:off x="351692" y="2603500"/>
            <a:ext cx="11043139" cy="3895774"/>
          </a:xfrm>
        </p:spPr>
        <p:txBody>
          <a:bodyPr>
            <a:normAutofit/>
          </a:bodyPr>
          <a:lstStyle/>
          <a:p>
            <a:pPr eaLnBrk="1" hangingPunct="1">
              <a:spcBef>
                <a:spcPct val="20000"/>
              </a:spcBef>
              <a:buClr>
                <a:schemeClr val="hlink"/>
              </a:buClr>
              <a:buSzPct val="70000"/>
              <a:buFont typeface="Wingdings" panose="05000000000000000000" pitchFamily="2" charset="2"/>
              <a:buChar char="n"/>
              <a:defRPr/>
            </a:pPr>
            <a:r>
              <a:rPr lang="en-US" altLang="en-US" sz="1800" dirty="0"/>
              <a:t>A program that acts as an intermediary between a user of a computer and the computer hardware—provides the user a simpler (virtual) machine to work with</a:t>
            </a:r>
          </a:p>
          <a:p>
            <a:pPr eaLnBrk="1" hangingPunct="1">
              <a:spcBef>
                <a:spcPct val="20000"/>
              </a:spcBef>
              <a:buClr>
                <a:schemeClr val="hlink"/>
              </a:buClr>
              <a:buSzPct val="70000"/>
              <a:buFont typeface="Wingdings" panose="05000000000000000000" pitchFamily="2" charset="2"/>
              <a:buChar char="n"/>
              <a:defRPr/>
            </a:pPr>
            <a:r>
              <a:rPr lang="en-US" altLang="en-US" sz="1800" dirty="0"/>
              <a:t>A program that allocates and deallocates computer system resources in an efficient, fair, and secure manner—a resource manager</a:t>
            </a:r>
            <a:r>
              <a:rPr lang="en-US" dirty="0"/>
              <a:t> system. It takes preventive measures whenever required to avoid errors.</a:t>
            </a:r>
          </a:p>
          <a:p>
            <a:pPr marL="0" indent="0" eaLnBrk="1" hangingPunct="1">
              <a:spcBef>
                <a:spcPct val="20000"/>
              </a:spcBef>
              <a:buClr>
                <a:schemeClr val="hlink"/>
              </a:buClr>
              <a:buSzPct val="70000"/>
              <a:buNone/>
              <a:defRPr/>
            </a:pPr>
            <a:endParaRPr lang="en-US" dirty="0"/>
          </a:p>
          <a:p>
            <a:pPr eaLnBrk="1" hangingPunct="1">
              <a:spcBef>
                <a:spcPct val="20000"/>
              </a:spcBef>
              <a:buClr>
                <a:schemeClr val="hlink"/>
              </a:buClr>
              <a:buSzPct val="70000"/>
              <a:buFont typeface="Wingdings" panose="05000000000000000000" pitchFamily="2" charset="2"/>
              <a:buChar char="n"/>
              <a:defRPr/>
            </a:pPr>
            <a:r>
              <a:rPr lang="en-US" sz="2000" b="1" dirty="0">
                <a:solidFill>
                  <a:schemeClr val="accent5">
                    <a:lumMod val="75000"/>
                  </a:schemeClr>
                </a:solidFill>
              </a:rPr>
              <a:t>Why do we need an OS</a:t>
            </a:r>
            <a:br>
              <a:rPr lang="en-US" dirty="0"/>
            </a:br>
            <a:r>
              <a:rPr lang="en-US" b="1" dirty="0"/>
              <a:t>It manages the computer's memory and processes, </a:t>
            </a:r>
            <a:r>
              <a:rPr lang="en-US" dirty="0"/>
              <a:t>as well as all of its software and hardware. It also allows you to communicate with the computer without knowing how to speak the computer's language. Without an operating system, a computer is useless</a:t>
            </a:r>
            <a:r>
              <a:rPr lang="en-US" b="0" i="0" dirty="0">
                <a:solidFill>
                  <a:srgbClr val="202124"/>
                </a:solidFill>
                <a:effectLst/>
                <a:latin typeface="arial" panose="020B0604020202020204" pitchFamily="34" charset="0"/>
              </a:rPr>
              <a:t>.</a:t>
            </a:r>
            <a:endParaRPr lang="en-US" dirty="0"/>
          </a:p>
        </p:txBody>
      </p:sp>
      <p:sp>
        <p:nvSpPr>
          <p:cNvPr id="4" name="Footer Placeholder 3">
            <a:extLst>
              <a:ext uri="{FF2B5EF4-FFF2-40B4-BE49-F238E27FC236}">
                <a16:creationId xmlns:a16="http://schemas.microsoft.com/office/drawing/2014/main" id="{1F3708CE-FD7C-4115-AEEF-2F5262F75F67}"/>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17DA8D7E-1041-4D6F-8C91-03F1167840D6}"/>
              </a:ext>
            </a:extLst>
          </p:cNvPr>
          <p:cNvSpPr>
            <a:spLocks noGrp="1"/>
          </p:cNvSpPr>
          <p:nvPr>
            <p:ph type="sldNum" sz="quarter" idx="12"/>
          </p:nvPr>
        </p:nvSpPr>
        <p:spPr/>
        <p:txBody>
          <a:bodyPr/>
          <a:lstStyle/>
          <a:p>
            <a:fld id="{8E9ED8F5-F0EE-4F30-BF79-1CB5FF8C36DA}" type="slidenum">
              <a:rPr lang="en-US" smtClean="0"/>
              <a:pPr/>
              <a:t>14</a:t>
            </a:fld>
            <a:endParaRPr lang="en-US"/>
          </a:p>
        </p:txBody>
      </p:sp>
    </p:spTree>
    <p:extLst>
      <p:ext uri="{BB962C8B-B14F-4D97-AF65-F5344CB8AC3E}">
        <p14:creationId xmlns:p14="http://schemas.microsoft.com/office/powerpoint/2010/main" val="426781322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E9C91-0890-4847-9D3F-5C6C22E38D10}"/>
              </a:ext>
            </a:extLst>
          </p:cNvPr>
          <p:cNvSpPr>
            <a:spLocks noGrp="1"/>
          </p:cNvSpPr>
          <p:nvPr>
            <p:ph type="title"/>
          </p:nvPr>
        </p:nvSpPr>
        <p:spPr>
          <a:xfrm>
            <a:off x="1154954" y="838200"/>
            <a:ext cx="8761413" cy="706964"/>
          </a:xfrm>
        </p:spPr>
        <p:txBody>
          <a:bodyPr/>
          <a:lstStyle/>
          <a:p>
            <a:r>
              <a:rPr lang="en-US" dirty="0"/>
              <a:t>Functions of Operating System</a:t>
            </a:r>
            <a:br>
              <a:rPr lang="en-US" dirty="0"/>
            </a:br>
            <a:endParaRPr lang="en-US" dirty="0"/>
          </a:p>
        </p:txBody>
      </p:sp>
      <p:sp>
        <p:nvSpPr>
          <p:cNvPr id="3" name="Content Placeholder 2">
            <a:extLst>
              <a:ext uri="{FF2B5EF4-FFF2-40B4-BE49-F238E27FC236}">
                <a16:creationId xmlns:a16="http://schemas.microsoft.com/office/drawing/2014/main" id="{2E2F8485-35F1-4EB3-95F4-50A30783F75A}"/>
              </a:ext>
            </a:extLst>
          </p:cNvPr>
          <p:cNvSpPr>
            <a:spLocks noGrp="1"/>
          </p:cNvSpPr>
          <p:nvPr>
            <p:ph idx="1"/>
          </p:nvPr>
        </p:nvSpPr>
        <p:spPr>
          <a:xfrm>
            <a:off x="690720" y="2322146"/>
            <a:ext cx="11112074" cy="4430346"/>
          </a:xfrm>
        </p:spPr>
        <p:txBody>
          <a:bodyPr>
            <a:normAutofit/>
          </a:bodyPr>
          <a:lstStyle/>
          <a:p>
            <a:r>
              <a:rPr lang="en-US" dirty="0"/>
              <a:t>It boots the computer</a:t>
            </a:r>
          </a:p>
          <a:p>
            <a:r>
              <a:rPr lang="en-US" dirty="0"/>
              <a:t>It performs basic computer tasks e.g., managing the various peripheral devices e.g., mouse, keyboard</a:t>
            </a:r>
          </a:p>
          <a:p>
            <a:r>
              <a:rPr lang="en-US" dirty="0"/>
              <a:t>It provides a user interface, e.g., command line, graphical user interface (GUI)</a:t>
            </a:r>
          </a:p>
          <a:p>
            <a:r>
              <a:rPr lang="en-US" dirty="0"/>
              <a:t>It handles system resources such as computer's memory and sharing of the central processing unit(CPU) time by various applications or peripheral devices.</a:t>
            </a:r>
          </a:p>
          <a:p>
            <a:r>
              <a:rPr lang="en-US" dirty="0"/>
              <a:t>It provides file management which refers to the way that the operating system manipulates, stores, retrieves and saves data.</a:t>
            </a:r>
          </a:p>
          <a:p>
            <a:r>
              <a:rPr lang="en-US" dirty="0"/>
              <a:t>Error Handling is done by the operating system. It takes preventive measures whenever required to avoid errors.</a:t>
            </a:r>
            <a:br>
              <a:rPr lang="en-US" dirty="0"/>
            </a:br>
            <a:endParaRPr lang="en-US" dirty="0"/>
          </a:p>
        </p:txBody>
      </p:sp>
      <p:sp>
        <p:nvSpPr>
          <p:cNvPr id="4" name="Footer Placeholder 3">
            <a:extLst>
              <a:ext uri="{FF2B5EF4-FFF2-40B4-BE49-F238E27FC236}">
                <a16:creationId xmlns:a16="http://schemas.microsoft.com/office/drawing/2014/main" id="{1F3708CE-FD7C-4115-AEEF-2F5262F75F67}"/>
              </a:ext>
            </a:extLst>
          </p:cNvPr>
          <p:cNvSpPr>
            <a:spLocks noGrp="1"/>
          </p:cNvSpPr>
          <p:nvPr>
            <p:ph type="ftr" sz="quarter" idx="11"/>
          </p:nvPr>
        </p:nvSpPr>
        <p:spPr/>
        <p:txBody>
          <a:bodyPr/>
          <a:lstStyle/>
          <a:p>
            <a:r>
              <a:rPr lang="en-US" dirty="0"/>
              <a:t>Lahore Garrison University</a:t>
            </a:r>
          </a:p>
        </p:txBody>
      </p:sp>
      <p:sp>
        <p:nvSpPr>
          <p:cNvPr id="5" name="Slide Number Placeholder 4">
            <a:extLst>
              <a:ext uri="{FF2B5EF4-FFF2-40B4-BE49-F238E27FC236}">
                <a16:creationId xmlns:a16="http://schemas.microsoft.com/office/drawing/2014/main" id="{17DA8D7E-1041-4D6F-8C91-03F1167840D6}"/>
              </a:ext>
            </a:extLst>
          </p:cNvPr>
          <p:cNvSpPr>
            <a:spLocks noGrp="1"/>
          </p:cNvSpPr>
          <p:nvPr>
            <p:ph type="sldNum" sz="quarter" idx="12"/>
          </p:nvPr>
        </p:nvSpPr>
        <p:spPr/>
        <p:txBody>
          <a:bodyPr/>
          <a:lstStyle/>
          <a:p>
            <a:fld id="{8E9ED8F5-F0EE-4F30-BF79-1CB5FF8C36DA}" type="slidenum">
              <a:rPr lang="en-US" smtClean="0"/>
              <a:pPr/>
              <a:t>15</a:t>
            </a:fld>
            <a:endParaRPr lang="en-US"/>
          </a:p>
        </p:txBody>
      </p:sp>
    </p:spTree>
    <p:extLst>
      <p:ext uri="{BB962C8B-B14F-4D97-AF65-F5344CB8AC3E}">
        <p14:creationId xmlns:p14="http://schemas.microsoft.com/office/powerpoint/2010/main" val="30217067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38BD8-9C7E-4B28-8024-F351FA3B2527}"/>
              </a:ext>
            </a:extLst>
          </p:cNvPr>
          <p:cNvSpPr>
            <a:spLocks noGrp="1"/>
          </p:cNvSpPr>
          <p:nvPr>
            <p:ph type="title"/>
          </p:nvPr>
        </p:nvSpPr>
        <p:spPr/>
        <p:txBody>
          <a:bodyPr/>
          <a:lstStyle/>
          <a:p>
            <a:r>
              <a:rPr lang="en-US" dirty="0"/>
              <a:t>Functions of Operating System</a:t>
            </a:r>
          </a:p>
        </p:txBody>
      </p:sp>
      <p:sp>
        <p:nvSpPr>
          <p:cNvPr id="4" name="Footer Placeholder 3">
            <a:extLst>
              <a:ext uri="{FF2B5EF4-FFF2-40B4-BE49-F238E27FC236}">
                <a16:creationId xmlns:a16="http://schemas.microsoft.com/office/drawing/2014/main" id="{91D704BE-3530-4645-9BE5-EED329BB319F}"/>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AAF7EEA9-1B5F-4E33-9B64-30C11C5B0F82}"/>
              </a:ext>
            </a:extLst>
          </p:cNvPr>
          <p:cNvSpPr>
            <a:spLocks noGrp="1"/>
          </p:cNvSpPr>
          <p:nvPr>
            <p:ph type="sldNum" sz="quarter" idx="12"/>
          </p:nvPr>
        </p:nvSpPr>
        <p:spPr/>
        <p:txBody>
          <a:bodyPr/>
          <a:lstStyle/>
          <a:p>
            <a:fld id="{8E9ED8F5-F0EE-4F30-BF79-1CB5FF8C36DA}" type="slidenum">
              <a:rPr lang="en-US" smtClean="0"/>
              <a:pPr/>
              <a:t>16</a:t>
            </a:fld>
            <a:endParaRPr lang="en-US"/>
          </a:p>
        </p:txBody>
      </p:sp>
      <p:pic>
        <p:nvPicPr>
          <p:cNvPr id="1026" name="Picture 2" descr="Functions of Operating System">
            <a:extLst>
              <a:ext uri="{FF2B5EF4-FFF2-40B4-BE49-F238E27FC236}">
                <a16:creationId xmlns:a16="http://schemas.microsoft.com/office/drawing/2014/main" id="{87E3FACB-2CC2-4FA1-91CC-EA9C872AE40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1852" y="2349305"/>
            <a:ext cx="8159261" cy="3910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555289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1FA7480-DA00-4DFF-99A5-2DF2D3163CB3}"/>
              </a:ext>
            </a:extLst>
          </p:cNvPr>
          <p:cNvSpPr>
            <a:spLocks noGrp="1" noChangeArrowheads="1"/>
          </p:cNvSpPr>
          <p:nvPr>
            <p:ph type="title"/>
          </p:nvPr>
        </p:nvSpPr>
        <p:spPr/>
        <p:txBody>
          <a:bodyPr/>
          <a:lstStyle/>
          <a:p>
            <a:pPr eaLnBrk="1" hangingPunct="1">
              <a:defRPr/>
            </a:pPr>
            <a:r>
              <a:rPr lang="en-US" altLang="en-US" sz="4400" dirty="0">
                <a:solidFill>
                  <a:schemeClr val="bg1"/>
                </a:solidFill>
              </a:rPr>
              <a:t>Operating System Goals</a:t>
            </a:r>
          </a:p>
        </p:txBody>
      </p:sp>
      <p:sp>
        <p:nvSpPr>
          <p:cNvPr id="55299" name="Rectangle 3">
            <a:extLst>
              <a:ext uri="{FF2B5EF4-FFF2-40B4-BE49-F238E27FC236}">
                <a16:creationId xmlns:a16="http://schemas.microsoft.com/office/drawing/2014/main" id="{97DFD155-602E-4809-A8E2-056F7537B4BB}"/>
              </a:ext>
            </a:extLst>
          </p:cNvPr>
          <p:cNvSpPr>
            <a:spLocks noGrp="1" noChangeArrowheads="1"/>
          </p:cNvSpPr>
          <p:nvPr>
            <p:ph type="body" idx="1"/>
          </p:nvPr>
        </p:nvSpPr>
        <p:spPr>
          <a:xfrm>
            <a:off x="1981200" y="2332037"/>
            <a:ext cx="8229600" cy="4525963"/>
          </a:xfrm>
        </p:spPr>
        <p:txBody>
          <a:bodyPr/>
          <a:lstStyle/>
          <a:p>
            <a:pPr eaLnBrk="1" hangingPunct="1">
              <a:defRPr/>
            </a:pPr>
            <a:r>
              <a:rPr lang="en-US" altLang="en-US" dirty="0">
                <a:latin typeface="Arial" panose="020B0604020202020204" pitchFamily="34" charset="0"/>
              </a:rPr>
              <a:t>Execute user programs and make solving user problems easier.</a:t>
            </a:r>
          </a:p>
          <a:p>
            <a:pPr eaLnBrk="1" hangingPunct="1">
              <a:defRPr/>
            </a:pPr>
            <a:r>
              <a:rPr lang="en-US" altLang="en-US" dirty="0">
                <a:latin typeface="Arial" panose="020B0604020202020204" pitchFamily="34" charset="0"/>
              </a:rPr>
              <a:t>Make the computer system convenient to use.</a:t>
            </a:r>
          </a:p>
          <a:p>
            <a:pPr eaLnBrk="1" hangingPunct="1">
              <a:defRPr/>
            </a:pPr>
            <a:r>
              <a:rPr lang="en-US" altLang="en-US" dirty="0">
                <a:latin typeface="Arial" panose="020B0604020202020204" pitchFamily="34" charset="0"/>
              </a:rPr>
              <a:t>Use the computer hardware in an efficient manner.</a:t>
            </a:r>
          </a:p>
          <a:p>
            <a:pPr eaLnBrk="1" hangingPunct="1">
              <a:defRPr/>
            </a:pPr>
            <a:endParaRPr lang="en-US" altLang="en-US" dirty="0">
              <a:latin typeface="Arial" panose="020B0604020202020204" pitchFamily="34" charset="0"/>
            </a:endParaRPr>
          </a:p>
        </p:txBody>
      </p:sp>
    </p:spTree>
    <p:extLst>
      <p:ext uri="{BB962C8B-B14F-4D97-AF65-F5344CB8AC3E}">
        <p14:creationId xmlns:p14="http://schemas.microsoft.com/office/powerpoint/2010/main" val="21573646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5299">
                                            <p:txEl>
                                              <p:pRg st="1" end="1"/>
                                            </p:txEl>
                                          </p:spTgt>
                                        </p:tgtEl>
                                        <p:attrNameLst>
                                          <p:attrName>style.visibility</p:attrName>
                                        </p:attrNameLst>
                                      </p:cBhvr>
                                      <p:to>
                                        <p:strVal val="visible"/>
                                      </p:to>
                                    </p:set>
                                    <p:anim calcmode="lin" valueType="num">
                                      <p:cBhvr additive="base">
                                        <p:cTn id="13" dur="500" fill="hold"/>
                                        <p:tgtEl>
                                          <p:spTgt spid="5529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52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5299">
                                            <p:txEl>
                                              <p:pRg st="2" end="2"/>
                                            </p:txEl>
                                          </p:spTgt>
                                        </p:tgtEl>
                                        <p:attrNameLst>
                                          <p:attrName>style.visibility</p:attrName>
                                        </p:attrNameLst>
                                      </p:cBhvr>
                                      <p:to>
                                        <p:strVal val="visible"/>
                                      </p:to>
                                    </p:set>
                                    <p:anim calcmode="lin" valueType="num">
                                      <p:cBhvr additive="base">
                                        <p:cTn id="19" dur="500" fill="hold"/>
                                        <p:tgtEl>
                                          <p:spTgt spid="5529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529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CA5B7-58D0-4E1A-8CF2-B6A0BFE7F474}"/>
              </a:ext>
            </a:extLst>
          </p:cNvPr>
          <p:cNvSpPr>
            <a:spLocks noGrp="1"/>
          </p:cNvSpPr>
          <p:nvPr>
            <p:ph type="title"/>
          </p:nvPr>
        </p:nvSpPr>
        <p:spPr/>
        <p:txBody>
          <a:bodyPr/>
          <a:lstStyle/>
          <a:p>
            <a:r>
              <a:rPr lang="en-US" dirty="0"/>
              <a:t>How OS Start and develop through ages</a:t>
            </a:r>
          </a:p>
        </p:txBody>
      </p:sp>
      <p:sp>
        <p:nvSpPr>
          <p:cNvPr id="3" name="Content Placeholder 2">
            <a:extLst>
              <a:ext uri="{FF2B5EF4-FFF2-40B4-BE49-F238E27FC236}">
                <a16:creationId xmlns:a16="http://schemas.microsoft.com/office/drawing/2014/main" id="{42F4C029-90EE-48B5-8685-395A70727EF7}"/>
              </a:ext>
            </a:extLst>
          </p:cNvPr>
          <p:cNvSpPr>
            <a:spLocks noGrp="1"/>
          </p:cNvSpPr>
          <p:nvPr>
            <p:ph idx="1"/>
          </p:nvPr>
        </p:nvSpPr>
        <p:spPr>
          <a:xfrm>
            <a:off x="1154954" y="2603500"/>
            <a:ext cx="10394621" cy="3416300"/>
          </a:xfrm>
        </p:spPr>
        <p:txBody>
          <a:bodyPr/>
          <a:lstStyle/>
          <a:p>
            <a:r>
              <a:rPr lang="en-US" b="0" i="0" dirty="0">
                <a:solidFill>
                  <a:srgbClr val="202124"/>
                </a:solidFill>
                <a:effectLst/>
                <a:latin typeface="arial" panose="020B0604020202020204" pitchFamily="34" charset="0"/>
              </a:rPr>
              <a:t>The first operating systems </a:t>
            </a:r>
            <a:r>
              <a:rPr lang="en-US" b="1" i="0" dirty="0">
                <a:solidFill>
                  <a:srgbClr val="202124"/>
                </a:solidFill>
                <a:effectLst/>
                <a:latin typeface="arial" panose="020B0604020202020204" pitchFamily="34" charset="0"/>
              </a:rPr>
              <a:t>were developed in the 1950s</a:t>
            </a:r>
            <a:r>
              <a:rPr lang="en-US" b="0" i="0" dirty="0">
                <a:solidFill>
                  <a:srgbClr val="202124"/>
                </a:solidFill>
                <a:effectLst/>
                <a:latin typeface="arial" panose="020B0604020202020204" pitchFamily="34" charset="0"/>
              </a:rPr>
              <a:t>, when computers could only run one program at a time. Later in the following decades, computers began to include more and more software programs, sometimes called libraries, that came together to create the start of today's operating systems.</a:t>
            </a:r>
          </a:p>
          <a:p>
            <a:r>
              <a:rPr lang="en-US" b="0" i="0" dirty="0">
                <a:solidFill>
                  <a:srgbClr val="303135"/>
                </a:solidFill>
                <a:effectLst/>
                <a:latin typeface="Georgia" panose="02040502050405020303" pitchFamily="18" charset="0"/>
              </a:rPr>
              <a:t>In the late 1960s, the first version of the Unix operating system was developed. Written in programming language C</a:t>
            </a:r>
          </a:p>
          <a:p>
            <a:pPr algn="l"/>
            <a:r>
              <a:rPr lang="en-US" b="0" i="0" dirty="0">
                <a:solidFill>
                  <a:srgbClr val="303135"/>
                </a:solidFill>
                <a:effectLst/>
                <a:latin typeface="Georgia" panose="02040502050405020303" pitchFamily="18" charset="0"/>
              </a:rPr>
              <a:t>Many modern operating systems, including Apple OS X and all different versions of Linux, date back or rely on the Unix OS.</a:t>
            </a:r>
          </a:p>
          <a:p>
            <a:pPr algn="l"/>
            <a:r>
              <a:rPr lang="en-US" b="0" i="0" dirty="0">
                <a:solidFill>
                  <a:srgbClr val="303135"/>
                </a:solidFill>
                <a:effectLst/>
                <a:latin typeface="Georgia" panose="02040502050405020303" pitchFamily="18" charset="0"/>
              </a:rPr>
              <a:t>Microsoft Windows was developed in response to an IBM request for an operating system to run its range of personal computers or PCs.</a:t>
            </a:r>
          </a:p>
          <a:p>
            <a:endParaRPr lang="en-US" dirty="0">
              <a:solidFill>
                <a:srgbClr val="202124"/>
              </a:solidFill>
              <a:latin typeface="arial" panose="020B0604020202020204" pitchFamily="34" charset="0"/>
            </a:endParaRPr>
          </a:p>
          <a:p>
            <a:endParaRPr lang="en-US" dirty="0"/>
          </a:p>
        </p:txBody>
      </p:sp>
      <p:sp>
        <p:nvSpPr>
          <p:cNvPr id="4" name="Footer Placeholder 3">
            <a:extLst>
              <a:ext uri="{FF2B5EF4-FFF2-40B4-BE49-F238E27FC236}">
                <a16:creationId xmlns:a16="http://schemas.microsoft.com/office/drawing/2014/main" id="{09881E24-2597-4143-9DC1-07BF18B6B9D5}"/>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DEAEBC95-32FB-48AA-8F30-D955B87F09AD}"/>
              </a:ext>
            </a:extLst>
          </p:cNvPr>
          <p:cNvSpPr>
            <a:spLocks noGrp="1"/>
          </p:cNvSpPr>
          <p:nvPr>
            <p:ph type="sldNum" sz="quarter" idx="12"/>
          </p:nvPr>
        </p:nvSpPr>
        <p:spPr/>
        <p:txBody>
          <a:bodyPr/>
          <a:lstStyle/>
          <a:p>
            <a:fld id="{8E9ED8F5-F0EE-4F30-BF79-1CB5FF8C36DA}" type="slidenum">
              <a:rPr lang="en-US" smtClean="0"/>
              <a:pPr/>
              <a:t>18</a:t>
            </a:fld>
            <a:endParaRPr lang="en-US"/>
          </a:p>
        </p:txBody>
      </p:sp>
    </p:spTree>
    <p:extLst>
      <p:ext uri="{BB962C8B-B14F-4D97-AF65-F5344CB8AC3E}">
        <p14:creationId xmlns:p14="http://schemas.microsoft.com/office/powerpoint/2010/main" val="16240507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EE019-EFE0-4924-B786-54A9078ACF94}"/>
              </a:ext>
            </a:extLst>
          </p:cNvPr>
          <p:cNvSpPr>
            <a:spLocks noGrp="1"/>
          </p:cNvSpPr>
          <p:nvPr>
            <p:ph type="title"/>
          </p:nvPr>
        </p:nvSpPr>
        <p:spPr/>
        <p:txBody>
          <a:bodyPr/>
          <a:lstStyle/>
          <a:p>
            <a:r>
              <a:rPr lang="en-US" dirty="0"/>
              <a:t>How OS Start and develop through ages (Legacy OS to Modern OS)</a:t>
            </a:r>
          </a:p>
        </p:txBody>
      </p:sp>
      <p:sp>
        <p:nvSpPr>
          <p:cNvPr id="3" name="Content Placeholder 2">
            <a:extLst>
              <a:ext uri="{FF2B5EF4-FFF2-40B4-BE49-F238E27FC236}">
                <a16:creationId xmlns:a16="http://schemas.microsoft.com/office/drawing/2014/main" id="{68D714BC-5BF1-4937-B1C4-A8793FD864B2}"/>
              </a:ext>
            </a:extLst>
          </p:cNvPr>
          <p:cNvSpPr>
            <a:spLocks noGrp="1"/>
          </p:cNvSpPr>
          <p:nvPr>
            <p:ph idx="1"/>
          </p:nvPr>
        </p:nvSpPr>
        <p:spPr/>
        <p:txBody>
          <a:bodyPr/>
          <a:lstStyle/>
          <a:p>
            <a:r>
              <a:rPr lang="en-US" b="0" i="0" dirty="0">
                <a:solidFill>
                  <a:srgbClr val="303135"/>
                </a:solidFill>
                <a:effectLst/>
                <a:latin typeface="Georgia" panose="02040502050405020303" pitchFamily="18" charset="0"/>
              </a:rPr>
              <a:t>The first operating system created by Microsoft was not called Windows, it was called MS-DOS and it was built in 1981 when it bought the 86-DOS operating system from Seattle Computer Products and modified it to meet IBM requirements.</a:t>
            </a:r>
          </a:p>
          <a:p>
            <a:r>
              <a:rPr lang="en-US" b="0" i="0" dirty="0">
                <a:solidFill>
                  <a:srgbClr val="303135"/>
                </a:solidFill>
                <a:effectLst/>
                <a:latin typeface="Georgia" panose="02040502050405020303" pitchFamily="18" charset="0"/>
              </a:rPr>
              <a:t>The Windows name was first used in 1985 when a graphical user interface was created and paired or joined with the MS-DOS.</a:t>
            </a:r>
            <a:endParaRPr lang="en-US" dirty="0">
              <a:solidFill>
                <a:srgbClr val="303135"/>
              </a:solidFill>
              <a:latin typeface="Georgia" panose="02040502050405020303" pitchFamily="18" charset="0"/>
            </a:endParaRPr>
          </a:p>
          <a:p>
            <a:r>
              <a:rPr lang="en-US" b="0" i="0" dirty="0">
                <a:solidFill>
                  <a:srgbClr val="303135"/>
                </a:solidFill>
                <a:effectLst/>
                <a:latin typeface="Georgia" panose="02040502050405020303" pitchFamily="18" charset="0"/>
              </a:rPr>
              <a:t>Today, Apple, OS X, Microsoft Windows and the various forms of Linux (including Android) dominate the vast majority of the modern operating systems market, </a:t>
            </a:r>
            <a:endParaRPr lang="en-US" dirty="0"/>
          </a:p>
        </p:txBody>
      </p:sp>
      <p:sp>
        <p:nvSpPr>
          <p:cNvPr id="4" name="Footer Placeholder 3">
            <a:extLst>
              <a:ext uri="{FF2B5EF4-FFF2-40B4-BE49-F238E27FC236}">
                <a16:creationId xmlns:a16="http://schemas.microsoft.com/office/drawing/2014/main" id="{DFE86A36-0E5C-4ACD-B789-FAE09EAFB476}"/>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A83102BD-9DB5-4323-92AF-341E0DAEDA9A}"/>
              </a:ext>
            </a:extLst>
          </p:cNvPr>
          <p:cNvSpPr>
            <a:spLocks noGrp="1"/>
          </p:cNvSpPr>
          <p:nvPr>
            <p:ph type="sldNum" sz="quarter" idx="12"/>
          </p:nvPr>
        </p:nvSpPr>
        <p:spPr/>
        <p:txBody>
          <a:bodyPr/>
          <a:lstStyle/>
          <a:p>
            <a:fld id="{8E9ED8F5-F0EE-4F30-BF79-1CB5FF8C36DA}" type="slidenum">
              <a:rPr lang="en-US" smtClean="0"/>
              <a:pPr/>
              <a:t>19</a:t>
            </a:fld>
            <a:endParaRPr lang="en-US"/>
          </a:p>
        </p:txBody>
      </p:sp>
    </p:spTree>
    <p:extLst>
      <p:ext uri="{BB962C8B-B14F-4D97-AF65-F5344CB8AC3E}">
        <p14:creationId xmlns:p14="http://schemas.microsoft.com/office/powerpoint/2010/main" val="3212487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7CF8B-217A-4404-93D9-E01FECBD3A08}"/>
              </a:ext>
            </a:extLst>
          </p:cNvPr>
          <p:cNvSpPr>
            <a:spLocks noGrp="1"/>
          </p:cNvSpPr>
          <p:nvPr>
            <p:ph type="title"/>
          </p:nvPr>
        </p:nvSpPr>
        <p:spPr/>
        <p:txBody>
          <a:bodyPr/>
          <a:lstStyle/>
          <a:p>
            <a:r>
              <a:rPr lang="en-US" dirty="0"/>
              <a:t>MS-DOS</a:t>
            </a:r>
          </a:p>
        </p:txBody>
      </p:sp>
      <p:sp>
        <p:nvSpPr>
          <p:cNvPr id="3" name="Content Placeholder 2">
            <a:extLst>
              <a:ext uri="{FF2B5EF4-FFF2-40B4-BE49-F238E27FC236}">
                <a16:creationId xmlns:a16="http://schemas.microsoft.com/office/drawing/2014/main" id="{912ED3D4-E934-4034-B2C8-BAAD8260BB2B}"/>
              </a:ext>
            </a:extLst>
          </p:cNvPr>
          <p:cNvSpPr>
            <a:spLocks noGrp="1"/>
          </p:cNvSpPr>
          <p:nvPr>
            <p:ph idx="1"/>
          </p:nvPr>
        </p:nvSpPr>
        <p:spPr>
          <a:xfrm>
            <a:off x="493773" y="2364349"/>
            <a:ext cx="8825659" cy="3416300"/>
          </a:xfrm>
        </p:spPr>
        <p:txBody>
          <a:bodyPr>
            <a:normAutofit lnSpcReduction="10000"/>
          </a:bodyPr>
          <a:lstStyle/>
          <a:p>
            <a:r>
              <a:rPr lang="en-US" b="0" i="0" dirty="0">
                <a:solidFill>
                  <a:srgbClr val="454545"/>
                </a:solidFill>
                <a:effectLst/>
                <a:latin typeface="Verdana" panose="020B0604030504040204" pitchFamily="34" charset="0"/>
              </a:rPr>
              <a:t>Short for </a:t>
            </a:r>
            <a:r>
              <a:rPr lang="en-US" b="1" i="0" dirty="0">
                <a:solidFill>
                  <a:srgbClr val="454545"/>
                </a:solidFill>
                <a:effectLst/>
                <a:latin typeface="Verdana" panose="020B0604030504040204" pitchFamily="34" charset="0"/>
              </a:rPr>
              <a:t>Microsoft Disk Operating System</a:t>
            </a:r>
            <a:r>
              <a:rPr lang="en-US" b="0" i="0" dirty="0">
                <a:solidFill>
                  <a:srgbClr val="454545"/>
                </a:solidFill>
                <a:effectLst/>
                <a:latin typeface="Verdana" panose="020B0604030504040204" pitchFamily="34" charset="0"/>
              </a:rPr>
              <a:t>, </a:t>
            </a:r>
            <a:r>
              <a:rPr lang="en-US" b="1" i="0" dirty="0">
                <a:solidFill>
                  <a:srgbClr val="454545"/>
                </a:solidFill>
                <a:effectLst/>
                <a:latin typeface="Verdana" panose="020B0604030504040204" pitchFamily="34" charset="0"/>
              </a:rPr>
              <a:t>MS-DOS</a:t>
            </a:r>
            <a:r>
              <a:rPr lang="en-US" b="0" i="0" dirty="0">
                <a:solidFill>
                  <a:srgbClr val="454545"/>
                </a:solidFill>
                <a:effectLst/>
                <a:latin typeface="Verdana" panose="020B0604030504040204" pitchFamily="34" charset="0"/>
              </a:rPr>
              <a:t> is a non-graphical command line operating system derived from 86-DOS that was created for IBM compatible computers</a:t>
            </a:r>
          </a:p>
          <a:p>
            <a:r>
              <a:rPr lang="en-US" b="0" i="0" dirty="0">
                <a:solidFill>
                  <a:srgbClr val="454545"/>
                </a:solidFill>
                <a:effectLst/>
                <a:latin typeface="Verdana" panose="020B0604030504040204" pitchFamily="34" charset="0"/>
              </a:rPr>
              <a:t>MS-DOS allows the user to navigate, open, and otherwise manipulate files on their computer from a command line instead of a </a:t>
            </a:r>
            <a:r>
              <a:rPr lang="en-US" b="0" i="0" u="none" strike="noStrike" dirty="0">
                <a:solidFill>
                  <a:srgbClr val="2C87F0"/>
                </a:solidFill>
                <a:effectLst/>
                <a:latin typeface="Verdana" panose="020B0604030504040204" pitchFamily="34" charset="0"/>
                <a:hlinkClick r:id="rId2"/>
              </a:rPr>
              <a:t>GUI</a:t>
            </a:r>
            <a:r>
              <a:rPr lang="en-US" b="0" i="0" dirty="0">
                <a:solidFill>
                  <a:srgbClr val="454545"/>
                </a:solidFill>
                <a:effectLst/>
                <a:latin typeface="Verdana" panose="020B0604030504040204" pitchFamily="34" charset="0"/>
              </a:rPr>
              <a:t> like </a:t>
            </a:r>
            <a:r>
              <a:rPr lang="en-US" b="0" i="0" u="none" strike="noStrike" dirty="0">
                <a:solidFill>
                  <a:srgbClr val="2C87F0"/>
                </a:solidFill>
                <a:effectLst/>
                <a:latin typeface="Verdana" panose="020B0604030504040204" pitchFamily="34" charset="0"/>
                <a:hlinkClick r:id="rId3"/>
              </a:rPr>
              <a:t>Windows</a:t>
            </a:r>
            <a:r>
              <a:rPr lang="en-US" b="0" i="0" dirty="0">
                <a:solidFill>
                  <a:srgbClr val="454545"/>
                </a:solidFill>
                <a:effectLst/>
                <a:latin typeface="Verdana" panose="020B0604030504040204" pitchFamily="34" charset="0"/>
              </a:rPr>
              <a:t>.</a:t>
            </a:r>
            <a:endParaRPr lang="en-US" dirty="0">
              <a:solidFill>
                <a:srgbClr val="454545"/>
              </a:solidFill>
              <a:latin typeface="Verdana" panose="020B0604030504040204" pitchFamily="34" charset="0"/>
            </a:endParaRPr>
          </a:p>
          <a:p>
            <a:r>
              <a:rPr lang="en-US" b="0" i="0" dirty="0">
                <a:solidFill>
                  <a:srgbClr val="454545"/>
                </a:solidFill>
                <a:effectLst/>
                <a:latin typeface="Verdana" panose="020B0604030504040204" pitchFamily="34" charset="0"/>
              </a:rPr>
              <a:t>Today, MS-DOS is no longer used; however, the command shell, more commonly known as the </a:t>
            </a:r>
            <a:r>
              <a:rPr lang="en-US" b="1" i="0" dirty="0">
                <a:solidFill>
                  <a:srgbClr val="454545"/>
                </a:solidFill>
                <a:effectLst/>
                <a:latin typeface="Verdana" panose="020B0604030504040204" pitchFamily="34" charset="0"/>
              </a:rPr>
              <a:t>Windows command line</a:t>
            </a:r>
            <a:r>
              <a:rPr lang="en-US" b="0" i="0" dirty="0">
                <a:solidFill>
                  <a:srgbClr val="454545"/>
                </a:solidFill>
                <a:effectLst/>
                <a:latin typeface="Verdana" panose="020B0604030504040204" pitchFamily="34" charset="0"/>
              </a:rPr>
              <a:t> is still used by many users.</a:t>
            </a:r>
          </a:p>
          <a:p>
            <a:r>
              <a:rPr lang="en-US" b="0" i="0" dirty="0">
                <a:solidFill>
                  <a:srgbClr val="454545"/>
                </a:solidFill>
                <a:effectLst/>
                <a:latin typeface="Verdana" panose="020B0604030504040204" pitchFamily="34" charset="0"/>
              </a:rPr>
              <a:t>In MS-DOS, you would navigate to the folder using the </a:t>
            </a:r>
            <a:r>
              <a:rPr lang="en-US" b="0" i="0" u="none" strike="noStrike" dirty="0">
                <a:solidFill>
                  <a:srgbClr val="2C87F0"/>
                </a:solidFill>
                <a:effectLst/>
                <a:latin typeface="Verdana" panose="020B0604030504040204" pitchFamily="34" charset="0"/>
                <a:hlinkClick r:id="rId4"/>
              </a:rPr>
              <a:t>cd command</a:t>
            </a:r>
            <a:r>
              <a:rPr lang="en-US" b="0" i="0" dirty="0">
                <a:solidFill>
                  <a:srgbClr val="454545"/>
                </a:solidFill>
                <a:effectLst/>
                <a:latin typeface="Verdana" panose="020B0604030504040204" pitchFamily="34" charset="0"/>
              </a:rPr>
              <a:t> and then list the files in that folder using the </a:t>
            </a:r>
            <a:r>
              <a:rPr lang="en-US" b="0" i="0" u="none" strike="noStrike" dirty="0" err="1">
                <a:solidFill>
                  <a:srgbClr val="2C87F0"/>
                </a:solidFill>
                <a:effectLst/>
                <a:latin typeface="Verdana" panose="020B0604030504040204" pitchFamily="34" charset="0"/>
                <a:hlinkClick r:id="rId5"/>
              </a:rPr>
              <a:t>dir</a:t>
            </a:r>
            <a:r>
              <a:rPr lang="en-US" b="0" i="0" u="none" strike="noStrike" dirty="0">
                <a:solidFill>
                  <a:srgbClr val="2C87F0"/>
                </a:solidFill>
                <a:effectLst/>
                <a:latin typeface="Verdana" panose="020B0604030504040204" pitchFamily="34" charset="0"/>
                <a:hlinkClick r:id="rId5"/>
              </a:rPr>
              <a:t> command</a:t>
            </a:r>
            <a:r>
              <a:rPr lang="en-US" b="0" i="0" dirty="0">
                <a:solidFill>
                  <a:srgbClr val="454545"/>
                </a:solidFill>
                <a:effectLst/>
                <a:latin typeface="Verdana" panose="020B0604030504040204" pitchFamily="34" charset="0"/>
              </a:rPr>
              <a:t>.</a:t>
            </a:r>
            <a:endParaRPr lang="en-US" dirty="0"/>
          </a:p>
        </p:txBody>
      </p:sp>
      <p:sp>
        <p:nvSpPr>
          <p:cNvPr id="4" name="Footer Placeholder 3">
            <a:extLst>
              <a:ext uri="{FF2B5EF4-FFF2-40B4-BE49-F238E27FC236}">
                <a16:creationId xmlns:a16="http://schemas.microsoft.com/office/drawing/2014/main" id="{4956623C-F6BF-4E98-9621-F3000C17EEF0}"/>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C4604A32-6FA4-45D9-A878-91BB391FF4A2}"/>
              </a:ext>
            </a:extLst>
          </p:cNvPr>
          <p:cNvSpPr>
            <a:spLocks noGrp="1"/>
          </p:cNvSpPr>
          <p:nvPr>
            <p:ph type="sldNum" sz="quarter" idx="12"/>
          </p:nvPr>
        </p:nvSpPr>
        <p:spPr/>
        <p:txBody>
          <a:bodyPr/>
          <a:lstStyle/>
          <a:p>
            <a:fld id="{8E9ED8F5-F0EE-4F30-BF79-1CB5FF8C36DA}" type="slidenum">
              <a:rPr lang="en-US" smtClean="0"/>
              <a:pPr/>
              <a:t>20</a:t>
            </a:fld>
            <a:endParaRPr lang="en-US"/>
          </a:p>
        </p:txBody>
      </p:sp>
      <p:pic>
        <p:nvPicPr>
          <p:cNvPr id="2050" name="Picture 2" descr="Windows DOS command prompt window">
            <a:extLst>
              <a:ext uri="{FF2B5EF4-FFF2-40B4-BE49-F238E27FC236}">
                <a16:creationId xmlns:a16="http://schemas.microsoft.com/office/drawing/2014/main" id="{0E558500-C3D5-4379-801E-6D02CFCC64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86204" y="2261893"/>
            <a:ext cx="2671968" cy="3674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18761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30989-407B-4E6F-B460-927B955CC5CC}"/>
              </a:ext>
            </a:extLst>
          </p:cNvPr>
          <p:cNvSpPr>
            <a:spLocks noGrp="1"/>
          </p:cNvSpPr>
          <p:nvPr>
            <p:ph type="title"/>
          </p:nvPr>
        </p:nvSpPr>
        <p:spPr/>
        <p:txBody>
          <a:bodyPr/>
          <a:lstStyle/>
          <a:p>
            <a:r>
              <a:rPr lang="en-US" dirty="0"/>
              <a:t>Windows</a:t>
            </a:r>
          </a:p>
        </p:txBody>
      </p:sp>
      <p:sp>
        <p:nvSpPr>
          <p:cNvPr id="3" name="Content Placeholder 2">
            <a:extLst>
              <a:ext uri="{FF2B5EF4-FFF2-40B4-BE49-F238E27FC236}">
                <a16:creationId xmlns:a16="http://schemas.microsoft.com/office/drawing/2014/main" id="{97E72C84-F54E-44DF-A722-7584B85C020C}"/>
              </a:ext>
            </a:extLst>
          </p:cNvPr>
          <p:cNvSpPr>
            <a:spLocks noGrp="1"/>
          </p:cNvSpPr>
          <p:nvPr>
            <p:ph idx="1"/>
          </p:nvPr>
        </p:nvSpPr>
        <p:spPr/>
        <p:txBody>
          <a:bodyPr/>
          <a:lstStyle/>
          <a:p>
            <a:r>
              <a:rPr lang="en-US" b="0" i="0" dirty="0">
                <a:solidFill>
                  <a:srgbClr val="444444"/>
                </a:solidFill>
                <a:effectLst/>
                <a:latin typeface="Montserrat" panose="020B0604020202020204" pitchFamily="2" charset="0"/>
              </a:rPr>
              <a:t>The Windows operating system (</a:t>
            </a:r>
            <a:r>
              <a:rPr lang="en-US" b="0" i="1" dirty="0">
                <a:solidFill>
                  <a:srgbClr val="444444"/>
                </a:solidFill>
                <a:effectLst/>
                <a:latin typeface="Montserrat" panose="020B0604020202020204" pitchFamily="2" charset="0"/>
              </a:rPr>
              <a:t>Windows OS</a:t>
            </a:r>
            <a:r>
              <a:rPr lang="en-US" b="0" i="0" dirty="0">
                <a:solidFill>
                  <a:srgbClr val="444444"/>
                </a:solidFill>
                <a:effectLst/>
                <a:latin typeface="Montserrat" panose="020B0604020202020204" pitchFamily="2" charset="0"/>
              </a:rPr>
              <a:t>) for desktop PCs is more formally called </a:t>
            </a:r>
            <a:r>
              <a:rPr lang="en-US" b="0" i="0" u="none" strike="noStrike" dirty="0">
                <a:solidFill>
                  <a:srgbClr val="EC4B43"/>
                </a:solidFill>
                <a:effectLst/>
                <a:latin typeface="Montserrat" panose="020B0604020202020204" pitchFamily="2" charset="0"/>
                <a:hlinkClick r:id="rId2"/>
              </a:rPr>
              <a:t>Microsoft Windows</a:t>
            </a:r>
            <a:r>
              <a:rPr lang="en-US" b="0" i="0" dirty="0">
                <a:solidFill>
                  <a:srgbClr val="444444"/>
                </a:solidFill>
                <a:effectLst/>
                <a:latin typeface="Montserrat" panose="020B0604020202020204" pitchFamily="2" charset="0"/>
              </a:rPr>
              <a:t> and is actually </a:t>
            </a:r>
            <a:r>
              <a:rPr lang="en-US" b="0" i="1" dirty="0">
                <a:solidFill>
                  <a:srgbClr val="444444"/>
                </a:solidFill>
                <a:effectLst/>
                <a:latin typeface="Montserrat" panose="020B0604020202020204" pitchFamily="2" charset="0"/>
              </a:rPr>
              <a:t>a family</a:t>
            </a:r>
            <a:r>
              <a:rPr lang="en-US" b="0" i="0" dirty="0">
                <a:solidFill>
                  <a:srgbClr val="444444"/>
                </a:solidFill>
                <a:effectLst/>
                <a:latin typeface="Montserrat" panose="020B0604020202020204" pitchFamily="2" charset="0"/>
              </a:rPr>
              <a:t> of </a:t>
            </a:r>
            <a:r>
              <a:rPr lang="en-US" b="0" i="0" u="none" strike="noStrike" dirty="0">
                <a:solidFill>
                  <a:srgbClr val="EC4B43"/>
                </a:solidFill>
                <a:effectLst/>
                <a:latin typeface="Montserrat" panose="020B0604020202020204" pitchFamily="2" charset="0"/>
                <a:hlinkClick r:id="rId3"/>
              </a:rPr>
              <a:t>operating systems</a:t>
            </a:r>
            <a:r>
              <a:rPr lang="en-US" b="0" i="0" dirty="0">
                <a:solidFill>
                  <a:srgbClr val="444444"/>
                </a:solidFill>
                <a:effectLst/>
                <a:latin typeface="Montserrat" panose="020B0604020202020204" pitchFamily="2" charset="0"/>
              </a:rPr>
              <a:t> for personal computers.</a:t>
            </a:r>
          </a:p>
          <a:p>
            <a:r>
              <a:rPr lang="en-US" b="0" i="0" dirty="0">
                <a:solidFill>
                  <a:srgbClr val="444444"/>
                </a:solidFill>
                <a:effectLst/>
                <a:latin typeface="Montserrat" panose="00000500000000000000" pitchFamily="2" charset="0"/>
              </a:rPr>
              <a:t>Windows provides a </a:t>
            </a:r>
            <a:r>
              <a:rPr lang="en-US" b="0" i="0" u="none" strike="noStrike" dirty="0">
                <a:solidFill>
                  <a:srgbClr val="EC4B43"/>
                </a:solidFill>
                <a:effectLst/>
                <a:latin typeface="Montserrat" panose="00000500000000000000" pitchFamily="2" charset="0"/>
                <a:hlinkClick r:id="rId4"/>
              </a:rPr>
              <a:t>graphical user interface</a:t>
            </a:r>
            <a:r>
              <a:rPr lang="en-US" b="0" i="0" dirty="0">
                <a:solidFill>
                  <a:srgbClr val="444444"/>
                </a:solidFill>
                <a:effectLst/>
                <a:latin typeface="Montserrat" panose="00000500000000000000" pitchFamily="2" charset="0"/>
              </a:rPr>
              <a:t> (GUI), virtual memory management, multitasking, and support for many peripheral devices. In addition to Windows operating systems for personal computers, Microsoft also offers operating systems for servers and mobile devices.</a:t>
            </a:r>
          </a:p>
          <a:p>
            <a:r>
              <a:rPr lang="en-US" b="0" i="0" dirty="0">
                <a:solidFill>
                  <a:srgbClr val="4E4E4E"/>
                </a:solidFill>
                <a:effectLst/>
                <a:latin typeface="Source Sans Pro" panose="020B0604020202020204" pitchFamily="34" charset="0"/>
              </a:rPr>
              <a:t>Windows comes </a:t>
            </a:r>
            <a:r>
              <a:rPr lang="en-US" b="1" i="0" dirty="0">
                <a:solidFill>
                  <a:srgbClr val="4E4E4E"/>
                </a:solidFill>
                <a:effectLst/>
                <a:latin typeface="Source Sans Pro" panose="020B0604020202020204" pitchFamily="34" charset="0"/>
              </a:rPr>
              <a:t>pre-loaded</a:t>
            </a:r>
            <a:r>
              <a:rPr lang="en-US" b="0" i="0" dirty="0">
                <a:solidFill>
                  <a:srgbClr val="4E4E4E"/>
                </a:solidFill>
                <a:effectLst/>
                <a:latin typeface="Source Sans Pro" panose="020B0604020202020204" pitchFamily="34" charset="0"/>
              </a:rPr>
              <a:t> on most new PCs, which helps to make it the </a:t>
            </a:r>
            <a:r>
              <a:rPr lang="en-US" b="1" i="0" dirty="0">
                <a:solidFill>
                  <a:srgbClr val="4E4E4E"/>
                </a:solidFill>
                <a:effectLst/>
                <a:latin typeface="Source Sans Pro" panose="020B0604020202020204" pitchFamily="34" charset="0"/>
              </a:rPr>
              <a:t>most popular operating system</a:t>
            </a:r>
            <a:r>
              <a:rPr lang="en-US" b="0" i="0" dirty="0">
                <a:solidFill>
                  <a:srgbClr val="4E4E4E"/>
                </a:solidFill>
                <a:effectLst/>
                <a:latin typeface="Source Sans Pro" panose="020B0604020202020204" pitchFamily="34" charset="0"/>
              </a:rPr>
              <a:t> in the world.</a:t>
            </a:r>
            <a:endParaRPr lang="en-US" b="0" i="0" dirty="0">
              <a:solidFill>
                <a:srgbClr val="444444"/>
              </a:solidFill>
              <a:effectLst/>
              <a:latin typeface="Montserrat" panose="00000500000000000000" pitchFamily="2" charset="0"/>
            </a:endParaRPr>
          </a:p>
          <a:p>
            <a:endParaRPr lang="en-US" dirty="0"/>
          </a:p>
        </p:txBody>
      </p:sp>
      <p:sp>
        <p:nvSpPr>
          <p:cNvPr id="4" name="Footer Placeholder 3">
            <a:extLst>
              <a:ext uri="{FF2B5EF4-FFF2-40B4-BE49-F238E27FC236}">
                <a16:creationId xmlns:a16="http://schemas.microsoft.com/office/drawing/2014/main" id="{B1E69C58-FD2B-4144-AE90-12F51C0B7453}"/>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3C864152-3587-4CC6-9659-0DAB4161FC59}"/>
              </a:ext>
            </a:extLst>
          </p:cNvPr>
          <p:cNvSpPr>
            <a:spLocks noGrp="1"/>
          </p:cNvSpPr>
          <p:nvPr>
            <p:ph type="sldNum" sz="quarter" idx="12"/>
          </p:nvPr>
        </p:nvSpPr>
        <p:spPr/>
        <p:txBody>
          <a:bodyPr/>
          <a:lstStyle/>
          <a:p>
            <a:fld id="{8E9ED8F5-F0EE-4F30-BF79-1CB5FF8C36DA}" type="slidenum">
              <a:rPr lang="en-US" smtClean="0"/>
              <a:pPr/>
              <a:t>21</a:t>
            </a:fld>
            <a:endParaRPr lang="en-US"/>
          </a:p>
        </p:txBody>
      </p:sp>
    </p:spTree>
    <p:extLst>
      <p:ext uri="{BB962C8B-B14F-4D97-AF65-F5344CB8AC3E}">
        <p14:creationId xmlns:p14="http://schemas.microsoft.com/office/powerpoint/2010/main" val="258674979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9A579-3560-46D9-96A5-F03918156ACA}"/>
              </a:ext>
            </a:extLst>
          </p:cNvPr>
          <p:cNvSpPr>
            <a:spLocks noGrp="1"/>
          </p:cNvSpPr>
          <p:nvPr>
            <p:ph type="title"/>
          </p:nvPr>
        </p:nvSpPr>
        <p:spPr/>
        <p:txBody>
          <a:bodyPr/>
          <a:lstStyle/>
          <a:p>
            <a:r>
              <a:rPr lang="en-US" dirty="0"/>
              <a:t>UNIX/LINUX</a:t>
            </a:r>
          </a:p>
        </p:txBody>
      </p:sp>
      <p:sp>
        <p:nvSpPr>
          <p:cNvPr id="3" name="Content Placeholder 2">
            <a:extLst>
              <a:ext uri="{FF2B5EF4-FFF2-40B4-BE49-F238E27FC236}">
                <a16:creationId xmlns:a16="http://schemas.microsoft.com/office/drawing/2014/main" id="{CD0426D1-384D-4A28-AA02-8A1C465BA4B9}"/>
              </a:ext>
            </a:extLst>
          </p:cNvPr>
          <p:cNvSpPr>
            <a:spLocks noGrp="1"/>
          </p:cNvSpPr>
          <p:nvPr>
            <p:ph idx="1"/>
          </p:nvPr>
        </p:nvSpPr>
        <p:spPr>
          <a:xfrm>
            <a:off x="1084616" y="2434688"/>
            <a:ext cx="8825659" cy="3416300"/>
          </a:xfrm>
        </p:spPr>
        <p:txBody>
          <a:bodyPr/>
          <a:lstStyle/>
          <a:p>
            <a:r>
              <a:rPr lang="en-US" b="0" i="0" dirty="0">
                <a:solidFill>
                  <a:srgbClr val="3A3A3A"/>
                </a:solidFill>
                <a:effectLst/>
                <a:latin typeface="Work Sans" panose="020B0604020202020204" pitchFamily="2" charset="0"/>
              </a:rPr>
              <a:t>Unix is the most powerful and popular multi-user and multi-tasking Operating System.</a:t>
            </a:r>
            <a:endParaRPr lang="en-US" dirty="0"/>
          </a:p>
        </p:txBody>
      </p:sp>
      <p:sp>
        <p:nvSpPr>
          <p:cNvPr id="4" name="Footer Placeholder 3">
            <a:extLst>
              <a:ext uri="{FF2B5EF4-FFF2-40B4-BE49-F238E27FC236}">
                <a16:creationId xmlns:a16="http://schemas.microsoft.com/office/drawing/2014/main" id="{19CB993D-B8E0-4220-81DC-D706E868A5FD}"/>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1D2C36C0-BAED-4ED8-B3B7-4E9F0D5942BC}"/>
              </a:ext>
            </a:extLst>
          </p:cNvPr>
          <p:cNvSpPr>
            <a:spLocks noGrp="1"/>
          </p:cNvSpPr>
          <p:nvPr>
            <p:ph type="sldNum" sz="quarter" idx="12"/>
          </p:nvPr>
        </p:nvSpPr>
        <p:spPr/>
        <p:txBody>
          <a:bodyPr/>
          <a:lstStyle/>
          <a:p>
            <a:fld id="{8E9ED8F5-F0EE-4F30-BF79-1CB5FF8C36DA}" type="slidenum">
              <a:rPr lang="en-US" smtClean="0"/>
              <a:pPr/>
              <a:t>22</a:t>
            </a:fld>
            <a:endParaRPr lang="en-US"/>
          </a:p>
        </p:txBody>
      </p:sp>
      <p:pic>
        <p:nvPicPr>
          <p:cNvPr id="3074" name="Picture 2" descr="What is Linux">
            <a:extLst>
              <a:ext uri="{FF2B5EF4-FFF2-40B4-BE49-F238E27FC236}">
                <a16:creationId xmlns:a16="http://schemas.microsoft.com/office/drawing/2014/main" id="{A78E2007-A6C6-4555-BD0D-F8773DC150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3058" y="2860431"/>
            <a:ext cx="4762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99080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3B873-62BB-48A1-8CB7-AC6CC203F667}"/>
              </a:ext>
            </a:extLst>
          </p:cNvPr>
          <p:cNvSpPr>
            <a:spLocks noGrp="1"/>
          </p:cNvSpPr>
          <p:nvPr>
            <p:ph type="title"/>
          </p:nvPr>
        </p:nvSpPr>
        <p:spPr/>
        <p:txBody>
          <a:bodyPr/>
          <a:lstStyle/>
          <a:p>
            <a:r>
              <a:rPr lang="en-US" dirty="0"/>
              <a:t>OS2</a:t>
            </a:r>
          </a:p>
        </p:txBody>
      </p:sp>
      <p:sp>
        <p:nvSpPr>
          <p:cNvPr id="3" name="Content Placeholder 2">
            <a:extLst>
              <a:ext uri="{FF2B5EF4-FFF2-40B4-BE49-F238E27FC236}">
                <a16:creationId xmlns:a16="http://schemas.microsoft.com/office/drawing/2014/main" id="{884C8C19-937A-42BE-956F-01671AF9782F}"/>
              </a:ext>
            </a:extLst>
          </p:cNvPr>
          <p:cNvSpPr>
            <a:spLocks noGrp="1"/>
          </p:cNvSpPr>
          <p:nvPr>
            <p:ph idx="1"/>
          </p:nvPr>
        </p:nvSpPr>
        <p:spPr>
          <a:xfrm>
            <a:off x="578179" y="2603500"/>
            <a:ext cx="10858855" cy="3416300"/>
          </a:xfrm>
        </p:spPr>
        <p:txBody>
          <a:bodyPr/>
          <a:lstStyle/>
          <a:p>
            <a:r>
              <a:rPr lang="en-US" b="0" i="0" dirty="0">
                <a:solidFill>
                  <a:srgbClr val="202124"/>
                </a:solidFill>
                <a:effectLst/>
                <a:latin typeface="arial" panose="020B0604020202020204" pitchFamily="34" charset="0"/>
              </a:rPr>
              <a:t>The name stands for "Operating System</a:t>
            </a:r>
            <a:r>
              <a:rPr lang="en-US" b="1" i="0" dirty="0">
                <a:solidFill>
                  <a:srgbClr val="202124"/>
                </a:solidFill>
                <a:effectLst/>
                <a:latin typeface="arial" panose="020B0604020202020204" pitchFamily="34" charset="0"/>
              </a:rPr>
              <a:t>/</a:t>
            </a:r>
            <a:r>
              <a:rPr lang="en-US" b="0" i="0" dirty="0">
                <a:solidFill>
                  <a:srgbClr val="202124"/>
                </a:solidFill>
                <a:effectLst/>
                <a:latin typeface="arial" panose="020B0604020202020204" pitchFamily="34" charset="0"/>
              </a:rPr>
              <a:t>2", because it was introduced as part of the same generation change release as IBM's "Personal System/2 (PS/2)" line of second-generation personal computers. The first version of OS/2 was released in December 1987 and newer versions were released until December 2001.</a:t>
            </a:r>
          </a:p>
          <a:p>
            <a:r>
              <a:rPr lang="en-US" b="0" i="0" dirty="0">
                <a:solidFill>
                  <a:srgbClr val="000000"/>
                </a:solidFill>
                <a:effectLst/>
                <a:latin typeface="arial" panose="020B0604020202020204" pitchFamily="34" charset="0"/>
              </a:rPr>
              <a:t>OS/2 has many of the same commands as DOS, can read DOS disks, but it is more sophisticated than DOS.</a:t>
            </a:r>
            <a:endParaRPr lang="en-US" dirty="0">
              <a:solidFill>
                <a:srgbClr val="202124"/>
              </a:solidFill>
              <a:latin typeface="arial" panose="020B0604020202020204" pitchFamily="34" charset="0"/>
            </a:endParaRPr>
          </a:p>
          <a:p>
            <a:r>
              <a:rPr lang="en-US" b="0" i="0" dirty="0">
                <a:solidFill>
                  <a:srgbClr val="000000"/>
                </a:solidFill>
                <a:effectLst/>
                <a:latin typeface="arial" panose="020B0604020202020204" pitchFamily="34" charset="0"/>
              </a:rPr>
              <a:t> In particular, OS/2 is a </a:t>
            </a:r>
            <a:r>
              <a:rPr lang="en-US" b="0" i="1" dirty="0">
                <a:solidFill>
                  <a:srgbClr val="000000"/>
                </a:solidFill>
                <a:effectLst/>
                <a:latin typeface="arial" panose="020B0604020202020204" pitchFamily="34" charset="0"/>
              </a:rPr>
              <a:t>multi-tasking, multi-threaded </a:t>
            </a:r>
            <a:r>
              <a:rPr lang="en-US" b="0" i="0" dirty="0">
                <a:solidFill>
                  <a:srgbClr val="000000"/>
                </a:solidFill>
                <a:effectLst/>
                <a:latin typeface="arial" panose="020B0604020202020204" pitchFamily="34" charset="0"/>
              </a:rPr>
              <a:t>operating system.</a:t>
            </a:r>
            <a:endParaRPr lang="en-US" b="0" i="0" dirty="0">
              <a:solidFill>
                <a:srgbClr val="202124"/>
              </a:solidFill>
              <a:effectLst/>
              <a:latin typeface="arial" panose="020B0604020202020204" pitchFamily="34" charset="0"/>
            </a:endParaRPr>
          </a:p>
          <a:p>
            <a:r>
              <a:rPr lang="en-US" b="0" i="0" dirty="0">
                <a:solidFill>
                  <a:srgbClr val="000000"/>
                </a:solidFill>
                <a:effectLst/>
                <a:latin typeface="arial" panose="020B0604020202020204" pitchFamily="34" charset="0"/>
              </a:rPr>
              <a:t>S/2 also includes a </a:t>
            </a:r>
            <a:r>
              <a:rPr lang="en-US" b="0" i="1" dirty="0">
                <a:solidFill>
                  <a:srgbClr val="000000"/>
                </a:solidFill>
                <a:effectLst/>
                <a:latin typeface="arial" panose="020B0604020202020204" pitchFamily="34" charset="0"/>
              </a:rPr>
              <a:t>graphical user interface, </a:t>
            </a:r>
            <a:r>
              <a:rPr lang="en-US" b="0" i="0" dirty="0">
                <a:solidFill>
                  <a:srgbClr val="000000"/>
                </a:solidFill>
                <a:effectLst/>
                <a:latin typeface="arial" panose="020B0604020202020204" pitchFamily="34" charset="0"/>
              </a:rPr>
              <a:t>or </a:t>
            </a:r>
            <a:r>
              <a:rPr lang="en-US" b="0" i="1" dirty="0">
                <a:solidFill>
                  <a:srgbClr val="000000"/>
                </a:solidFill>
                <a:effectLst/>
                <a:latin typeface="arial" panose="020B0604020202020204" pitchFamily="34" charset="0"/>
              </a:rPr>
              <a:t>GUI, </a:t>
            </a:r>
            <a:r>
              <a:rPr lang="en-US" b="0" i="0" dirty="0">
                <a:solidFill>
                  <a:srgbClr val="000000"/>
                </a:solidFill>
                <a:effectLst/>
                <a:latin typeface="arial" panose="020B0604020202020204" pitchFamily="34" charset="0"/>
              </a:rPr>
              <a:t>called </a:t>
            </a:r>
            <a:r>
              <a:rPr lang="en-US" b="0" i="1" dirty="0">
                <a:solidFill>
                  <a:srgbClr val="000000"/>
                </a:solidFill>
                <a:effectLst/>
                <a:latin typeface="arial" panose="020B0604020202020204" pitchFamily="34" charset="0"/>
              </a:rPr>
              <a:t>Presentation Manager, </a:t>
            </a:r>
            <a:r>
              <a:rPr lang="en-US" b="0" i="0" dirty="0">
                <a:solidFill>
                  <a:srgbClr val="000000"/>
                </a:solidFill>
                <a:effectLst/>
                <a:latin typeface="arial" panose="020B0604020202020204" pitchFamily="34" charset="0"/>
              </a:rPr>
              <a:t>and which makes OS/2 look and work something like the Macintosh or Windows.</a:t>
            </a:r>
            <a:endParaRPr lang="en-US" dirty="0"/>
          </a:p>
        </p:txBody>
      </p:sp>
      <p:sp>
        <p:nvSpPr>
          <p:cNvPr id="4" name="Footer Placeholder 3">
            <a:extLst>
              <a:ext uri="{FF2B5EF4-FFF2-40B4-BE49-F238E27FC236}">
                <a16:creationId xmlns:a16="http://schemas.microsoft.com/office/drawing/2014/main" id="{2559C5EB-97EC-4352-B7B3-19D9BED31298}"/>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53BB39F9-9776-47D0-BB4D-2CCF32E3E417}"/>
              </a:ext>
            </a:extLst>
          </p:cNvPr>
          <p:cNvSpPr>
            <a:spLocks noGrp="1"/>
          </p:cNvSpPr>
          <p:nvPr>
            <p:ph type="sldNum" sz="quarter" idx="12"/>
          </p:nvPr>
        </p:nvSpPr>
        <p:spPr/>
        <p:txBody>
          <a:bodyPr/>
          <a:lstStyle/>
          <a:p>
            <a:fld id="{8E9ED8F5-F0EE-4F30-BF79-1CB5FF8C36DA}" type="slidenum">
              <a:rPr lang="en-US" smtClean="0"/>
              <a:pPr/>
              <a:t>23</a:t>
            </a:fld>
            <a:endParaRPr lang="en-US"/>
          </a:p>
        </p:txBody>
      </p:sp>
    </p:spTree>
    <p:extLst>
      <p:ext uri="{BB962C8B-B14F-4D97-AF65-F5344CB8AC3E}">
        <p14:creationId xmlns:p14="http://schemas.microsoft.com/office/powerpoint/2010/main" val="4779647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53884-8998-4DDB-B03A-B29976E88D6A}"/>
              </a:ext>
            </a:extLst>
          </p:cNvPr>
          <p:cNvSpPr>
            <a:spLocks noGrp="1"/>
          </p:cNvSpPr>
          <p:nvPr>
            <p:ph type="title"/>
          </p:nvPr>
        </p:nvSpPr>
        <p:spPr/>
        <p:txBody>
          <a:bodyPr/>
          <a:lstStyle/>
          <a:p>
            <a:r>
              <a:rPr lang="en-US" dirty="0"/>
              <a:t>MAC Operating System</a:t>
            </a:r>
          </a:p>
        </p:txBody>
      </p:sp>
      <p:sp>
        <p:nvSpPr>
          <p:cNvPr id="3" name="Content Placeholder 2">
            <a:extLst>
              <a:ext uri="{FF2B5EF4-FFF2-40B4-BE49-F238E27FC236}">
                <a16:creationId xmlns:a16="http://schemas.microsoft.com/office/drawing/2014/main" id="{49AE9424-1B55-4BAE-BB0B-0906F628B58E}"/>
              </a:ext>
            </a:extLst>
          </p:cNvPr>
          <p:cNvSpPr>
            <a:spLocks noGrp="1"/>
          </p:cNvSpPr>
          <p:nvPr>
            <p:ph idx="1"/>
          </p:nvPr>
        </p:nvSpPr>
        <p:spPr>
          <a:xfrm>
            <a:off x="506438" y="2603500"/>
            <a:ext cx="10860258" cy="3416300"/>
          </a:xfrm>
        </p:spPr>
        <p:txBody>
          <a:bodyPr/>
          <a:lstStyle/>
          <a:p>
            <a:pPr algn="l"/>
            <a:r>
              <a:rPr lang="en-US" b="0" i="0" dirty="0">
                <a:solidFill>
                  <a:srgbClr val="424242"/>
                </a:solidFill>
                <a:effectLst/>
                <a:latin typeface="Verdana" panose="020B0604030504040204" pitchFamily="34" charset="0"/>
              </a:rPr>
              <a:t>The Macintosh Operating System (Mac OS) is an operating system (OS) designed by Apple Inc. to be installed and operated on the Apple Macintosh series of computers. </a:t>
            </a:r>
          </a:p>
          <a:p>
            <a:pPr algn="l"/>
            <a:r>
              <a:rPr lang="en-US" b="0" i="0" dirty="0">
                <a:solidFill>
                  <a:srgbClr val="424242"/>
                </a:solidFill>
                <a:effectLst/>
                <a:latin typeface="Verdana" panose="020B0604030504040204" pitchFamily="34" charset="0"/>
              </a:rPr>
              <a:t>Introduced in 1984, it is a graphical user interface (GUI) based OS that has since been released as multiple different versions.</a:t>
            </a:r>
          </a:p>
          <a:p>
            <a:pPr algn="l"/>
            <a:r>
              <a:rPr lang="en-US" b="0" i="0" dirty="0">
                <a:solidFill>
                  <a:srgbClr val="424242"/>
                </a:solidFill>
                <a:effectLst/>
                <a:latin typeface="Verdana" panose="020B0604030504040204" pitchFamily="34" charset="0"/>
              </a:rPr>
              <a:t>Mac OS is a completely capable OS that provides functionality and services like Windows or Linux OS. Some of the code base and features of Lisa OS have been incorporated in Mac OS.</a:t>
            </a:r>
          </a:p>
          <a:p>
            <a:pPr algn="l"/>
            <a:r>
              <a:rPr lang="en-US" b="0" i="0" dirty="0">
                <a:solidFill>
                  <a:srgbClr val="424242"/>
                </a:solidFill>
                <a:effectLst/>
                <a:latin typeface="Verdana" panose="020B0604030504040204" pitchFamily="34" charset="0"/>
              </a:rPr>
              <a:t>As of 2012, Mac OS released several versions, including Macintosh 128k, Mac OS 7, Mac OS X and Mac Mountain Lion.</a:t>
            </a:r>
            <a:endParaRPr lang="en-US" dirty="0">
              <a:solidFill>
                <a:srgbClr val="424242"/>
              </a:solidFill>
              <a:latin typeface="Verdana" panose="020B0604030504040204" pitchFamily="34" charset="0"/>
            </a:endParaRPr>
          </a:p>
          <a:p>
            <a:pPr algn="l"/>
            <a:endParaRPr lang="en-US" b="0" i="0" dirty="0">
              <a:solidFill>
                <a:srgbClr val="424242"/>
              </a:solidFill>
              <a:effectLst/>
              <a:latin typeface="Verdana" panose="020B0604030504040204" pitchFamily="34" charset="0"/>
            </a:endParaRPr>
          </a:p>
          <a:p>
            <a:endParaRPr lang="en-US" dirty="0"/>
          </a:p>
        </p:txBody>
      </p:sp>
      <p:sp>
        <p:nvSpPr>
          <p:cNvPr id="4" name="Footer Placeholder 3">
            <a:extLst>
              <a:ext uri="{FF2B5EF4-FFF2-40B4-BE49-F238E27FC236}">
                <a16:creationId xmlns:a16="http://schemas.microsoft.com/office/drawing/2014/main" id="{7E4A41A5-85D7-4BCC-A532-A37C894876E0}"/>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CBF7FC6B-8B7F-4BEA-8E8C-C14DE97FA7CC}"/>
              </a:ext>
            </a:extLst>
          </p:cNvPr>
          <p:cNvSpPr>
            <a:spLocks noGrp="1"/>
          </p:cNvSpPr>
          <p:nvPr>
            <p:ph type="sldNum" sz="quarter" idx="12"/>
          </p:nvPr>
        </p:nvSpPr>
        <p:spPr/>
        <p:txBody>
          <a:bodyPr/>
          <a:lstStyle/>
          <a:p>
            <a:fld id="{8E9ED8F5-F0EE-4F30-BF79-1CB5FF8C36DA}" type="slidenum">
              <a:rPr lang="en-US" smtClean="0"/>
              <a:pPr/>
              <a:t>24</a:t>
            </a:fld>
            <a:endParaRPr lang="en-US"/>
          </a:p>
        </p:txBody>
      </p:sp>
    </p:spTree>
    <p:extLst>
      <p:ext uri="{BB962C8B-B14F-4D97-AF65-F5344CB8AC3E}">
        <p14:creationId xmlns:p14="http://schemas.microsoft.com/office/powerpoint/2010/main" val="334079729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2557E-7755-460A-92FE-EA3580CBF319}"/>
              </a:ext>
            </a:extLst>
          </p:cNvPr>
          <p:cNvSpPr>
            <a:spLocks noGrp="1"/>
          </p:cNvSpPr>
          <p:nvPr>
            <p:ph type="title"/>
          </p:nvPr>
        </p:nvSpPr>
        <p:spPr/>
        <p:txBody>
          <a:bodyPr/>
          <a:lstStyle/>
          <a:p>
            <a:r>
              <a:rPr lang="en-US" dirty="0"/>
              <a:t>Android Operating System</a:t>
            </a:r>
          </a:p>
        </p:txBody>
      </p:sp>
      <p:sp>
        <p:nvSpPr>
          <p:cNvPr id="3" name="Content Placeholder 2">
            <a:extLst>
              <a:ext uri="{FF2B5EF4-FFF2-40B4-BE49-F238E27FC236}">
                <a16:creationId xmlns:a16="http://schemas.microsoft.com/office/drawing/2014/main" id="{9C6BD148-DE62-4366-AB75-65106B116D72}"/>
              </a:ext>
            </a:extLst>
          </p:cNvPr>
          <p:cNvSpPr>
            <a:spLocks noGrp="1"/>
          </p:cNvSpPr>
          <p:nvPr>
            <p:ph idx="1"/>
          </p:nvPr>
        </p:nvSpPr>
        <p:spPr>
          <a:xfrm>
            <a:off x="395298" y="2462823"/>
            <a:ext cx="11294954" cy="3416300"/>
          </a:xfrm>
        </p:spPr>
        <p:txBody>
          <a:bodyPr>
            <a:normAutofit lnSpcReduction="10000"/>
          </a:bodyPr>
          <a:lstStyle/>
          <a:p>
            <a:r>
              <a:rPr lang="en-US" b="0" i="0" dirty="0">
                <a:solidFill>
                  <a:srgbClr val="000000"/>
                </a:solidFill>
                <a:effectLst/>
                <a:latin typeface="Arial" panose="020B0604020202020204" pitchFamily="34" charset="0"/>
              </a:rPr>
              <a:t>Android is an open source and Linux-based </a:t>
            </a:r>
            <a:r>
              <a:rPr lang="en-US" b="1" i="0" dirty="0">
                <a:solidFill>
                  <a:srgbClr val="000000"/>
                </a:solidFill>
                <a:effectLst/>
                <a:latin typeface="Arial" panose="020B0604020202020204" pitchFamily="34" charset="0"/>
              </a:rPr>
              <a:t>Operating System</a:t>
            </a:r>
            <a:endParaRPr lang="en-US" b="0" i="0" dirty="0">
              <a:solidFill>
                <a:srgbClr val="111111"/>
              </a:solidFill>
              <a:effectLst/>
              <a:latin typeface="SourceSansPro"/>
            </a:endParaRPr>
          </a:p>
          <a:p>
            <a:r>
              <a:rPr lang="en-US" b="0" i="0" dirty="0">
                <a:solidFill>
                  <a:srgbClr val="111111"/>
                </a:solidFill>
                <a:effectLst/>
                <a:latin typeface="SourceSansPro"/>
              </a:rPr>
              <a:t>The Android operating system is a mobile operating system that was developed by Google (GOOGL​) to be primarily used for touchscreen devices, cell phones, and tablets. </a:t>
            </a:r>
          </a:p>
          <a:p>
            <a:r>
              <a:rPr lang="en-US" b="0" i="0" dirty="0">
                <a:solidFill>
                  <a:srgbClr val="111111"/>
                </a:solidFill>
                <a:effectLst/>
                <a:latin typeface="SourceSansPro"/>
              </a:rPr>
              <a:t>Its design lets users manipulate the mobile devices intuitively, with finger movements that mirror common motions, such as pinching, swiping, and tapping. </a:t>
            </a:r>
          </a:p>
          <a:p>
            <a:r>
              <a:rPr lang="en-US" b="0" i="0" dirty="0">
                <a:solidFill>
                  <a:srgbClr val="111111"/>
                </a:solidFill>
                <a:effectLst/>
                <a:latin typeface="SourceSansPro"/>
              </a:rPr>
              <a:t>Google also employs Android software in televisions, cars, and wristwatches—each of which is fitted with a unique user interface.</a:t>
            </a:r>
          </a:p>
          <a:p>
            <a:r>
              <a:rPr lang="en-US" dirty="0">
                <a:solidFill>
                  <a:srgbClr val="111111"/>
                </a:solidFill>
                <a:latin typeface="SourceSansPro"/>
              </a:rPr>
              <a:t>Android applications are usually developed in the Java language using the Android Software Development Kit.</a:t>
            </a:r>
          </a:p>
          <a:p>
            <a:r>
              <a:rPr lang="en-US" dirty="0">
                <a:solidFill>
                  <a:srgbClr val="111111"/>
                </a:solidFill>
                <a:latin typeface="SourceSansPro"/>
              </a:rPr>
              <a:t>Once developed, Android applications can be packaged easily and sold out either through a store such as Google Play, </a:t>
            </a:r>
            <a:r>
              <a:rPr lang="en-US" dirty="0" err="1">
                <a:solidFill>
                  <a:srgbClr val="111111"/>
                </a:solidFill>
                <a:latin typeface="SourceSansPro"/>
              </a:rPr>
              <a:t>SlideME</a:t>
            </a:r>
            <a:r>
              <a:rPr lang="en-US" dirty="0">
                <a:solidFill>
                  <a:srgbClr val="111111"/>
                </a:solidFill>
                <a:latin typeface="SourceSansPro"/>
              </a:rPr>
              <a:t>, Opera Mobile Store, </a:t>
            </a:r>
            <a:r>
              <a:rPr lang="en-US" dirty="0" err="1">
                <a:solidFill>
                  <a:srgbClr val="111111"/>
                </a:solidFill>
                <a:latin typeface="SourceSansPro"/>
              </a:rPr>
              <a:t>Mobango</a:t>
            </a:r>
            <a:r>
              <a:rPr lang="en-US" dirty="0">
                <a:solidFill>
                  <a:srgbClr val="111111"/>
                </a:solidFill>
                <a:latin typeface="SourceSansPro"/>
              </a:rPr>
              <a:t>, F-droid and the Amazon Appstore.</a:t>
            </a:r>
          </a:p>
          <a:p>
            <a:endParaRPr lang="en-US" dirty="0">
              <a:solidFill>
                <a:srgbClr val="111111"/>
              </a:solidFill>
              <a:latin typeface="SourceSansPro"/>
            </a:endParaRPr>
          </a:p>
          <a:p>
            <a:endParaRPr lang="en-US" dirty="0"/>
          </a:p>
        </p:txBody>
      </p:sp>
      <p:sp>
        <p:nvSpPr>
          <p:cNvPr id="4" name="Footer Placeholder 3">
            <a:extLst>
              <a:ext uri="{FF2B5EF4-FFF2-40B4-BE49-F238E27FC236}">
                <a16:creationId xmlns:a16="http://schemas.microsoft.com/office/drawing/2014/main" id="{4B5C992B-4562-4CED-B514-6F0F1B723F87}"/>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10951D2A-DB74-46A2-8D9C-862F29BA347B}"/>
              </a:ext>
            </a:extLst>
          </p:cNvPr>
          <p:cNvSpPr>
            <a:spLocks noGrp="1"/>
          </p:cNvSpPr>
          <p:nvPr>
            <p:ph type="sldNum" sz="quarter" idx="12"/>
          </p:nvPr>
        </p:nvSpPr>
        <p:spPr/>
        <p:txBody>
          <a:bodyPr/>
          <a:lstStyle/>
          <a:p>
            <a:fld id="{8E9ED8F5-F0EE-4F30-BF79-1CB5FF8C36DA}" type="slidenum">
              <a:rPr lang="en-US" smtClean="0"/>
              <a:pPr/>
              <a:t>25</a:t>
            </a:fld>
            <a:endParaRPr lang="en-US"/>
          </a:p>
        </p:txBody>
      </p:sp>
    </p:spTree>
    <p:extLst>
      <p:ext uri="{BB962C8B-B14F-4D97-AF65-F5344CB8AC3E}">
        <p14:creationId xmlns:p14="http://schemas.microsoft.com/office/powerpoint/2010/main" val="10074768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C0BF9-74C9-470E-9005-090274AA5F10}"/>
              </a:ext>
            </a:extLst>
          </p:cNvPr>
          <p:cNvSpPr>
            <a:spLocks noGrp="1"/>
          </p:cNvSpPr>
          <p:nvPr>
            <p:ph type="title"/>
          </p:nvPr>
        </p:nvSpPr>
        <p:spPr/>
        <p:txBody>
          <a:bodyPr/>
          <a:lstStyle/>
          <a:p>
            <a:r>
              <a:rPr lang="en-US" dirty="0"/>
              <a:t>iOS </a:t>
            </a:r>
          </a:p>
        </p:txBody>
      </p:sp>
      <p:sp>
        <p:nvSpPr>
          <p:cNvPr id="3" name="Content Placeholder 2">
            <a:extLst>
              <a:ext uri="{FF2B5EF4-FFF2-40B4-BE49-F238E27FC236}">
                <a16:creationId xmlns:a16="http://schemas.microsoft.com/office/drawing/2014/main" id="{70FF2C3C-F01F-45E6-9E6B-4ADCD9BD52F3}"/>
              </a:ext>
            </a:extLst>
          </p:cNvPr>
          <p:cNvSpPr>
            <a:spLocks noGrp="1"/>
          </p:cNvSpPr>
          <p:nvPr>
            <p:ph idx="1"/>
          </p:nvPr>
        </p:nvSpPr>
        <p:spPr/>
        <p:txBody>
          <a:bodyPr>
            <a:normAutofit lnSpcReduction="10000"/>
          </a:bodyPr>
          <a:lstStyle/>
          <a:p>
            <a:r>
              <a:rPr lang="en-US" b="0" i="0" dirty="0">
                <a:solidFill>
                  <a:srgbClr val="202124"/>
                </a:solidFill>
                <a:effectLst/>
                <a:latin typeface="arial" panose="020B0604020202020204" pitchFamily="34" charset="0"/>
              </a:rPr>
              <a:t>iOS is a </a:t>
            </a:r>
            <a:r>
              <a:rPr lang="en-US" b="1" i="0" dirty="0">
                <a:solidFill>
                  <a:srgbClr val="202124"/>
                </a:solidFill>
                <a:effectLst/>
                <a:latin typeface="arial" panose="020B0604020202020204" pitchFamily="34" charset="0"/>
              </a:rPr>
              <a:t>mobile operating system developed by Apple</a:t>
            </a:r>
            <a:r>
              <a:rPr lang="en-US" b="0" i="0" dirty="0">
                <a:solidFill>
                  <a:srgbClr val="202124"/>
                </a:solidFill>
                <a:effectLst/>
                <a:latin typeface="arial" panose="020B0604020202020204" pitchFamily="34" charset="0"/>
              </a:rPr>
              <a:t>. It was originally named the iPhone OS but was renamed to the iOS in June 2009. </a:t>
            </a:r>
          </a:p>
          <a:p>
            <a:r>
              <a:rPr lang="en-US" b="0" i="0" dirty="0">
                <a:solidFill>
                  <a:srgbClr val="202124"/>
                </a:solidFill>
                <a:effectLst/>
                <a:latin typeface="arial" panose="020B0604020202020204" pitchFamily="34" charset="0"/>
              </a:rPr>
              <a:t>The iOS currently runs on the iPhone, iPod touch, and iPad. Like modern desktop operating systems, iOS uses a graphical user interface, or GUI.</a:t>
            </a:r>
          </a:p>
          <a:p>
            <a:r>
              <a:rPr lang="en-US" dirty="0">
                <a:solidFill>
                  <a:srgbClr val="202124"/>
                </a:solidFill>
                <a:latin typeface="arial" panose="020B0604020202020204" pitchFamily="34" charset="0"/>
              </a:rPr>
              <a:t>iOS, an acronym for iPhone Operating System, is a Unix-derived operating system powering all of Apple’s mobile devices</a:t>
            </a:r>
          </a:p>
          <a:p>
            <a:r>
              <a:rPr lang="en-US" dirty="0">
                <a:solidFill>
                  <a:srgbClr val="202124"/>
                </a:solidFill>
                <a:latin typeface="arial" panose="020B0604020202020204" pitchFamily="34" charset="0"/>
              </a:rPr>
              <a:t>The first version of iOS introduced the culture to the touch-screen smartphone, a significant cultural shift away from flip phones and Blackberry-style devices. </a:t>
            </a:r>
          </a:p>
          <a:p>
            <a:r>
              <a:rPr lang="en-US" dirty="0">
                <a:solidFill>
                  <a:srgbClr val="202124"/>
                </a:solidFill>
                <a:latin typeface="arial" panose="020B0604020202020204" pitchFamily="34" charset="0"/>
              </a:rPr>
              <a:t>The iPhone combined many functions within a single device, including a camera, internet browser, and media player alongside the phone and messaging, and the world would never be the same</a:t>
            </a:r>
          </a:p>
        </p:txBody>
      </p:sp>
      <p:sp>
        <p:nvSpPr>
          <p:cNvPr id="4" name="Footer Placeholder 3">
            <a:extLst>
              <a:ext uri="{FF2B5EF4-FFF2-40B4-BE49-F238E27FC236}">
                <a16:creationId xmlns:a16="http://schemas.microsoft.com/office/drawing/2014/main" id="{824EFDC4-4B69-465F-8126-E3D72C6F73CD}"/>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1CD021DB-7B46-4598-9D93-FECDA20F9314}"/>
              </a:ext>
            </a:extLst>
          </p:cNvPr>
          <p:cNvSpPr>
            <a:spLocks noGrp="1"/>
          </p:cNvSpPr>
          <p:nvPr>
            <p:ph type="sldNum" sz="quarter" idx="12"/>
          </p:nvPr>
        </p:nvSpPr>
        <p:spPr/>
        <p:txBody>
          <a:bodyPr/>
          <a:lstStyle/>
          <a:p>
            <a:fld id="{8E9ED8F5-F0EE-4F30-BF79-1CB5FF8C36DA}" type="slidenum">
              <a:rPr lang="en-US" smtClean="0"/>
              <a:pPr/>
              <a:t>26</a:t>
            </a:fld>
            <a:endParaRPr lang="en-US"/>
          </a:p>
        </p:txBody>
      </p:sp>
    </p:spTree>
    <p:extLst>
      <p:ext uri="{BB962C8B-B14F-4D97-AF65-F5344CB8AC3E}">
        <p14:creationId xmlns:p14="http://schemas.microsoft.com/office/powerpoint/2010/main" val="397979352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3B873-62BB-48A1-8CB7-AC6CC203F66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Task</a:t>
            </a:r>
          </a:p>
        </p:txBody>
      </p:sp>
      <p:sp>
        <p:nvSpPr>
          <p:cNvPr id="3" name="Content Placeholder 2">
            <a:extLst>
              <a:ext uri="{FF2B5EF4-FFF2-40B4-BE49-F238E27FC236}">
                <a16:creationId xmlns:a16="http://schemas.microsoft.com/office/drawing/2014/main" id="{884C8C19-937A-42BE-956F-01671AF9782F}"/>
              </a:ext>
            </a:extLst>
          </p:cNvPr>
          <p:cNvSpPr>
            <a:spLocks noGrp="1"/>
          </p:cNvSpPr>
          <p:nvPr>
            <p:ph idx="1"/>
          </p:nvPr>
        </p:nvSpPr>
        <p:spPr>
          <a:xfrm>
            <a:off x="578179" y="2322286"/>
            <a:ext cx="10858855" cy="4069552"/>
          </a:xfrm>
        </p:spPr>
        <p:txBody>
          <a:bodyPr>
            <a:noAutofit/>
          </a:bodyPr>
          <a:lstStyle/>
          <a:p>
            <a:r>
              <a:rPr lang="en-US" dirty="0">
                <a:solidFill>
                  <a:srgbClr val="202124"/>
                </a:solidFill>
                <a:latin typeface="Times New Roman" panose="02020603050405020304" pitchFamily="18" charset="0"/>
                <a:cs typeface="Times New Roman" panose="02020603050405020304" pitchFamily="18" charset="0"/>
              </a:rPr>
              <a:t>What are the differences between system software and application software?</a:t>
            </a:r>
          </a:p>
          <a:p>
            <a:r>
              <a:rPr lang="en-US" dirty="0">
                <a:solidFill>
                  <a:srgbClr val="202124"/>
                </a:solidFill>
                <a:latin typeface="Times New Roman" panose="02020603050405020304" pitchFamily="18" charset="0"/>
                <a:cs typeface="Times New Roman" panose="02020603050405020304" pitchFamily="18" charset="0"/>
              </a:rPr>
              <a:t>What is an operating system (OS)? Provide examples of operating systems from daily life.</a:t>
            </a:r>
          </a:p>
          <a:p>
            <a:r>
              <a:rPr lang="en-US" dirty="0">
                <a:solidFill>
                  <a:srgbClr val="202124"/>
                </a:solidFill>
                <a:latin typeface="Times New Roman" panose="02020603050405020304" pitchFamily="18" charset="0"/>
                <a:cs typeface="Times New Roman" panose="02020603050405020304" pitchFamily="18" charset="0"/>
              </a:rPr>
              <a:t>What does an operating system do?</a:t>
            </a:r>
          </a:p>
          <a:p>
            <a:r>
              <a:rPr lang="en-US" dirty="0">
                <a:solidFill>
                  <a:srgbClr val="202124"/>
                </a:solidFill>
                <a:latin typeface="Times New Roman" panose="02020603050405020304" pitchFamily="18" charset="0"/>
                <a:cs typeface="Times New Roman" panose="02020603050405020304" pitchFamily="18" charset="0"/>
              </a:rPr>
              <a:t>What is a graphical user interface (GUI) in an operating system?</a:t>
            </a:r>
          </a:p>
          <a:p>
            <a:r>
              <a:rPr lang="en-US" dirty="0">
                <a:solidFill>
                  <a:srgbClr val="202124"/>
                </a:solidFill>
                <a:latin typeface="Times New Roman" panose="02020603050405020304" pitchFamily="18" charset="0"/>
                <a:cs typeface="Times New Roman" panose="02020603050405020304" pitchFamily="18" charset="0"/>
              </a:rPr>
              <a:t>What is the difference between a mobile operating system and a desktop operating system?</a:t>
            </a:r>
          </a:p>
          <a:p>
            <a:r>
              <a:rPr lang="en-US" dirty="0">
                <a:solidFill>
                  <a:srgbClr val="202124"/>
                </a:solidFill>
                <a:latin typeface="Times New Roman" panose="02020603050405020304" pitchFamily="18" charset="0"/>
                <a:cs typeface="Times New Roman" panose="02020603050405020304" pitchFamily="18" charset="0"/>
              </a:rPr>
              <a:t>Why is it important to have an operating system on a computer?</a:t>
            </a:r>
          </a:p>
          <a:p>
            <a:r>
              <a:rPr lang="en-US" dirty="0">
                <a:solidFill>
                  <a:srgbClr val="202124"/>
                </a:solidFill>
                <a:latin typeface="Times New Roman" panose="02020603050405020304" pitchFamily="18" charset="0"/>
                <a:cs typeface="Times New Roman" panose="02020603050405020304" pitchFamily="18" charset="0"/>
              </a:rPr>
              <a:t>What were some of the early operating systems used in the past?</a:t>
            </a:r>
          </a:p>
          <a:p>
            <a:r>
              <a:rPr lang="en-US" dirty="0">
                <a:solidFill>
                  <a:srgbClr val="202124"/>
                </a:solidFill>
                <a:latin typeface="Times New Roman" panose="02020603050405020304" pitchFamily="18" charset="0"/>
                <a:cs typeface="Times New Roman" panose="02020603050405020304" pitchFamily="18" charset="0"/>
              </a:rPr>
              <a:t>What are the different types of operating systems that are commonly used today?</a:t>
            </a:r>
          </a:p>
          <a:p>
            <a:r>
              <a:rPr lang="en-US" dirty="0">
                <a:solidFill>
                  <a:srgbClr val="202124"/>
                </a:solidFill>
                <a:latin typeface="Times New Roman" panose="02020603050405020304" pitchFamily="18" charset="0"/>
                <a:cs typeface="Times New Roman" panose="02020603050405020304" pitchFamily="18" charset="0"/>
              </a:rPr>
              <a:t>What is Linux and Unix Operating system?</a:t>
            </a:r>
          </a:p>
          <a:p>
            <a:r>
              <a:rPr lang="en-US" dirty="0">
                <a:solidFill>
                  <a:srgbClr val="202124"/>
                </a:solidFill>
                <a:latin typeface="Times New Roman" panose="02020603050405020304" pitchFamily="18" charset="0"/>
                <a:cs typeface="Times New Roman" panose="02020603050405020304" pitchFamily="18" charset="0"/>
              </a:rPr>
              <a:t>List five Linux-based applications and discuss their advantages and disadvantages?</a:t>
            </a:r>
          </a:p>
        </p:txBody>
      </p:sp>
      <p:sp>
        <p:nvSpPr>
          <p:cNvPr id="4" name="Footer Placeholder 3">
            <a:extLst>
              <a:ext uri="{FF2B5EF4-FFF2-40B4-BE49-F238E27FC236}">
                <a16:creationId xmlns:a16="http://schemas.microsoft.com/office/drawing/2014/main" id="{2559C5EB-97EC-4352-B7B3-19D9BED31298}"/>
              </a:ext>
            </a:extLst>
          </p:cNvPr>
          <p:cNvSpPr>
            <a:spLocks noGrp="1"/>
          </p:cNvSpPr>
          <p:nvPr>
            <p:ph type="ftr" sz="quarter" idx="11"/>
          </p:nvPr>
        </p:nvSpPr>
        <p:spPr/>
        <p:txBody>
          <a:bodyPr/>
          <a:lstStyle/>
          <a:p>
            <a:r>
              <a:rPr lang="en-US"/>
              <a:t>Lahore Garrison University</a:t>
            </a:r>
          </a:p>
        </p:txBody>
      </p:sp>
      <p:sp>
        <p:nvSpPr>
          <p:cNvPr id="5" name="Slide Number Placeholder 4">
            <a:extLst>
              <a:ext uri="{FF2B5EF4-FFF2-40B4-BE49-F238E27FC236}">
                <a16:creationId xmlns:a16="http://schemas.microsoft.com/office/drawing/2014/main" id="{53BB39F9-9776-47D0-BB4D-2CCF32E3E417}"/>
              </a:ext>
            </a:extLst>
          </p:cNvPr>
          <p:cNvSpPr>
            <a:spLocks noGrp="1"/>
          </p:cNvSpPr>
          <p:nvPr>
            <p:ph type="sldNum" sz="quarter" idx="12"/>
          </p:nvPr>
        </p:nvSpPr>
        <p:spPr/>
        <p:txBody>
          <a:bodyPr/>
          <a:lstStyle/>
          <a:p>
            <a:fld id="{8E9ED8F5-F0EE-4F30-BF79-1CB5FF8C36DA}" type="slidenum">
              <a:rPr lang="en-US" smtClean="0"/>
              <a:pPr/>
              <a:t>27</a:t>
            </a:fld>
            <a:endParaRPr lang="en-US"/>
          </a:p>
        </p:txBody>
      </p:sp>
    </p:spTree>
    <p:extLst>
      <p:ext uri="{BB962C8B-B14F-4D97-AF65-F5344CB8AC3E}">
        <p14:creationId xmlns:p14="http://schemas.microsoft.com/office/powerpoint/2010/main" val="206008725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F6869638-93A3-4D2A-B4C0-BA6506819728}"/>
              </a:ext>
            </a:extLst>
          </p:cNvPr>
          <p:cNvSpPr>
            <a:spLocks noGrp="1"/>
          </p:cNvSpPr>
          <p:nvPr>
            <p:ph type="title"/>
          </p:nvPr>
        </p:nvSpPr>
        <p:spPr/>
        <p:txBody>
          <a:bodyPr/>
          <a:lstStyle/>
          <a:p>
            <a:r>
              <a:rPr lang="en-US" altLang="en-US" dirty="0"/>
              <a:t>Single user operating systems</a:t>
            </a:r>
          </a:p>
        </p:txBody>
      </p:sp>
      <p:sp>
        <p:nvSpPr>
          <p:cNvPr id="24579" name="Content Placeholder 2">
            <a:extLst>
              <a:ext uri="{FF2B5EF4-FFF2-40B4-BE49-F238E27FC236}">
                <a16:creationId xmlns:a16="http://schemas.microsoft.com/office/drawing/2014/main" id="{0AAA4B0D-B002-486D-BC51-42C6018CDD9B}"/>
              </a:ext>
            </a:extLst>
          </p:cNvPr>
          <p:cNvSpPr>
            <a:spLocks noGrp="1"/>
          </p:cNvSpPr>
          <p:nvPr>
            <p:ph idx="1"/>
          </p:nvPr>
        </p:nvSpPr>
        <p:spPr>
          <a:xfrm>
            <a:off x="561110" y="2603500"/>
            <a:ext cx="10629629" cy="3416300"/>
          </a:xfrm>
        </p:spPr>
        <p:txBody>
          <a:bodyPr>
            <a:normAutofit/>
          </a:bodyPr>
          <a:lstStyle/>
          <a:p>
            <a:pPr>
              <a:buFont typeface="Century Gothic" panose="020B0502020202020204" pitchFamily="34" charset="0"/>
              <a:buChar char="►"/>
            </a:pPr>
            <a:r>
              <a:rPr lang="en-US" altLang="en-US" i="1" dirty="0"/>
              <a:t>Personal computers</a:t>
            </a:r>
            <a:r>
              <a:rPr lang="en-US" altLang="en-US" dirty="0"/>
              <a:t> – computer system dedicated to a single user.(many but 1 at a time)</a:t>
            </a:r>
          </a:p>
          <a:p>
            <a:pPr marL="0" indent="0">
              <a:buNone/>
            </a:pPr>
            <a:endParaRPr lang="en-US" altLang="en-US" dirty="0"/>
          </a:p>
          <a:p>
            <a:pPr>
              <a:buFont typeface="Century Gothic" panose="020B0502020202020204" pitchFamily="34" charset="0"/>
              <a:buChar char="►"/>
            </a:pPr>
            <a:r>
              <a:rPr lang="en-US" altLang="en-US" b="1" dirty="0">
                <a:solidFill>
                  <a:srgbClr val="FFC000"/>
                </a:solidFill>
              </a:rPr>
              <a:t>Interactive</a:t>
            </a:r>
            <a:r>
              <a:rPr lang="en-US" altLang="en-US" dirty="0"/>
              <a:t>(Accepting input from a human. Interactive computer systems are programs that allow users to enter data or commands.</a:t>
            </a:r>
            <a:r>
              <a:rPr lang="en-US" altLang="en-US" dirty="0">
                <a:solidFill>
                  <a:srgbClr val="FFC000"/>
                </a:solidFill>
              </a:rPr>
              <a:t> </a:t>
            </a:r>
            <a:r>
              <a:rPr lang="en-US" altLang="en-US" b="1" dirty="0">
                <a:solidFill>
                  <a:srgbClr val="FFC000"/>
                </a:solidFill>
              </a:rPr>
              <a:t>Most popular programs, such as word processors and spreadsheet </a:t>
            </a:r>
            <a:r>
              <a:rPr lang="en-US" altLang="en-US" dirty="0"/>
              <a:t>applications, are interactive. </a:t>
            </a:r>
          </a:p>
          <a:p>
            <a:pPr>
              <a:buFont typeface="Century Gothic" panose="020B0502020202020204" pitchFamily="34" charset="0"/>
              <a:buChar char="►"/>
            </a:pPr>
            <a:endParaRPr lang="en-US" altLang="en-US" dirty="0"/>
          </a:p>
          <a:p>
            <a:pPr>
              <a:buFont typeface="Century Gothic" panose="020B0502020202020204" pitchFamily="34" charset="0"/>
              <a:buChar char="►"/>
            </a:pPr>
            <a:r>
              <a:rPr lang="en-US" altLang="en-US" dirty="0"/>
              <a:t>A </a:t>
            </a:r>
            <a:r>
              <a:rPr lang="en-US" altLang="en-US" b="1" dirty="0">
                <a:solidFill>
                  <a:srgbClr val="FFC000"/>
                </a:solidFill>
              </a:rPr>
              <a:t>non interactive </a:t>
            </a:r>
            <a:r>
              <a:rPr lang="en-US" altLang="en-US" dirty="0"/>
              <a:t>program is one that, when started, continues without requiring human contact. A </a:t>
            </a:r>
            <a:r>
              <a:rPr lang="en-US" altLang="en-US" b="1" dirty="0">
                <a:solidFill>
                  <a:srgbClr val="FFC000"/>
                </a:solidFill>
              </a:rPr>
              <a:t>compiler</a:t>
            </a:r>
            <a:r>
              <a:rPr lang="en-US" altLang="en-US" dirty="0"/>
              <a:t> is a non interactive program)</a:t>
            </a:r>
          </a:p>
          <a:p>
            <a:pPr>
              <a:buFont typeface="Century Gothic" panose="020B0502020202020204" pitchFamily="34" charset="0"/>
              <a:buChar char="►"/>
            </a:pPr>
            <a:r>
              <a:rPr lang="en-US" altLang="en-US" dirty="0"/>
              <a:t>User convenience and responsiveness.</a:t>
            </a:r>
          </a:p>
          <a:p>
            <a:endParaRPr lang="en-US" altLang="en-US" dirty="0"/>
          </a:p>
        </p:txBody>
      </p:sp>
      <p:sp>
        <p:nvSpPr>
          <p:cNvPr id="24580" name="Footer Placeholder 3">
            <a:extLst>
              <a:ext uri="{FF2B5EF4-FFF2-40B4-BE49-F238E27FC236}">
                <a16:creationId xmlns:a16="http://schemas.microsoft.com/office/drawing/2014/main" id="{E49B2831-C9A7-4458-9FE0-F3B4A80C483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4581" name="Slide Number Placeholder 4">
            <a:extLst>
              <a:ext uri="{FF2B5EF4-FFF2-40B4-BE49-F238E27FC236}">
                <a16:creationId xmlns:a16="http://schemas.microsoft.com/office/drawing/2014/main" id="{A43D1D17-A983-4B26-ABC5-A40BB65CEA0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76B9F-B091-4FF5-9265-9C363262C19F}" type="slidenum">
              <a:rPr lang="en-US" altLang="en-US">
                <a:solidFill>
                  <a:schemeClr val="bg1"/>
                </a:solidFill>
              </a:rPr>
              <a:pPr/>
              <a:t>28</a:t>
            </a:fld>
            <a:endParaRPr lang="en-US" altLang="en-US">
              <a:solidFill>
                <a:schemeClr val="bg1"/>
              </a:solidFill>
            </a:endParaRPr>
          </a:p>
        </p:txBody>
      </p:sp>
    </p:spTree>
    <p:extLst>
      <p:ext uri="{BB962C8B-B14F-4D97-AF65-F5344CB8AC3E}">
        <p14:creationId xmlns:p14="http://schemas.microsoft.com/office/powerpoint/2010/main" val="38929604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F6869638-93A3-4D2A-B4C0-BA6506819728}"/>
              </a:ext>
            </a:extLst>
          </p:cNvPr>
          <p:cNvSpPr>
            <a:spLocks noGrp="1"/>
          </p:cNvSpPr>
          <p:nvPr>
            <p:ph type="title"/>
          </p:nvPr>
        </p:nvSpPr>
        <p:spPr/>
        <p:txBody>
          <a:bodyPr/>
          <a:lstStyle/>
          <a:p>
            <a:r>
              <a:rPr lang="en-US" altLang="en-US" dirty="0"/>
              <a:t>Single &amp; Multi user Operating systems</a:t>
            </a:r>
          </a:p>
        </p:txBody>
      </p:sp>
      <p:sp>
        <p:nvSpPr>
          <p:cNvPr id="24580" name="Footer Placeholder 3">
            <a:extLst>
              <a:ext uri="{FF2B5EF4-FFF2-40B4-BE49-F238E27FC236}">
                <a16:creationId xmlns:a16="http://schemas.microsoft.com/office/drawing/2014/main" id="{E49B2831-C9A7-4458-9FE0-F3B4A80C483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4581" name="Slide Number Placeholder 4">
            <a:extLst>
              <a:ext uri="{FF2B5EF4-FFF2-40B4-BE49-F238E27FC236}">
                <a16:creationId xmlns:a16="http://schemas.microsoft.com/office/drawing/2014/main" id="{A43D1D17-A983-4B26-ABC5-A40BB65CEA0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76B9F-B091-4FF5-9265-9C363262C19F}" type="slidenum">
              <a:rPr lang="en-US" altLang="en-US">
                <a:solidFill>
                  <a:schemeClr val="bg1"/>
                </a:solidFill>
              </a:rPr>
              <a:pPr/>
              <a:t>29</a:t>
            </a:fld>
            <a:endParaRPr lang="en-US" altLang="en-US">
              <a:solidFill>
                <a:schemeClr val="bg1"/>
              </a:solidFill>
            </a:endParaRPr>
          </a:p>
        </p:txBody>
      </p:sp>
      <p:graphicFrame>
        <p:nvGraphicFramePr>
          <p:cNvPr id="3" name="Table 2"/>
          <p:cNvGraphicFramePr>
            <a:graphicFrameLocks noGrp="1"/>
          </p:cNvGraphicFramePr>
          <p:nvPr/>
        </p:nvGraphicFramePr>
        <p:xfrm>
          <a:off x="561110" y="2286518"/>
          <a:ext cx="11311341" cy="4176892"/>
        </p:xfrm>
        <a:graphic>
          <a:graphicData uri="http://schemas.openxmlformats.org/drawingml/2006/table">
            <a:tbl>
              <a:tblPr>
                <a:tableStyleId>{5940675A-B579-460E-94D1-54222C63F5DA}</a:tableStyleId>
              </a:tblPr>
              <a:tblGrid>
                <a:gridCol w="2295052">
                  <a:extLst>
                    <a:ext uri="{9D8B030D-6E8A-4147-A177-3AD203B41FA5}">
                      <a16:colId xmlns:a16="http://schemas.microsoft.com/office/drawing/2014/main" val="1913623448"/>
                    </a:ext>
                  </a:extLst>
                </a:gridCol>
                <a:gridCol w="4881547">
                  <a:extLst>
                    <a:ext uri="{9D8B030D-6E8A-4147-A177-3AD203B41FA5}">
                      <a16:colId xmlns:a16="http://schemas.microsoft.com/office/drawing/2014/main" val="3341840052"/>
                    </a:ext>
                  </a:extLst>
                </a:gridCol>
                <a:gridCol w="4134742">
                  <a:extLst>
                    <a:ext uri="{9D8B030D-6E8A-4147-A177-3AD203B41FA5}">
                      <a16:colId xmlns:a16="http://schemas.microsoft.com/office/drawing/2014/main" val="2225983759"/>
                    </a:ext>
                  </a:extLst>
                </a:gridCol>
              </a:tblGrid>
              <a:tr h="397704">
                <a:tc>
                  <a:txBody>
                    <a:bodyPr/>
                    <a:lstStyle/>
                    <a:p>
                      <a:r>
                        <a:rPr lang="en-US" sz="1800" b="1" dirty="0">
                          <a:latin typeface="Times New Roman" panose="02020603050405020304" pitchFamily="18" charset="0"/>
                          <a:cs typeface="Times New Roman" panose="02020603050405020304" pitchFamily="18" charset="0"/>
                        </a:rPr>
                        <a:t>Feature</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Single-User Operating System</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Multi-User Operating System</a:t>
                      </a:r>
                    </a:p>
                  </a:txBody>
                  <a:tcPr marL="48117" marR="48117" marT="24058" marB="24058" anchor="ctr"/>
                </a:tc>
                <a:extLst>
                  <a:ext uri="{0D108BD9-81ED-4DB2-BD59-A6C34878D82A}">
                    <a16:rowId xmlns:a16="http://schemas.microsoft.com/office/drawing/2014/main" val="1237804150"/>
                  </a:ext>
                </a:extLst>
              </a:tr>
              <a:tr h="397704">
                <a:tc>
                  <a:txBody>
                    <a:bodyPr/>
                    <a:lstStyle/>
                    <a:p>
                      <a:r>
                        <a:rPr lang="en-US" sz="1800" b="1" dirty="0">
                          <a:latin typeface="Times New Roman" panose="02020603050405020304" pitchFamily="18" charset="0"/>
                          <a:cs typeface="Times New Roman" panose="02020603050405020304" pitchFamily="18" charset="0"/>
                        </a:rPr>
                        <a:t>Number of Users</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Supports only one user at a time</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Supports multiple users simultaneously</a:t>
                      </a:r>
                    </a:p>
                  </a:txBody>
                  <a:tcPr marL="48117" marR="48117" marT="24058" marB="24058" anchor="ctr"/>
                </a:tc>
                <a:extLst>
                  <a:ext uri="{0D108BD9-81ED-4DB2-BD59-A6C34878D82A}">
                    <a16:rowId xmlns:a16="http://schemas.microsoft.com/office/drawing/2014/main" val="1389028162"/>
                  </a:ext>
                </a:extLst>
              </a:tr>
              <a:tr h="582111">
                <a:tc>
                  <a:txBody>
                    <a:bodyPr/>
                    <a:lstStyle/>
                    <a:p>
                      <a:r>
                        <a:rPr lang="en-US" sz="1800" b="1" dirty="0">
                          <a:latin typeface="Times New Roman" panose="02020603050405020304" pitchFamily="18" charset="0"/>
                          <a:cs typeface="Times New Roman" panose="02020603050405020304" pitchFamily="18" charset="0"/>
                        </a:rPr>
                        <a:t>Resource Sharing</a:t>
                      </a:r>
                    </a:p>
                  </a:txBody>
                  <a:tcPr marL="48117" marR="48117" marT="24058" marB="24058" anchor="ctr"/>
                </a:tc>
                <a:tc>
                  <a:txBody>
                    <a:bodyPr/>
                    <a:lstStyle/>
                    <a:p>
                      <a:r>
                        <a:rPr lang="en-US" sz="1800" dirty="0">
                          <a:latin typeface="Times New Roman" panose="02020603050405020304" pitchFamily="18" charset="0"/>
                          <a:cs typeface="Times New Roman" panose="02020603050405020304" pitchFamily="18" charset="0"/>
                        </a:rPr>
                        <a:t>No sharing – all resources used by one person</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Resources (CPU, memory, storage) are shared among users</a:t>
                      </a:r>
                    </a:p>
                  </a:txBody>
                  <a:tcPr marL="48117" marR="48117" marT="24058" marB="24058" anchor="ctr"/>
                </a:tc>
                <a:extLst>
                  <a:ext uri="{0D108BD9-81ED-4DB2-BD59-A6C34878D82A}">
                    <a16:rowId xmlns:a16="http://schemas.microsoft.com/office/drawing/2014/main" val="1686259214"/>
                  </a:ext>
                </a:extLst>
              </a:tr>
              <a:tr h="582111">
                <a:tc>
                  <a:txBody>
                    <a:bodyPr/>
                    <a:lstStyle/>
                    <a:p>
                      <a:r>
                        <a:rPr lang="en-US" sz="1800" b="1" dirty="0">
                          <a:latin typeface="Times New Roman" panose="02020603050405020304" pitchFamily="18" charset="0"/>
                          <a:cs typeface="Times New Roman" panose="02020603050405020304" pitchFamily="18" charset="0"/>
                        </a:rPr>
                        <a:t>Complexity</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Simple and easy to use</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More complex, requires advanced management</a:t>
                      </a:r>
                    </a:p>
                  </a:txBody>
                  <a:tcPr marL="48117" marR="48117" marT="24058" marB="24058" anchor="ctr"/>
                </a:tc>
                <a:extLst>
                  <a:ext uri="{0D108BD9-81ED-4DB2-BD59-A6C34878D82A}">
                    <a16:rowId xmlns:a16="http://schemas.microsoft.com/office/drawing/2014/main" val="609522394"/>
                  </a:ext>
                </a:extLst>
              </a:tr>
              <a:tr h="582111">
                <a:tc>
                  <a:txBody>
                    <a:bodyPr/>
                    <a:lstStyle/>
                    <a:p>
                      <a:r>
                        <a:rPr lang="en-US" sz="1800" b="1" dirty="0">
                          <a:latin typeface="Times New Roman" panose="02020603050405020304" pitchFamily="18" charset="0"/>
                          <a:cs typeface="Times New Roman" panose="02020603050405020304" pitchFamily="18" charset="0"/>
                        </a:rPr>
                        <a:t>Examples</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MS-DOS, Windows (personal editions), macOS, Android, iOS</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UNIX, Linux (server editions), Windows Server, Mainframes</a:t>
                      </a:r>
                    </a:p>
                  </a:txBody>
                  <a:tcPr marL="48117" marR="48117" marT="24058" marB="24058" anchor="ctr"/>
                </a:tc>
                <a:extLst>
                  <a:ext uri="{0D108BD9-81ED-4DB2-BD59-A6C34878D82A}">
                    <a16:rowId xmlns:a16="http://schemas.microsoft.com/office/drawing/2014/main" val="2937249283"/>
                  </a:ext>
                </a:extLst>
              </a:tr>
              <a:tr h="582111">
                <a:tc>
                  <a:txBody>
                    <a:bodyPr/>
                    <a:lstStyle/>
                    <a:p>
                      <a:r>
                        <a:rPr lang="en-US" sz="1800" b="1" dirty="0">
                          <a:latin typeface="Times New Roman" panose="02020603050405020304" pitchFamily="18" charset="0"/>
                          <a:cs typeface="Times New Roman" panose="02020603050405020304" pitchFamily="18" charset="0"/>
                        </a:rPr>
                        <a:t>Cost</a:t>
                      </a:r>
                    </a:p>
                  </a:txBody>
                  <a:tcPr marL="48117" marR="48117" marT="24058" marB="24058" anchor="ctr"/>
                </a:tc>
                <a:tc>
                  <a:txBody>
                    <a:bodyPr/>
                    <a:lstStyle/>
                    <a:p>
                      <a:r>
                        <a:rPr lang="en-US" sz="1800" dirty="0">
                          <a:latin typeface="Times New Roman" panose="02020603050405020304" pitchFamily="18" charset="0"/>
                          <a:cs typeface="Times New Roman" panose="02020603050405020304" pitchFamily="18" charset="0"/>
                        </a:rPr>
                        <a:t>Generally cheaper</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More expensive (requires stronger hardware &amp; licensing)</a:t>
                      </a:r>
                    </a:p>
                  </a:txBody>
                  <a:tcPr marL="48117" marR="48117" marT="24058" marB="24058" anchor="ctr"/>
                </a:tc>
                <a:extLst>
                  <a:ext uri="{0D108BD9-81ED-4DB2-BD59-A6C34878D82A}">
                    <a16:rowId xmlns:a16="http://schemas.microsoft.com/office/drawing/2014/main" val="3828093113"/>
                  </a:ext>
                </a:extLst>
              </a:tr>
              <a:tr h="582111">
                <a:tc>
                  <a:txBody>
                    <a:bodyPr/>
                    <a:lstStyle/>
                    <a:p>
                      <a:r>
                        <a:rPr lang="en-US" sz="1800" b="1" dirty="0">
                          <a:latin typeface="Times New Roman" panose="02020603050405020304" pitchFamily="18" charset="0"/>
                          <a:cs typeface="Times New Roman" panose="02020603050405020304" pitchFamily="18" charset="0"/>
                        </a:rPr>
                        <a:t>Performance</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Optimized for a single user’s tasks</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Performance depends on resource allocation among users</a:t>
                      </a:r>
                    </a:p>
                  </a:txBody>
                  <a:tcPr marL="48117" marR="48117" marT="24058" marB="24058" anchor="ctr"/>
                </a:tc>
                <a:extLst>
                  <a:ext uri="{0D108BD9-81ED-4DB2-BD59-A6C34878D82A}">
                    <a16:rowId xmlns:a16="http://schemas.microsoft.com/office/drawing/2014/main" val="4166350801"/>
                  </a:ext>
                </a:extLst>
              </a:tr>
              <a:tr h="397704">
                <a:tc>
                  <a:txBody>
                    <a:bodyPr/>
                    <a:lstStyle/>
                    <a:p>
                      <a:r>
                        <a:rPr lang="en-US" sz="1800" b="1" dirty="0">
                          <a:latin typeface="Times New Roman" panose="02020603050405020304" pitchFamily="18" charset="0"/>
                          <a:cs typeface="Times New Roman" panose="02020603050405020304" pitchFamily="18" charset="0"/>
                        </a:rPr>
                        <a:t>Use Case</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Personal computers, laptops, smartphones</a:t>
                      </a:r>
                    </a:p>
                  </a:txBody>
                  <a:tcPr marL="48117" marR="48117" marT="24058" marB="24058" anchor="ctr"/>
                </a:tc>
                <a:tc>
                  <a:txBody>
                    <a:bodyPr/>
                    <a:lstStyle/>
                    <a:p>
                      <a:r>
                        <a:rPr lang="en-US" sz="1800" dirty="0">
                          <a:latin typeface="Times New Roman" panose="02020603050405020304" pitchFamily="18" charset="0"/>
                          <a:cs typeface="Times New Roman" panose="02020603050405020304" pitchFamily="18" charset="0"/>
                        </a:rPr>
                        <a:t>Servers, mainframes, enterprise systems</a:t>
                      </a:r>
                    </a:p>
                  </a:txBody>
                  <a:tcPr marL="48117" marR="48117" marT="24058" marB="24058" anchor="ctr"/>
                </a:tc>
                <a:extLst>
                  <a:ext uri="{0D108BD9-81ED-4DB2-BD59-A6C34878D82A}">
                    <a16:rowId xmlns:a16="http://schemas.microsoft.com/office/drawing/2014/main" val="2936678824"/>
                  </a:ext>
                </a:extLst>
              </a:tr>
            </a:tbl>
          </a:graphicData>
        </a:graphic>
      </p:graphicFrame>
    </p:spTree>
    <p:extLst>
      <p:ext uri="{BB962C8B-B14F-4D97-AF65-F5344CB8AC3E}">
        <p14:creationId xmlns:p14="http://schemas.microsoft.com/office/powerpoint/2010/main" val="252278412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1D47C02F-545F-45BF-A367-6E91FF9EE42F}"/>
              </a:ext>
            </a:extLst>
          </p:cNvPr>
          <p:cNvSpPr>
            <a:spLocks noGrp="1"/>
          </p:cNvSpPr>
          <p:nvPr>
            <p:ph type="title"/>
          </p:nvPr>
        </p:nvSpPr>
        <p:spPr/>
        <p:txBody>
          <a:bodyPr/>
          <a:lstStyle/>
          <a:p>
            <a:r>
              <a:rPr lang="en-US" altLang="en-US" dirty="0"/>
              <a:t>Batch Operating systems</a:t>
            </a:r>
          </a:p>
        </p:txBody>
      </p:sp>
      <p:sp>
        <p:nvSpPr>
          <p:cNvPr id="3" name="Content Placeholder 2">
            <a:extLst>
              <a:ext uri="{FF2B5EF4-FFF2-40B4-BE49-F238E27FC236}">
                <a16:creationId xmlns:a16="http://schemas.microsoft.com/office/drawing/2014/main" id="{296C3B82-6166-4F2E-8794-E2FC85796C9E}"/>
              </a:ext>
            </a:extLst>
          </p:cNvPr>
          <p:cNvSpPr>
            <a:spLocks noGrp="1"/>
          </p:cNvSpPr>
          <p:nvPr>
            <p:ph idx="1"/>
          </p:nvPr>
        </p:nvSpPr>
        <p:spPr>
          <a:xfrm>
            <a:off x="658368" y="2474914"/>
            <a:ext cx="10972799" cy="3862387"/>
          </a:xfrm>
        </p:spPr>
        <p:txBody>
          <a:bodyPr>
            <a:normAutofit lnSpcReduction="10000"/>
          </a:bodyPr>
          <a:lstStyle/>
          <a:p>
            <a:pPr algn="just">
              <a:buFont typeface="Century Gothic" pitchFamily="34" charset="0"/>
              <a:buChar char="►"/>
              <a:defRPr/>
            </a:pPr>
            <a:r>
              <a:rPr lang="en-US" dirty="0"/>
              <a:t>First Fundamental system.</a:t>
            </a:r>
          </a:p>
          <a:p>
            <a:pPr algn="just">
              <a:buFont typeface="Century Gothic" pitchFamily="34" charset="0"/>
              <a:buChar char="►"/>
              <a:defRPr/>
            </a:pPr>
            <a:r>
              <a:rPr lang="en-US" dirty="0"/>
              <a:t>User </a:t>
            </a:r>
            <a:r>
              <a:rPr lang="en-US" dirty="0">
                <a:sym typeface="Symbol" pitchFamily="18" charset="2"/>
              </a:rPr>
              <a:t> operator</a:t>
            </a:r>
          </a:p>
          <a:p>
            <a:pPr algn="just">
              <a:buFont typeface="Century Gothic" pitchFamily="34" charset="0"/>
              <a:buChar char="►"/>
              <a:defRPr/>
            </a:pPr>
            <a:r>
              <a:rPr lang="en-US" dirty="0">
                <a:sym typeface="Symbol" pitchFamily="18" charset="2"/>
              </a:rPr>
              <a:t>Reduce setup time by batching similar jobs</a:t>
            </a:r>
          </a:p>
          <a:p>
            <a:pPr algn="just">
              <a:buFont typeface="Century Gothic" pitchFamily="34" charset="0"/>
              <a:buChar char="►"/>
              <a:defRPr/>
            </a:pPr>
            <a:r>
              <a:rPr lang="en-US" dirty="0">
                <a:sym typeface="Symbol" pitchFamily="18" charset="2"/>
              </a:rPr>
              <a:t>Automatic job sequencing – automatically transfers control from one job to another.</a:t>
            </a:r>
          </a:p>
          <a:p>
            <a:pPr algn="just">
              <a:buFont typeface="Century Gothic" pitchFamily="34" charset="0"/>
              <a:buChar char="►"/>
              <a:defRPr/>
            </a:pPr>
            <a:r>
              <a:rPr lang="en-US" dirty="0">
                <a:sym typeface="Symbol" pitchFamily="18" charset="2"/>
              </a:rPr>
              <a:t> Resident monitor :</a:t>
            </a:r>
          </a:p>
          <a:p>
            <a:pPr lvl="1" algn="just">
              <a:buFont typeface="Century Gothic" pitchFamily="34" charset="0"/>
              <a:buChar char="►"/>
              <a:defRPr/>
            </a:pPr>
            <a:r>
              <a:rPr lang="en-US" sz="1800" dirty="0"/>
              <a:t>initial control in monitor </a:t>
            </a:r>
          </a:p>
          <a:p>
            <a:pPr lvl="1" algn="just">
              <a:buFont typeface="Century Gothic" pitchFamily="34" charset="0"/>
              <a:buChar char="►"/>
              <a:defRPr/>
            </a:pPr>
            <a:r>
              <a:rPr lang="en-US" sz="1800" dirty="0"/>
              <a:t>control transfers to job </a:t>
            </a:r>
          </a:p>
          <a:p>
            <a:pPr lvl="1">
              <a:buFont typeface="Century Gothic" pitchFamily="34" charset="0"/>
              <a:buChar char="►"/>
              <a:defRPr/>
            </a:pPr>
            <a:r>
              <a:rPr lang="en-US" sz="1800" dirty="0"/>
              <a:t>when job completes </a:t>
            </a:r>
          </a:p>
          <a:p>
            <a:pPr lvl="1">
              <a:buFont typeface="Century Gothic" pitchFamily="34" charset="0"/>
              <a:buChar char="►"/>
              <a:defRPr/>
            </a:pPr>
            <a:r>
              <a:rPr lang="en-US" sz="1800" dirty="0"/>
              <a:t>control transfers back to monitor</a:t>
            </a:r>
          </a:p>
          <a:p>
            <a:pPr marL="457200" lvl="1" indent="0" algn="ctr">
              <a:buNone/>
              <a:defRPr/>
            </a:pPr>
            <a:r>
              <a:rPr lang="en-US" sz="1800" b="1" dirty="0"/>
              <a:t>User → Batch Jobs → Batch OS → Execution (Output)</a:t>
            </a:r>
          </a:p>
          <a:p>
            <a:pPr>
              <a:defRPr/>
            </a:pPr>
            <a:endParaRPr lang="en-US" dirty="0"/>
          </a:p>
        </p:txBody>
      </p:sp>
      <p:sp>
        <p:nvSpPr>
          <p:cNvPr id="25604" name="Footer Placeholder 3">
            <a:extLst>
              <a:ext uri="{FF2B5EF4-FFF2-40B4-BE49-F238E27FC236}">
                <a16:creationId xmlns:a16="http://schemas.microsoft.com/office/drawing/2014/main" id="{22655298-CDD1-4ADF-9A27-2995C03ECE2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5605" name="Slide Number Placeholder 4">
            <a:extLst>
              <a:ext uri="{FF2B5EF4-FFF2-40B4-BE49-F238E27FC236}">
                <a16:creationId xmlns:a16="http://schemas.microsoft.com/office/drawing/2014/main" id="{C9EC2E86-266D-4E7F-8FE6-EB592F37A75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72FABCA-AB8F-4F70-872F-93194783A259}" type="slidenum">
              <a:rPr lang="en-US" altLang="en-US">
                <a:solidFill>
                  <a:schemeClr val="bg1"/>
                </a:solidFill>
              </a:rPr>
              <a:pPr/>
              <a:t>30</a:t>
            </a:fld>
            <a:endParaRPr lang="en-US" altLang="en-US">
              <a:solidFill>
                <a:schemeClr val="bg1"/>
              </a:solidFill>
            </a:endParaRPr>
          </a:p>
        </p:txBody>
      </p:sp>
    </p:spTree>
    <p:extLst>
      <p:ext uri="{BB962C8B-B14F-4D97-AF65-F5344CB8AC3E}">
        <p14:creationId xmlns:p14="http://schemas.microsoft.com/office/powerpoint/2010/main" val="181273819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128E0BB5-FE33-4691-824F-630F36FD508F}"/>
              </a:ext>
            </a:extLst>
          </p:cNvPr>
          <p:cNvSpPr>
            <a:spLocks noGrp="1"/>
          </p:cNvSpPr>
          <p:nvPr>
            <p:ph type="title"/>
          </p:nvPr>
        </p:nvSpPr>
        <p:spPr/>
        <p:txBody>
          <a:bodyPr/>
          <a:lstStyle/>
          <a:p>
            <a:r>
              <a:rPr lang="en-US" altLang="en-US"/>
              <a:t>Memory layout of batch systems</a:t>
            </a:r>
          </a:p>
        </p:txBody>
      </p:sp>
      <p:sp>
        <p:nvSpPr>
          <p:cNvPr id="26627" name="Footer Placeholder 3">
            <a:extLst>
              <a:ext uri="{FF2B5EF4-FFF2-40B4-BE49-F238E27FC236}">
                <a16:creationId xmlns:a16="http://schemas.microsoft.com/office/drawing/2014/main" id="{55FE59F8-96DD-4E2A-BAC1-C438B4A2684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6628" name="Slide Number Placeholder 4">
            <a:extLst>
              <a:ext uri="{FF2B5EF4-FFF2-40B4-BE49-F238E27FC236}">
                <a16:creationId xmlns:a16="http://schemas.microsoft.com/office/drawing/2014/main" id="{F2ED7E90-C8E0-45C1-8787-B02ABD5A4DC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B78ADA7-0FE5-40C6-A57A-897BF6D8B4D8}" type="slidenum">
              <a:rPr lang="en-US" altLang="en-US">
                <a:solidFill>
                  <a:schemeClr val="bg1"/>
                </a:solidFill>
              </a:rPr>
              <a:pPr/>
              <a:t>31</a:t>
            </a:fld>
            <a:endParaRPr lang="en-US" altLang="en-US">
              <a:solidFill>
                <a:schemeClr val="bg1"/>
              </a:solidFill>
            </a:endParaRPr>
          </a:p>
        </p:txBody>
      </p:sp>
      <p:pic>
        <p:nvPicPr>
          <p:cNvPr id="6" name="Picture 3">
            <a:extLst>
              <a:ext uri="{FF2B5EF4-FFF2-40B4-BE49-F238E27FC236}">
                <a16:creationId xmlns:a16="http://schemas.microsoft.com/office/drawing/2014/main" id="{83704CC9-8BF3-48D2-B868-46D8ABE08240}"/>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l="28365" t="1007" r="28203" b="806"/>
          <a:stretch>
            <a:fillRect/>
          </a:stretch>
        </p:blipFill>
        <p:spPr>
          <a:xfrm>
            <a:off x="1154954" y="2544506"/>
            <a:ext cx="1890712" cy="3416300"/>
          </a:xfrm>
        </p:spPr>
      </p:pic>
      <p:sp>
        <p:nvSpPr>
          <p:cNvPr id="4" name="TextBox 3"/>
          <p:cNvSpPr txBox="1"/>
          <p:nvPr/>
        </p:nvSpPr>
        <p:spPr>
          <a:xfrm>
            <a:off x="3261360" y="2948918"/>
            <a:ext cx="5958840" cy="369332"/>
          </a:xfrm>
          <a:prstGeom prst="rect">
            <a:avLst/>
          </a:prstGeom>
          <a:noFill/>
        </p:spPr>
        <p:txBody>
          <a:bodyPr wrap="square" rtlCol="0">
            <a:spAutoFit/>
          </a:bodyPr>
          <a:lstStyle/>
          <a:p>
            <a:pPr lvl="0" defTabSz="914400" eaLnBrk="0" fontAlgn="base" hangingPunct="0">
              <a:spcBef>
                <a:spcPct val="0"/>
              </a:spcBef>
              <a:spcAft>
                <a:spcPct val="0"/>
              </a:spcAft>
            </a:pPr>
            <a:r>
              <a:rPr lang="en-US" altLang="en-US" b="1" dirty="0">
                <a:latin typeface="Arial" panose="020B0604020202020204" pitchFamily="34" charset="0"/>
              </a:rPr>
              <a:t>OS in upper part</a:t>
            </a:r>
            <a:r>
              <a:rPr lang="en-US" altLang="en-US" dirty="0">
                <a:latin typeface="Arial" panose="020B0604020202020204" pitchFamily="34" charset="0"/>
              </a:rPr>
              <a:t> → controls the system.</a:t>
            </a:r>
          </a:p>
        </p:txBody>
      </p:sp>
      <p:sp>
        <p:nvSpPr>
          <p:cNvPr id="9" name="TextBox 8"/>
          <p:cNvSpPr txBox="1"/>
          <p:nvPr/>
        </p:nvSpPr>
        <p:spPr>
          <a:xfrm>
            <a:off x="3261360" y="4754220"/>
            <a:ext cx="5958840" cy="369332"/>
          </a:xfrm>
          <a:prstGeom prst="rect">
            <a:avLst/>
          </a:prstGeom>
          <a:noFill/>
        </p:spPr>
        <p:txBody>
          <a:bodyPr wrap="square" rtlCol="0">
            <a:spAutoFit/>
          </a:bodyPr>
          <a:lstStyle/>
          <a:p>
            <a:pPr lvl="0" defTabSz="914400" eaLnBrk="0" fontAlgn="base" hangingPunct="0">
              <a:spcBef>
                <a:spcPct val="0"/>
              </a:spcBef>
              <a:spcAft>
                <a:spcPct val="0"/>
              </a:spcAft>
            </a:pPr>
            <a:r>
              <a:rPr lang="en-US" altLang="en-US" b="1" dirty="0">
                <a:latin typeface="Arial" panose="020B0604020202020204" pitchFamily="34" charset="0"/>
              </a:rPr>
              <a:t>User program area</a:t>
            </a:r>
            <a:r>
              <a:rPr lang="en-US" altLang="en-US" dirty="0">
                <a:latin typeface="Arial" panose="020B0604020202020204" pitchFamily="34" charset="0"/>
              </a:rPr>
              <a:t> → executes user applications</a:t>
            </a:r>
          </a:p>
        </p:txBody>
      </p:sp>
    </p:spTree>
    <p:extLst>
      <p:ext uri="{BB962C8B-B14F-4D97-AF65-F5344CB8AC3E}">
        <p14:creationId xmlns:p14="http://schemas.microsoft.com/office/powerpoint/2010/main" val="5449938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D377231-0983-4605-8646-195FFE17128E}"/>
              </a:ext>
            </a:extLst>
          </p:cNvPr>
          <p:cNvSpPr>
            <a:spLocks noGrp="1"/>
          </p:cNvSpPr>
          <p:nvPr>
            <p:ph type="title"/>
          </p:nvPr>
        </p:nvSpPr>
        <p:spPr/>
        <p:txBody>
          <a:bodyPr/>
          <a:lstStyle/>
          <a:p>
            <a:r>
              <a:rPr lang="en-US" altLang="en-US"/>
              <a:t>Batch system (conti…)</a:t>
            </a:r>
          </a:p>
        </p:txBody>
      </p:sp>
      <p:sp>
        <p:nvSpPr>
          <p:cNvPr id="27651" name="Footer Placeholder 3">
            <a:extLst>
              <a:ext uri="{FF2B5EF4-FFF2-40B4-BE49-F238E27FC236}">
                <a16:creationId xmlns:a16="http://schemas.microsoft.com/office/drawing/2014/main" id="{921AD917-7226-49F3-8960-371A4FD9327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7652" name="Slide Number Placeholder 4">
            <a:extLst>
              <a:ext uri="{FF2B5EF4-FFF2-40B4-BE49-F238E27FC236}">
                <a16:creationId xmlns:a16="http://schemas.microsoft.com/office/drawing/2014/main" id="{7C3F1DD9-857D-4F49-BE37-C2CB926751C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2C7BF1-0F5F-49BA-AA3E-E84B7276FF51}" type="slidenum">
              <a:rPr lang="en-US" altLang="en-US">
                <a:solidFill>
                  <a:schemeClr val="bg1"/>
                </a:solidFill>
              </a:rPr>
              <a:pPr/>
              <a:t>32</a:t>
            </a:fld>
            <a:endParaRPr lang="en-US" altLang="en-US">
              <a:solidFill>
                <a:schemeClr val="bg1"/>
              </a:solidFill>
            </a:endParaRPr>
          </a:p>
        </p:txBody>
      </p:sp>
      <p:pic>
        <p:nvPicPr>
          <p:cNvPr id="27653" name="Picture 2" descr="../_images/batch.png">
            <a:extLst>
              <a:ext uri="{FF2B5EF4-FFF2-40B4-BE49-F238E27FC236}">
                <a16:creationId xmlns:a16="http://schemas.microsoft.com/office/drawing/2014/main" id="{2C0B30B1-D781-4054-9E3A-94729B2603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408363" y="2609850"/>
            <a:ext cx="5619750" cy="2946400"/>
          </a:xfrm>
        </p:spPr>
      </p:pic>
    </p:spTree>
    <p:extLst>
      <p:ext uri="{BB962C8B-B14F-4D97-AF65-F5344CB8AC3E}">
        <p14:creationId xmlns:p14="http://schemas.microsoft.com/office/powerpoint/2010/main" val="19565708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236CF21D-1C0D-4798-A79D-AD4A9ED12930}"/>
              </a:ext>
            </a:extLst>
          </p:cNvPr>
          <p:cNvSpPr>
            <a:spLocks noGrp="1"/>
          </p:cNvSpPr>
          <p:nvPr>
            <p:ph type="title"/>
          </p:nvPr>
        </p:nvSpPr>
        <p:spPr>
          <a:xfrm>
            <a:off x="1154954" y="627496"/>
            <a:ext cx="8761413" cy="1091106"/>
          </a:xfrm>
        </p:spPr>
        <p:txBody>
          <a:bodyPr/>
          <a:lstStyle/>
          <a:p>
            <a:r>
              <a:rPr lang="en-US" altLang="en-US" dirty="0"/>
              <a:t>Multi-programmed systems (non preemptive)</a:t>
            </a:r>
          </a:p>
        </p:txBody>
      </p:sp>
      <p:sp>
        <p:nvSpPr>
          <p:cNvPr id="28675" name="Content Placeholder 2">
            <a:extLst>
              <a:ext uri="{FF2B5EF4-FFF2-40B4-BE49-F238E27FC236}">
                <a16:creationId xmlns:a16="http://schemas.microsoft.com/office/drawing/2014/main" id="{9915E6D2-3E39-45FD-B068-5B985B073FA8}"/>
              </a:ext>
            </a:extLst>
          </p:cNvPr>
          <p:cNvSpPr>
            <a:spLocks noGrp="1"/>
          </p:cNvSpPr>
          <p:nvPr>
            <p:ph idx="1"/>
          </p:nvPr>
        </p:nvSpPr>
        <p:spPr>
          <a:xfrm>
            <a:off x="457200" y="2451100"/>
            <a:ext cx="8839200" cy="3416300"/>
          </a:xfrm>
        </p:spPr>
        <p:txBody>
          <a:bodyPr/>
          <a:lstStyle/>
          <a:p>
            <a:r>
              <a:rPr lang="en-US" b="0" i="0" dirty="0">
                <a:solidFill>
                  <a:srgbClr val="000000"/>
                </a:solidFill>
                <a:effectLst/>
                <a:latin typeface="Arial" panose="020B0604020202020204" pitchFamily="34" charset="0"/>
              </a:rPr>
              <a:t>Sharing the processor, when two or more programs reside in memory at the same time, is referred as </a:t>
            </a:r>
            <a:r>
              <a:rPr lang="en-US" b="1" i="0" dirty="0">
                <a:solidFill>
                  <a:srgbClr val="000000"/>
                </a:solidFill>
                <a:effectLst/>
                <a:latin typeface="Arial" panose="020B0604020202020204" pitchFamily="34" charset="0"/>
              </a:rPr>
              <a:t>multiprogramming</a:t>
            </a:r>
          </a:p>
          <a:p>
            <a:r>
              <a:rPr lang="en-US" b="0" i="0" dirty="0">
                <a:solidFill>
                  <a:srgbClr val="000000"/>
                </a:solidFill>
                <a:effectLst/>
                <a:latin typeface="Arial" panose="020B0604020202020204" pitchFamily="34" charset="0"/>
              </a:rPr>
              <a:t>Multiprogramming increases CPU utilization by organizing jobs so that the CPU always has one to execute.</a:t>
            </a:r>
            <a:endParaRPr lang="en-US" altLang="en-US" dirty="0"/>
          </a:p>
          <a:p>
            <a:r>
              <a:rPr lang="en-US" altLang="en-US" dirty="0"/>
              <a:t> </a:t>
            </a:r>
            <a:r>
              <a:rPr lang="en-US" altLang="en-US" dirty="0">
                <a:solidFill>
                  <a:srgbClr val="000000"/>
                </a:solidFill>
                <a:latin typeface="Arial" panose="020B0604020202020204" pitchFamily="34" charset="0"/>
              </a:rPr>
              <a:t>Several jobs are kept in main memory at the same time, and the CPU is multiplexed among them</a:t>
            </a:r>
            <a:r>
              <a:rPr lang="en-US" altLang="en-US" dirty="0"/>
              <a:t>. </a:t>
            </a:r>
          </a:p>
          <a:p>
            <a:r>
              <a:rPr lang="en-US" b="0" i="0" dirty="0">
                <a:solidFill>
                  <a:srgbClr val="000000"/>
                </a:solidFill>
                <a:effectLst/>
                <a:latin typeface="Arial" panose="020B0604020202020204" pitchFamily="34" charset="0"/>
              </a:rPr>
              <a:t>Multiprogramming operating systems monitor the state of all active programs and system resources using memory management programs to ensures that the CPU is never idle, unless there are no jobs to process.</a:t>
            </a:r>
            <a:endParaRPr lang="en-US" altLang="en-US" dirty="0"/>
          </a:p>
        </p:txBody>
      </p:sp>
      <p:sp>
        <p:nvSpPr>
          <p:cNvPr id="28676" name="Footer Placeholder 3">
            <a:extLst>
              <a:ext uri="{FF2B5EF4-FFF2-40B4-BE49-F238E27FC236}">
                <a16:creationId xmlns:a16="http://schemas.microsoft.com/office/drawing/2014/main" id="{522C88AD-6720-49DA-8601-2F8310CAFFF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8677" name="Slide Number Placeholder 4">
            <a:extLst>
              <a:ext uri="{FF2B5EF4-FFF2-40B4-BE49-F238E27FC236}">
                <a16:creationId xmlns:a16="http://schemas.microsoft.com/office/drawing/2014/main" id="{34417BD9-FEA5-4593-A446-5BBC4DB1D52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E3CC91D-C194-4F09-8C56-8B48D3225343}" type="slidenum">
              <a:rPr lang="en-US" altLang="en-US">
                <a:solidFill>
                  <a:schemeClr val="bg1"/>
                </a:solidFill>
              </a:rPr>
              <a:pPr/>
              <a:t>33</a:t>
            </a:fld>
            <a:endParaRPr lang="en-US" altLang="en-US">
              <a:solidFill>
                <a:schemeClr val="bg1"/>
              </a:solidFill>
            </a:endParaRPr>
          </a:p>
        </p:txBody>
      </p:sp>
      <p:pic>
        <p:nvPicPr>
          <p:cNvPr id="6" name="Picture 4">
            <a:extLst>
              <a:ext uri="{FF2B5EF4-FFF2-40B4-BE49-F238E27FC236}">
                <a16:creationId xmlns:a16="http://schemas.microsoft.com/office/drawing/2014/main" id="{DDDF3260-A70F-497E-9F29-C914E9B1AB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421" t="934" r="25233" b="934"/>
          <a:stretch>
            <a:fillRect/>
          </a:stretch>
        </p:blipFill>
        <p:spPr bwMode="auto">
          <a:xfrm>
            <a:off x="9512300" y="2451100"/>
            <a:ext cx="2222500" cy="368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001465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92FB3FD8-07D7-4DC8-BA71-4DE5156190B4}"/>
              </a:ext>
            </a:extLst>
          </p:cNvPr>
          <p:cNvSpPr>
            <a:spLocks noGrp="1"/>
          </p:cNvSpPr>
          <p:nvPr>
            <p:ph type="title"/>
          </p:nvPr>
        </p:nvSpPr>
        <p:spPr/>
        <p:txBody>
          <a:bodyPr/>
          <a:lstStyle/>
          <a:p>
            <a:r>
              <a:rPr lang="en-US" altLang="en-US"/>
              <a:t>Multiprogrammed Systems</a:t>
            </a:r>
          </a:p>
        </p:txBody>
      </p:sp>
      <p:sp>
        <p:nvSpPr>
          <p:cNvPr id="29699" name="Content Placeholder 2">
            <a:extLst>
              <a:ext uri="{FF2B5EF4-FFF2-40B4-BE49-F238E27FC236}">
                <a16:creationId xmlns:a16="http://schemas.microsoft.com/office/drawing/2014/main" id="{E89B1ED7-CE68-422C-846C-F3614A9698FC}"/>
              </a:ext>
            </a:extLst>
          </p:cNvPr>
          <p:cNvSpPr>
            <a:spLocks noGrp="1"/>
          </p:cNvSpPr>
          <p:nvPr>
            <p:ph idx="1"/>
          </p:nvPr>
        </p:nvSpPr>
        <p:spPr>
          <a:xfrm>
            <a:off x="2390775" y="2603500"/>
            <a:ext cx="6618288" cy="628650"/>
          </a:xfrm>
        </p:spPr>
        <p:txBody>
          <a:bodyPr>
            <a:normAutofit lnSpcReduction="10000"/>
          </a:bodyPr>
          <a:lstStyle/>
          <a:p>
            <a:r>
              <a:rPr lang="en-US" altLang="en-US" b="1">
                <a:solidFill>
                  <a:schemeClr val="tx1"/>
                </a:solidFill>
              </a:rPr>
              <a:t>Example:</a:t>
            </a:r>
            <a:r>
              <a:rPr lang="en-US" altLang="en-US">
                <a:solidFill>
                  <a:schemeClr val="tx1"/>
                </a:solidFill>
              </a:rPr>
              <a:t> Two processes P1 and P2 with CPU and I/O bursts of one time unit each</a:t>
            </a:r>
          </a:p>
          <a:p>
            <a:endParaRPr lang="en-US" altLang="en-US">
              <a:solidFill>
                <a:schemeClr val="tx1"/>
              </a:solidFill>
            </a:endParaRPr>
          </a:p>
        </p:txBody>
      </p:sp>
      <p:sp>
        <p:nvSpPr>
          <p:cNvPr id="29700" name="Footer Placeholder 3">
            <a:extLst>
              <a:ext uri="{FF2B5EF4-FFF2-40B4-BE49-F238E27FC236}">
                <a16:creationId xmlns:a16="http://schemas.microsoft.com/office/drawing/2014/main" id="{19AE4AB1-066F-4633-8832-C278F6119E4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9701" name="Slide Number Placeholder 4">
            <a:extLst>
              <a:ext uri="{FF2B5EF4-FFF2-40B4-BE49-F238E27FC236}">
                <a16:creationId xmlns:a16="http://schemas.microsoft.com/office/drawing/2014/main" id="{FA0C4E88-83A5-4E31-A775-B299D3B8F5A0}"/>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5CE8837-EF36-450C-B9A0-6BED5E2DB09A}" type="slidenum">
              <a:rPr lang="en-US" altLang="en-US">
                <a:solidFill>
                  <a:schemeClr val="bg1"/>
                </a:solidFill>
              </a:rPr>
              <a:pPr/>
              <a:t>34</a:t>
            </a:fld>
            <a:endParaRPr lang="en-US" altLang="en-US">
              <a:solidFill>
                <a:schemeClr val="bg1"/>
              </a:solidFill>
            </a:endParaRPr>
          </a:p>
        </p:txBody>
      </p:sp>
      <p:pic>
        <p:nvPicPr>
          <p:cNvPr id="6" name="Picture 4">
            <a:extLst>
              <a:ext uri="{FF2B5EF4-FFF2-40B4-BE49-F238E27FC236}">
                <a16:creationId xmlns:a16="http://schemas.microsoft.com/office/drawing/2014/main" id="{B20D9B16-A2AF-4A96-9C60-DFF5F17446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0076" y="5140325"/>
            <a:ext cx="561657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E5ECBF70-E09F-42F2-B4F1-DEFFA12ED7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9076" y="3622676"/>
            <a:ext cx="622617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a:extLst>
              <a:ext uri="{FF2B5EF4-FFF2-40B4-BE49-F238E27FC236}">
                <a16:creationId xmlns:a16="http://schemas.microsoft.com/office/drawing/2014/main" id="{93592DEC-6ACE-4C61-BED1-A5EB02552F8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40076" y="4432301"/>
            <a:ext cx="56927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41755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checkerboard(across)">
                                      <p:cBhvr>
                                        <p:cTn id="13" dur="500"/>
                                        <p:tgtEl>
                                          <p:spTgt spid="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53ED5843-C5A3-4B7E-B823-DDCB49F05DD8}"/>
              </a:ext>
            </a:extLst>
          </p:cNvPr>
          <p:cNvSpPr>
            <a:spLocks noGrp="1"/>
          </p:cNvSpPr>
          <p:nvPr>
            <p:ph type="title"/>
          </p:nvPr>
        </p:nvSpPr>
        <p:spPr/>
        <p:txBody>
          <a:bodyPr/>
          <a:lstStyle/>
          <a:p>
            <a:r>
              <a:rPr lang="en-US" altLang="en-US" dirty="0" err="1"/>
              <a:t>Os</a:t>
            </a:r>
            <a:r>
              <a:rPr lang="en-US" altLang="en-US" dirty="0"/>
              <a:t> features needed for Multiprogramming</a:t>
            </a:r>
          </a:p>
        </p:txBody>
      </p:sp>
      <p:sp>
        <p:nvSpPr>
          <p:cNvPr id="30723" name="Content Placeholder 2">
            <a:extLst>
              <a:ext uri="{FF2B5EF4-FFF2-40B4-BE49-F238E27FC236}">
                <a16:creationId xmlns:a16="http://schemas.microsoft.com/office/drawing/2014/main" id="{486C76BD-B715-45DC-BAB3-8D774792BCA7}"/>
              </a:ext>
            </a:extLst>
          </p:cNvPr>
          <p:cNvSpPr>
            <a:spLocks noGrp="1"/>
          </p:cNvSpPr>
          <p:nvPr>
            <p:ph idx="1"/>
          </p:nvPr>
        </p:nvSpPr>
        <p:spPr>
          <a:xfrm>
            <a:off x="457200" y="2603500"/>
            <a:ext cx="4332289" cy="3308350"/>
          </a:xfrm>
        </p:spPr>
        <p:txBody>
          <a:bodyPr/>
          <a:lstStyle/>
          <a:p>
            <a:pPr>
              <a:buFont typeface="Century Gothic" panose="020B0502020202020204" pitchFamily="34" charset="0"/>
              <a:buChar char="►"/>
            </a:pPr>
            <a:r>
              <a:rPr lang="en-US" altLang="en-US" dirty="0"/>
              <a:t>Spooling (Simultaneous Peripheral Operation On-Line)(put job in buffer)</a:t>
            </a:r>
          </a:p>
          <a:p>
            <a:pPr>
              <a:buFont typeface="Century Gothic" panose="020B0502020202020204" pitchFamily="34" charset="0"/>
              <a:buChar char="►"/>
            </a:pPr>
            <a:r>
              <a:rPr lang="en-US" altLang="en-US" dirty="0"/>
              <a:t>Memory management </a:t>
            </a:r>
          </a:p>
          <a:p>
            <a:pPr>
              <a:buFont typeface="Century Gothic" panose="020B0502020202020204" pitchFamily="34" charset="0"/>
              <a:buChar char="►"/>
            </a:pPr>
            <a:r>
              <a:rPr lang="en-US" altLang="en-US" dirty="0"/>
              <a:t>CPU scheduling</a:t>
            </a:r>
          </a:p>
          <a:p>
            <a:endParaRPr lang="en-US" altLang="en-US" dirty="0"/>
          </a:p>
        </p:txBody>
      </p:sp>
      <p:sp>
        <p:nvSpPr>
          <p:cNvPr id="30724" name="Footer Placeholder 3">
            <a:extLst>
              <a:ext uri="{FF2B5EF4-FFF2-40B4-BE49-F238E27FC236}">
                <a16:creationId xmlns:a16="http://schemas.microsoft.com/office/drawing/2014/main" id="{F06EEB2E-4A5E-4221-A528-7321A509785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0725" name="Slide Number Placeholder 4">
            <a:extLst>
              <a:ext uri="{FF2B5EF4-FFF2-40B4-BE49-F238E27FC236}">
                <a16:creationId xmlns:a16="http://schemas.microsoft.com/office/drawing/2014/main" id="{86F5014C-75C6-4964-8B27-18CFE4DBEE9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D6984A6-7A65-4643-B50B-B9A3BB38E462}" type="slidenum">
              <a:rPr lang="en-US" altLang="en-US">
                <a:solidFill>
                  <a:schemeClr val="bg1"/>
                </a:solidFill>
              </a:rPr>
              <a:pPr/>
              <a:t>35</a:t>
            </a:fld>
            <a:endParaRPr lang="en-US" altLang="en-US">
              <a:solidFill>
                <a:schemeClr val="bg1"/>
              </a:solidFill>
            </a:endParaRPr>
          </a:p>
        </p:txBody>
      </p:sp>
      <p:pic>
        <p:nvPicPr>
          <p:cNvPr id="30726" name="Picture 5">
            <a:extLst>
              <a:ext uri="{FF2B5EF4-FFF2-40B4-BE49-F238E27FC236}">
                <a16:creationId xmlns:a16="http://schemas.microsoft.com/office/drawing/2014/main" id="{30F6AB33-26D0-46BE-9DF7-8F18111E3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9113" y="2736850"/>
            <a:ext cx="41910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01015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50AC3809-39AA-49EF-AE04-C67EB5433E44}"/>
              </a:ext>
            </a:extLst>
          </p:cNvPr>
          <p:cNvSpPr>
            <a:spLocks noGrp="1"/>
          </p:cNvSpPr>
          <p:nvPr>
            <p:ph type="title"/>
          </p:nvPr>
        </p:nvSpPr>
        <p:spPr/>
        <p:txBody>
          <a:bodyPr/>
          <a:lstStyle/>
          <a:p>
            <a:r>
              <a:rPr lang="en-US" altLang="en-US"/>
              <a:t>Time sharing systems</a:t>
            </a:r>
          </a:p>
        </p:txBody>
      </p:sp>
      <p:sp>
        <p:nvSpPr>
          <p:cNvPr id="31747" name="Content Placeholder 2">
            <a:extLst>
              <a:ext uri="{FF2B5EF4-FFF2-40B4-BE49-F238E27FC236}">
                <a16:creationId xmlns:a16="http://schemas.microsoft.com/office/drawing/2014/main" id="{FDA0772C-EFDD-437F-992A-EA6197B893A7}"/>
              </a:ext>
            </a:extLst>
          </p:cNvPr>
          <p:cNvSpPr>
            <a:spLocks noGrp="1"/>
          </p:cNvSpPr>
          <p:nvPr>
            <p:ph idx="1"/>
          </p:nvPr>
        </p:nvSpPr>
        <p:spPr>
          <a:xfrm>
            <a:off x="514350" y="2582864"/>
            <a:ext cx="6496049" cy="3417887"/>
          </a:xfrm>
        </p:spPr>
        <p:txBody>
          <a:bodyPr/>
          <a:lstStyle/>
          <a:p>
            <a:pPr algn="just">
              <a:buFont typeface="Century Gothic" panose="020B0502020202020204" pitchFamily="34" charset="0"/>
              <a:buChar char="►"/>
            </a:pPr>
            <a:r>
              <a:rPr lang="en-US" altLang="en-US" dirty="0"/>
              <a:t>A multi user and multi process system.</a:t>
            </a:r>
          </a:p>
          <a:p>
            <a:pPr algn="just">
              <a:buFont typeface="Century Gothic" panose="020B0502020202020204" pitchFamily="34" charset="0"/>
              <a:buChar char="►"/>
            </a:pPr>
            <a:r>
              <a:rPr lang="en-US" altLang="en-US" dirty="0"/>
              <a:t>An interactive system with multiprogramming</a:t>
            </a:r>
          </a:p>
          <a:p>
            <a:pPr algn="just">
              <a:buFont typeface="Century Gothic" panose="020B0502020202020204" pitchFamily="34" charset="0"/>
              <a:buChar char="►"/>
            </a:pPr>
            <a:r>
              <a:rPr lang="en-US" altLang="en-US" dirty="0"/>
              <a:t>To obtain a reasonable response time, jobs may have to be swapped in and out of main memory.</a:t>
            </a:r>
          </a:p>
          <a:p>
            <a:pPr algn="just">
              <a:buFont typeface="Century Gothic" panose="020B0502020202020204" pitchFamily="34" charset="0"/>
              <a:buChar char="►"/>
            </a:pPr>
            <a:r>
              <a:rPr lang="en-US" altLang="en-US" dirty="0"/>
              <a:t>UNIX, Linux, Widows NT server, and Windows 2000 server</a:t>
            </a:r>
          </a:p>
          <a:p>
            <a:endParaRPr lang="en-US" altLang="en-US" dirty="0"/>
          </a:p>
        </p:txBody>
      </p:sp>
      <p:sp>
        <p:nvSpPr>
          <p:cNvPr id="31748" name="Footer Placeholder 3">
            <a:extLst>
              <a:ext uri="{FF2B5EF4-FFF2-40B4-BE49-F238E27FC236}">
                <a16:creationId xmlns:a16="http://schemas.microsoft.com/office/drawing/2014/main" id="{3BEA34E9-24E5-47BF-965A-71DE1DF4621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1749" name="Slide Number Placeholder 4">
            <a:extLst>
              <a:ext uri="{FF2B5EF4-FFF2-40B4-BE49-F238E27FC236}">
                <a16:creationId xmlns:a16="http://schemas.microsoft.com/office/drawing/2014/main" id="{016620BD-2A12-4381-8694-A3DF514EE9A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EB8A35-EA3C-4311-9995-654B7D729B8A}" type="slidenum">
              <a:rPr lang="en-US" altLang="en-US">
                <a:solidFill>
                  <a:schemeClr val="bg1"/>
                </a:solidFill>
              </a:rPr>
              <a:pPr/>
              <a:t>36</a:t>
            </a:fld>
            <a:endParaRPr lang="en-US" altLang="en-US">
              <a:solidFill>
                <a:schemeClr val="bg1"/>
              </a:solidFill>
            </a:endParaRPr>
          </a:p>
        </p:txBody>
      </p:sp>
      <p:pic>
        <p:nvPicPr>
          <p:cNvPr id="31750" name="Picture 3">
            <a:extLst>
              <a:ext uri="{FF2B5EF4-FFF2-40B4-BE49-F238E27FC236}">
                <a16:creationId xmlns:a16="http://schemas.microsoft.com/office/drawing/2014/main" id="{4BF9D7E9-D574-42B7-94A0-024BD087F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7925" y="2457450"/>
            <a:ext cx="27432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185004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FB07A-72E1-4FBD-B5F4-2A51F733EA84}"/>
              </a:ext>
            </a:extLst>
          </p:cNvPr>
          <p:cNvSpPr>
            <a:spLocks noGrp="1"/>
          </p:cNvSpPr>
          <p:nvPr>
            <p:ph type="title"/>
          </p:nvPr>
        </p:nvSpPr>
        <p:spPr/>
        <p:txBody>
          <a:bodyPr/>
          <a:lstStyle/>
          <a:p>
            <a:r>
              <a:rPr lang="en-US" dirty="0"/>
              <a:t>Distributed Operating System</a:t>
            </a:r>
          </a:p>
        </p:txBody>
      </p:sp>
      <p:sp>
        <p:nvSpPr>
          <p:cNvPr id="3" name="Content Placeholder 2">
            <a:extLst>
              <a:ext uri="{FF2B5EF4-FFF2-40B4-BE49-F238E27FC236}">
                <a16:creationId xmlns:a16="http://schemas.microsoft.com/office/drawing/2014/main" id="{BD16BC62-5C8E-4926-90C2-0B79AA8590B9}"/>
              </a:ext>
            </a:extLst>
          </p:cNvPr>
          <p:cNvSpPr>
            <a:spLocks noGrp="1"/>
          </p:cNvSpPr>
          <p:nvPr>
            <p:ph idx="1"/>
          </p:nvPr>
        </p:nvSpPr>
        <p:spPr>
          <a:xfrm>
            <a:off x="552450" y="2298700"/>
            <a:ext cx="11029950" cy="4044950"/>
          </a:xfrm>
        </p:spPr>
        <p:txBody>
          <a:bodyPr/>
          <a:lstStyle/>
          <a:p>
            <a:r>
              <a:rPr lang="en-US" b="0" i="0" dirty="0">
                <a:solidFill>
                  <a:srgbClr val="333333"/>
                </a:solidFill>
                <a:effectLst/>
                <a:latin typeface="inter-regular"/>
              </a:rPr>
              <a:t>Distributed systems use many central processors to serve multiple real-time applications and users. As a result, data processing jobs are distributed between the processors.</a:t>
            </a:r>
          </a:p>
          <a:p>
            <a:r>
              <a:rPr lang="en-US" b="0" i="0" dirty="0">
                <a:solidFill>
                  <a:srgbClr val="333333"/>
                </a:solidFill>
                <a:effectLst/>
                <a:latin typeface="inter-regular"/>
              </a:rPr>
              <a:t>It connects multiple computers via a single communication channel. Furthermore, each of these systems has its own processor and memory.</a:t>
            </a:r>
          </a:p>
          <a:p>
            <a:r>
              <a:rPr lang="en-US" b="0" i="0" dirty="0">
                <a:solidFill>
                  <a:srgbClr val="333333"/>
                </a:solidFill>
                <a:effectLst/>
                <a:latin typeface="inter-regular"/>
              </a:rPr>
              <a:t> Additionally, these </a:t>
            </a:r>
            <a:r>
              <a:rPr lang="en-US" b="1" i="0" dirty="0">
                <a:solidFill>
                  <a:srgbClr val="333333"/>
                </a:solidFill>
                <a:effectLst/>
                <a:latin typeface="inter-bold"/>
              </a:rPr>
              <a:t>CPUs</a:t>
            </a:r>
            <a:r>
              <a:rPr lang="en-US" b="0" i="0" dirty="0">
                <a:solidFill>
                  <a:srgbClr val="333333"/>
                </a:solidFill>
                <a:effectLst/>
                <a:latin typeface="inter-regular"/>
              </a:rPr>
              <a:t> communicate via high-speed buses or telephone lines. Individual systems that communicate via a single channel are regarded as a single entity. They're also known as </a:t>
            </a:r>
            <a:r>
              <a:rPr lang="en-US" b="1" i="0" dirty="0">
                <a:solidFill>
                  <a:srgbClr val="333333"/>
                </a:solidFill>
                <a:effectLst/>
                <a:latin typeface="inter-bold"/>
              </a:rPr>
              <a:t>loosely coupled systems</a:t>
            </a:r>
            <a:r>
              <a:rPr lang="en-US" b="0" i="0" dirty="0">
                <a:solidFill>
                  <a:srgbClr val="333333"/>
                </a:solidFill>
                <a:effectLst/>
                <a:latin typeface="inter-regular"/>
              </a:rPr>
              <a:t>.</a:t>
            </a:r>
          </a:p>
          <a:p>
            <a:endParaRPr lang="en-US" dirty="0"/>
          </a:p>
        </p:txBody>
      </p:sp>
      <p:pic>
        <p:nvPicPr>
          <p:cNvPr id="1026" name="Picture 2" descr="Distributed Operating System">
            <a:extLst>
              <a:ext uri="{FF2B5EF4-FFF2-40B4-BE49-F238E27FC236}">
                <a16:creationId xmlns:a16="http://schemas.microsoft.com/office/drawing/2014/main" id="{F7CA0091-1EFF-4501-A1B7-46877BEE9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4286250"/>
            <a:ext cx="3819525"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693383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D15A860A-27B4-442B-83BD-E04E5CF38510}"/>
              </a:ext>
            </a:extLst>
          </p:cNvPr>
          <p:cNvSpPr>
            <a:spLocks noGrp="1"/>
          </p:cNvSpPr>
          <p:nvPr>
            <p:ph type="title"/>
          </p:nvPr>
        </p:nvSpPr>
        <p:spPr/>
        <p:txBody>
          <a:bodyPr/>
          <a:lstStyle/>
          <a:p>
            <a:r>
              <a:rPr lang="en-US" altLang="en-US"/>
              <a:t>Real Time systems</a:t>
            </a:r>
          </a:p>
        </p:txBody>
      </p:sp>
      <p:sp>
        <p:nvSpPr>
          <p:cNvPr id="32771" name="Content Placeholder 2">
            <a:extLst>
              <a:ext uri="{FF2B5EF4-FFF2-40B4-BE49-F238E27FC236}">
                <a16:creationId xmlns:a16="http://schemas.microsoft.com/office/drawing/2014/main" id="{0E2D02D2-79C9-4AAE-AE61-3CE292F6A0F0}"/>
              </a:ext>
            </a:extLst>
          </p:cNvPr>
          <p:cNvSpPr>
            <a:spLocks noGrp="1"/>
          </p:cNvSpPr>
          <p:nvPr>
            <p:ph idx="1"/>
          </p:nvPr>
        </p:nvSpPr>
        <p:spPr>
          <a:xfrm>
            <a:off x="381001" y="2571750"/>
            <a:ext cx="11468100" cy="3752850"/>
          </a:xfrm>
        </p:spPr>
        <p:txBody>
          <a:bodyPr/>
          <a:lstStyle/>
          <a:p>
            <a:pPr algn="just">
              <a:buFont typeface="Century Gothic" panose="020B0502020202020204" pitchFamily="34" charset="0"/>
              <a:buChar char="►"/>
            </a:pPr>
            <a:r>
              <a:rPr lang="en-US" dirty="0"/>
              <a:t>A data processing system in which the time interval required to process and respond to inputs is so small that it controls the environment</a:t>
            </a:r>
          </a:p>
          <a:p>
            <a:pPr algn="just">
              <a:buFont typeface="Century Gothic" panose="020B0502020202020204" pitchFamily="34" charset="0"/>
              <a:buChar char="►"/>
            </a:pPr>
            <a:r>
              <a:rPr lang="en-US" dirty="0"/>
              <a:t>the time taken by the system to respond to an input and display of required updated information is termed as the response time</a:t>
            </a:r>
            <a:endParaRPr lang="en-US" altLang="en-US" dirty="0"/>
          </a:p>
          <a:p>
            <a:pPr algn="just">
              <a:buFont typeface="Century Gothic" panose="020B0502020202020204" pitchFamily="34" charset="0"/>
              <a:buChar char="►"/>
            </a:pPr>
            <a:r>
              <a:rPr lang="en-US" dirty="0"/>
              <a:t>A real-time operating system must have well-defined, fixed time constraints, otherwise the system will fail</a:t>
            </a:r>
            <a:r>
              <a:rPr lang="en-US" altLang="en-US" dirty="0"/>
              <a:t> such as controlling scientific experiments, medical imaging systems, industrial control systems, and some display systems. Plane landing. Ventilators.</a:t>
            </a:r>
          </a:p>
          <a:p>
            <a:pPr algn="just">
              <a:buFont typeface="Century Gothic" panose="020B0502020202020204" pitchFamily="34" charset="0"/>
              <a:buChar char="►"/>
            </a:pPr>
            <a:r>
              <a:rPr lang="en-US" altLang="en-US" dirty="0"/>
              <a:t>Real-Time systems may be either hard or soft real-time.</a:t>
            </a:r>
          </a:p>
          <a:p>
            <a:endParaRPr lang="en-US" altLang="en-US" dirty="0"/>
          </a:p>
        </p:txBody>
      </p:sp>
      <p:sp>
        <p:nvSpPr>
          <p:cNvPr id="32772" name="Footer Placeholder 3">
            <a:extLst>
              <a:ext uri="{FF2B5EF4-FFF2-40B4-BE49-F238E27FC236}">
                <a16:creationId xmlns:a16="http://schemas.microsoft.com/office/drawing/2014/main" id="{3D9D6F47-5480-4BAF-86F7-7425CF1AA47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2773" name="Slide Number Placeholder 4">
            <a:extLst>
              <a:ext uri="{FF2B5EF4-FFF2-40B4-BE49-F238E27FC236}">
                <a16:creationId xmlns:a16="http://schemas.microsoft.com/office/drawing/2014/main" id="{0F3D5E07-9956-4B52-BCDA-2D29A896E09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0F36AE-A727-4CCC-9825-ECC90DC64F3D}" type="slidenum">
              <a:rPr lang="en-US" altLang="en-US">
                <a:solidFill>
                  <a:schemeClr val="bg1"/>
                </a:solidFill>
              </a:rPr>
              <a:pPr/>
              <a:t>38</a:t>
            </a:fld>
            <a:endParaRPr lang="en-US" altLang="en-US">
              <a:solidFill>
                <a:schemeClr val="bg1"/>
              </a:solidFill>
            </a:endParaRPr>
          </a:p>
        </p:txBody>
      </p:sp>
    </p:spTree>
    <p:extLst>
      <p:ext uri="{BB962C8B-B14F-4D97-AF65-F5344CB8AC3E}">
        <p14:creationId xmlns:p14="http://schemas.microsoft.com/office/powerpoint/2010/main" val="23700528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82318182-3F9A-4B47-BC0A-8F6130FA0DE4}"/>
              </a:ext>
            </a:extLst>
          </p:cNvPr>
          <p:cNvSpPr>
            <a:spLocks noGrp="1"/>
          </p:cNvSpPr>
          <p:nvPr>
            <p:ph type="title"/>
          </p:nvPr>
        </p:nvSpPr>
        <p:spPr/>
        <p:txBody>
          <a:bodyPr/>
          <a:lstStyle/>
          <a:p>
            <a:r>
              <a:rPr lang="en-US" altLang="en-US"/>
              <a:t>Real Time systems</a:t>
            </a:r>
          </a:p>
        </p:txBody>
      </p:sp>
      <p:sp>
        <p:nvSpPr>
          <p:cNvPr id="33795" name="Content Placeholder 2">
            <a:extLst>
              <a:ext uri="{FF2B5EF4-FFF2-40B4-BE49-F238E27FC236}">
                <a16:creationId xmlns:a16="http://schemas.microsoft.com/office/drawing/2014/main" id="{4163E4B0-E7CE-4A69-9BB1-1676AB1C5A5E}"/>
              </a:ext>
            </a:extLst>
          </p:cNvPr>
          <p:cNvSpPr>
            <a:spLocks noGrp="1"/>
          </p:cNvSpPr>
          <p:nvPr>
            <p:ph idx="1"/>
          </p:nvPr>
        </p:nvSpPr>
        <p:spPr>
          <a:xfrm>
            <a:off x="1330600" y="2643256"/>
            <a:ext cx="8761413" cy="3416300"/>
          </a:xfrm>
        </p:spPr>
        <p:txBody>
          <a:bodyPr/>
          <a:lstStyle/>
          <a:p>
            <a:pPr>
              <a:buClr>
                <a:srgbClr val="FFFF00"/>
              </a:buClr>
              <a:buFont typeface="Wingdings 3" panose="05040102010807070707" pitchFamily="18" charset="2"/>
              <a:buNone/>
            </a:pPr>
            <a:r>
              <a:rPr lang="en-US" altLang="en-US" dirty="0"/>
              <a:t>Hard real-time systems:</a:t>
            </a:r>
          </a:p>
          <a:p>
            <a:pPr lvl="1">
              <a:buFont typeface="Century Gothic" panose="020B0502020202020204" pitchFamily="34" charset="0"/>
              <a:buChar char="►"/>
            </a:pPr>
            <a:r>
              <a:rPr lang="en-US" altLang="en-US" dirty="0"/>
              <a:t>Secondary storage limited are absent, data stored in short term memory, or read-only memory (ROM).coz time is short</a:t>
            </a:r>
          </a:p>
          <a:p>
            <a:pPr lvl="1">
              <a:buFont typeface="Century Gothic" panose="020B0502020202020204" pitchFamily="34" charset="0"/>
              <a:buChar char="►"/>
            </a:pPr>
            <a:r>
              <a:rPr lang="en-US" altLang="en-US" dirty="0"/>
              <a:t>No virtual memory—time cannot be “wasted” on translation of logical to physical addresses.</a:t>
            </a:r>
          </a:p>
          <a:p>
            <a:pPr lvl="1">
              <a:buFont typeface="Century Gothic" panose="020B0502020202020204" pitchFamily="34" charset="0"/>
              <a:buChar char="►"/>
            </a:pPr>
            <a:r>
              <a:rPr lang="en-US" altLang="en-US" dirty="0"/>
              <a:t>OS code structured for efficiency</a:t>
            </a:r>
          </a:p>
          <a:p>
            <a:pPr lvl="1">
              <a:buFont typeface="Century Gothic" panose="020B0502020202020204" pitchFamily="34" charset="0"/>
              <a:buChar char="►"/>
            </a:pPr>
            <a:r>
              <a:rPr lang="en-US" altLang="en-US" dirty="0"/>
              <a:t>Plane landing systems, process control in nuclear power plants, ventilators, etc.</a:t>
            </a:r>
          </a:p>
          <a:p>
            <a:endParaRPr lang="en-US" altLang="en-US" dirty="0"/>
          </a:p>
        </p:txBody>
      </p:sp>
      <p:sp>
        <p:nvSpPr>
          <p:cNvPr id="33796" name="Footer Placeholder 3">
            <a:extLst>
              <a:ext uri="{FF2B5EF4-FFF2-40B4-BE49-F238E27FC236}">
                <a16:creationId xmlns:a16="http://schemas.microsoft.com/office/drawing/2014/main" id="{5BBDA577-C958-49AC-9982-DFD02947045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3797" name="Slide Number Placeholder 4">
            <a:extLst>
              <a:ext uri="{FF2B5EF4-FFF2-40B4-BE49-F238E27FC236}">
                <a16:creationId xmlns:a16="http://schemas.microsoft.com/office/drawing/2014/main" id="{0C4EC3C5-3DC9-4EDC-91EB-7CC1A385FBB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FD69FFF-C9B7-40C0-9DB2-03F0278AAB73}" type="slidenum">
              <a:rPr lang="en-US" altLang="en-US">
                <a:solidFill>
                  <a:schemeClr val="bg1"/>
                </a:solidFill>
              </a:rPr>
              <a:pPr/>
              <a:t>39</a:t>
            </a:fld>
            <a:endParaRPr lang="en-US" altLang="en-US">
              <a:solidFill>
                <a:schemeClr val="bg1"/>
              </a:solidFill>
            </a:endParaRPr>
          </a:p>
        </p:txBody>
      </p:sp>
    </p:spTree>
    <p:extLst>
      <p:ext uri="{BB962C8B-B14F-4D97-AF65-F5344CB8AC3E}">
        <p14:creationId xmlns:p14="http://schemas.microsoft.com/office/powerpoint/2010/main" val="33339746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714A2FF4-E7A2-4226-9A04-2EB71F59C2AB}"/>
              </a:ext>
            </a:extLst>
          </p:cNvPr>
          <p:cNvSpPr>
            <a:spLocks noGrp="1"/>
          </p:cNvSpPr>
          <p:nvPr>
            <p:ph type="title"/>
          </p:nvPr>
        </p:nvSpPr>
        <p:spPr/>
        <p:txBody>
          <a:bodyPr/>
          <a:lstStyle/>
          <a:p>
            <a:r>
              <a:rPr lang="en-US" altLang="en-US"/>
              <a:t>Real time systems (Cont..)</a:t>
            </a:r>
          </a:p>
        </p:txBody>
      </p:sp>
      <p:sp>
        <p:nvSpPr>
          <p:cNvPr id="34819" name="Content Placeholder 2">
            <a:extLst>
              <a:ext uri="{FF2B5EF4-FFF2-40B4-BE49-F238E27FC236}">
                <a16:creationId xmlns:a16="http://schemas.microsoft.com/office/drawing/2014/main" id="{83A2B315-50E9-41B1-8F72-3CE45C233706}"/>
              </a:ext>
            </a:extLst>
          </p:cNvPr>
          <p:cNvSpPr>
            <a:spLocks noGrp="1"/>
          </p:cNvSpPr>
          <p:nvPr>
            <p:ph idx="1"/>
          </p:nvPr>
        </p:nvSpPr>
        <p:spPr>
          <a:xfrm>
            <a:off x="520262" y="2603500"/>
            <a:ext cx="10405241" cy="3416300"/>
          </a:xfrm>
        </p:spPr>
        <p:txBody>
          <a:bodyPr/>
          <a:lstStyle/>
          <a:p>
            <a:pPr algn="just">
              <a:buClr>
                <a:srgbClr val="FFFF00"/>
              </a:buClr>
              <a:buFont typeface="Wingdings 3" panose="05040102010807070707" pitchFamily="18" charset="2"/>
              <a:buNone/>
            </a:pPr>
            <a:r>
              <a:rPr lang="en-US" altLang="en-US" dirty="0"/>
              <a:t>Soft real-time systems</a:t>
            </a:r>
          </a:p>
          <a:p>
            <a:pPr lvl="1" algn="just">
              <a:buFont typeface="Century Gothic" panose="020B0502020202020204" pitchFamily="34" charset="0"/>
              <a:buChar char="►"/>
            </a:pPr>
            <a:r>
              <a:rPr lang="en-US" altLang="en-US" sz="1800" dirty="0"/>
              <a:t>Output should be produced within the given time constraints but if it is not, </a:t>
            </a:r>
            <a:r>
              <a:rPr lang="en-US" sz="1800" dirty="0"/>
              <a:t>Missing the deadline may cause inconvenience, delay, or reduced performance, but it </a:t>
            </a:r>
            <a:r>
              <a:rPr lang="en-US" sz="1800" b="1" dirty="0"/>
              <a:t>won’t cause a disaster, injury, or system failure</a:t>
            </a:r>
            <a:r>
              <a:rPr lang="en-US" sz="1800" dirty="0"/>
              <a:t>.</a:t>
            </a:r>
          </a:p>
          <a:p>
            <a:pPr lvl="1" algn="just">
              <a:buFont typeface="Century Gothic" panose="020B0502020202020204" pitchFamily="34" charset="0"/>
              <a:buChar char="►"/>
            </a:pPr>
            <a:r>
              <a:rPr lang="en-US" altLang="en-US" sz="1800" dirty="0"/>
              <a:t>Useful in applications (Live Video Streaming) requiring advanced operating-system features</a:t>
            </a:r>
          </a:p>
          <a:p>
            <a:r>
              <a:rPr lang="en-US" dirty="0"/>
              <a:t>Mobile Communication</a:t>
            </a:r>
          </a:p>
          <a:p>
            <a:r>
              <a:rPr lang="en-US" dirty="0"/>
              <a:t>Music Playing Robots</a:t>
            </a:r>
          </a:p>
          <a:p>
            <a:r>
              <a:rPr lang="en-US" dirty="0"/>
              <a:t>Weather Station</a:t>
            </a:r>
          </a:p>
          <a:p>
            <a:pPr lvl="1" algn="just">
              <a:buFont typeface="Century Gothic" panose="020B0502020202020204" pitchFamily="34" charset="0"/>
              <a:buChar char="►"/>
            </a:pPr>
            <a:endParaRPr lang="en-US" altLang="en-US" sz="1800" dirty="0"/>
          </a:p>
        </p:txBody>
      </p:sp>
      <p:sp>
        <p:nvSpPr>
          <p:cNvPr id="34820" name="Footer Placeholder 3">
            <a:extLst>
              <a:ext uri="{FF2B5EF4-FFF2-40B4-BE49-F238E27FC236}">
                <a16:creationId xmlns:a16="http://schemas.microsoft.com/office/drawing/2014/main" id="{2B9B79CA-3089-42CB-B88E-69C205035BB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4821" name="Slide Number Placeholder 4">
            <a:extLst>
              <a:ext uri="{FF2B5EF4-FFF2-40B4-BE49-F238E27FC236}">
                <a16:creationId xmlns:a16="http://schemas.microsoft.com/office/drawing/2014/main" id="{2BE17A05-5952-47C5-9B55-A7BA2FC768E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7705E6-B13A-411A-A673-6C5668691719}" type="slidenum">
              <a:rPr lang="en-US" altLang="en-US">
                <a:solidFill>
                  <a:schemeClr val="bg1"/>
                </a:solidFill>
              </a:rPr>
              <a:pPr/>
              <a:t>40</a:t>
            </a:fld>
            <a:endParaRPr lang="en-US" altLang="en-US">
              <a:solidFill>
                <a:schemeClr val="bg1"/>
              </a:solidFill>
            </a:endParaRPr>
          </a:p>
        </p:txBody>
      </p:sp>
    </p:spTree>
    <p:extLst>
      <p:ext uri="{BB962C8B-B14F-4D97-AF65-F5344CB8AC3E}">
        <p14:creationId xmlns:p14="http://schemas.microsoft.com/office/powerpoint/2010/main" val="38060670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A3231-80B8-4B52-B380-18FE0896AA5B}"/>
              </a:ext>
            </a:extLst>
          </p:cNvPr>
          <p:cNvSpPr>
            <a:spLocks noGrp="1"/>
          </p:cNvSpPr>
          <p:nvPr>
            <p:ph type="title"/>
          </p:nvPr>
        </p:nvSpPr>
        <p:spPr/>
        <p:txBody>
          <a:bodyPr/>
          <a:lstStyle/>
          <a:p>
            <a:r>
              <a:rPr lang="en-US" dirty="0"/>
              <a:t>Mobile OS</a:t>
            </a:r>
          </a:p>
        </p:txBody>
      </p:sp>
      <p:sp>
        <p:nvSpPr>
          <p:cNvPr id="3" name="Content Placeholder 2">
            <a:extLst>
              <a:ext uri="{FF2B5EF4-FFF2-40B4-BE49-F238E27FC236}">
                <a16:creationId xmlns:a16="http://schemas.microsoft.com/office/drawing/2014/main" id="{D9BF9921-2EEC-4254-9297-98525D0072F6}"/>
              </a:ext>
            </a:extLst>
          </p:cNvPr>
          <p:cNvSpPr>
            <a:spLocks noGrp="1"/>
          </p:cNvSpPr>
          <p:nvPr>
            <p:ph idx="1"/>
          </p:nvPr>
        </p:nvSpPr>
        <p:spPr>
          <a:xfrm>
            <a:off x="590550" y="2603500"/>
            <a:ext cx="10591800" cy="3416300"/>
          </a:xfrm>
        </p:spPr>
        <p:txBody>
          <a:bodyPr/>
          <a:lstStyle/>
          <a:p>
            <a:r>
              <a:rPr lang="en-US" b="0" i="0" dirty="0">
                <a:solidFill>
                  <a:srgbClr val="000000"/>
                </a:solidFill>
                <a:effectLst/>
                <a:latin typeface="Poppins" panose="00000500000000000000" pitchFamily="2" charset="0"/>
              </a:rPr>
              <a:t>OS for smartphones, tablets, and PDA’s. It is a platform on which other applications can run on mobile devices.</a:t>
            </a:r>
          </a:p>
          <a:p>
            <a:r>
              <a:rPr lang="en-US" b="1" i="0" dirty="0">
                <a:solidFill>
                  <a:srgbClr val="000000"/>
                </a:solidFill>
                <a:effectLst/>
                <a:latin typeface="Poppins" panose="00000500000000000000" pitchFamily="2" charset="0"/>
              </a:rPr>
              <a:t>Examples of the Mobile OS: </a:t>
            </a:r>
            <a:r>
              <a:rPr lang="en-US" b="0" i="0" dirty="0">
                <a:solidFill>
                  <a:srgbClr val="000000"/>
                </a:solidFill>
                <a:effectLst/>
                <a:latin typeface="Poppins" panose="00000500000000000000" pitchFamily="2" charset="0"/>
              </a:rPr>
              <a:t>Android OS, </a:t>
            </a:r>
            <a:r>
              <a:rPr lang="en-US" b="0" i="0" dirty="0" err="1">
                <a:solidFill>
                  <a:srgbClr val="000000"/>
                </a:solidFill>
                <a:effectLst/>
                <a:latin typeface="Poppins" panose="00000500000000000000" pitchFamily="2" charset="0"/>
              </a:rPr>
              <a:t>ios</a:t>
            </a:r>
            <a:r>
              <a:rPr lang="en-US" b="0" i="0" dirty="0">
                <a:solidFill>
                  <a:srgbClr val="000000"/>
                </a:solidFill>
                <a:effectLst/>
                <a:latin typeface="Poppins" panose="00000500000000000000" pitchFamily="2" charset="0"/>
              </a:rPr>
              <a:t>, Symbian OS, and windows mobile OS</a:t>
            </a:r>
            <a:endParaRPr lang="en-US" dirty="0"/>
          </a:p>
        </p:txBody>
      </p:sp>
    </p:spTree>
    <p:extLst>
      <p:ext uri="{BB962C8B-B14F-4D97-AF65-F5344CB8AC3E}">
        <p14:creationId xmlns:p14="http://schemas.microsoft.com/office/powerpoint/2010/main" val="361765503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F94A-9176-45A4-9AF4-B9442DB2EE08}"/>
              </a:ext>
            </a:extLst>
          </p:cNvPr>
          <p:cNvSpPr>
            <a:spLocks noGrp="1"/>
          </p:cNvSpPr>
          <p:nvPr>
            <p:ph type="title"/>
          </p:nvPr>
        </p:nvSpPr>
        <p:spPr/>
        <p:txBody>
          <a:bodyPr/>
          <a:lstStyle/>
          <a:p>
            <a:r>
              <a:rPr lang="en-US" b="1" dirty="0"/>
              <a:t>Interrupts</a:t>
            </a:r>
            <a:endParaRPr lang="en-US" dirty="0"/>
          </a:p>
        </p:txBody>
      </p:sp>
      <p:sp>
        <p:nvSpPr>
          <p:cNvPr id="3" name="Content Placeholder 2">
            <a:extLst>
              <a:ext uri="{FF2B5EF4-FFF2-40B4-BE49-F238E27FC236}">
                <a16:creationId xmlns:a16="http://schemas.microsoft.com/office/drawing/2014/main" id="{9D6A9A34-7C6B-45B3-8BC6-11E95F872F4C}"/>
              </a:ext>
            </a:extLst>
          </p:cNvPr>
          <p:cNvSpPr>
            <a:spLocks noGrp="1"/>
          </p:cNvSpPr>
          <p:nvPr>
            <p:ph idx="1"/>
          </p:nvPr>
        </p:nvSpPr>
        <p:spPr>
          <a:xfrm>
            <a:off x="381000" y="2603500"/>
            <a:ext cx="10858500" cy="3416300"/>
          </a:xfrm>
        </p:spPr>
        <p:txBody>
          <a:bodyPr/>
          <a:lstStyle/>
          <a:p>
            <a:r>
              <a:rPr lang="en-US" b="1" dirty="0"/>
              <a:t>Interrupts</a:t>
            </a:r>
            <a:r>
              <a:rPr lang="en-US" dirty="0"/>
              <a:t> are signals sent to the CPU by external devices, normally I/O devices. They tell the CPU to stop its current activities and execute the appropriate part of the operating system</a:t>
            </a:r>
          </a:p>
          <a:p>
            <a:r>
              <a:rPr lang="en-US" dirty="0"/>
              <a:t>After the interrupt signal is sensed, the computer either resumes running the current program or begins running another program.</a:t>
            </a:r>
          </a:p>
          <a:p>
            <a:r>
              <a:rPr lang="en-US" dirty="0"/>
              <a:t>An operating system usually has some code that is called an interrupt handler. The interrupt handler prioritizes the interrupts and saves them in a </a:t>
            </a:r>
            <a:r>
              <a:rPr lang="en-US" dirty="0">
                <a:hlinkClick r:id="rId2">
                  <a:extLst>
                    <a:ext uri="{A12FA001-AC4F-418D-AE19-62706E023703}">
                      <ahyp:hlinkClr xmlns:ahyp="http://schemas.microsoft.com/office/drawing/2018/hyperlinkcolor" val="tx"/>
                    </a:ext>
                  </a:extLst>
                </a:hlinkClick>
              </a:rPr>
              <a:t>queue</a:t>
            </a:r>
            <a:r>
              <a:rPr lang="en-US" dirty="0"/>
              <a:t> if more than one is waiting to be handled.</a:t>
            </a:r>
          </a:p>
        </p:txBody>
      </p:sp>
    </p:spTree>
    <p:extLst>
      <p:ext uri="{BB962C8B-B14F-4D97-AF65-F5344CB8AC3E}">
        <p14:creationId xmlns:p14="http://schemas.microsoft.com/office/powerpoint/2010/main" val="151552773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0969876E-1FAB-43D3-A665-9A3649D7E108}"/>
              </a:ext>
            </a:extLst>
          </p:cNvPr>
          <p:cNvSpPr>
            <a:spLocks noGrp="1"/>
          </p:cNvSpPr>
          <p:nvPr>
            <p:ph type="title"/>
          </p:nvPr>
        </p:nvSpPr>
        <p:spPr/>
        <p:txBody>
          <a:bodyPr/>
          <a:lstStyle/>
          <a:p>
            <a:r>
              <a:rPr lang="en-US" altLang="en-US"/>
              <a:t>Interrupts, Traps and Signals </a:t>
            </a:r>
          </a:p>
        </p:txBody>
      </p:sp>
      <p:sp>
        <p:nvSpPr>
          <p:cNvPr id="35843" name="Content Placeholder 2">
            <a:extLst>
              <a:ext uri="{FF2B5EF4-FFF2-40B4-BE49-F238E27FC236}">
                <a16:creationId xmlns:a16="http://schemas.microsoft.com/office/drawing/2014/main" id="{904D30F9-4A1E-40CD-949E-3086398F7FBB}"/>
              </a:ext>
            </a:extLst>
          </p:cNvPr>
          <p:cNvSpPr>
            <a:spLocks noGrp="1"/>
          </p:cNvSpPr>
          <p:nvPr>
            <p:ph idx="1"/>
          </p:nvPr>
        </p:nvSpPr>
        <p:spPr>
          <a:xfrm>
            <a:off x="990600" y="2603500"/>
            <a:ext cx="10763249" cy="3416300"/>
          </a:xfrm>
        </p:spPr>
        <p:txBody>
          <a:bodyPr/>
          <a:lstStyle/>
          <a:p>
            <a:r>
              <a:rPr lang="en-US" altLang="en-US" dirty="0"/>
              <a:t>Interrupt---an event generated by a device in a computer to get attention of the CPU(from hardware devices)</a:t>
            </a:r>
          </a:p>
          <a:p>
            <a:r>
              <a:rPr lang="en-US" altLang="en-US" dirty="0"/>
              <a:t>Trap—an event by the CPU itself as it executes a program</a:t>
            </a:r>
          </a:p>
          <a:p>
            <a:r>
              <a:rPr lang="en-US" altLang="en-US" dirty="0"/>
              <a:t>Signal—an event generated by a user</a:t>
            </a:r>
          </a:p>
          <a:p>
            <a:endParaRPr lang="en-US" altLang="en-US" dirty="0"/>
          </a:p>
        </p:txBody>
      </p:sp>
      <p:sp>
        <p:nvSpPr>
          <p:cNvPr id="35844" name="Footer Placeholder 3">
            <a:extLst>
              <a:ext uri="{FF2B5EF4-FFF2-40B4-BE49-F238E27FC236}">
                <a16:creationId xmlns:a16="http://schemas.microsoft.com/office/drawing/2014/main" id="{A1B9F698-ED87-4D66-97A6-A8DBB714854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5845" name="Slide Number Placeholder 4">
            <a:extLst>
              <a:ext uri="{FF2B5EF4-FFF2-40B4-BE49-F238E27FC236}">
                <a16:creationId xmlns:a16="http://schemas.microsoft.com/office/drawing/2014/main" id="{FFA8593D-CD3A-4DF3-AC5C-0A033ABBFC90}"/>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1B2DE2-41B1-4EDE-8D50-8F6F394CA917}" type="slidenum">
              <a:rPr lang="en-US" altLang="en-US">
                <a:solidFill>
                  <a:schemeClr val="bg1"/>
                </a:solidFill>
              </a:rPr>
              <a:pPr/>
              <a:t>43</a:t>
            </a:fld>
            <a:endParaRPr lang="en-US" altLang="en-US">
              <a:solidFill>
                <a:schemeClr val="bg1"/>
              </a:solidFill>
            </a:endParaRPr>
          </a:p>
        </p:txBody>
      </p:sp>
    </p:spTree>
    <p:extLst>
      <p:ext uri="{BB962C8B-B14F-4D97-AF65-F5344CB8AC3E}">
        <p14:creationId xmlns:p14="http://schemas.microsoft.com/office/powerpoint/2010/main" val="42811761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0E0A0A50-9A4F-4D01-88CE-3163082D8F45}"/>
              </a:ext>
            </a:extLst>
          </p:cNvPr>
          <p:cNvSpPr>
            <a:spLocks noGrp="1"/>
          </p:cNvSpPr>
          <p:nvPr>
            <p:ph type="title"/>
          </p:nvPr>
        </p:nvSpPr>
        <p:spPr/>
        <p:txBody>
          <a:bodyPr/>
          <a:lstStyle/>
          <a:p>
            <a:r>
              <a:rPr lang="en-US" altLang="en-US" dirty="0"/>
              <a:t>Interrupts, trap, signals</a:t>
            </a:r>
          </a:p>
        </p:txBody>
      </p:sp>
      <p:sp>
        <p:nvSpPr>
          <p:cNvPr id="36867" name="Content Placeholder 2">
            <a:extLst>
              <a:ext uri="{FF2B5EF4-FFF2-40B4-BE49-F238E27FC236}">
                <a16:creationId xmlns:a16="http://schemas.microsoft.com/office/drawing/2014/main" id="{8E9ADFC4-11BA-4C70-BAE0-C97BFE832C72}"/>
              </a:ext>
            </a:extLst>
          </p:cNvPr>
          <p:cNvSpPr>
            <a:spLocks noGrp="1"/>
          </p:cNvSpPr>
          <p:nvPr>
            <p:ph idx="1"/>
          </p:nvPr>
        </p:nvSpPr>
        <p:spPr>
          <a:xfrm>
            <a:off x="361950" y="2603500"/>
            <a:ext cx="7086600" cy="3892550"/>
          </a:xfrm>
        </p:spPr>
        <p:txBody>
          <a:bodyPr>
            <a:normAutofit/>
          </a:bodyPr>
          <a:lstStyle/>
          <a:p>
            <a:r>
              <a:rPr lang="en-US" altLang="en-US" dirty="0"/>
              <a:t>If you press any key(keyboard) or moving the mouse…..Example of interrupt</a:t>
            </a:r>
          </a:p>
          <a:p>
            <a:r>
              <a:rPr lang="en-US" altLang="en-US" dirty="0"/>
              <a:t>Hardware may trigger an interrupt at any time by sending a signal to the CPU usually by way of the system bus.</a:t>
            </a:r>
          </a:p>
          <a:p>
            <a:r>
              <a:rPr lang="en-US" altLang="en-US" dirty="0"/>
              <a:t>Software may trigger an interrupt by executing a special operation called a system call</a:t>
            </a:r>
          </a:p>
          <a:p>
            <a:endParaRPr lang="en-US" altLang="en-US" dirty="0"/>
          </a:p>
        </p:txBody>
      </p:sp>
      <p:sp>
        <p:nvSpPr>
          <p:cNvPr id="36868" name="Footer Placeholder 3">
            <a:extLst>
              <a:ext uri="{FF2B5EF4-FFF2-40B4-BE49-F238E27FC236}">
                <a16:creationId xmlns:a16="http://schemas.microsoft.com/office/drawing/2014/main" id="{7E7F9F77-2CD6-4908-8403-0D147180C89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6869" name="Slide Number Placeholder 4">
            <a:extLst>
              <a:ext uri="{FF2B5EF4-FFF2-40B4-BE49-F238E27FC236}">
                <a16:creationId xmlns:a16="http://schemas.microsoft.com/office/drawing/2014/main" id="{EF41432C-7547-4130-BC32-54B2BF223FA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F2CA347-867E-43C5-A572-A04B648BC7E6}" type="slidenum">
              <a:rPr lang="en-US" altLang="en-US">
                <a:solidFill>
                  <a:schemeClr val="bg1"/>
                </a:solidFill>
              </a:rPr>
              <a:pPr/>
              <a:t>44</a:t>
            </a:fld>
            <a:endParaRPr lang="en-US" altLang="en-US">
              <a:solidFill>
                <a:schemeClr val="bg1"/>
              </a:solidFill>
            </a:endParaRPr>
          </a:p>
        </p:txBody>
      </p:sp>
      <p:pic>
        <p:nvPicPr>
          <p:cNvPr id="6" name="Picture 4" descr="stop">
            <a:extLst>
              <a:ext uri="{FF2B5EF4-FFF2-40B4-BE49-F238E27FC236}">
                <a16:creationId xmlns:a16="http://schemas.microsoft.com/office/drawing/2014/main" id="{2847F67E-EB89-404F-8759-ABAAA16F2B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4076" y="3789363"/>
            <a:ext cx="1516063"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bd04918_">
            <a:extLst>
              <a:ext uri="{FF2B5EF4-FFF2-40B4-BE49-F238E27FC236}">
                <a16:creationId xmlns:a16="http://schemas.microsoft.com/office/drawing/2014/main" id="{1EED43FF-F6E4-4CBD-9F2F-F9A970E45C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9326" y="2365376"/>
            <a:ext cx="1522413"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6D4510F3-F34F-410C-952F-5A1ED2279DE4}"/>
              </a:ext>
            </a:extLst>
          </p:cNvPr>
          <p:cNvSpPr>
            <a:spLocks noChangeArrowheads="1"/>
          </p:cNvSpPr>
          <p:nvPr/>
        </p:nvSpPr>
        <p:spPr bwMode="auto">
          <a:xfrm>
            <a:off x="8229600" y="4648200"/>
            <a:ext cx="20574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spcBef>
                <a:spcPct val="20000"/>
              </a:spcBef>
              <a:buClr>
                <a:schemeClr val="hlink"/>
              </a:buClr>
              <a:buSzPct val="70000"/>
              <a:buFont typeface="Wingdings" panose="05000000000000000000" pitchFamily="2" charset="2"/>
              <a:buNone/>
            </a:pPr>
            <a:r>
              <a:rPr lang="en-US" altLang="en-US" sz="2800" b="1" dirty="0">
                <a:solidFill>
                  <a:schemeClr val="accent2"/>
                </a:solidFill>
                <a:latin typeface="Arial" panose="020B0604020202020204" pitchFamily="34" charset="0"/>
              </a:rPr>
              <a:t>Answer the Phone</a:t>
            </a:r>
            <a:endParaRPr lang="en-US" altLang="en-US" sz="2800" dirty="0">
              <a:solidFill>
                <a:srgbClr val="FFFF00"/>
              </a:solidFill>
              <a:latin typeface="Arial" panose="020B0604020202020204" pitchFamily="34" charset="0"/>
            </a:endParaRPr>
          </a:p>
        </p:txBody>
      </p:sp>
      <p:sp>
        <p:nvSpPr>
          <p:cNvPr id="9" name="Rectangle 8">
            <a:extLst>
              <a:ext uri="{FF2B5EF4-FFF2-40B4-BE49-F238E27FC236}">
                <a16:creationId xmlns:a16="http://schemas.microsoft.com/office/drawing/2014/main" id="{CEF315F8-F267-401B-B433-837FD967A9E9}"/>
              </a:ext>
            </a:extLst>
          </p:cNvPr>
          <p:cNvSpPr>
            <a:spLocks noChangeArrowheads="1"/>
          </p:cNvSpPr>
          <p:nvPr/>
        </p:nvSpPr>
        <p:spPr bwMode="auto">
          <a:xfrm>
            <a:off x="8426450" y="5329239"/>
            <a:ext cx="160020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spcBef>
                <a:spcPct val="20000"/>
              </a:spcBef>
              <a:buClr>
                <a:schemeClr val="hlink"/>
              </a:buClr>
              <a:buSzPct val="70000"/>
              <a:buFont typeface="Wingdings" panose="05000000000000000000" pitchFamily="2" charset="2"/>
              <a:buNone/>
            </a:pPr>
            <a:r>
              <a:rPr lang="en-US" altLang="en-US" sz="1200" b="1" dirty="0">
                <a:latin typeface="Arial" panose="020B0604020202020204" pitchFamily="34" charset="0"/>
              </a:rPr>
              <a:t>.</a:t>
            </a:r>
          </a:p>
          <a:p>
            <a:pPr algn="ctr" eaLnBrk="1" hangingPunct="1">
              <a:spcBef>
                <a:spcPct val="20000"/>
              </a:spcBef>
              <a:buClr>
                <a:schemeClr val="hlink"/>
              </a:buClr>
              <a:buSzPct val="70000"/>
              <a:buFont typeface="Wingdings" panose="05000000000000000000" pitchFamily="2" charset="2"/>
              <a:buNone/>
            </a:pPr>
            <a:r>
              <a:rPr lang="en-US" altLang="en-US" sz="1200" b="1" dirty="0">
                <a:latin typeface="Arial" panose="020B0604020202020204" pitchFamily="34" charset="0"/>
              </a:rPr>
              <a:t>.</a:t>
            </a:r>
          </a:p>
          <a:p>
            <a:pPr algn="ctr" eaLnBrk="1" hangingPunct="1">
              <a:spcBef>
                <a:spcPct val="20000"/>
              </a:spcBef>
              <a:buClr>
                <a:schemeClr val="hlink"/>
              </a:buClr>
              <a:buSzPct val="70000"/>
              <a:buFont typeface="Wingdings" panose="05000000000000000000" pitchFamily="2" charset="2"/>
              <a:buNone/>
            </a:pPr>
            <a:r>
              <a:rPr lang="en-US" altLang="en-US" sz="1200" b="1" dirty="0">
                <a:latin typeface="Arial" panose="020B0604020202020204" pitchFamily="34" charset="0"/>
              </a:rPr>
              <a:t>.</a:t>
            </a:r>
          </a:p>
          <a:p>
            <a:pPr algn="ctr" eaLnBrk="1" hangingPunct="1">
              <a:spcBef>
                <a:spcPct val="20000"/>
              </a:spcBef>
              <a:buClr>
                <a:schemeClr val="hlink"/>
              </a:buClr>
              <a:buSzPct val="70000"/>
              <a:buFont typeface="Wingdings" panose="05000000000000000000" pitchFamily="2" charset="2"/>
              <a:buNone/>
            </a:pPr>
            <a:r>
              <a:rPr lang="en-US" altLang="en-US" sz="3000" dirty="0">
                <a:latin typeface="Arial" panose="020B0604020202020204" pitchFamily="34" charset="0"/>
              </a:rPr>
              <a:t>Resume</a:t>
            </a:r>
          </a:p>
        </p:txBody>
      </p:sp>
    </p:spTree>
    <p:extLst>
      <p:ext uri="{BB962C8B-B14F-4D97-AF65-F5344CB8AC3E}">
        <p14:creationId xmlns:p14="http://schemas.microsoft.com/office/powerpoint/2010/main" val="185721172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92AEB96B-64AF-4DB3-BFC9-91DF6DD70AA1}"/>
              </a:ext>
            </a:extLst>
          </p:cNvPr>
          <p:cNvSpPr>
            <a:spLocks noGrp="1"/>
          </p:cNvSpPr>
          <p:nvPr>
            <p:ph type="title"/>
          </p:nvPr>
        </p:nvSpPr>
        <p:spPr/>
        <p:txBody>
          <a:bodyPr/>
          <a:lstStyle/>
          <a:p>
            <a:r>
              <a:rPr lang="en-US" altLang="en-US"/>
              <a:t>Interrupts, trap, signals</a:t>
            </a:r>
          </a:p>
        </p:txBody>
      </p:sp>
      <p:sp>
        <p:nvSpPr>
          <p:cNvPr id="37891" name="Content Placeholder 2">
            <a:extLst>
              <a:ext uri="{FF2B5EF4-FFF2-40B4-BE49-F238E27FC236}">
                <a16:creationId xmlns:a16="http://schemas.microsoft.com/office/drawing/2014/main" id="{C161D416-E24D-4126-A963-466599AF7EED}"/>
              </a:ext>
            </a:extLst>
          </p:cNvPr>
          <p:cNvSpPr>
            <a:spLocks noGrp="1"/>
          </p:cNvSpPr>
          <p:nvPr>
            <p:ph idx="1"/>
          </p:nvPr>
        </p:nvSpPr>
        <p:spPr>
          <a:xfrm>
            <a:off x="228600" y="2603500"/>
            <a:ext cx="10496549" cy="4025900"/>
          </a:xfrm>
        </p:spPr>
        <p:txBody>
          <a:bodyPr/>
          <a:lstStyle/>
          <a:p>
            <a:pPr algn="just">
              <a:buFont typeface="Century Gothic" panose="020B0502020202020204" pitchFamily="34" charset="0"/>
              <a:buChar char="►"/>
            </a:pPr>
            <a:r>
              <a:rPr lang="en-US" altLang="en-US" dirty="0"/>
              <a:t>A process can generate a trap, for example, by dividing a number by zero.</a:t>
            </a:r>
          </a:p>
          <a:p>
            <a:pPr algn="just">
              <a:buFont typeface="Century Gothic" panose="020B0502020202020204" pitchFamily="34" charset="0"/>
              <a:buChar char="►"/>
            </a:pPr>
            <a:r>
              <a:rPr lang="en-US" altLang="en-US" dirty="0"/>
              <a:t>caused either by an error (division by zero or invalid memory access) or by a user request for an operating system service. </a:t>
            </a:r>
          </a:p>
          <a:p>
            <a:pPr algn="just">
              <a:buFont typeface="Century Gothic" panose="020B0502020202020204" pitchFamily="34" charset="0"/>
              <a:buChar char="►"/>
            </a:pPr>
            <a:r>
              <a:rPr lang="en-US" altLang="en-US" dirty="0"/>
              <a:t>A user or a process may generate a signal (an interrupt to a process)</a:t>
            </a:r>
          </a:p>
          <a:p>
            <a:endParaRPr lang="en-US" altLang="en-US" dirty="0"/>
          </a:p>
        </p:txBody>
      </p:sp>
      <p:sp>
        <p:nvSpPr>
          <p:cNvPr id="37892" name="Footer Placeholder 3">
            <a:extLst>
              <a:ext uri="{FF2B5EF4-FFF2-40B4-BE49-F238E27FC236}">
                <a16:creationId xmlns:a16="http://schemas.microsoft.com/office/drawing/2014/main" id="{3004BC58-AC00-4D29-A6BB-C3C64017CBF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7893" name="Slide Number Placeholder 4">
            <a:extLst>
              <a:ext uri="{FF2B5EF4-FFF2-40B4-BE49-F238E27FC236}">
                <a16:creationId xmlns:a16="http://schemas.microsoft.com/office/drawing/2014/main" id="{035E9ED0-C29E-4639-A51C-15864D48D24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8A83FB-2040-44BB-BF57-8A2D3609F8E0}" type="slidenum">
              <a:rPr lang="en-US" altLang="en-US">
                <a:solidFill>
                  <a:schemeClr val="bg1"/>
                </a:solidFill>
              </a:rPr>
              <a:pPr/>
              <a:t>45</a:t>
            </a:fld>
            <a:endParaRPr lang="en-US" altLang="en-US">
              <a:solidFill>
                <a:schemeClr val="bg1"/>
              </a:solidFill>
            </a:endParaRPr>
          </a:p>
        </p:txBody>
      </p:sp>
    </p:spTree>
    <p:extLst>
      <p:ext uri="{BB962C8B-B14F-4D97-AF65-F5344CB8AC3E}">
        <p14:creationId xmlns:p14="http://schemas.microsoft.com/office/powerpoint/2010/main" val="373269267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0C1875C7-9FD1-4D23-AE1D-3ABF941A252A}"/>
              </a:ext>
            </a:extLst>
          </p:cNvPr>
          <p:cNvSpPr>
            <a:spLocks noGrp="1"/>
          </p:cNvSpPr>
          <p:nvPr>
            <p:ph type="title"/>
          </p:nvPr>
        </p:nvSpPr>
        <p:spPr/>
        <p:txBody>
          <a:bodyPr/>
          <a:lstStyle/>
          <a:p>
            <a:r>
              <a:rPr lang="en-US" altLang="en-US"/>
              <a:t>Interrupt handling</a:t>
            </a:r>
          </a:p>
        </p:txBody>
      </p:sp>
      <p:sp>
        <p:nvSpPr>
          <p:cNvPr id="38915" name="Content Placeholder 2">
            <a:extLst>
              <a:ext uri="{FF2B5EF4-FFF2-40B4-BE49-F238E27FC236}">
                <a16:creationId xmlns:a16="http://schemas.microsoft.com/office/drawing/2014/main" id="{B75DDD6E-13EB-4076-A3B6-4353438BF613}"/>
              </a:ext>
            </a:extLst>
          </p:cNvPr>
          <p:cNvSpPr>
            <a:spLocks noGrp="1"/>
          </p:cNvSpPr>
          <p:nvPr>
            <p:ph idx="1"/>
          </p:nvPr>
        </p:nvSpPr>
        <p:spPr>
          <a:xfrm>
            <a:off x="514350" y="2603500"/>
            <a:ext cx="10325099" cy="3968750"/>
          </a:xfrm>
        </p:spPr>
        <p:txBody>
          <a:bodyPr/>
          <a:lstStyle/>
          <a:p>
            <a:pPr>
              <a:buFont typeface="Century Gothic" panose="020B0502020202020204" pitchFamily="34" charset="0"/>
              <a:buChar char="►"/>
            </a:pPr>
            <a:r>
              <a:rPr lang="en-US" altLang="en-US" dirty="0"/>
              <a:t>In case of interrupt or trap, the CPU invokes a piece of code in the OS to service it, known as interrupt service routine(ISR) or trap service routine(TSR)</a:t>
            </a:r>
          </a:p>
          <a:p>
            <a:pPr>
              <a:buFont typeface="Century Gothic" panose="020B0502020202020204" pitchFamily="34" charset="0"/>
              <a:buChar char="►"/>
            </a:pPr>
            <a:r>
              <a:rPr lang="en-US" altLang="en-US" dirty="0"/>
              <a:t>In case of signal, the process can take one of the three possible actions , default action as defined by OS, ignore signal, or take a programmer specified action </a:t>
            </a:r>
          </a:p>
          <a:p>
            <a:endParaRPr lang="en-US" altLang="en-US" dirty="0"/>
          </a:p>
        </p:txBody>
      </p:sp>
      <p:sp>
        <p:nvSpPr>
          <p:cNvPr id="38916" name="Footer Placeholder 3">
            <a:extLst>
              <a:ext uri="{FF2B5EF4-FFF2-40B4-BE49-F238E27FC236}">
                <a16:creationId xmlns:a16="http://schemas.microsoft.com/office/drawing/2014/main" id="{C9DF3141-940F-46F5-A7B3-A9193869C2A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8917" name="Slide Number Placeholder 4">
            <a:extLst>
              <a:ext uri="{FF2B5EF4-FFF2-40B4-BE49-F238E27FC236}">
                <a16:creationId xmlns:a16="http://schemas.microsoft.com/office/drawing/2014/main" id="{2D2EEF9D-3068-4E51-939C-565A2C356A9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44A4DB-8EA9-4331-A7E1-85A4BFD62557}" type="slidenum">
              <a:rPr lang="en-US" altLang="en-US">
                <a:solidFill>
                  <a:schemeClr val="bg1"/>
                </a:solidFill>
              </a:rPr>
              <a:pPr/>
              <a:t>46</a:t>
            </a:fld>
            <a:endParaRPr lang="en-US" altLang="en-US">
              <a:solidFill>
                <a:schemeClr val="bg1"/>
              </a:solidFill>
            </a:endParaRPr>
          </a:p>
        </p:txBody>
      </p:sp>
    </p:spTree>
    <p:extLst>
      <p:ext uri="{BB962C8B-B14F-4D97-AF65-F5344CB8AC3E}">
        <p14:creationId xmlns:p14="http://schemas.microsoft.com/office/powerpoint/2010/main" val="391413199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205B6BBA-500C-42B1-9EAF-07D9606D9F1E}"/>
              </a:ext>
            </a:extLst>
          </p:cNvPr>
          <p:cNvSpPr>
            <a:spLocks noGrp="1"/>
          </p:cNvSpPr>
          <p:nvPr>
            <p:ph type="title"/>
          </p:nvPr>
        </p:nvSpPr>
        <p:spPr/>
        <p:txBody>
          <a:bodyPr/>
          <a:lstStyle/>
          <a:p>
            <a:r>
              <a:rPr lang="en-US" altLang="en-US"/>
              <a:t>Interrupt handling (Cont..)</a:t>
            </a:r>
          </a:p>
        </p:txBody>
      </p:sp>
      <p:sp>
        <p:nvSpPr>
          <p:cNvPr id="3" name="Content Placeholder 2">
            <a:extLst>
              <a:ext uri="{FF2B5EF4-FFF2-40B4-BE49-F238E27FC236}">
                <a16:creationId xmlns:a16="http://schemas.microsoft.com/office/drawing/2014/main" id="{1E108333-EDF3-4EE4-8B9E-BF7D113D9DAF}"/>
              </a:ext>
            </a:extLst>
          </p:cNvPr>
          <p:cNvSpPr>
            <a:spLocks noGrp="1"/>
          </p:cNvSpPr>
          <p:nvPr>
            <p:ph idx="1"/>
          </p:nvPr>
        </p:nvSpPr>
        <p:spPr>
          <a:xfrm>
            <a:off x="457200" y="2603500"/>
            <a:ext cx="11106149" cy="3968750"/>
          </a:xfrm>
        </p:spPr>
        <p:txBody>
          <a:bodyPr/>
          <a:lstStyle/>
          <a:p>
            <a:pPr marL="514350" indent="-514350" algn="just">
              <a:lnSpc>
                <a:spcPct val="90000"/>
              </a:lnSpc>
              <a:buFont typeface="Century Gothic" pitchFamily="34" charset="0"/>
              <a:buChar char="►"/>
              <a:defRPr/>
            </a:pPr>
            <a:r>
              <a:rPr lang="en-US" dirty="0"/>
              <a:t>Interrupt transfers control to the interrupt service routine, generally, through the </a:t>
            </a:r>
            <a:r>
              <a:rPr lang="en-US" i="1" dirty="0"/>
              <a:t>interrupt vector</a:t>
            </a:r>
            <a:r>
              <a:rPr lang="en-US" dirty="0"/>
              <a:t>, which contains addresses of all the interrupt service routines.</a:t>
            </a:r>
          </a:p>
          <a:p>
            <a:pPr marL="514350" indent="-514350" algn="just">
              <a:lnSpc>
                <a:spcPct val="90000"/>
              </a:lnSpc>
              <a:buFont typeface="Century Gothic" pitchFamily="34" charset="0"/>
              <a:buChar char="►"/>
              <a:defRPr/>
            </a:pPr>
            <a:r>
              <a:rPr lang="en-US" dirty="0"/>
              <a:t>Interrupt architecture must save the address of the instruction after the interrupted instruction and the CPU state so that execution of the interrupted process may continue after the interrupt has been serviced.</a:t>
            </a:r>
          </a:p>
          <a:p>
            <a:pPr>
              <a:defRPr/>
            </a:pPr>
            <a:endParaRPr lang="en-US" dirty="0"/>
          </a:p>
        </p:txBody>
      </p:sp>
      <p:sp>
        <p:nvSpPr>
          <p:cNvPr id="39940" name="Footer Placeholder 3">
            <a:extLst>
              <a:ext uri="{FF2B5EF4-FFF2-40B4-BE49-F238E27FC236}">
                <a16:creationId xmlns:a16="http://schemas.microsoft.com/office/drawing/2014/main" id="{BDF3D04D-D640-465E-B7F4-1A26864D88E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9941" name="Slide Number Placeholder 4">
            <a:extLst>
              <a:ext uri="{FF2B5EF4-FFF2-40B4-BE49-F238E27FC236}">
                <a16:creationId xmlns:a16="http://schemas.microsoft.com/office/drawing/2014/main" id="{30B26CCD-550F-4EDD-9641-50757DCECA0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71E4390-BF26-456E-BBAA-B8BED7F7AC19}" type="slidenum">
              <a:rPr lang="en-US" altLang="en-US">
                <a:solidFill>
                  <a:schemeClr val="bg1"/>
                </a:solidFill>
              </a:rPr>
              <a:pPr/>
              <a:t>47</a:t>
            </a:fld>
            <a:endParaRPr lang="en-US" altLang="en-US">
              <a:solidFill>
                <a:schemeClr val="bg1"/>
              </a:solidFill>
            </a:endParaRPr>
          </a:p>
        </p:txBody>
      </p:sp>
    </p:spTree>
    <p:extLst>
      <p:ext uri="{BB962C8B-B14F-4D97-AF65-F5344CB8AC3E}">
        <p14:creationId xmlns:p14="http://schemas.microsoft.com/office/powerpoint/2010/main" val="422365842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11040-1683-41C6-903D-1FA58E2391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56C14C-CF93-48EB-95DD-C4D68F1A6628}"/>
              </a:ext>
            </a:extLst>
          </p:cNvPr>
          <p:cNvSpPr>
            <a:spLocks noGrp="1"/>
          </p:cNvSpPr>
          <p:nvPr>
            <p:ph idx="1"/>
          </p:nvPr>
        </p:nvSpPr>
        <p:spPr/>
        <p:txBody>
          <a:bodyPr/>
          <a:lstStyle/>
          <a:p>
            <a:r>
              <a:rPr lang="en-US" dirty="0"/>
              <a:t>As we have time sharing system so multiple user may be there. Here comes the issue of protection</a:t>
            </a:r>
          </a:p>
          <a:p>
            <a:r>
              <a:rPr lang="en-US" dirty="0"/>
              <a:t>One user may delete the files of others.</a:t>
            </a:r>
          </a:p>
          <a:p>
            <a:r>
              <a:rPr lang="en-US" dirty="0"/>
              <a:t>Or may overwrite program </a:t>
            </a:r>
            <a:r>
              <a:rPr lang="en-US"/>
              <a:t>in memory</a:t>
            </a:r>
          </a:p>
        </p:txBody>
      </p:sp>
    </p:spTree>
    <p:extLst>
      <p:ext uri="{BB962C8B-B14F-4D97-AF65-F5344CB8AC3E}">
        <p14:creationId xmlns:p14="http://schemas.microsoft.com/office/powerpoint/2010/main" val="261337075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3D5D281B-0AFC-43A2-A6A3-196E5BC03AB8}"/>
              </a:ext>
            </a:extLst>
          </p:cNvPr>
          <p:cNvSpPr>
            <a:spLocks noGrp="1"/>
          </p:cNvSpPr>
          <p:nvPr>
            <p:ph type="title"/>
          </p:nvPr>
        </p:nvSpPr>
        <p:spPr/>
        <p:txBody>
          <a:bodyPr/>
          <a:lstStyle/>
          <a:p>
            <a:r>
              <a:rPr lang="en-US" altLang="en-US"/>
              <a:t>Hardware protection</a:t>
            </a:r>
          </a:p>
        </p:txBody>
      </p:sp>
      <p:sp>
        <p:nvSpPr>
          <p:cNvPr id="40963" name="Content Placeholder 2">
            <a:extLst>
              <a:ext uri="{FF2B5EF4-FFF2-40B4-BE49-F238E27FC236}">
                <a16:creationId xmlns:a16="http://schemas.microsoft.com/office/drawing/2014/main" id="{525DC4EC-7FA6-41AF-9689-BD66772FA4AD}"/>
              </a:ext>
            </a:extLst>
          </p:cNvPr>
          <p:cNvSpPr>
            <a:spLocks noGrp="1"/>
          </p:cNvSpPr>
          <p:nvPr>
            <p:ph idx="1"/>
          </p:nvPr>
        </p:nvSpPr>
        <p:spPr>
          <a:xfrm>
            <a:off x="914400" y="2603500"/>
            <a:ext cx="9258299" cy="3416300"/>
          </a:xfrm>
        </p:spPr>
        <p:txBody>
          <a:bodyPr/>
          <a:lstStyle/>
          <a:p>
            <a:pPr>
              <a:buFont typeface="Century Gothic" panose="020B0502020202020204" pitchFamily="34" charset="0"/>
              <a:buChar char="►"/>
            </a:pPr>
            <a:r>
              <a:rPr lang="en-US" altLang="en-US" dirty="0"/>
              <a:t>Dual-Mode Operation</a:t>
            </a:r>
          </a:p>
          <a:p>
            <a:pPr>
              <a:buFont typeface="Century Gothic" panose="020B0502020202020204" pitchFamily="34" charset="0"/>
              <a:buChar char="►"/>
            </a:pPr>
            <a:r>
              <a:rPr lang="en-US" altLang="en-US" dirty="0"/>
              <a:t>I/O Protection</a:t>
            </a:r>
          </a:p>
          <a:p>
            <a:pPr>
              <a:buFont typeface="Century Gothic" panose="020B0502020202020204" pitchFamily="34" charset="0"/>
              <a:buChar char="►"/>
            </a:pPr>
            <a:r>
              <a:rPr lang="en-US" altLang="en-US" dirty="0"/>
              <a:t>Memory Protection</a:t>
            </a:r>
          </a:p>
          <a:p>
            <a:pPr>
              <a:buFont typeface="Century Gothic" panose="020B0502020202020204" pitchFamily="34" charset="0"/>
              <a:buChar char="►"/>
            </a:pPr>
            <a:r>
              <a:rPr lang="en-US" altLang="en-US" dirty="0"/>
              <a:t>CPU Protection</a:t>
            </a:r>
          </a:p>
          <a:p>
            <a:endParaRPr lang="en-US" altLang="en-US" dirty="0"/>
          </a:p>
        </p:txBody>
      </p:sp>
      <p:sp>
        <p:nvSpPr>
          <p:cNvPr id="40964" name="Footer Placeholder 3">
            <a:extLst>
              <a:ext uri="{FF2B5EF4-FFF2-40B4-BE49-F238E27FC236}">
                <a16:creationId xmlns:a16="http://schemas.microsoft.com/office/drawing/2014/main" id="{1F7E23A8-6611-4AFC-A4FA-E6BD43E21C0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40965" name="Slide Number Placeholder 4">
            <a:extLst>
              <a:ext uri="{FF2B5EF4-FFF2-40B4-BE49-F238E27FC236}">
                <a16:creationId xmlns:a16="http://schemas.microsoft.com/office/drawing/2014/main" id="{71DF6C9E-06DE-4267-96C6-01C3E7CC3DC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60B093-6E82-4234-B856-B694A152994E}" type="slidenum">
              <a:rPr lang="en-US" altLang="en-US">
                <a:solidFill>
                  <a:schemeClr val="bg1"/>
                </a:solidFill>
              </a:rPr>
              <a:pPr/>
              <a:t>49</a:t>
            </a:fld>
            <a:endParaRPr lang="en-US" altLang="en-US">
              <a:solidFill>
                <a:schemeClr val="bg1"/>
              </a:solidFill>
            </a:endParaRPr>
          </a:p>
        </p:txBody>
      </p:sp>
    </p:spTree>
    <p:extLst>
      <p:ext uri="{BB962C8B-B14F-4D97-AF65-F5344CB8AC3E}">
        <p14:creationId xmlns:p14="http://schemas.microsoft.com/office/powerpoint/2010/main" val="32604161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2CF7A1F8-887F-4AF7-8EA8-0E79E909A4BF}"/>
              </a:ext>
            </a:extLst>
          </p:cNvPr>
          <p:cNvSpPr>
            <a:spLocks noGrp="1"/>
          </p:cNvSpPr>
          <p:nvPr>
            <p:ph type="title"/>
          </p:nvPr>
        </p:nvSpPr>
        <p:spPr/>
        <p:txBody>
          <a:bodyPr/>
          <a:lstStyle/>
          <a:p>
            <a:r>
              <a:rPr lang="en-US" altLang="en-US"/>
              <a:t>Dual Mode Operation</a:t>
            </a:r>
          </a:p>
        </p:txBody>
      </p:sp>
      <p:sp>
        <p:nvSpPr>
          <p:cNvPr id="41987" name="Content Placeholder 2">
            <a:extLst>
              <a:ext uri="{FF2B5EF4-FFF2-40B4-BE49-F238E27FC236}">
                <a16:creationId xmlns:a16="http://schemas.microsoft.com/office/drawing/2014/main" id="{A03DFCC7-6CE6-4300-9ED6-6CE238870FB4}"/>
              </a:ext>
            </a:extLst>
          </p:cNvPr>
          <p:cNvSpPr>
            <a:spLocks noGrp="1"/>
          </p:cNvSpPr>
          <p:nvPr>
            <p:ph idx="1"/>
          </p:nvPr>
        </p:nvSpPr>
        <p:spPr>
          <a:xfrm>
            <a:off x="1087821" y="2603500"/>
            <a:ext cx="10294882" cy="3416300"/>
          </a:xfrm>
        </p:spPr>
        <p:txBody>
          <a:bodyPr/>
          <a:lstStyle/>
          <a:p>
            <a:pPr algn="just">
              <a:lnSpc>
                <a:spcPct val="80000"/>
              </a:lnSpc>
              <a:buFont typeface="Century Gothic" panose="020B0502020202020204" pitchFamily="34" charset="0"/>
              <a:buChar char="►"/>
            </a:pPr>
            <a:r>
              <a:rPr lang="en-US" altLang="en-US" dirty="0"/>
              <a:t>Sharing system resources requires operating system to ensure that an incorrect program cannot cause other programs to execute incorrectly.</a:t>
            </a:r>
          </a:p>
          <a:p>
            <a:pPr algn="just">
              <a:lnSpc>
                <a:spcPct val="80000"/>
              </a:lnSpc>
              <a:buFont typeface="Century Gothic" panose="020B0502020202020204" pitchFamily="34" charset="0"/>
              <a:buChar char="►"/>
            </a:pPr>
            <a:endParaRPr lang="en-US" altLang="en-US" dirty="0"/>
          </a:p>
          <a:p>
            <a:pPr algn="just">
              <a:lnSpc>
                <a:spcPct val="80000"/>
              </a:lnSpc>
              <a:buFont typeface="Century Gothic" panose="020B0502020202020204" pitchFamily="34" charset="0"/>
              <a:buChar char="►"/>
            </a:pPr>
            <a:r>
              <a:rPr lang="en-US" altLang="en-US" dirty="0"/>
              <a:t>Provide hardware support to differentiate between at least two modes of operations.</a:t>
            </a:r>
          </a:p>
          <a:p>
            <a:pPr lvl="1" algn="just">
              <a:lnSpc>
                <a:spcPct val="80000"/>
              </a:lnSpc>
              <a:buFont typeface="Century Gothic" panose="020B0502020202020204" pitchFamily="34" charset="0"/>
              <a:buChar char="►"/>
            </a:pPr>
            <a:r>
              <a:rPr lang="en-US" altLang="en-US" sz="1800" i="1" dirty="0"/>
              <a:t> User mode</a:t>
            </a:r>
            <a:r>
              <a:rPr lang="en-US" altLang="en-US" sz="1800" dirty="0"/>
              <a:t> – execution done on behalf of a user.</a:t>
            </a:r>
          </a:p>
          <a:p>
            <a:pPr lvl="1" algn="just">
              <a:lnSpc>
                <a:spcPct val="80000"/>
              </a:lnSpc>
              <a:buFont typeface="Century Gothic" panose="020B0502020202020204" pitchFamily="34" charset="0"/>
              <a:buChar char="►"/>
            </a:pPr>
            <a:r>
              <a:rPr lang="en-US" altLang="en-US" sz="1800" i="1" dirty="0"/>
              <a:t> Monitor mode</a:t>
            </a:r>
            <a:r>
              <a:rPr lang="en-US" altLang="en-US" sz="1800" dirty="0"/>
              <a:t> (also </a:t>
            </a:r>
            <a:r>
              <a:rPr lang="en-US" altLang="en-US" sz="1800" i="1" dirty="0"/>
              <a:t>kernel mode</a:t>
            </a:r>
            <a:r>
              <a:rPr lang="en-US" altLang="en-US" sz="1800" dirty="0"/>
              <a:t> or </a:t>
            </a:r>
            <a:r>
              <a:rPr lang="en-US" altLang="en-US" sz="1800" i="1" dirty="0"/>
              <a:t>system 	mode</a:t>
            </a:r>
            <a:r>
              <a:rPr lang="en-US" altLang="en-US" sz="1800" dirty="0"/>
              <a:t>) – execution done on behalf of 	operating system. </a:t>
            </a:r>
          </a:p>
          <a:p>
            <a:endParaRPr lang="en-US" altLang="en-US" dirty="0"/>
          </a:p>
        </p:txBody>
      </p:sp>
      <p:sp>
        <p:nvSpPr>
          <p:cNvPr id="41988" name="Footer Placeholder 3">
            <a:extLst>
              <a:ext uri="{FF2B5EF4-FFF2-40B4-BE49-F238E27FC236}">
                <a16:creationId xmlns:a16="http://schemas.microsoft.com/office/drawing/2014/main" id="{D1B8CF48-64AF-4461-B295-A150AACF2B7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41989" name="Slide Number Placeholder 4">
            <a:extLst>
              <a:ext uri="{FF2B5EF4-FFF2-40B4-BE49-F238E27FC236}">
                <a16:creationId xmlns:a16="http://schemas.microsoft.com/office/drawing/2014/main" id="{D7756936-1059-4054-8647-D7BB02ED780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BA04949-A3B2-4782-B638-0838F713EA15}" type="slidenum">
              <a:rPr lang="en-US" altLang="en-US">
                <a:solidFill>
                  <a:schemeClr val="bg1"/>
                </a:solidFill>
              </a:rPr>
              <a:pPr/>
              <a:t>50</a:t>
            </a:fld>
            <a:endParaRPr lang="en-US" altLang="en-US">
              <a:solidFill>
                <a:schemeClr val="bg1"/>
              </a:solidFill>
            </a:endParaRPr>
          </a:p>
        </p:txBody>
      </p:sp>
    </p:spTree>
    <p:extLst>
      <p:ext uri="{BB962C8B-B14F-4D97-AF65-F5344CB8AC3E}">
        <p14:creationId xmlns:p14="http://schemas.microsoft.com/office/powerpoint/2010/main" val="6458763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41786C73-C0D2-4159-A145-7DB783EE9C17}"/>
              </a:ext>
            </a:extLst>
          </p:cNvPr>
          <p:cNvSpPr>
            <a:spLocks noGrp="1"/>
          </p:cNvSpPr>
          <p:nvPr>
            <p:ph type="title"/>
          </p:nvPr>
        </p:nvSpPr>
        <p:spPr/>
        <p:txBody>
          <a:bodyPr/>
          <a:lstStyle/>
          <a:p>
            <a:r>
              <a:rPr lang="en-US" altLang="en-US" dirty="0"/>
              <a:t>Dual Mode Operation</a:t>
            </a:r>
          </a:p>
        </p:txBody>
      </p:sp>
      <p:sp>
        <p:nvSpPr>
          <p:cNvPr id="43011" name="Content Placeholder 2">
            <a:extLst>
              <a:ext uri="{FF2B5EF4-FFF2-40B4-BE49-F238E27FC236}">
                <a16:creationId xmlns:a16="http://schemas.microsoft.com/office/drawing/2014/main" id="{7AD1D16D-A38B-45EC-869C-FAC566955B74}"/>
              </a:ext>
            </a:extLst>
          </p:cNvPr>
          <p:cNvSpPr>
            <a:spLocks noGrp="1"/>
          </p:cNvSpPr>
          <p:nvPr>
            <p:ph idx="1"/>
          </p:nvPr>
        </p:nvSpPr>
        <p:spPr>
          <a:xfrm>
            <a:off x="1135118" y="2603500"/>
            <a:ext cx="10105696" cy="3416300"/>
          </a:xfrm>
        </p:spPr>
        <p:txBody>
          <a:bodyPr/>
          <a:lstStyle/>
          <a:p>
            <a:pPr>
              <a:buFontTx/>
              <a:buChar char="►"/>
            </a:pPr>
            <a:r>
              <a:rPr lang="en-US" altLang="en-US" i="1" dirty="0"/>
              <a:t>Mode bit</a:t>
            </a:r>
            <a:r>
              <a:rPr lang="en-US" altLang="en-US" dirty="0"/>
              <a:t> added to computer hardware to indicate the current mode:  monitor (0) or user (1).</a:t>
            </a:r>
          </a:p>
          <a:p>
            <a:pPr>
              <a:buFontTx/>
              <a:buChar char="►"/>
            </a:pPr>
            <a:r>
              <a:rPr lang="en-US" altLang="en-US" dirty="0"/>
              <a:t>When an interrupt or fault occurs hardware switches to monitor mode. </a:t>
            </a:r>
          </a:p>
          <a:p>
            <a:pPr>
              <a:buFontTx/>
              <a:buChar char="►"/>
            </a:pPr>
            <a:r>
              <a:rPr lang="en-US" altLang="en-US" b="1" i="1" dirty="0">
                <a:latin typeface="Arial" panose="020B0604020202020204" pitchFamily="34" charset="0"/>
              </a:rPr>
              <a:t>Privileged instructions</a:t>
            </a:r>
            <a:r>
              <a:rPr lang="en-US" altLang="en-US" b="1" dirty="0">
                <a:latin typeface="Arial" panose="020B0604020202020204" pitchFamily="34" charset="0"/>
              </a:rPr>
              <a:t> can be issued only in monitor mode. </a:t>
            </a:r>
            <a:endParaRPr lang="en-US" altLang="en-US" dirty="0"/>
          </a:p>
          <a:p>
            <a:endParaRPr lang="en-US" altLang="en-US" dirty="0"/>
          </a:p>
        </p:txBody>
      </p:sp>
      <p:sp>
        <p:nvSpPr>
          <p:cNvPr id="43012" name="Footer Placeholder 3">
            <a:extLst>
              <a:ext uri="{FF2B5EF4-FFF2-40B4-BE49-F238E27FC236}">
                <a16:creationId xmlns:a16="http://schemas.microsoft.com/office/drawing/2014/main" id="{6F0832CC-7514-4B0F-827F-5D47FA55DF8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43013" name="Slide Number Placeholder 4">
            <a:extLst>
              <a:ext uri="{FF2B5EF4-FFF2-40B4-BE49-F238E27FC236}">
                <a16:creationId xmlns:a16="http://schemas.microsoft.com/office/drawing/2014/main" id="{387FA417-5AB9-4032-A12F-6D393D03669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D51F07E-1F70-4241-BBFA-B34B638DC222}" type="slidenum">
              <a:rPr lang="en-US" altLang="en-US">
                <a:solidFill>
                  <a:schemeClr val="bg1"/>
                </a:solidFill>
              </a:rPr>
              <a:pPr/>
              <a:t>51</a:t>
            </a:fld>
            <a:endParaRPr lang="en-US" altLang="en-US">
              <a:solidFill>
                <a:schemeClr val="bg1"/>
              </a:solidFill>
            </a:endParaRPr>
          </a:p>
        </p:txBody>
      </p:sp>
      <p:grpSp>
        <p:nvGrpSpPr>
          <p:cNvPr id="2" name="Group 4">
            <a:extLst>
              <a:ext uri="{FF2B5EF4-FFF2-40B4-BE49-F238E27FC236}">
                <a16:creationId xmlns:a16="http://schemas.microsoft.com/office/drawing/2014/main" id="{6DCC6A7A-AC4E-4AF2-BBA6-C8E10010BC66}"/>
              </a:ext>
            </a:extLst>
          </p:cNvPr>
          <p:cNvGrpSpPr>
            <a:grpSpLocks/>
          </p:cNvGrpSpPr>
          <p:nvPr/>
        </p:nvGrpSpPr>
        <p:grpSpPr bwMode="auto">
          <a:xfrm>
            <a:off x="3705225" y="4383089"/>
            <a:ext cx="4495800" cy="1698625"/>
            <a:chOff x="1152" y="1872"/>
            <a:chExt cx="2832" cy="1165"/>
          </a:xfrm>
        </p:grpSpPr>
        <p:sp>
          <p:nvSpPr>
            <p:cNvPr id="43015" name="Oval 5">
              <a:extLst>
                <a:ext uri="{FF2B5EF4-FFF2-40B4-BE49-F238E27FC236}">
                  <a16:creationId xmlns:a16="http://schemas.microsoft.com/office/drawing/2014/main" id="{B04C1788-674A-438F-9791-94C8D3A2E181}"/>
                </a:ext>
              </a:extLst>
            </p:cNvPr>
            <p:cNvSpPr>
              <a:spLocks noChangeArrowheads="1"/>
            </p:cNvSpPr>
            <p:nvPr/>
          </p:nvSpPr>
          <p:spPr bwMode="auto">
            <a:xfrm>
              <a:off x="1152" y="2256"/>
              <a:ext cx="672" cy="720"/>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a:latin typeface="Helvetica" panose="020B0604020202020204" pitchFamily="34" charset="0"/>
                </a:rPr>
                <a:t>monitor</a:t>
              </a:r>
            </a:p>
          </p:txBody>
        </p:sp>
        <p:sp>
          <p:nvSpPr>
            <p:cNvPr id="43016" name="Oval 6">
              <a:extLst>
                <a:ext uri="{FF2B5EF4-FFF2-40B4-BE49-F238E27FC236}">
                  <a16:creationId xmlns:a16="http://schemas.microsoft.com/office/drawing/2014/main" id="{B620D16F-61B7-4918-B38D-2FDCEAE35BAB}"/>
                </a:ext>
              </a:extLst>
            </p:cNvPr>
            <p:cNvSpPr>
              <a:spLocks noChangeArrowheads="1"/>
            </p:cNvSpPr>
            <p:nvPr/>
          </p:nvSpPr>
          <p:spPr bwMode="auto">
            <a:xfrm>
              <a:off x="3312" y="2256"/>
              <a:ext cx="672" cy="720"/>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a:latin typeface="Helvetica" panose="020B0604020202020204" pitchFamily="34" charset="0"/>
                </a:rPr>
                <a:t>user</a:t>
              </a:r>
            </a:p>
          </p:txBody>
        </p:sp>
        <p:cxnSp>
          <p:nvCxnSpPr>
            <p:cNvPr id="43017" name="AutoShape 7">
              <a:extLst>
                <a:ext uri="{FF2B5EF4-FFF2-40B4-BE49-F238E27FC236}">
                  <a16:creationId xmlns:a16="http://schemas.microsoft.com/office/drawing/2014/main" id="{1A3009F6-FCCD-48FC-99B6-EB225F35E1F6}"/>
                </a:ext>
              </a:extLst>
            </p:cNvPr>
            <p:cNvCxnSpPr>
              <a:cxnSpLocks noChangeShapeType="1"/>
              <a:stCxn id="43016" idx="0"/>
              <a:endCxn id="43015" idx="0"/>
            </p:cNvCxnSpPr>
            <p:nvPr/>
          </p:nvCxnSpPr>
          <p:spPr bwMode="auto">
            <a:xfrm rot="-5400000" flipH="1" flipV="1">
              <a:off x="2567" y="1177"/>
              <a:ext cx="1" cy="2160"/>
            </a:xfrm>
            <a:prstGeom prst="curvedConnector3">
              <a:avLst>
                <a:gd name="adj1" fmla="val -144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018" name="AutoShape 8">
              <a:extLst>
                <a:ext uri="{FF2B5EF4-FFF2-40B4-BE49-F238E27FC236}">
                  <a16:creationId xmlns:a16="http://schemas.microsoft.com/office/drawing/2014/main" id="{DC6C83B0-FE8D-4190-86E4-EB149C5E93D6}"/>
                </a:ext>
              </a:extLst>
            </p:cNvPr>
            <p:cNvCxnSpPr>
              <a:cxnSpLocks noChangeShapeType="1"/>
              <a:stCxn id="43015" idx="4"/>
              <a:endCxn id="43016" idx="4"/>
            </p:cNvCxnSpPr>
            <p:nvPr/>
          </p:nvCxnSpPr>
          <p:spPr bwMode="auto">
            <a:xfrm rot="16200000" flipH="1">
              <a:off x="2567" y="1897"/>
              <a:ext cx="1" cy="2160"/>
            </a:xfrm>
            <a:prstGeom prst="curvedConnector3">
              <a:avLst>
                <a:gd name="adj1" fmla="val 144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3019" name="Text Box 9">
              <a:extLst>
                <a:ext uri="{FF2B5EF4-FFF2-40B4-BE49-F238E27FC236}">
                  <a16:creationId xmlns:a16="http://schemas.microsoft.com/office/drawing/2014/main" id="{A3CAFE3C-6288-4647-9106-B0D665BBF8F7}"/>
                </a:ext>
              </a:extLst>
            </p:cNvPr>
            <p:cNvSpPr txBox="1">
              <a:spLocks noChangeArrowheads="1"/>
            </p:cNvSpPr>
            <p:nvPr/>
          </p:nvSpPr>
          <p:spPr bwMode="auto">
            <a:xfrm>
              <a:off x="2112" y="1872"/>
              <a:ext cx="973"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anose="020B0604020202020204" pitchFamily="34" charset="0"/>
                </a:rPr>
                <a:t>Interrupt/fault</a:t>
              </a:r>
            </a:p>
          </p:txBody>
        </p:sp>
        <p:sp>
          <p:nvSpPr>
            <p:cNvPr id="43020" name="Text Box 10">
              <a:extLst>
                <a:ext uri="{FF2B5EF4-FFF2-40B4-BE49-F238E27FC236}">
                  <a16:creationId xmlns:a16="http://schemas.microsoft.com/office/drawing/2014/main" id="{3A9B4C53-EFB9-4EB7-8D8C-0C249EF460E5}"/>
                </a:ext>
              </a:extLst>
            </p:cNvPr>
            <p:cNvSpPr txBox="1">
              <a:spLocks noChangeArrowheads="1"/>
            </p:cNvSpPr>
            <p:nvPr/>
          </p:nvSpPr>
          <p:spPr bwMode="auto">
            <a:xfrm>
              <a:off x="2080" y="2784"/>
              <a:ext cx="1037"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anose="020B0604020202020204" pitchFamily="34" charset="0"/>
                </a:rPr>
                <a:t>set user mode</a:t>
              </a:r>
            </a:p>
          </p:txBody>
        </p:sp>
      </p:grpSp>
    </p:spTree>
    <p:extLst>
      <p:ext uri="{BB962C8B-B14F-4D97-AF65-F5344CB8AC3E}">
        <p14:creationId xmlns:p14="http://schemas.microsoft.com/office/powerpoint/2010/main" val="42286075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Task</a:t>
            </a:r>
          </a:p>
        </p:txBody>
      </p:sp>
      <p:sp>
        <p:nvSpPr>
          <p:cNvPr id="3" name="Content Placeholder 2"/>
          <p:cNvSpPr>
            <a:spLocks noGrp="1"/>
          </p:cNvSpPr>
          <p:nvPr>
            <p:ph idx="1"/>
          </p:nvPr>
        </p:nvSpPr>
        <p:spPr>
          <a:xfrm>
            <a:off x="1122830" y="2507225"/>
            <a:ext cx="10659595" cy="3982065"/>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You are developing a real-time monitoring system for a hospital that tracks patients’ vital signs, such as heart rate, blood pressure, and oxygen levels. The system must alert medical staff immediately if a patient's condition become worst.</a:t>
            </a:r>
          </a:p>
          <a:p>
            <a:pPr marL="0" indent="0">
              <a:buNone/>
            </a:pPr>
            <a:r>
              <a:rPr lang="en-US" b="1" dirty="0">
                <a:latin typeface="Times New Roman" panose="02020603050405020304" pitchFamily="18" charset="0"/>
                <a:cs typeface="Times New Roman" panose="02020603050405020304" pitchFamily="18" charset="0"/>
              </a:rPr>
              <a:t>Questions: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Real-Time Requirements:</a:t>
            </a:r>
          </a:p>
          <a:p>
            <a:r>
              <a:rPr lang="en-US" dirty="0">
                <a:latin typeface="Times New Roman" panose="02020603050405020304" pitchFamily="18" charset="0"/>
                <a:cs typeface="Times New Roman" panose="02020603050405020304" pitchFamily="18" charset="0"/>
              </a:rPr>
              <a:t>Identify which tasks in the monitoring system would be classified as hard real-time and which</a:t>
            </a:r>
          </a:p>
          <a:p>
            <a:pPr marL="0" indent="0">
              <a:buNone/>
            </a:pPr>
            <a:r>
              <a:rPr lang="en-US" dirty="0">
                <a:latin typeface="Times New Roman" panose="02020603050405020304" pitchFamily="18" charset="0"/>
                <a:cs typeface="Times New Roman" panose="02020603050405020304" pitchFamily="18" charset="0"/>
              </a:rPr>
              <a:t>      would be soft real-time. Justify your classifications.</a:t>
            </a:r>
          </a:p>
          <a:p>
            <a:r>
              <a:rPr lang="en-US" dirty="0">
                <a:latin typeface="Times New Roman" panose="02020603050405020304" pitchFamily="18" charset="0"/>
                <a:cs typeface="Times New Roman" panose="02020603050405020304" pitchFamily="18" charset="0"/>
              </a:rPr>
              <a:t>Interrupts, Traps and Signals</a:t>
            </a:r>
          </a:p>
          <a:p>
            <a:r>
              <a:rPr lang="en-US" dirty="0">
                <a:latin typeface="Times New Roman" panose="02020603050405020304" pitchFamily="18" charset="0"/>
                <a:cs typeface="Times New Roman" panose="02020603050405020304" pitchFamily="18" charset="0"/>
              </a:rPr>
              <a:t>Interrupts vs Traps</a:t>
            </a:r>
          </a:p>
          <a:p>
            <a:r>
              <a:rPr lang="en-US" altLang="en-US" dirty="0"/>
              <a:t>Dual Mode Operation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171528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Task</a:t>
            </a:r>
          </a:p>
        </p:txBody>
      </p:sp>
      <p:sp>
        <p:nvSpPr>
          <p:cNvPr id="5" name="Rectangle 2"/>
          <p:cNvSpPr>
            <a:spLocks noGrp="1" noChangeArrowheads="1"/>
          </p:cNvSpPr>
          <p:nvPr>
            <p:ph idx="1"/>
          </p:nvPr>
        </p:nvSpPr>
        <p:spPr bwMode="auto">
          <a:xfrm>
            <a:off x="1122364" y="3344020"/>
            <a:ext cx="1012620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 employee is running a word processor, listening to music, and downloading a file </a:t>
            </a:r>
            <a:r>
              <a:rPr kumimoji="0" lang="en-US" altLang="en-US" sz="1800" b="1" i="0" u="none" strike="noStrike" cap="none" normalizeH="0" baseline="0" dirty="0">
                <a:ln>
                  <a:noFill/>
                </a:ln>
                <a:solidFill>
                  <a:schemeClr val="tx1"/>
                </a:solidFill>
                <a:effectLst/>
                <a:latin typeface="Arial" panose="020B0604020202020204" pitchFamily="34" charset="0"/>
              </a:rPr>
              <a:t>at the same time on a single computer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OS of that computer loads multiple programs into memory so they can share CPU time efficiently.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company also connects several computers together over a network so that tasks like file storage and computation can be shared</a:t>
            </a:r>
          </a:p>
        </p:txBody>
      </p:sp>
    </p:spTree>
    <p:extLst>
      <p:ext uri="{BB962C8B-B14F-4D97-AF65-F5344CB8AC3E}">
        <p14:creationId xmlns:p14="http://schemas.microsoft.com/office/powerpoint/2010/main" val="3758645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pPr marL="0" indent="0">
              <a:buNone/>
            </a:pPr>
            <a:r>
              <a:rPr lang="en-US" dirty="0"/>
              <a:t>Today we learnt about</a:t>
            </a:r>
          </a:p>
          <a:p>
            <a:pPr lvl="1"/>
            <a:r>
              <a:rPr lang="en-US" dirty="0"/>
              <a:t>Operating System Basics</a:t>
            </a:r>
          </a:p>
          <a:p>
            <a:pPr lvl="1"/>
            <a:r>
              <a:rPr lang="en-US" dirty="0"/>
              <a:t>Course Outline</a:t>
            </a:r>
          </a:p>
          <a:p>
            <a:pPr lvl="1"/>
            <a:endParaRPr lang="en-US" dirty="0"/>
          </a:p>
        </p:txBody>
      </p:sp>
      <p:sp>
        <p:nvSpPr>
          <p:cNvPr id="4" name="Slide Number Placeholder 3"/>
          <p:cNvSpPr>
            <a:spLocks noGrp="1"/>
          </p:cNvSpPr>
          <p:nvPr>
            <p:ph type="sldNum" sz="quarter" idx="11"/>
          </p:nvPr>
        </p:nvSpPr>
        <p:spPr/>
        <p:txBody>
          <a:bodyPr/>
          <a:lstStyle/>
          <a:p>
            <a:fld id="{1AD93096-5B34-4342-9326-69289CEAE4C2}" type="slidenum">
              <a:rPr lang="en-US" smtClean="0"/>
              <a:pPr/>
              <a:t>54</a:t>
            </a:fld>
            <a:endParaRPr lang="en-US" dirty="0">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7874</TotalTime>
  <Words>3888</Words>
  <Application>Microsoft Office PowerPoint</Application>
  <PresentationFormat>Widescreen</PresentationFormat>
  <Paragraphs>405</Paragraphs>
  <Slides>54</Slides>
  <Notes>16</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54</vt:i4>
      </vt:variant>
    </vt:vector>
  </HeadingPairs>
  <TitlesOfParts>
    <vt:vector size="73" baseType="lpstr">
      <vt:lpstr>Arial</vt:lpstr>
      <vt:lpstr>Arial</vt:lpstr>
      <vt:lpstr>Calibri</vt:lpstr>
      <vt:lpstr>Century Gothic</vt:lpstr>
      <vt:lpstr>Garamond</vt:lpstr>
      <vt:lpstr>Georgia</vt:lpstr>
      <vt:lpstr>Helvetica</vt:lpstr>
      <vt:lpstr>inter-bold</vt:lpstr>
      <vt:lpstr>inter-regular</vt:lpstr>
      <vt:lpstr>Montserrat</vt:lpstr>
      <vt:lpstr>Poppins</vt:lpstr>
      <vt:lpstr>Source Sans Pro</vt:lpstr>
      <vt:lpstr>SourceSansPro</vt:lpstr>
      <vt:lpstr>Times New Roman</vt:lpstr>
      <vt:lpstr>Verdana</vt:lpstr>
      <vt:lpstr>Wingdings</vt:lpstr>
      <vt:lpstr>Wingdings 3</vt:lpstr>
      <vt:lpstr>Work Sans</vt:lpstr>
      <vt:lpstr>Ion Boardroom</vt:lpstr>
      <vt:lpstr>      CSC351-Operating Systems      Week-1  Lecture-1,2           Semester #05</vt:lpstr>
      <vt:lpstr>Instructor Contact Details  </vt:lpstr>
      <vt:lpstr>Course Learning Outcomes</vt:lpstr>
      <vt:lpstr>Recommended Resources</vt:lpstr>
      <vt:lpstr>PowerPoint Presentation</vt:lpstr>
      <vt:lpstr>PowerPoint Presentation</vt:lpstr>
      <vt:lpstr>Structure of a Computer System</vt:lpstr>
      <vt:lpstr>Layered View of a Computer System</vt:lpstr>
      <vt:lpstr>Purpose of a Computer System</vt:lpstr>
      <vt:lpstr>PowerPoint Presentation</vt:lpstr>
      <vt:lpstr>Computer System Hardware</vt:lpstr>
      <vt:lpstr>Computer System Hardware</vt:lpstr>
      <vt:lpstr>Computer System Hardware</vt:lpstr>
      <vt:lpstr>What is an Operating System?</vt:lpstr>
      <vt:lpstr>Functions of Operating System </vt:lpstr>
      <vt:lpstr>Functions of Operating System</vt:lpstr>
      <vt:lpstr>Operating System Goals</vt:lpstr>
      <vt:lpstr>How OS Start and develop through ages</vt:lpstr>
      <vt:lpstr>How OS Start and develop through ages (Legacy OS to Modern OS)</vt:lpstr>
      <vt:lpstr>MS-DOS</vt:lpstr>
      <vt:lpstr>Windows</vt:lpstr>
      <vt:lpstr>UNIX/LINUX</vt:lpstr>
      <vt:lpstr>OS2</vt:lpstr>
      <vt:lpstr>MAC Operating System</vt:lpstr>
      <vt:lpstr>Android Operating System</vt:lpstr>
      <vt:lpstr>iOS </vt:lpstr>
      <vt:lpstr>Task</vt:lpstr>
      <vt:lpstr>Single user operating systems</vt:lpstr>
      <vt:lpstr>Single &amp; Multi user Operating systems</vt:lpstr>
      <vt:lpstr>Batch Operating systems</vt:lpstr>
      <vt:lpstr>Memory layout of batch systems</vt:lpstr>
      <vt:lpstr>Batch system (conti…)</vt:lpstr>
      <vt:lpstr>Multi-programmed systems (non preemptive)</vt:lpstr>
      <vt:lpstr>Multiprogrammed Systems</vt:lpstr>
      <vt:lpstr>Os features needed for Multiprogramming</vt:lpstr>
      <vt:lpstr>Time sharing systems</vt:lpstr>
      <vt:lpstr>Distributed Operating System</vt:lpstr>
      <vt:lpstr>Real Time systems</vt:lpstr>
      <vt:lpstr>Real Time systems</vt:lpstr>
      <vt:lpstr>Real time systems (Cont..)</vt:lpstr>
      <vt:lpstr>Mobile OS</vt:lpstr>
      <vt:lpstr>Interrupts</vt:lpstr>
      <vt:lpstr>Interrupts, Traps and Signals </vt:lpstr>
      <vt:lpstr>Interrupts, trap, signals</vt:lpstr>
      <vt:lpstr>Interrupts, trap, signals</vt:lpstr>
      <vt:lpstr>Interrupt handling</vt:lpstr>
      <vt:lpstr>Interrupt handling (Cont..)</vt:lpstr>
      <vt:lpstr>PowerPoint Presentation</vt:lpstr>
      <vt:lpstr>Hardware protection</vt:lpstr>
      <vt:lpstr>Dual Mode Operation</vt:lpstr>
      <vt:lpstr>Dual Mode Operation</vt:lpstr>
      <vt:lpstr>Task</vt:lpstr>
      <vt:lpstr>Task</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Zulkifl Hasan</dc:creator>
  <cp:lastModifiedBy>Shoaib Ch</cp:lastModifiedBy>
  <cp:revision>93</cp:revision>
  <dcterms:created xsi:type="dcterms:W3CDTF">2017-09-15T05:33:00Z</dcterms:created>
  <dcterms:modified xsi:type="dcterms:W3CDTF">2026-10-09T18:10:34Z</dcterms:modified>
</cp:coreProperties>
</file>