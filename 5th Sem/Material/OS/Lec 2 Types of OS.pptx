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31"/>
  </p:notesMasterIdLst>
  <p:handoutMasterIdLst>
    <p:handoutMasterId r:id="rId32"/>
  </p:handoutMasterIdLst>
  <p:sldIdLst>
    <p:sldId id="257" r:id="rId2"/>
    <p:sldId id="391" r:id="rId3"/>
    <p:sldId id="370" r:id="rId4"/>
    <p:sldId id="395" r:id="rId5"/>
    <p:sldId id="371" r:id="rId6"/>
    <p:sldId id="372" r:id="rId7"/>
    <p:sldId id="373" r:id="rId8"/>
    <p:sldId id="374" r:id="rId9"/>
    <p:sldId id="375" r:id="rId10"/>
    <p:sldId id="376" r:id="rId11"/>
    <p:sldId id="377" r:id="rId12"/>
    <p:sldId id="392" r:id="rId13"/>
    <p:sldId id="378" r:id="rId14"/>
    <p:sldId id="379" r:id="rId15"/>
    <p:sldId id="380" r:id="rId16"/>
    <p:sldId id="393" r:id="rId17"/>
    <p:sldId id="390" r:id="rId18"/>
    <p:sldId id="381" r:id="rId19"/>
    <p:sldId id="382" r:id="rId20"/>
    <p:sldId id="383" r:id="rId21"/>
    <p:sldId id="384" r:id="rId22"/>
    <p:sldId id="385" r:id="rId23"/>
    <p:sldId id="389" r:id="rId24"/>
    <p:sldId id="386" r:id="rId25"/>
    <p:sldId id="387" r:id="rId26"/>
    <p:sldId id="388" r:id="rId27"/>
    <p:sldId id="355" r:id="rId28"/>
    <p:sldId id="394" r:id="rId29"/>
    <p:sldId id="39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73" autoAdjust="0"/>
    <p:restoredTop sz="94364" autoAdjust="0"/>
  </p:normalViewPr>
  <p:slideViewPr>
    <p:cSldViewPr snapToGrid="0">
      <p:cViewPr varScale="1">
        <p:scale>
          <a:sx n="100" d="100"/>
          <a:sy n="100" d="100"/>
        </p:scale>
        <p:origin x="434"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F33F72-4345-43EB-9D50-22A28716DB6A}" type="datetimeFigureOut">
              <a:rPr lang="en-US" smtClean="0"/>
              <a:pPr/>
              <a:t>10/23/2026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BBA8CB-EB9C-4201-8058-05B51BDDF0EB}" type="slidenum">
              <a:rPr lang="en-US" smtClean="0"/>
              <a:pPr/>
              <a:t>‹#›</a:t>
            </a:fld>
            <a:endParaRPr lang="en-US"/>
          </a:p>
        </p:txBody>
      </p:sp>
    </p:spTree>
    <p:extLst>
      <p:ext uri="{BB962C8B-B14F-4D97-AF65-F5344CB8AC3E}">
        <p14:creationId xmlns:p14="http://schemas.microsoft.com/office/powerpoint/2010/main" val="90827260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33334B-387A-4760-B2D7-7C6A34A0B6CC}" type="datetimeFigureOut">
              <a:rPr lang="en-US" smtClean="0"/>
              <a:pPr/>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26A4D-5053-4FDB-93C4-872D09897126}" type="slidenum">
              <a:rPr lang="en-US" smtClean="0"/>
              <a:pPr/>
              <a:t>‹#›</a:t>
            </a:fld>
            <a:endParaRPr lang="en-US"/>
          </a:p>
        </p:txBody>
      </p:sp>
    </p:spTree>
    <p:extLst>
      <p:ext uri="{BB962C8B-B14F-4D97-AF65-F5344CB8AC3E}">
        <p14:creationId xmlns:p14="http://schemas.microsoft.com/office/powerpoint/2010/main" val="2079138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3</a:t>
            </a:fld>
            <a:endParaRPr lang="en-US"/>
          </a:p>
        </p:txBody>
      </p:sp>
    </p:spTree>
    <p:extLst>
      <p:ext uri="{BB962C8B-B14F-4D97-AF65-F5344CB8AC3E}">
        <p14:creationId xmlns:p14="http://schemas.microsoft.com/office/powerpoint/2010/main" val="2007278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4</a:t>
            </a:fld>
            <a:endParaRPr lang="en-US"/>
          </a:p>
        </p:txBody>
      </p:sp>
    </p:spTree>
    <p:extLst>
      <p:ext uri="{BB962C8B-B14F-4D97-AF65-F5344CB8AC3E}">
        <p14:creationId xmlns:p14="http://schemas.microsoft.com/office/powerpoint/2010/main" val="2413974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Poppins" panose="020B0502040204020203" pitchFamily="2" charset="0"/>
              </a:rPr>
              <a:t>Examples of Batch OS: </a:t>
            </a:r>
            <a:r>
              <a:rPr lang="en-US" b="0" i="0" dirty="0">
                <a:solidFill>
                  <a:srgbClr val="000000"/>
                </a:solidFill>
                <a:effectLst/>
                <a:latin typeface="Poppins" panose="020B0502040204020203" pitchFamily="2" charset="0"/>
              </a:rPr>
              <a:t>payroll system, bank statements, data entry, etc.</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E026A4D-5053-4FDB-93C4-872D09897126}" type="slidenum">
              <a:rPr lang="en-US" smtClean="0"/>
              <a:pPr/>
              <a:t>5</a:t>
            </a:fld>
            <a:endParaRPr lang="en-US"/>
          </a:p>
        </p:txBody>
      </p:sp>
    </p:spTree>
    <p:extLst>
      <p:ext uri="{BB962C8B-B14F-4D97-AF65-F5344CB8AC3E}">
        <p14:creationId xmlns:p14="http://schemas.microsoft.com/office/powerpoint/2010/main" val="949205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8</a:t>
            </a:fld>
            <a:endParaRPr lang="en-US"/>
          </a:p>
        </p:txBody>
      </p:sp>
    </p:spTree>
    <p:extLst>
      <p:ext uri="{BB962C8B-B14F-4D97-AF65-F5344CB8AC3E}">
        <p14:creationId xmlns:p14="http://schemas.microsoft.com/office/powerpoint/2010/main" val="2548767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26A4D-5053-4FDB-93C4-872D09897126}" type="slidenum">
              <a:rPr lang="en-US" smtClean="0"/>
              <a:pPr/>
              <a:t>10</a:t>
            </a:fld>
            <a:endParaRPr lang="en-US"/>
          </a:p>
        </p:txBody>
      </p:sp>
    </p:spTree>
    <p:extLst>
      <p:ext uri="{BB962C8B-B14F-4D97-AF65-F5344CB8AC3E}">
        <p14:creationId xmlns:p14="http://schemas.microsoft.com/office/powerpoint/2010/main" val="5379305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F9D7CD0-9067-4108-B237-CA9EDBFFE234}" type="datetime3">
              <a:rPr lang="en-US" smtClean="0"/>
              <a:t>23 October 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75980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576B1-59AE-4C1B-933E-139044B384AC}"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802116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65BD64-75AB-44E7-A303-26BB4C18E993}"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577249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6387A0-CA16-40E0-881C-F603F5622478}" type="datetime3">
              <a:rPr lang="en-US" smtClean="0"/>
              <a:t>23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26011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BB5C7A-C77A-404D-B6CA-3E2B92E9C593}" type="datetime3">
              <a:rPr lang="en-US" smtClean="0"/>
              <a:t>23 October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735289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F62595-DE6D-4604-AB46-4B5B35D3A783}" type="datetime3">
              <a:rPr lang="en-US" smtClean="0"/>
              <a:t>23 October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409130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0E8BA-C1DE-42CB-942C-B25B73F24C2E}" type="datetime3">
              <a:rPr lang="en-US" smtClean="0"/>
              <a:t>23 October 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46516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803CC3A-AFC4-4BEF-8149-24F101CE806A}" type="datetime3">
              <a:rPr lang="en-US" smtClean="0"/>
              <a:t>23 October 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295992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02ECD15-E215-4784-84AE-A1AC5174B272}" type="datetime3">
              <a:rPr lang="en-US" smtClean="0"/>
              <a:t>23 October 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493180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F7B91-6E87-4927-8817-CDB38DF4B18C}" type="datetime3">
              <a:rPr lang="en-US" smtClean="0"/>
              <a:t>23 October 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54380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63C256B2-D4F4-464A-A615-6218E79539C6}"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772629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20352F30-7923-4D83-A20C-68932BF13444}"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645510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62F409-CE4F-4288-9BC9-76556D997570}"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513182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647879D-1229-4B33-B471-75CDA22CDC97}" type="datetime3">
              <a:rPr lang="en-US" smtClean="0"/>
              <a:t>23 October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195133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1C2AD53-F8FF-4A19-BED1-4582EF3B1A39}" type="datetime3">
              <a:rPr lang="en-US" smtClean="0"/>
              <a:t>23 October 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3008928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F70A3FE-9409-4709-9843-5DD21E38EEBF}"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1286126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950FAC5-9710-4117-A918-23D8660240DD}" type="datetime3">
              <a:rPr lang="en-US" smtClean="0"/>
              <a:t>23 October 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9ED8F5-F0EE-4F30-BF79-1CB5FF8C36DA}" type="slidenum">
              <a:rPr lang="en-US" smtClean="0"/>
              <a:pPr/>
              <a:t>‹#›</a:t>
            </a:fld>
            <a:endParaRPr lang="en-US"/>
          </a:p>
        </p:txBody>
      </p:sp>
    </p:spTree>
    <p:extLst>
      <p:ext uri="{BB962C8B-B14F-4D97-AF65-F5344CB8AC3E}">
        <p14:creationId xmlns:p14="http://schemas.microsoft.com/office/powerpoint/2010/main" val="2581109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C3A67FC-A416-4D48-BFB8-9AD7B7DE0930}" type="datetime3">
              <a:rPr lang="en-US" smtClean="0"/>
              <a:t>23 October 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E9ED8F5-F0EE-4F30-BF79-1CB5FF8C36DA}" type="slidenum">
              <a:rPr lang="en-US" smtClean="0"/>
              <a:pPr/>
              <a:t>‹#›</a:t>
            </a:fld>
            <a:endParaRPr lang="en-US"/>
          </a:p>
        </p:txBody>
      </p:sp>
    </p:spTree>
    <p:extLst>
      <p:ext uri="{BB962C8B-B14F-4D97-AF65-F5344CB8AC3E}">
        <p14:creationId xmlns:p14="http://schemas.microsoft.com/office/powerpoint/2010/main" val="194910255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hatis.techtarget.com/definition/queu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br>
              <a:rPr lang="en-US"/>
            </a:br>
            <a:r>
              <a:rPr lang="en-US"/>
              <a:t>CSC351-Operating </a:t>
            </a:r>
            <a:r>
              <a:rPr lang="en-US" dirty="0"/>
              <a:t>System</a:t>
            </a:r>
            <a:br>
              <a:rPr lang="en-US" sz="4400" dirty="0"/>
            </a:br>
            <a:r>
              <a:rPr lang="en-US" sz="4400" dirty="0"/>
              <a:t>					Week-1		Lecture-2</a:t>
            </a:r>
            <a:br>
              <a:rPr lang="en-US" sz="4400" dirty="0"/>
            </a:br>
            <a:r>
              <a:rPr lang="en-US" sz="4400" dirty="0"/>
              <a:t>										</a:t>
            </a:r>
            <a:r>
              <a:rPr lang="en-US" sz="2800"/>
              <a:t>Semester 05</a:t>
            </a:r>
            <a:endParaRPr lang="en-US" sz="2800" dirty="0"/>
          </a:p>
        </p:txBody>
      </p:sp>
      <p:sp>
        <p:nvSpPr>
          <p:cNvPr id="3" name="Subtitle 2"/>
          <p:cNvSpPr>
            <a:spLocks noGrp="1"/>
          </p:cNvSpPr>
          <p:nvPr>
            <p:ph type="subTitle" idx="1"/>
          </p:nvPr>
        </p:nvSpPr>
        <p:spPr/>
        <p:txBody>
          <a:bodyPr>
            <a:normAutofit/>
          </a:bodyPr>
          <a:lstStyle/>
          <a:p>
            <a:pPr lvl="8" algn="l"/>
            <a:r>
              <a:rPr lang="en-US" dirty="0">
                <a:latin typeface="Arial" panose="020B0604020202020204" pitchFamily="34" charset="0"/>
                <a:cs typeface="Arial" panose="020B0604020202020204" pitchFamily="34" charset="0"/>
              </a:rPr>
              <a:t>						Prepared by:</a:t>
            </a:r>
          </a:p>
          <a:p>
            <a:pPr lvl="8" algn="l"/>
            <a:r>
              <a:rPr lang="en-US" dirty="0">
                <a:latin typeface="Arial" panose="020B0604020202020204" pitchFamily="34" charset="0"/>
                <a:cs typeface="Arial" panose="020B0604020202020204" pitchFamily="34" charset="0"/>
              </a:rPr>
              <a:t>							M. Shoaib</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extLst>
      <p:ext uri="{BB962C8B-B14F-4D97-AF65-F5344CB8AC3E}">
        <p14:creationId xmlns:p14="http://schemas.microsoft.com/office/powerpoint/2010/main" val="275308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6869638-93A3-4D2A-B4C0-BA6506819728}"/>
              </a:ext>
            </a:extLst>
          </p:cNvPr>
          <p:cNvSpPr>
            <a:spLocks noGrp="1"/>
          </p:cNvSpPr>
          <p:nvPr>
            <p:ph type="title"/>
          </p:nvPr>
        </p:nvSpPr>
        <p:spPr/>
        <p:txBody>
          <a:bodyPr/>
          <a:lstStyle/>
          <a:p>
            <a:r>
              <a:rPr lang="en-US" altLang="en-US" dirty="0"/>
              <a:t>Agenda for today</a:t>
            </a:r>
          </a:p>
        </p:txBody>
      </p:sp>
      <p:sp>
        <p:nvSpPr>
          <p:cNvPr id="24579" name="Content Placeholder 2">
            <a:extLst>
              <a:ext uri="{FF2B5EF4-FFF2-40B4-BE49-F238E27FC236}">
                <a16:creationId xmlns:a16="http://schemas.microsoft.com/office/drawing/2014/main" id="{0AAA4B0D-B002-486D-BC51-42C6018CDD9B}"/>
              </a:ext>
            </a:extLst>
          </p:cNvPr>
          <p:cNvSpPr>
            <a:spLocks noGrp="1"/>
          </p:cNvSpPr>
          <p:nvPr>
            <p:ph idx="1"/>
          </p:nvPr>
        </p:nvSpPr>
        <p:spPr>
          <a:xfrm>
            <a:off x="1166885" y="2448756"/>
            <a:ext cx="8019317" cy="3416300"/>
          </a:xfrm>
        </p:spPr>
        <p:txBody>
          <a:bodyPr>
            <a:normAutofit lnSpcReduction="10000"/>
          </a:bodyPr>
          <a:lstStyle/>
          <a:p>
            <a:pPr>
              <a:buFont typeface="Century Gothic" panose="020B0502020202020204" pitchFamily="34" charset="0"/>
              <a:buChar char="►"/>
            </a:pPr>
            <a:r>
              <a:rPr lang="en-US" altLang="zh-TW" sz="1800" dirty="0">
                <a:ea typeface="新細明體" panose="02020500000000000000" pitchFamily="18" charset="-120"/>
              </a:rPr>
              <a:t>Single-user systems</a:t>
            </a:r>
          </a:p>
          <a:p>
            <a:pPr>
              <a:buFont typeface="Century Gothic" panose="020B0502020202020204" pitchFamily="34" charset="0"/>
              <a:buChar char="►"/>
            </a:pPr>
            <a:r>
              <a:rPr lang="en-US" altLang="zh-TW" sz="1800" dirty="0">
                <a:ea typeface="新細明體" panose="02020500000000000000" pitchFamily="18" charset="-120"/>
              </a:rPr>
              <a:t>Batch systems</a:t>
            </a:r>
          </a:p>
          <a:p>
            <a:pPr>
              <a:buFont typeface="Century Gothic" panose="020B0502020202020204" pitchFamily="34" charset="0"/>
              <a:buChar char="►"/>
            </a:pPr>
            <a:r>
              <a:rPr lang="en-US" altLang="zh-TW" sz="1800" dirty="0">
                <a:ea typeface="新細明體" panose="02020500000000000000" pitchFamily="18" charset="-120"/>
              </a:rPr>
              <a:t>Multiprogram systems</a:t>
            </a:r>
          </a:p>
          <a:p>
            <a:pPr>
              <a:buFont typeface="Century Gothic" panose="020B0502020202020204" pitchFamily="34" charset="0"/>
              <a:buChar char="►"/>
            </a:pPr>
            <a:r>
              <a:rPr lang="en-US" altLang="zh-TW" sz="1800" dirty="0">
                <a:ea typeface="新細明體" panose="02020500000000000000" pitchFamily="18" charset="-120"/>
              </a:rPr>
              <a:t>Time-sharing systems</a:t>
            </a:r>
          </a:p>
          <a:p>
            <a:pPr>
              <a:buFont typeface="Century Gothic" panose="020B0502020202020204" pitchFamily="34" charset="0"/>
              <a:buChar char="►"/>
            </a:pPr>
            <a:r>
              <a:rPr lang="en-US" altLang="zh-TW" dirty="0">
                <a:ea typeface="新細明體" panose="02020500000000000000" pitchFamily="18" charset="-120"/>
              </a:rPr>
              <a:t>Distributed systems</a:t>
            </a:r>
            <a:endParaRPr lang="en-US" altLang="zh-TW" sz="1800" dirty="0">
              <a:ea typeface="新細明體" panose="02020500000000000000" pitchFamily="18" charset="-120"/>
            </a:endParaRPr>
          </a:p>
          <a:p>
            <a:pPr>
              <a:buFont typeface="Century Gothic" panose="020B0502020202020204" pitchFamily="34" charset="0"/>
              <a:buChar char="►"/>
            </a:pPr>
            <a:r>
              <a:rPr lang="en-US" altLang="zh-TW" sz="1800" dirty="0">
                <a:ea typeface="新細明體" panose="02020500000000000000" pitchFamily="18" charset="-120"/>
              </a:rPr>
              <a:t>Real-time systems</a:t>
            </a:r>
          </a:p>
          <a:p>
            <a:pPr>
              <a:buFont typeface="Century Gothic" panose="020B0502020202020204" pitchFamily="34" charset="0"/>
              <a:buChar char="►"/>
            </a:pPr>
            <a:r>
              <a:rPr lang="en-US" altLang="zh-TW" sz="1800" dirty="0">
                <a:ea typeface="新細明體" panose="02020500000000000000" pitchFamily="18" charset="-120"/>
              </a:rPr>
              <a:t>Mobile OS</a:t>
            </a:r>
          </a:p>
          <a:p>
            <a:pPr>
              <a:buFont typeface="Century Gothic" panose="020B0502020202020204" pitchFamily="34" charset="0"/>
              <a:buChar char="►"/>
            </a:pPr>
            <a:r>
              <a:rPr lang="en-US" altLang="zh-TW" sz="1800" dirty="0">
                <a:ea typeface="新細明體" panose="02020500000000000000" pitchFamily="18" charset="-120"/>
              </a:rPr>
              <a:t>Interrupts, traps, and signals</a:t>
            </a:r>
          </a:p>
          <a:p>
            <a:pPr>
              <a:buFont typeface="Century Gothic" panose="020B0502020202020204" pitchFamily="34" charset="0"/>
              <a:buChar char="►"/>
            </a:pPr>
            <a:r>
              <a:rPr lang="en-US" altLang="zh-TW" sz="1800" dirty="0">
                <a:ea typeface="新細明體" panose="02020500000000000000" pitchFamily="18" charset="-120"/>
              </a:rPr>
              <a:t>CPU, I/O, and memory protection </a:t>
            </a:r>
            <a:r>
              <a:rPr lang="en-US" altLang="en-US" dirty="0"/>
              <a:t>Interactive</a:t>
            </a:r>
          </a:p>
          <a:p>
            <a:pPr>
              <a:buFont typeface="Century Gothic" panose="020B0502020202020204" pitchFamily="34" charset="0"/>
              <a:buChar char="►"/>
            </a:pPr>
            <a:endParaRPr lang="en-US" altLang="zh-TW" sz="1800" dirty="0">
              <a:ea typeface="新細明體" panose="02020500000000000000" pitchFamily="18" charset="-120"/>
            </a:endParaRPr>
          </a:p>
          <a:p>
            <a:pPr>
              <a:buFont typeface="Century Gothic" panose="020B0502020202020204" pitchFamily="34" charset="0"/>
              <a:buChar char="►"/>
            </a:pPr>
            <a:endParaRPr lang="en-US" altLang="zh-TW" sz="1800" b="1" dirty="0">
              <a:ea typeface="新細明體" panose="02020500000000000000" pitchFamily="18" charset="-120"/>
            </a:endParaRPr>
          </a:p>
          <a:p>
            <a:pPr>
              <a:buFont typeface="Century Gothic" panose="020B0502020202020204" pitchFamily="34" charset="0"/>
              <a:buChar char="►"/>
            </a:pPr>
            <a:endParaRPr lang="en-US" altLang="zh-TW" sz="1800" dirty="0">
              <a:ea typeface="新細明體" panose="02020500000000000000" pitchFamily="18" charset="-120"/>
            </a:endParaRPr>
          </a:p>
          <a:p>
            <a:pPr>
              <a:buFont typeface="Century Gothic" panose="020B0502020202020204" pitchFamily="34" charset="0"/>
              <a:buChar char="►"/>
            </a:pPr>
            <a:endParaRPr lang="en-US" altLang="zh-TW" sz="1800" dirty="0">
              <a:ea typeface="新細明體" panose="02020500000000000000" pitchFamily="18" charset="-120"/>
            </a:endParaRPr>
          </a:p>
          <a:p>
            <a:pPr>
              <a:buFont typeface="Century Gothic" panose="020B0502020202020204" pitchFamily="34" charset="0"/>
              <a:buChar char="►"/>
            </a:pPr>
            <a:endParaRPr lang="en-US" altLang="zh-TW" sz="1800" b="1" dirty="0">
              <a:ea typeface="新細明體" panose="02020500000000000000" pitchFamily="18" charset="-120"/>
            </a:endParaRPr>
          </a:p>
          <a:p>
            <a:pPr>
              <a:buFont typeface="Century Gothic" panose="020B0502020202020204" pitchFamily="34" charset="0"/>
              <a:buChar char="►"/>
            </a:pPr>
            <a:endParaRPr lang="en-US" altLang="en-US" dirty="0"/>
          </a:p>
          <a:p>
            <a:pPr>
              <a:buFont typeface="Century Gothic" panose="020B0502020202020204" pitchFamily="34" charset="0"/>
              <a:buChar char="►"/>
            </a:pPr>
            <a:endParaRPr lang="en-US" altLang="en-US" dirty="0"/>
          </a:p>
          <a:p>
            <a:endParaRPr lang="en-US" altLang="en-US" dirty="0"/>
          </a:p>
        </p:txBody>
      </p:sp>
      <p:sp>
        <p:nvSpPr>
          <p:cNvPr id="24580" name="Footer Placeholder 3">
            <a:extLst>
              <a:ext uri="{FF2B5EF4-FFF2-40B4-BE49-F238E27FC236}">
                <a16:creationId xmlns:a16="http://schemas.microsoft.com/office/drawing/2014/main" id="{E49B2831-C9A7-4458-9FE0-F3B4A80C48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4581" name="Slide Number Placeholder 4">
            <a:extLst>
              <a:ext uri="{FF2B5EF4-FFF2-40B4-BE49-F238E27FC236}">
                <a16:creationId xmlns:a16="http://schemas.microsoft.com/office/drawing/2014/main" id="{A43D1D17-A983-4B26-ABC5-A40BB65CEA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6B9F-B091-4FF5-9265-9C363262C19F}" type="slidenum">
              <a:rPr lang="en-US" altLang="en-US">
                <a:solidFill>
                  <a:schemeClr val="bg1"/>
                </a:solidFill>
              </a:rPr>
              <a:pPr/>
              <a:t>2</a:t>
            </a:fld>
            <a:endParaRPr lang="en-US" altLang="en-US">
              <a:solidFill>
                <a:schemeClr val="bg1"/>
              </a:solidFill>
            </a:endParaRPr>
          </a:p>
        </p:txBody>
      </p:sp>
    </p:spTree>
    <p:extLst>
      <p:ext uri="{BB962C8B-B14F-4D97-AF65-F5344CB8AC3E}">
        <p14:creationId xmlns:p14="http://schemas.microsoft.com/office/powerpoint/2010/main" val="3412971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6869638-93A3-4D2A-B4C0-BA6506819728}"/>
              </a:ext>
            </a:extLst>
          </p:cNvPr>
          <p:cNvSpPr>
            <a:spLocks noGrp="1"/>
          </p:cNvSpPr>
          <p:nvPr>
            <p:ph type="title"/>
          </p:nvPr>
        </p:nvSpPr>
        <p:spPr/>
        <p:txBody>
          <a:bodyPr/>
          <a:lstStyle/>
          <a:p>
            <a:r>
              <a:rPr lang="en-US" altLang="en-US" dirty="0"/>
              <a:t>Single user operating systems</a:t>
            </a:r>
          </a:p>
        </p:txBody>
      </p:sp>
      <p:sp>
        <p:nvSpPr>
          <p:cNvPr id="24579" name="Content Placeholder 2">
            <a:extLst>
              <a:ext uri="{FF2B5EF4-FFF2-40B4-BE49-F238E27FC236}">
                <a16:creationId xmlns:a16="http://schemas.microsoft.com/office/drawing/2014/main" id="{0AAA4B0D-B002-486D-BC51-42C6018CDD9B}"/>
              </a:ext>
            </a:extLst>
          </p:cNvPr>
          <p:cNvSpPr>
            <a:spLocks noGrp="1"/>
          </p:cNvSpPr>
          <p:nvPr>
            <p:ph idx="1"/>
          </p:nvPr>
        </p:nvSpPr>
        <p:spPr>
          <a:xfrm>
            <a:off x="561110" y="2603500"/>
            <a:ext cx="10629629" cy="3416300"/>
          </a:xfrm>
        </p:spPr>
        <p:txBody>
          <a:bodyPr>
            <a:normAutofit/>
          </a:bodyPr>
          <a:lstStyle/>
          <a:p>
            <a:pPr>
              <a:buFont typeface="Century Gothic" panose="020B0502020202020204" pitchFamily="34" charset="0"/>
              <a:buChar char="►"/>
            </a:pPr>
            <a:r>
              <a:rPr lang="en-US" altLang="en-US" i="1" dirty="0"/>
              <a:t>Personal computers</a:t>
            </a:r>
            <a:r>
              <a:rPr lang="en-US" altLang="en-US" dirty="0"/>
              <a:t> – computer system dedicated to a single user.(many but 1 at a time)</a:t>
            </a:r>
          </a:p>
          <a:p>
            <a:pPr marL="0" indent="0">
              <a:buNone/>
            </a:pPr>
            <a:endParaRPr lang="en-US" altLang="en-US" dirty="0"/>
          </a:p>
          <a:p>
            <a:pPr>
              <a:buFont typeface="Century Gothic" panose="020B0502020202020204" pitchFamily="34" charset="0"/>
              <a:buChar char="►"/>
            </a:pPr>
            <a:r>
              <a:rPr lang="en-US" altLang="en-US" b="1" dirty="0">
                <a:solidFill>
                  <a:srgbClr val="FFC000"/>
                </a:solidFill>
              </a:rPr>
              <a:t>Interactive</a:t>
            </a:r>
            <a:r>
              <a:rPr lang="en-US" altLang="en-US" dirty="0"/>
              <a:t>(Accepting input from a human. Interactive computer systems are programs that allow users to enter data or commands.</a:t>
            </a:r>
            <a:r>
              <a:rPr lang="en-US" altLang="en-US" dirty="0">
                <a:solidFill>
                  <a:srgbClr val="FFC000"/>
                </a:solidFill>
              </a:rPr>
              <a:t> </a:t>
            </a:r>
            <a:r>
              <a:rPr lang="en-US" altLang="en-US" b="1" dirty="0">
                <a:solidFill>
                  <a:srgbClr val="FFC000"/>
                </a:solidFill>
              </a:rPr>
              <a:t>Most popular programs, such as word processors and spreadsheet </a:t>
            </a:r>
            <a:r>
              <a:rPr lang="en-US" altLang="en-US" dirty="0"/>
              <a:t>applications, are interactive. </a:t>
            </a:r>
          </a:p>
          <a:p>
            <a:pPr>
              <a:buFont typeface="Century Gothic" panose="020B0502020202020204" pitchFamily="34" charset="0"/>
              <a:buChar char="►"/>
            </a:pPr>
            <a:endParaRPr lang="en-US" altLang="en-US" dirty="0"/>
          </a:p>
          <a:p>
            <a:pPr>
              <a:buFont typeface="Century Gothic" panose="020B0502020202020204" pitchFamily="34" charset="0"/>
              <a:buChar char="►"/>
            </a:pPr>
            <a:r>
              <a:rPr lang="en-US" altLang="en-US" dirty="0"/>
              <a:t>A </a:t>
            </a:r>
            <a:r>
              <a:rPr lang="en-US" altLang="en-US" b="1" dirty="0">
                <a:solidFill>
                  <a:srgbClr val="FFC000"/>
                </a:solidFill>
              </a:rPr>
              <a:t>non interactive </a:t>
            </a:r>
            <a:r>
              <a:rPr lang="en-US" altLang="en-US" dirty="0"/>
              <a:t>program is one that, when started, continues without requiring human contact. A </a:t>
            </a:r>
            <a:r>
              <a:rPr lang="en-US" altLang="en-US" b="1" dirty="0">
                <a:solidFill>
                  <a:srgbClr val="FFC000"/>
                </a:solidFill>
              </a:rPr>
              <a:t>compiler</a:t>
            </a:r>
            <a:r>
              <a:rPr lang="en-US" altLang="en-US" dirty="0"/>
              <a:t> is a non interactive program)</a:t>
            </a:r>
          </a:p>
          <a:p>
            <a:pPr>
              <a:buFont typeface="Century Gothic" panose="020B0502020202020204" pitchFamily="34" charset="0"/>
              <a:buChar char="►"/>
            </a:pPr>
            <a:r>
              <a:rPr lang="en-US" altLang="en-US" dirty="0"/>
              <a:t>User convenience and responsiveness.</a:t>
            </a:r>
          </a:p>
          <a:p>
            <a:endParaRPr lang="en-US" altLang="en-US" dirty="0"/>
          </a:p>
        </p:txBody>
      </p:sp>
      <p:sp>
        <p:nvSpPr>
          <p:cNvPr id="24580" name="Footer Placeholder 3">
            <a:extLst>
              <a:ext uri="{FF2B5EF4-FFF2-40B4-BE49-F238E27FC236}">
                <a16:creationId xmlns:a16="http://schemas.microsoft.com/office/drawing/2014/main" id="{E49B2831-C9A7-4458-9FE0-F3B4A80C48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4581" name="Slide Number Placeholder 4">
            <a:extLst>
              <a:ext uri="{FF2B5EF4-FFF2-40B4-BE49-F238E27FC236}">
                <a16:creationId xmlns:a16="http://schemas.microsoft.com/office/drawing/2014/main" id="{A43D1D17-A983-4B26-ABC5-A40BB65CEA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6B9F-B091-4FF5-9265-9C363262C19F}" type="slidenum">
              <a:rPr lang="en-US" altLang="en-US">
                <a:solidFill>
                  <a:schemeClr val="bg1"/>
                </a:solidFill>
              </a:rPr>
              <a:pPr/>
              <a:t>3</a:t>
            </a:fld>
            <a:endParaRPr lang="en-US" altLang="en-US">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6869638-93A3-4D2A-B4C0-BA6506819728}"/>
              </a:ext>
            </a:extLst>
          </p:cNvPr>
          <p:cNvSpPr>
            <a:spLocks noGrp="1"/>
          </p:cNvSpPr>
          <p:nvPr>
            <p:ph type="title"/>
          </p:nvPr>
        </p:nvSpPr>
        <p:spPr/>
        <p:txBody>
          <a:bodyPr/>
          <a:lstStyle/>
          <a:p>
            <a:r>
              <a:rPr lang="en-US" altLang="en-US" dirty="0"/>
              <a:t>Single &amp; Multi user Operating systems</a:t>
            </a:r>
          </a:p>
        </p:txBody>
      </p:sp>
      <p:sp>
        <p:nvSpPr>
          <p:cNvPr id="24580" name="Footer Placeholder 3">
            <a:extLst>
              <a:ext uri="{FF2B5EF4-FFF2-40B4-BE49-F238E27FC236}">
                <a16:creationId xmlns:a16="http://schemas.microsoft.com/office/drawing/2014/main" id="{E49B2831-C9A7-4458-9FE0-F3B4A80C48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4581" name="Slide Number Placeholder 4">
            <a:extLst>
              <a:ext uri="{FF2B5EF4-FFF2-40B4-BE49-F238E27FC236}">
                <a16:creationId xmlns:a16="http://schemas.microsoft.com/office/drawing/2014/main" id="{A43D1D17-A983-4B26-ABC5-A40BB65CEA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6B9F-B091-4FF5-9265-9C363262C19F}" type="slidenum">
              <a:rPr lang="en-US" altLang="en-US">
                <a:solidFill>
                  <a:schemeClr val="bg1"/>
                </a:solidFill>
              </a:rPr>
              <a:pPr/>
              <a:t>4</a:t>
            </a:fld>
            <a:endParaRPr lang="en-US" altLang="en-US">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607942332"/>
              </p:ext>
            </p:extLst>
          </p:nvPr>
        </p:nvGraphicFramePr>
        <p:xfrm>
          <a:off x="561110" y="2286518"/>
          <a:ext cx="11311341" cy="4176892"/>
        </p:xfrm>
        <a:graphic>
          <a:graphicData uri="http://schemas.openxmlformats.org/drawingml/2006/table">
            <a:tbl>
              <a:tblPr>
                <a:tableStyleId>{5940675A-B579-460E-94D1-54222C63F5DA}</a:tableStyleId>
              </a:tblPr>
              <a:tblGrid>
                <a:gridCol w="2295052">
                  <a:extLst>
                    <a:ext uri="{9D8B030D-6E8A-4147-A177-3AD203B41FA5}">
                      <a16:colId xmlns:a16="http://schemas.microsoft.com/office/drawing/2014/main" val="1913623448"/>
                    </a:ext>
                  </a:extLst>
                </a:gridCol>
                <a:gridCol w="4881547">
                  <a:extLst>
                    <a:ext uri="{9D8B030D-6E8A-4147-A177-3AD203B41FA5}">
                      <a16:colId xmlns:a16="http://schemas.microsoft.com/office/drawing/2014/main" val="3341840052"/>
                    </a:ext>
                  </a:extLst>
                </a:gridCol>
                <a:gridCol w="4134742">
                  <a:extLst>
                    <a:ext uri="{9D8B030D-6E8A-4147-A177-3AD203B41FA5}">
                      <a16:colId xmlns:a16="http://schemas.microsoft.com/office/drawing/2014/main" val="2225983759"/>
                    </a:ext>
                  </a:extLst>
                </a:gridCol>
              </a:tblGrid>
              <a:tr h="397704">
                <a:tc>
                  <a:txBody>
                    <a:bodyPr/>
                    <a:lstStyle/>
                    <a:p>
                      <a:r>
                        <a:rPr lang="en-US" sz="1800" b="1" dirty="0">
                          <a:latin typeface="Times New Roman" panose="02020603050405020304" pitchFamily="18" charset="0"/>
                          <a:cs typeface="Times New Roman" panose="02020603050405020304" pitchFamily="18" charset="0"/>
                        </a:rPr>
                        <a:t>Feature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Single-User Operating System</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Multi-User Operating System</a:t>
                      </a:r>
                    </a:p>
                  </a:txBody>
                  <a:tcPr marL="48117" marR="48117" marT="24058" marB="24058" anchor="ctr"/>
                </a:tc>
                <a:extLst>
                  <a:ext uri="{0D108BD9-81ED-4DB2-BD59-A6C34878D82A}">
                    <a16:rowId xmlns:a16="http://schemas.microsoft.com/office/drawing/2014/main" val="1237804150"/>
                  </a:ext>
                </a:extLst>
              </a:tr>
              <a:tr h="397704">
                <a:tc>
                  <a:txBody>
                    <a:bodyPr/>
                    <a:lstStyle/>
                    <a:p>
                      <a:r>
                        <a:rPr lang="en-US" sz="1800" b="1" dirty="0">
                          <a:latin typeface="Times New Roman" panose="02020603050405020304" pitchFamily="18" charset="0"/>
                          <a:cs typeface="Times New Roman" panose="02020603050405020304" pitchFamily="18" charset="0"/>
                        </a:rPr>
                        <a:t>Number of Users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Supports only one user at a time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Supports multiple users simultaneously</a:t>
                      </a:r>
                    </a:p>
                  </a:txBody>
                  <a:tcPr marL="48117" marR="48117" marT="24058" marB="24058" anchor="ctr"/>
                </a:tc>
                <a:extLst>
                  <a:ext uri="{0D108BD9-81ED-4DB2-BD59-A6C34878D82A}">
                    <a16:rowId xmlns:a16="http://schemas.microsoft.com/office/drawing/2014/main" val="1389028162"/>
                  </a:ext>
                </a:extLst>
              </a:tr>
              <a:tr h="582111">
                <a:tc>
                  <a:txBody>
                    <a:bodyPr/>
                    <a:lstStyle/>
                    <a:p>
                      <a:r>
                        <a:rPr lang="en-US" sz="1800" b="1" dirty="0">
                          <a:latin typeface="Times New Roman" panose="02020603050405020304" pitchFamily="18" charset="0"/>
                          <a:cs typeface="Times New Roman" panose="02020603050405020304" pitchFamily="18" charset="0"/>
                        </a:rPr>
                        <a:t>Resource Sharing</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No sharing – all resources used by one person</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Resources (CPU, memory, storage) are shared among users</a:t>
                      </a:r>
                    </a:p>
                  </a:txBody>
                  <a:tcPr marL="48117" marR="48117" marT="24058" marB="24058" anchor="ctr"/>
                </a:tc>
                <a:extLst>
                  <a:ext uri="{0D108BD9-81ED-4DB2-BD59-A6C34878D82A}">
                    <a16:rowId xmlns:a16="http://schemas.microsoft.com/office/drawing/2014/main" val="1686259214"/>
                  </a:ext>
                </a:extLst>
              </a:tr>
              <a:tr h="582111">
                <a:tc>
                  <a:txBody>
                    <a:bodyPr/>
                    <a:lstStyle/>
                    <a:p>
                      <a:r>
                        <a:rPr lang="en-US" sz="1800" b="1" dirty="0">
                          <a:latin typeface="Times New Roman" panose="02020603050405020304" pitchFamily="18" charset="0"/>
                          <a:cs typeface="Times New Roman" panose="02020603050405020304" pitchFamily="18" charset="0"/>
                        </a:rPr>
                        <a:t>Complexity</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Simple and easy to use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More complex, requires advanced management</a:t>
                      </a:r>
                    </a:p>
                  </a:txBody>
                  <a:tcPr marL="48117" marR="48117" marT="24058" marB="24058" anchor="ctr"/>
                </a:tc>
                <a:extLst>
                  <a:ext uri="{0D108BD9-81ED-4DB2-BD59-A6C34878D82A}">
                    <a16:rowId xmlns:a16="http://schemas.microsoft.com/office/drawing/2014/main" val="609522394"/>
                  </a:ext>
                </a:extLst>
              </a:tr>
              <a:tr h="582111">
                <a:tc>
                  <a:txBody>
                    <a:bodyPr/>
                    <a:lstStyle/>
                    <a:p>
                      <a:r>
                        <a:rPr lang="en-US" sz="1800" b="1" dirty="0">
                          <a:latin typeface="Times New Roman" panose="02020603050405020304" pitchFamily="18" charset="0"/>
                          <a:cs typeface="Times New Roman" panose="02020603050405020304" pitchFamily="18" charset="0"/>
                        </a:rPr>
                        <a:t>Examples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MS-DOS, Windows (personal editions), macOS, Android, iOS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UNIX, Linux (server editions), Windows Server, Mainframes</a:t>
                      </a:r>
                    </a:p>
                  </a:txBody>
                  <a:tcPr marL="48117" marR="48117" marT="24058" marB="24058" anchor="ctr"/>
                </a:tc>
                <a:extLst>
                  <a:ext uri="{0D108BD9-81ED-4DB2-BD59-A6C34878D82A}">
                    <a16:rowId xmlns:a16="http://schemas.microsoft.com/office/drawing/2014/main" val="2937249283"/>
                  </a:ext>
                </a:extLst>
              </a:tr>
              <a:tr h="582111">
                <a:tc>
                  <a:txBody>
                    <a:bodyPr/>
                    <a:lstStyle/>
                    <a:p>
                      <a:r>
                        <a:rPr lang="en-US" sz="1800" b="1" dirty="0">
                          <a:latin typeface="Times New Roman" panose="02020603050405020304" pitchFamily="18" charset="0"/>
                          <a:cs typeface="Times New Roman" panose="02020603050405020304" pitchFamily="18" charset="0"/>
                        </a:rPr>
                        <a:t>Cost</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Generally cheaper</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More expensive (requires stronger hardware &amp; licensing)</a:t>
                      </a:r>
                    </a:p>
                  </a:txBody>
                  <a:tcPr marL="48117" marR="48117" marT="24058" marB="24058" anchor="ctr"/>
                </a:tc>
                <a:extLst>
                  <a:ext uri="{0D108BD9-81ED-4DB2-BD59-A6C34878D82A}">
                    <a16:rowId xmlns:a16="http://schemas.microsoft.com/office/drawing/2014/main" val="3828093113"/>
                  </a:ext>
                </a:extLst>
              </a:tr>
              <a:tr h="582111">
                <a:tc>
                  <a:txBody>
                    <a:bodyPr/>
                    <a:lstStyle/>
                    <a:p>
                      <a:r>
                        <a:rPr lang="en-US" sz="1800" b="1" dirty="0">
                          <a:latin typeface="Times New Roman" panose="02020603050405020304" pitchFamily="18" charset="0"/>
                          <a:cs typeface="Times New Roman" panose="02020603050405020304" pitchFamily="18" charset="0"/>
                        </a:rPr>
                        <a:t>Performance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Optimized for a single user’s tasks</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Performance depends on resource allocation among users</a:t>
                      </a:r>
                    </a:p>
                  </a:txBody>
                  <a:tcPr marL="48117" marR="48117" marT="24058" marB="24058" anchor="ctr"/>
                </a:tc>
                <a:extLst>
                  <a:ext uri="{0D108BD9-81ED-4DB2-BD59-A6C34878D82A}">
                    <a16:rowId xmlns:a16="http://schemas.microsoft.com/office/drawing/2014/main" val="4166350801"/>
                  </a:ext>
                </a:extLst>
              </a:tr>
              <a:tr h="397704">
                <a:tc>
                  <a:txBody>
                    <a:bodyPr/>
                    <a:lstStyle/>
                    <a:p>
                      <a:r>
                        <a:rPr lang="en-US" sz="1800" b="1" dirty="0">
                          <a:latin typeface="Times New Roman" panose="02020603050405020304" pitchFamily="18" charset="0"/>
                          <a:cs typeface="Times New Roman" panose="02020603050405020304" pitchFamily="18" charset="0"/>
                        </a:rPr>
                        <a:t>Use Case</a:t>
                      </a:r>
                    </a:p>
                  </a:txBody>
                  <a:tcPr marL="48117" marR="48117" marT="24058" marB="24058" anchor="ctr"/>
                </a:tc>
                <a:tc>
                  <a:txBody>
                    <a:bodyPr/>
                    <a:lstStyle/>
                    <a:p>
                      <a:r>
                        <a:rPr lang="en-US" sz="1800">
                          <a:latin typeface="Times New Roman" panose="02020603050405020304" pitchFamily="18" charset="0"/>
                          <a:cs typeface="Times New Roman" panose="02020603050405020304" pitchFamily="18" charset="0"/>
                        </a:rPr>
                        <a:t>Personal computers, laptops, smartphones</a:t>
                      </a:r>
                    </a:p>
                  </a:txBody>
                  <a:tcPr marL="48117" marR="48117" marT="24058" marB="24058" anchor="ctr"/>
                </a:tc>
                <a:tc>
                  <a:txBody>
                    <a:bodyPr/>
                    <a:lstStyle/>
                    <a:p>
                      <a:r>
                        <a:rPr lang="en-US" sz="1800" dirty="0">
                          <a:latin typeface="Times New Roman" panose="02020603050405020304" pitchFamily="18" charset="0"/>
                          <a:cs typeface="Times New Roman" panose="02020603050405020304" pitchFamily="18" charset="0"/>
                        </a:rPr>
                        <a:t>Servers, mainframes, enterprise systems</a:t>
                      </a:r>
                    </a:p>
                  </a:txBody>
                  <a:tcPr marL="48117" marR="48117" marT="24058" marB="24058" anchor="ctr"/>
                </a:tc>
                <a:extLst>
                  <a:ext uri="{0D108BD9-81ED-4DB2-BD59-A6C34878D82A}">
                    <a16:rowId xmlns:a16="http://schemas.microsoft.com/office/drawing/2014/main" val="2936678824"/>
                  </a:ext>
                </a:extLst>
              </a:tr>
            </a:tbl>
          </a:graphicData>
        </a:graphic>
      </p:graphicFrame>
    </p:spTree>
    <p:extLst>
      <p:ext uri="{BB962C8B-B14F-4D97-AF65-F5344CB8AC3E}">
        <p14:creationId xmlns:p14="http://schemas.microsoft.com/office/powerpoint/2010/main" val="2765962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D47C02F-545F-45BF-A367-6E91FF9EE42F}"/>
              </a:ext>
            </a:extLst>
          </p:cNvPr>
          <p:cNvSpPr>
            <a:spLocks noGrp="1"/>
          </p:cNvSpPr>
          <p:nvPr>
            <p:ph type="title"/>
          </p:nvPr>
        </p:nvSpPr>
        <p:spPr/>
        <p:txBody>
          <a:bodyPr/>
          <a:lstStyle/>
          <a:p>
            <a:r>
              <a:rPr lang="en-US" altLang="en-US" dirty="0"/>
              <a:t>Batch Operating systems</a:t>
            </a:r>
          </a:p>
        </p:txBody>
      </p:sp>
      <p:sp>
        <p:nvSpPr>
          <p:cNvPr id="3" name="Content Placeholder 2">
            <a:extLst>
              <a:ext uri="{FF2B5EF4-FFF2-40B4-BE49-F238E27FC236}">
                <a16:creationId xmlns:a16="http://schemas.microsoft.com/office/drawing/2014/main" id="{296C3B82-6166-4F2E-8794-E2FC85796C9E}"/>
              </a:ext>
            </a:extLst>
          </p:cNvPr>
          <p:cNvSpPr>
            <a:spLocks noGrp="1"/>
          </p:cNvSpPr>
          <p:nvPr>
            <p:ph idx="1"/>
          </p:nvPr>
        </p:nvSpPr>
        <p:spPr>
          <a:xfrm>
            <a:off x="658368" y="2474914"/>
            <a:ext cx="10972799" cy="3862387"/>
          </a:xfrm>
        </p:spPr>
        <p:txBody>
          <a:bodyPr>
            <a:normAutofit lnSpcReduction="10000"/>
          </a:bodyPr>
          <a:lstStyle/>
          <a:p>
            <a:pPr algn="just">
              <a:buFont typeface="Century Gothic" pitchFamily="34" charset="0"/>
              <a:buChar char="►"/>
              <a:defRPr/>
            </a:pPr>
            <a:r>
              <a:rPr lang="en-US" dirty="0"/>
              <a:t>First Fundamental system.</a:t>
            </a:r>
          </a:p>
          <a:p>
            <a:pPr algn="just">
              <a:buFont typeface="Century Gothic" pitchFamily="34" charset="0"/>
              <a:buChar char="►"/>
              <a:defRPr/>
            </a:pPr>
            <a:r>
              <a:rPr lang="en-US" dirty="0"/>
              <a:t>User </a:t>
            </a:r>
            <a:r>
              <a:rPr lang="en-US" dirty="0">
                <a:sym typeface="Symbol" pitchFamily="18" charset="2"/>
              </a:rPr>
              <a:t> operator</a:t>
            </a:r>
          </a:p>
          <a:p>
            <a:pPr algn="just">
              <a:buFont typeface="Century Gothic" pitchFamily="34" charset="0"/>
              <a:buChar char="►"/>
              <a:defRPr/>
            </a:pPr>
            <a:r>
              <a:rPr lang="en-US" dirty="0">
                <a:sym typeface="Symbol" pitchFamily="18" charset="2"/>
              </a:rPr>
              <a:t>Reduce setup time by batching similar jobs</a:t>
            </a:r>
          </a:p>
          <a:p>
            <a:pPr algn="just">
              <a:buFont typeface="Century Gothic" pitchFamily="34" charset="0"/>
              <a:buChar char="►"/>
              <a:defRPr/>
            </a:pPr>
            <a:r>
              <a:rPr lang="en-US" dirty="0">
                <a:sym typeface="Symbol" pitchFamily="18" charset="2"/>
              </a:rPr>
              <a:t>Automatic job sequencing – automatically transfers control from one job to another.</a:t>
            </a:r>
          </a:p>
          <a:p>
            <a:pPr algn="just">
              <a:buFont typeface="Century Gothic" pitchFamily="34" charset="0"/>
              <a:buChar char="►"/>
              <a:defRPr/>
            </a:pPr>
            <a:r>
              <a:rPr lang="en-US" dirty="0">
                <a:sym typeface="Symbol" pitchFamily="18" charset="2"/>
              </a:rPr>
              <a:t> Resident monitor :</a:t>
            </a:r>
          </a:p>
          <a:p>
            <a:pPr lvl="1" algn="just">
              <a:buFont typeface="Century Gothic" pitchFamily="34" charset="0"/>
              <a:buChar char="►"/>
              <a:defRPr/>
            </a:pPr>
            <a:r>
              <a:rPr lang="en-US" sz="1800" dirty="0"/>
              <a:t>initial control in monitor </a:t>
            </a:r>
          </a:p>
          <a:p>
            <a:pPr lvl="1" algn="just">
              <a:buFont typeface="Century Gothic" pitchFamily="34" charset="0"/>
              <a:buChar char="►"/>
              <a:defRPr/>
            </a:pPr>
            <a:r>
              <a:rPr lang="en-US" sz="1800" dirty="0"/>
              <a:t>control transfers to job </a:t>
            </a:r>
          </a:p>
          <a:p>
            <a:pPr lvl="1">
              <a:buFont typeface="Century Gothic" pitchFamily="34" charset="0"/>
              <a:buChar char="►"/>
              <a:defRPr/>
            </a:pPr>
            <a:r>
              <a:rPr lang="en-US" sz="1800" dirty="0"/>
              <a:t>when job completes </a:t>
            </a:r>
          </a:p>
          <a:p>
            <a:pPr lvl="1">
              <a:buFont typeface="Century Gothic" pitchFamily="34" charset="0"/>
              <a:buChar char="►"/>
              <a:defRPr/>
            </a:pPr>
            <a:r>
              <a:rPr lang="en-US" sz="1800" dirty="0"/>
              <a:t>control transfers back to monitor</a:t>
            </a:r>
          </a:p>
          <a:p>
            <a:pPr marL="457200" lvl="1" indent="0" algn="ctr">
              <a:buNone/>
              <a:defRPr/>
            </a:pPr>
            <a:r>
              <a:rPr lang="en-US" sz="1800" b="1" dirty="0"/>
              <a:t>User → Batch Jobs → Batch OS → Execution (Output)</a:t>
            </a:r>
          </a:p>
          <a:p>
            <a:pPr>
              <a:defRPr/>
            </a:pPr>
            <a:endParaRPr lang="en-US" dirty="0"/>
          </a:p>
        </p:txBody>
      </p:sp>
      <p:sp>
        <p:nvSpPr>
          <p:cNvPr id="25604" name="Footer Placeholder 3">
            <a:extLst>
              <a:ext uri="{FF2B5EF4-FFF2-40B4-BE49-F238E27FC236}">
                <a16:creationId xmlns:a16="http://schemas.microsoft.com/office/drawing/2014/main" id="{22655298-CDD1-4ADF-9A27-2995C03ECE2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5605" name="Slide Number Placeholder 4">
            <a:extLst>
              <a:ext uri="{FF2B5EF4-FFF2-40B4-BE49-F238E27FC236}">
                <a16:creationId xmlns:a16="http://schemas.microsoft.com/office/drawing/2014/main" id="{C9EC2E86-266D-4E7F-8FE6-EB592F37A75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72FABCA-AB8F-4F70-872F-93194783A259}" type="slidenum">
              <a:rPr lang="en-US" altLang="en-US">
                <a:solidFill>
                  <a:schemeClr val="bg1"/>
                </a:solidFill>
              </a:rPr>
              <a:pPr/>
              <a:t>5</a:t>
            </a:fld>
            <a:endParaRPr lang="en-US" altLang="en-US">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28E0BB5-FE33-4691-824F-630F36FD508F}"/>
              </a:ext>
            </a:extLst>
          </p:cNvPr>
          <p:cNvSpPr>
            <a:spLocks noGrp="1"/>
          </p:cNvSpPr>
          <p:nvPr>
            <p:ph type="title"/>
          </p:nvPr>
        </p:nvSpPr>
        <p:spPr/>
        <p:txBody>
          <a:bodyPr/>
          <a:lstStyle/>
          <a:p>
            <a:r>
              <a:rPr lang="en-US" altLang="en-US"/>
              <a:t>Memory layout of batch systems</a:t>
            </a:r>
          </a:p>
        </p:txBody>
      </p:sp>
      <p:sp>
        <p:nvSpPr>
          <p:cNvPr id="26627" name="Footer Placeholder 3">
            <a:extLst>
              <a:ext uri="{FF2B5EF4-FFF2-40B4-BE49-F238E27FC236}">
                <a16:creationId xmlns:a16="http://schemas.microsoft.com/office/drawing/2014/main" id="{55FE59F8-96DD-4E2A-BAC1-C438B4A2684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6628" name="Slide Number Placeholder 4">
            <a:extLst>
              <a:ext uri="{FF2B5EF4-FFF2-40B4-BE49-F238E27FC236}">
                <a16:creationId xmlns:a16="http://schemas.microsoft.com/office/drawing/2014/main" id="{F2ED7E90-C8E0-45C1-8787-B02ABD5A4DC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78ADA7-0FE5-40C6-A57A-897BF6D8B4D8}" type="slidenum">
              <a:rPr lang="en-US" altLang="en-US">
                <a:solidFill>
                  <a:schemeClr val="bg1"/>
                </a:solidFill>
              </a:rPr>
              <a:pPr/>
              <a:t>6</a:t>
            </a:fld>
            <a:endParaRPr lang="en-US" altLang="en-US">
              <a:solidFill>
                <a:schemeClr val="bg1"/>
              </a:solidFill>
            </a:endParaRPr>
          </a:p>
        </p:txBody>
      </p:sp>
      <p:pic>
        <p:nvPicPr>
          <p:cNvPr id="6" name="Picture 3">
            <a:extLst>
              <a:ext uri="{FF2B5EF4-FFF2-40B4-BE49-F238E27FC236}">
                <a16:creationId xmlns:a16="http://schemas.microsoft.com/office/drawing/2014/main" id="{83704CC9-8BF3-48D2-B868-46D8ABE08240}"/>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28365" t="1007" r="28203" b="806"/>
          <a:stretch>
            <a:fillRect/>
          </a:stretch>
        </p:blipFill>
        <p:spPr>
          <a:xfrm>
            <a:off x="1154954" y="2544506"/>
            <a:ext cx="1890712" cy="3416300"/>
          </a:xfrm>
        </p:spPr>
      </p:pic>
      <p:sp>
        <p:nvSpPr>
          <p:cNvPr id="4" name="TextBox 3"/>
          <p:cNvSpPr txBox="1"/>
          <p:nvPr/>
        </p:nvSpPr>
        <p:spPr>
          <a:xfrm>
            <a:off x="3261360" y="2948918"/>
            <a:ext cx="5958840" cy="369332"/>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OS in upper part</a:t>
            </a:r>
            <a:r>
              <a:rPr lang="en-US" altLang="en-US" dirty="0">
                <a:latin typeface="Arial" panose="020B0604020202020204" pitchFamily="34" charset="0"/>
              </a:rPr>
              <a:t> → controls the system.</a:t>
            </a:r>
          </a:p>
        </p:txBody>
      </p:sp>
      <p:sp>
        <p:nvSpPr>
          <p:cNvPr id="9" name="TextBox 8"/>
          <p:cNvSpPr txBox="1"/>
          <p:nvPr/>
        </p:nvSpPr>
        <p:spPr>
          <a:xfrm>
            <a:off x="3261360" y="4754220"/>
            <a:ext cx="5958840" cy="369332"/>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User program area</a:t>
            </a:r>
            <a:r>
              <a:rPr lang="en-US" altLang="en-US" dirty="0">
                <a:latin typeface="Arial" panose="020B0604020202020204" pitchFamily="34" charset="0"/>
              </a:rPr>
              <a:t> → executes user applications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D377231-0983-4605-8646-195FFE17128E}"/>
              </a:ext>
            </a:extLst>
          </p:cNvPr>
          <p:cNvSpPr>
            <a:spLocks noGrp="1"/>
          </p:cNvSpPr>
          <p:nvPr>
            <p:ph type="title"/>
          </p:nvPr>
        </p:nvSpPr>
        <p:spPr/>
        <p:txBody>
          <a:bodyPr/>
          <a:lstStyle/>
          <a:p>
            <a:r>
              <a:rPr lang="en-US" altLang="en-US"/>
              <a:t>Batch system (conti…)</a:t>
            </a:r>
          </a:p>
        </p:txBody>
      </p:sp>
      <p:sp>
        <p:nvSpPr>
          <p:cNvPr id="27651" name="Footer Placeholder 3">
            <a:extLst>
              <a:ext uri="{FF2B5EF4-FFF2-40B4-BE49-F238E27FC236}">
                <a16:creationId xmlns:a16="http://schemas.microsoft.com/office/drawing/2014/main" id="{921AD917-7226-49F3-8960-371A4FD9327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7652" name="Slide Number Placeholder 4">
            <a:extLst>
              <a:ext uri="{FF2B5EF4-FFF2-40B4-BE49-F238E27FC236}">
                <a16:creationId xmlns:a16="http://schemas.microsoft.com/office/drawing/2014/main" id="{7C3F1DD9-857D-4F49-BE37-C2CB926751C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2C7BF1-0F5F-49BA-AA3E-E84B7276FF51}" type="slidenum">
              <a:rPr lang="en-US" altLang="en-US">
                <a:solidFill>
                  <a:schemeClr val="bg1"/>
                </a:solidFill>
              </a:rPr>
              <a:pPr/>
              <a:t>7</a:t>
            </a:fld>
            <a:endParaRPr lang="en-US" altLang="en-US">
              <a:solidFill>
                <a:schemeClr val="bg1"/>
              </a:solidFill>
            </a:endParaRPr>
          </a:p>
        </p:txBody>
      </p:sp>
      <p:pic>
        <p:nvPicPr>
          <p:cNvPr id="27653" name="Picture 2" descr="../_images/batch.png">
            <a:extLst>
              <a:ext uri="{FF2B5EF4-FFF2-40B4-BE49-F238E27FC236}">
                <a16:creationId xmlns:a16="http://schemas.microsoft.com/office/drawing/2014/main" id="{2C0B30B1-D781-4054-9E3A-94729B2603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08363" y="2609850"/>
            <a:ext cx="5619750" cy="29464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36CF21D-1C0D-4798-A79D-AD4A9ED12930}"/>
              </a:ext>
            </a:extLst>
          </p:cNvPr>
          <p:cNvSpPr>
            <a:spLocks noGrp="1"/>
          </p:cNvSpPr>
          <p:nvPr>
            <p:ph type="title"/>
          </p:nvPr>
        </p:nvSpPr>
        <p:spPr>
          <a:xfrm>
            <a:off x="1154954" y="627496"/>
            <a:ext cx="8761413" cy="1091106"/>
          </a:xfrm>
        </p:spPr>
        <p:txBody>
          <a:bodyPr/>
          <a:lstStyle/>
          <a:p>
            <a:r>
              <a:rPr lang="en-US" altLang="en-US" dirty="0"/>
              <a:t>Multi-programmed systems (non preemptive)</a:t>
            </a:r>
          </a:p>
        </p:txBody>
      </p:sp>
      <p:sp>
        <p:nvSpPr>
          <p:cNvPr id="28675" name="Content Placeholder 2">
            <a:extLst>
              <a:ext uri="{FF2B5EF4-FFF2-40B4-BE49-F238E27FC236}">
                <a16:creationId xmlns:a16="http://schemas.microsoft.com/office/drawing/2014/main" id="{9915E6D2-3E39-45FD-B068-5B985B073FA8}"/>
              </a:ext>
            </a:extLst>
          </p:cNvPr>
          <p:cNvSpPr>
            <a:spLocks noGrp="1"/>
          </p:cNvSpPr>
          <p:nvPr>
            <p:ph idx="1"/>
          </p:nvPr>
        </p:nvSpPr>
        <p:spPr>
          <a:xfrm>
            <a:off x="457200" y="2451100"/>
            <a:ext cx="8839200" cy="3416300"/>
          </a:xfrm>
        </p:spPr>
        <p:txBody>
          <a:bodyPr/>
          <a:lstStyle/>
          <a:p>
            <a:r>
              <a:rPr lang="en-US" b="0" i="0" dirty="0">
                <a:solidFill>
                  <a:srgbClr val="000000"/>
                </a:solidFill>
                <a:effectLst/>
                <a:latin typeface="Arial" panose="020B0604020202020204" pitchFamily="34" charset="0"/>
              </a:rPr>
              <a:t>Sharing the processor, when two or more programs reside in memory at the same time, is referred as </a:t>
            </a:r>
            <a:r>
              <a:rPr lang="en-US" b="1" i="0" dirty="0">
                <a:solidFill>
                  <a:srgbClr val="000000"/>
                </a:solidFill>
                <a:effectLst/>
                <a:latin typeface="Arial" panose="020B0604020202020204" pitchFamily="34" charset="0"/>
              </a:rPr>
              <a:t>multiprogramming</a:t>
            </a:r>
          </a:p>
          <a:p>
            <a:r>
              <a:rPr lang="en-US" b="0" i="0" dirty="0">
                <a:solidFill>
                  <a:srgbClr val="000000"/>
                </a:solidFill>
                <a:effectLst/>
                <a:latin typeface="Arial" panose="020B0604020202020204" pitchFamily="34" charset="0"/>
              </a:rPr>
              <a:t>Multiprogramming increases CPU utilization by organizing jobs so that the CPU always has one to execute.</a:t>
            </a:r>
            <a:endParaRPr lang="en-US" altLang="en-US" dirty="0"/>
          </a:p>
          <a:p>
            <a:r>
              <a:rPr lang="en-US" altLang="en-US" dirty="0"/>
              <a:t> </a:t>
            </a:r>
            <a:r>
              <a:rPr lang="en-US" altLang="en-US" dirty="0">
                <a:solidFill>
                  <a:srgbClr val="000000"/>
                </a:solidFill>
                <a:latin typeface="Arial" panose="020B0604020202020204" pitchFamily="34" charset="0"/>
              </a:rPr>
              <a:t>Several jobs are kept in main memory at the same time, and the CPU is multiplexed among them</a:t>
            </a:r>
            <a:r>
              <a:rPr lang="en-US" altLang="en-US" dirty="0"/>
              <a:t>. </a:t>
            </a:r>
          </a:p>
          <a:p>
            <a:r>
              <a:rPr lang="en-US" b="0" i="0" dirty="0">
                <a:solidFill>
                  <a:srgbClr val="000000"/>
                </a:solidFill>
                <a:effectLst/>
                <a:latin typeface="Arial" panose="020B0604020202020204" pitchFamily="34" charset="0"/>
              </a:rPr>
              <a:t>Multiprogramming operating systems monitor the state of all active programs and system resources using memory management programs to ensures that the CPU is never idle, unless there are no jobs to process.</a:t>
            </a:r>
            <a:endParaRPr lang="en-US" altLang="en-US" dirty="0"/>
          </a:p>
        </p:txBody>
      </p:sp>
      <p:sp>
        <p:nvSpPr>
          <p:cNvPr id="28676" name="Footer Placeholder 3">
            <a:extLst>
              <a:ext uri="{FF2B5EF4-FFF2-40B4-BE49-F238E27FC236}">
                <a16:creationId xmlns:a16="http://schemas.microsoft.com/office/drawing/2014/main" id="{522C88AD-6720-49DA-8601-2F8310CAFFF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8677" name="Slide Number Placeholder 4">
            <a:extLst>
              <a:ext uri="{FF2B5EF4-FFF2-40B4-BE49-F238E27FC236}">
                <a16:creationId xmlns:a16="http://schemas.microsoft.com/office/drawing/2014/main" id="{34417BD9-FEA5-4593-A446-5BBC4DB1D52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E3CC91D-C194-4F09-8C56-8B48D3225343}" type="slidenum">
              <a:rPr lang="en-US" altLang="en-US">
                <a:solidFill>
                  <a:schemeClr val="bg1"/>
                </a:solidFill>
              </a:rPr>
              <a:pPr/>
              <a:t>8</a:t>
            </a:fld>
            <a:endParaRPr lang="en-US" altLang="en-US">
              <a:solidFill>
                <a:schemeClr val="bg1"/>
              </a:solidFill>
            </a:endParaRPr>
          </a:p>
        </p:txBody>
      </p:sp>
      <p:pic>
        <p:nvPicPr>
          <p:cNvPr id="6" name="Picture 4">
            <a:extLst>
              <a:ext uri="{FF2B5EF4-FFF2-40B4-BE49-F238E27FC236}">
                <a16:creationId xmlns:a16="http://schemas.microsoft.com/office/drawing/2014/main" id="{DDDF3260-A70F-497E-9F29-C914E9B1AB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421" t="934" r="25233" b="934"/>
          <a:stretch>
            <a:fillRect/>
          </a:stretch>
        </p:blipFill>
        <p:spPr bwMode="auto">
          <a:xfrm>
            <a:off x="9569450" y="2457450"/>
            <a:ext cx="2222500" cy="368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2FB3FD8-07D7-4DC8-BA71-4DE5156190B4}"/>
              </a:ext>
            </a:extLst>
          </p:cNvPr>
          <p:cNvSpPr>
            <a:spLocks noGrp="1"/>
          </p:cNvSpPr>
          <p:nvPr>
            <p:ph type="title"/>
          </p:nvPr>
        </p:nvSpPr>
        <p:spPr/>
        <p:txBody>
          <a:bodyPr/>
          <a:lstStyle/>
          <a:p>
            <a:r>
              <a:rPr lang="en-US" altLang="en-US"/>
              <a:t>Multiprogrammed Systems</a:t>
            </a:r>
          </a:p>
        </p:txBody>
      </p:sp>
      <p:sp>
        <p:nvSpPr>
          <p:cNvPr id="29699" name="Content Placeholder 2">
            <a:extLst>
              <a:ext uri="{FF2B5EF4-FFF2-40B4-BE49-F238E27FC236}">
                <a16:creationId xmlns:a16="http://schemas.microsoft.com/office/drawing/2014/main" id="{E89B1ED7-CE68-422C-846C-F3614A9698FC}"/>
              </a:ext>
            </a:extLst>
          </p:cNvPr>
          <p:cNvSpPr>
            <a:spLocks noGrp="1"/>
          </p:cNvSpPr>
          <p:nvPr>
            <p:ph idx="1"/>
          </p:nvPr>
        </p:nvSpPr>
        <p:spPr>
          <a:xfrm>
            <a:off x="2390775" y="2603500"/>
            <a:ext cx="6618288" cy="628650"/>
          </a:xfrm>
        </p:spPr>
        <p:txBody>
          <a:bodyPr>
            <a:normAutofit lnSpcReduction="10000"/>
          </a:bodyPr>
          <a:lstStyle/>
          <a:p>
            <a:r>
              <a:rPr lang="en-US" altLang="en-US" b="1">
                <a:solidFill>
                  <a:schemeClr val="tx1"/>
                </a:solidFill>
              </a:rPr>
              <a:t>Example:</a:t>
            </a:r>
            <a:r>
              <a:rPr lang="en-US" altLang="en-US">
                <a:solidFill>
                  <a:schemeClr val="tx1"/>
                </a:solidFill>
              </a:rPr>
              <a:t> Two processes P1 and P2 with CPU and I/O bursts of one time unit each</a:t>
            </a:r>
          </a:p>
          <a:p>
            <a:endParaRPr lang="en-US" altLang="en-US">
              <a:solidFill>
                <a:schemeClr val="tx1"/>
              </a:solidFill>
            </a:endParaRPr>
          </a:p>
        </p:txBody>
      </p:sp>
      <p:sp>
        <p:nvSpPr>
          <p:cNvPr id="29700" name="Footer Placeholder 3">
            <a:extLst>
              <a:ext uri="{FF2B5EF4-FFF2-40B4-BE49-F238E27FC236}">
                <a16:creationId xmlns:a16="http://schemas.microsoft.com/office/drawing/2014/main" id="{19AE4AB1-066F-4633-8832-C278F6119E4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29701" name="Slide Number Placeholder 4">
            <a:extLst>
              <a:ext uri="{FF2B5EF4-FFF2-40B4-BE49-F238E27FC236}">
                <a16:creationId xmlns:a16="http://schemas.microsoft.com/office/drawing/2014/main" id="{FA0C4E88-83A5-4E31-A775-B299D3B8F5A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CE8837-EF36-450C-B9A0-6BED5E2DB09A}" type="slidenum">
              <a:rPr lang="en-US" altLang="en-US">
                <a:solidFill>
                  <a:schemeClr val="bg1"/>
                </a:solidFill>
              </a:rPr>
              <a:pPr/>
              <a:t>9</a:t>
            </a:fld>
            <a:endParaRPr lang="en-US" altLang="en-US">
              <a:solidFill>
                <a:schemeClr val="bg1"/>
              </a:solidFill>
            </a:endParaRPr>
          </a:p>
        </p:txBody>
      </p:sp>
      <p:pic>
        <p:nvPicPr>
          <p:cNvPr id="6" name="Picture 4">
            <a:extLst>
              <a:ext uri="{FF2B5EF4-FFF2-40B4-BE49-F238E27FC236}">
                <a16:creationId xmlns:a16="http://schemas.microsoft.com/office/drawing/2014/main" id="{B20D9B16-A2AF-4A96-9C60-DFF5F17446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0076" y="5140325"/>
            <a:ext cx="56165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E5ECBF70-E09F-42F2-B4F1-DEFFA12ED7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9076" y="3622676"/>
            <a:ext cx="622617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93592DEC-6ACE-4C61-BED1-A5EB02552F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0076" y="4432301"/>
            <a:ext cx="56927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3ED5843-C5A3-4B7E-B823-DDCB49F05DD8}"/>
              </a:ext>
            </a:extLst>
          </p:cNvPr>
          <p:cNvSpPr>
            <a:spLocks noGrp="1"/>
          </p:cNvSpPr>
          <p:nvPr>
            <p:ph type="title"/>
          </p:nvPr>
        </p:nvSpPr>
        <p:spPr/>
        <p:txBody>
          <a:bodyPr/>
          <a:lstStyle/>
          <a:p>
            <a:r>
              <a:rPr lang="en-US" altLang="en-US"/>
              <a:t>Os features needed for Multiprogramming</a:t>
            </a:r>
          </a:p>
        </p:txBody>
      </p:sp>
      <p:sp>
        <p:nvSpPr>
          <p:cNvPr id="30723" name="Content Placeholder 2">
            <a:extLst>
              <a:ext uri="{FF2B5EF4-FFF2-40B4-BE49-F238E27FC236}">
                <a16:creationId xmlns:a16="http://schemas.microsoft.com/office/drawing/2014/main" id="{486C76BD-B715-45DC-BAB3-8D774792BCA7}"/>
              </a:ext>
            </a:extLst>
          </p:cNvPr>
          <p:cNvSpPr>
            <a:spLocks noGrp="1"/>
          </p:cNvSpPr>
          <p:nvPr>
            <p:ph idx="1"/>
          </p:nvPr>
        </p:nvSpPr>
        <p:spPr>
          <a:xfrm>
            <a:off x="457200" y="2603500"/>
            <a:ext cx="4332289" cy="3308350"/>
          </a:xfrm>
        </p:spPr>
        <p:txBody>
          <a:bodyPr/>
          <a:lstStyle/>
          <a:p>
            <a:pPr>
              <a:buFont typeface="Century Gothic" panose="020B0502020202020204" pitchFamily="34" charset="0"/>
              <a:buChar char="►"/>
            </a:pPr>
            <a:r>
              <a:rPr lang="en-US" altLang="en-US" dirty="0"/>
              <a:t>Spooling (Simultaneous Peripheral Operation On-Line)(put job in buffer)</a:t>
            </a:r>
          </a:p>
          <a:p>
            <a:pPr>
              <a:buFont typeface="Century Gothic" panose="020B0502020202020204" pitchFamily="34" charset="0"/>
              <a:buChar char="►"/>
            </a:pPr>
            <a:r>
              <a:rPr lang="en-US" altLang="en-US" dirty="0"/>
              <a:t>Memory management </a:t>
            </a:r>
          </a:p>
          <a:p>
            <a:pPr>
              <a:buFont typeface="Century Gothic" panose="020B0502020202020204" pitchFamily="34" charset="0"/>
              <a:buChar char="►"/>
            </a:pPr>
            <a:r>
              <a:rPr lang="en-US" altLang="en-US" dirty="0"/>
              <a:t>CPU scheduling</a:t>
            </a:r>
          </a:p>
          <a:p>
            <a:endParaRPr lang="en-US" altLang="en-US" dirty="0"/>
          </a:p>
        </p:txBody>
      </p:sp>
      <p:sp>
        <p:nvSpPr>
          <p:cNvPr id="30724" name="Footer Placeholder 3">
            <a:extLst>
              <a:ext uri="{FF2B5EF4-FFF2-40B4-BE49-F238E27FC236}">
                <a16:creationId xmlns:a16="http://schemas.microsoft.com/office/drawing/2014/main" id="{F06EEB2E-4A5E-4221-A528-7321A509785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0725" name="Slide Number Placeholder 4">
            <a:extLst>
              <a:ext uri="{FF2B5EF4-FFF2-40B4-BE49-F238E27FC236}">
                <a16:creationId xmlns:a16="http://schemas.microsoft.com/office/drawing/2014/main" id="{86F5014C-75C6-4964-8B27-18CFE4DBEE9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D6984A6-7A65-4643-B50B-B9A3BB38E462}" type="slidenum">
              <a:rPr lang="en-US" altLang="en-US">
                <a:solidFill>
                  <a:schemeClr val="bg1"/>
                </a:solidFill>
              </a:rPr>
              <a:pPr/>
              <a:t>10</a:t>
            </a:fld>
            <a:endParaRPr lang="en-US" altLang="en-US">
              <a:solidFill>
                <a:schemeClr val="bg1"/>
              </a:solidFill>
            </a:endParaRPr>
          </a:p>
        </p:txBody>
      </p:sp>
      <p:pic>
        <p:nvPicPr>
          <p:cNvPr id="30726" name="Picture 5">
            <a:extLst>
              <a:ext uri="{FF2B5EF4-FFF2-40B4-BE49-F238E27FC236}">
                <a16:creationId xmlns:a16="http://schemas.microsoft.com/office/drawing/2014/main" id="{30F6AB33-26D0-46BE-9DF7-8F18111E3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9113" y="2736850"/>
            <a:ext cx="41910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0AC3809-39AA-49EF-AE04-C67EB5433E44}"/>
              </a:ext>
            </a:extLst>
          </p:cNvPr>
          <p:cNvSpPr>
            <a:spLocks noGrp="1"/>
          </p:cNvSpPr>
          <p:nvPr>
            <p:ph type="title"/>
          </p:nvPr>
        </p:nvSpPr>
        <p:spPr/>
        <p:txBody>
          <a:bodyPr/>
          <a:lstStyle/>
          <a:p>
            <a:r>
              <a:rPr lang="en-US" altLang="en-US"/>
              <a:t>Time sharing systems</a:t>
            </a:r>
          </a:p>
        </p:txBody>
      </p:sp>
      <p:sp>
        <p:nvSpPr>
          <p:cNvPr id="31747" name="Content Placeholder 2">
            <a:extLst>
              <a:ext uri="{FF2B5EF4-FFF2-40B4-BE49-F238E27FC236}">
                <a16:creationId xmlns:a16="http://schemas.microsoft.com/office/drawing/2014/main" id="{FDA0772C-EFDD-437F-992A-EA6197B893A7}"/>
              </a:ext>
            </a:extLst>
          </p:cNvPr>
          <p:cNvSpPr>
            <a:spLocks noGrp="1"/>
          </p:cNvSpPr>
          <p:nvPr>
            <p:ph idx="1"/>
          </p:nvPr>
        </p:nvSpPr>
        <p:spPr>
          <a:xfrm>
            <a:off x="514350" y="2582864"/>
            <a:ext cx="6496049" cy="3417887"/>
          </a:xfrm>
        </p:spPr>
        <p:txBody>
          <a:bodyPr/>
          <a:lstStyle/>
          <a:p>
            <a:pPr algn="just">
              <a:buFont typeface="Century Gothic" panose="020B0502020202020204" pitchFamily="34" charset="0"/>
              <a:buChar char="►"/>
            </a:pPr>
            <a:r>
              <a:rPr lang="en-US" altLang="en-US" dirty="0"/>
              <a:t>A multi user and multi process system.</a:t>
            </a:r>
          </a:p>
          <a:p>
            <a:pPr algn="just">
              <a:buFont typeface="Century Gothic" panose="020B0502020202020204" pitchFamily="34" charset="0"/>
              <a:buChar char="►"/>
            </a:pPr>
            <a:r>
              <a:rPr lang="en-US" altLang="en-US" dirty="0"/>
              <a:t>An interactive system with multiprogramming</a:t>
            </a:r>
          </a:p>
          <a:p>
            <a:pPr algn="just">
              <a:buFont typeface="Century Gothic" panose="020B0502020202020204" pitchFamily="34" charset="0"/>
              <a:buChar char="►"/>
            </a:pPr>
            <a:r>
              <a:rPr lang="en-US" altLang="en-US" dirty="0"/>
              <a:t>To obtain a reasonable response time, jobs may have to be swapped in and out of main memory.</a:t>
            </a:r>
          </a:p>
          <a:p>
            <a:pPr algn="just">
              <a:buFont typeface="Century Gothic" panose="020B0502020202020204" pitchFamily="34" charset="0"/>
              <a:buChar char="►"/>
            </a:pPr>
            <a:r>
              <a:rPr lang="en-US" altLang="en-US" dirty="0"/>
              <a:t>UNIX, Linux, Widows NT server, and Windows 2000 server</a:t>
            </a:r>
          </a:p>
          <a:p>
            <a:endParaRPr lang="en-US" altLang="en-US" dirty="0"/>
          </a:p>
        </p:txBody>
      </p:sp>
      <p:sp>
        <p:nvSpPr>
          <p:cNvPr id="31748" name="Footer Placeholder 3">
            <a:extLst>
              <a:ext uri="{FF2B5EF4-FFF2-40B4-BE49-F238E27FC236}">
                <a16:creationId xmlns:a16="http://schemas.microsoft.com/office/drawing/2014/main" id="{3BEA34E9-24E5-47BF-965A-71DE1DF4621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1749" name="Slide Number Placeholder 4">
            <a:extLst>
              <a:ext uri="{FF2B5EF4-FFF2-40B4-BE49-F238E27FC236}">
                <a16:creationId xmlns:a16="http://schemas.microsoft.com/office/drawing/2014/main" id="{016620BD-2A12-4381-8694-A3DF514EE9A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EB8A35-EA3C-4311-9995-654B7D729B8A}" type="slidenum">
              <a:rPr lang="en-US" altLang="en-US">
                <a:solidFill>
                  <a:schemeClr val="bg1"/>
                </a:solidFill>
              </a:rPr>
              <a:pPr/>
              <a:t>11</a:t>
            </a:fld>
            <a:endParaRPr lang="en-US" altLang="en-US">
              <a:solidFill>
                <a:schemeClr val="bg1"/>
              </a:solidFill>
            </a:endParaRPr>
          </a:p>
        </p:txBody>
      </p:sp>
      <p:pic>
        <p:nvPicPr>
          <p:cNvPr id="31750" name="Picture 3">
            <a:extLst>
              <a:ext uri="{FF2B5EF4-FFF2-40B4-BE49-F238E27FC236}">
                <a16:creationId xmlns:a16="http://schemas.microsoft.com/office/drawing/2014/main" id="{4BF9D7E9-D574-42B7-94A0-024BD087F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7925" y="2457450"/>
            <a:ext cx="27432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B07A-72E1-4FBD-B5F4-2A51F733EA84}"/>
              </a:ext>
            </a:extLst>
          </p:cNvPr>
          <p:cNvSpPr>
            <a:spLocks noGrp="1"/>
          </p:cNvSpPr>
          <p:nvPr>
            <p:ph type="title"/>
          </p:nvPr>
        </p:nvSpPr>
        <p:spPr/>
        <p:txBody>
          <a:bodyPr/>
          <a:lstStyle/>
          <a:p>
            <a:r>
              <a:rPr lang="en-US" dirty="0"/>
              <a:t>Distributed Operating System</a:t>
            </a:r>
          </a:p>
        </p:txBody>
      </p:sp>
      <p:sp>
        <p:nvSpPr>
          <p:cNvPr id="3" name="Content Placeholder 2">
            <a:extLst>
              <a:ext uri="{FF2B5EF4-FFF2-40B4-BE49-F238E27FC236}">
                <a16:creationId xmlns:a16="http://schemas.microsoft.com/office/drawing/2014/main" id="{BD16BC62-5C8E-4926-90C2-0B79AA8590B9}"/>
              </a:ext>
            </a:extLst>
          </p:cNvPr>
          <p:cNvSpPr>
            <a:spLocks noGrp="1"/>
          </p:cNvSpPr>
          <p:nvPr>
            <p:ph idx="1"/>
          </p:nvPr>
        </p:nvSpPr>
        <p:spPr>
          <a:xfrm>
            <a:off x="552450" y="2298700"/>
            <a:ext cx="11029950" cy="4044950"/>
          </a:xfrm>
        </p:spPr>
        <p:txBody>
          <a:bodyPr/>
          <a:lstStyle/>
          <a:p>
            <a:r>
              <a:rPr lang="en-US" b="0" i="0" dirty="0">
                <a:solidFill>
                  <a:srgbClr val="333333"/>
                </a:solidFill>
                <a:effectLst/>
                <a:latin typeface="inter-regular"/>
              </a:rPr>
              <a:t>Distributed systems use many central processors to serve multiple real-time applications and users. As a result, data processing jobs are distributed between the processors.</a:t>
            </a:r>
          </a:p>
          <a:p>
            <a:r>
              <a:rPr lang="en-US" b="0" i="0" dirty="0">
                <a:solidFill>
                  <a:srgbClr val="333333"/>
                </a:solidFill>
                <a:effectLst/>
                <a:latin typeface="inter-regular"/>
              </a:rPr>
              <a:t>It connects multiple computers via a single communication channel. Furthermore, each of these systems has its own processor and memory.</a:t>
            </a:r>
          </a:p>
          <a:p>
            <a:r>
              <a:rPr lang="en-US" b="0" i="0" dirty="0">
                <a:solidFill>
                  <a:srgbClr val="333333"/>
                </a:solidFill>
                <a:effectLst/>
                <a:latin typeface="inter-regular"/>
              </a:rPr>
              <a:t> Additionally, these </a:t>
            </a:r>
            <a:r>
              <a:rPr lang="en-US" b="1" i="0" dirty="0">
                <a:solidFill>
                  <a:srgbClr val="333333"/>
                </a:solidFill>
                <a:effectLst/>
                <a:latin typeface="inter-bold"/>
              </a:rPr>
              <a:t>CPUs</a:t>
            </a:r>
            <a:r>
              <a:rPr lang="en-US" b="0" i="0" dirty="0">
                <a:solidFill>
                  <a:srgbClr val="333333"/>
                </a:solidFill>
                <a:effectLst/>
                <a:latin typeface="inter-regular"/>
              </a:rPr>
              <a:t> communicate via high-speed buses or telephone lines. Individual systems that communicate via a single channel are regarded as a single entity. They're also known as </a:t>
            </a:r>
            <a:r>
              <a:rPr lang="en-US" b="1" i="0" dirty="0">
                <a:solidFill>
                  <a:srgbClr val="333333"/>
                </a:solidFill>
                <a:effectLst/>
                <a:latin typeface="inter-bold"/>
              </a:rPr>
              <a:t>loosely coupled systems</a:t>
            </a:r>
            <a:r>
              <a:rPr lang="en-US" b="0" i="0" dirty="0">
                <a:solidFill>
                  <a:srgbClr val="333333"/>
                </a:solidFill>
                <a:effectLst/>
                <a:latin typeface="inter-regular"/>
              </a:rPr>
              <a:t>.</a:t>
            </a:r>
          </a:p>
          <a:p>
            <a:endParaRPr lang="en-US" dirty="0"/>
          </a:p>
        </p:txBody>
      </p:sp>
      <p:pic>
        <p:nvPicPr>
          <p:cNvPr id="1026" name="Picture 2" descr="Distributed Operating System">
            <a:extLst>
              <a:ext uri="{FF2B5EF4-FFF2-40B4-BE49-F238E27FC236}">
                <a16:creationId xmlns:a16="http://schemas.microsoft.com/office/drawing/2014/main" id="{F7CA0091-1EFF-4501-A1B7-46877BEE9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4286250"/>
            <a:ext cx="38195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397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D15A860A-27B4-442B-83BD-E04E5CF38510}"/>
              </a:ext>
            </a:extLst>
          </p:cNvPr>
          <p:cNvSpPr>
            <a:spLocks noGrp="1"/>
          </p:cNvSpPr>
          <p:nvPr>
            <p:ph type="title"/>
          </p:nvPr>
        </p:nvSpPr>
        <p:spPr/>
        <p:txBody>
          <a:bodyPr/>
          <a:lstStyle/>
          <a:p>
            <a:r>
              <a:rPr lang="en-US" altLang="en-US"/>
              <a:t>Real Time systems</a:t>
            </a:r>
          </a:p>
        </p:txBody>
      </p:sp>
      <p:sp>
        <p:nvSpPr>
          <p:cNvPr id="32771" name="Content Placeholder 2">
            <a:extLst>
              <a:ext uri="{FF2B5EF4-FFF2-40B4-BE49-F238E27FC236}">
                <a16:creationId xmlns:a16="http://schemas.microsoft.com/office/drawing/2014/main" id="{0E2D02D2-79C9-4AAE-AE61-3CE292F6A0F0}"/>
              </a:ext>
            </a:extLst>
          </p:cNvPr>
          <p:cNvSpPr>
            <a:spLocks noGrp="1"/>
          </p:cNvSpPr>
          <p:nvPr>
            <p:ph idx="1"/>
          </p:nvPr>
        </p:nvSpPr>
        <p:spPr>
          <a:xfrm>
            <a:off x="381001" y="2571750"/>
            <a:ext cx="11468100" cy="3752850"/>
          </a:xfrm>
        </p:spPr>
        <p:txBody>
          <a:bodyPr/>
          <a:lstStyle/>
          <a:p>
            <a:pPr algn="just">
              <a:buFont typeface="Century Gothic" panose="020B0502020202020204" pitchFamily="34" charset="0"/>
              <a:buChar char="►"/>
            </a:pPr>
            <a:r>
              <a:rPr lang="en-US" dirty="0"/>
              <a:t>A data processing system in which the time interval required to process and respond to inputs is so small that it controls the environment</a:t>
            </a:r>
          </a:p>
          <a:p>
            <a:pPr algn="just">
              <a:buFont typeface="Century Gothic" panose="020B0502020202020204" pitchFamily="34" charset="0"/>
              <a:buChar char="►"/>
            </a:pPr>
            <a:r>
              <a:rPr lang="en-US" dirty="0"/>
              <a:t>the time taken by the system to respond to an input and display of required updated information is termed as the response time</a:t>
            </a:r>
            <a:endParaRPr lang="en-US" altLang="en-US" dirty="0"/>
          </a:p>
          <a:p>
            <a:pPr algn="just">
              <a:buFont typeface="Century Gothic" panose="020B0502020202020204" pitchFamily="34" charset="0"/>
              <a:buChar char="►"/>
            </a:pPr>
            <a:r>
              <a:rPr lang="en-US" dirty="0"/>
              <a:t>A real-time operating system must have well-defined, fixed time constraints, otherwise the system will fail</a:t>
            </a:r>
            <a:r>
              <a:rPr lang="en-US" altLang="en-US" dirty="0"/>
              <a:t> such as controlling scientific experiments, medical imaging systems, industrial control systems, and some display systems. Plane landing. Ventilators.</a:t>
            </a:r>
          </a:p>
          <a:p>
            <a:pPr algn="just">
              <a:buFont typeface="Century Gothic" panose="020B0502020202020204" pitchFamily="34" charset="0"/>
              <a:buChar char="►"/>
            </a:pPr>
            <a:r>
              <a:rPr lang="en-US" altLang="en-US" dirty="0"/>
              <a:t>Real-Time systems may be either hard or soft real-time.</a:t>
            </a:r>
          </a:p>
          <a:p>
            <a:endParaRPr lang="en-US" altLang="en-US" dirty="0"/>
          </a:p>
        </p:txBody>
      </p:sp>
      <p:sp>
        <p:nvSpPr>
          <p:cNvPr id="32772" name="Footer Placeholder 3">
            <a:extLst>
              <a:ext uri="{FF2B5EF4-FFF2-40B4-BE49-F238E27FC236}">
                <a16:creationId xmlns:a16="http://schemas.microsoft.com/office/drawing/2014/main" id="{3D9D6F47-5480-4BAF-86F7-7425CF1AA47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2773" name="Slide Number Placeholder 4">
            <a:extLst>
              <a:ext uri="{FF2B5EF4-FFF2-40B4-BE49-F238E27FC236}">
                <a16:creationId xmlns:a16="http://schemas.microsoft.com/office/drawing/2014/main" id="{0F3D5E07-9956-4B52-BCDA-2D29A896E09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F36AE-A727-4CCC-9825-ECC90DC64F3D}" type="slidenum">
              <a:rPr lang="en-US" altLang="en-US">
                <a:solidFill>
                  <a:schemeClr val="bg1"/>
                </a:solidFill>
              </a:rPr>
              <a:pPr/>
              <a:t>13</a:t>
            </a:fld>
            <a:endParaRPr lang="en-US" altLang="en-US">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82318182-3F9A-4B47-BC0A-8F6130FA0DE4}"/>
              </a:ext>
            </a:extLst>
          </p:cNvPr>
          <p:cNvSpPr>
            <a:spLocks noGrp="1"/>
          </p:cNvSpPr>
          <p:nvPr>
            <p:ph type="title"/>
          </p:nvPr>
        </p:nvSpPr>
        <p:spPr/>
        <p:txBody>
          <a:bodyPr/>
          <a:lstStyle/>
          <a:p>
            <a:r>
              <a:rPr lang="en-US" altLang="en-US"/>
              <a:t>Real Time systems</a:t>
            </a:r>
          </a:p>
        </p:txBody>
      </p:sp>
      <p:sp>
        <p:nvSpPr>
          <p:cNvPr id="33795" name="Content Placeholder 2">
            <a:extLst>
              <a:ext uri="{FF2B5EF4-FFF2-40B4-BE49-F238E27FC236}">
                <a16:creationId xmlns:a16="http://schemas.microsoft.com/office/drawing/2014/main" id="{4163E4B0-E7CE-4A69-9BB1-1676AB1C5A5E}"/>
              </a:ext>
            </a:extLst>
          </p:cNvPr>
          <p:cNvSpPr>
            <a:spLocks noGrp="1"/>
          </p:cNvSpPr>
          <p:nvPr>
            <p:ph idx="1"/>
          </p:nvPr>
        </p:nvSpPr>
        <p:spPr>
          <a:xfrm>
            <a:off x="1330600" y="2643256"/>
            <a:ext cx="8761413" cy="3416300"/>
          </a:xfrm>
        </p:spPr>
        <p:txBody>
          <a:bodyPr/>
          <a:lstStyle/>
          <a:p>
            <a:pPr>
              <a:buClr>
                <a:srgbClr val="FFFF00"/>
              </a:buClr>
              <a:buFont typeface="Wingdings 3" panose="05040102010807070707" pitchFamily="18" charset="2"/>
              <a:buNone/>
            </a:pPr>
            <a:r>
              <a:rPr lang="en-US" altLang="en-US" dirty="0"/>
              <a:t>Hard real-time systems:</a:t>
            </a:r>
          </a:p>
          <a:p>
            <a:pPr lvl="1">
              <a:buFont typeface="Century Gothic" panose="020B0502020202020204" pitchFamily="34" charset="0"/>
              <a:buChar char="►"/>
            </a:pPr>
            <a:r>
              <a:rPr lang="en-US" altLang="en-US" dirty="0"/>
              <a:t>Secondary storage limited are absent, data stored in short term memory, or read-only memory (ROM).coz time is short</a:t>
            </a:r>
          </a:p>
          <a:p>
            <a:pPr lvl="1">
              <a:buFont typeface="Century Gothic" panose="020B0502020202020204" pitchFamily="34" charset="0"/>
              <a:buChar char="►"/>
            </a:pPr>
            <a:r>
              <a:rPr lang="en-US" altLang="en-US" dirty="0"/>
              <a:t>No virtual memory—time cannot be “wasted” on translation of logical to physical addresses.</a:t>
            </a:r>
          </a:p>
          <a:p>
            <a:pPr lvl="1">
              <a:buFont typeface="Century Gothic" panose="020B0502020202020204" pitchFamily="34" charset="0"/>
              <a:buChar char="►"/>
            </a:pPr>
            <a:r>
              <a:rPr lang="en-US" altLang="en-US" dirty="0"/>
              <a:t>OS code structured for efficiency</a:t>
            </a:r>
          </a:p>
          <a:p>
            <a:pPr lvl="1">
              <a:buFont typeface="Century Gothic" panose="020B0502020202020204" pitchFamily="34" charset="0"/>
              <a:buChar char="►"/>
            </a:pPr>
            <a:r>
              <a:rPr lang="en-US" altLang="en-US" dirty="0"/>
              <a:t>Plane landing systems, process control in nuclear power plants, ventilators, etc.</a:t>
            </a:r>
          </a:p>
          <a:p>
            <a:endParaRPr lang="en-US" altLang="en-US" dirty="0"/>
          </a:p>
        </p:txBody>
      </p:sp>
      <p:sp>
        <p:nvSpPr>
          <p:cNvPr id="33796" name="Footer Placeholder 3">
            <a:extLst>
              <a:ext uri="{FF2B5EF4-FFF2-40B4-BE49-F238E27FC236}">
                <a16:creationId xmlns:a16="http://schemas.microsoft.com/office/drawing/2014/main" id="{5BBDA577-C958-49AC-9982-DFD02947045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3797" name="Slide Number Placeholder 4">
            <a:extLst>
              <a:ext uri="{FF2B5EF4-FFF2-40B4-BE49-F238E27FC236}">
                <a16:creationId xmlns:a16="http://schemas.microsoft.com/office/drawing/2014/main" id="{0C4EC3C5-3DC9-4EDC-91EB-7CC1A385FBB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69FFF-C9B7-40C0-9DB2-03F0278AAB73}" type="slidenum">
              <a:rPr lang="en-US" altLang="en-US">
                <a:solidFill>
                  <a:schemeClr val="bg1"/>
                </a:solidFill>
              </a:rPr>
              <a:pPr/>
              <a:t>14</a:t>
            </a:fld>
            <a:endParaRPr lang="en-US" altLang="en-US">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714A2FF4-E7A2-4226-9A04-2EB71F59C2AB}"/>
              </a:ext>
            </a:extLst>
          </p:cNvPr>
          <p:cNvSpPr>
            <a:spLocks noGrp="1"/>
          </p:cNvSpPr>
          <p:nvPr>
            <p:ph type="title"/>
          </p:nvPr>
        </p:nvSpPr>
        <p:spPr/>
        <p:txBody>
          <a:bodyPr/>
          <a:lstStyle/>
          <a:p>
            <a:r>
              <a:rPr lang="en-US" altLang="en-US"/>
              <a:t>Real time systems (Cont..)</a:t>
            </a:r>
          </a:p>
        </p:txBody>
      </p:sp>
      <p:sp>
        <p:nvSpPr>
          <p:cNvPr id="34819" name="Content Placeholder 2">
            <a:extLst>
              <a:ext uri="{FF2B5EF4-FFF2-40B4-BE49-F238E27FC236}">
                <a16:creationId xmlns:a16="http://schemas.microsoft.com/office/drawing/2014/main" id="{83A2B315-50E9-41B1-8F72-3CE45C233706}"/>
              </a:ext>
            </a:extLst>
          </p:cNvPr>
          <p:cNvSpPr>
            <a:spLocks noGrp="1"/>
          </p:cNvSpPr>
          <p:nvPr>
            <p:ph idx="1"/>
          </p:nvPr>
        </p:nvSpPr>
        <p:spPr>
          <a:xfrm>
            <a:off x="520262" y="2603500"/>
            <a:ext cx="10405241" cy="3416300"/>
          </a:xfrm>
        </p:spPr>
        <p:txBody>
          <a:bodyPr/>
          <a:lstStyle/>
          <a:p>
            <a:pPr algn="just">
              <a:buClr>
                <a:srgbClr val="FFFF00"/>
              </a:buClr>
              <a:buFont typeface="Wingdings 3" panose="05040102010807070707" pitchFamily="18" charset="2"/>
              <a:buNone/>
            </a:pPr>
            <a:r>
              <a:rPr lang="en-US" altLang="en-US" dirty="0"/>
              <a:t>Soft real-time systems</a:t>
            </a:r>
          </a:p>
          <a:p>
            <a:pPr lvl="1" algn="just">
              <a:buFont typeface="Century Gothic" panose="020B0502020202020204" pitchFamily="34" charset="0"/>
              <a:buChar char="►"/>
            </a:pPr>
            <a:r>
              <a:rPr lang="en-US" altLang="en-US" sz="1800" dirty="0"/>
              <a:t>Output should be produced within the given time constraints but if it is not, </a:t>
            </a:r>
            <a:r>
              <a:rPr lang="en-US" sz="1800" dirty="0"/>
              <a:t>Missing the deadline may cause inconvenience, delay, or reduced performance, but it </a:t>
            </a:r>
            <a:r>
              <a:rPr lang="en-US" sz="1800" b="1" dirty="0"/>
              <a:t>won’t cause a disaster, injury, or system failure</a:t>
            </a:r>
            <a:r>
              <a:rPr lang="en-US" sz="1800" dirty="0"/>
              <a:t>.</a:t>
            </a:r>
          </a:p>
          <a:p>
            <a:pPr lvl="1" algn="just">
              <a:buFont typeface="Century Gothic" panose="020B0502020202020204" pitchFamily="34" charset="0"/>
              <a:buChar char="►"/>
            </a:pPr>
            <a:r>
              <a:rPr lang="en-US" altLang="en-US" sz="1800" dirty="0"/>
              <a:t>Useful in applications (Live Video Streaming) requiring advanced operating-system features</a:t>
            </a:r>
          </a:p>
          <a:p>
            <a:r>
              <a:rPr lang="en-US" dirty="0"/>
              <a:t>Mobile Communication</a:t>
            </a:r>
          </a:p>
          <a:p>
            <a:r>
              <a:rPr lang="en-US" dirty="0"/>
              <a:t>Music Playing Robots</a:t>
            </a:r>
          </a:p>
          <a:p>
            <a:r>
              <a:rPr lang="en-US" dirty="0"/>
              <a:t>Weather Station</a:t>
            </a:r>
          </a:p>
          <a:p>
            <a:pPr lvl="1" algn="just">
              <a:buFont typeface="Century Gothic" panose="020B0502020202020204" pitchFamily="34" charset="0"/>
              <a:buChar char="►"/>
            </a:pPr>
            <a:endParaRPr lang="en-US" altLang="en-US" sz="1800" dirty="0"/>
          </a:p>
        </p:txBody>
      </p:sp>
      <p:sp>
        <p:nvSpPr>
          <p:cNvPr id="34820" name="Footer Placeholder 3">
            <a:extLst>
              <a:ext uri="{FF2B5EF4-FFF2-40B4-BE49-F238E27FC236}">
                <a16:creationId xmlns:a16="http://schemas.microsoft.com/office/drawing/2014/main" id="{2B9B79CA-3089-42CB-B88E-69C205035BB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4821" name="Slide Number Placeholder 4">
            <a:extLst>
              <a:ext uri="{FF2B5EF4-FFF2-40B4-BE49-F238E27FC236}">
                <a16:creationId xmlns:a16="http://schemas.microsoft.com/office/drawing/2014/main" id="{2BE17A05-5952-47C5-9B55-A7BA2FC768E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7705E6-B13A-411A-A673-6C5668691719}" type="slidenum">
              <a:rPr lang="en-US" altLang="en-US">
                <a:solidFill>
                  <a:schemeClr val="bg1"/>
                </a:solidFill>
              </a:rPr>
              <a:pPr/>
              <a:t>15</a:t>
            </a:fld>
            <a:endParaRPr lang="en-US" altLang="en-US">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A3231-80B8-4B52-B380-18FE0896AA5B}"/>
              </a:ext>
            </a:extLst>
          </p:cNvPr>
          <p:cNvSpPr>
            <a:spLocks noGrp="1"/>
          </p:cNvSpPr>
          <p:nvPr>
            <p:ph type="title"/>
          </p:nvPr>
        </p:nvSpPr>
        <p:spPr/>
        <p:txBody>
          <a:bodyPr/>
          <a:lstStyle/>
          <a:p>
            <a:r>
              <a:rPr lang="en-US" dirty="0"/>
              <a:t>Mobile OS</a:t>
            </a:r>
          </a:p>
        </p:txBody>
      </p:sp>
      <p:sp>
        <p:nvSpPr>
          <p:cNvPr id="3" name="Content Placeholder 2">
            <a:extLst>
              <a:ext uri="{FF2B5EF4-FFF2-40B4-BE49-F238E27FC236}">
                <a16:creationId xmlns:a16="http://schemas.microsoft.com/office/drawing/2014/main" id="{D9BF9921-2EEC-4254-9297-98525D0072F6}"/>
              </a:ext>
            </a:extLst>
          </p:cNvPr>
          <p:cNvSpPr>
            <a:spLocks noGrp="1"/>
          </p:cNvSpPr>
          <p:nvPr>
            <p:ph idx="1"/>
          </p:nvPr>
        </p:nvSpPr>
        <p:spPr>
          <a:xfrm>
            <a:off x="590550" y="2603500"/>
            <a:ext cx="10591800" cy="3416300"/>
          </a:xfrm>
        </p:spPr>
        <p:txBody>
          <a:bodyPr/>
          <a:lstStyle/>
          <a:p>
            <a:r>
              <a:rPr lang="en-US" b="0" i="0" dirty="0">
                <a:solidFill>
                  <a:srgbClr val="000000"/>
                </a:solidFill>
                <a:effectLst/>
                <a:latin typeface="Poppins" panose="00000500000000000000" pitchFamily="2" charset="0"/>
              </a:rPr>
              <a:t>OS for smartphones, tablets, and PDA’s. It is a platform on which other applications can run on mobile devices.</a:t>
            </a:r>
          </a:p>
          <a:p>
            <a:r>
              <a:rPr lang="en-US" b="1" i="0" dirty="0">
                <a:solidFill>
                  <a:srgbClr val="000000"/>
                </a:solidFill>
                <a:effectLst/>
                <a:latin typeface="Poppins" panose="00000500000000000000" pitchFamily="2" charset="0"/>
              </a:rPr>
              <a:t>Examples of the Mobile OS: </a:t>
            </a:r>
            <a:r>
              <a:rPr lang="en-US" b="0" i="0" dirty="0">
                <a:solidFill>
                  <a:srgbClr val="000000"/>
                </a:solidFill>
                <a:effectLst/>
                <a:latin typeface="Poppins" panose="00000500000000000000" pitchFamily="2" charset="0"/>
              </a:rPr>
              <a:t>Android OS, </a:t>
            </a:r>
            <a:r>
              <a:rPr lang="en-US" b="0" i="0" dirty="0" err="1">
                <a:solidFill>
                  <a:srgbClr val="000000"/>
                </a:solidFill>
                <a:effectLst/>
                <a:latin typeface="Poppins" panose="00000500000000000000" pitchFamily="2" charset="0"/>
              </a:rPr>
              <a:t>ios</a:t>
            </a:r>
            <a:r>
              <a:rPr lang="en-US" b="0" i="0" dirty="0">
                <a:solidFill>
                  <a:srgbClr val="000000"/>
                </a:solidFill>
                <a:effectLst/>
                <a:latin typeface="Poppins" panose="00000500000000000000" pitchFamily="2" charset="0"/>
              </a:rPr>
              <a:t>, Symbian OS, and windows mobile OS</a:t>
            </a:r>
            <a:endParaRPr lang="en-US" dirty="0"/>
          </a:p>
        </p:txBody>
      </p:sp>
    </p:spTree>
    <p:extLst>
      <p:ext uri="{BB962C8B-B14F-4D97-AF65-F5344CB8AC3E}">
        <p14:creationId xmlns:p14="http://schemas.microsoft.com/office/powerpoint/2010/main" val="2037759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F94A-9176-45A4-9AF4-B9442DB2EE08}"/>
              </a:ext>
            </a:extLst>
          </p:cNvPr>
          <p:cNvSpPr>
            <a:spLocks noGrp="1"/>
          </p:cNvSpPr>
          <p:nvPr>
            <p:ph type="title"/>
          </p:nvPr>
        </p:nvSpPr>
        <p:spPr/>
        <p:txBody>
          <a:bodyPr/>
          <a:lstStyle/>
          <a:p>
            <a:r>
              <a:rPr lang="en-US" b="1" dirty="0"/>
              <a:t>Interrupts</a:t>
            </a:r>
            <a:endParaRPr lang="en-US" dirty="0"/>
          </a:p>
        </p:txBody>
      </p:sp>
      <p:sp>
        <p:nvSpPr>
          <p:cNvPr id="3" name="Content Placeholder 2">
            <a:extLst>
              <a:ext uri="{FF2B5EF4-FFF2-40B4-BE49-F238E27FC236}">
                <a16:creationId xmlns:a16="http://schemas.microsoft.com/office/drawing/2014/main" id="{9D6A9A34-7C6B-45B3-8BC6-11E95F872F4C}"/>
              </a:ext>
            </a:extLst>
          </p:cNvPr>
          <p:cNvSpPr>
            <a:spLocks noGrp="1"/>
          </p:cNvSpPr>
          <p:nvPr>
            <p:ph idx="1"/>
          </p:nvPr>
        </p:nvSpPr>
        <p:spPr>
          <a:xfrm>
            <a:off x="381000" y="2603500"/>
            <a:ext cx="10858500" cy="3416300"/>
          </a:xfrm>
        </p:spPr>
        <p:txBody>
          <a:bodyPr/>
          <a:lstStyle/>
          <a:p>
            <a:r>
              <a:rPr lang="en-US" b="1" dirty="0"/>
              <a:t>Interrupts</a:t>
            </a:r>
            <a:r>
              <a:rPr lang="en-US" dirty="0"/>
              <a:t> are signals sent to the CPU by external devices, normally I/O devices. They tell the CPU to stop its current activities and execute the appropriate part of the operating system</a:t>
            </a:r>
          </a:p>
          <a:p>
            <a:r>
              <a:rPr lang="en-US" dirty="0"/>
              <a:t>After the interrupt signal is sensed, the computer either resumes running the current program or begins running another program.</a:t>
            </a:r>
          </a:p>
          <a:p>
            <a:r>
              <a:rPr lang="en-US" dirty="0"/>
              <a:t>An operating system usually has some code that is called an interrupt handler. The interrupt handler prioritizes the interrupts and saves them in a </a:t>
            </a:r>
            <a:r>
              <a:rPr lang="en-US" dirty="0">
                <a:hlinkClick r:id="rId2">
                  <a:extLst>
                    <a:ext uri="{A12FA001-AC4F-418D-AE19-62706E023703}">
                      <ahyp:hlinkClr xmlns:ahyp="http://schemas.microsoft.com/office/drawing/2018/hyperlinkcolor" val="tx"/>
                    </a:ext>
                  </a:extLst>
                </a:hlinkClick>
              </a:rPr>
              <a:t>queue</a:t>
            </a:r>
            <a:r>
              <a:rPr lang="en-US" dirty="0"/>
              <a:t> if more than one is waiting to be handled.</a:t>
            </a:r>
          </a:p>
        </p:txBody>
      </p:sp>
    </p:spTree>
    <p:extLst>
      <p:ext uri="{BB962C8B-B14F-4D97-AF65-F5344CB8AC3E}">
        <p14:creationId xmlns:p14="http://schemas.microsoft.com/office/powerpoint/2010/main" val="187313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969876E-1FAB-43D3-A665-9A3649D7E108}"/>
              </a:ext>
            </a:extLst>
          </p:cNvPr>
          <p:cNvSpPr>
            <a:spLocks noGrp="1"/>
          </p:cNvSpPr>
          <p:nvPr>
            <p:ph type="title"/>
          </p:nvPr>
        </p:nvSpPr>
        <p:spPr/>
        <p:txBody>
          <a:bodyPr/>
          <a:lstStyle/>
          <a:p>
            <a:r>
              <a:rPr lang="en-US" altLang="en-US"/>
              <a:t>Interrupts, Traps and Signals </a:t>
            </a:r>
          </a:p>
        </p:txBody>
      </p:sp>
      <p:sp>
        <p:nvSpPr>
          <p:cNvPr id="35843" name="Content Placeholder 2">
            <a:extLst>
              <a:ext uri="{FF2B5EF4-FFF2-40B4-BE49-F238E27FC236}">
                <a16:creationId xmlns:a16="http://schemas.microsoft.com/office/drawing/2014/main" id="{904D30F9-4A1E-40CD-949E-3086398F7FBB}"/>
              </a:ext>
            </a:extLst>
          </p:cNvPr>
          <p:cNvSpPr>
            <a:spLocks noGrp="1"/>
          </p:cNvSpPr>
          <p:nvPr>
            <p:ph idx="1"/>
          </p:nvPr>
        </p:nvSpPr>
        <p:spPr>
          <a:xfrm>
            <a:off x="990600" y="2603500"/>
            <a:ext cx="10763249" cy="3416300"/>
          </a:xfrm>
        </p:spPr>
        <p:txBody>
          <a:bodyPr/>
          <a:lstStyle/>
          <a:p>
            <a:r>
              <a:rPr lang="en-US" altLang="en-US" dirty="0"/>
              <a:t>Interrupt---an event generated by a device in a computer to get attention of the CPU(from hardware devices)</a:t>
            </a:r>
          </a:p>
          <a:p>
            <a:r>
              <a:rPr lang="en-US" altLang="en-US" dirty="0"/>
              <a:t>Trap—an event by the CPU itself as it executes a program</a:t>
            </a:r>
          </a:p>
          <a:p>
            <a:r>
              <a:rPr lang="en-US" altLang="en-US" dirty="0"/>
              <a:t>Signal—an event generated by a user</a:t>
            </a:r>
          </a:p>
          <a:p>
            <a:endParaRPr lang="en-US" altLang="en-US" dirty="0"/>
          </a:p>
        </p:txBody>
      </p:sp>
      <p:sp>
        <p:nvSpPr>
          <p:cNvPr id="35844" name="Footer Placeholder 3">
            <a:extLst>
              <a:ext uri="{FF2B5EF4-FFF2-40B4-BE49-F238E27FC236}">
                <a16:creationId xmlns:a16="http://schemas.microsoft.com/office/drawing/2014/main" id="{A1B9F698-ED87-4D66-97A6-A8DBB7148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5845" name="Slide Number Placeholder 4">
            <a:extLst>
              <a:ext uri="{FF2B5EF4-FFF2-40B4-BE49-F238E27FC236}">
                <a16:creationId xmlns:a16="http://schemas.microsoft.com/office/drawing/2014/main" id="{FFA8593D-CD3A-4DF3-AC5C-0A033ABBFC9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1B2DE2-41B1-4EDE-8D50-8F6F394CA917}" type="slidenum">
              <a:rPr lang="en-US" altLang="en-US">
                <a:solidFill>
                  <a:schemeClr val="bg1"/>
                </a:solidFill>
              </a:rPr>
              <a:pPr/>
              <a:t>18</a:t>
            </a:fld>
            <a:endParaRPr lang="en-US" altLang="en-US">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0E0A0A50-9A4F-4D01-88CE-3163082D8F45}"/>
              </a:ext>
            </a:extLst>
          </p:cNvPr>
          <p:cNvSpPr>
            <a:spLocks noGrp="1"/>
          </p:cNvSpPr>
          <p:nvPr>
            <p:ph type="title"/>
          </p:nvPr>
        </p:nvSpPr>
        <p:spPr/>
        <p:txBody>
          <a:bodyPr/>
          <a:lstStyle/>
          <a:p>
            <a:r>
              <a:rPr lang="en-US" altLang="en-US" dirty="0"/>
              <a:t>Interrupts, trap, signals</a:t>
            </a:r>
          </a:p>
        </p:txBody>
      </p:sp>
      <p:sp>
        <p:nvSpPr>
          <p:cNvPr id="36867" name="Content Placeholder 2">
            <a:extLst>
              <a:ext uri="{FF2B5EF4-FFF2-40B4-BE49-F238E27FC236}">
                <a16:creationId xmlns:a16="http://schemas.microsoft.com/office/drawing/2014/main" id="{8E9ADFC4-11BA-4C70-BAE0-C97BFE832C72}"/>
              </a:ext>
            </a:extLst>
          </p:cNvPr>
          <p:cNvSpPr>
            <a:spLocks noGrp="1"/>
          </p:cNvSpPr>
          <p:nvPr>
            <p:ph idx="1"/>
          </p:nvPr>
        </p:nvSpPr>
        <p:spPr>
          <a:xfrm>
            <a:off x="361950" y="2603500"/>
            <a:ext cx="7086600" cy="3892550"/>
          </a:xfrm>
        </p:spPr>
        <p:txBody>
          <a:bodyPr>
            <a:normAutofit/>
          </a:bodyPr>
          <a:lstStyle/>
          <a:p>
            <a:r>
              <a:rPr lang="en-US" altLang="en-US" dirty="0"/>
              <a:t>If you press any key(keyboard) or moving the mouse…..Example of interrupt</a:t>
            </a:r>
          </a:p>
          <a:p>
            <a:r>
              <a:rPr lang="en-US" altLang="en-US" dirty="0"/>
              <a:t>Hardware may trigger an interrupt at any time by sending a signal to the CPU usually by way of the system bus.</a:t>
            </a:r>
          </a:p>
          <a:p>
            <a:r>
              <a:rPr lang="en-US" altLang="en-US" dirty="0"/>
              <a:t>Software may trigger an interrupt by executing a special operation called a system call</a:t>
            </a:r>
          </a:p>
          <a:p>
            <a:endParaRPr lang="en-US" altLang="en-US" dirty="0"/>
          </a:p>
        </p:txBody>
      </p:sp>
      <p:sp>
        <p:nvSpPr>
          <p:cNvPr id="36868" name="Footer Placeholder 3">
            <a:extLst>
              <a:ext uri="{FF2B5EF4-FFF2-40B4-BE49-F238E27FC236}">
                <a16:creationId xmlns:a16="http://schemas.microsoft.com/office/drawing/2014/main" id="{7E7F9F77-2CD6-4908-8403-0D147180C89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6869" name="Slide Number Placeholder 4">
            <a:extLst>
              <a:ext uri="{FF2B5EF4-FFF2-40B4-BE49-F238E27FC236}">
                <a16:creationId xmlns:a16="http://schemas.microsoft.com/office/drawing/2014/main" id="{EF41432C-7547-4130-BC32-54B2BF223FA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F2CA347-867E-43C5-A572-A04B648BC7E6}" type="slidenum">
              <a:rPr lang="en-US" altLang="en-US">
                <a:solidFill>
                  <a:schemeClr val="bg1"/>
                </a:solidFill>
              </a:rPr>
              <a:pPr/>
              <a:t>19</a:t>
            </a:fld>
            <a:endParaRPr lang="en-US" altLang="en-US">
              <a:solidFill>
                <a:schemeClr val="bg1"/>
              </a:solidFill>
            </a:endParaRPr>
          </a:p>
        </p:txBody>
      </p:sp>
      <p:pic>
        <p:nvPicPr>
          <p:cNvPr id="6" name="Picture 4" descr="stop">
            <a:extLst>
              <a:ext uri="{FF2B5EF4-FFF2-40B4-BE49-F238E27FC236}">
                <a16:creationId xmlns:a16="http://schemas.microsoft.com/office/drawing/2014/main" id="{2847F67E-EB89-404F-8759-ABAAA16F2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4076" y="3789363"/>
            <a:ext cx="1516063"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bd04918_">
            <a:extLst>
              <a:ext uri="{FF2B5EF4-FFF2-40B4-BE49-F238E27FC236}">
                <a16:creationId xmlns:a16="http://schemas.microsoft.com/office/drawing/2014/main" id="{1EED43FF-F6E4-4CBD-9F2F-F9A970E45C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9326" y="2365376"/>
            <a:ext cx="1522413"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6D4510F3-F34F-410C-952F-5A1ED2279DE4}"/>
              </a:ext>
            </a:extLst>
          </p:cNvPr>
          <p:cNvSpPr>
            <a:spLocks noChangeArrowheads="1"/>
          </p:cNvSpPr>
          <p:nvPr/>
        </p:nvSpPr>
        <p:spPr bwMode="auto">
          <a:xfrm>
            <a:off x="8229600" y="4648200"/>
            <a:ext cx="2057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spcBef>
                <a:spcPct val="20000"/>
              </a:spcBef>
              <a:buClr>
                <a:schemeClr val="hlink"/>
              </a:buClr>
              <a:buSzPct val="70000"/>
              <a:buFont typeface="Wingdings" panose="05000000000000000000" pitchFamily="2" charset="2"/>
              <a:buNone/>
            </a:pPr>
            <a:r>
              <a:rPr lang="en-US" altLang="en-US" sz="2800" b="1" dirty="0">
                <a:solidFill>
                  <a:schemeClr val="accent2"/>
                </a:solidFill>
                <a:latin typeface="Arial" panose="020B0604020202020204" pitchFamily="34" charset="0"/>
              </a:rPr>
              <a:t>Answer the Phone</a:t>
            </a:r>
            <a:endParaRPr lang="en-US" altLang="en-US" sz="2800" dirty="0">
              <a:solidFill>
                <a:srgbClr val="FFFF00"/>
              </a:solidFill>
              <a:latin typeface="Arial" panose="020B0604020202020204" pitchFamily="34" charset="0"/>
            </a:endParaRPr>
          </a:p>
        </p:txBody>
      </p:sp>
      <p:sp>
        <p:nvSpPr>
          <p:cNvPr id="9" name="Rectangle 8">
            <a:extLst>
              <a:ext uri="{FF2B5EF4-FFF2-40B4-BE49-F238E27FC236}">
                <a16:creationId xmlns:a16="http://schemas.microsoft.com/office/drawing/2014/main" id="{CEF315F8-F267-401B-B433-837FD967A9E9}"/>
              </a:ext>
            </a:extLst>
          </p:cNvPr>
          <p:cNvSpPr>
            <a:spLocks noChangeArrowheads="1"/>
          </p:cNvSpPr>
          <p:nvPr/>
        </p:nvSpPr>
        <p:spPr bwMode="auto">
          <a:xfrm>
            <a:off x="8426450" y="5329239"/>
            <a:ext cx="16002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1200" b="1" dirty="0">
                <a:latin typeface="Arial" panose="020B0604020202020204" pitchFamily="34" charset="0"/>
              </a:rPr>
              <a:t>.</a:t>
            </a:r>
          </a:p>
          <a:p>
            <a:pPr algn="ctr" eaLnBrk="1" hangingPunct="1">
              <a:spcBef>
                <a:spcPct val="20000"/>
              </a:spcBef>
              <a:buClr>
                <a:schemeClr val="hlink"/>
              </a:buClr>
              <a:buSzPct val="70000"/>
              <a:buFont typeface="Wingdings" panose="05000000000000000000" pitchFamily="2" charset="2"/>
              <a:buNone/>
            </a:pPr>
            <a:r>
              <a:rPr lang="en-US" altLang="en-US" sz="3000" dirty="0">
                <a:latin typeface="Arial" panose="020B0604020202020204" pitchFamily="34" charset="0"/>
              </a:rPr>
              <a:t>Resume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2AEB96B-64AF-4DB3-BFC9-91DF6DD70AA1}"/>
              </a:ext>
            </a:extLst>
          </p:cNvPr>
          <p:cNvSpPr>
            <a:spLocks noGrp="1"/>
          </p:cNvSpPr>
          <p:nvPr>
            <p:ph type="title"/>
          </p:nvPr>
        </p:nvSpPr>
        <p:spPr/>
        <p:txBody>
          <a:bodyPr/>
          <a:lstStyle/>
          <a:p>
            <a:r>
              <a:rPr lang="en-US" altLang="en-US"/>
              <a:t>Interrupts, trap, signals</a:t>
            </a:r>
          </a:p>
        </p:txBody>
      </p:sp>
      <p:sp>
        <p:nvSpPr>
          <p:cNvPr id="37891" name="Content Placeholder 2">
            <a:extLst>
              <a:ext uri="{FF2B5EF4-FFF2-40B4-BE49-F238E27FC236}">
                <a16:creationId xmlns:a16="http://schemas.microsoft.com/office/drawing/2014/main" id="{C161D416-E24D-4126-A963-466599AF7EED}"/>
              </a:ext>
            </a:extLst>
          </p:cNvPr>
          <p:cNvSpPr>
            <a:spLocks noGrp="1"/>
          </p:cNvSpPr>
          <p:nvPr>
            <p:ph idx="1"/>
          </p:nvPr>
        </p:nvSpPr>
        <p:spPr>
          <a:xfrm>
            <a:off x="228600" y="2603500"/>
            <a:ext cx="10496549" cy="4025900"/>
          </a:xfrm>
        </p:spPr>
        <p:txBody>
          <a:bodyPr/>
          <a:lstStyle/>
          <a:p>
            <a:pPr algn="just">
              <a:buFont typeface="Century Gothic" panose="020B0502020202020204" pitchFamily="34" charset="0"/>
              <a:buChar char="►"/>
            </a:pPr>
            <a:r>
              <a:rPr lang="en-US" altLang="en-US" dirty="0"/>
              <a:t>A process can generate a trap, for example, by dividing a number by zero.</a:t>
            </a:r>
          </a:p>
          <a:p>
            <a:pPr algn="just">
              <a:buFont typeface="Century Gothic" panose="020B0502020202020204" pitchFamily="34" charset="0"/>
              <a:buChar char="►"/>
            </a:pPr>
            <a:r>
              <a:rPr lang="en-US" altLang="en-US" dirty="0"/>
              <a:t>caused either by an error (division by zero or invalid memory access) or by a user request for an operating system service. </a:t>
            </a:r>
          </a:p>
          <a:p>
            <a:pPr algn="just">
              <a:buFont typeface="Century Gothic" panose="020B0502020202020204" pitchFamily="34" charset="0"/>
              <a:buChar char="►"/>
            </a:pPr>
            <a:r>
              <a:rPr lang="en-US" altLang="en-US" dirty="0"/>
              <a:t>A user or a process may generate a signal (an interrupt to a process)</a:t>
            </a:r>
          </a:p>
          <a:p>
            <a:endParaRPr lang="en-US" altLang="en-US" dirty="0"/>
          </a:p>
        </p:txBody>
      </p:sp>
      <p:sp>
        <p:nvSpPr>
          <p:cNvPr id="37892" name="Footer Placeholder 3">
            <a:extLst>
              <a:ext uri="{FF2B5EF4-FFF2-40B4-BE49-F238E27FC236}">
                <a16:creationId xmlns:a16="http://schemas.microsoft.com/office/drawing/2014/main" id="{3004BC58-AC00-4D29-A6BB-C3C64017CBF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7893" name="Slide Number Placeholder 4">
            <a:extLst>
              <a:ext uri="{FF2B5EF4-FFF2-40B4-BE49-F238E27FC236}">
                <a16:creationId xmlns:a16="http://schemas.microsoft.com/office/drawing/2014/main" id="{035E9ED0-C29E-4639-A51C-15864D48D2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8A83FB-2040-44BB-BF57-8A2D3609F8E0}" type="slidenum">
              <a:rPr lang="en-US" altLang="en-US">
                <a:solidFill>
                  <a:schemeClr val="bg1"/>
                </a:solidFill>
              </a:rPr>
              <a:pPr/>
              <a:t>20</a:t>
            </a:fld>
            <a:endParaRPr lang="en-US" altLang="en-US">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0C1875C7-9FD1-4D23-AE1D-3ABF941A252A}"/>
              </a:ext>
            </a:extLst>
          </p:cNvPr>
          <p:cNvSpPr>
            <a:spLocks noGrp="1"/>
          </p:cNvSpPr>
          <p:nvPr>
            <p:ph type="title"/>
          </p:nvPr>
        </p:nvSpPr>
        <p:spPr/>
        <p:txBody>
          <a:bodyPr/>
          <a:lstStyle/>
          <a:p>
            <a:r>
              <a:rPr lang="en-US" altLang="en-US"/>
              <a:t>Interrupt handling</a:t>
            </a:r>
          </a:p>
        </p:txBody>
      </p:sp>
      <p:sp>
        <p:nvSpPr>
          <p:cNvPr id="38915" name="Content Placeholder 2">
            <a:extLst>
              <a:ext uri="{FF2B5EF4-FFF2-40B4-BE49-F238E27FC236}">
                <a16:creationId xmlns:a16="http://schemas.microsoft.com/office/drawing/2014/main" id="{B75DDD6E-13EB-4076-A3B6-4353438BF613}"/>
              </a:ext>
            </a:extLst>
          </p:cNvPr>
          <p:cNvSpPr>
            <a:spLocks noGrp="1"/>
          </p:cNvSpPr>
          <p:nvPr>
            <p:ph idx="1"/>
          </p:nvPr>
        </p:nvSpPr>
        <p:spPr>
          <a:xfrm>
            <a:off x="514350" y="2603500"/>
            <a:ext cx="10325099" cy="3968750"/>
          </a:xfrm>
        </p:spPr>
        <p:txBody>
          <a:bodyPr/>
          <a:lstStyle/>
          <a:p>
            <a:pPr>
              <a:buFont typeface="Century Gothic" panose="020B0502020202020204" pitchFamily="34" charset="0"/>
              <a:buChar char="►"/>
            </a:pPr>
            <a:r>
              <a:rPr lang="en-US" altLang="en-US" dirty="0"/>
              <a:t>In case of interrupt or trap, the CPU invokes a piece of code in the OS to service it, known as interrupt service routine(ISR) or trap service routine(TSR)</a:t>
            </a:r>
          </a:p>
          <a:p>
            <a:pPr>
              <a:buFont typeface="Century Gothic" panose="020B0502020202020204" pitchFamily="34" charset="0"/>
              <a:buChar char="►"/>
            </a:pPr>
            <a:r>
              <a:rPr lang="en-US" altLang="en-US" dirty="0"/>
              <a:t>In case of signal, the process can take one of the three possible actions , default action as defined by OS, ignore signal, or take a programmer specified action </a:t>
            </a:r>
          </a:p>
          <a:p>
            <a:endParaRPr lang="en-US" altLang="en-US" dirty="0"/>
          </a:p>
        </p:txBody>
      </p:sp>
      <p:sp>
        <p:nvSpPr>
          <p:cNvPr id="38916" name="Footer Placeholder 3">
            <a:extLst>
              <a:ext uri="{FF2B5EF4-FFF2-40B4-BE49-F238E27FC236}">
                <a16:creationId xmlns:a16="http://schemas.microsoft.com/office/drawing/2014/main" id="{C9DF3141-940F-46F5-A7B3-A9193869C2A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8917" name="Slide Number Placeholder 4">
            <a:extLst>
              <a:ext uri="{FF2B5EF4-FFF2-40B4-BE49-F238E27FC236}">
                <a16:creationId xmlns:a16="http://schemas.microsoft.com/office/drawing/2014/main" id="{2D2EEF9D-3068-4E51-939C-565A2C356A9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44A4DB-8EA9-4331-A7E1-85A4BFD62557}" type="slidenum">
              <a:rPr lang="en-US" altLang="en-US">
                <a:solidFill>
                  <a:schemeClr val="bg1"/>
                </a:solidFill>
              </a:rPr>
              <a:pPr/>
              <a:t>21</a:t>
            </a:fld>
            <a:endParaRPr lang="en-US" altLang="en-US">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205B6BBA-500C-42B1-9EAF-07D9606D9F1E}"/>
              </a:ext>
            </a:extLst>
          </p:cNvPr>
          <p:cNvSpPr>
            <a:spLocks noGrp="1"/>
          </p:cNvSpPr>
          <p:nvPr>
            <p:ph type="title"/>
          </p:nvPr>
        </p:nvSpPr>
        <p:spPr/>
        <p:txBody>
          <a:bodyPr/>
          <a:lstStyle/>
          <a:p>
            <a:r>
              <a:rPr lang="en-US" altLang="en-US"/>
              <a:t>Interrupt handling (Cont..)</a:t>
            </a:r>
          </a:p>
        </p:txBody>
      </p:sp>
      <p:sp>
        <p:nvSpPr>
          <p:cNvPr id="3" name="Content Placeholder 2">
            <a:extLst>
              <a:ext uri="{FF2B5EF4-FFF2-40B4-BE49-F238E27FC236}">
                <a16:creationId xmlns:a16="http://schemas.microsoft.com/office/drawing/2014/main" id="{1E108333-EDF3-4EE4-8B9E-BF7D113D9DAF}"/>
              </a:ext>
            </a:extLst>
          </p:cNvPr>
          <p:cNvSpPr>
            <a:spLocks noGrp="1"/>
          </p:cNvSpPr>
          <p:nvPr>
            <p:ph idx="1"/>
          </p:nvPr>
        </p:nvSpPr>
        <p:spPr>
          <a:xfrm>
            <a:off x="457200" y="2603500"/>
            <a:ext cx="11106149" cy="3968750"/>
          </a:xfrm>
        </p:spPr>
        <p:txBody>
          <a:bodyPr/>
          <a:lstStyle/>
          <a:p>
            <a:pPr marL="514350" indent="-514350" algn="just">
              <a:lnSpc>
                <a:spcPct val="90000"/>
              </a:lnSpc>
              <a:buFont typeface="Century Gothic" pitchFamily="34" charset="0"/>
              <a:buChar char="►"/>
              <a:defRPr/>
            </a:pPr>
            <a:r>
              <a:rPr lang="en-US" dirty="0"/>
              <a:t>Interrupt transfers control to the interrupt service routine, generally, through the </a:t>
            </a:r>
            <a:r>
              <a:rPr lang="en-US" i="1" dirty="0"/>
              <a:t>interrupt vector</a:t>
            </a:r>
            <a:r>
              <a:rPr lang="en-US" dirty="0"/>
              <a:t>, which contains addresses of all the interrupt service routines.</a:t>
            </a:r>
          </a:p>
          <a:p>
            <a:pPr marL="514350" indent="-514350" algn="just">
              <a:lnSpc>
                <a:spcPct val="90000"/>
              </a:lnSpc>
              <a:buFont typeface="Century Gothic" pitchFamily="34" charset="0"/>
              <a:buChar char="►"/>
              <a:defRPr/>
            </a:pPr>
            <a:r>
              <a:rPr lang="en-US" dirty="0"/>
              <a:t>Interrupt architecture must save the address of the instruction after the interrupted instruction and the CPU state so that execution of the interrupted process may continue after the interrupt has been serviced.</a:t>
            </a:r>
          </a:p>
          <a:p>
            <a:pPr>
              <a:defRPr/>
            </a:pPr>
            <a:endParaRPr lang="en-US" dirty="0"/>
          </a:p>
        </p:txBody>
      </p:sp>
      <p:sp>
        <p:nvSpPr>
          <p:cNvPr id="39940" name="Footer Placeholder 3">
            <a:extLst>
              <a:ext uri="{FF2B5EF4-FFF2-40B4-BE49-F238E27FC236}">
                <a16:creationId xmlns:a16="http://schemas.microsoft.com/office/drawing/2014/main" id="{BDF3D04D-D640-465E-B7F4-1A26864D88E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39941" name="Slide Number Placeholder 4">
            <a:extLst>
              <a:ext uri="{FF2B5EF4-FFF2-40B4-BE49-F238E27FC236}">
                <a16:creationId xmlns:a16="http://schemas.microsoft.com/office/drawing/2014/main" id="{30B26CCD-550F-4EDD-9641-50757DCECA0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71E4390-BF26-456E-BBAA-B8BED7F7AC19}" type="slidenum">
              <a:rPr lang="en-US" altLang="en-US">
                <a:solidFill>
                  <a:schemeClr val="bg1"/>
                </a:solidFill>
              </a:rPr>
              <a:pPr/>
              <a:t>22</a:t>
            </a:fld>
            <a:endParaRPr lang="en-US" altLang="en-US">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1040-1683-41C6-903D-1FA58E2391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56C14C-CF93-48EB-95DD-C4D68F1A6628}"/>
              </a:ext>
            </a:extLst>
          </p:cNvPr>
          <p:cNvSpPr>
            <a:spLocks noGrp="1"/>
          </p:cNvSpPr>
          <p:nvPr>
            <p:ph idx="1"/>
          </p:nvPr>
        </p:nvSpPr>
        <p:spPr/>
        <p:txBody>
          <a:bodyPr/>
          <a:lstStyle/>
          <a:p>
            <a:r>
              <a:rPr lang="en-US" dirty="0"/>
              <a:t>As we have time sharing system so multiple user may be there. Here comes the issue of protection</a:t>
            </a:r>
          </a:p>
          <a:p>
            <a:r>
              <a:rPr lang="en-US" dirty="0"/>
              <a:t>One user may delete the files of others.</a:t>
            </a:r>
          </a:p>
          <a:p>
            <a:r>
              <a:rPr lang="en-US" dirty="0"/>
              <a:t>Or may overwrite program </a:t>
            </a:r>
            <a:r>
              <a:rPr lang="en-US"/>
              <a:t>in memory</a:t>
            </a:r>
          </a:p>
        </p:txBody>
      </p:sp>
    </p:spTree>
    <p:extLst>
      <p:ext uri="{BB962C8B-B14F-4D97-AF65-F5344CB8AC3E}">
        <p14:creationId xmlns:p14="http://schemas.microsoft.com/office/powerpoint/2010/main" val="248954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3D5D281B-0AFC-43A2-A6A3-196E5BC03AB8}"/>
              </a:ext>
            </a:extLst>
          </p:cNvPr>
          <p:cNvSpPr>
            <a:spLocks noGrp="1"/>
          </p:cNvSpPr>
          <p:nvPr>
            <p:ph type="title"/>
          </p:nvPr>
        </p:nvSpPr>
        <p:spPr/>
        <p:txBody>
          <a:bodyPr/>
          <a:lstStyle/>
          <a:p>
            <a:r>
              <a:rPr lang="en-US" altLang="en-US"/>
              <a:t>Hardware protection</a:t>
            </a:r>
          </a:p>
        </p:txBody>
      </p:sp>
      <p:sp>
        <p:nvSpPr>
          <p:cNvPr id="40963" name="Content Placeholder 2">
            <a:extLst>
              <a:ext uri="{FF2B5EF4-FFF2-40B4-BE49-F238E27FC236}">
                <a16:creationId xmlns:a16="http://schemas.microsoft.com/office/drawing/2014/main" id="{525DC4EC-7FA6-41AF-9689-BD66772FA4AD}"/>
              </a:ext>
            </a:extLst>
          </p:cNvPr>
          <p:cNvSpPr>
            <a:spLocks noGrp="1"/>
          </p:cNvSpPr>
          <p:nvPr>
            <p:ph idx="1"/>
          </p:nvPr>
        </p:nvSpPr>
        <p:spPr>
          <a:xfrm>
            <a:off x="914400" y="2603500"/>
            <a:ext cx="9258299" cy="3416300"/>
          </a:xfrm>
        </p:spPr>
        <p:txBody>
          <a:bodyPr/>
          <a:lstStyle/>
          <a:p>
            <a:pPr>
              <a:buFont typeface="Century Gothic" panose="020B0502020202020204" pitchFamily="34" charset="0"/>
              <a:buChar char="►"/>
            </a:pPr>
            <a:r>
              <a:rPr lang="en-US" altLang="en-US" dirty="0"/>
              <a:t>Dual-Mode Operation</a:t>
            </a:r>
          </a:p>
          <a:p>
            <a:pPr>
              <a:buFont typeface="Century Gothic" panose="020B0502020202020204" pitchFamily="34" charset="0"/>
              <a:buChar char="►"/>
            </a:pPr>
            <a:r>
              <a:rPr lang="en-US" altLang="en-US" dirty="0"/>
              <a:t>I/O Protection</a:t>
            </a:r>
          </a:p>
          <a:p>
            <a:pPr>
              <a:buFont typeface="Century Gothic" panose="020B0502020202020204" pitchFamily="34" charset="0"/>
              <a:buChar char="►"/>
            </a:pPr>
            <a:r>
              <a:rPr lang="en-US" altLang="en-US" dirty="0"/>
              <a:t>Memory Protection</a:t>
            </a:r>
          </a:p>
          <a:p>
            <a:pPr>
              <a:buFont typeface="Century Gothic" panose="020B0502020202020204" pitchFamily="34" charset="0"/>
              <a:buChar char="►"/>
            </a:pPr>
            <a:r>
              <a:rPr lang="en-US" altLang="en-US" dirty="0"/>
              <a:t>CPU Protection</a:t>
            </a:r>
          </a:p>
          <a:p>
            <a:endParaRPr lang="en-US" altLang="en-US" dirty="0"/>
          </a:p>
        </p:txBody>
      </p:sp>
      <p:sp>
        <p:nvSpPr>
          <p:cNvPr id="40964" name="Footer Placeholder 3">
            <a:extLst>
              <a:ext uri="{FF2B5EF4-FFF2-40B4-BE49-F238E27FC236}">
                <a16:creationId xmlns:a16="http://schemas.microsoft.com/office/drawing/2014/main" id="{1F7E23A8-6611-4AFC-A4FA-E6BD43E21C0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0965" name="Slide Number Placeholder 4">
            <a:extLst>
              <a:ext uri="{FF2B5EF4-FFF2-40B4-BE49-F238E27FC236}">
                <a16:creationId xmlns:a16="http://schemas.microsoft.com/office/drawing/2014/main" id="{71DF6C9E-06DE-4267-96C6-01C3E7CC3DC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60B093-6E82-4234-B856-B694A152994E}" type="slidenum">
              <a:rPr lang="en-US" altLang="en-US">
                <a:solidFill>
                  <a:schemeClr val="bg1"/>
                </a:solidFill>
              </a:rPr>
              <a:pPr/>
              <a:t>24</a:t>
            </a:fld>
            <a:endParaRPr lang="en-US" altLang="en-US">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2CF7A1F8-887F-4AF7-8EA8-0E79E909A4BF}"/>
              </a:ext>
            </a:extLst>
          </p:cNvPr>
          <p:cNvSpPr>
            <a:spLocks noGrp="1"/>
          </p:cNvSpPr>
          <p:nvPr>
            <p:ph type="title"/>
          </p:nvPr>
        </p:nvSpPr>
        <p:spPr/>
        <p:txBody>
          <a:bodyPr/>
          <a:lstStyle/>
          <a:p>
            <a:r>
              <a:rPr lang="en-US" altLang="en-US"/>
              <a:t>Dual Mode Operation</a:t>
            </a:r>
          </a:p>
        </p:txBody>
      </p:sp>
      <p:sp>
        <p:nvSpPr>
          <p:cNvPr id="41987" name="Content Placeholder 2">
            <a:extLst>
              <a:ext uri="{FF2B5EF4-FFF2-40B4-BE49-F238E27FC236}">
                <a16:creationId xmlns:a16="http://schemas.microsoft.com/office/drawing/2014/main" id="{A03DFCC7-6CE6-4300-9ED6-6CE238870FB4}"/>
              </a:ext>
            </a:extLst>
          </p:cNvPr>
          <p:cNvSpPr>
            <a:spLocks noGrp="1"/>
          </p:cNvSpPr>
          <p:nvPr>
            <p:ph idx="1"/>
          </p:nvPr>
        </p:nvSpPr>
        <p:spPr>
          <a:xfrm>
            <a:off x="1087821" y="2603500"/>
            <a:ext cx="10294882" cy="3416300"/>
          </a:xfrm>
        </p:spPr>
        <p:txBody>
          <a:bodyPr/>
          <a:lstStyle/>
          <a:p>
            <a:pPr algn="just">
              <a:lnSpc>
                <a:spcPct val="80000"/>
              </a:lnSpc>
              <a:buFont typeface="Century Gothic" panose="020B0502020202020204" pitchFamily="34" charset="0"/>
              <a:buChar char="►"/>
            </a:pPr>
            <a:r>
              <a:rPr lang="en-US" altLang="en-US" dirty="0"/>
              <a:t>Sharing system resources requires operating system to ensure that an incorrect program cannot cause other programs to execute incorrectly.</a:t>
            </a:r>
          </a:p>
          <a:p>
            <a:pPr algn="just">
              <a:lnSpc>
                <a:spcPct val="80000"/>
              </a:lnSpc>
              <a:buFont typeface="Century Gothic" panose="020B0502020202020204" pitchFamily="34" charset="0"/>
              <a:buChar char="►"/>
            </a:pPr>
            <a:endParaRPr lang="en-US" altLang="en-US" dirty="0"/>
          </a:p>
          <a:p>
            <a:pPr algn="just">
              <a:lnSpc>
                <a:spcPct val="80000"/>
              </a:lnSpc>
              <a:buFont typeface="Century Gothic" panose="020B0502020202020204" pitchFamily="34" charset="0"/>
              <a:buChar char="►"/>
            </a:pPr>
            <a:r>
              <a:rPr lang="en-US" altLang="en-US" dirty="0"/>
              <a:t>Provide hardware support to differentiate between at least two modes of operations.</a:t>
            </a:r>
          </a:p>
          <a:p>
            <a:pPr lvl="1" algn="just">
              <a:lnSpc>
                <a:spcPct val="80000"/>
              </a:lnSpc>
              <a:buFont typeface="Century Gothic" panose="020B0502020202020204" pitchFamily="34" charset="0"/>
              <a:buChar char="►"/>
            </a:pPr>
            <a:r>
              <a:rPr lang="en-US" altLang="en-US" sz="1800" i="1" dirty="0"/>
              <a:t> User mode</a:t>
            </a:r>
            <a:r>
              <a:rPr lang="en-US" altLang="en-US" sz="1800" dirty="0"/>
              <a:t> – execution done on behalf of a user.</a:t>
            </a:r>
          </a:p>
          <a:p>
            <a:pPr lvl="1" algn="just">
              <a:lnSpc>
                <a:spcPct val="80000"/>
              </a:lnSpc>
              <a:buFont typeface="Century Gothic" panose="020B0502020202020204" pitchFamily="34" charset="0"/>
              <a:buChar char="►"/>
            </a:pPr>
            <a:r>
              <a:rPr lang="en-US" altLang="en-US" sz="1800" i="1" dirty="0"/>
              <a:t> Monitor mode</a:t>
            </a:r>
            <a:r>
              <a:rPr lang="en-US" altLang="en-US" sz="1800" dirty="0"/>
              <a:t> (also </a:t>
            </a:r>
            <a:r>
              <a:rPr lang="en-US" altLang="en-US" sz="1800" i="1" dirty="0"/>
              <a:t>kernel mode</a:t>
            </a:r>
            <a:r>
              <a:rPr lang="en-US" altLang="en-US" sz="1800" dirty="0"/>
              <a:t> or </a:t>
            </a:r>
            <a:r>
              <a:rPr lang="en-US" altLang="en-US" sz="1800" i="1" dirty="0"/>
              <a:t>system 	mode</a:t>
            </a:r>
            <a:r>
              <a:rPr lang="en-US" altLang="en-US" sz="1800" dirty="0"/>
              <a:t>) – execution done on behalf of 	operating system. </a:t>
            </a:r>
          </a:p>
          <a:p>
            <a:endParaRPr lang="en-US" altLang="en-US" dirty="0"/>
          </a:p>
        </p:txBody>
      </p:sp>
      <p:sp>
        <p:nvSpPr>
          <p:cNvPr id="41988" name="Footer Placeholder 3">
            <a:extLst>
              <a:ext uri="{FF2B5EF4-FFF2-40B4-BE49-F238E27FC236}">
                <a16:creationId xmlns:a16="http://schemas.microsoft.com/office/drawing/2014/main" id="{D1B8CF48-64AF-4461-B295-A150AACF2B7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1989" name="Slide Number Placeholder 4">
            <a:extLst>
              <a:ext uri="{FF2B5EF4-FFF2-40B4-BE49-F238E27FC236}">
                <a16:creationId xmlns:a16="http://schemas.microsoft.com/office/drawing/2014/main" id="{D7756936-1059-4054-8647-D7BB02ED780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A04949-A3B2-4782-B638-0838F713EA15}" type="slidenum">
              <a:rPr lang="en-US" altLang="en-US">
                <a:solidFill>
                  <a:schemeClr val="bg1"/>
                </a:solidFill>
              </a:rPr>
              <a:pPr/>
              <a:t>25</a:t>
            </a:fld>
            <a:endParaRPr lang="en-US" altLang="en-US">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1786C73-C0D2-4159-A145-7DB783EE9C17}"/>
              </a:ext>
            </a:extLst>
          </p:cNvPr>
          <p:cNvSpPr>
            <a:spLocks noGrp="1"/>
          </p:cNvSpPr>
          <p:nvPr>
            <p:ph type="title"/>
          </p:nvPr>
        </p:nvSpPr>
        <p:spPr/>
        <p:txBody>
          <a:bodyPr/>
          <a:lstStyle/>
          <a:p>
            <a:r>
              <a:rPr lang="en-US" altLang="en-US" dirty="0"/>
              <a:t>Dual Mode Operation</a:t>
            </a:r>
          </a:p>
        </p:txBody>
      </p:sp>
      <p:sp>
        <p:nvSpPr>
          <p:cNvPr id="43011" name="Content Placeholder 2">
            <a:extLst>
              <a:ext uri="{FF2B5EF4-FFF2-40B4-BE49-F238E27FC236}">
                <a16:creationId xmlns:a16="http://schemas.microsoft.com/office/drawing/2014/main" id="{7AD1D16D-A38B-45EC-869C-FAC566955B74}"/>
              </a:ext>
            </a:extLst>
          </p:cNvPr>
          <p:cNvSpPr>
            <a:spLocks noGrp="1"/>
          </p:cNvSpPr>
          <p:nvPr>
            <p:ph idx="1"/>
          </p:nvPr>
        </p:nvSpPr>
        <p:spPr>
          <a:xfrm>
            <a:off x="1135118" y="2603500"/>
            <a:ext cx="10105696" cy="3416300"/>
          </a:xfrm>
        </p:spPr>
        <p:txBody>
          <a:bodyPr/>
          <a:lstStyle/>
          <a:p>
            <a:pPr>
              <a:buFontTx/>
              <a:buChar char="►"/>
            </a:pPr>
            <a:r>
              <a:rPr lang="en-US" altLang="en-US" i="1" dirty="0"/>
              <a:t>Mode bit</a:t>
            </a:r>
            <a:r>
              <a:rPr lang="en-US" altLang="en-US" dirty="0"/>
              <a:t> added to computer hardware to indicate the current mode:  monitor (0) or user (1).</a:t>
            </a:r>
          </a:p>
          <a:p>
            <a:pPr>
              <a:buFontTx/>
              <a:buChar char="►"/>
            </a:pPr>
            <a:r>
              <a:rPr lang="en-US" altLang="en-US" dirty="0"/>
              <a:t>When an interrupt or fault occurs hardware switches to monitor mode. </a:t>
            </a:r>
          </a:p>
          <a:p>
            <a:pPr>
              <a:buFontTx/>
              <a:buChar char="►"/>
            </a:pPr>
            <a:r>
              <a:rPr lang="en-US" altLang="en-US" b="1" i="1" dirty="0">
                <a:latin typeface="Arial" panose="020B0604020202020204" pitchFamily="34" charset="0"/>
              </a:rPr>
              <a:t>Privileged instructions</a:t>
            </a:r>
            <a:r>
              <a:rPr lang="en-US" altLang="en-US" b="1" dirty="0">
                <a:latin typeface="Arial" panose="020B0604020202020204" pitchFamily="34" charset="0"/>
              </a:rPr>
              <a:t> can be issued only in monitor mode. </a:t>
            </a:r>
            <a:endParaRPr lang="en-US" altLang="en-US" dirty="0"/>
          </a:p>
          <a:p>
            <a:endParaRPr lang="en-US" altLang="en-US" dirty="0"/>
          </a:p>
        </p:txBody>
      </p:sp>
      <p:sp>
        <p:nvSpPr>
          <p:cNvPr id="43012" name="Footer Placeholder 3">
            <a:extLst>
              <a:ext uri="{FF2B5EF4-FFF2-40B4-BE49-F238E27FC236}">
                <a16:creationId xmlns:a16="http://schemas.microsoft.com/office/drawing/2014/main" id="{6F0832CC-7514-4B0F-827F-5D47FA55DF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
        <p:nvSpPr>
          <p:cNvPr id="43013" name="Slide Number Placeholder 4">
            <a:extLst>
              <a:ext uri="{FF2B5EF4-FFF2-40B4-BE49-F238E27FC236}">
                <a16:creationId xmlns:a16="http://schemas.microsoft.com/office/drawing/2014/main" id="{387FA417-5AB9-4032-A12F-6D393D03669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51F07E-1F70-4241-BBFA-B34B638DC222}" type="slidenum">
              <a:rPr lang="en-US" altLang="en-US">
                <a:solidFill>
                  <a:schemeClr val="bg1"/>
                </a:solidFill>
              </a:rPr>
              <a:pPr/>
              <a:t>26</a:t>
            </a:fld>
            <a:endParaRPr lang="en-US" altLang="en-US">
              <a:solidFill>
                <a:schemeClr val="bg1"/>
              </a:solidFill>
            </a:endParaRPr>
          </a:p>
        </p:txBody>
      </p:sp>
      <p:grpSp>
        <p:nvGrpSpPr>
          <p:cNvPr id="2" name="Group 4">
            <a:extLst>
              <a:ext uri="{FF2B5EF4-FFF2-40B4-BE49-F238E27FC236}">
                <a16:creationId xmlns:a16="http://schemas.microsoft.com/office/drawing/2014/main" id="{6DCC6A7A-AC4E-4AF2-BBA6-C8E10010BC66}"/>
              </a:ext>
            </a:extLst>
          </p:cNvPr>
          <p:cNvGrpSpPr>
            <a:grpSpLocks/>
          </p:cNvGrpSpPr>
          <p:nvPr/>
        </p:nvGrpSpPr>
        <p:grpSpPr bwMode="auto">
          <a:xfrm>
            <a:off x="3705225" y="4383089"/>
            <a:ext cx="4495800" cy="1698625"/>
            <a:chOff x="1152" y="1872"/>
            <a:chExt cx="2832" cy="1165"/>
          </a:xfrm>
        </p:grpSpPr>
        <p:sp>
          <p:nvSpPr>
            <p:cNvPr id="43015" name="Oval 5">
              <a:extLst>
                <a:ext uri="{FF2B5EF4-FFF2-40B4-BE49-F238E27FC236}">
                  <a16:creationId xmlns:a16="http://schemas.microsoft.com/office/drawing/2014/main" id="{B04C1788-674A-438F-9791-94C8D3A2E181}"/>
                </a:ext>
              </a:extLst>
            </p:cNvPr>
            <p:cNvSpPr>
              <a:spLocks noChangeArrowheads="1"/>
            </p:cNvSpPr>
            <p:nvPr/>
          </p:nvSpPr>
          <p:spPr bwMode="auto">
            <a:xfrm>
              <a:off x="1152" y="2256"/>
              <a:ext cx="672" cy="72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anose="020B0604020202020204" pitchFamily="34" charset="0"/>
                </a:rPr>
                <a:t>monitor</a:t>
              </a:r>
            </a:p>
          </p:txBody>
        </p:sp>
        <p:sp>
          <p:nvSpPr>
            <p:cNvPr id="43016" name="Oval 6">
              <a:extLst>
                <a:ext uri="{FF2B5EF4-FFF2-40B4-BE49-F238E27FC236}">
                  <a16:creationId xmlns:a16="http://schemas.microsoft.com/office/drawing/2014/main" id="{B620D16F-61B7-4918-B38D-2FDCEAE35BAB}"/>
                </a:ext>
              </a:extLst>
            </p:cNvPr>
            <p:cNvSpPr>
              <a:spLocks noChangeArrowheads="1"/>
            </p:cNvSpPr>
            <p:nvPr/>
          </p:nvSpPr>
          <p:spPr bwMode="auto">
            <a:xfrm>
              <a:off x="3312" y="2256"/>
              <a:ext cx="672" cy="72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anose="020B0604020202020204" pitchFamily="34" charset="0"/>
                </a:rPr>
                <a:t>user</a:t>
              </a:r>
            </a:p>
          </p:txBody>
        </p:sp>
        <p:cxnSp>
          <p:nvCxnSpPr>
            <p:cNvPr id="43017" name="AutoShape 7">
              <a:extLst>
                <a:ext uri="{FF2B5EF4-FFF2-40B4-BE49-F238E27FC236}">
                  <a16:creationId xmlns:a16="http://schemas.microsoft.com/office/drawing/2014/main" id="{1A3009F6-FCCD-48FC-99B6-EB225F35E1F6}"/>
                </a:ext>
              </a:extLst>
            </p:cNvPr>
            <p:cNvCxnSpPr>
              <a:cxnSpLocks noChangeShapeType="1"/>
              <a:stCxn id="43016" idx="0"/>
              <a:endCxn id="43015" idx="0"/>
            </p:cNvCxnSpPr>
            <p:nvPr/>
          </p:nvCxnSpPr>
          <p:spPr bwMode="auto">
            <a:xfrm rot="-5400000" flipH="1" flipV="1">
              <a:off x="2567" y="117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18" name="AutoShape 8">
              <a:extLst>
                <a:ext uri="{FF2B5EF4-FFF2-40B4-BE49-F238E27FC236}">
                  <a16:creationId xmlns:a16="http://schemas.microsoft.com/office/drawing/2014/main" id="{DC6C83B0-FE8D-4190-86E4-EB149C5E93D6}"/>
                </a:ext>
              </a:extLst>
            </p:cNvPr>
            <p:cNvCxnSpPr>
              <a:cxnSpLocks noChangeShapeType="1"/>
              <a:stCxn id="43015" idx="4"/>
              <a:endCxn id="43016" idx="4"/>
            </p:cNvCxnSpPr>
            <p:nvPr/>
          </p:nvCxnSpPr>
          <p:spPr bwMode="auto">
            <a:xfrm rot="16200000" flipH="1">
              <a:off x="2567" y="189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019" name="Text Box 9">
              <a:extLst>
                <a:ext uri="{FF2B5EF4-FFF2-40B4-BE49-F238E27FC236}">
                  <a16:creationId xmlns:a16="http://schemas.microsoft.com/office/drawing/2014/main" id="{A3CAFE3C-6288-4647-9106-B0D665BBF8F7}"/>
                </a:ext>
              </a:extLst>
            </p:cNvPr>
            <p:cNvSpPr txBox="1">
              <a:spLocks noChangeArrowheads="1"/>
            </p:cNvSpPr>
            <p:nvPr/>
          </p:nvSpPr>
          <p:spPr bwMode="auto">
            <a:xfrm>
              <a:off x="2112" y="1872"/>
              <a:ext cx="973"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Interrupt/fault</a:t>
              </a:r>
            </a:p>
          </p:txBody>
        </p:sp>
        <p:sp>
          <p:nvSpPr>
            <p:cNvPr id="43020" name="Text Box 10">
              <a:extLst>
                <a:ext uri="{FF2B5EF4-FFF2-40B4-BE49-F238E27FC236}">
                  <a16:creationId xmlns:a16="http://schemas.microsoft.com/office/drawing/2014/main" id="{3A9B4C53-EFB9-4EB7-8D8C-0C249EF460E5}"/>
                </a:ext>
              </a:extLst>
            </p:cNvPr>
            <p:cNvSpPr txBox="1">
              <a:spLocks noChangeArrowheads="1"/>
            </p:cNvSpPr>
            <p:nvPr/>
          </p:nvSpPr>
          <p:spPr bwMode="auto">
            <a:xfrm>
              <a:off x="2080" y="2784"/>
              <a:ext cx="103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set user mode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4BC09AD7-15FE-4BF4-9346-80741E692A15}"/>
              </a:ext>
            </a:extLst>
          </p:cNvPr>
          <p:cNvSpPr>
            <a:spLocks noGrp="1"/>
          </p:cNvSpPr>
          <p:nvPr>
            <p:ph type="title"/>
          </p:nvPr>
        </p:nvSpPr>
        <p:spPr/>
        <p:txBody>
          <a:bodyPr/>
          <a:lstStyle/>
          <a:p>
            <a:pPr eaLnBrk="1" hangingPunct="1"/>
            <a:r>
              <a:rPr lang="en-US" altLang="en-US"/>
              <a:t>Reference</a:t>
            </a:r>
          </a:p>
        </p:txBody>
      </p:sp>
      <p:sp>
        <p:nvSpPr>
          <p:cNvPr id="45059" name="Content Placeholder 2">
            <a:extLst>
              <a:ext uri="{FF2B5EF4-FFF2-40B4-BE49-F238E27FC236}">
                <a16:creationId xmlns:a16="http://schemas.microsoft.com/office/drawing/2014/main" id="{A8EAC0C0-D2A7-4505-BAB1-CBC3FCE10631}"/>
              </a:ext>
            </a:extLst>
          </p:cNvPr>
          <p:cNvSpPr>
            <a:spLocks noGrp="1"/>
          </p:cNvSpPr>
          <p:nvPr>
            <p:ph idx="1"/>
          </p:nvPr>
        </p:nvSpPr>
        <p:spPr>
          <a:xfrm>
            <a:off x="1103586" y="2603500"/>
            <a:ext cx="10373711" cy="3416300"/>
          </a:xfrm>
        </p:spPr>
        <p:txBody>
          <a:bodyPr/>
          <a:lstStyle/>
          <a:p>
            <a:pPr eaLnBrk="1" hangingPunct="1"/>
            <a:r>
              <a:rPr lang="en-US" altLang="en-US" dirty="0"/>
              <a:t>To cover this topics , different reference material has been used for consultation.</a:t>
            </a:r>
          </a:p>
          <a:p>
            <a:pPr eaLnBrk="1" hangingPunct="1"/>
            <a:r>
              <a:rPr lang="en-US" altLang="en-US" dirty="0"/>
              <a:t>Operating systems concept by Abraham </a:t>
            </a:r>
            <a:r>
              <a:rPr lang="en-US" altLang="en-US" dirty="0" err="1"/>
              <a:t>siberchatz</a:t>
            </a:r>
            <a:r>
              <a:rPr lang="en-US" altLang="en-US" dirty="0"/>
              <a:t> edition 9</a:t>
            </a:r>
          </a:p>
          <a:p>
            <a:pPr eaLnBrk="1" hangingPunct="1"/>
            <a:r>
              <a:rPr lang="en-US" altLang="en-US" dirty="0"/>
              <a:t>Tutorialspoint.com</a:t>
            </a:r>
          </a:p>
          <a:p>
            <a:pPr eaLnBrk="1" hangingPunct="1"/>
            <a:r>
              <a:rPr lang="en-US" altLang="en-US" dirty="0"/>
              <a:t>Google.com</a:t>
            </a:r>
          </a:p>
        </p:txBody>
      </p:sp>
      <p:sp>
        <p:nvSpPr>
          <p:cNvPr id="45060" name="Slide Number Placeholder 3">
            <a:extLst>
              <a:ext uri="{FF2B5EF4-FFF2-40B4-BE49-F238E27FC236}">
                <a16:creationId xmlns:a16="http://schemas.microsoft.com/office/drawing/2014/main" id="{5EB8224F-5F83-4464-A326-8DCCC7211F8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F81CB4-E5F8-4EBA-A1D6-EBD5D7F5F6C4}" type="slidenum">
              <a:rPr lang="en-US" altLang="en-US">
                <a:solidFill>
                  <a:schemeClr val="bg1"/>
                </a:solidFill>
              </a:rPr>
              <a:pPr/>
              <a:t>27</a:t>
            </a:fld>
            <a:endParaRPr lang="en-US" altLang="en-US">
              <a:solidFill>
                <a:schemeClr val="bg1"/>
              </a:solidFill>
            </a:endParaRPr>
          </a:p>
        </p:txBody>
      </p:sp>
      <p:sp>
        <p:nvSpPr>
          <p:cNvPr id="45061" name="Footer Placeholder 4">
            <a:extLst>
              <a:ext uri="{FF2B5EF4-FFF2-40B4-BE49-F238E27FC236}">
                <a16:creationId xmlns:a16="http://schemas.microsoft.com/office/drawing/2014/main" id="{26B70BC9-F5A3-4CCF-8994-95CFB54605E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solidFill>
                  <a:schemeClr val="accent1"/>
                </a:solidFill>
              </a:rPr>
              <a:t>Lahore Garrison University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a:t>
            </a:r>
          </a:p>
        </p:txBody>
      </p:sp>
      <p:sp>
        <p:nvSpPr>
          <p:cNvPr id="3" name="Content Placeholder 2"/>
          <p:cNvSpPr>
            <a:spLocks noGrp="1"/>
          </p:cNvSpPr>
          <p:nvPr>
            <p:ph idx="1"/>
          </p:nvPr>
        </p:nvSpPr>
        <p:spPr>
          <a:xfrm>
            <a:off x="1122830" y="2507225"/>
            <a:ext cx="10659595" cy="3982065"/>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You are developing a real-time monitoring system for a hospital that tracks patients’ vital signs, such as heart rate, blood pressure, and oxygen levels. The system must alert medical staff immediately if a patient's condition become worst.</a:t>
            </a:r>
          </a:p>
          <a:p>
            <a:pPr marL="0" indent="0">
              <a:buNone/>
            </a:pPr>
            <a:r>
              <a:rPr lang="en-US" b="1" dirty="0">
                <a:latin typeface="Times New Roman" panose="02020603050405020304" pitchFamily="18" charset="0"/>
                <a:cs typeface="Times New Roman" panose="02020603050405020304" pitchFamily="18" charset="0"/>
              </a:rPr>
              <a:t>Questions: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Requirements:</a:t>
            </a:r>
          </a:p>
          <a:p>
            <a:r>
              <a:rPr lang="en-US" dirty="0">
                <a:latin typeface="Times New Roman" panose="02020603050405020304" pitchFamily="18" charset="0"/>
                <a:cs typeface="Times New Roman" panose="02020603050405020304" pitchFamily="18" charset="0"/>
              </a:rPr>
              <a:t>Identify which tasks in the monitoring system would be classified as hard real-time and which</a:t>
            </a:r>
          </a:p>
          <a:p>
            <a:pPr marL="0" indent="0">
              <a:buNone/>
            </a:pPr>
            <a:r>
              <a:rPr lang="en-US" dirty="0">
                <a:latin typeface="Times New Roman" panose="02020603050405020304" pitchFamily="18" charset="0"/>
                <a:cs typeface="Times New Roman" panose="02020603050405020304" pitchFamily="18" charset="0"/>
              </a:rPr>
              <a:t>      would be soft real-time. Justify your classifications.</a:t>
            </a:r>
          </a:p>
          <a:p>
            <a:r>
              <a:rPr lang="en-US" dirty="0">
                <a:latin typeface="Times New Roman" panose="02020603050405020304" pitchFamily="18" charset="0"/>
                <a:cs typeface="Times New Roman" panose="02020603050405020304" pitchFamily="18" charset="0"/>
              </a:rPr>
              <a:t>Interrupts, Traps and Signals</a:t>
            </a:r>
          </a:p>
          <a:p>
            <a:r>
              <a:rPr lang="en-US" dirty="0">
                <a:latin typeface="Times New Roman" panose="02020603050405020304" pitchFamily="18" charset="0"/>
                <a:cs typeface="Times New Roman" panose="02020603050405020304" pitchFamily="18" charset="0"/>
              </a:rPr>
              <a:t>Interrupts vs Traps</a:t>
            </a:r>
          </a:p>
          <a:p>
            <a:r>
              <a:rPr lang="en-US" altLang="en-US" dirty="0"/>
              <a:t>Dual Mode Operation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03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a:t>
            </a:r>
          </a:p>
        </p:txBody>
      </p:sp>
      <p:sp>
        <p:nvSpPr>
          <p:cNvPr id="5" name="Rectangle 2"/>
          <p:cNvSpPr>
            <a:spLocks noGrp="1" noChangeArrowheads="1"/>
          </p:cNvSpPr>
          <p:nvPr>
            <p:ph idx="1"/>
          </p:nvPr>
        </p:nvSpPr>
        <p:spPr bwMode="auto">
          <a:xfrm>
            <a:off x="1122364" y="3344020"/>
            <a:ext cx="101262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 employee is running a word processor, listening to music, and downloading a file </a:t>
            </a:r>
            <a:r>
              <a:rPr kumimoji="0" lang="en-US" altLang="en-US" sz="1800" b="1" i="0" u="none" strike="noStrike" cap="none" normalizeH="0" baseline="0" dirty="0">
                <a:ln>
                  <a:noFill/>
                </a:ln>
                <a:solidFill>
                  <a:schemeClr val="tx1"/>
                </a:solidFill>
                <a:effectLst/>
                <a:latin typeface="Arial" panose="020B0604020202020204" pitchFamily="34" charset="0"/>
              </a:rPr>
              <a:t>at the same time on a single computer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OS of that computer loads multiple programs into memory so they can share CPU time 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company also connects several computers together over a network so that tasks like file storage and computation can be shared</a:t>
            </a:r>
          </a:p>
        </p:txBody>
      </p:sp>
    </p:spTree>
    <p:extLst>
      <p:ext uri="{BB962C8B-B14F-4D97-AF65-F5344CB8AC3E}">
        <p14:creationId xmlns:p14="http://schemas.microsoft.com/office/powerpoint/2010/main" val="2154924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7834</TotalTime>
  <Words>1806</Words>
  <Application>Microsoft Office PowerPoint</Application>
  <PresentationFormat>Widescreen</PresentationFormat>
  <Paragraphs>226</Paragraphs>
  <Slides>29</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Arial</vt:lpstr>
      <vt:lpstr>Calibri</vt:lpstr>
      <vt:lpstr>Century Gothic</vt:lpstr>
      <vt:lpstr>Helvetica</vt:lpstr>
      <vt:lpstr>inter-bold</vt:lpstr>
      <vt:lpstr>inter-regular</vt:lpstr>
      <vt:lpstr>Poppins</vt:lpstr>
      <vt:lpstr>Times New Roman</vt:lpstr>
      <vt:lpstr>Verdana</vt:lpstr>
      <vt:lpstr>Wingdings</vt:lpstr>
      <vt:lpstr>Wingdings 3</vt:lpstr>
      <vt:lpstr>Ion Boardroom</vt:lpstr>
      <vt:lpstr>      CSC351-Operating System      Week-1  Lecture-2           Semester 05</vt:lpstr>
      <vt:lpstr>Agenda for today</vt:lpstr>
      <vt:lpstr>Single user operating systems</vt:lpstr>
      <vt:lpstr>Single &amp; Multi user Operating systems</vt:lpstr>
      <vt:lpstr>Batch Operating systems</vt:lpstr>
      <vt:lpstr>Memory layout of batch systems</vt:lpstr>
      <vt:lpstr>Batch system (conti…)</vt:lpstr>
      <vt:lpstr>Multi-programmed systems (non preemptive)</vt:lpstr>
      <vt:lpstr>Multiprogrammed Systems</vt:lpstr>
      <vt:lpstr>Os features needed for Multiprogramming</vt:lpstr>
      <vt:lpstr>Time sharing systems</vt:lpstr>
      <vt:lpstr>Distributed Operating System</vt:lpstr>
      <vt:lpstr>Real Time systems</vt:lpstr>
      <vt:lpstr>Real Time systems</vt:lpstr>
      <vt:lpstr>Real time systems (Cont..)</vt:lpstr>
      <vt:lpstr>Mobile OS</vt:lpstr>
      <vt:lpstr>Interrupts</vt:lpstr>
      <vt:lpstr>Interrupts, Traps and Signals </vt:lpstr>
      <vt:lpstr>Interrupts, trap, signals</vt:lpstr>
      <vt:lpstr>Interrupts, trap, signals</vt:lpstr>
      <vt:lpstr>Interrupt handling</vt:lpstr>
      <vt:lpstr>Interrupt handling (Cont..)</vt:lpstr>
      <vt:lpstr>PowerPoint Presentation</vt:lpstr>
      <vt:lpstr>Hardware protection</vt:lpstr>
      <vt:lpstr>Dual Mode Operation</vt:lpstr>
      <vt:lpstr>Dual Mode Operation</vt:lpstr>
      <vt:lpstr>Reference</vt:lpstr>
      <vt:lpstr>Task</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Zulkifl Hasan</dc:creator>
  <cp:lastModifiedBy>Shoaib Ch</cp:lastModifiedBy>
  <cp:revision>95</cp:revision>
  <dcterms:created xsi:type="dcterms:W3CDTF">2017-09-15T05:33:00Z</dcterms:created>
  <dcterms:modified xsi:type="dcterms:W3CDTF">2026-10-22T19:50:41Z</dcterms:modified>
</cp:coreProperties>
</file>