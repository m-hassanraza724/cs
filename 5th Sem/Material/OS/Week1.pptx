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2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 showGuides="1">
      <p:cViewPr varScale="1">
        <p:scale>
          <a:sx n="71" d="100"/>
          <a:sy n="71" d="100"/>
        </p:scale>
        <p:origin x="787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701675"/>
            <a:ext cx="4681537" cy="3511550"/>
          </a:xfrm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D74938-55F7-4DC8-8764-970D108552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3A00BB-B4EE-42A4-AC24-302EB7D43EB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6E5EEC-C07B-41DB-9CC3-1F02D0C0767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57B5D2-DE8D-4EF9-889E-79B8E6EF301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99B845-CED4-49E0-AFEF-48FD2C002C7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672991-CDC8-4F84-B8EB-CEEB23288ED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 userDrawn="1"/>
        </p:nvSpPr>
        <p:spPr bwMode="auto">
          <a:xfrm>
            <a:off x="4256146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2.</a:t>
            </a:r>
            <a:fld id="{3002ADDC-CC54-42C0-AD9E-FCEA6349E957}" type="slidenum"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86538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Week 1:  Introduction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3200"/>
            <a:ext cx="8034338" cy="576263"/>
          </a:xfrm>
        </p:spPr>
        <p:txBody>
          <a:bodyPr/>
          <a:lstStyle/>
          <a:p>
            <a:pPr eaLnBrk="1" hangingPunct="1"/>
            <a:r>
              <a:rPr lang="en-US" altLang="en-US"/>
              <a:t>Week 1: Introduction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What Operating Systems Do</a:t>
            </a:r>
            <a:endParaRPr lang="en-US" altLang="en-US"/>
          </a:p>
          <a:p>
            <a:r>
              <a:rPr lang="en-US" altLang="en-US"/>
              <a:t>Computer-System Organization</a:t>
            </a:r>
            <a:endParaRPr lang="en-US" altLang="en-US"/>
          </a:p>
          <a:p>
            <a:r>
              <a:rPr lang="en-US" altLang="en-US"/>
              <a:t>Computer-System Architecture</a:t>
            </a:r>
            <a:endParaRPr lang="en-US" altLang="en-US"/>
          </a:p>
          <a:p>
            <a:r>
              <a:rPr lang="en-US" altLang="en-US"/>
              <a:t>Operating-System Operations</a:t>
            </a:r>
            <a:endParaRPr lang="en-US" altLang="en-US"/>
          </a:p>
          <a:p>
            <a:pPr/>
            <a:r>
              <a:rPr lang="en-US" altLang="en-US">
                <a:sym typeface="+mn-ea"/>
              </a:rPr>
              <a:t>Operating System </a:t>
            </a:r>
            <a:r>
              <a:rPr lang="en-US" altLang="en-US">
                <a:sym typeface="+mn-ea"/>
              </a:rPr>
              <a:t>Architecture</a:t>
            </a:r>
            <a:endParaRPr lang="en-US" altLang="en-US">
              <a:sym typeface="+mn-ea"/>
            </a:endParaRPr>
          </a:p>
          <a:p>
            <a:pPr/>
            <a:r>
              <a:rPr lang="en-US" altLang="en-US">
                <a:sym typeface="+mn-ea"/>
              </a:rPr>
              <a:t>Kernel</a:t>
            </a: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66038" cy="4530725"/>
          </a:xfrm>
        </p:spPr>
        <p:txBody>
          <a:bodyPr/>
          <a:lstStyle/>
          <a:p>
            <a:r>
              <a:rPr lang="en-US" altLang="en-US"/>
              <a:t>Describe the general organization of a computer system and the role of interrupts</a:t>
            </a:r>
            <a:endParaRPr lang="en-US" altLang="en-US"/>
          </a:p>
          <a:p>
            <a:r>
              <a:rPr lang="en-US" altLang="en-US"/>
              <a:t>Describe the components in a modern, multiprocessor computer system</a:t>
            </a:r>
            <a:endParaRPr lang="en-US" altLang="en-US"/>
          </a:p>
          <a:p>
            <a:r>
              <a:rPr lang="en-US" altLang="en-US"/>
              <a:t>Illustrate the transition from user mode to kernel mode</a:t>
            </a:r>
            <a:endParaRPr lang="en-US" altLang="en-US"/>
          </a:p>
          <a:p>
            <a:r>
              <a:rPr lang="en-US" altLang="en-US"/>
              <a:t>Discuss how operating systems are used in various computing environments</a:t>
            </a:r>
            <a:endParaRPr lang="en-US" altLang="en-US"/>
          </a:p>
          <a:p>
            <a:r>
              <a:rPr lang="en-US" altLang="en-US"/>
              <a:t>Provide examples of free and open-source operating systems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1856" y="123144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What Does the Term Operating System Mean?</a:t>
            </a:r>
            <a:endParaRPr lang="en-US" altLang="en-US" sz="26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66038" cy="4530725"/>
          </a:xfrm>
        </p:spPr>
        <p:txBody>
          <a:bodyPr/>
          <a:lstStyle/>
          <a:p>
            <a:r>
              <a:rPr lang="en-US" altLang="en-US" dirty="0"/>
              <a:t>An operating system is “fill in the blanks”</a:t>
            </a:r>
            <a:endParaRPr lang="en-US" altLang="en-US" dirty="0"/>
          </a:p>
          <a:p>
            <a:r>
              <a:rPr lang="en-US" altLang="en-US" dirty="0"/>
              <a:t>What about:</a:t>
            </a:r>
            <a:endParaRPr lang="en-US" altLang="en-US" dirty="0"/>
          </a:p>
          <a:p>
            <a:pPr lvl="1"/>
            <a:r>
              <a:rPr lang="en-US" altLang="en-US" dirty="0"/>
              <a:t>Car </a:t>
            </a:r>
            <a:endParaRPr lang="en-US" altLang="en-US" dirty="0"/>
          </a:p>
          <a:p>
            <a:pPr lvl="1"/>
            <a:r>
              <a:rPr lang="en-US" altLang="en-US" dirty="0"/>
              <a:t>Airplane</a:t>
            </a:r>
            <a:endParaRPr lang="en-US" altLang="en-US" dirty="0"/>
          </a:p>
          <a:p>
            <a:pPr lvl="1"/>
            <a:r>
              <a:rPr lang="en-US" altLang="en-US" dirty="0"/>
              <a:t>Printer</a:t>
            </a:r>
            <a:endParaRPr lang="en-US" altLang="en-US" dirty="0"/>
          </a:p>
          <a:p>
            <a:pPr lvl="1"/>
            <a:r>
              <a:rPr lang="en-US" altLang="en-US" dirty="0"/>
              <a:t>Washing Machine</a:t>
            </a:r>
            <a:endParaRPr lang="en-US" altLang="en-US" dirty="0"/>
          </a:p>
          <a:p>
            <a:pPr lvl="1"/>
            <a:r>
              <a:rPr lang="en-US" altLang="en-US" dirty="0"/>
              <a:t>Toaster</a:t>
            </a:r>
            <a:endParaRPr lang="en-US" altLang="en-US" dirty="0"/>
          </a:p>
          <a:p>
            <a:pPr lvl="1"/>
            <a:r>
              <a:rPr lang="en-US" altLang="en-US" dirty="0"/>
              <a:t>Compiler</a:t>
            </a:r>
            <a:endParaRPr lang="en-US" altLang="en-US" dirty="0"/>
          </a:p>
          <a:p>
            <a:pPr lvl="1"/>
            <a:r>
              <a:rPr lang="en-US" altLang="en-US" dirty="0"/>
              <a:t>Etc.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63613" y="19843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What is an Operating System?</a:t>
            </a: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5513" y="1268413"/>
            <a:ext cx="7121525" cy="4159250"/>
          </a:xfrm>
        </p:spPr>
        <p:txBody>
          <a:bodyPr/>
          <a:lstStyle/>
          <a:p>
            <a:r>
              <a:rPr lang="en-US" altLang="en-US"/>
              <a:t>A program that acts as an intermediary between a user of a computer and the computer hardware</a:t>
            </a:r>
            <a:endParaRPr lang="en-US" altLang="en-US"/>
          </a:p>
          <a:p>
            <a:r>
              <a:rPr lang="en-US" altLang="en-US"/>
              <a:t>Operating system goals:</a:t>
            </a:r>
            <a:endParaRPr lang="en-US" altLang="en-US"/>
          </a:p>
          <a:p>
            <a:pPr lvl="1"/>
            <a:r>
              <a:rPr lang="en-US" altLang="en-US"/>
              <a:t>Execute user programs and make solving user problems easier</a:t>
            </a:r>
            <a:endParaRPr lang="en-US" altLang="en-US"/>
          </a:p>
          <a:p>
            <a:pPr lvl="1"/>
            <a:r>
              <a:rPr lang="en-US" altLang="en-US"/>
              <a:t>Make the computer system convenient to use</a:t>
            </a:r>
            <a:endParaRPr lang="en-US" altLang="en-US"/>
          </a:p>
          <a:p>
            <a:pPr lvl="1"/>
            <a:r>
              <a:rPr lang="en-US" altLang="en-US"/>
              <a:t>Use the computer hardware in an efficient manner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201613"/>
            <a:ext cx="7532688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Structure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204913"/>
            <a:ext cx="7772400" cy="4483100"/>
          </a:xfrm>
        </p:spPr>
        <p:txBody>
          <a:bodyPr/>
          <a:lstStyle/>
          <a:p>
            <a:r>
              <a:rPr lang="en-US" altLang="en-US"/>
              <a:t>Computer system can be divided into four components:</a:t>
            </a:r>
            <a:endParaRPr lang="en-US" altLang="en-US"/>
          </a:p>
          <a:p>
            <a:pPr lvl="1"/>
            <a:r>
              <a:rPr lang="en-US" altLang="en-US"/>
              <a:t>Hardware – provides basic computing resources</a:t>
            </a:r>
            <a:endParaRPr lang="en-US" altLang="en-US"/>
          </a:p>
          <a:p>
            <a:pPr lvl="2"/>
            <a:r>
              <a:rPr lang="en-US" altLang="en-US"/>
              <a:t>CPU, memory, I/O devices</a:t>
            </a:r>
            <a:endParaRPr lang="en-US" altLang="en-US"/>
          </a:p>
          <a:p>
            <a:pPr lvl="1"/>
            <a:r>
              <a:rPr lang="en-US" altLang="en-US"/>
              <a:t>Operating system</a:t>
            </a:r>
            <a:endParaRPr lang="en-US" altLang="en-US"/>
          </a:p>
          <a:p>
            <a:pPr lvl="2"/>
            <a:r>
              <a:rPr lang="en-US" altLang="en-US"/>
              <a:t>Controls and coordinates use of hardware among various applications and users</a:t>
            </a:r>
            <a:endParaRPr lang="en-US" altLang="en-US"/>
          </a:p>
          <a:p>
            <a:pPr lvl="1"/>
            <a:r>
              <a:rPr lang="en-US" altLang="en-US"/>
              <a:t>Application programs – define the ways in which the system resources are used to solve the computing problems of the users</a:t>
            </a:r>
            <a:endParaRPr lang="en-US" altLang="en-US"/>
          </a:p>
          <a:p>
            <a:pPr lvl="2"/>
            <a:r>
              <a:rPr lang="en-US" altLang="en-US"/>
              <a:t>Word processors, compilers, web browsers, database systems, video games</a:t>
            </a:r>
            <a:endParaRPr lang="en-US" altLang="en-US"/>
          </a:p>
          <a:p>
            <a:pPr lvl="1"/>
            <a:r>
              <a:rPr lang="en-US" altLang="en-US"/>
              <a:t>Users</a:t>
            </a:r>
            <a:endParaRPr lang="en-US" altLang="en-US"/>
          </a:p>
          <a:p>
            <a:pPr lvl="2"/>
            <a:r>
              <a:rPr lang="en-US" altLang="en-US"/>
              <a:t>People, machines, other computers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Abstract View of Components of Computer</a:t>
            </a:r>
            <a:endParaRPr lang="en-US" altLang="en-US" sz="2800"/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1871663"/>
            <a:ext cx="462121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126413" cy="576262"/>
          </a:xfrm>
        </p:spPr>
        <p:txBody>
          <a:bodyPr/>
          <a:lstStyle/>
          <a:p>
            <a:r>
              <a:rPr lang="en-US" altLang="en-US" dirty="0"/>
              <a:t>What Operating Systems Do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746125" y="1120775"/>
            <a:ext cx="7940675" cy="4530725"/>
          </a:xfrm>
        </p:spPr>
        <p:txBody>
          <a:bodyPr/>
          <a:lstStyle/>
          <a:p>
            <a:r>
              <a:rPr lang="en-US" altLang="en-US" dirty="0"/>
              <a:t>Depends on the point of view</a:t>
            </a:r>
            <a:endParaRPr lang="en-US" altLang="en-US" dirty="0"/>
          </a:p>
          <a:p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ease of 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good performance 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resource utilization</a:t>
            </a:r>
            <a:endParaRPr lang="en-US" altLang="ja-JP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minicomputer</a:t>
            </a:r>
            <a:r>
              <a:rPr lang="en-US" altLang="en-US" dirty="0"/>
              <a:t> must keep all users happy</a:t>
            </a:r>
            <a:endParaRPr lang="en-US" altLang="en-US" dirty="0"/>
          </a:p>
          <a:p>
            <a:pPr lvl="1"/>
            <a:r>
              <a:rPr lang="en-US" altLang="en-US" dirty="0"/>
              <a:t>Operating system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resource allocator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 program </a:t>
            </a:r>
            <a:r>
              <a:rPr lang="en-US" altLang="en-US" dirty="0"/>
              <a:t>making efficient use of HW and managing execution of user programs</a:t>
            </a:r>
            <a:endParaRPr lang="en-US" altLang="en-US" dirty="0"/>
          </a:p>
          <a:p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workstations</a:t>
            </a:r>
            <a:r>
              <a:rPr lang="en-US" altLang="en-US" dirty="0"/>
              <a:t> have dedicated resources but frequently use shared resources from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servers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Mobile user interfaces such as touch screens, voice recognition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Run primarily without user intervention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6338" y="195263"/>
            <a:ext cx="7342187" cy="576262"/>
          </a:xfrm>
        </p:spPr>
        <p:txBody>
          <a:bodyPr/>
          <a:lstStyle/>
          <a:p>
            <a:pPr eaLnBrk="1" hangingPunct="1"/>
            <a:r>
              <a:rPr lang="en-US" altLang="en-US"/>
              <a:t>Defining Operating Systems</a:t>
            </a:r>
            <a:endParaRPr lang="en-US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028700"/>
            <a:ext cx="7441293" cy="419644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Term OS covers many roles</a:t>
            </a:r>
            <a:endParaRPr lang="en-US" altLang="en-US" dirty="0"/>
          </a:p>
          <a:p>
            <a:pPr lvl="1"/>
            <a:r>
              <a:rPr lang="en-US" altLang="en-US" dirty="0"/>
              <a:t>Because of myriad designs and uses of OSes</a:t>
            </a:r>
            <a:endParaRPr lang="en-US" altLang="en-US" dirty="0"/>
          </a:p>
          <a:p>
            <a:pPr lvl="1"/>
            <a:r>
              <a:rPr lang="en-US" altLang="en-US" dirty="0"/>
              <a:t>Present in toasters through ships, spacecraft, game machines, TVs and industrial control systems</a:t>
            </a:r>
            <a:endParaRPr lang="en-US" altLang="en-US" dirty="0"/>
          </a:p>
          <a:p>
            <a:pPr lvl="1"/>
            <a:r>
              <a:rPr lang="en-US" altLang="en-US" dirty="0"/>
              <a:t>Born when fixed use computers for military became more general purpose and needed resource management and program control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26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 Definition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4225" y="1247775"/>
            <a:ext cx="7989661" cy="4728482"/>
          </a:xfrm>
        </p:spPr>
        <p:txBody>
          <a:bodyPr/>
          <a:lstStyle/>
          <a:p>
            <a:r>
              <a:rPr lang="en-US" altLang="en-US" dirty="0"/>
              <a:t>No universally accepted definition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Everything a vendor ships when you order an operating system</a:t>
            </a:r>
            <a:r>
              <a:rPr lang="ja-JP" altLang="en-US" dirty="0"/>
              <a:t>”</a:t>
            </a:r>
            <a:r>
              <a:rPr lang="en-US" altLang="ja-JP" dirty="0"/>
              <a:t> is a good approximation</a:t>
            </a:r>
            <a:endParaRPr lang="en-US" altLang="ja-JP" dirty="0"/>
          </a:p>
          <a:p>
            <a:pPr lvl="1"/>
            <a:r>
              <a:rPr lang="en-US" altLang="en-US" dirty="0"/>
              <a:t>But varies wildly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The one program running at all times on the computer</a:t>
            </a:r>
            <a:r>
              <a:rPr lang="ja-JP" altLang="en-US" dirty="0"/>
              <a:t>”</a:t>
            </a:r>
            <a:r>
              <a:rPr lang="en-US" altLang="ja-JP" dirty="0"/>
              <a:t> is the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kernel, </a:t>
            </a:r>
            <a:r>
              <a:rPr lang="en-US" altLang="ja-JP" dirty="0"/>
              <a:t>part of the operating system</a:t>
            </a:r>
            <a:endParaRPr lang="en-US" altLang="ja-JP" dirty="0"/>
          </a:p>
          <a:p>
            <a:r>
              <a:rPr lang="en-US" altLang="ja-JP" dirty="0"/>
              <a:t>Everything else is either</a:t>
            </a:r>
            <a:endParaRPr lang="en-US" altLang="ja-JP" dirty="0"/>
          </a:p>
          <a:p>
            <a:pPr lvl="1"/>
            <a:r>
              <a:rPr lang="en-US" altLang="ja-JP" dirty="0"/>
              <a:t>A </a:t>
            </a:r>
            <a:r>
              <a:rPr lang="en-US" altLang="ja-JP" b="1" i="1" dirty="0">
                <a:solidFill>
                  <a:srgbClr val="006699"/>
                </a:solidFill>
                <a:latin typeface="+mj-lt"/>
              </a:rPr>
              <a:t>system program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(ships with the operating system, but not part of the kernel) , or</a:t>
            </a:r>
            <a:endParaRPr lang="en-US" altLang="ja-JP" dirty="0"/>
          </a:p>
          <a:p>
            <a:pPr lvl="1"/>
            <a:r>
              <a:rPr lang="en-US" altLang="ja-JP" dirty="0"/>
              <a:t>An </a:t>
            </a:r>
            <a:r>
              <a:rPr lang="en-US" altLang="ja-JP" b="1" i="1" dirty="0">
                <a:solidFill>
                  <a:srgbClr val="006699"/>
                </a:solidFill>
                <a:latin typeface="+mj-lt"/>
              </a:rPr>
              <a:t>application program</a:t>
            </a:r>
            <a:r>
              <a:rPr lang="en-US" altLang="ja-JP" dirty="0"/>
              <a:t>, all programs not associated with the operating system</a:t>
            </a:r>
            <a:endParaRPr lang="en-US" altLang="ja-JP" dirty="0"/>
          </a:p>
          <a:p>
            <a:r>
              <a:rPr lang="en-US" altLang="en-US" dirty="0"/>
              <a:t>Today’s OSes for general purpose and mobile computing also include 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middleware</a:t>
            </a:r>
            <a:r>
              <a:rPr lang="en-US" altLang="en-US" dirty="0"/>
              <a:t> – a set of software frameworks that provide additional services to application developers such as databases, multimedia, graphics 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229600" cy="576262"/>
          </a:xfrm>
        </p:spPr>
        <p:txBody>
          <a:bodyPr/>
          <a:lstStyle/>
          <a:p>
            <a:r>
              <a:rPr lang="en-US" altLang="en-US"/>
              <a:t>Operating System Structure</a:t>
            </a:r>
            <a:endParaRPr lang="en-US" altLang="en-US"/>
          </a:p>
        </p:txBody>
      </p:sp>
      <p:sp>
        <p:nvSpPr>
          <p:cNvPr id="768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5025" y="1241425"/>
            <a:ext cx="6918325" cy="4530725"/>
          </a:xfrm>
        </p:spPr>
        <p:txBody>
          <a:bodyPr/>
          <a:lstStyle/>
          <a:p>
            <a:r>
              <a:rPr lang="en-US" altLang="en-US" dirty="0"/>
              <a:t>General-purpose OS is very large program</a:t>
            </a:r>
            <a:endParaRPr lang="en-US" altLang="en-US" dirty="0"/>
          </a:p>
          <a:p>
            <a:r>
              <a:rPr lang="en-US" altLang="en-US" dirty="0"/>
              <a:t>Various ways to structure ones</a:t>
            </a:r>
            <a:endParaRPr lang="en-US" altLang="en-US" dirty="0"/>
          </a:p>
          <a:p>
            <a:pPr lvl="1"/>
            <a:r>
              <a:rPr lang="en-US" altLang="en-US" dirty="0"/>
              <a:t>Simple structure – MS-DOS</a:t>
            </a:r>
            <a:endParaRPr lang="en-US" altLang="en-US" dirty="0"/>
          </a:p>
          <a:p>
            <a:pPr lvl="1"/>
            <a:r>
              <a:rPr lang="en-US" altLang="en-US" dirty="0"/>
              <a:t>More complex – UNIX</a:t>
            </a:r>
            <a:endParaRPr lang="en-US" altLang="en-US" dirty="0"/>
          </a:p>
          <a:p>
            <a:pPr lvl="1"/>
            <a:r>
              <a:rPr lang="en-US" altLang="en-US" dirty="0"/>
              <a:t>Layered – an abstraction</a:t>
            </a:r>
            <a:endParaRPr lang="en-US" altLang="en-US" dirty="0"/>
          </a:p>
          <a:p>
            <a:pPr lvl="1"/>
            <a:r>
              <a:rPr lang="en-US" altLang="en-US" dirty="0"/>
              <a:t>Microkernel – Mach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69320" y="289485"/>
            <a:ext cx="8137525" cy="457200"/>
          </a:xfrm>
        </p:spPr>
        <p:txBody>
          <a:bodyPr/>
          <a:lstStyle/>
          <a:p>
            <a:pPr eaLnBrk="1" hangingPunct="1"/>
            <a:r>
              <a:rPr lang="en-US" altLang="en-US"/>
              <a:t>Monolithic Structure – Original UNIX</a:t>
            </a:r>
            <a:endParaRPr lang="en-US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8" y="1155700"/>
            <a:ext cx="7743825" cy="4073525"/>
          </a:xfrm>
        </p:spPr>
        <p:txBody>
          <a:bodyPr/>
          <a:lstStyle/>
          <a:p>
            <a:r>
              <a:rPr lang="en-US" altLang="en-US" dirty="0"/>
              <a:t>UNIX – limited by hardware functionality, the original UNIX operating system had limited structuring.  </a:t>
            </a:r>
            <a:endParaRPr lang="en-US" altLang="en-US" dirty="0"/>
          </a:p>
          <a:p>
            <a:r>
              <a:rPr lang="en-US" altLang="en-US" dirty="0"/>
              <a:t>The UNIX OS consists of two separable parts</a:t>
            </a:r>
            <a:endParaRPr lang="en-US" altLang="en-US" dirty="0"/>
          </a:p>
          <a:p>
            <a:pPr lvl="1"/>
            <a:r>
              <a:rPr lang="en-US" altLang="en-US" dirty="0"/>
              <a:t>Systems programs</a:t>
            </a:r>
            <a:endParaRPr lang="en-US" altLang="en-US" dirty="0"/>
          </a:p>
          <a:p>
            <a:pPr lvl="1"/>
            <a:r>
              <a:rPr lang="en-US" altLang="en-US" dirty="0"/>
              <a:t>The kernel</a:t>
            </a:r>
            <a:endParaRPr lang="en-US" altLang="en-US" dirty="0"/>
          </a:p>
          <a:p>
            <a:pPr lvl="2"/>
            <a:r>
              <a:rPr lang="en-US" altLang="en-US" dirty="0"/>
              <a:t>Consists of everything below the system-call interface and above the physical hardware</a:t>
            </a:r>
            <a:endParaRPr lang="en-US" altLang="en-US" dirty="0"/>
          </a:p>
          <a:p>
            <a:pPr lvl="2"/>
            <a:r>
              <a:rPr lang="en-US" altLang="en-US" dirty="0"/>
              <a:t>Provides the file system, CPU scheduling, memory management, and other operating-system functions; a large number of functions for one level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206375"/>
            <a:ext cx="7693025" cy="576263"/>
          </a:xfrm>
        </p:spPr>
        <p:txBody>
          <a:bodyPr/>
          <a:lstStyle/>
          <a:p>
            <a:pPr eaLnBrk="1" hangingPunct="1"/>
            <a:r>
              <a:rPr lang="en-US" altLang="en-US"/>
              <a:t>Traditional UNIX System Structure</a:t>
            </a:r>
            <a:endParaRPr lang="en-US" altLang="en-US"/>
          </a:p>
        </p:txBody>
      </p:sp>
      <p:sp>
        <p:nvSpPr>
          <p:cNvPr id="43011" name="TextBox 1"/>
          <p:cNvSpPr txBox="1">
            <a:spLocks noChangeArrowheads="1"/>
          </p:cNvSpPr>
          <p:nvPr/>
        </p:nvSpPr>
        <p:spPr bwMode="auto">
          <a:xfrm>
            <a:off x="1316038" y="1096963"/>
            <a:ext cx="6897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dirty="0">
                <a:latin typeface="+mn-lt"/>
              </a:rPr>
              <a:t>Beyond simple but not fully layered</a:t>
            </a:r>
            <a:endParaRPr lang="en-US" altLang="en-US" dirty="0">
              <a:latin typeface="+mn-lt"/>
            </a:endParaRPr>
          </a:p>
        </p:txBody>
      </p:sp>
      <p:pic>
        <p:nvPicPr>
          <p:cNvPr id="7987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169" y="1718273"/>
            <a:ext cx="6409756" cy="3872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215900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en-US"/>
              <a:t>Linux System Structure</a:t>
            </a:r>
            <a:endParaRPr lang="en-US" altLang="en-US"/>
          </a:p>
        </p:txBody>
      </p:sp>
      <p:sp>
        <p:nvSpPr>
          <p:cNvPr id="81923" name="TextBox 1"/>
          <p:cNvSpPr txBox="1">
            <a:spLocks noChangeArrowheads="1"/>
          </p:cNvSpPr>
          <p:nvPr/>
        </p:nvSpPr>
        <p:spPr bwMode="auto">
          <a:xfrm>
            <a:off x="1225550" y="1096963"/>
            <a:ext cx="6988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latin typeface="Verdana" panose="020B0604030504040204" pitchFamily="34" charset="0"/>
              </a:rPr>
              <a:t>Monolithic plus modular design</a:t>
            </a:r>
            <a:endParaRPr kumimoji="0" lang="en-US" altLang="en-US">
              <a:latin typeface="Verdana" panose="020B0604030504040204" pitchFamily="34" charset="0"/>
            </a:endParaRPr>
          </a:p>
        </p:txBody>
      </p:sp>
      <p:pic>
        <p:nvPicPr>
          <p:cNvPr id="8192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230" y="1674471"/>
            <a:ext cx="2740269" cy="423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96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Layered Approach</a:t>
            </a:r>
            <a:endParaRPr lang="en-US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233488"/>
            <a:ext cx="3735387" cy="4530725"/>
          </a:xfrm>
        </p:spPr>
        <p:txBody>
          <a:bodyPr/>
          <a:lstStyle/>
          <a:p>
            <a:r>
              <a:rPr lang="en-US" altLang="en-US"/>
              <a:t>The operating system is divided into a number of layers (levels), each built on top of lower layers.  The bottom layer (layer 0), is the hardware; the highest (layer N) is the user interface.</a:t>
            </a:r>
            <a:endParaRPr lang="en-US" altLang="en-US"/>
          </a:p>
          <a:p>
            <a:r>
              <a:rPr lang="en-US" altLang="en-US"/>
              <a:t>With modularity, layers are selected such that each uses functions (operations) and services of only lower-level layers</a:t>
            </a:r>
            <a:endParaRPr lang="en-US" altLang="en-US"/>
          </a:p>
        </p:txBody>
      </p:sp>
      <p:pic>
        <p:nvPicPr>
          <p:cNvPr id="8397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757" y="1257727"/>
            <a:ext cx="3547958" cy="3289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207963"/>
            <a:ext cx="7816850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Microkernels</a:t>
            </a:r>
            <a:endParaRPr lang="en-US" altLang="en-US" sz="240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757238" y="1108075"/>
            <a:ext cx="7225619" cy="4857296"/>
          </a:xfrm>
        </p:spPr>
        <p:txBody>
          <a:bodyPr/>
          <a:lstStyle/>
          <a:p>
            <a:r>
              <a:rPr lang="en-US" altLang="en-US" dirty="0"/>
              <a:t>Moves as much from the kernel into user space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Mach</a:t>
            </a:r>
            <a:r>
              <a:rPr lang="en-US" altLang="en-US" dirty="0"/>
              <a:t> is an example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microkernel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800" dirty="0"/>
          </a:p>
          <a:p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Benefits:</a:t>
            </a:r>
            <a:endParaRPr lang="en-US" altLang="en-US" dirty="0"/>
          </a:p>
          <a:p>
            <a:pPr lvl="1"/>
            <a:r>
              <a:rPr lang="en-US" altLang="en-US" dirty="0"/>
              <a:t>Easier to extend a microkernel</a:t>
            </a:r>
            <a:endParaRPr lang="en-US" altLang="en-US" dirty="0"/>
          </a:p>
          <a:p>
            <a:pPr lvl="1"/>
            <a:r>
              <a:rPr lang="en-US" altLang="en-US" dirty="0"/>
              <a:t>Easier to port the operating system to new architectures</a:t>
            </a:r>
            <a:endParaRPr lang="en-US" altLang="en-US" dirty="0"/>
          </a:p>
          <a:p>
            <a:pPr lvl="1"/>
            <a:r>
              <a:rPr lang="en-US" altLang="en-US" dirty="0"/>
              <a:t>More reliable (less code is running in kernel mode)</a:t>
            </a:r>
            <a:endParaRPr lang="en-US" altLang="en-US" dirty="0"/>
          </a:p>
          <a:p>
            <a:pPr lvl="1"/>
            <a:r>
              <a:rPr lang="en-US" altLang="en-US" dirty="0"/>
              <a:t>More secure</a:t>
            </a:r>
            <a:endParaRPr lang="en-US" altLang="en-US" sz="800" dirty="0"/>
          </a:p>
          <a:p>
            <a:r>
              <a:rPr lang="en-US" altLang="en-US" dirty="0"/>
              <a:t>Detriments:</a:t>
            </a:r>
            <a:endParaRPr lang="en-US" altLang="en-US" dirty="0"/>
          </a:p>
          <a:p>
            <a:pPr lvl="1"/>
            <a:r>
              <a:rPr lang="en-US" altLang="en-US" dirty="0"/>
              <a:t>Performance overhead of user space to kernel space communication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288" y="214313"/>
            <a:ext cx="7399337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pic>
        <p:nvPicPr>
          <p:cNvPr id="8806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29" y="1557524"/>
            <a:ext cx="6795238" cy="328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4749</Words>
  <Application>WPS Presentation</Application>
  <PresentationFormat>On-screen Show (4:3)</PresentationFormat>
  <Paragraphs>134</Paragraphs>
  <Slides>17</Slides>
  <Notes>61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Microsoft YaHei</vt:lpstr>
      <vt:lpstr>Arial Unicode MS</vt:lpstr>
      <vt:lpstr>Wingdings</vt:lpstr>
      <vt:lpstr>os-8</vt:lpstr>
      <vt:lpstr>os-8</vt:lpstr>
      <vt:lpstr>Chapter 1:  Introduction</vt:lpstr>
      <vt:lpstr>Chapter 1: Introduction</vt:lpstr>
      <vt:lpstr>Objectives</vt:lpstr>
      <vt:lpstr>What Does the Term Operating System Mean?</vt:lpstr>
      <vt:lpstr>What is an Operating System?</vt:lpstr>
      <vt:lpstr>Computer System Structure</vt:lpstr>
      <vt:lpstr>Abstract View of Components of Computer</vt:lpstr>
      <vt:lpstr>What Operating Systems Do</vt:lpstr>
      <vt:lpstr>Defining Operating Systems</vt:lpstr>
      <vt:lpstr>Operating System Definition</vt:lpstr>
      <vt:lpstr>Operating System Structure</vt:lpstr>
      <vt:lpstr>Monolithic Structure – Original UNIX</vt:lpstr>
      <vt:lpstr>Traditional UNIX System Structure</vt:lpstr>
      <vt:lpstr>Linux System Structure</vt:lpstr>
      <vt:lpstr>Layered Approach</vt:lpstr>
      <vt:lpstr>Microkernels</vt:lpstr>
      <vt:lpstr>Microkernel System Structure 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GOOGLE</cp:lastModifiedBy>
  <cp:revision>257</cp:revision>
  <cp:lastPrinted>2001-06-14T13:58:00Z</cp:lastPrinted>
  <dcterms:created xsi:type="dcterms:W3CDTF">2011-01-13T23:43:00Z</dcterms:created>
  <dcterms:modified xsi:type="dcterms:W3CDTF">2026-09-11T06:02:54Z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817CEE5E3B8D4CC4B2C6A12D169AA832_12</vt:lpwstr>
  </property>
  <property fmtid="{D5CDD505-2E9C-101B-9397-08002B2CF9AE}" pid="3" name="KSOProductBuildVer">
    <vt:lpwstr>1033-12.2.0.23196</vt:lpwstr>
  </property>
</Properties>
</file>