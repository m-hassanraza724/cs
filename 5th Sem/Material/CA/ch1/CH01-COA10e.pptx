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324" r:id="rId4"/>
    <p:sldId id="325" r:id="rId5"/>
    <p:sldId id="258" r:id="rId6"/>
    <p:sldId id="326" r:id="rId7"/>
    <p:sldId id="259" r:id="rId8"/>
    <p:sldId id="263" r:id="rId9"/>
    <p:sldId id="264" r:id="rId10"/>
    <p:sldId id="327" r:id="rId11"/>
    <p:sldId id="328" r:id="rId12"/>
    <p:sldId id="329" r:id="rId13"/>
    <p:sldId id="330" r:id="rId14"/>
    <p:sldId id="331" r:id="rId15"/>
    <p:sldId id="332" r:id="rId16"/>
    <p:sldId id="265" r:id="rId17"/>
    <p:sldId id="266" r:id="rId18"/>
    <p:sldId id="267" r:id="rId19"/>
    <p:sldId id="268" r:id="rId20"/>
    <p:sldId id="270" r:id="rId21"/>
    <p:sldId id="269" r:id="rId22"/>
    <p:sldId id="271" r:id="rId23"/>
    <p:sldId id="282" r:id="rId24"/>
    <p:sldId id="274" r:id="rId25"/>
    <p:sldId id="276" r:id="rId26"/>
    <p:sldId id="277" r:id="rId27"/>
    <p:sldId id="275" r:id="rId28"/>
    <p:sldId id="278" r:id="rId29"/>
    <p:sldId id="279" r:id="rId30"/>
    <p:sldId id="280" r:id="rId31"/>
    <p:sldId id="281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</p:sldIdLst>
  <p:sldSz cx="9144000" cy="6858000" type="screen4x3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58" y="-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1CC7F-6097-41A0-84AE-E2BA86D938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857A4-80A6-4F38-BAE4-8D712FA7E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35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Rectangle 7"/>
          <p:cNvSpPr txBox="1"/>
          <p:nvPr/>
        </p:nvSpPr>
        <p:spPr>
          <a:xfrm>
            <a:off x="5181600" y="651510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vert="horz" lIns="90000" tIns="46800" rIns="90000" bIns="46800" anchor="b"/>
          <a:lstStyle/>
          <a:p>
            <a:pPr lvl="0" algn="r"/>
            <a:fld id="{566ABCEB-ACFC-4714-9973-3DA970169C29}" type="slidenum">
              <a:rPr lang="en-US" altLang="en-US" sz="1200"/>
              <a:pPr lvl="0" algn="r"/>
              <a:t>10</a:t>
            </a:fld>
            <a:endParaRPr lang="en-US" altLang="en-US" sz="1200"/>
          </a:p>
        </p:txBody>
      </p:sp>
      <p:sp>
        <p:nvSpPr>
          <p:cNvPr id="1048627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</p:spPr>
        <p:txBody>
          <a:bodyPr vert="horz" wrap="none" lIns="90000" tIns="46800" rIns="90000" bIns="46800" anchor="ctr"/>
          <a:lstStyle/>
          <a:p>
            <a:endParaRPr/>
          </a:p>
        </p:txBody>
      </p:sp>
      <p:sp>
        <p:nvSpPr>
          <p:cNvPr id="1048628" name="Rectangle 3"/>
          <p:cNvSpPr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  <a:noFill/>
        </p:spPr>
        <p:txBody>
          <a:bodyPr vert="horz" lIns="90000" tIns="46800" rIns="90000" bIns="46800" anchor="t"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Rectangle 7"/>
          <p:cNvSpPr txBox="1"/>
          <p:nvPr/>
        </p:nvSpPr>
        <p:spPr>
          <a:xfrm>
            <a:off x="5181600" y="651510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vert="horz" lIns="90000" tIns="46800" rIns="90000" bIns="46800" anchor="b"/>
          <a:lstStyle/>
          <a:p>
            <a:pPr lvl="0" algn="r"/>
            <a:fld id="{566ABCEB-ACFC-4714-9973-3DA970169C29}" type="slidenum">
              <a:rPr lang="en-US" altLang="en-US" sz="1200"/>
              <a:pPr lvl="0" algn="r"/>
              <a:t>11</a:t>
            </a:fld>
            <a:endParaRPr lang="en-US" altLang="en-US" sz="1200"/>
          </a:p>
        </p:txBody>
      </p:sp>
      <p:sp>
        <p:nvSpPr>
          <p:cNvPr id="104863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</p:spPr>
        <p:txBody>
          <a:bodyPr vert="horz" wrap="none" lIns="90000" tIns="46800" rIns="90000" bIns="46800" anchor="ctr"/>
          <a:lstStyle/>
          <a:p>
            <a:endParaRPr/>
          </a:p>
        </p:txBody>
      </p:sp>
      <p:sp>
        <p:nvSpPr>
          <p:cNvPr id="1048633" name="Rectangle 3"/>
          <p:cNvSpPr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  <a:noFill/>
        </p:spPr>
        <p:txBody>
          <a:bodyPr vert="horz" lIns="90000" tIns="46800" rIns="90000" bIns="46800" anchor="t"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Rectangle 7"/>
          <p:cNvSpPr txBox="1"/>
          <p:nvPr/>
        </p:nvSpPr>
        <p:spPr>
          <a:xfrm>
            <a:off x="5181600" y="651510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vert="horz" lIns="90000" tIns="46800" rIns="90000" bIns="46800" anchor="b"/>
          <a:lstStyle/>
          <a:p>
            <a:pPr lvl="0" algn="r"/>
            <a:fld id="{566ABCEB-ACFC-4714-9973-3DA970169C29}" type="slidenum">
              <a:rPr lang="en-US" altLang="en-US" sz="1200"/>
              <a:pPr lvl="0" algn="r"/>
              <a:t>12</a:t>
            </a:fld>
            <a:endParaRPr lang="en-US" altLang="en-US" sz="1200"/>
          </a:p>
        </p:txBody>
      </p:sp>
      <p:sp>
        <p:nvSpPr>
          <p:cNvPr id="1048637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</p:spPr>
        <p:txBody>
          <a:bodyPr vert="horz" wrap="none" lIns="90000" tIns="46800" rIns="90000" bIns="46800" anchor="ctr"/>
          <a:lstStyle/>
          <a:p>
            <a:endParaRPr/>
          </a:p>
        </p:txBody>
      </p:sp>
      <p:sp>
        <p:nvSpPr>
          <p:cNvPr id="1048638" name="Rectangle 3"/>
          <p:cNvSpPr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  <a:noFill/>
        </p:spPr>
        <p:txBody>
          <a:bodyPr vert="horz" lIns="90000" tIns="46800" rIns="90000" bIns="46800" anchor="t"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7"/>
          <p:cNvSpPr txBox="1"/>
          <p:nvPr/>
        </p:nvSpPr>
        <p:spPr>
          <a:xfrm>
            <a:off x="5181600" y="651510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vert="horz" lIns="90000" tIns="46800" rIns="90000" bIns="46800" anchor="b"/>
          <a:lstStyle/>
          <a:p>
            <a:pPr lvl="0" algn="r"/>
            <a:fld id="{566ABCEB-ACFC-4714-9973-3DA970169C29}" type="slidenum">
              <a:rPr lang="en-US" altLang="en-US" sz="1200"/>
              <a:pPr lvl="0" algn="r"/>
              <a:t>13</a:t>
            </a:fld>
            <a:endParaRPr lang="en-US" altLang="en-US" sz="1200"/>
          </a:p>
        </p:txBody>
      </p:sp>
      <p:sp>
        <p:nvSpPr>
          <p:cNvPr id="104864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</p:spPr>
        <p:txBody>
          <a:bodyPr vert="horz" wrap="none" lIns="90000" tIns="46800" rIns="90000" bIns="46800" anchor="ctr"/>
          <a:lstStyle/>
          <a:p>
            <a:endParaRPr/>
          </a:p>
        </p:txBody>
      </p:sp>
      <p:sp>
        <p:nvSpPr>
          <p:cNvPr id="1048643" name="Rectangle 3"/>
          <p:cNvSpPr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  <a:noFill/>
        </p:spPr>
        <p:txBody>
          <a:bodyPr vert="horz" lIns="90000" tIns="46800" rIns="90000" bIns="46800" anchor="t"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Rectangle 7"/>
          <p:cNvSpPr txBox="1"/>
          <p:nvPr/>
        </p:nvSpPr>
        <p:spPr>
          <a:xfrm>
            <a:off x="5181600" y="651510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vert="horz" lIns="90000" tIns="46800" rIns="90000" bIns="46800" anchor="b"/>
          <a:lstStyle/>
          <a:p>
            <a:pPr lvl="0" algn="r"/>
            <a:fld id="{566ABCEB-ACFC-4714-9973-3DA970169C29}" type="slidenum">
              <a:rPr lang="en-US" altLang="en-US" sz="1200"/>
              <a:pPr lvl="0" algn="r"/>
              <a:t>14</a:t>
            </a:fld>
            <a:endParaRPr lang="en-US" altLang="en-US" sz="1200"/>
          </a:p>
        </p:txBody>
      </p:sp>
      <p:sp>
        <p:nvSpPr>
          <p:cNvPr id="1048647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</p:spPr>
        <p:txBody>
          <a:bodyPr vert="horz" wrap="none" lIns="90000" tIns="46800" rIns="90000" bIns="46800" anchor="ctr"/>
          <a:lstStyle/>
          <a:p>
            <a:endParaRPr/>
          </a:p>
        </p:txBody>
      </p:sp>
      <p:sp>
        <p:nvSpPr>
          <p:cNvPr id="1048648" name="Rectangle 3"/>
          <p:cNvSpPr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  <a:noFill/>
        </p:spPr>
        <p:txBody>
          <a:bodyPr vert="horz" lIns="90000" tIns="46800" rIns="90000" bIns="46800" anchor="t"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Rectangle 7"/>
          <p:cNvSpPr txBox="1"/>
          <p:nvPr/>
        </p:nvSpPr>
        <p:spPr>
          <a:xfrm>
            <a:off x="5181600" y="651510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vert="horz" lIns="90000" tIns="46800" rIns="90000" bIns="46800" anchor="b"/>
          <a:lstStyle/>
          <a:p>
            <a:pPr lvl="0" algn="r"/>
            <a:fld id="{566ABCEB-ACFC-4714-9973-3DA970169C29}" type="slidenum">
              <a:rPr lang="en-US" altLang="en-US" sz="1200"/>
              <a:pPr lvl="0" algn="r"/>
              <a:t>15</a:t>
            </a:fld>
            <a:endParaRPr lang="en-US" altLang="en-US" sz="1200"/>
          </a:p>
        </p:txBody>
      </p:sp>
      <p:sp>
        <p:nvSpPr>
          <p:cNvPr id="104865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</p:spPr>
        <p:txBody>
          <a:bodyPr vert="horz" wrap="none" lIns="90000" tIns="46800" rIns="90000" bIns="46800" anchor="ctr"/>
          <a:lstStyle/>
          <a:p>
            <a:endParaRPr/>
          </a:p>
        </p:txBody>
      </p:sp>
      <p:sp>
        <p:nvSpPr>
          <p:cNvPr id="1048653" name="Rectangle 3"/>
          <p:cNvSpPr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  <a:noFill/>
        </p:spPr>
        <p:txBody>
          <a:bodyPr vert="horz" lIns="90000" tIns="46800" rIns="90000" bIns="46800" anchor="t"/>
          <a:lstStyle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6336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85858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Chapter</a:t>
            </a:r>
            <a:r>
              <a:rPr spc="-25" dirty="0"/>
              <a:t> </a:t>
            </a:r>
            <a:r>
              <a:rPr dirty="0"/>
              <a:t>6</a:t>
            </a:r>
            <a:r>
              <a:rPr spc="-10" dirty="0"/>
              <a:t> </a:t>
            </a:r>
            <a:r>
              <a:rPr spc="-25" dirty="0"/>
              <a:t>&lt;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&gt;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336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85858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Chapter</a:t>
            </a:r>
            <a:r>
              <a:rPr spc="-25" dirty="0"/>
              <a:t> </a:t>
            </a:r>
            <a:r>
              <a:rPr dirty="0"/>
              <a:t>6</a:t>
            </a:r>
            <a:r>
              <a:rPr spc="-10" dirty="0"/>
              <a:t> </a:t>
            </a:r>
            <a:r>
              <a:rPr spc="-25" dirty="0"/>
              <a:t>&lt;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&gt;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336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8540" y="2114245"/>
            <a:ext cx="3363595" cy="4288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585858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575175" y="2312644"/>
            <a:ext cx="3472815" cy="394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585858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Chapter</a:t>
            </a:r>
            <a:r>
              <a:rPr spc="-25" dirty="0"/>
              <a:t> </a:t>
            </a:r>
            <a:r>
              <a:rPr dirty="0"/>
              <a:t>6</a:t>
            </a:r>
            <a:r>
              <a:rPr spc="-10" dirty="0"/>
              <a:t> </a:t>
            </a:r>
            <a:r>
              <a:rPr spc="-25" dirty="0"/>
              <a:t>&lt;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&gt;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336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Chapter</a:t>
            </a:r>
            <a:r>
              <a:rPr spc="-25" dirty="0"/>
              <a:t> </a:t>
            </a:r>
            <a:r>
              <a:rPr dirty="0"/>
              <a:t>6</a:t>
            </a:r>
            <a:r>
              <a:rPr spc="-10" dirty="0"/>
              <a:t> </a:t>
            </a:r>
            <a:r>
              <a:rPr spc="-25" dirty="0"/>
              <a:t>&lt;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&gt;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Chapter</a:t>
            </a:r>
            <a:r>
              <a:rPr spc="-25" dirty="0"/>
              <a:t> </a:t>
            </a:r>
            <a:r>
              <a:rPr dirty="0"/>
              <a:t>6</a:t>
            </a:r>
            <a:r>
              <a:rPr spc="-10" dirty="0"/>
              <a:t> </a:t>
            </a:r>
            <a:r>
              <a:rPr spc="-25" dirty="0"/>
              <a:t>&lt;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&gt;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7713" y="502158"/>
            <a:ext cx="671449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6336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7392" y="1713108"/>
            <a:ext cx="7216140" cy="4186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85858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521933"/>
            <a:ext cx="4367758" cy="273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56629" y="6296263"/>
            <a:ext cx="1057909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Chapter</a:t>
            </a:r>
            <a:r>
              <a:rPr spc="-25" dirty="0"/>
              <a:t> </a:t>
            </a:r>
            <a:r>
              <a:rPr dirty="0"/>
              <a:t>6</a:t>
            </a:r>
            <a:r>
              <a:rPr spc="-10" dirty="0"/>
              <a:t> </a:t>
            </a:r>
            <a:r>
              <a:rPr spc="-25" dirty="0"/>
              <a:t>&lt;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26" Type="http://schemas.openxmlformats.org/officeDocument/2006/relationships/image" Target="../media/image82.png"/><Relationship Id="rId39" Type="http://schemas.openxmlformats.org/officeDocument/2006/relationships/image" Target="../media/image95.png"/><Relationship Id="rId3" Type="http://schemas.openxmlformats.org/officeDocument/2006/relationships/image" Target="../media/image59.png"/><Relationship Id="rId21" Type="http://schemas.openxmlformats.org/officeDocument/2006/relationships/image" Target="../media/image77.png"/><Relationship Id="rId34" Type="http://schemas.openxmlformats.org/officeDocument/2006/relationships/image" Target="../media/image90.png"/><Relationship Id="rId42" Type="http://schemas.openxmlformats.org/officeDocument/2006/relationships/image" Target="../media/image98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5" Type="http://schemas.openxmlformats.org/officeDocument/2006/relationships/image" Target="../media/image81.png"/><Relationship Id="rId33" Type="http://schemas.openxmlformats.org/officeDocument/2006/relationships/image" Target="../media/image89.png"/><Relationship Id="rId38" Type="http://schemas.openxmlformats.org/officeDocument/2006/relationships/image" Target="../media/image94.png"/><Relationship Id="rId2" Type="http://schemas.openxmlformats.org/officeDocument/2006/relationships/image" Target="../media/image58.png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29" Type="http://schemas.openxmlformats.org/officeDocument/2006/relationships/image" Target="../media/image85.png"/><Relationship Id="rId41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24" Type="http://schemas.openxmlformats.org/officeDocument/2006/relationships/image" Target="../media/image80.png"/><Relationship Id="rId32" Type="http://schemas.openxmlformats.org/officeDocument/2006/relationships/image" Target="../media/image88.png"/><Relationship Id="rId37" Type="http://schemas.openxmlformats.org/officeDocument/2006/relationships/image" Target="../media/image93.png"/><Relationship Id="rId40" Type="http://schemas.openxmlformats.org/officeDocument/2006/relationships/image" Target="../media/image96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23" Type="http://schemas.openxmlformats.org/officeDocument/2006/relationships/image" Target="../media/image79.png"/><Relationship Id="rId28" Type="http://schemas.openxmlformats.org/officeDocument/2006/relationships/image" Target="../media/image84.png"/><Relationship Id="rId36" Type="http://schemas.openxmlformats.org/officeDocument/2006/relationships/image" Target="../media/image92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31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Relationship Id="rId27" Type="http://schemas.openxmlformats.org/officeDocument/2006/relationships/image" Target="../media/image83.png"/><Relationship Id="rId30" Type="http://schemas.openxmlformats.org/officeDocument/2006/relationships/image" Target="../media/image86.png"/><Relationship Id="rId35" Type="http://schemas.openxmlformats.org/officeDocument/2006/relationships/image" Target="../media/image91.png"/><Relationship Id="rId43" Type="http://schemas.openxmlformats.org/officeDocument/2006/relationships/image" Target="../media/image9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" Type="http://schemas.openxmlformats.org/officeDocument/2006/relationships/image" Target="../media/image117.png"/><Relationship Id="rId16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5" Type="http://schemas.openxmlformats.org/officeDocument/2006/relationships/image" Target="../media/image120.png"/><Relationship Id="rId15" Type="http://schemas.openxmlformats.org/officeDocument/2006/relationships/image" Target="../media/image130.png"/><Relationship Id="rId10" Type="http://schemas.openxmlformats.org/officeDocument/2006/relationships/image" Target="../media/image125.png"/><Relationship Id="rId19" Type="http://schemas.openxmlformats.org/officeDocument/2006/relationships/image" Target="../media/image134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17" Type="http://schemas.openxmlformats.org/officeDocument/2006/relationships/image" Target="../media/image151.png"/><Relationship Id="rId2" Type="http://schemas.openxmlformats.org/officeDocument/2006/relationships/image" Target="../media/image136.png"/><Relationship Id="rId16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5" Type="http://schemas.openxmlformats.org/officeDocument/2006/relationships/image" Target="../media/image139.png"/><Relationship Id="rId15" Type="http://schemas.openxmlformats.org/officeDocument/2006/relationships/image" Target="../media/image149.png"/><Relationship Id="rId10" Type="http://schemas.openxmlformats.org/officeDocument/2006/relationships/image" Target="../media/image144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Relationship Id="rId14" Type="http://schemas.openxmlformats.org/officeDocument/2006/relationships/image" Target="../media/image14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66.png"/><Relationship Id="rId7" Type="http://schemas.openxmlformats.org/officeDocument/2006/relationships/image" Target="../media/image170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5" Type="http://schemas.openxmlformats.org/officeDocument/2006/relationships/image" Target="../media/image168.png"/><Relationship Id="rId10" Type="http://schemas.openxmlformats.org/officeDocument/2006/relationships/image" Target="../media/image173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7" Type="http://schemas.openxmlformats.org/officeDocument/2006/relationships/image" Target="../media/image180.jp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jp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189.png"/><Relationship Id="rId7" Type="http://schemas.openxmlformats.org/officeDocument/2006/relationships/image" Target="../media/image193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png"/><Relationship Id="rId11" Type="http://schemas.openxmlformats.org/officeDocument/2006/relationships/image" Target="../media/image197.png"/><Relationship Id="rId5" Type="http://schemas.openxmlformats.org/officeDocument/2006/relationships/image" Target="../media/image191.png"/><Relationship Id="rId10" Type="http://schemas.openxmlformats.org/officeDocument/2006/relationships/image" Target="../media/image196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3" Type="http://schemas.openxmlformats.org/officeDocument/2006/relationships/image" Target="../media/image199.png"/><Relationship Id="rId7" Type="http://schemas.openxmlformats.org/officeDocument/2006/relationships/image" Target="../media/image203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11" Type="http://schemas.openxmlformats.org/officeDocument/2006/relationships/image" Target="../media/image207.png"/><Relationship Id="rId5" Type="http://schemas.openxmlformats.org/officeDocument/2006/relationships/image" Target="../media/image201.png"/><Relationship Id="rId10" Type="http://schemas.openxmlformats.org/officeDocument/2006/relationships/image" Target="../media/image206.png"/><Relationship Id="rId4" Type="http://schemas.openxmlformats.org/officeDocument/2006/relationships/image" Target="../media/image200.png"/><Relationship Id="rId9" Type="http://schemas.openxmlformats.org/officeDocument/2006/relationships/image" Target="../media/image205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0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3.png"/><Relationship Id="rId18" Type="http://schemas.openxmlformats.org/officeDocument/2006/relationships/image" Target="../media/image228.png"/><Relationship Id="rId26" Type="http://schemas.openxmlformats.org/officeDocument/2006/relationships/image" Target="../media/image236.png"/><Relationship Id="rId39" Type="http://schemas.openxmlformats.org/officeDocument/2006/relationships/image" Target="../media/image249.png"/><Relationship Id="rId21" Type="http://schemas.openxmlformats.org/officeDocument/2006/relationships/image" Target="../media/image231.png"/><Relationship Id="rId34" Type="http://schemas.openxmlformats.org/officeDocument/2006/relationships/image" Target="../media/image244.png"/><Relationship Id="rId42" Type="http://schemas.openxmlformats.org/officeDocument/2006/relationships/image" Target="../media/image252.png"/><Relationship Id="rId47" Type="http://schemas.openxmlformats.org/officeDocument/2006/relationships/image" Target="../media/image257.png"/><Relationship Id="rId50" Type="http://schemas.openxmlformats.org/officeDocument/2006/relationships/image" Target="../media/image260.png"/><Relationship Id="rId55" Type="http://schemas.openxmlformats.org/officeDocument/2006/relationships/image" Target="../media/image265.png"/><Relationship Id="rId7" Type="http://schemas.openxmlformats.org/officeDocument/2006/relationships/image" Target="../media/image217.png"/><Relationship Id="rId2" Type="http://schemas.openxmlformats.org/officeDocument/2006/relationships/image" Target="../media/image212.png"/><Relationship Id="rId16" Type="http://schemas.openxmlformats.org/officeDocument/2006/relationships/image" Target="../media/image226.png"/><Relationship Id="rId20" Type="http://schemas.openxmlformats.org/officeDocument/2006/relationships/image" Target="../media/image230.png"/><Relationship Id="rId29" Type="http://schemas.openxmlformats.org/officeDocument/2006/relationships/image" Target="../media/image239.png"/><Relationship Id="rId41" Type="http://schemas.openxmlformats.org/officeDocument/2006/relationships/image" Target="../media/image251.png"/><Relationship Id="rId54" Type="http://schemas.openxmlformats.org/officeDocument/2006/relationships/image" Target="../media/image264.png"/><Relationship Id="rId62" Type="http://schemas.openxmlformats.org/officeDocument/2006/relationships/image" Target="../media/image2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6.png"/><Relationship Id="rId11" Type="http://schemas.openxmlformats.org/officeDocument/2006/relationships/image" Target="../media/image221.png"/><Relationship Id="rId24" Type="http://schemas.openxmlformats.org/officeDocument/2006/relationships/image" Target="../media/image234.png"/><Relationship Id="rId32" Type="http://schemas.openxmlformats.org/officeDocument/2006/relationships/image" Target="../media/image242.png"/><Relationship Id="rId37" Type="http://schemas.openxmlformats.org/officeDocument/2006/relationships/image" Target="../media/image247.png"/><Relationship Id="rId40" Type="http://schemas.openxmlformats.org/officeDocument/2006/relationships/image" Target="../media/image250.png"/><Relationship Id="rId45" Type="http://schemas.openxmlformats.org/officeDocument/2006/relationships/image" Target="../media/image255.png"/><Relationship Id="rId53" Type="http://schemas.openxmlformats.org/officeDocument/2006/relationships/image" Target="../media/image263.png"/><Relationship Id="rId58" Type="http://schemas.openxmlformats.org/officeDocument/2006/relationships/image" Target="../media/image268.png"/><Relationship Id="rId5" Type="http://schemas.openxmlformats.org/officeDocument/2006/relationships/image" Target="../media/image215.png"/><Relationship Id="rId15" Type="http://schemas.openxmlformats.org/officeDocument/2006/relationships/image" Target="../media/image225.png"/><Relationship Id="rId23" Type="http://schemas.openxmlformats.org/officeDocument/2006/relationships/image" Target="../media/image233.png"/><Relationship Id="rId28" Type="http://schemas.openxmlformats.org/officeDocument/2006/relationships/image" Target="../media/image238.png"/><Relationship Id="rId36" Type="http://schemas.openxmlformats.org/officeDocument/2006/relationships/image" Target="../media/image246.png"/><Relationship Id="rId49" Type="http://schemas.openxmlformats.org/officeDocument/2006/relationships/image" Target="../media/image259.png"/><Relationship Id="rId57" Type="http://schemas.openxmlformats.org/officeDocument/2006/relationships/image" Target="../media/image267.png"/><Relationship Id="rId61" Type="http://schemas.openxmlformats.org/officeDocument/2006/relationships/image" Target="../media/image271.png"/><Relationship Id="rId10" Type="http://schemas.openxmlformats.org/officeDocument/2006/relationships/image" Target="../media/image220.png"/><Relationship Id="rId19" Type="http://schemas.openxmlformats.org/officeDocument/2006/relationships/image" Target="../media/image229.png"/><Relationship Id="rId31" Type="http://schemas.openxmlformats.org/officeDocument/2006/relationships/image" Target="../media/image241.png"/><Relationship Id="rId44" Type="http://schemas.openxmlformats.org/officeDocument/2006/relationships/image" Target="../media/image254.png"/><Relationship Id="rId52" Type="http://schemas.openxmlformats.org/officeDocument/2006/relationships/image" Target="../media/image262.png"/><Relationship Id="rId60" Type="http://schemas.openxmlformats.org/officeDocument/2006/relationships/image" Target="../media/image270.png"/><Relationship Id="rId4" Type="http://schemas.openxmlformats.org/officeDocument/2006/relationships/image" Target="../media/image214.png"/><Relationship Id="rId9" Type="http://schemas.openxmlformats.org/officeDocument/2006/relationships/image" Target="../media/image219.png"/><Relationship Id="rId14" Type="http://schemas.openxmlformats.org/officeDocument/2006/relationships/image" Target="../media/image224.png"/><Relationship Id="rId22" Type="http://schemas.openxmlformats.org/officeDocument/2006/relationships/image" Target="../media/image232.png"/><Relationship Id="rId27" Type="http://schemas.openxmlformats.org/officeDocument/2006/relationships/image" Target="../media/image237.png"/><Relationship Id="rId30" Type="http://schemas.openxmlformats.org/officeDocument/2006/relationships/image" Target="../media/image240.png"/><Relationship Id="rId35" Type="http://schemas.openxmlformats.org/officeDocument/2006/relationships/image" Target="../media/image245.png"/><Relationship Id="rId43" Type="http://schemas.openxmlformats.org/officeDocument/2006/relationships/image" Target="../media/image253.png"/><Relationship Id="rId48" Type="http://schemas.openxmlformats.org/officeDocument/2006/relationships/image" Target="../media/image258.png"/><Relationship Id="rId56" Type="http://schemas.openxmlformats.org/officeDocument/2006/relationships/image" Target="../media/image266.png"/><Relationship Id="rId8" Type="http://schemas.openxmlformats.org/officeDocument/2006/relationships/image" Target="../media/image218.png"/><Relationship Id="rId51" Type="http://schemas.openxmlformats.org/officeDocument/2006/relationships/image" Target="../media/image261.png"/><Relationship Id="rId3" Type="http://schemas.openxmlformats.org/officeDocument/2006/relationships/image" Target="../media/image213.png"/><Relationship Id="rId12" Type="http://schemas.openxmlformats.org/officeDocument/2006/relationships/image" Target="../media/image222.png"/><Relationship Id="rId17" Type="http://schemas.openxmlformats.org/officeDocument/2006/relationships/image" Target="../media/image227.png"/><Relationship Id="rId25" Type="http://schemas.openxmlformats.org/officeDocument/2006/relationships/image" Target="../media/image235.png"/><Relationship Id="rId33" Type="http://schemas.openxmlformats.org/officeDocument/2006/relationships/image" Target="../media/image243.png"/><Relationship Id="rId38" Type="http://schemas.openxmlformats.org/officeDocument/2006/relationships/image" Target="../media/image248.png"/><Relationship Id="rId46" Type="http://schemas.openxmlformats.org/officeDocument/2006/relationships/image" Target="../media/image256.png"/><Relationship Id="rId59" Type="http://schemas.openxmlformats.org/officeDocument/2006/relationships/image" Target="../media/image269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1940" y="228600"/>
            <a:ext cx="4236720" cy="4188460"/>
          </a:xfrm>
          <a:custGeom>
            <a:avLst/>
            <a:gdLst/>
            <a:ahLst/>
            <a:cxnLst/>
            <a:rect l="l" t="t" r="r" b="b"/>
            <a:pathLst>
              <a:path w="4236720" h="4188460">
                <a:moveTo>
                  <a:pt x="4236720" y="0"/>
                </a:moveTo>
                <a:lnTo>
                  <a:pt x="0" y="0"/>
                </a:lnTo>
                <a:lnTo>
                  <a:pt x="0" y="4187952"/>
                </a:lnTo>
                <a:lnTo>
                  <a:pt x="4236720" y="4187952"/>
                </a:lnTo>
                <a:lnTo>
                  <a:pt x="423672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03135" y="228600"/>
            <a:ext cx="2057400" cy="2039620"/>
          </a:xfrm>
          <a:custGeom>
            <a:avLst/>
            <a:gdLst/>
            <a:ahLst/>
            <a:cxnLst/>
            <a:rect l="l" t="t" r="r" b="b"/>
            <a:pathLst>
              <a:path w="2057400" h="2039620">
                <a:moveTo>
                  <a:pt x="2057400" y="0"/>
                </a:moveTo>
                <a:lnTo>
                  <a:pt x="0" y="0"/>
                </a:lnTo>
                <a:lnTo>
                  <a:pt x="0" y="2039112"/>
                </a:lnTo>
                <a:lnTo>
                  <a:pt x="2057400" y="2039112"/>
                </a:lnTo>
                <a:lnTo>
                  <a:pt x="205740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23815" y="2377439"/>
            <a:ext cx="2057400" cy="2039620"/>
          </a:xfrm>
          <a:custGeom>
            <a:avLst/>
            <a:gdLst/>
            <a:ahLst/>
            <a:cxnLst/>
            <a:rect l="l" t="t" r="r" b="b"/>
            <a:pathLst>
              <a:path w="2057400" h="2039620">
                <a:moveTo>
                  <a:pt x="2057399" y="0"/>
                </a:moveTo>
                <a:lnTo>
                  <a:pt x="0" y="0"/>
                </a:lnTo>
                <a:lnTo>
                  <a:pt x="0" y="2039112"/>
                </a:lnTo>
                <a:lnTo>
                  <a:pt x="2057399" y="2039112"/>
                </a:lnTo>
                <a:lnTo>
                  <a:pt x="2057399" y="0"/>
                </a:lnTo>
                <a:close/>
              </a:path>
            </a:pathLst>
          </a:custGeom>
          <a:solidFill>
            <a:srgbClr val="999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12191" y="139141"/>
            <a:ext cx="416559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23815" y="228600"/>
            <a:ext cx="2057400" cy="2039620"/>
          </a:xfrm>
          <a:custGeom>
            <a:avLst/>
            <a:gdLst/>
            <a:ahLst/>
            <a:cxnLst/>
            <a:rect l="l" t="t" r="r" b="b"/>
            <a:pathLst>
              <a:path w="2057400" h="2039620">
                <a:moveTo>
                  <a:pt x="2057399" y="0"/>
                </a:moveTo>
                <a:lnTo>
                  <a:pt x="0" y="0"/>
                </a:lnTo>
                <a:lnTo>
                  <a:pt x="0" y="2039112"/>
                </a:lnTo>
                <a:lnTo>
                  <a:pt x="2057399" y="2039112"/>
                </a:lnTo>
                <a:lnTo>
                  <a:pt x="2057399" y="0"/>
                </a:lnTo>
                <a:close/>
              </a:path>
            </a:pathLst>
          </a:custGeom>
          <a:solidFill>
            <a:srgbClr val="A2A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03135" y="2377439"/>
            <a:ext cx="2057400" cy="2039620"/>
          </a:xfrm>
          <a:custGeom>
            <a:avLst/>
            <a:gdLst/>
            <a:ahLst/>
            <a:cxnLst/>
            <a:rect l="l" t="t" r="r" b="b"/>
            <a:pathLst>
              <a:path w="2057400" h="2039620">
                <a:moveTo>
                  <a:pt x="2057400" y="0"/>
                </a:moveTo>
                <a:lnTo>
                  <a:pt x="0" y="0"/>
                </a:lnTo>
                <a:lnTo>
                  <a:pt x="0" y="2039112"/>
                </a:lnTo>
                <a:lnTo>
                  <a:pt x="2057400" y="2039112"/>
                </a:lnTo>
                <a:lnTo>
                  <a:pt x="2057400" y="0"/>
                </a:lnTo>
                <a:close/>
              </a:path>
            </a:pathLst>
          </a:custGeom>
          <a:solidFill>
            <a:srgbClr val="330E4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83691" y="964691"/>
            <a:ext cx="3752850" cy="5396230"/>
            <a:chOff x="583691" y="964691"/>
            <a:chExt cx="3752850" cy="5396230"/>
          </a:xfrm>
        </p:grpSpPr>
        <p:pic>
          <p:nvPicPr>
            <p:cNvPr id="9" name="object 9" descr="Snapshot 2012-06-08 00-57-47.jp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691" y="3590543"/>
              <a:ext cx="3752850" cy="2769869"/>
            </a:xfrm>
            <a:prstGeom prst="rect">
              <a:avLst/>
            </a:prstGeom>
          </p:spPr>
        </p:pic>
        <p:pic>
          <p:nvPicPr>
            <p:cNvPr id="10" name="object 10" descr="Snapshot 2012-06-08 00-57-47.jp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691" y="964691"/>
              <a:ext cx="3752088" cy="2769107"/>
            </a:xfrm>
            <a:prstGeom prst="rect">
              <a:avLst/>
            </a:prstGeom>
          </p:spPr>
        </p:pic>
        <p:pic>
          <p:nvPicPr>
            <p:cNvPr id="11" name="object 11" descr="Snapshot 2012-06-08 00-57-47.jp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8075" y="989075"/>
              <a:ext cx="3650741" cy="266776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854828" y="4648327"/>
            <a:ext cx="4020185" cy="2138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534670">
              <a:lnSpc>
                <a:spcPct val="100000"/>
              </a:lnSpc>
              <a:spcBef>
                <a:spcPts val="95"/>
              </a:spcBef>
            </a:pPr>
            <a:r>
              <a:rPr sz="2500" spc="70" dirty="0">
                <a:solidFill>
                  <a:srgbClr val="663366"/>
                </a:solidFill>
                <a:latin typeface="Cambria"/>
                <a:cs typeface="Cambria"/>
              </a:rPr>
              <a:t>William</a:t>
            </a:r>
            <a:r>
              <a:rPr sz="2500" spc="65" dirty="0">
                <a:solidFill>
                  <a:srgbClr val="663366"/>
                </a:solidFill>
                <a:latin typeface="Cambria"/>
                <a:cs typeface="Cambria"/>
              </a:rPr>
              <a:t> </a:t>
            </a:r>
            <a:r>
              <a:rPr sz="2500" spc="55" dirty="0">
                <a:solidFill>
                  <a:srgbClr val="663366"/>
                </a:solidFill>
                <a:latin typeface="Cambria"/>
                <a:cs typeface="Cambria"/>
              </a:rPr>
              <a:t>Stallings </a:t>
            </a:r>
            <a:r>
              <a:rPr sz="2500" spc="120" dirty="0">
                <a:solidFill>
                  <a:srgbClr val="663366"/>
                </a:solidFill>
                <a:latin typeface="Cambria"/>
                <a:cs typeface="Cambria"/>
              </a:rPr>
              <a:t>Computer</a:t>
            </a:r>
            <a:r>
              <a:rPr sz="2500" spc="95" dirty="0">
                <a:solidFill>
                  <a:srgbClr val="663366"/>
                </a:solidFill>
                <a:latin typeface="Cambria"/>
                <a:cs typeface="Cambria"/>
              </a:rPr>
              <a:t> </a:t>
            </a:r>
            <a:r>
              <a:rPr sz="2500" spc="50" dirty="0">
                <a:solidFill>
                  <a:srgbClr val="663366"/>
                </a:solidFill>
                <a:latin typeface="Cambria"/>
                <a:cs typeface="Cambria"/>
              </a:rPr>
              <a:t>Organization </a:t>
            </a:r>
            <a:r>
              <a:rPr sz="2500" spc="90" dirty="0">
                <a:solidFill>
                  <a:srgbClr val="663366"/>
                </a:solidFill>
                <a:latin typeface="Cambria"/>
                <a:cs typeface="Cambria"/>
              </a:rPr>
              <a:t>and</a:t>
            </a:r>
            <a:r>
              <a:rPr sz="2500" spc="85" dirty="0">
                <a:solidFill>
                  <a:srgbClr val="663366"/>
                </a:solidFill>
                <a:latin typeface="Cambria"/>
                <a:cs typeface="Cambria"/>
              </a:rPr>
              <a:t> </a:t>
            </a:r>
            <a:r>
              <a:rPr sz="2500" spc="40" dirty="0">
                <a:solidFill>
                  <a:srgbClr val="663366"/>
                </a:solidFill>
                <a:latin typeface="Cambria"/>
                <a:cs typeface="Cambria"/>
              </a:rPr>
              <a:t>Architecture</a:t>
            </a:r>
            <a:endParaRPr sz="250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</a:pPr>
            <a:r>
              <a:rPr sz="2500" dirty="0">
                <a:solidFill>
                  <a:srgbClr val="663366"/>
                </a:solidFill>
                <a:latin typeface="Cambria"/>
                <a:cs typeface="Cambria"/>
              </a:rPr>
              <a:t>10</a:t>
            </a:r>
            <a:r>
              <a:rPr sz="2475" baseline="25252" dirty="0">
                <a:solidFill>
                  <a:srgbClr val="663366"/>
                </a:solidFill>
                <a:latin typeface="Cambria"/>
                <a:cs typeface="Cambria"/>
              </a:rPr>
              <a:t>th</a:t>
            </a:r>
            <a:r>
              <a:rPr sz="2475" spc="172" baseline="25252" dirty="0">
                <a:solidFill>
                  <a:srgbClr val="663366"/>
                </a:solidFill>
                <a:latin typeface="Cambria"/>
                <a:cs typeface="Cambria"/>
              </a:rPr>
              <a:t> </a:t>
            </a:r>
            <a:r>
              <a:rPr sz="2500" spc="45" dirty="0">
                <a:solidFill>
                  <a:srgbClr val="663366"/>
                </a:solidFill>
                <a:latin typeface="Cambria"/>
                <a:cs typeface="Cambria"/>
              </a:rPr>
              <a:t>Edition</a:t>
            </a:r>
            <a:endParaRPr sz="2500">
              <a:latin typeface="Cambria"/>
              <a:cs typeface="Cambria"/>
            </a:endParaRPr>
          </a:p>
          <a:p>
            <a:pPr marR="30480" algn="r">
              <a:lnSpc>
                <a:spcPct val="100000"/>
              </a:lnSpc>
              <a:spcBef>
                <a:spcPts val="1995"/>
              </a:spcBef>
            </a:pP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©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2016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Pearson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Education,</a:t>
            </a:r>
            <a:r>
              <a:rPr sz="1100" spc="-4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Inc.,</a:t>
            </a:r>
            <a:r>
              <a:rPr sz="1100" spc="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Hoboken,</a:t>
            </a:r>
            <a:endParaRPr sz="1100">
              <a:latin typeface="Times New Roman"/>
              <a:cs typeface="Times New Roman"/>
            </a:endParaRPr>
          </a:p>
          <a:p>
            <a:pPr marR="30480" algn="r">
              <a:lnSpc>
                <a:spcPct val="100000"/>
              </a:lnSpc>
            </a:pP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NJ.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All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rights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reserved.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3135" y="228600"/>
            <a:ext cx="2057400" cy="2039620"/>
          </a:xfrm>
          <a:custGeom>
            <a:avLst/>
            <a:gdLst/>
            <a:ahLst/>
            <a:cxnLst/>
            <a:rect l="l" t="t" r="r" b="b"/>
            <a:pathLst>
              <a:path w="2057400" h="2039620">
                <a:moveTo>
                  <a:pt x="2057400" y="0"/>
                </a:moveTo>
                <a:lnTo>
                  <a:pt x="0" y="0"/>
                </a:lnTo>
                <a:lnTo>
                  <a:pt x="0" y="2039112"/>
                </a:lnTo>
                <a:lnTo>
                  <a:pt x="2057400" y="2039112"/>
                </a:lnTo>
                <a:lnTo>
                  <a:pt x="2057400" y="0"/>
                </a:lnTo>
                <a:close/>
              </a:path>
            </a:pathLst>
          </a:custGeom>
          <a:solidFill>
            <a:srgbClr val="999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486400" y="1371600"/>
            <a:ext cx="3374390" cy="3045460"/>
            <a:chOff x="5486400" y="1371600"/>
            <a:chExt cx="3374390" cy="3045460"/>
          </a:xfrm>
        </p:grpSpPr>
        <p:sp>
          <p:nvSpPr>
            <p:cNvPr id="4" name="object 4"/>
            <p:cNvSpPr/>
            <p:nvPr/>
          </p:nvSpPr>
          <p:spPr>
            <a:xfrm>
              <a:off x="6803136" y="2377439"/>
              <a:ext cx="2057400" cy="2039620"/>
            </a:xfrm>
            <a:custGeom>
              <a:avLst/>
              <a:gdLst/>
              <a:ahLst/>
              <a:cxnLst/>
              <a:rect l="l" t="t" r="r" b="b"/>
              <a:pathLst>
                <a:path w="2057400" h="2039620">
                  <a:moveTo>
                    <a:pt x="2057400" y="0"/>
                  </a:moveTo>
                  <a:lnTo>
                    <a:pt x="0" y="0"/>
                  </a:lnTo>
                  <a:lnTo>
                    <a:pt x="0" y="2039112"/>
                  </a:lnTo>
                  <a:lnTo>
                    <a:pt x="2057400" y="2039112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66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6400" y="1371600"/>
              <a:ext cx="2286000" cy="1938655"/>
            </a:xfrm>
            <a:custGeom>
              <a:avLst/>
              <a:gdLst/>
              <a:ahLst/>
              <a:cxnLst/>
              <a:rect l="l" t="t" r="r" b="b"/>
              <a:pathLst>
                <a:path w="2286000" h="1938654">
                  <a:moveTo>
                    <a:pt x="2286000" y="0"/>
                  </a:moveTo>
                  <a:lnTo>
                    <a:pt x="0" y="0"/>
                  </a:lnTo>
                  <a:lnTo>
                    <a:pt x="0" y="1938527"/>
                  </a:lnTo>
                  <a:lnTo>
                    <a:pt x="2286000" y="1938527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14655" y="4610176"/>
            <a:ext cx="1993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263" y="3752088"/>
            <a:ext cx="4024122" cy="15049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18540" y="3935425"/>
            <a:ext cx="31629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85" dirty="0">
                <a:solidFill>
                  <a:srgbClr val="663366"/>
                </a:solidFill>
                <a:latin typeface="Cambria"/>
                <a:cs typeface="Cambria"/>
              </a:rPr>
              <a:t>Chapter</a:t>
            </a:r>
            <a:r>
              <a:rPr sz="5400" spc="180" dirty="0">
                <a:solidFill>
                  <a:srgbClr val="663366"/>
                </a:solidFill>
                <a:latin typeface="Cambria"/>
                <a:cs typeface="Cambria"/>
              </a:rPr>
              <a:t> </a:t>
            </a:r>
            <a:r>
              <a:rPr sz="5400" spc="-50" dirty="0">
                <a:solidFill>
                  <a:srgbClr val="663366"/>
                </a:solidFill>
                <a:latin typeface="Cambria"/>
                <a:cs typeface="Cambria"/>
              </a:rPr>
              <a:t>1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540" y="4811344"/>
            <a:ext cx="518350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spc="114" dirty="0">
                <a:solidFill>
                  <a:srgbClr val="585858"/>
                </a:solidFill>
                <a:latin typeface="Cambria"/>
                <a:cs typeface="Cambria"/>
              </a:rPr>
              <a:t>Basic</a:t>
            </a:r>
            <a:r>
              <a:rPr sz="44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4400" spc="260" dirty="0">
                <a:solidFill>
                  <a:srgbClr val="585858"/>
                </a:solidFill>
                <a:latin typeface="Cambria"/>
                <a:cs typeface="Cambria"/>
              </a:rPr>
              <a:t>Concepts</a:t>
            </a:r>
            <a:r>
              <a:rPr sz="44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4400" spc="160" dirty="0">
                <a:solidFill>
                  <a:srgbClr val="585858"/>
                </a:solidFill>
                <a:latin typeface="Cambria"/>
                <a:cs typeface="Cambria"/>
              </a:rPr>
              <a:t>and </a:t>
            </a:r>
            <a:r>
              <a:rPr sz="4400" spc="210" dirty="0">
                <a:solidFill>
                  <a:srgbClr val="585858"/>
                </a:solidFill>
                <a:latin typeface="Cambria"/>
                <a:cs typeface="Cambria"/>
              </a:rPr>
              <a:t>Computer</a:t>
            </a:r>
            <a:r>
              <a:rPr sz="44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4400" spc="55" dirty="0">
                <a:solidFill>
                  <a:srgbClr val="585858"/>
                </a:solidFill>
                <a:latin typeface="Cambria"/>
                <a:cs typeface="Cambria"/>
              </a:rPr>
              <a:t>Evolution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0517" y="6506667"/>
            <a:ext cx="37560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©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2016</a:t>
            </a:r>
            <a:r>
              <a:rPr sz="1100" spc="-1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Pearson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Education,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Inc.,</a:t>
            </a:r>
            <a:r>
              <a:rPr sz="1100" spc="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Hoboken,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NJ.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All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rights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reserved.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3188" y="1524000"/>
            <a:ext cx="9351963" cy="4548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66737"/>
            <a:ext cx="5413375" cy="95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990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565842"/>
            <a:ext cx="7162800" cy="417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1" lang="en-GB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Organization refers to operational units and their interconnections that realize the architectural specifications.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endParaRPr kumimoji="1" lang="en-GB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1" lang="en-GB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Attributes: hardware details transparent to programmers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—"/>
              <a:tabLst/>
              <a:defRPr/>
            </a:pPr>
            <a:r>
              <a:rPr kumimoji="1" lang="en-GB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Control signals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—"/>
              <a:tabLst/>
              <a:defRPr/>
            </a:pPr>
            <a:r>
              <a:rPr kumimoji="1" lang="en-GB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Computer/peripheral interface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—"/>
              <a:tabLst/>
              <a:defRPr/>
            </a:pPr>
            <a:r>
              <a:rPr kumimoji="1" lang="en-GB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rPr>
              <a:t>Memory technology</a:t>
            </a:r>
            <a:endParaRPr kumimoji="1" lang="en-GB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" name="object 55"/>
          <p:cNvSpPr txBox="1"/>
          <p:nvPr/>
        </p:nvSpPr>
        <p:spPr>
          <a:xfrm>
            <a:off x="2116899" y="750125"/>
            <a:ext cx="49815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70" dirty="0">
                <a:solidFill>
                  <a:srgbClr val="663366"/>
                </a:solidFill>
                <a:latin typeface="Cambria"/>
                <a:cs typeface="Cambria"/>
              </a:rPr>
              <a:t>Computer</a:t>
            </a:r>
            <a:r>
              <a:rPr sz="3600" spc="90" dirty="0">
                <a:solidFill>
                  <a:srgbClr val="663366"/>
                </a:solidFill>
                <a:latin typeface="Cambria"/>
                <a:cs typeface="Cambria"/>
              </a:rPr>
              <a:t> </a:t>
            </a:r>
            <a:r>
              <a:rPr sz="3600" spc="90" dirty="0" smtClean="0">
                <a:solidFill>
                  <a:srgbClr val="663366"/>
                </a:solidFill>
                <a:latin typeface="Cambria"/>
                <a:cs typeface="Cambria"/>
              </a:rPr>
              <a:t>Organization</a:t>
            </a:r>
            <a:endParaRPr sz="36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008389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692" y="15240"/>
            <a:ext cx="5439918" cy="10096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74370" y="134492"/>
            <a:ext cx="4867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Computer</a:t>
            </a:r>
            <a:r>
              <a:rPr spc="90" dirty="0"/>
              <a:t> </a:t>
            </a:r>
            <a:r>
              <a:rPr spc="65" dirty="0"/>
              <a:t>Architecture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643117" y="4855209"/>
            <a:ext cx="2498725" cy="1622425"/>
            <a:chOff x="5643117" y="4855209"/>
            <a:chExt cx="2498725" cy="1622425"/>
          </a:xfrm>
        </p:grpSpPr>
        <p:sp>
          <p:nvSpPr>
            <p:cNvPr id="6" name="object 6"/>
            <p:cNvSpPr/>
            <p:nvPr/>
          </p:nvSpPr>
          <p:spPr>
            <a:xfrm>
              <a:off x="5649467" y="4861559"/>
              <a:ext cx="2486025" cy="1609725"/>
            </a:xfrm>
            <a:custGeom>
              <a:avLst/>
              <a:gdLst/>
              <a:ahLst/>
              <a:cxnLst/>
              <a:rect l="l" t="t" r="r" b="b"/>
              <a:pathLst>
                <a:path w="2486025" h="1609725">
                  <a:moveTo>
                    <a:pt x="2324735" y="0"/>
                  </a:moveTo>
                  <a:lnTo>
                    <a:pt x="160909" y="0"/>
                  </a:lnTo>
                  <a:lnTo>
                    <a:pt x="118121" y="5745"/>
                  </a:lnTo>
                  <a:lnTo>
                    <a:pt x="79680" y="21961"/>
                  </a:lnTo>
                  <a:lnTo>
                    <a:pt x="47117" y="47116"/>
                  </a:lnTo>
                  <a:lnTo>
                    <a:pt x="21961" y="79680"/>
                  </a:lnTo>
                  <a:lnTo>
                    <a:pt x="5745" y="118121"/>
                  </a:lnTo>
                  <a:lnTo>
                    <a:pt x="0" y="160908"/>
                  </a:lnTo>
                  <a:lnTo>
                    <a:pt x="0" y="1448409"/>
                  </a:lnTo>
                  <a:lnTo>
                    <a:pt x="5745" y="1491194"/>
                  </a:lnTo>
                  <a:lnTo>
                    <a:pt x="21961" y="1529638"/>
                  </a:lnTo>
                  <a:lnTo>
                    <a:pt x="47116" y="1562209"/>
                  </a:lnTo>
                  <a:lnTo>
                    <a:pt x="79680" y="1587372"/>
                  </a:lnTo>
                  <a:lnTo>
                    <a:pt x="118121" y="1603595"/>
                  </a:lnTo>
                  <a:lnTo>
                    <a:pt x="160909" y="1609343"/>
                  </a:lnTo>
                  <a:lnTo>
                    <a:pt x="2324735" y="1609343"/>
                  </a:lnTo>
                  <a:lnTo>
                    <a:pt x="2367522" y="1603595"/>
                  </a:lnTo>
                  <a:lnTo>
                    <a:pt x="2405963" y="1587372"/>
                  </a:lnTo>
                  <a:lnTo>
                    <a:pt x="2438527" y="1562209"/>
                  </a:lnTo>
                  <a:lnTo>
                    <a:pt x="2463682" y="1529638"/>
                  </a:lnTo>
                  <a:lnTo>
                    <a:pt x="2479898" y="1491194"/>
                  </a:lnTo>
                  <a:lnTo>
                    <a:pt x="2485643" y="1448409"/>
                  </a:lnTo>
                  <a:lnTo>
                    <a:pt x="2485643" y="160908"/>
                  </a:lnTo>
                  <a:lnTo>
                    <a:pt x="2479898" y="118121"/>
                  </a:lnTo>
                  <a:lnTo>
                    <a:pt x="2463682" y="79680"/>
                  </a:lnTo>
                  <a:lnTo>
                    <a:pt x="2438526" y="47117"/>
                  </a:lnTo>
                  <a:lnTo>
                    <a:pt x="2405963" y="21961"/>
                  </a:lnTo>
                  <a:lnTo>
                    <a:pt x="2367522" y="5745"/>
                  </a:lnTo>
                  <a:lnTo>
                    <a:pt x="232473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49467" y="4861559"/>
              <a:ext cx="2486025" cy="1609725"/>
            </a:xfrm>
            <a:custGeom>
              <a:avLst/>
              <a:gdLst/>
              <a:ahLst/>
              <a:cxnLst/>
              <a:rect l="l" t="t" r="r" b="b"/>
              <a:pathLst>
                <a:path w="2486025" h="1609725">
                  <a:moveTo>
                    <a:pt x="0" y="160908"/>
                  </a:moveTo>
                  <a:lnTo>
                    <a:pt x="5745" y="118121"/>
                  </a:lnTo>
                  <a:lnTo>
                    <a:pt x="21961" y="79680"/>
                  </a:lnTo>
                  <a:lnTo>
                    <a:pt x="47117" y="47116"/>
                  </a:lnTo>
                  <a:lnTo>
                    <a:pt x="79680" y="21961"/>
                  </a:lnTo>
                  <a:lnTo>
                    <a:pt x="118121" y="5745"/>
                  </a:lnTo>
                  <a:lnTo>
                    <a:pt x="160909" y="0"/>
                  </a:lnTo>
                  <a:lnTo>
                    <a:pt x="2324735" y="0"/>
                  </a:lnTo>
                  <a:lnTo>
                    <a:pt x="2367522" y="5745"/>
                  </a:lnTo>
                  <a:lnTo>
                    <a:pt x="2405963" y="21961"/>
                  </a:lnTo>
                  <a:lnTo>
                    <a:pt x="2438526" y="47117"/>
                  </a:lnTo>
                  <a:lnTo>
                    <a:pt x="2463682" y="79680"/>
                  </a:lnTo>
                  <a:lnTo>
                    <a:pt x="2479898" y="118121"/>
                  </a:lnTo>
                  <a:lnTo>
                    <a:pt x="2485643" y="160908"/>
                  </a:lnTo>
                  <a:lnTo>
                    <a:pt x="2485643" y="1448409"/>
                  </a:lnTo>
                  <a:lnTo>
                    <a:pt x="2479898" y="1491194"/>
                  </a:lnTo>
                  <a:lnTo>
                    <a:pt x="2463682" y="1529638"/>
                  </a:lnTo>
                  <a:lnTo>
                    <a:pt x="2438527" y="1562209"/>
                  </a:lnTo>
                  <a:lnTo>
                    <a:pt x="2405963" y="1587372"/>
                  </a:lnTo>
                  <a:lnTo>
                    <a:pt x="2367522" y="1603595"/>
                  </a:lnTo>
                  <a:lnTo>
                    <a:pt x="2324735" y="1609343"/>
                  </a:lnTo>
                  <a:lnTo>
                    <a:pt x="160909" y="1609343"/>
                  </a:lnTo>
                  <a:lnTo>
                    <a:pt x="118121" y="1603595"/>
                  </a:lnTo>
                  <a:lnTo>
                    <a:pt x="79680" y="1587372"/>
                  </a:lnTo>
                  <a:lnTo>
                    <a:pt x="47116" y="1562209"/>
                  </a:lnTo>
                  <a:lnTo>
                    <a:pt x="21961" y="1529638"/>
                  </a:lnTo>
                  <a:lnTo>
                    <a:pt x="5745" y="1491194"/>
                  </a:lnTo>
                  <a:lnTo>
                    <a:pt x="0" y="1448409"/>
                  </a:lnTo>
                  <a:lnTo>
                    <a:pt x="0" y="160908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68617" y="5315839"/>
            <a:ext cx="1562735" cy="71374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70485" marR="5080" indent="-68580">
              <a:lnSpc>
                <a:spcPts val="1060"/>
              </a:lnSpc>
              <a:spcBef>
                <a:spcPts val="245"/>
              </a:spcBef>
              <a:buChar char="•"/>
              <a:tabLst>
                <a:tab pos="70485" algn="l"/>
              </a:tabLst>
            </a:pPr>
            <a:r>
              <a:rPr sz="1000" spc="10" dirty="0">
                <a:latin typeface="Cambria"/>
                <a:cs typeface="Cambria"/>
              </a:rPr>
              <a:t>The</a:t>
            </a:r>
            <a:r>
              <a:rPr sz="1000" spc="85" dirty="0">
                <a:latin typeface="Cambria"/>
                <a:cs typeface="Cambria"/>
              </a:rPr>
              <a:t> </a:t>
            </a:r>
            <a:r>
              <a:rPr sz="1000" spc="10" dirty="0">
                <a:latin typeface="Cambria"/>
                <a:cs typeface="Cambria"/>
              </a:rPr>
              <a:t>operational</a:t>
            </a:r>
            <a:r>
              <a:rPr sz="1000" spc="95" dirty="0">
                <a:latin typeface="Cambria"/>
                <a:cs typeface="Cambria"/>
              </a:rPr>
              <a:t> </a:t>
            </a:r>
            <a:r>
              <a:rPr sz="1000" spc="10" dirty="0">
                <a:latin typeface="Cambria"/>
                <a:cs typeface="Cambria"/>
              </a:rPr>
              <a:t>units</a:t>
            </a:r>
            <a:r>
              <a:rPr sz="1000" spc="95" dirty="0">
                <a:latin typeface="Cambria"/>
                <a:cs typeface="Cambria"/>
              </a:rPr>
              <a:t> </a:t>
            </a:r>
            <a:r>
              <a:rPr sz="1000" spc="-25" dirty="0">
                <a:latin typeface="Cambria"/>
                <a:cs typeface="Cambria"/>
              </a:rPr>
              <a:t>and</a:t>
            </a:r>
            <a:r>
              <a:rPr sz="1000" dirty="0">
                <a:latin typeface="Cambria"/>
                <a:cs typeface="Cambria"/>
              </a:rPr>
              <a:t> their</a:t>
            </a:r>
            <a:r>
              <a:rPr sz="1000" spc="10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interconnections</a:t>
            </a:r>
            <a:r>
              <a:rPr sz="1000" spc="500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that</a:t>
            </a:r>
            <a:r>
              <a:rPr sz="1000" spc="114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realize</a:t>
            </a:r>
            <a:r>
              <a:rPr sz="1000" spc="125" dirty="0">
                <a:latin typeface="Cambria"/>
                <a:cs typeface="Cambria"/>
              </a:rPr>
              <a:t> </a:t>
            </a:r>
            <a:r>
              <a:rPr sz="1000" spc="-25" dirty="0">
                <a:latin typeface="Cambria"/>
                <a:cs typeface="Cambria"/>
              </a:rPr>
              <a:t>the</a:t>
            </a:r>
            <a:r>
              <a:rPr sz="1000" spc="-10" dirty="0">
                <a:latin typeface="Cambria"/>
                <a:cs typeface="Cambria"/>
              </a:rPr>
              <a:t> architectural</a:t>
            </a:r>
            <a:r>
              <a:rPr sz="1000" spc="500" dirty="0">
                <a:latin typeface="Cambria"/>
                <a:cs typeface="Cambria"/>
              </a:rPr>
              <a:t>  </a:t>
            </a:r>
            <a:r>
              <a:rPr sz="1000" spc="-10" dirty="0">
                <a:latin typeface="Cambria"/>
                <a:cs typeface="Cambria"/>
              </a:rPr>
              <a:t>specifications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14958" y="4855209"/>
            <a:ext cx="2496820" cy="1622425"/>
            <a:chOff x="1314958" y="4855209"/>
            <a:chExt cx="2496820" cy="1622425"/>
          </a:xfrm>
        </p:grpSpPr>
        <p:sp>
          <p:nvSpPr>
            <p:cNvPr id="10" name="object 10"/>
            <p:cNvSpPr/>
            <p:nvPr/>
          </p:nvSpPr>
          <p:spPr>
            <a:xfrm>
              <a:off x="1321308" y="4861559"/>
              <a:ext cx="2484120" cy="1609725"/>
            </a:xfrm>
            <a:custGeom>
              <a:avLst/>
              <a:gdLst/>
              <a:ahLst/>
              <a:cxnLst/>
              <a:rect l="l" t="t" r="r" b="b"/>
              <a:pathLst>
                <a:path w="2484120" h="1609725">
                  <a:moveTo>
                    <a:pt x="2323211" y="0"/>
                  </a:moveTo>
                  <a:lnTo>
                    <a:pt x="160908" y="0"/>
                  </a:lnTo>
                  <a:lnTo>
                    <a:pt x="118121" y="5745"/>
                  </a:lnTo>
                  <a:lnTo>
                    <a:pt x="79680" y="21961"/>
                  </a:lnTo>
                  <a:lnTo>
                    <a:pt x="47116" y="47116"/>
                  </a:lnTo>
                  <a:lnTo>
                    <a:pt x="21961" y="79680"/>
                  </a:lnTo>
                  <a:lnTo>
                    <a:pt x="5745" y="118121"/>
                  </a:lnTo>
                  <a:lnTo>
                    <a:pt x="0" y="160908"/>
                  </a:lnTo>
                  <a:lnTo>
                    <a:pt x="0" y="1448409"/>
                  </a:lnTo>
                  <a:lnTo>
                    <a:pt x="5745" y="1491189"/>
                  </a:lnTo>
                  <a:lnTo>
                    <a:pt x="21961" y="1529633"/>
                  </a:lnTo>
                  <a:lnTo>
                    <a:pt x="47116" y="1562204"/>
                  </a:lnTo>
                  <a:lnTo>
                    <a:pt x="79680" y="1587370"/>
                  </a:lnTo>
                  <a:lnTo>
                    <a:pt x="118121" y="1603594"/>
                  </a:lnTo>
                  <a:lnTo>
                    <a:pt x="160908" y="1609343"/>
                  </a:lnTo>
                  <a:lnTo>
                    <a:pt x="2323211" y="1609343"/>
                  </a:lnTo>
                  <a:lnTo>
                    <a:pt x="2365998" y="1603594"/>
                  </a:lnTo>
                  <a:lnTo>
                    <a:pt x="2404439" y="1587370"/>
                  </a:lnTo>
                  <a:lnTo>
                    <a:pt x="2437003" y="1562204"/>
                  </a:lnTo>
                  <a:lnTo>
                    <a:pt x="2462158" y="1529633"/>
                  </a:lnTo>
                  <a:lnTo>
                    <a:pt x="2478374" y="1491189"/>
                  </a:lnTo>
                  <a:lnTo>
                    <a:pt x="2484119" y="1448409"/>
                  </a:lnTo>
                  <a:lnTo>
                    <a:pt x="2484119" y="160908"/>
                  </a:lnTo>
                  <a:lnTo>
                    <a:pt x="2478374" y="118121"/>
                  </a:lnTo>
                  <a:lnTo>
                    <a:pt x="2462158" y="79680"/>
                  </a:lnTo>
                  <a:lnTo>
                    <a:pt x="2437003" y="47117"/>
                  </a:lnTo>
                  <a:lnTo>
                    <a:pt x="2404439" y="21961"/>
                  </a:lnTo>
                  <a:lnTo>
                    <a:pt x="2365998" y="5745"/>
                  </a:lnTo>
                  <a:lnTo>
                    <a:pt x="232321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21308" y="4861559"/>
              <a:ext cx="2484120" cy="1609725"/>
            </a:xfrm>
            <a:custGeom>
              <a:avLst/>
              <a:gdLst/>
              <a:ahLst/>
              <a:cxnLst/>
              <a:rect l="l" t="t" r="r" b="b"/>
              <a:pathLst>
                <a:path w="2484120" h="1609725">
                  <a:moveTo>
                    <a:pt x="0" y="160908"/>
                  </a:moveTo>
                  <a:lnTo>
                    <a:pt x="5745" y="118121"/>
                  </a:lnTo>
                  <a:lnTo>
                    <a:pt x="21961" y="79680"/>
                  </a:lnTo>
                  <a:lnTo>
                    <a:pt x="47116" y="47116"/>
                  </a:lnTo>
                  <a:lnTo>
                    <a:pt x="79680" y="21961"/>
                  </a:lnTo>
                  <a:lnTo>
                    <a:pt x="118121" y="5745"/>
                  </a:lnTo>
                  <a:lnTo>
                    <a:pt x="160908" y="0"/>
                  </a:lnTo>
                  <a:lnTo>
                    <a:pt x="2323211" y="0"/>
                  </a:lnTo>
                  <a:lnTo>
                    <a:pt x="2365998" y="5745"/>
                  </a:lnTo>
                  <a:lnTo>
                    <a:pt x="2404439" y="21961"/>
                  </a:lnTo>
                  <a:lnTo>
                    <a:pt x="2437003" y="47117"/>
                  </a:lnTo>
                  <a:lnTo>
                    <a:pt x="2462158" y="79680"/>
                  </a:lnTo>
                  <a:lnTo>
                    <a:pt x="2478374" y="118121"/>
                  </a:lnTo>
                  <a:lnTo>
                    <a:pt x="2484119" y="160908"/>
                  </a:lnTo>
                  <a:lnTo>
                    <a:pt x="2484119" y="1448409"/>
                  </a:lnTo>
                  <a:lnTo>
                    <a:pt x="2478374" y="1491189"/>
                  </a:lnTo>
                  <a:lnTo>
                    <a:pt x="2462158" y="1529633"/>
                  </a:lnTo>
                  <a:lnTo>
                    <a:pt x="2437003" y="1562204"/>
                  </a:lnTo>
                  <a:lnTo>
                    <a:pt x="2404439" y="1587370"/>
                  </a:lnTo>
                  <a:lnTo>
                    <a:pt x="2365998" y="1603594"/>
                  </a:lnTo>
                  <a:lnTo>
                    <a:pt x="2323211" y="1609343"/>
                  </a:lnTo>
                  <a:lnTo>
                    <a:pt x="160908" y="1609343"/>
                  </a:lnTo>
                  <a:lnTo>
                    <a:pt x="118121" y="1603594"/>
                  </a:lnTo>
                  <a:lnTo>
                    <a:pt x="79680" y="1587370"/>
                  </a:lnTo>
                  <a:lnTo>
                    <a:pt x="47116" y="1562204"/>
                  </a:lnTo>
                  <a:lnTo>
                    <a:pt x="21961" y="1529633"/>
                  </a:lnTo>
                  <a:lnTo>
                    <a:pt x="5745" y="1491189"/>
                  </a:lnTo>
                  <a:lnTo>
                    <a:pt x="0" y="1448409"/>
                  </a:lnTo>
                  <a:lnTo>
                    <a:pt x="0" y="160908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93063" y="5315839"/>
            <a:ext cx="1575435" cy="98425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70485" marR="5080" indent="-68580">
              <a:lnSpc>
                <a:spcPct val="88200"/>
              </a:lnSpc>
              <a:spcBef>
                <a:spcPts val="235"/>
              </a:spcBef>
              <a:buChar char="•"/>
              <a:tabLst>
                <a:tab pos="70485" algn="l"/>
              </a:tabLst>
            </a:pPr>
            <a:r>
              <a:rPr sz="1000" dirty="0">
                <a:solidFill>
                  <a:srgbClr val="FF0000"/>
                </a:solidFill>
                <a:latin typeface="Cambria"/>
                <a:cs typeface="Cambria"/>
              </a:rPr>
              <a:t>Hardware</a:t>
            </a:r>
            <a:r>
              <a:rPr sz="1000" spc="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Cambria"/>
                <a:cs typeface="Cambria"/>
              </a:rPr>
              <a:t>details </a:t>
            </a:r>
            <a:r>
              <a:rPr sz="1000" dirty="0">
                <a:solidFill>
                  <a:srgbClr val="FF0000"/>
                </a:solidFill>
                <a:latin typeface="Cambria"/>
                <a:cs typeface="Cambria"/>
              </a:rPr>
              <a:t>transparent</a:t>
            </a:r>
            <a:r>
              <a:rPr sz="10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100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000" spc="-2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000" spc="30" dirty="0">
                <a:solidFill>
                  <a:srgbClr val="FF0000"/>
                </a:solidFill>
                <a:latin typeface="Cambria"/>
                <a:cs typeface="Cambria"/>
              </a:rPr>
              <a:t> programmer</a:t>
            </a:r>
            <a:r>
              <a:rPr sz="1000" spc="30" dirty="0">
                <a:latin typeface="Cambria"/>
                <a:cs typeface="Cambria"/>
              </a:rPr>
              <a:t>,</a:t>
            </a:r>
            <a:r>
              <a:rPr sz="1000" spc="18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control </a:t>
            </a:r>
            <a:r>
              <a:rPr sz="1000" spc="10" dirty="0">
                <a:latin typeface="Cambria"/>
                <a:cs typeface="Cambria"/>
              </a:rPr>
              <a:t>signals,</a:t>
            </a:r>
            <a:r>
              <a:rPr sz="1000" spc="285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interfaces</a:t>
            </a:r>
            <a:r>
              <a:rPr sz="1000" spc="500" dirty="0">
                <a:latin typeface="Cambria"/>
                <a:cs typeface="Cambria"/>
              </a:rPr>
              <a:t> </a:t>
            </a:r>
            <a:r>
              <a:rPr sz="1000" spc="10" dirty="0">
                <a:latin typeface="Cambria"/>
                <a:cs typeface="Cambria"/>
              </a:rPr>
              <a:t>between</a:t>
            </a:r>
            <a:r>
              <a:rPr sz="1000" spc="145" dirty="0">
                <a:latin typeface="Cambria"/>
                <a:cs typeface="Cambria"/>
              </a:rPr>
              <a:t> </a:t>
            </a:r>
            <a:r>
              <a:rPr sz="1000" spc="10" dirty="0">
                <a:latin typeface="Cambria"/>
                <a:cs typeface="Cambria"/>
              </a:rPr>
              <a:t>the</a:t>
            </a:r>
            <a:r>
              <a:rPr sz="1000" spc="16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computer</a:t>
            </a:r>
            <a:r>
              <a:rPr sz="1000" spc="500" dirty="0">
                <a:latin typeface="Cambria"/>
                <a:cs typeface="Cambria"/>
              </a:rPr>
              <a:t> </a:t>
            </a:r>
            <a:r>
              <a:rPr sz="1000" spc="30" dirty="0">
                <a:latin typeface="Cambria"/>
                <a:cs typeface="Cambria"/>
              </a:rPr>
              <a:t>and</a:t>
            </a:r>
            <a:r>
              <a:rPr sz="1000" spc="105" dirty="0">
                <a:latin typeface="Cambria"/>
                <a:cs typeface="Cambria"/>
              </a:rPr>
              <a:t> </a:t>
            </a:r>
            <a:r>
              <a:rPr sz="1000" spc="30" dirty="0">
                <a:latin typeface="Cambria"/>
                <a:cs typeface="Cambria"/>
              </a:rPr>
              <a:t>peripherals,</a:t>
            </a:r>
            <a:r>
              <a:rPr sz="1000" spc="10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memory </a:t>
            </a:r>
            <a:r>
              <a:rPr sz="1000" spc="20" dirty="0">
                <a:latin typeface="Cambria"/>
                <a:cs typeface="Cambria"/>
              </a:rPr>
              <a:t>technology</a:t>
            </a:r>
            <a:r>
              <a:rPr sz="1000" spc="240" dirty="0">
                <a:latin typeface="Cambria"/>
                <a:cs typeface="Cambria"/>
              </a:rPr>
              <a:t> </a:t>
            </a:r>
            <a:r>
              <a:rPr sz="1000" spc="-20" dirty="0">
                <a:latin typeface="Cambria"/>
                <a:cs typeface="Cambria"/>
              </a:rPr>
              <a:t>used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14958" y="1435353"/>
            <a:ext cx="6550659" cy="1622425"/>
            <a:chOff x="1314958" y="1435353"/>
            <a:chExt cx="6550659" cy="1622425"/>
          </a:xfrm>
        </p:grpSpPr>
        <p:sp>
          <p:nvSpPr>
            <p:cNvPr id="14" name="object 14"/>
            <p:cNvSpPr/>
            <p:nvPr/>
          </p:nvSpPr>
          <p:spPr>
            <a:xfrm>
              <a:off x="5373623" y="1441703"/>
              <a:ext cx="2486025" cy="1609725"/>
            </a:xfrm>
            <a:custGeom>
              <a:avLst/>
              <a:gdLst/>
              <a:ahLst/>
              <a:cxnLst/>
              <a:rect l="l" t="t" r="r" b="b"/>
              <a:pathLst>
                <a:path w="2486025" h="1609725">
                  <a:moveTo>
                    <a:pt x="2324734" y="0"/>
                  </a:moveTo>
                  <a:lnTo>
                    <a:pt x="160909" y="0"/>
                  </a:lnTo>
                  <a:lnTo>
                    <a:pt x="118121" y="5745"/>
                  </a:lnTo>
                  <a:lnTo>
                    <a:pt x="79680" y="21961"/>
                  </a:lnTo>
                  <a:lnTo>
                    <a:pt x="47117" y="47116"/>
                  </a:lnTo>
                  <a:lnTo>
                    <a:pt x="21961" y="79680"/>
                  </a:lnTo>
                  <a:lnTo>
                    <a:pt x="5745" y="118121"/>
                  </a:lnTo>
                  <a:lnTo>
                    <a:pt x="0" y="160909"/>
                  </a:lnTo>
                  <a:lnTo>
                    <a:pt x="0" y="1448435"/>
                  </a:lnTo>
                  <a:lnTo>
                    <a:pt x="5745" y="1491222"/>
                  </a:lnTo>
                  <a:lnTo>
                    <a:pt x="21961" y="1529663"/>
                  </a:lnTo>
                  <a:lnTo>
                    <a:pt x="47116" y="1562227"/>
                  </a:lnTo>
                  <a:lnTo>
                    <a:pt x="79680" y="1587382"/>
                  </a:lnTo>
                  <a:lnTo>
                    <a:pt x="118121" y="1603598"/>
                  </a:lnTo>
                  <a:lnTo>
                    <a:pt x="160909" y="1609344"/>
                  </a:lnTo>
                  <a:lnTo>
                    <a:pt x="2324734" y="1609344"/>
                  </a:lnTo>
                  <a:lnTo>
                    <a:pt x="2367522" y="1603598"/>
                  </a:lnTo>
                  <a:lnTo>
                    <a:pt x="2405963" y="1587382"/>
                  </a:lnTo>
                  <a:lnTo>
                    <a:pt x="2438526" y="1562227"/>
                  </a:lnTo>
                  <a:lnTo>
                    <a:pt x="2463682" y="1529663"/>
                  </a:lnTo>
                  <a:lnTo>
                    <a:pt x="2479898" y="1491222"/>
                  </a:lnTo>
                  <a:lnTo>
                    <a:pt x="2485644" y="1448435"/>
                  </a:lnTo>
                  <a:lnTo>
                    <a:pt x="2485644" y="160909"/>
                  </a:lnTo>
                  <a:lnTo>
                    <a:pt x="2479898" y="118121"/>
                  </a:lnTo>
                  <a:lnTo>
                    <a:pt x="2463682" y="79680"/>
                  </a:lnTo>
                  <a:lnTo>
                    <a:pt x="2438527" y="47117"/>
                  </a:lnTo>
                  <a:lnTo>
                    <a:pt x="2405963" y="21961"/>
                  </a:lnTo>
                  <a:lnTo>
                    <a:pt x="2367522" y="5745"/>
                  </a:lnTo>
                  <a:lnTo>
                    <a:pt x="232473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73623" y="1441703"/>
              <a:ext cx="2486025" cy="1609725"/>
            </a:xfrm>
            <a:custGeom>
              <a:avLst/>
              <a:gdLst/>
              <a:ahLst/>
              <a:cxnLst/>
              <a:rect l="l" t="t" r="r" b="b"/>
              <a:pathLst>
                <a:path w="2486025" h="1609725">
                  <a:moveTo>
                    <a:pt x="0" y="160909"/>
                  </a:moveTo>
                  <a:lnTo>
                    <a:pt x="5745" y="118121"/>
                  </a:lnTo>
                  <a:lnTo>
                    <a:pt x="21961" y="79680"/>
                  </a:lnTo>
                  <a:lnTo>
                    <a:pt x="47117" y="47116"/>
                  </a:lnTo>
                  <a:lnTo>
                    <a:pt x="79680" y="21961"/>
                  </a:lnTo>
                  <a:lnTo>
                    <a:pt x="118121" y="5745"/>
                  </a:lnTo>
                  <a:lnTo>
                    <a:pt x="160909" y="0"/>
                  </a:lnTo>
                  <a:lnTo>
                    <a:pt x="2324734" y="0"/>
                  </a:lnTo>
                  <a:lnTo>
                    <a:pt x="2367522" y="5745"/>
                  </a:lnTo>
                  <a:lnTo>
                    <a:pt x="2405963" y="21961"/>
                  </a:lnTo>
                  <a:lnTo>
                    <a:pt x="2438527" y="47117"/>
                  </a:lnTo>
                  <a:lnTo>
                    <a:pt x="2463682" y="79680"/>
                  </a:lnTo>
                  <a:lnTo>
                    <a:pt x="2479898" y="118121"/>
                  </a:lnTo>
                  <a:lnTo>
                    <a:pt x="2485644" y="160909"/>
                  </a:lnTo>
                  <a:lnTo>
                    <a:pt x="2485644" y="1448435"/>
                  </a:lnTo>
                  <a:lnTo>
                    <a:pt x="2479898" y="1491222"/>
                  </a:lnTo>
                  <a:lnTo>
                    <a:pt x="2463682" y="1529663"/>
                  </a:lnTo>
                  <a:lnTo>
                    <a:pt x="2438526" y="1562227"/>
                  </a:lnTo>
                  <a:lnTo>
                    <a:pt x="2405963" y="1587382"/>
                  </a:lnTo>
                  <a:lnTo>
                    <a:pt x="2367522" y="1603598"/>
                  </a:lnTo>
                  <a:lnTo>
                    <a:pt x="2324734" y="1609344"/>
                  </a:lnTo>
                  <a:lnTo>
                    <a:pt x="160909" y="1609344"/>
                  </a:lnTo>
                  <a:lnTo>
                    <a:pt x="118121" y="1603598"/>
                  </a:lnTo>
                  <a:lnTo>
                    <a:pt x="79680" y="1587382"/>
                  </a:lnTo>
                  <a:lnTo>
                    <a:pt x="47116" y="1562227"/>
                  </a:lnTo>
                  <a:lnTo>
                    <a:pt x="21961" y="1529663"/>
                  </a:lnTo>
                  <a:lnTo>
                    <a:pt x="5745" y="1491222"/>
                  </a:lnTo>
                  <a:lnTo>
                    <a:pt x="0" y="1448435"/>
                  </a:lnTo>
                  <a:lnTo>
                    <a:pt x="0" y="160909"/>
                  </a:lnTo>
                  <a:close/>
                </a:path>
              </a:pathLst>
            </a:custGeom>
            <a:ln w="12191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21308" y="1441703"/>
              <a:ext cx="2484120" cy="1609725"/>
            </a:xfrm>
            <a:custGeom>
              <a:avLst/>
              <a:gdLst/>
              <a:ahLst/>
              <a:cxnLst/>
              <a:rect l="l" t="t" r="r" b="b"/>
              <a:pathLst>
                <a:path w="2484120" h="1609725">
                  <a:moveTo>
                    <a:pt x="2323211" y="0"/>
                  </a:moveTo>
                  <a:lnTo>
                    <a:pt x="160908" y="0"/>
                  </a:lnTo>
                  <a:lnTo>
                    <a:pt x="118121" y="5745"/>
                  </a:lnTo>
                  <a:lnTo>
                    <a:pt x="79680" y="21961"/>
                  </a:lnTo>
                  <a:lnTo>
                    <a:pt x="47116" y="47116"/>
                  </a:lnTo>
                  <a:lnTo>
                    <a:pt x="21961" y="79680"/>
                  </a:lnTo>
                  <a:lnTo>
                    <a:pt x="5745" y="118121"/>
                  </a:lnTo>
                  <a:lnTo>
                    <a:pt x="0" y="160909"/>
                  </a:lnTo>
                  <a:lnTo>
                    <a:pt x="0" y="1448435"/>
                  </a:lnTo>
                  <a:lnTo>
                    <a:pt x="5745" y="1491222"/>
                  </a:lnTo>
                  <a:lnTo>
                    <a:pt x="21961" y="1529663"/>
                  </a:lnTo>
                  <a:lnTo>
                    <a:pt x="47116" y="1562227"/>
                  </a:lnTo>
                  <a:lnTo>
                    <a:pt x="79680" y="1587382"/>
                  </a:lnTo>
                  <a:lnTo>
                    <a:pt x="118121" y="1603598"/>
                  </a:lnTo>
                  <a:lnTo>
                    <a:pt x="160908" y="1609344"/>
                  </a:lnTo>
                  <a:lnTo>
                    <a:pt x="2323211" y="1609344"/>
                  </a:lnTo>
                  <a:lnTo>
                    <a:pt x="2365998" y="1603598"/>
                  </a:lnTo>
                  <a:lnTo>
                    <a:pt x="2404439" y="1587382"/>
                  </a:lnTo>
                  <a:lnTo>
                    <a:pt x="2437003" y="1562227"/>
                  </a:lnTo>
                  <a:lnTo>
                    <a:pt x="2462158" y="1529663"/>
                  </a:lnTo>
                  <a:lnTo>
                    <a:pt x="2478374" y="1491222"/>
                  </a:lnTo>
                  <a:lnTo>
                    <a:pt x="2484119" y="1448435"/>
                  </a:lnTo>
                  <a:lnTo>
                    <a:pt x="2484119" y="160909"/>
                  </a:lnTo>
                  <a:lnTo>
                    <a:pt x="2478374" y="118121"/>
                  </a:lnTo>
                  <a:lnTo>
                    <a:pt x="2462158" y="79680"/>
                  </a:lnTo>
                  <a:lnTo>
                    <a:pt x="2437003" y="47117"/>
                  </a:lnTo>
                  <a:lnTo>
                    <a:pt x="2404439" y="21961"/>
                  </a:lnTo>
                  <a:lnTo>
                    <a:pt x="2365998" y="5745"/>
                  </a:lnTo>
                  <a:lnTo>
                    <a:pt x="232321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21308" y="1441703"/>
              <a:ext cx="2484120" cy="1609725"/>
            </a:xfrm>
            <a:custGeom>
              <a:avLst/>
              <a:gdLst/>
              <a:ahLst/>
              <a:cxnLst/>
              <a:rect l="l" t="t" r="r" b="b"/>
              <a:pathLst>
                <a:path w="2484120" h="1609725">
                  <a:moveTo>
                    <a:pt x="0" y="160909"/>
                  </a:moveTo>
                  <a:lnTo>
                    <a:pt x="5745" y="118121"/>
                  </a:lnTo>
                  <a:lnTo>
                    <a:pt x="21961" y="79680"/>
                  </a:lnTo>
                  <a:lnTo>
                    <a:pt x="47116" y="47116"/>
                  </a:lnTo>
                  <a:lnTo>
                    <a:pt x="79680" y="21961"/>
                  </a:lnTo>
                  <a:lnTo>
                    <a:pt x="118121" y="5745"/>
                  </a:lnTo>
                  <a:lnTo>
                    <a:pt x="160908" y="0"/>
                  </a:lnTo>
                  <a:lnTo>
                    <a:pt x="2323211" y="0"/>
                  </a:lnTo>
                  <a:lnTo>
                    <a:pt x="2365998" y="5745"/>
                  </a:lnTo>
                  <a:lnTo>
                    <a:pt x="2404439" y="21961"/>
                  </a:lnTo>
                  <a:lnTo>
                    <a:pt x="2437003" y="47117"/>
                  </a:lnTo>
                  <a:lnTo>
                    <a:pt x="2462158" y="79680"/>
                  </a:lnTo>
                  <a:lnTo>
                    <a:pt x="2478374" y="118121"/>
                  </a:lnTo>
                  <a:lnTo>
                    <a:pt x="2484119" y="160909"/>
                  </a:lnTo>
                  <a:lnTo>
                    <a:pt x="2484119" y="1448435"/>
                  </a:lnTo>
                  <a:lnTo>
                    <a:pt x="2478374" y="1491222"/>
                  </a:lnTo>
                  <a:lnTo>
                    <a:pt x="2462158" y="1529663"/>
                  </a:lnTo>
                  <a:lnTo>
                    <a:pt x="2437003" y="1562227"/>
                  </a:lnTo>
                  <a:lnTo>
                    <a:pt x="2404439" y="1587382"/>
                  </a:lnTo>
                  <a:lnTo>
                    <a:pt x="2365998" y="1603598"/>
                  </a:lnTo>
                  <a:lnTo>
                    <a:pt x="2323211" y="1609344"/>
                  </a:lnTo>
                  <a:lnTo>
                    <a:pt x="160908" y="1609344"/>
                  </a:lnTo>
                  <a:lnTo>
                    <a:pt x="118121" y="1603598"/>
                  </a:lnTo>
                  <a:lnTo>
                    <a:pt x="79680" y="1587382"/>
                  </a:lnTo>
                  <a:lnTo>
                    <a:pt x="47116" y="1562227"/>
                  </a:lnTo>
                  <a:lnTo>
                    <a:pt x="21961" y="1529663"/>
                  </a:lnTo>
                  <a:lnTo>
                    <a:pt x="5745" y="1491222"/>
                  </a:lnTo>
                  <a:lnTo>
                    <a:pt x="0" y="1448435"/>
                  </a:lnTo>
                  <a:lnTo>
                    <a:pt x="0" y="160909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393063" y="1492758"/>
            <a:ext cx="1540510" cy="871219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70485" marR="204470" indent="-68580">
              <a:lnSpc>
                <a:spcPts val="1060"/>
              </a:lnSpc>
              <a:spcBef>
                <a:spcPts val="245"/>
              </a:spcBef>
              <a:buChar char="•"/>
              <a:tabLst>
                <a:tab pos="70485" algn="l"/>
              </a:tabLst>
            </a:pPr>
            <a:r>
              <a:rPr sz="1000" dirty="0">
                <a:latin typeface="Cambria"/>
                <a:cs typeface="Cambria"/>
              </a:rPr>
              <a:t>Attributes</a:t>
            </a:r>
            <a:r>
              <a:rPr sz="1000" spc="100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of</a:t>
            </a:r>
            <a:r>
              <a:rPr sz="1000" spc="105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a</a:t>
            </a:r>
            <a:r>
              <a:rPr sz="1000" spc="10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system </a:t>
            </a:r>
            <a:r>
              <a:rPr sz="1000" dirty="0">
                <a:solidFill>
                  <a:srgbClr val="FF0000"/>
                </a:solidFill>
                <a:latin typeface="Cambria"/>
                <a:cs typeface="Cambria"/>
              </a:rPr>
              <a:t>visible</a:t>
            </a:r>
            <a:r>
              <a:rPr sz="1000" spc="1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1000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000" spc="-2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000" spc="-10" dirty="0">
                <a:solidFill>
                  <a:srgbClr val="FF0000"/>
                </a:solidFill>
                <a:latin typeface="Cambria"/>
                <a:cs typeface="Cambria"/>
              </a:rPr>
              <a:t> programmer</a:t>
            </a:r>
            <a:endParaRPr sz="1000">
              <a:latin typeface="Cambria"/>
              <a:cs typeface="Cambria"/>
            </a:endParaRPr>
          </a:p>
          <a:p>
            <a:pPr marL="70485" marR="5080" indent="-68580">
              <a:lnSpc>
                <a:spcPts val="1060"/>
              </a:lnSpc>
              <a:spcBef>
                <a:spcPts val="170"/>
              </a:spcBef>
              <a:buChar char="•"/>
              <a:tabLst>
                <a:tab pos="70485" algn="l"/>
              </a:tabLst>
            </a:pPr>
            <a:r>
              <a:rPr sz="1000" dirty="0">
                <a:latin typeface="Cambria"/>
                <a:cs typeface="Cambria"/>
              </a:rPr>
              <a:t>Have</a:t>
            </a:r>
            <a:r>
              <a:rPr sz="1000" spc="175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a</a:t>
            </a:r>
            <a:r>
              <a:rPr sz="1000" spc="165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direct</a:t>
            </a:r>
            <a:r>
              <a:rPr sz="1000" spc="160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impact</a:t>
            </a:r>
            <a:r>
              <a:rPr sz="1000" spc="204" dirty="0">
                <a:latin typeface="Cambria"/>
                <a:cs typeface="Cambria"/>
              </a:rPr>
              <a:t> </a:t>
            </a:r>
            <a:r>
              <a:rPr sz="1000" spc="-25" dirty="0">
                <a:latin typeface="Cambria"/>
                <a:cs typeface="Cambria"/>
              </a:rPr>
              <a:t>on</a:t>
            </a:r>
            <a:r>
              <a:rPr sz="1000" spc="10" dirty="0">
                <a:latin typeface="Cambria"/>
                <a:cs typeface="Cambria"/>
              </a:rPr>
              <a:t> the</a:t>
            </a:r>
            <a:r>
              <a:rPr sz="1000" spc="145" dirty="0">
                <a:latin typeface="Cambria"/>
                <a:cs typeface="Cambria"/>
              </a:rPr>
              <a:t> </a:t>
            </a:r>
            <a:r>
              <a:rPr sz="1000" spc="10" dirty="0">
                <a:latin typeface="Cambria"/>
                <a:cs typeface="Cambria"/>
              </a:rPr>
              <a:t>logical</a:t>
            </a:r>
            <a:r>
              <a:rPr sz="1000" spc="190" dirty="0">
                <a:latin typeface="Cambria"/>
                <a:cs typeface="Cambria"/>
              </a:rPr>
              <a:t> </a:t>
            </a:r>
            <a:r>
              <a:rPr sz="1000" spc="10" dirty="0">
                <a:latin typeface="Cambria"/>
                <a:cs typeface="Cambria"/>
              </a:rPr>
              <a:t>execution</a:t>
            </a:r>
            <a:r>
              <a:rPr sz="1000" spc="150" dirty="0">
                <a:latin typeface="Cambria"/>
                <a:cs typeface="Cambria"/>
              </a:rPr>
              <a:t> </a:t>
            </a:r>
            <a:r>
              <a:rPr sz="1000" spc="10" dirty="0">
                <a:latin typeface="Cambria"/>
                <a:cs typeface="Cambria"/>
              </a:rPr>
              <a:t>of</a:t>
            </a:r>
            <a:r>
              <a:rPr sz="1000" spc="150" dirty="0">
                <a:latin typeface="Cambria"/>
                <a:cs typeface="Cambria"/>
              </a:rPr>
              <a:t> </a:t>
            </a:r>
            <a:r>
              <a:rPr sz="1000" spc="-50" dirty="0">
                <a:latin typeface="Cambria"/>
                <a:cs typeface="Cambria"/>
              </a:rPr>
              <a:t>a</a:t>
            </a:r>
            <a:r>
              <a:rPr sz="1000" spc="-10" dirty="0">
                <a:latin typeface="Cambria"/>
                <a:cs typeface="Cambria"/>
              </a:rPr>
              <a:t> program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296667" y="1688592"/>
            <a:ext cx="2304415" cy="2304415"/>
            <a:chOff x="2296667" y="1688592"/>
            <a:chExt cx="2304415" cy="230441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6667" y="1688592"/>
              <a:ext cx="2304287" cy="230428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6475" y="2830055"/>
              <a:ext cx="1456944" cy="70714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0675" y="1726692"/>
              <a:ext cx="2179320" cy="217931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17163" y="2868155"/>
              <a:ext cx="1162050" cy="39396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483" y="3055607"/>
              <a:ext cx="1331214" cy="393966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3209035" y="2905506"/>
            <a:ext cx="1122045" cy="427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580"/>
              </a:lnSpc>
              <a:spcBef>
                <a:spcPts val="105"/>
              </a:spcBef>
            </a:pPr>
            <a:r>
              <a:rPr sz="1400" b="1" spc="45" dirty="0">
                <a:solidFill>
                  <a:srgbClr val="FFFFFF"/>
                </a:solidFill>
                <a:latin typeface="Cambria"/>
                <a:cs typeface="Cambria"/>
              </a:rPr>
              <a:t>Computer</a:t>
            </a:r>
            <a:endParaRPr sz="1400">
              <a:latin typeface="Cambria"/>
              <a:cs typeface="Cambria"/>
            </a:endParaRPr>
          </a:p>
          <a:p>
            <a:pPr algn="ctr">
              <a:lnSpc>
                <a:spcPts val="1580"/>
              </a:lnSpc>
            </a:pPr>
            <a:r>
              <a:rPr sz="1400" b="1" spc="-10" dirty="0">
                <a:solidFill>
                  <a:srgbClr val="FFFFFF"/>
                </a:solidFill>
                <a:latin typeface="Cambria"/>
                <a:cs typeface="Cambria"/>
              </a:rPr>
              <a:t>Architecture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575047" y="1688592"/>
            <a:ext cx="2304415" cy="2304415"/>
            <a:chOff x="4575047" y="1688592"/>
            <a:chExt cx="2304415" cy="2304415"/>
          </a:xfrm>
        </p:grpSpPr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75047" y="1688592"/>
              <a:ext cx="2304288" cy="230428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55819" y="2735592"/>
              <a:ext cx="1565148" cy="89457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39055" y="1726692"/>
              <a:ext cx="2179320" cy="217931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19827" y="2775216"/>
              <a:ext cx="1439418" cy="39241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75275" y="2962668"/>
              <a:ext cx="1128522" cy="39241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39283" y="3150120"/>
              <a:ext cx="956310" cy="392417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817490" y="2811526"/>
            <a:ext cx="1186180" cy="61468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065" marR="5080" algn="ctr">
              <a:lnSpc>
                <a:spcPts val="1480"/>
              </a:lnSpc>
              <a:spcBef>
                <a:spcPts val="320"/>
              </a:spcBef>
            </a:pPr>
            <a:r>
              <a:rPr sz="1400" b="1" spc="-10" dirty="0">
                <a:solidFill>
                  <a:srgbClr val="FFFFFF"/>
                </a:solidFill>
                <a:latin typeface="Cambria"/>
                <a:cs typeface="Cambria"/>
              </a:rPr>
              <a:t>Architectural attributes </a:t>
            </a:r>
            <a:r>
              <a:rPr sz="1400" b="1" spc="45" dirty="0">
                <a:solidFill>
                  <a:srgbClr val="FFFFFF"/>
                </a:solidFill>
                <a:latin typeface="Cambria"/>
                <a:cs typeface="Cambria"/>
              </a:rPr>
              <a:t>include: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575047" y="3966984"/>
            <a:ext cx="2304415" cy="2304415"/>
            <a:chOff x="4575047" y="3966984"/>
            <a:chExt cx="2304415" cy="2304415"/>
          </a:xfrm>
        </p:grpSpPr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75047" y="3966984"/>
              <a:ext cx="2304288" cy="230428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58867" y="4469879"/>
              <a:ext cx="1560576" cy="70714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39055" y="4005071"/>
              <a:ext cx="2179320" cy="217932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58511" y="4509528"/>
              <a:ext cx="1162050" cy="39241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22875" y="4696980"/>
              <a:ext cx="1434846" cy="392417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4820539" y="4545913"/>
            <a:ext cx="1181100" cy="427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580"/>
              </a:lnSpc>
              <a:spcBef>
                <a:spcPts val="105"/>
              </a:spcBef>
            </a:pPr>
            <a:r>
              <a:rPr sz="1400" b="1" spc="45" dirty="0">
                <a:solidFill>
                  <a:srgbClr val="FFFFFF"/>
                </a:solidFill>
                <a:latin typeface="Cambria"/>
                <a:cs typeface="Cambria"/>
              </a:rPr>
              <a:t>Computer</a:t>
            </a:r>
            <a:endParaRPr sz="1400">
              <a:latin typeface="Cambria"/>
              <a:cs typeface="Cambria"/>
            </a:endParaRPr>
          </a:p>
          <a:p>
            <a:pPr algn="ctr">
              <a:lnSpc>
                <a:spcPts val="1580"/>
              </a:lnSpc>
            </a:pPr>
            <a:r>
              <a:rPr sz="1400" b="1" spc="40" dirty="0">
                <a:solidFill>
                  <a:srgbClr val="FFFFFF"/>
                </a:solidFill>
                <a:latin typeface="Cambria"/>
                <a:cs typeface="Cambria"/>
              </a:rPr>
              <a:t>Organization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296667" y="3966984"/>
            <a:ext cx="2365375" cy="2304415"/>
            <a:chOff x="2296667" y="3966984"/>
            <a:chExt cx="2365375" cy="2304415"/>
          </a:xfrm>
        </p:grpSpPr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96667" y="3966984"/>
              <a:ext cx="2304287" cy="230428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933699" y="4376940"/>
              <a:ext cx="1728216" cy="89305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360675" y="4005071"/>
              <a:ext cx="2179320" cy="217932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997707" y="4415015"/>
              <a:ext cx="1602486" cy="39396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233927" y="4602467"/>
              <a:ext cx="1128522" cy="39396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297935" y="4789919"/>
              <a:ext cx="956310" cy="393966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3096260" y="4452365"/>
            <a:ext cx="1347470" cy="61468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algn="ctr">
              <a:lnSpc>
                <a:spcPts val="1480"/>
              </a:lnSpc>
              <a:spcBef>
                <a:spcPts val="320"/>
              </a:spcBef>
            </a:pPr>
            <a:r>
              <a:rPr sz="1400" b="1" spc="40" dirty="0">
                <a:solidFill>
                  <a:srgbClr val="FFFFFF"/>
                </a:solidFill>
                <a:latin typeface="Cambria"/>
                <a:cs typeface="Cambria"/>
              </a:rPr>
              <a:t>Organizational </a:t>
            </a:r>
            <a:r>
              <a:rPr sz="1400" b="1" spc="-10" dirty="0">
                <a:solidFill>
                  <a:srgbClr val="FFFFFF"/>
                </a:solidFill>
                <a:latin typeface="Cambria"/>
                <a:cs typeface="Cambria"/>
              </a:rPr>
              <a:t>attributes </a:t>
            </a:r>
            <a:r>
              <a:rPr sz="1400" b="1" spc="45" dirty="0">
                <a:solidFill>
                  <a:srgbClr val="FFFFFF"/>
                </a:solidFill>
                <a:latin typeface="Cambria"/>
                <a:cs typeface="Cambria"/>
              </a:rPr>
              <a:t>include: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413759" y="591312"/>
            <a:ext cx="5556250" cy="3863340"/>
            <a:chOff x="3413759" y="591312"/>
            <a:chExt cx="5556250" cy="3863340"/>
          </a:xfrm>
        </p:grpSpPr>
        <p:pic>
          <p:nvPicPr>
            <p:cNvPr id="50" name="object 50" descr="Arrow: Circular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189475" y="3503637"/>
              <a:ext cx="813841" cy="41304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253483" y="3543300"/>
              <a:ext cx="689355" cy="287274"/>
            </a:xfrm>
            <a:prstGeom prst="rect">
              <a:avLst/>
            </a:prstGeom>
          </p:spPr>
        </p:pic>
        <p:pic>
          <p:nvPicPr>
            <p:cNvPr id="52" name="object 52" descr="Arrow: Circular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171187" y="4041609"/>
              <a:ext cx="813841" cy="41304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235195" y="4081271"/>
              <a:ext cx="689101" cy="28676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413759" y="591312"/>
              <a:ext cx="5555742" cy="1009650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3685413" y="710946"/>
            <a:ext cx="4981575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70" dirty="0">
                <a:solidFill>
                  <a:srgbClr val="663366"/>
                </a:solidFill>
                <a:latin typeface="Cambria"/>
                <a:cs typeface="Cambria"/>
              </a:rPr>
              <a:t>Computer</a:t>
            </a:r>
            <a:r>
              <a:rPr sz="3600" spc="90" dirty="0">
                <a:solidFill>
                  <a:srgbClr val="663366"/>
                </a:solidFill>
                <a:latin typeface="Cambria"/>
                <a:cs typeface="Cambria"/>
              </a:rPr>
              <a:t> Organization</a:t>
            </a:r>
            <a:endParaRPr sz="3600" dirty="0">
              <a:latin typeface="Cambria"/>
              <a:cs typeface="Cambria"/>
            </a:endParaRPr>
          </a:p>
          <a:p>
            <a:pPr marL="2577465" marR="902969" indent="-68580">
              <a:lnSpc>
                <a:spcPts val="1060"/>
              </a:lnSpc>
              <a:spcBef>
                <a:spcPts val="1980"/>
              </a:spcBef>
              <a:buChar char="•"/>
              <a:tabLst>
                <a:tab pos="2577465" algn="l"/>
              </a:tabLst>
            </a:pPr>
            <a:r>
              <a:rPr sz="1000" dirty="0">
                <a:latin typeface="Cambria"/>
                <a:cs typeface="Cambria"/>
              </a:rPr>
              <a:t>Instruction</a:t>
            </a:r>
            <a:r>
              <a:rPr sz="1000" spc="185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set,</a:t>
            </a:r>
            <a:r>
              <a:rPr sz="1000" spc="170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number</a:t>
            </a:r>
            <a:r>
              <a:rPr sz="1000" spc="165" dirty="0">
                <a:latin typeface="Cambria"/>
                <a:cs typeface="Cambria"/>
              </a:rPr>
              <a:t> </a:t>
            </a:r>
            <a:r>
              <a:rPr sz="1000" spc="-25" dirty="0">
                <a:latin typeface="Cambria"/>
                <a:cs typeface="Cambria"/>
              </a:rPr>
              <a:t>of</a:t>
            </a:r>
            <a:r>
              <a:rPr sz="1000" dirty="0">
                <a:latin typeface="Cambria"/>
                <a:cs typeface="Cambria"/>
              </a:rPr>
              <a:t> bits</a:t>
            </a:r>
            <a:r>
              <a:rPr sz="1000" spc="114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used</a:t>
            </a:r>
            <a:r>
              <a:rPr sz="1000" spc="125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to</a:t>
            </a:r>
            <a:r>
              <a:rPr sz="1000" spc="12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represent </a:t>
            </a:r>
            <a:r>
              <a:rPr sz="1000" dirty="0">
                <a:latin typeface="Cambria"/>
                <a:cs typeface="Cambria"/>
              </a:rPr>
              <a:t>various</a:t>
            </a:r>
            <a:r>
              <a:rPr sz="1000" spc="135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data</a:t>
            </a:r>
            <a:r>
              <a:rPr sz="1000" spc="155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types,</a:t>
            </a:r>
            <a:r>
              <a:rPr sz="1000" spc="325" dirty="0">
                <a:latin typeface="Cambria"/>
                <a:cs typeface="Cambria"/>
              </a:rPr>
              <a:t>  </a:t>
            </a:r>
            <a:r>
              <a:rPr sz="1000" spc="-25" dirty="0">
                <a:latin typeface="Cambria"/>
                <a:cs typeface="Cambria"/>
              </a:rPr>
              <a:t>I/O</a:t>
            </a:r>
            <a:r>
              <a:rPr sz="1000" spc="20" dirty="0">
                <a:latin typeface="Cambria"/>
                <a:cs typeface="Cambria"/>
              </a:rPr>
              <a:t> mechanisms,</a:t>
            </a:r>
            <a:r>
              <a:rPr sz="1000" spc="24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techniques </a:t>
            </a:r>
            <a:r>
              <a:rPr sz="1000" spc="20" dirty="0">
                <a:latin typeface="Cambria"/>
                <a:cs typeface="Cambria"/>
              </a:rPr>
              <a:t>for</a:t>
            </a:r>
            <a:r>
              <a:rPr sz="1000" spc="150" dirty="0">
                <a:latin typeface="Cambria"/>
                <a:cs typeface="Cambria"/>
              </a:rPr>
              <a:t> </a:t>
            </a:r>
            <a:r>
              <a:rPr sz="1000" spc="20" dirty="0">
                <a:latin typeface="Cambria"/>
                <a:cs typeface="Cambria"/>
              </a:rPr>
              <a:t>addressing</a:t>
            </a:r>
            <a:r>
              <a:rPr sz="1000" spc="145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memory</a:t>
            </a:r>
            <a:endParaRPr sz="1000" dirty="0">
              <a:latin typeface="Cambria"/>
              <a:cs typeface="Cambr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86334" y="6680403"/>
            <a:ext cx="37560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©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2016</a:t>
            </a:r>
            <a:r>
              <a:rPr sz="1100" spc="-1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Pearson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Education,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Inc.,</a:t>
            </a:r>
            <a:r>
              <a:rPr sz="1100" spc="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Hoboken,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NJ.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All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rights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reserved.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712" y="502158"/>
            <a:ext cx="8717688" cy="984885"/>
          </a:xfrm>
        </p:spPr>
        <p:txBody>
          <a:bodyPr/>
          <a:lstStyle/>
          <a:p>
            <a:r>
              <a:rPr lang="en-GB" altLang="en-US" dirty="0"/>
              <a:t>Architecture &amp; Organization- </a:t>
            </a:r>
            <a:r>
              <a:rPr lang="en-GB" altLang="en-US" sz="2800" dirty="0"/>
              <a:t>Family Concept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755"/>
            <a:ext cx="7216140" cy="5392245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1" lang="en-GB" altLang="en-US" sz="2800" dirty="0">
                <a:solidFill>
                  <a:srgbClr val="000000"/>
                </a:solidFill>
                <a:latin typeface="Calibri"/>
                <a:cs typeface="+mn-cs"/>
              </a:rPr>
              <a:t>Many computer manufacturers offer a family of computer models, all with same architecture but with differences in organization,</a:t>
            </a:r>
            <a:r>
              <a:rPr kumimoji="1" lang="en-GB" altLang="en-US" sz="2400" dirty="0">
                <a:solidFill>
                  <a:srgbClr val="000000"/>
                </a:solidFill>
                <a:latin typeface="Calibri"/>
                <a:cs typeface="+mn-cs"/>
              </a:rPr>
              <a:t> i.e.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1" lang="en-GB" altLang="en-US" sz="2800" dirty="0">
                <a:solidFill>
                  <a:srgbClr val="000000"/>
                </a:solidFill>
                <a:latin typeface="Calibri"/>
                <a:cs typeface="+mn-cs"/>
              </a:rPr>
              <a:t>All Intel x86 family share the same basic architecture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1" lang="en-GB" altLang="en-US" sz="2800" dirty="0">
                <a:solidFill>
                  <a:srgbClr val="000000"/>
                </a:solidFill>
                <a:latin typeface="Calibri"/>
                <a:cs typeface="+mn-cs"/>
              </a:rPr>
              <a:t>The IBM System/370 family share the same basic architecture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1" lang="en-GB" altLang="en-US" sz="2800" dirty="0">
                <a:solidFill>
                  <a:srgbClr val="000000"/>
                </a:solidFill>
                <a:latin typeface="Calibri"/>
                <a:cs typeface="+mn-cs"/>
              </a:rPr>
              <a:t>Organization differs between different versions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1" lang="en-GB" altLang="en-US" sz="2800" dirty="0">
                <a:solidFill>
                  <a:srgbClr val="000000"/>
                </a:solidFill>
                <a:latin typeface="Calibri"/>
                <a:cs typeface="+mn-cs"/>
              </a:rPr>
              <a:t>These newer versions retained the same architecture so that customer’s software investment was protected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185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17576" y="356615"/>
            <a:ext cx="6297930" cy="1466850"/>
            <a:chOff x="417576" y="356615"/>
            <a:chExt cx="6297930" cy="14668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7576" y="356615"/>
              <a:ext cx="3027426" cy="10096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571" y="813815"/>
              <a:ext cx="4043933" cy="100965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77392" y="1909147"/>
            <a:ext cx="7010400" cy="305689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6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IBM</a:t>
            </a:r>
            <a:r>
              <a:rPr sz="20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System/370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architecture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5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Was</a:t>
            </a:r>
            <a:r>
              <a:rPr sz="16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60" dirty="0">
                <a:solidFill>
                  <a:srgbClr val="585858"/>
                </a:solidFill>
                <a:latin typeface="Cambria"/>
                <a:cs typeface="Cambria"/>
              </a:rPr>
              <a:t>introduced</a:t>
            </a:r>
            <a:r>
              <a:rPr sz="16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6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-20" dirty="0">
                <a:solidFill>
                  <a:srgbClr val="585858"/>
                </a:solidFill>
                <a:latin typeface="Cambria"/>
                <a:cs typeface="Cambria"/>
              </a:rPr>
              <a:t>1970</a:t>
            </a:r>
            <a:endParaRPr sz="16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5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600" spc="80" dirty="0">
                <a:solidFill>
                  <a:srgbClr val="585858"/>
                </a:solidFill>
                <a:latin typeface="Cambria"/>
                <a:cs typeface="Cambria"/>
              </a:rPr>
              <a:t>Included</a:t>
            </a:r>
            <a:r>
              <a:rPr sz="16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7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6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75" dirty="0">
                <a:solidFill>
                  <a:srgbClr val="585858"/>
                </a:solidFill>
                <a:latin typeface="Cambria"/>
                <a:cs typeface="Cambria"/>
              </a:rPr>
              <a:t>number</a:t>
            </a:r>
            <a:r>
              <a:rPr sz="16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600" spc="80" dirty="0">
                <a:solidFill>
                  <a:srgbClr val="585858"/>
                </a:solidFill>
                <a:latin typeface="Cambria"/>
                <a:cs typeface="Cambria"/>
              </a:rPr>
              <a:t> models</a:t>
            </a:r>
            <a:endParaRPr sz="1600">
              <a:latin typeface="Cambria"/>
              <a:cs typeface="Cambria"/>
            </a:endParaRPr>
          </a:p>
          <a:p>
            <a:pPr marL="469900" marR="116205" lvl="1" indent="-228600">
              <a:lnSpc>
                <a:spcPct val="101899"/>
              </a:lnSpc>
              <a:spcBef>
                <a:spcPts val="61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600" spc="120" dirty="0">
                <a:solidFill>
                  <a:srgbClr val="585858"/>
                </a:solidFill>
                <a:latin typeface="Cambria"/>
                <a:cs typeface="Cambria"/>
              </a:rPr>
              <a:t>Could </a:t>
            </a:r>
            <a:r>
              <a:rPr sz="1600" spc="100" dirty="0">
                <a:solidFill>
                  <a:srgbClr val="585858"/>
                </a:solidFill>
                <a:latin typeface="Cambria"/>
                <a:cs typeface="Cambria"/>
              </a:rPr>
              <a:t>upgrade</a:t>
            </a:r>
            <a:r>
              <a:rPr sz="16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6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6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585858"/>
                </a:solidFill>
                <a:latin typeface="Cambria"/>
                <a:cs typeface="Cambria"/>
              </a:rPr>
              <a:t>more</a:t>
            </a:r>
            <a:r>
              <a:rPr sz="16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90" dirty="0">
                <a:solidFill>
                  <a:srgbClr val="585858"/>
                </a:solidFill>
                <a:latin typeface="Cambria"/>
                <a:cs typeface="Cambria"/>
              </a:rPr>
              <a:t>expensive,</a:t>
            </a:r>
            <a:r>
              <a:rPr sz="1600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"/>
                <a:cs typeface="Cambria"/>
              </a:rPr>
              <a:t>faster</a:t>
            </a:r>
            <a:r>
              <a:rPr sz="1600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9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r>
              <a:rPr sz="16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"/>
                <a:cs typeface="Cambria"/>
              </a:rPr>
              <a:t>without</a:t>
            </a:r>
            <a:r>
              <a:rPr sz="16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70" dirty="0">
                <a:solidFill>
                  <a:srgbClr val="FF0000"/>
                </a:solidFill>
                <a:latin typeface="Cambria"/>
                <a:cs typeface="Cambria"/>
              </a:rPr>
              <a:t>having</a:t>
            </a:r>
            <a:r>
              <a:rPr sz="1600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Cambria"/>
                <a:cs typeface="Cambria"/>
              </a:rPr>
              <a:t>to </a:t>
            </a:r>
            <a:r>
              <a:rPr sz="1600" spc="80" dirty="0">
                <a:solidFill>
                  <a:srgbClr val="FF0000"/>
                </a:solidFill>
                <a:latin typeface="Cambria"/>
                <a:cs typeface="Cambria"/>
              </a:rPr>
              <a:t>abandon</a:t>
            </a:r>
            <a:r>
              <a:rPr sz="16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65" dirty="0">
                <a:solidFill>
                  <a:srgbClr val="FF0000"/>
                </a:solidFill>
                <a:latin typeface="Cambria"/>
                <a:cs typeface="Cambria"/>
              </a:rPr>
              <a:t>original </a:t>
            </a:r>
            <a:r>
              <a:rPr sz="1600" spc="-10" dirty="0">
                <a:solidFill>
                  <a:srgbClr val="FF0000"/>
                </a:solidFill>
                <a:latin typeface="Cambria"/>
                <a:cs typeface="Cambria"/>
              </a:rPr>
              <a:t>software</a:t>
            </a:r>
            <a:endParaRPr sz="1600">
              <a:latin typeface="Cambria"/>
              <a:cs typeface="Cambria"/>
            </a:endParaRPr>
          </a:p>
          <a:p>
            <a:pPr marL="469900" marR="5080" lvl="1" indent="-228600">
              <a:lnSpc>
                <a:spcPct val="1026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600" spc="70" dirty="0">
                <a:solidFill>
                  <a:srgbClr val="585858"/>
                </a:solidFill>
                <a:latin typeface="Cambria"/>
                <a:cs typeface="Cambria"/>
              </a:rPr>
              <a:t>New</a:t>
            </a:r>
            <a:r>
              <a:rPr sz="16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85" dirty="0">
                <a:solidFill>
                  <a:srgbClr val="585858"/>
                </a:solidFill>
                <a:latin typeface="Cambria"/>
                <a:cs typeface="Cambria"/>
              </a:rPr>
              <a:t>models</a:t>
            </a:r>
            <a:r>
              <a:rPr sz="16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50" dirty="0">
                <a:solidFill>
                  <a:srgbClr val="585858"/>
                </a:solidFill>
                <a:latin typeface="Cambria"/>
                <a:cs typeface="Cambria"/>
              </a:rPr>
              <a:t>are</a:t>
            </a:r>
            <a:r>
              <a:rPr sz="16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60" dirty="0">
                <a:solidFill>
                  <a:srgbClr val="585858"/>
                </a:solidFill>
                <a:latin typeface="Cambria"/>
                <a:cs typeface="Cambria"/>
              </a:rPr>
              <a:t>introduced</a:t>
            </a:r>
            <a:r>
              <a:rPr sz="16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with</a:t>
            </a:r>
            <a:r>
              <a:rPr sz="16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60" dirty="0">
                <a:solidFill>
                  <a:srgbClr val="585858"/>
                </a:solidFill>
                <a:latin typeface="Cambria"/>
                <a:cs typeface="Cambria"/>
              </a:rPr>
              <a:t>improved</a:t>
            </a:r>
            <a:r>
              <a:rPr sz="16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70" dirty="0">
                <a:solidFill>
                  <a:srgbClr val="585858"/>
                </a:solidFill>
                <a:latin typeface="Cambria"/>
                <a:cs typeface="Cambria"/>
              </a:rPr>
              <a:t>technology,</a:t>
            </a:r>
            <a:r>
              <a:rPr sz="1600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but</a:t>
            </a:r>
            <a:r>
              <a:rPr sz="16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"/>
                <a:cs typeface="Cambria"/>
              </a:rPr>
              <a:t>retain</a:t>
            </a:r>
            <a:r>
              <a:rPr sz="1600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Cambria"/>
                <a:cs typeface="Cambria"/>
              </a:rPr>
              <a:t>the </a:t>
            </a:r>
            <a:r>
              <a:rPr sz="1600" spc="85" dirty="0">
                <a:solidFill>
                  <a:srgbClr val="FF0000"/>
                </a:solidFill>
                <a:latin typeface="Cambria"/>
                <a:cs typeface="Cambria"/>
              </a:rPr>
              <a:t>same</a:t>
            </a:r>
            <a:r>
              <a:rPr sz="1600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20" dirty="0">
                <a:solidFill>
                  <a:srgbClr val="FF0000"/>
                </a:solidFill>
                <a:latin typeface="Cambria"/>
                <a:cs typeface="Cambria"/>
              </a:rPr>
              <a:t>architecture</a:t>
            </a:r>
            <a:r>
              <a:rPr sz="160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65" dirty="0">
                <a:solidFill>
                  <a:srgbClr val="585858"/>
                </a:solidFill>
                <a:latin typeface="Cambria"/>
                <a:cs typeface="Cambria"/>
              </a:rPr>
              <a:t>so</a:t>
            </a:r>
            <a:r>
              <a:rPr sz="16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2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16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2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6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50" dirty="0">
                <a:solidFill>
                  <a:srgbClr val="585858"/>
                </a:solidFill>
                <a:latin typeface="Cambria"/>
                <a:cs typeface="Cambria"/>
              </a:rPr>
              <a:t>customer’s</a:t>
            </a:r>
            <a:r>
              <a:rPr sz="16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20" dirty="0">
                <a:solidFill>
                  <a:srgbClr val="585858"/>
                </a:solidFill>
                <a:latin typeface="Cambria"/>
                <a:cs typeface="Cambria"/>
              </a:rPr>
              <a:t>software</a:t>
            </a:r>
            <a:r>
              <a:rPr sz="1600" spc="1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20" dirty="0">
                <a:solidFill>
                  <a:srgbClr val="585858"/>
                </a:solidFill>
                <a:latin typeface="Cambria"/>
                <a:cs typeface="Cambria"/>
              </a:rPr>
              <a:t>investment</a:t>
            </a:r>
            <a:r>
              <a:rPr sz="16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-25" dirty="0">
                <a:solidFill>
                  <a:srgbClr val="585858"/>
                </a:solidFill>
                <a:latin typeface="Cambria"/>
                <a:cs typeface="Cambria"/>
              </a:rPr>
              <a:t>is </a:t>
            </a:r>
            <a:r>
              <a:rPr sz="1600" spc="60" dirty="0">
                <a:solidFill>
                  <a:srgbClr val="585858"/>
                </a:solidFill>
                <a:latin typeface="Cambria"/>
                <a:cs typeface="Cambria"/>
              </a:rPr>
              <a:t>protected</a:t>
            </a:r>
            <a:endParaRPr sz="1600">
              <a:latin typeface="Cambria"/>
              <a:cs typeface="Cambria"/>
            </a:endParaRPr>
          </a:p>
          <a:p>
            <a:pPr marL="469900" marR="471170" lvl="1" indent="-228600">
              <a:lnSpc>
                <a:spcPct val="102499"/>
              </a:lnSpc>
              <a:spcBef>
                <a:spcPts val="58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600" spc="50" dirty="0">
                <a:solidFill>
                  <a:srgbClr val="585858"/>
                </a:solidFill>
                <a:latin typeface="Cambria"/>
                <a:cs typeface="Cambria"/>
              </a:rPr>
              <a:t>Architecture</a:t>
            </a:r>
            <a:r>
              <a:rPr sz="16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585858"/>
                </a:solidFill>
                <a:latin typeface="Cambria"/>
                <a:cs typeface="Cambria"/>
              </a:rPr>
              <a:t>has</a:t>
            </a:r>
            <a:r>
              <a:rPr sz="16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60" dirty="0">
                <a:solidFill>
                  <a:srgbClr val="585858"/>
                </a:solidFill>
                <a:latin typeface="Cambria"/>
                <a:cs typeface="Cambria"/>
              </a:rPr>
              <a:t>survived</a:t>
            </a:r>
            <a:r>
              <a:rPr sz="16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2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6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20" dirty="0">
                <a:solidFill>
                  <a:srgbClr val="585858"/>
                </a:solidFill>
                <a:latin typeface="Cambria"/>
                <a:cs typeface="Cambria"/>
              </a:rPr>
              <a:t>this</a:t>
            </a:r>
            <a:r>
              <a:rPr sz="16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85" dirty="0">
                <a:solidFill>
                  <a:srgbClr val="585858"/>
                </a:solidFill>
                <a:latin typeface="Cambria"/>
                <a:cs typeface="Cambria"/>
              </a:rPr>
              <a:t>day</a:t>
            </a:r>
            <a:r>
              <a:rPr sz="16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65" dirty="0">
                <a:solidFill>
                  <a:srgbClr val="585858"/>
                </a:solidFill>
                <a:latin typeface="Cambria"/>
                <a:cs typeface="Cambria"/>
              </a:rPr>
              <a:t>as</a:t>
            </a:r>
            <a:r>
              <a:rPr sz="16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2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6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20" dirty="0">
                <a:solidFill>
                  <a:srgbClr val="585858"/>
                </a:solidFill>
                <a:latin typeface="Cambria"/>
                <a:cs typeface="Cambria"/>
              </a:rPr>
              <a:t>architecture</a:t>
            </a:r>
            <a:r>
              <a:rPr sz="16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2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6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ambria"/>
                <a:cs typeface="Cambria"/>
              </a:rPr>
              <a:t>IBM’s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mainframe</a:t>
            </a:r>
            <a:r>
              <a:rPr sz="1600" spc="25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585858"/>
                </a:solidFill>
                <a:latin typeface="Cambria"/>
                <a:cs typeface="Cambria"/>
              </a:rPr>
              <a:t>product</a:t>
            </a:r>
            <a:r>
              <a:rPr sz="1600" spc="2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40" dirty="0">
                <a:solidFill>
                  <a:srgbClr val="585858"/>
                </a:solidFill>
                <a:latin typeface="Cambria"/>
                <a:cs typeface="Cambria"/>
              </a:rPr>
              <a:t>line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85013" y="475234"/>
            <a:ext cx="625411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3960"/>
              </a:lnSpc>
              <a:spcBef>
                <a:spcPts val="100"/>
              </a:spcBef>
            </a:pPr>
            <a:r>
              <a:rPr sz="5400" b="1" baseline="33179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1275" baseline="33179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IBM</a:t>
            </a:r>
            <a:r>
              <a:rPr sz="3600" spc="125" dirty="0"/>
              <a:t> </a:t>
            </a:r>
            <a:r>
              <a:rPr sz="3600" spc="95" dirty="0"/>
              <a:t>System</a:t>
            </a:r>
            <a:endParaRPr sz="3600">
              <a:latin typeface="Times New Roman"/>
              <a:cs typeface="Times New Roman"/>
            </a:endParaRPr>
          </a:p>
          <a:p>
            <a:pPr marL="2770505">
              <a:lnSpc>
                <a:spcPts val="3960"/>
              </a:lnSpc>
            </a:pPr>
            <a:r>
              <a:rPr dirty="0"/>
              <a:t>370</a:t>
            </a:r>
            <a:r>
              <a:rPr spc="-30" dirty="0"/>
              <a:t> </a:t>
            </a:r>
            <a:r>
              <a:rPr spc="65" dirty="0"/>
              <a:t>Architecture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72200" y="5029200"/>
            <a:ext cx="2043683" cy="18288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80517" y="6506667"/>
            <a:ext cx="37560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©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2016</a:t>
            </a:r>
            <a:r>
              <a:rPr sz="1100" spc="-1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Pearson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Education,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Inc.,</a:t>
            </a:r>
            <a:r>
              <a:rPr sz="1100" spc="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Hoboken,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NJ.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All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rights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reserved.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324" y="382524"/>
            <a:ext cx="5324094" cy="100965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67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Structure</a:t>
            </a:r>
            <a:r>
              <a:rPr sz="3600" spc="229" dirty="0"/>
              <a:t> </a:t>
            </a:r>
            <a:r>
              <a:rPr sz="3600" spc="130" dirty="0"/>
              <a:t>and</a:t>
            </a:r>
            <a:r>
              <a:rPr sz="3600" spc="240" dirty="0"/>
              <a:t> </a:t>
            </a:r>
            <a:r>
              <a:rPr sz="3600" spc="50" dirty="0"/>
              <a:t>Function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1170813"/>
            <a:ext cx="3483610" cy="493141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41300" marR="5080" indent="-229235">
              <a:lnSpc>
                <a:spcPct val="80000"/>
              </a:lnSpc>
              <a:spcBef>
                <a:spcPts val="509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spc="114" dirty="0">
                <a:latin typeface="Cambria"/>
                <a:cs typeface="Cambria"/>
              </a:rPr>
              <a:t>A</a:t>
            </a:r>
            <a:r>
              <a:rPr sz="1700" spc="60" dirty="0">
                <a:latin typeface="Cambria"/>
                <a:cs typeface="Cambria"/>
              </a:rPr>
              <a:t> computer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70" dirty="0">
                <a:latin typeface="Cambria"/>
                <a:cs typeface="Cambria"/>
              </a:rPr>
              <a:t> a</a:t>
            </a:r>
            <a:r>
              <a:rPr sz="1700" spc="65" dirty="0"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FF0000"/>
                </a:solidFill>
                <a:latin typeface="Cambria"/>
                <a:cs typeface="Cambria"/>
              </a:rPr>
              <a:t>complex</a:t>
            </a:r>
            <a:r>
              <a:rPr sz="1700" spc="5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system;</a:t>
            </a:r>
            <a:r>
              <a:rPr sz="1700" spc="-9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contemporary </a:t>
            </a:r>
            <a:r>
              <a:rPr sz="1700" spc="60" dirty="0">
                <a:latin typeface="Cambria"/>
                <a:cs typeface="Cambria"/>
              </a:rPr>
              <a:t>computers</a:t>
            </a:r>
            <a:r>
              <a:rPr sz="1700" spc="20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contain</a:t>
            </a:r>
            <a:r>
              <a:rPr sz="1700" spc="2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millions</a:t>
            </a:r>
            <a:r>
              <a:rPr sz="1700" spc="260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of </a:t>
            </a:r>
            <a:r>
              <a:rPr sz="1700" spc="55" dirty="0">
                <a:latin typeface="Cambria"/>
                <a:cs typeface="Cambria"/>
              </a:rPr>
              <a:t>Elementary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electronic </a:t>
            </a:r>
            <a:r>
              <a:rPr sz="1700" spc="65" dirty="0">
                <a:latin typeface="Cambria"/>
                <a:cs typeface="Cambria"/>
              </a:rPr>
              <a:t>components.</a:t>
            </a:r>
            <a:r>
              <a:rPr sz="1700" spc="-6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How,</a:t>
            </a:r>
            <a:r>
              <a:rPr sz="1700" spc="-9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then,</a:t>
            </a:r>
            <a:r>
              <a:rPr sz="1700" spc="-6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can</a:t>
            </a:r>
            <a:r>
              <a:rPr sz="1700" spc="6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one </a:t>
            </a:r>
            <a:r>
              <a:rPr sz="1700" spc="60" dirty="0">
                <a:latin typeface="Cambria"/>
                <a:cs typeface="Cambria"/>
              </a:rPr>
              <a:t>clearly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spc="100" dirty="0">
                <a:latin typeface="Cambria"/>
                <a:cs typeface="Cambria"/>
              </a:rPr>
              <a:t>describe</a:t>
            </a:r>
            <a:r>
              <a:rPr sz="1700" spc="1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them?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150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key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recognize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hierarchical </a:t>
            </a:r>
            <a:r>
              <a:rPr sz="1700" dirty="0">
                <a:latin typeface="Cambria"/>
                <a:cs typeface="Cambria"/>
              </a:rPr>
              <a:t>nature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most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spc="80" dirty="0">
                <a:latin typeface="Cambria"/>
                <a:cs typeface="Cambria"/>
              </a:rPr>
              <a:t>complex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systems, </a:t>
            </a:r>
            <a:r>
              <a:rPr sz="1700" spc="65" dirty="0">
                <a:latin typeface="Cambria"/>
                <a:cs typeface="Cambria"/>
              </a:rPr>
              <a:t>including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computer</a:t>
            </a:r>
            <a:endParaRPr sz="17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595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spc="10" dirty="0">
                <a:latin typeface="Cambria"/>
                <a:cs typeface="Cambria"/>
              </a:rPr>
              <a:t>Hierarchical</a:t>
            </a:r>
            <a:r>
              <a:rPr sz="1700" spc="65" dirty="0">
                <a:latin typeface="Cambria"/>
                <a:cs typeface="Cambria"/>
              </a:rPr>
              <a:t>  </a:t>
            </a:r>
            <a:r>
              <a:rPr sz="1700" spc="40" dirty="0">
                <a:latin typeface="Cambria"/>
                <a:cs typeface="Cambria"/>
              </a:rPr>
              <a:t>system</a:t>
            </a:r>
            <a:endParaRPr sz="1700" dirty="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19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spc="10" dirty="0">
                <a:latin typeface="Cambria"/>
                <a:cs typeface="Cambria"/>
              </a:rPr>
              <a:t>Set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of</a:t>
            </a:r>
            <a:r>
              <a:rPr sz="1700" spc="220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interrelated</a:t>
            </a:r>
            <a:r>
              <a:rPr sz="1700" spc="22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subsystems</a:t>
            </a:r>
            <a:endParaRPr sz="17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buClr>
                <a:srgbClr val="B86FB8"/>
              </a:buClr>
              <a:buFont typeface="Wingdings"/>
              <a:buChar char=""/>
            </a:pPr>
            <a:endParaRPr sz="1700" dirty="0">
              <a:latin typeface="Cambria"/>
              <a:cs typeface="Cambria"/>
            </a:endParaRPr>
          </a:p>
          <a:p>
            <a:pPr marL="241300" marR="27305" indent="-229235">
              <a:lnSpc>
                <a:spcPct val="80000"/>
              </a:lnSpc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spc="10" dirty="0">
                <a:latin typeface="Cambria"/>
                <a:cs typeface="Cambria"/>
              </a:rPr>
              <a:t>Hierarchical</a:t>
            </a:r>
            <a:r>
              <a:rPr sz="1700" spc="240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nature</a:t>
            </a:r>
            <a:r>
              <a:rPr sz="1700" spc="229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of</a:t>
            </a:r>
            <a:r>
              <a:rPr sz="1700" spc="21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complex </a:t>
            </a:r>
            <a:r>
              <a:rPr sz="1700" spc="55" dirty="0">
                <a:latin typeface="Cambria"/>
                <a:cs typeface="Cambria"/>
              </a:rPr>
              <a:t>systems</a:t>
            </a:r>
            <a:r>
              <a:rPr sz="1700" spc="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essential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both</a:t>
            </a:r>
            <a:r>
              <a:rPr sz="1700" spc="60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their </a:t>
            </a:r>
            <a:r>
              <a:rPr sz="1700" spc="95" dirty="0">
                <a:latin typeface="Cambria"/>
                <a:cs typeface="Cambria"/>
              </a:rPr>
              <a:t>design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and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their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description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663366"/>
              </a:buClr>
              <a:buFont typeface="Wingdings"/>
              <a:buChar char=""/>
            </a:pPr>
            <a:endParaRPr sz="1700" dirty="0">
              <a:latin typeface="Cambria"/>
              <a:cs typeface="Cambria"/>
            </a:endParaRPr>
          </a:p>
          <a:p>
            <a:pPr marL="241300" marR="135890" indent="-229235" algn="just">
              <a:lnSpc>
                <a:spcPct val="80000"/>
              </a:lnSpc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spc="85" dirty="0">
                <a:latin typeface="Cambria"/>
                <a:cs typeface="Cambria"/>
              </a:rPr>
              <a:t>Designer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spc="105" dirty="0">
                <a:latin typeface="Cambria"/>
                <a:cs typeface="Cambria"/>
              </a:rPr>
              <a:t>need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only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85" dirty="0">
                <a:latin typeface="Cambria"/>
                <a:cs typeface="Cambria"/>
              </a:rPr>
              <a:t>deal </a:t>
            </a:r>
            <a:r>
              <a:rPr sz="1700" dirty="0">
                <a:latin typeface="Cambria"/>
                <a:cs typeface="Cambria"/>
              </a:rPr>
              <a:t>with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a </a:t>
            </a:r>
            <a:r>
              <a:rPr sz="1700" dirty="0">
                <a:latin typeface="Cambria"/>
                <a:cs typeface="Cambria"/>
              </a:rPr>
              <a:t>particular</a:t>
            </a:r>
            <a:r>
              <a:rPr sz="1700" spc="180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level</a:t>
            </a:r>
            <a:r>
              <a:rPr sz="1700" spc="1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16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system</a:t>
            </a:r>
            <a:r>
              <a:rPr sz="1700" spc="145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at </a:t>
            </a:r>
            <a:r>
              <a:rPr sz="1700" spc="70" dirty="0">
                <a:latin typeface="Cambria"/>
                <a:cs typeface="Cambria"/>
              </a:rPr>
              <a:t>a</a:t>
            </a:r>
            <a:r>
              <a:rPr sz="1700" spc="40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time</a:t>
            </a:r>
            <a:endParaRPr sz="1700" dirty="0">
              <a:latin typeface="Cambria"/>
              <a:cs typeface="Cambria"/>
            </a:endParaRPr>
          </a:p>
          <a:p>
            <a:pPr marL="469900" marR="41910" lvl="1" indent="-228600" algn="just">
              <a:lnSpc>
                <a:spcPct val="80000"/>
              </a:lnSpc>
              <a:spcBef>
                <a:spcPts val="60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900" algn="l"/>
              </a:tabLst>
            </a:pPr>
            <a:r>
              <a:rPr sz="1700" spc="110" dirty="0">
                <a:latin typeface="Cambria"/>
                <a:cs typeface="Cambria"/>
              </a:rPr>
              <a:t>Concerned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with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structure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and </a:t>
            </a:r>
            <a:r>
              <a:rPr sz="1700" dirty="0">
                <a:latin typeface="Cambria"/>
                <a:cs typeface="Cambria"/>
              </a:rPr>
              <a:t>function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at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spc="95" dirty="0">
                <a:latin typeface="Cambria"/>
                <a:cs typeface="Cambria"/>
              </a:rPr>
              <a:t>each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level</a:t>
            </a:r>
            <a:endParaRPr sz="17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67402" y="2390394"/>
            <a:ext cx="3464560" cy="25218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  <a:buClr>
                <a:srgbClr val="663366"/>
              </a:buClr>
            </a:pPr>
            <a:endParaRPr sz="1700" dirty="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-10" dirty="0">
                <a:latin typeface="Cambria"/>
                <a:cs typeface="Cambria"/>
              </a:rPr>
              <a:t>Structure</a:t>
            </a:r>
            <a:endParaRPr sz="1700" dirty="0">
              <a:latin typeface="Cambria"/>
              <a:cs typeface="Cambria"/>
            </a:endParaRPr>
          </a:p>
          <a:p>
            <a:pPr marL="469900" marR="5080" lvl="1" indent="-228600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900" algn="l"/>
              </a:tabLst>
            </a:pPr>
            <a:r>
              <a:rPr sz="1700" spc="50" dirty="0">
                <a:latin typeface="Cambria"/>
                <a:cs typeface="Cambria"/>
              </a:rPr>
              <a:t>The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way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which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components </a:t>
            </a:r>
            <a:r>
              <a:rPr sz="1700" dirty="0">
                <a:latin typeface="Cambria"/>
                <a:cs typeface="Cambria"/>
              </a:rPr>
              <a:t>relate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spc="95" dirty="0">
                <a:latin typeface="Cambria"/>
                <a:cs typeface="Cambria"/>
              </a:rPr>
              <a:t>each</a:t>
            </a:r>
            <a:r>
              <a:rPr sz="1700" spc="1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other</a:t>
            </a:r>
            <a:endParaRPr sz="17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buClr>
                <a:srgbClr val="B86FB8"/>
              </a:buClr>
              <a:buFont typeface="Wingdings"/>
              <a:buChar char=""/>
            </a:pPr>
            <a:endParaRPr sz="1700" dirty="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-10" dirty="0">
                <a:latin typeface="Cambria"/>
                <a:cs typeface="Cambria"/>
              </a:rPr>
              <a:t>Function</a:t>
            </a:r>
            <a:endParaRPr sz="1700" dirty="0">
              <a:latin typeface="Cambria"/>
              <a:cs typeface="Cambria"/>
            </a:endParaRPr>
          </a:p>
          <a:p>
            <a:pPr marL="469900" marR="306070" lvl="1" indent="-228600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900" algn="l"/>
              </a:tabLst>
            </a:pPr>
            <a:r>
              <a:rPr sz="1700" spc="50" dirty="0">
                <a:latin typeface="Cambria"/>
                <a:cs typeface="Cambria"/>
              </a:rPr>
              <a:t>The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operation</a:t>
            </a:r>
            <a:r>
              <a:rPr sz="1700" spc="2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21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individual </a:t>
            </a:r>
            <a:r>
              <a:rPr sz="1700" spc="55" dirty="0">
                <a:latin typeface="Cambria"/>
                <a:cs typeface="Cambria"/>
              </a:rPr>
              <a:t>components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as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part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the </a:t>
            </a:r>
            <a:r>
              <a:rPr sz="1700" spc="-10" dirty="0">
                <a:latin typeface="Cambria"/>
                <a:cs typeface="Cambria"/>
              </a:rPr>
              <a:t>structure</a:t>
            </a:r>
            <a:endParaRPr sz="1700" dirty="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40423" y="312420"/>
            <a:ext cx="1376933" cy="145618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97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50" dirty="0"/>
              <a:t>Function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303" y="1495357"/>
            <a:ext cx="7379334" cy="485394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50" dirty="0">
                <a:solidFill>
                  <a:srgbClr val="585858"/>
                </a:solidFill>
                <a:latin typeface="Cambria"/>
                <a:cs typeface="Cambria"/>
              </a:rPr>
              <a:t>There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are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four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basic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functions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computer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can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perform: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9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5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spc="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FF0000"/>
                </a:solidFill>
                <a:latin typeface="Cambria"/>
                <a:cs typeface="Cambria"/>
              </a:rPr>
              <a:t>processing</a:t>
            </a:r>
            <a:endParaRPr sz="1800">
              <a:latin typeface="Cambria"/>
              <a:cs typeface="Cambria"/>
            </a:endParaRPr>
          </a:p>
          <a:p>
            <a:pPr marL="698500" marR="969010" lvl="2" indent="-229235">
              <a:lnSpc>
                <a:spcPts val="1939"/>
              </a:lnSpc>
              <a:spcBef>
                <a:spcPts val="63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Data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may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take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8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wide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variety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8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forms</a:t>
            </a:r>
            <a:r>
              <a:rPr sz="18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8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range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585858"/>
                </a:solidFill>
                <a:latin typeface="Cambria"/>
                <a:cs typeface="Cambria"/>
              </a:rPr>
              <a:t>of 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processing</a:t>
            </a:r>
            <a:r>
              <a:rPr sz="1800" spc="1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requirements</a:t>
            </a:r>
            <a:r>
              <a:rPr sz="1800" spc="1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1800" spc="1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broad</a:t>
            </a:r>
            <a:endParaRPr sz="1800">
              <a:latin typeface="Cambria"/>
              <a:cs typeface="Cambria"/>
            </a:endParaRPr>
          </a:p>
          <a:p>
            <a:pPr marL="227965" marR="5581015" lvl="1" indent="-227965" algn="r">
              <a:lnSpc>
                <a:spcPct val="100000"/>
              </a:lnSpc>
              <a:spcBef>
                <a:spcPts val="36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227965" algn="l"/>
              </a:tabLst>
            </a:pPr>
            <a:r>
              <a:rPr sz="1800" spc="5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spc="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FF0000"/>
                </a:solidFill>
                <a:latin typeface="Cambria"/>
                <a:cs typeface="Cambria"/>
              </a:rPr>
              <a:t>storage</a:t>
            </a:r>
            <a:endParaRPr sz="1800">
              <a:latin typeface="Cambria"/>
              <a:cs typeface="Cambria"/>
            </a:endParaRPr>
          </a:p>
          <a:p>
            <a:pPr marL="228600" marR="5547360" lvl="2" indent="-228600" algn="r">
              <a:lnSpc>
                <a:spcPct val="100000"/>
              </a:lnSpc>
              <a:spcBef>
                <a:spcPts val="384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28600" algn="l"/>
              </a:tabLst>
            </a:pP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Short-</a:t>
            </a:r>
            <a:r>
              <a:rPr sz="1800" spc="-20" dirty="0">
                <a:solidFill>
                  <a:srgbClr val="585858"/>
                </a:solidFill>
                <a:latin typeface="Cambria"/>
                <a:cs typeface="Cambria"/>
              </a:rPr>
              <a:t>term</a:t>
            </a:r>
            <a:endParaRPr sz="1800">
              <a:latin typeface="Cambria"/>
              <a:cs typeface="Cambria"/>
            </a:endParaRPr>
          </a:p>
          <a:p>
            <a:pPr marL="228600" marR="5574665" lvl="2" indent="-228600" algn="r">
              <a:lnSpc>
                <a:spcPct val="100000"/>
              </a:lnSpc>
              <a:spcBef>
                <a:spcPts val="38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28600" algn="l"/>
              </a:tabLst>
            </a:pP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Long-</a:t>
            </a:r>
            <a:r>
              <a:rPr sz="1800" spc="-20" dirty="0">
                <a:solidFill>
                  <a:srgbClr val="585858"/>
                </a:solidFill>
                <a:latin typeface="Cambria"/>
                <a:cs typeface="Cambria"/>
              </a:rPr>
              <a:t>term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84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5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1800" spc="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35" dirty="0">
                <a:solidFill>
                  <a:srgbClr val="FF0000"/>
                </a:solidFill>
                <a:latin typeface="Cambria"/>
                <a:cs typeface="Cambria"/>
              </a:rPr>
              <a:t>movement</a:t>
            </a:r>
            <a:endParaRPr sz="1800">
              <a:latin typeface="Cambria"/>
              <a:cs typeface="Cambria"/>
            </a:endParaRPr>
          </a:p>
          <a:p>
            <a:pPr marL="698500" marR="5080" lvl="2" indent="-229235">
              <a:lnSpc>
                <a:spcPts val="1939"/>
              </a:lnSpc>
              <a:spcBef>
                <a:spcPts val="63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Input-output</a:t>
            </a:r>
            <a:r>
              <a:rPr sz="18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(I/O)</a:t>
            </a:r>
            <a:r>
              <a:rPr sz="18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-</a:t>
            </a:r>
            <a:r>
              <a:rPr sz="18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when</a:t>
            </a:r>
            <a:r>
              <a:rPr sz="18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data</a:t>
            </a:r>
            <a:r>
              <a:rPr sz="18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are</a:t>
            </a:r>
            <a:r>
              <a:rPr sz="18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received</a:t>
            </a:r>
            <a:r>
              <a:rPr sz="18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from</a:t>
            </a:r>
            <a:r>
              <a:rPr sz="18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or</a:t>
            </a:r>
            <a:r>
              <a:rPr sz="18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delivered</a:t>
            </a:r>
            <a:r>
              <a:rPr sz="18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585858"/>
                </a:solidFill>
                <a:latin typeface="Cambria"/>
                <a:cs typeface="Cambria"/>
              </a:rPr>
              <a:t>to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device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(peripheral)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directly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585858"/>
                </a:solidFill>
                <a:latin typeface="Cambria"/>
                <a:cs typeface="Cambria"/>
              </a:rPr>
              <a:t>connected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computer</a:t>
            </a:r>
            <a:endParaRPr sz="1800">
              <a:latin typeface="Cambria"/>
              <a:cs typeface="Cambria"/>
            </a:endParaRPr>
          </a:p>
          <a:p>
            <a:pPr marL="698500" marR="677545" lvl="2" indent="-229235">
              <a:lnSpc>
                <a:spcPts val="1939"/>
              </a:lnSpc>
              <a:spcBef>
                <a:spcPts val="61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Data</a:t>
            </a:r>
            <a:r>
              <a:rPr sz="18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communications</a:t>
            </a:r>
            <a:r>
              <a:rPr sz="18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–</a:t>
            </a:r>
            <a:r>
              <a:rPr sz="18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when</a:t>
            </a:r>
            <a:r>
              <a:rPr sz="18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data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are</a:t>
            </a:r>
            <a:r>
              <a:rPr sz="18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moved</a:t>
            </a:r>
            <a:r>
              <a:rPr sz="18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over</a:t>
            </a:r>
            <a:r>
              <a:rPr sz="18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longer distances,</a:t>
            </a:r>
            <a:r>
              <a:rPr sz="1800" spc="-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or</a:t>
            </a:r>
            <a:r>
              <a:rPr sz="18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from</a:t>
            </a:r>
            <a:r>
              <a:rPr sz="18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remote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device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6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50" dirty="0">
                <a:solidFill>
                  <a:srgbClr val="FF0000"/>
                </a:solidFill>
                <a:latin typeface="Cambria"/>
                <a:cs typeface="Cambria"/>
              </a:rPr>
              <a:t>Control</a:t>
            </a:r>
            <a:endParaRPr sz="1800">
              <a:latin typeface="Cambria"/>
              <a:cs typeface="Cambria"/>
            </a:endParaRPr>
          </a:p>
          <a:p>
            <a:pPr marL="698500" marR="59690" lvl="2" indent="-229235">
              <a:lnSpc>
                <a:spcPct val="90100"/>
              </a:lnSpc>
              <a:spcBef>
                <a:spcPts val="6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800" spc="12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8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control</a:t>
            </a:r>
            <a:r>
              <a:rPr sz="18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unit</a:t>
            </a:r>
            <a:r>
              <a:rPr sz="18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585858"/>
                </a:solidFill>
                <a:latin typeface="Cambria"/>
                <a:cs typeface="Cambria"/>
              </a:rPr>
              <a:t>manages</a:t>
            </a:r>
            <a:r>
              <a:rPr sz="18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computer’s</a:t>
            </a:r>
            <a:r>
              <a:rPr sz="18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resources</a:t>
            </a:r>
            <a:r>
              <a:rPr sz="18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and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orchestrates</a:t>
            </a:r>
            <a:r>
              <a:rPr sz="18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performance</a:t>
            </a:r>
            <a:r>
              <a:rPr sz="18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8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its</a:t>
            </a:r>
            <a:r>
              <a:rPr sz="18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functional</a:t>
            </a:r>
            <a:r>
              <a:rPr sz="18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parts</a:t>
            </a:r>
            <a:r>
              <a:rPr sz="18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8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response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585858"/>
                </a:solidFill>
                <a:latin typeface="Cambria"/>
                <a:cs typeface="Cambria"/>
              </a:rPr>
              <a:t>instructions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2148" y="1275626"/>
            <a:ext cx="1483360" cy="170815"/>
            <a:chOff x="422148" y="1275626"/>
            <a:chExt cx="1483360" cy="1708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2148" y="1275626"/>
              <a:ext cx="1482852" cy="1706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252" y="1319784"/>
              <a:ext cx="1345653" cy="3441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3864" y="1321941"/>
              <a:ext cx="1344295" cy="32384"/>
            </a:xfrm>
            <a:custGeom>
              <a:avLst/>
              <a:gdLst/>
              <a:ahLst/>
              <a:cxnLst/>
              <a:rect l="l" t="t" r="r" b="b"/>
              <a:pathLst>
                <a:path w="1344295" h="32384">
                  <a:moveTo>
                    <a:pt x="0" y="32259"/>
                  </a:moveTo>
                  <a:lnTo>
                    <a:pt x="1344040" y="32259"/>
                  </a:lnTo>
                  <a:lnTo>
                    <a:pt x="1344040" y="0"/>
                  </a:lnTo>
                  <a:lnTo>
                    <a:pt x="0" y="0"/>
                  </a:lnTo>
                  <a:lnTo>
                    <a:pt x="0" y="32259"/>
                  </a:lnTo>
                  <a:close/>
                </a:path>
              </a:pathLst>
            </a:custGeom>
            <a:ln w="12192">
              <a:solidFill>
                <a:srgbClr val="642F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Rectangle 2"/>
          <p:cNvSpPr>
            <a:spLocks noGrp="1"/>
          </p:cNvSpPr>
          <p:nvPr>
            <p:ph type="title"/>
          </p:nvPr>
        </p:nvSpPr>
        <p:spPr>
          <a:xfrm>
            <a:off x="406400" y="467380"/>
            <a:ext cx="8204200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lt2"/>
                </a:solidFill>
                <a:latin typeface="Arial Black" pitchFamily="34" charset="0"/>
                <a:sym typeface="Times New Roman" pitchFamily="18" charset="0"/>
              </a:defRPr>
            </a:lvl1pPr>
          </a:lstStyle>
          <a:p>
            <a:r>
              <a:rPr lang="en-GB" altLang="en-US" dirty="0">
                <a:solidFill>
                  <a:schemeClr val="tx1"/>
                </a:solidFill>
              </a:rPr>
              <a:t>A Functional view of the Computer </a:t>
            </a:r>
          </a:p>
        </p:txBody>
      </p:sp>
      <p:pic>
        <p:nvPicPr>
          <p:cNvPr id="2097152" name="Picture 46"/>
          <p:cNvPicPr>
            <a:picLocks/>
          </p:cNvPicPr>
          <p:nvPr/>
        </p:nvPicPr>
        <p:blipFill>
          <a:blip r:embed="rId3"/>
          <a:srcRect l="25031" t="11363" r="23865" b="17046"/>
          <a:stretch>
            <a:fillRect/>
          </a:stretch>
        </p:blipFill>
        <p:spPr>
          <a:xfrm>
            <a:off x="4876800" y="1614345"/>
            <a:ext cx="3190875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25" name="Text Box 48"/>
          <p:cNvSpPr txBox="1"/>
          <p:nvPr/>
        </p:nvSpPr>
        <p:spPr>
          <a:xfrm>
            <a:off x="838200" y="1905000"/>
            <a:ext cx="2743200" cy="444627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>
            <a:sp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>
              <a:lnSpc>
                <a:spcPct val="120000"/>
              </a:lnSpc>
              <a:spcBef>
                <a:spcPct val="50000"/>
              </a:spcBef>
            </a:pPr>
            <a:r>
              <a:rPr lang="en-US" altLang="en-US" sz="1600" b="1"/>
              <a:t>The computer system must be able to process data, store data and move data b/w itself and the outside world.</a:t>
            </a:r>
          </a:p>
          <a:p>
            <a:pPr lvl="0">
              <a:lnSpc>
                <a:spcPct val="120000"/>
              </a:lnSpc>
              <a:spcBef>
                <a:spcPct val="50000"/>
              </a:spcBef>
            </a:pPr>
            <a:endParaRPr lang="en-US" altLang="en-US" sz="1600" b="1"/>
          </a:p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en-US" sz="1600" b="1"/>
              <a:t>A control unit manages the computer’s resources and performance of its functional parts in response to some instructions.</a:t>
            </a:r>
          </a:p>
          <a:p>
            <a:pPr lvl="0">
              <a:spcBef>
                <a:spcPct val="50000"/>
              </a:spcBef>
            </a:pPr>
            <a:endParaRPr lang="en-US" altLang="en-US" sz="1600" b="1"/>
          </a:p>
          <a:p>
            <a:pPr lvl="0">
              <a:lnSpc>
                <a:spcPct val="120000"/>
              </a:lnSpc>
              <a:spcBef>
                <a:spcPct val="50000"/>
              </a:spcBef>
            </a:pPr>
            <a:r>
              <a:rPr lang="en-US" altLang="en-US" sz="1600" b="1"/>
              <a:t>This figure depicts the four possible types of operations.</a:t>
            </a:r>
          </a:p>
          <a:p>
            <a:pPr lvl="0">
              <a:spcBef>
                <a:spcPct val="50000"/>
              </a:spcBef>
            </a:pPr>
            <a:endParaRPr lang="en-US" altLang="en-US" sz="1600" b="1"/>
          </a:p>
        </p:txBody>
      </p:sp>
    </p:spTree>
    <p:extLst>
      <p:ext uri="{BB962C8B-B14F-4D97-AF65-F5344CB8AC3E}">
        <p14:creationId xmlns:p14="http://schemas.microsoft.com/office/powerpoint/2010/main" val="1624423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Rectangle 2"/>
          <p:cNvSpPr>
            <a:spLocks noGrp="1"/>
          </p:cNvSpPr>
          <p:nvPr>
            <p:ph type="title"/>
          </p:nvPr>
        </p:nvSpPr>
        <p:spPr>
          <a:xfrm>
            <a:off x="406400" y="467380"/>
            <a:ext cx="8204200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lt2"/>
                </a:solidFill>
                <a:latin typeface="Arial Black" pitchFamily="34" charset="0"/>
                <a:sym typeface="Times New Roman" pitchFamily="18" charset="0"/>
              </a:defRPr>
            </a:lvl1pPr>
          </a:lstStyle>
          <a:p>
            <a:r>
              <a:rPr lang="en-GB" altLang="en-US" dirty="0">
                <a:solidFill>
                  <a:schemeClr val="tx1"/>
                </a:solidFill>
              </a:rPr>
              <a:t>Operations (1) Data movement</a:t>
            </a:r>
          </a:p>
        </p:txBody>
      </p:sp>
      <p:pic>
        <p:nvPicPr>
          <p:cNvPr id="2097153" name="Picture 48"/>
          <p:cNvPicPr>
            <a:picLocks/>
          </p:cNvPicPr>
          <p:nvPr/>
        </p:nvPicPr>
        <p:blipFill>
          <a:blip r:embed="rId3"/>
          <a:srcRect l="8835" t="6470" r="54846" b="58243"/>
          <a:stretch>
            <a:fillRect/>
          </a:stretch>
        </p:blipFill>
        <p:spPr>
          <a:xfrm>
            <a:off x="4267200" y="1454150"/>
            <a:ext cx="33528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30" name="Text Box 49"/>
          <p:cNvSpPr txBox="1"/>
          <p:nvPr/>
        </p:nvSpPr>
        <p:spPr>
          <a:xfrm>
            <a:off x="609600" y="1409700"/>
            <a:ext cx="2743200" cy="4813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>
            <a:sp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>
              <a:lnSpc>
                <a:spcPct val="120000"/>
              </a:lnSpc>
              <a:spcBef>
                <a:spcPct val="50000"/>
              </a:spcBef>
            </a:pPr>
            <a:r>
              <a:rPr lang="en-US" altLang="en-US" sz="2000"/>
              <a:t>The number of possible operations that can be performed …</a:t>
            </a:r>
          </a:p>
          <a:p>
            <a:pPr lvl="0">
              <a:spcBef>
                <a:spcPct val="50000"/>
              </a:spcBef>
            </a:pPr>
            <a:endParaRPr lang="en-US" altLang="en-US" sz="2000"/>
          </a:p>
          <a:p>
            <a:pPr lvl="0">
              <a:spcBef>
                <a:spcPct val="50000"/>
              </a:spcBef>
            </a:pPr>
            <a:r>
              <a:rPr lang="en-US" altLang="en-US" sz="1600" b="1"/>
              <a:t>(1)</a:t>
            </a:r>
          </a:p>
          <a:p>
            <a:pPr lvl="0">
              <a:lnSpc>
                <a:spcPct val="120000"/>
              </a:lnSpc>
              <a:spcBef>
                <a:spcPct val="50000"/>
              </a:spcBef>
            </a:pPr>
            <a:r>
              <a:rPr lang="en-US" altLang="en-US" sz="1600" b="1"/>
              <a:t>The computer can function as a data movement device, simply transferring data from one peripheral or communication line to another.</a:t>
            </a:r>
          </a:p>
          <a:p>
            <a:pPr marL="0" lvl="1" indent="0">
              <a:lnSpc>
                <a:spcPct val="120000"/>
              </a:lnSpc>
              <a:spcBef>
                <a:spcPct val="50000"/>
              </a:spcBef>
            </a:pPr>
            <a:r>
              <a:rPr lang="en-GB" altLang="en-US">
                <a:solidFill>
                  <a:srgbClr val="0033CC"/>
                </a:solidFill>
              </a:rPr>
              <a:t>e.g. keyboard to screen</a:t>
            </a:r>
          </a:p>
        </p:txBody>
      </p:sp>
    </p:spTree>
    <p:extLst>
      <p:ext uri="{BB962C8B-B14F-4D97-AF65-F5344CB8AC3E}">
        <p14:creationId xmlns:p14="http://schemas.microsoft.com/office/powerpoint/2010/main" val="1214952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Rectangle 2"/>
          <p:cNvSpPr>
            <a:spLocks noGrp="1"/>
          </p:cNvSpPr>
          <p:nvPr>
            <p:ph type="title"/>
          </p:nvPr>
        </p:nvSpPr>
        <p:spPr>
          <a:xfrm>
            <a:off x="406400" y="467380"/>
            <a:ext cx="8204200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lt2"/>
                </a:solidFill>
                <a:latin typeface="Arial Black" pitchFamily="34" charset="0"/>
                <a:sym typeface="Times New Roman" pitchFamily="18" charset="0"/>
              </a:defRPr>
            </a:lvl1pPr>
          </a:lstStyle>
          <a:p>
            <a:r>
              <a:rPr lang="en-GB" altLang="en-US" dirty="0">
                <a:solidFill>
                  <a:schemeClr val="tx1"/>
                </a:solidFill>
              </a:rPr>
              <a:t>Operations (2) Storage </a:t>
            </a:r>
          </a:p>
        </p:txBody>
      </p:sp>
      <p:pic>
        <p:nvPicPr>
          <p:cNvPr id="2097154" name="Picture 49"/>
          <p:cNvPicPr>
            <a:picLocks/>
          </p:cNvPicPr>
          <p:nvPr/>
        </p:nvPicPr>
        <p:blipFill>
          <a:blip r:embed="rId3"/>
          <a:srcRect l="54970" t="6207" r="9694" b="58510"/>
          <a:stretch>
            <a:fillRect/>
          </a:stretch>
        </p:blipFill>
        <p:spPr>
          <a:xfrm>
            <a:off x="4495799" y="1371600"/>
            <a:ext cx="3352799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35" name="Text Box 50"/>
          <p:cNvSpPr txBox="1"/>
          <p:nvPr/>
        </p:nvSpPr>
        <p:spPr>
          <a:xfrm>
            <a:off x="819150" y="1820862"/>
            <a:ext cx="2743200" cy="39598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>
            <a:sp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>
              <a:lnSpc>
                <a:spcPct val="120000"/>
              </a:lnSpc>
              <a:spcBef>
                <a:spcPct val="50000"/>
              </a:spcBef>
            </a:pPr>
            <a:r>
              <a:rPr lang="en-US" altLang="en-US" sz="1600" b="1" dirty="0"/>
              <a:t>(2)</a:t>
            </a:r>
          </a:p>
          <a:p>
            <a:pPr lvl="0">
              <a:lnSpc>
                <a:spcPct val="120000"/>
              </a:lnSpc>
              <a:spcBef>
                <a:spcPct val="50000"/>
              </a:spcBef>
            </a:pPr>
            <a:r>
              <a:rPr lang="en-US" altLang="en-US" sz="1600" b="1" dirty="0"/>
              <a:t>The computer can function as a data storage device, with data transferred from the external environment to computer storage for read/write purpose.</a:t>
            </a:r>
          </a:p>
          <a:p>
            <a:pPr marL="0" lvl="1" indent="0">
              <a:lnSpc>
                <a:spcPct val="120000"/>
              </a:lnSpc>
              <a:spcBef>
                <a:spcPct val="50000"/>
              </a:spcBef>
            </a:pPr>
            <a:r>
              <a:rPr lang="en-GB" altLang="en-US" dirty="0">
                <a:solidFill>
                  <a:srgbClr val="0033CC"/>
                </a:solidFill>
              </a:rPr>
              <a:t>e.g. Internet download to disk</a:t>
            </a:r>
          </a:p>
          <a:p>
            <a:pPr lvl="0">
              <a:lnSpc>
                <a:spcPct val="120000"/>
              </a:lnSpc>
              <a:spcBef>
                <a:spcPct val="50000"/>
              </a:spcBef>
            </a:pPr>
            <a:r>
              <a:rPr lang="en-US" altLang="en-US" sz="1600" b="1" dirty="0"/>
              <a:t> </a:t>
            </a:r>
          </a:p>
          <a:p>
            <a:pPr lvl="0">
              <a:spcBef>
                <a:spcPct val="50000"/>
              </a:spcBef>
            </a:pPr>
            <a:endParaRPr lang="en-US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25924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/>
          </p:cNvSpPr>
          <p:nvPr>
            <p:ph type="title"/>
          </p:nvPr>
        </p:nvSpPr>
        <p:spPr>
          <a:xfrm>
            <a:off x="406400" y="467380"/>
            <a:ext cx="8204200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lt2"/>
                </a:solidFill>
                <a:latin typeface="Arial Black" pitchFamily="34" charset="0"/>
                <a:sym typeface="Times New Roman" pitchFamily="18" charset="0"/>
              </a:defRPr>
            </a:lvl1pPr>
          </a:lstStyle>
          <a:p>
            <a:r>
              <a:rPr lang="en-GB" altLang="en-US" dirty="0">
                <a:solidFill>
                  <a:schemeClr val="tx1"/>
                </a:solidFill>
              </a:rPr>
              <a:t>Operation (3) Processing from/to storage </a:t>
            </a:r>
          </a:p>
        </p:txBody>
      </p:sp>
      <p:pic>
        <p:nvPicPr>
          <p:cNvPr id="2097155" name="Picture 61"/>
          <p:cNvPicPr>
            <a:picLocks/>
          </p:cNvPicPr>
          <p:nvPr/>
        </p:nvPicPr>
        <p:blipFill>
          <a:blip r:embed="rId3"/>
          <a:srcRect l="8772" t="50000" r="52945" b="13637"/>
          <a:stretch>
            <a:fillRect/>
          </a:stretch>
        </p:blipFill>
        <p:spPr>
          <a:xfrm>
            <a:off x="4648200" y="1447800"/>
            <a:ext cx="33528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40" name="Text Box 62"/>
          <p:cNvSpPr txBox="1"/>
          <p:nvPr/>
        </p:nvSpPr>
        <p:spPr>
          <a:xfrm>
            <a:off x="762000" y="1820862"/>
            <a:ext cx="2743200" cy="309118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>
            <a:sp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>
              <a:lnSpc>
                <a:spcPct val="120000"/>
              </a:lnSpc>
              <a:spcBef>
                <a:spcPct val="50000"/>
              </a:spcBef>
            </a:pPr>
            <a:r>
              <a:rPr lang="en-US" altLang="en-US" sz="1600" b="1"/>
              <a:t>(3)</a:t>
            </a:r>
          </a:p>
          <a:p>
            <a:pPr lvl="0">
              <a:lnSpc>
                <a:spcPct val="120000"/>
              </a:lnSpc>
              <a:spcBef>
                <a:spcPct val="50000"/>
              </a:spcBef>
            </a:pPr>
            <a:r>
              <a:rPr lang="en-US" altLang="en-US" sz="1600" b="1"/>
              <a:t>This diagram show operations involving data processing, on the storage data.  </a:t>
            </a:r>
          </a:p>
          <a:p>
            <a:pPr marL="0" lvl="1" indent="0">
              <a:lnSpc>
                <a:spcPct val="120000"/>
              </a:lnSpc>
              <a:spcBef>
                <a:spcPct val="50000"/>
              </a:spcBef>
            </a:pPr>
            <a:r>
              <a:rPr lang="en-GB" altLang="en-US">
                <a:solidFill>
                  <a:srgbClr val="0033CC"/>
                </a:solidFill>
              </a:rPr>
              <a:t>e.g. updating bank statement</a:t>
            </a:r>
          </a:p>
          <a:p>
            <a:pPr lvl="0">
              <a:lnSpc>
                <a:spcPct val="120000"/>
              </a:lnSpc>
              <a:spcBef>
                <a:spcPct val="50000"/>
              </a:spcBef>
            </a:pPr>
            <a:endParaRPr lang="en-US" altLang="en-US" sz="1600" b="1"/>
          </a:p>
          <a:p>
            <a:pPr lvl="0">
              <a:spcBef>
                <a:spcPct val="50000"/>
              </a:spcBef>
            </a:pPr>
            <a:endParaRPr lang="en-US" altLang="en-US" sz="1600" b="1"/>
          </a:p>
        </p:txBody>
      </p:sp>
    </p:spTree>
    <p:extLst>
      <p:ext uri="{BB962C8B-B14F-4D97-AF65-F5344CB8AC3E}">
        <p14:creationId xmlns:p14="http://schemas.microsoft.com/office/powerpoint/2010/main" val="9165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Rectangle 2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04200" cy="95410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lt2"/>
                </a:solidFill>
                <a:latin typeface="Arial Black" pitchFamily="34" charset="0"/>
                <a:sym typeface="Times New Roman" pitchFamily="18" charset="0"/>
              </a:defRPr>
            </a:lvl1pPr>
          </a:lstStyle>
          <a:p>
            <a:r>
              <a:rPr lang="en-GB" altLang="en-US" dirty="0">
                <a:solidFill>
                  <a:schemeClr val="tx1"/>
                </a:solidFill>
              </a:rPr>
              <a:t>Operation (4)</a:t>
            </a:r>
            <a:br>
              <a:rPr lang="en-GB" altLang="en-US" dirty="0">
                <a:solidFill>
                  <a:schemeClr val="tx1"/>
                </a:solidFill>
              </a:rPr>
            </a:br>
            <a:r>
              <a:rPr lang="en-GB" altLang="en-US" dirty="0">
                <a:solidFill>
                  <a:schemeClr val="tx1"/>
                </a:solidFill>
              </a:rPr>
              <a:t>Processing from storage to I/O</a:t>
            </a:r>
          </a:p>
        </p:txBody>
      </p:sp>
      <p:pic>
        <p:nvPicPr>
          <p:cNvPr id="2097156" name="Picture 62"/>
          <p:cNvPicPr>
            <a:picLocks/>
          </p:cNvPicPr>
          <p:nvPr/>
        </p:nvPicPr>
        <p:blipFill>
          <a:blip r:embed="rId3"/>
          <a:srcRect l="54907" t="50000" r="7791" b="13637"/>
          <a:stretch>
            <a:fillRect/>
          </a:stretch>
        </p:blipFill>
        <p:spPr>
          <a:xfrm>
            <a:off x="5257800" y="1600200"/>
            <a:ext cx="3124200" cy="5037138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45" name="Text Box 63"/>
          <p:cNvSpPr txBox="1"/>
          <p:nvPr/>
        </p:nvSpPr>
        <p:spPr>
          <a:xfrm>
            <a:off x="819150" y="1820862"/>
            <a:ext cx="3448050" cy="345940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sp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>
              <a:lnSpc>
                <a:spcPct val="120000"/>
              </a:lnSpc>
              <a:spcBef>
                <a:spcPct val="50000"/>
              </a:spcBef>
            </a:pPr>
            <a:r>
              <a:rPr lang="en-US" altLang="en-US" sz="1600" b="1" dirty="0"/>
              <a:t>(4)</a:t>
            </a:r>
          </a:p>
          <a:p>
            <a:pPr lvl="0">
              <a:lnSpc>
                <a:spcPct val="120000"/>
              </a:lnSpc>
              <a:spcBef>
                <a:spcPct val="50000"/>
              </a:spcBef>
            </a:pPr>
            <a:r>
              <a:rPr lang="en-US" altLang="en-US" sz="1600" b="1" dirty="0"/>
              <a:t>This diagram show operations involving data processing, on data route b/w storage and the external environment.  </a:t>
            </a:r>
          </a:p>
          <a:p>
            <a:pPr marL="0" lvl="1" indent="0">
              <a:lnSpc>
                <a:spcPct val="120000"/>
              </a:lnSpc>
              <a:spcBef>
                <a:spcPct val="50000"/>
              </a:spcBef>
            </a:pPr>
            <a:r>
              <a:rPr lang="en-GB" altLang="en-US" dirty="0">
                <a:solidFill>
                  <a:srgbClr val="0033CC"/>
                </a:solidFill>
              </a:rPr>
              <a:t>e.g. printing a bank statement</a:t>
            </a:r>
          </a:p>
          <a:p>
            <a:pPr lvl="0">
              <a:lnSpc>
                <a:spcPct val="120000"/>
              </a:lnSpc>
              <a:spcBef>
                <a:spcPct val="50000"/>
              </a:spcBef>
            </a:pPr>
            <a:endParaRPr lang="en-US" altLang="en-US" sz="1600" b="1" dirty="0"/>
          </a:p>
          <a:p>
            <a:pPr lvl="0">
              <a:spcBef>
                <a:spcPct val="50000"/>
              </a:spcBef>
            </a:pPr>
            <a:endParaRPr lang="en-US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79162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Rectangle 2"/>
          <p:cNvSpPr>
            <a:spLocks noGrp="1"/>
          </p:cNvSpPr>
          <p:nvPr>
            <p:ph type="title"/>
          </p:nvPr>
        </p:nvSpPr>
        <p:spPr>
          <a:xfrm>
            <a:off x="406400" y="465199"/>
            <a:ext cx="8204200" cy="525401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vert="horz" lIns="90000" tIns="46800" rIns="90000" bIns="46800" anchor="b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800" b="0" i="0" u="none" baseline="0">
                <a:solidFill>
                  <a:schemeClr val="lt2"/>
                </a:solidFill>
                <a:latin typeface="Arial Black" pitchFamily="34" charset="0"/>
                <a:sym typeface="Times New Roman" pitchFamily="18" charset="0"/>
              </a:defRPr>
            </a:lvl1pPr>
          </a:lstStyle>
          <a:p>
            <a:r>
              <a:rPr lang="en-GB" altLang="en-US" b="1" dirty="0">
                <a:solidFill>
                  <a:schemeClr val="tx1"/>
                </a:solidFill>
              </a:rPr>
              <a:t>Computer Structure - Top Level</a:t>
            </a:r>
          </a:p>
        </p:txBody>
      </p:sp>
      <p:sp>
        <p:nvSpPr>
          <p:cNvPr id="1048650" name="Text Box 25"/>
          <p:cNvSpPr txBox="1"/>
          <p:nvPr/>
        </p:nvSpPr>
        <p:spPr>
          <a:xfrm>
            <a:off x="457200" y="1306512"/>
            <a:ext cx="7867650" cy="301752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>
            <a:spAutoFit/>
          </a:bodyPr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>
              <a:lnSpc>
                <a:spcPct val="120000"/>
              </a:lnSpc>
              <a:spcBef>
                <a:spcPct val="50000"/>
              </a:spcBef>
            </a:pPr>
            <a:r>
              <a:rPr lang="en-US" altLang="en-US" sz="2000"/>
              <a:t>There are four main structural components:</a:t>
            </a:r>
          </a:p>
          <a:p>
            <a:pPr lvl="0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b="1"/>
              <a:t>  Central Processing Unit (CPU): </a:t>
            </a:r>
            <a:r>
              <a:rPr lang="en-US" altLang="en-US" sz="1600" b="1"/>
              <a:t>Controls the operation of the computer and performs its data processing functions; often simply referred to as PROCESSOR</a:t>
            </a:r>
          </a:p>
          <a:p>
            <a:pPr lvl="0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b="1"/>
              <a:t>  Main Memory: </a:t>
            </a:r>
            <a:r>
              <a:rPr lang="en-US" altLang="en-US" sz="1600" b="1"/>
              <a:t>Stores data</a:t>
            </a:r>
          </a:p>
          <a:p>
            <a:pPr lvl="0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b="1"/>
              <a:t>  I/O: </a:t>
            </a:r>
            <a:r>
              <a:rPr lang="en-US" altLang="en-US" sz="1600" b="1"/>
              <a:t>Moves data b/w the computer and its external environment</a:t>
            </a:r>
          </a:p>
          <a:p>
            <a:pPr lvl="0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b="1"/>
              <a:t>  System Interconnection: </a:t>
            </a:r>
            <a:r>
              <a:rPr lang="en-US" altLang="en-US" sz="1600" b="1"/>
              <a:t>Some mechanism that provides                                         for communication among CPU, main memory, and I/O.</a:t>
            </a:r>
          </a:p>
        </p:txBody>
      </p:sp>
      <p:pic>
        <p:nvPicPr>
          <p:cNvPr id="2097157" name="Picture 5"/>
          <p:cNvPicPr>
            <a:picLocks/>
          </p:cNvPicPr>
          <p:nvPr/>
        </p:nvPicPr>
        <p:blipFill>
          <a:blip r:embed="rId3"/>
          <a:srcRect l="4111" t="2335" r="3426" b="4280"/>
          <a:stretch>
            <a:fillRect/>
          </a:stretch>
        </p:blipFill>
        <p:spPr>
          <a:xfrm>
            <a:off x="6096000" y="3581400"/>
            <a:ext cx="2819400" cy="2362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162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20695"/>
            <a:ext cx="2722626" cy="111937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8267" y="2654045"/>
            <a:ext cx="21291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663366"/>
                </a:solidFill>
                <a:latin typeface="Cambria"/>
                <a:cs typeface="Cambria"/>
              </a:rPr>
              <a:t>Structure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43059" y="6179738"/>
            <a:ext cx="355409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b="1" spc="70" dirty="0">
                <a:latin typeface="Times New Roman"/>
                <a:cs typeface="Times New Roman"/>
              </a:rPr>
              <a:t>Figure</a:t>
            </a:r>
            <a:r>
              <a:rPr sz="1300" b="1" spc="55" dirty="0">
                <a:latin typeface="Times New Roman"/>
                <a:cs typeface="Times New Roman"/>
              </a:rPr>
              <a:t> </a:t>
            </a:r>
            <a:r>
              <a:rPr sz="1300" b="1" spc="60" dirty="0">
                <a:latin typeface="Times New Roman"/>
                <a:cs typeface="Times New Roman"/>
              </a:rPr>
              <a:t>1.1</a:t>
            </a:r>
            <a:r>
              <a:rPr sz="1300" b="1" spc="405" dirty="0">
                <a:latin typeface="Times New Roman"/>
                <a:cs typeface="Times New Roman"/>
              </a:rPr>
              <a:t> </a:t>
            </a:r>
            <a:r>
              <a:rPr sz="1300" b="1" spc="120" dirty="0">
                <a:latin typeface="Times New Roman"/>
                <a:cs typeface="Times New Roman"/>
              </a:rPr>
              <a:t>A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Top-</a:t>
            </a:r>
            <a:r>
              <a:rPr sz="1300" b="1" spc="95" dirty="0">
                <a:latin typeface="Times New Roman"/>
                <a:cs typeface="Times New Roman"/>
              </a:rPr>
              <a:t>Down</a:t>
            </a:r>
            <a:r>
              <a:rPr sz="1300" b="1" spc="65" dirty="0">
                <a:latin typeface="Times New Roman"/>
                <a:cs typeface="Times New Roman"/>
              </a:rPr>
              <a:t> </a:t>
            </a:r>
            <a:r>
              <a:rPr sz="1300" b="1" spc="75" dirty="0">
                <a:latin typeface="Times New Roman"/>
                <a:cs typeface="Times New Roman"/>
              </a:rPr>
              <a:t>View</a:t>
            </a:r>
            <a:r>
              <a:rPr sz="1300" b="1" spc="60" dirty="0">
                <a:latin typeface="Times New Roman"/>
                <a:cs typeface="Times New Roman"/>
              </a:rPr>
              <a:t> of</a:t>
            </a:r>
            <a:r>
              <a:rPr sz="1300" b="1" spc="55" dirty="0">
                <a:latin typeface="Times New Roman"/>
                <a:cs typeface="Times New Roman"/>
              </a:rPr>
              <a:t> </a:t>
            </a:r>
            <a:r>
              <a:rPr sz="1300" b="1" spc="80" dirty="0">
                <a:latin typeface="Times New Roman"/>
                <a:cs typeface="Times New Roman"/>
              </a:rPr>
              <a:t>a</a:t>
            </a:r>
            <a:r>
              <a:rPr sz="1300" b="1" spc="55" dirty="0">
                <a:latin typeface="Times New Roman"/>
                <a:cs typeface="Times New Roman"/>
              </a:rPr>
              <a:t> </a:t>
            </a:r>
            <a:r>
              <a:rPr sz="1300" b="1" spc="70" dirty="0">
                <a:latin typeface="Times New Roman"/>
                <a:cs typeface="Times New Roman"/>
              </a:rPr>
              <a:t>Computer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9889" y="112589"/>
            <a:ext cx="5258074" cy="579068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46871" y="493887"/>
            <a:ext cx="575310" cy="365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8425">
              <a:lnSpc>
                <a:spcPct val="101200"/>
              </a:lnSpc>
              <a:spcBef>
                <a:spcPts val="95"/>
              </a:spcBef>
            </a:pPr>
            <a:r>
              <a:rPr sz="1100" b="1" spc="40" dirty="0">
                <a:latin typeface="Times New Roman"/>
                <a:cs typeface="Times New Roman"/>
              </a:rPr>
              <a:t>Main </a:t>
            </a:r>
            <a:r>
              <a:rPr sz="1100" b="1" spc="55" dirty="0">
                <a:latin typeface="Times New Roman"/>
                <a:cs typeface="Times New Roman"/>
              </a:rPr>
              <a:t>memory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494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914846" y="559870"/>
            <a:ext cx="248920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30" dirty="0">
                <a:latin typeface="Times New Roman"/>
                <a:cs typeface="Times New Roman"/>
              </a:rPr>
              <a:t>I/O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23818" y="1694482"/>
            <a:ext cx="344805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45" dirty="0">
                <a:latin typeface="Times New Roman"/>
                <a:cs typeface="Times New Roman"/>
              </a:rPr>
              <a:t>CPU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4526" y="196011"/>
            <a:ext cx="8388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50" dirty="0">
                <a:latin typeface="Times New Roman"/>
                <a:cs typeface="Times New Roman"/>
              </a:rPr>
              <a:t>COMPUTER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41299" y="1001460"/>
            <a:ext cx="4508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Times New Roman"/>
                <a:cs typeface="Times New Roman"/>
              </a:rPr>
              <a:t>System </a:t>
            </a:r>
            <a:r>
              <a:rPr sz="1000" b="1" spc="25" dirty="0">
                <a:latin typeface="Times New Roman"/>
                <a:cs typeface="Times New Roman"/>
              </a:rPr>
              <a:t>Bus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22131" y="2495977"/>
            <a:ext cx="353695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50" dirty="0">
                <a:latin typeface="Times New Roman"/>
                <a:cs typeface="Times New Roman"/>
              </a:rPr>
              <a:t>ALU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10245" y="2453432"/>
            <a:ext cx="634365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35" dirty="0">
                <a:latin typeface="Times New Roman"/>
                <a:cs typeface="Times New Roman"/>
              </a:rPr>
              <a:t>Registers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50502" y="3439981"/>
            <a:ext cx="540385" cy="365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5"/>
              </a:spcBef>
            </a:pPr>
            <a:r>
              <a:rPr sz="1100" b="1" spc="40" dirty="0">
                <a:latin typeface="Times New Roman"/>
                <a:cs typeface="Times New Roman"/>
              </a:rPr>
              <a:t>Control </a:t>
            </a:r>
            <a:r>
              <a:rPr sz="1100" b="1" spc="35" dirty="0">
                <a:latin typeface="Times New Roman"/>
                <a:cs typeface="Times New Roman"/>
              </a:rPr>
              <a:t>Unit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81891" y="2075642"/>
            <a:ext cx="3111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25" dirty="0">
                <a:latin typeface="Times New Roman"/>
                <a:cs typeface="Times New Roman"/>
              </a:rPr>
              <a:t>CPU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79061" y="2911493"/>
            <a:ext cx="458470" cy="2971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1070"/>
              </a:lnSpc>
              <a:spcBef>
                <a:spcPts val="135"/>
              </a:spcBef>
            </a:pPr>
            <a:r>
              <a:rPr sz="900" b="1" spc="-10" dirty="0">
                <a:latin typeface="Times New Roman"/>
                <a:cs typeface="Times New Roman"/>
              </a:rPr>
              <a:t>Internal </a:t>
            </a:r>
            <a:r>
              <a:rPr sz="900" b="1" spc="-25" dirty="0">
                <a:latin typeface="Times New Roman"/>
                <a:cs typeface="Times New Roman"/>
              </a:rPr>
              <a:t>Bus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74036" y="3943129"/>
            <a:ext cx="1254125" cy="17195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14045" marR="5080">
              <a:lnSpc>
                <a:spcPts val="1070"/>
              </a:lnSpc>
              <a:spcBef>
                <a:spcPts val="135"/>
              </a:spcBef>
            </a:pPr>
            <a:r>
              <a:rPr sz="900" b="1" spc="-10" dirty="0">
                <a:latin typeface="Times New Roman"/>
                <a:cs typeface="Times New Roman"/>
              </a:rPr>
              <a:t>CONTROL </a:t>
            </a:r>
            <a:r>
              <a:rPr sz="900" b="1" spc="-20" dirty="0">
                <a:latin typeface="Times New Roman"/>
                <a:cs typeface="Times New Roman"/>
              </a:rPr>
              <a:t>UNIT</a:t>
            </a:r>
            <a:endParaRPr sz="900">
              <a:latin typeface="Times New Roman"/>
              <a:cs typeface="Times New Roman"/>
            </a:endParaRPr>
          </a:p>
          <a:p>
            <a:pPr marL="12700" marR="629285">
              <a:lnSpc>
                <a:spcPts val="1070"/>
              </a:lnSpc>
              <a:spcBef>
                <a:spcPts val="570"/>
              </a:spcBef>
            </a:pPr>
            <a:r>
              <a:rPr sz="900" b="1" spc="-10" dirty="0">
                <a:latin typeface="Times New Roman"/>
                <a:cs typeface="Times New Roman"/>
              </a:rPr>
              <a:t>Sequencing Logic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900">
              <a:latin typeface="Times New Roman"/>
              <a:cs typeface="Times New Roman"/>
            </a:endParaRPr>
          </a:p>
          <a:p>
            <a:pPr marL="484505" marR="102870">
              <a:lnSpc>
                <a:spcPct val="102099"/>
              </a:lnSpc>
            </a:pPr>
            <a:r>
              <a:rPr sz="800" b="1" spc="10" dirty="0">
                <a:latin typeface="Times New Roman"/>
                <a:cs typeface="Times New Roman"/>
              </a:rPr>
              <a:t>Control</a:t>
            </a:r>
            <a:r>
              <a:rPr sz="800" b="1" spc="225" dirty="0">
                <a:latin typeface="Times New Roman"/>
                <a:cs typeface="Times New Roman"/>
              </a:rPr>
              <a:t> </a:t>
            </a:r>
            <a:r>
              <a:rPr sz="800" b="1" spc="-20" dirty="0">
                <a:latin typeface="Times New Roman"/>
                <a:cs typeface="Times New Roman"/>
              </a:rPr>
              <a:t>Unit</a:t>
            </a:r>
            <a:r>
              <a:rPr sz="800" b="1" spc="20" dirty="0">
                <a:latin typeface="Times New Roman"/>
                <a:cs typeface="Times New Roman"/>
              </a:rPr>
              <a:t> Registers</a:t>
            </a:r>
            <a:r>
              <a:rPr sz="800" b="1" spc="210" dirty="0">
                <a:latin typeface="Times New Roman"/>
                <a:cs typeface="Times New Roman"/>
              </a:rPr>
              <a:t> </a:t>
            </a:r>
            <a:r>
              <a:rPr sz="800" b="1" spc="-25" dirty="0">
                <a:latin typeface="Times New Roman"/>
                <a:cs typeface="Times New Roman"/>
              </a:rPr>
              <a:t>and</a:t>
            </a:r>
            <a:r>
              <a:rPr sz="800" b="1" spc="500" dirty="0">
                <a:latin typeface="Times New Roman"/>
                <a:cs typeface="Times New Roman"/>
              </a:rPr>
              <a:t> </a:t>
            </a:r>
            <a:r>
              <a:rPr sz="800" b="1" spc="-10" dirty="0">
                <a:latin typeface="Times New Roman"/>
                <a:cs typeface="Times New Roman"/>
              </a:rPr>
              <a:t>Decoders</a:t>
            </a: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800">
              <a:latin typeface="Times New Roman"/>
              <a:cs typeface="Times New Roman"/>
            </a:endParaRPr>
          </a:p>
          <a:p>
            <a:pPr marL="508000" marR="283210">
              <a:lnSpc>
                <a:spcPts val="1070"/>
              </a:lnSpc>
            </a:pPr>
            <a:r>
              <a:rPr sz="900" b="1" spc="-10" dirty="0">
                <a:latin typeface="Times New Roman"/>
                <a:cs typeface="Times New Roman"/>
              </a:rPr>
              <a:t>Control Memory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1940" y="228600"/>
            <a:ext cx="3451860" cy="6346190"/>
          </a:xfrm>
          <a:custGeom>
            <a:avLst/>
            <a:gdLst/>
            <a:ahLst/>
            <a:cxnLst/>
            <a:rect l="l" t="t" r="r" b="b"/>
            <a:pathLst>
              <a:path w="3451860" h="6346190">
                <a:moveTo>
                  <a:pt x="3451860" y="0"/>
                </a:moveTo>
                <a:lnTo>
                  <a:pt x="0" y="0"/>
                </a:lnTo>
                <a:lnTo>
                  <a:pt x="0" y="6345936"/>
                </a:lnTo>
                <a:lnTo>
                  <a:pt x="3451860" y="6345936"/>
                </a:lnTo>
                <a:lnTo>
                  <a:pt x="345186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41775" y="1013205"/>
            <a:ext cx="4717415" cy="481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4D254D"/>
              </a:buClr>
              <a:buSzPct val="110416"/>
              <a:buFont typeface="Wingdings"/>
              <a:buChar char=""/>
              <a:tabLst>
                <a:tab pos="241300" algn="l"/>
                <a:tab pos="384175" algn="l"/>
              </a:tabLst>
            </a:pPr>
            <a:r>
              <a:rPr sz="2400" spc="180" dirty="0">
                <a:latin typeface="Cambria"/>
                <a:cs typeface="Cambria"/>
              </a:rPr>
              <a:t>CPU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–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controls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operation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of </a:t>
            </a:r>
            <a:r>
              <a:rPr sz="2400" spc="50" dirty="0">
                <a:latin typeface="Cambria"/>
                <a:cs typeface="Cambria"/>
              </a:rPr>
              <a:t>the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computer </a:t>
            </a:r>
            <a:r>
              <a:rPr sz="2400" spc="85" dirty="0">
                <a:latin typeface="Cambria"/>
                <a:cs typeface="Cambria"/>
              </a:rPr>
              <a:t>and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performs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its </a:t>
            </a:r>
            <a:r>
              <a:rPr sz="2400" spc="60" dirty="0">
                <a:latin typeface="Cambria"/>
                <a:cs typeface="Cambria"/>
              </a:rPr>
              <a:t>data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processing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functions</a:t>
            </a:r>
            <a:endParaRPr sz="2400">
              <a:latin typeface="Cambria"/>
              <a:cs typeface="Cambria"/>
            </a:endParaRPr>
          </a:p>
          <a:p>
            <a:pPr marL="435609" indent="-422909">
              <a:lnSpc>
                <a:spcPct val="100000"/>
              </a:lnSpc>
              <a:spcBef>
                <a:spcPts val="2005"/>
              </a:spcBef>
              <a:buClr>
                <a:srgbClr val="4D254D"/>
              </a:buClr>
              <a:buSzPct val="127083"/>
              <a:buFont typeface="Wingdings"/>
              <a:buChar char=""/>
              <a:tabLst>
                <a:tab pos="435609" algn="l"/>
              </a:tabLst>
            </a:pPr>
            <a:r>
              <a:rPr sz="2400" spc="70" dirty="0">
                <a:latin typeface="Cambria"/>
                <a:cs typeface="Cambria"/>
              </a:rPr>
              <a:t>Main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Memory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–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stores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data</a:t>
            </a:r>
            <a:endParaRPr sz="2400">
              <a:latin typeface="Cambria"/>
              <a:cs typeface="Cambria"/>
            </a:endParaRPr>
          </a:p>
          <a:p>
            <a:pPr marL="241300" marR="106045" indent="-228600">
              <a:lnSpc>
                <a:spcPct val="100000"/>
              </a:lnSpc>
              <a:spcBef>
                <a:spcPts val="2005"/>
              </a:spcBef>
              <a:buClr>
                <a:srgbClr val="4D254D"/>
              </a:buClr>
              <a:buSzPct val="127083"/>
              <a:buFont typeface="Wingdings"/>
              <a:buChar char=""/>
              <a:tabLst>
                <a:tab pos="241300" algn="l"/>
                <a:tab pos="436245" algn="l"/>
              </a:tabLst>
            </a:pPr>
            <a:r>
              <a:rPr sz="2400" spc="65" dirty="0">
                <a:latin typeface="Cambria"/>
                <a:cs typeface="Cambria"/>
              </a:rPr>
              <a:t>I/O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–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moves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data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between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the </a:t>
            </a:r>
            <a:r>
              <a:rPr sz="2400" spc="75" dirty="0">
                <a:latin typeface="Cambria"/>
                <a:cs typeface="Cambria"/>
              </a:rPr>
              <a:t>computer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and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its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external </a:t>
            </a:r>
            <a:r>
              <a:rPr sz="2400" spc="-10" dirty="0">
                <a:latin typeface="Cambria"/>
                <a:cs typeface="Cambria"/>
              </a:rPr>
              <a:t>environment</a:t>
            </a:r>
            <a:endParaRPr sz="2400">
              <a:latin typeface="Cambria"/>
              <a:cs typeface="Cambria"/>
            </a:endParaRPr>
          </a:p>
          <a:p>
            <a:pPr marL="241300" marR="52069" indent="-228600">
              <a:lnSpc>
                <a:spcPct val="100000"/>
              </a:lnSpc>
              <a:spcBef>
                <a:spcPts val="1995"/>
              </a:spcBef>
              <a:buClr>
                <a:srgbClr val="4D254D"/>
              </a:buClr>
              <a:buSzPct val="127083"/>
              <a:buFont typeface="Wingdings"/>
              <a:buChar char=""/>
              <a:tabLst>
                <a:tab pos="241300" algn="l"/>
                <a:tab pos="436245" algn="l"/>
              </a:tabLst>
            </a:pPr>
            <a:r>
              <a:rPr sz="2400" spc="70" dirty="0">
                <a:latin typeface="Cambria"/>
                <a:cs typeface="Cambria"/>
              </a:rPr>
              <a:t>System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Interconnection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–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some </a:t>
            </a:r>
            <a:r>
              <a:rPr sz="2400" spc="85" dirty="0">
                <a:latin typeface="Cambria"/>
                <a:cs typeface="Cambria"/>
              </a:rPr>
              <a:t>mechanism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65" dirty="0">
                <a:latin typeface="Cambria"/>
                <a:cs typeface="Cambria"/>
              </a:rPr>
              <a:t> provides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for </a:t>
            </a:r>
            <a:r>
              <a:rPr sz="2400" spc="60" dirty="0">
                <a:latin typeface="Cambria"/>
                <a:cs typeface="Cambria"/>
              </a:rPr>
              <a:t>communication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among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CPU, </a:t>
            </a:r>
            <a:r>
              <a:rPr sz="2400" spc="50" dirty="0">
                <a:latin typeface="Cambria"/>
                <a:cs typeface="Cambria"/>
              </a:rPr>
              <a:t>main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memory,</a:t>
            </a:r>
            <a:r>
              <a:rPr sz="2400" spc="-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and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I/O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1940" y="228600"/>
            <a:ext cx="3451860" cy="6346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875">
              <a:lnSpc>
                <a:spcPts val="5880"/>
              </a:lnSpc>
            </a:pPr>
            <a:r>
              <a:rPr sz="54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5400">
              <a:latin typeface="Times New Roman"/>
              <a:cs typeface="Times New Roman"/>
            </a:endParaRPr>
          </a:p>
          <a:p>
            <a:pPr marL="342900" marR="664845">
              <a:lnSpc>
                <a:spcPct val="100000"/>
              </a:lnSpc>
              <a:spcBef>
                <a:spcPts val="4595"/>
              </a:spcBef>
            </a:pPr>
            <a:r>
              <a:rPr sz="2800" spc="70" dirty="0">
                <a:solidFill>
                  <a:srgbClr val="FFFFFF"/>
                </a:solidFill>
                <a:latin typeface="Cambria"/>
                <a:cs typeface="Cambria"/>
              </a:rPr>
              <a:t>There</a:t>
            </a:r>
            <a:r>
              <a:rPr sz="2800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sz="28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ambria"/>
                <a:cs typeface="Cambria"/>
              </a:rPr>
              <a:t>four </a:t>
            </a:r>
            <a:r>
              <a:rPr sz="2800" spc="60" dirty="0">
                <a:solidFill>
                  <a:srgbClr val="FFFFFF"/>
                </a:solidFill>
                <a:latin typeface="Cambria"/>
                <a:cs typeface="Cambria"/>
              </a:rPr>
              <a:t>main</a:t>
            </a:r>
            <a:r>
              <a:rPr sz="28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mbria"/>
                <a:cs typeface="Cambria"/>
              </a:rPr>
              <a:t>structural </a:t>
            </a:r>
            <a:r>
              <a:rPr sz="2800" spc="85" dirty="0">
                <a:solidFill>
                  <a:srgbClr val="FFFFFF"/>
                </a:solidFill>
                <a:latin typeface="Cambria"/>
                <a:cs typeface="Cambria"/>
              </a:rPr>
              <a:t>components</a:t>
            </a:r>
            <a:endParaRPr sz="2800">
              <a:latin typeface="Cambria"/>
              <a:cs typeface="Cambria"/>
            </a:endParaRPr>
          </a:p>
          <a:p>
            <a:pPr marL="3429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28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2800" spc="1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FFFFFF"/>
                </a:solidFill>
                <a:latin typeface="Cambria"/>
                <a:cs typeface="Cambria"/>
              </a:rPr>
              <a:t>computer:</a:t>
            </a:r>
            <a:endParaRPr sz="28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4005491"/>
            <a:ext cx="2103638" cy="205251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06948" y="6591428"/>
            <a:ext cx="375602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©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2016</a:t>
            </a:r>
            <a:r>
              <a:rPr sz="1100" spc="-1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Pearson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Education,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Inc.,</a:t>
            </a:r>
            <a:r>
              <a:rPr sz="1100" spc="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Hoboken,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NJ.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All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rights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reserved.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1940" y="228600"/>
            <a:ext cx="3451860" cy="6346190"/>
          </a:xfrm>
          <a:custGeom>
            <a:avLst/>
            <a:gdLst/>
            <a:ahLst/>
            <a:cxnLst/>
            <a:rect l="l" t="t" r="r" b="b"/>
            <a:pathLst>
              <a:path w="3451860" h="6346190">
                <a:moveTo>
                  <a:pt x="3451860" y="0"/>
                </a:moveTo>
                <a:lnTo>
                  <a:pt x="0" y="0"/>
                </a:lnTo>
                <a:lnTo>
                  <a:pt x="0" y="6345936"/>
                </a:lnTo>
                <a:lnTo>
                  <a:pt x="3451860" y="6345936"/>
                </a:lnTo>
                <a:lnTo>
                  <a:pt x="345186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24891" y="139141"/>
            <a:ext cx="4038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7035" y="924306"/>
            <a:ext cx="67818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600" spc="175" dirty="0">
                <a:solidFill>
                  <a:srgbClr val="FFFFFF"/>
                </a:solidFill>
                <a:latin typeface="Cambria"/>
                <a:cs typeface="Cambria"/>
              </a:rPr>
              <a:t>CPU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48150" y="787653"/>
            <a:ext cx="3998595" cy="100139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spc="60" dirty="0">
                <a:latin typeface="Cambria"/>
                <a:cs typeface="Cambria"/>
              </a:rPr>
              <a:t>Control </a:t>
            </a:r>
            <a:r>
              <a:rPr sz="1800" spc="-20" dirty="0">
                <a:latin typeface="Cambria"/>
                <a:cs typeface="Cambria"/>
              </a:rPr>
              <a:t>Unit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55" dirty="0">
                <a:latin typeface="Cambria"/>
                <a:cs typeface="Cambria"/>
              </a:rPr>
              <a:t>Controls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operation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110" dirty="0">
                <a:latin typeface="Cambria"/>
                <a:cs typeface="Cambria"/>
              </a:rPr>
              <a:t>CPU</a:t>
            </a:r>
            <a:endParaRPr sz="18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</a:pPr>
            <a:r>
              <a:rPr sz="1800" spc="75" dirty="0">
                <a:latin typeface="Cambria"/>
                <a:cs typeface="Cambria"/>
              </a:rPr>
              <a:t>and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hence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computer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48150" y="1941703"/>
            <a:ext cx="3594100" cy="10007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spc="10" dirty="0">
                <a:latin typeface="Cambria"/>
                <a:cs typeface="Cambria"/>
              </a:rPr>
              <a:t>Arithmetic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and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Logic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10" dirty="0">
                <a:latin typeface="Cambria"/>
                <a:cs typeface="Cambria"/>
              </a:rPr>
              <a:t>Unit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(ALU)</a:t>
            </a:r>
            <a:endParaRPr sz="1800">
              <a:latin typeface="Cambria"/>
              <a:cs typeface="Cambria"/>
            </a:endParaRPr>
          </a:p>
          <a:p>
            <a:pPr marL="468630" marR="41910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latin typeface="Cambria"/>
                <a:cs typeface="Cambria"/>
              </a:rPr>
              <a:t>Performs</a:t>
            </a:r>
            <a:r>
              <a:rPr sz="1800" spc="3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3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computer’s</a:t>
            </a:r>
            <a:r>
              <a:rPr sz="1800" spc="33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data 	</a:t>
            </a:r>
            <a:r>
              <a:rPr sz="1800" spc="80" dirty="0">
                <a:latin typeface="Cambria"/>
                <a:cs typeface="Cambria"/>
              </a:rPr>
              <a:t>processing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function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48150" y="3094101"/>
            <a:ext cx="4169410" cy="21551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7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spc="50" dirty="0">
                <a:latin typeface="Cambria"/>
                <a:cs typeface="Cambria"/>
              </a:rPr>
              <a:t>Registers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Cambria"/>
                <a:cs typeface="Cambria"/>
              </a:rPr>
              <a:t>Provide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storage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internal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110" dirty="0">
                <a:latin typeface="Cambria"/>
                <a:cs typeface="Cambria"/>
              </a:rPr>
              <a:t>CPU</a:t>
            </a:r>
            <a:endParaRPr sz="1800">
              <a:latin typeface="Cambria"/>
              <a:cs typeface="Cambria"/>
            </a:endParaRPr>
          </a:p>
          <a:p>
            <a:pPr marL="240665" indent="-227965" algn="just">
              <a:lnSpc>
                <a:spcPct val="100000"/>
              </a:lnSpc>
              <a:spcBef>
                <a:spcPts val="20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spc="135" dirty="0">
                <a:latin typeface="Cambria"/>
                <a:cs typeface="Cambria"/>
              </a:rPr>
              <a:t>CPU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Interconnection</a:t>
            </a:r>
            <a:endParaRPr sz="1800">
              <a:latin typeface="Cambria"/>
              <a:cs typeface="Cambria"/>
            </a:endParaRPr>
          </a:p>
          <a:p>
            <a:pPr marL="468630" marR="69215" lvl="1" indent="-227965" algn="just">
              <a:lnSpc>
                <a:spcPct val="100000"/>
              </a:lnSpc>
              <a:spcBef>
                <a:spcPts val="60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85" dirty="0">
                <a:latin typeface="Cambria"/>
                <a:cs typeface="Cambria"/>
              </a:rPr>
              <a:t>Some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mechanism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provides </a:t>
            </a:r>
            <a:r>
              <a:rPr sz="1800" spc="-25" dirty="0">
                <a:latin typeface="Cambria"/>
                <a:cs typeface="Cambria"/>
              </a:rPr>
              <a:t>for 	</a:t>
            </a:r>
            <a:r>
              <a:rPr sz="1800" spc="50" dirty="0">
                <a:latin typeface="Cambria"/>
                <a:cs typeface="Cambria"/>
              </a:rPr>
              <a:t>communication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among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control 	</a:t>
            </a:r>
            <a:r>
              <a:rPr sz="1800" dirty="0">
                <a:latin typeface="Cambria"/>
                <a:cs typeface="Cambria"/>
              </a:rPr>
              <a:t>unit,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ALU,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and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registers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6500" y="1697863"/>
            <a:ext cx="2419350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3520" marR="5080" indent="-224154">
              <a:lnSpc>
                <a:spcPct val="100000"/>
              </a:lnSpc>
              <a:spcBef>
                <a:spcPts val="105"/>
              </a:spcBef>
            </a:pPr>
            <a:r>
              <a:rPr sz="2600" spc="90" dirty="0">
                <a:solidFill>
                  <a:srgbClr val="FFFFFF"/>
                </a:solidFill>
                <a:latin typeface="Cambria"/>
                <a:cs typeface="Cambria"/>
              </a:rPr>
              <a:t>Major</a:t>
            </a:r>
            <a:r>
              <a:rPr sz="26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ambria"/>
                <a:cs typeface="Cambria"/>
              </a:rPr>
              <a:t>structural </a:t>
            </a:r>
            <a:r>
              <a:rPr sz="2600" spc="80" dirty="0">
                <a:solidFill>
                  <a:srgbClr val="FFFFFF"/>
                </a:solidFill>
                <a:latin typeface="Cambria"/>
                <a:cs typeface="Cambria"/>
              </a:rPr>
              <a:t>components:</a:t>
            </a:r>
            <a:endParaRPr sz="26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4800" y="2667000"/>
            <a:ext cx="3202940" cy="3812540"/>
            <a:chOff x="304800" y="2667000"/>
            <a:chExt cx="3202940" cy="381254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7520" y="4569294"/>
              <a:ext cx="1910219" cy="19102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2667000"/>
              <a:ext cx="2180932" cy="218093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306948" y="6591428"/>
            <a:ext cx="375602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©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2016</a:t>
            </a:r>
            <a:r>
              <a:rPr sz="1100" spc="-1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Pearson</a:t>
            </a:r>
            <a:r>
              <a:rPr sz="1100" spc="-3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Education,</a:t>
            </a:r>
            <a:r>
              <a:rPr sz="1100" spc="-4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Inc.,</a:t>
            </a:r>
            <a:r>
              <a:rPr sz="1100" spc="1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Hoboken,</a:t>
            </a:r>
            <a:r>
              <a:rPr sz="1100" spc="-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NJ.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All</a:t>
            </a:r>
            <a:r>
              <a:rPr sz="1100" spc="-2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85858"/>
                </a:solidFill>
                <a:latin typeface="Times New Roman"/>
                <a:cs typeface="Times New Roman"/>
              </a:rPr>
              <a:t>rights</a:t>
            </a:r>
            <a:r>
              <a:rPr sz="1100" spc="-2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85858"/>
                </a:solidFill>
                <a:latin typeface="Times New Roman"/>
                <a:cs typeface="Times New Roman"/>
              </a:rPr>
              <a:t>reserved.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97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85" dirty="0"/>
              <a:t>Multicore</a:t>
            </a:r>
            <a:r>
              <a:rPr sz="3600" spc="80" dirty="0"/>
              <a:t> </a:t>
            </a:r>
            <a:r>
              <a:rPr sz="3600" spc="170" dirty="0"/>
              <a:t>Computer</a:t>
            </a:r>
            <a:r>
              <a:rPr sz="3600" spc="90" dirty="0"/>
              <a:t> </a:t>
            </a:r>
            <a:r>
              <a:rPr sz="3600" spc="-10" dirty="0"/>
              <a:t>Structure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40"/>
              </a:spcBef>
              <a:buClr>
                <a:srgbClr val="663366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spc="75" dirty="0"/>
              <a:t>Central</a:t>
            </a:r>
            <a:r>
              <a:rPr sz="1900" spc="35" dirty="0"/>
              <a:t> </a:t>
            </a:r>
            <a:r>
              <a:rPr sz="1900" spc="75" dirty="0"/>
              <a:t>processing</a:t>
            </a:r>
            <a:r>
              <a:rPr sz="1900" spc="65" dirty="0"/>
              <a:t> </a:t>
            </a:r>
            <a:r>
              <a:rPr sz="1900" dirty="0"/>
              <a:t>unit</a:t>
            </a:r>
            <a:r>
              <a:rPr sz="1900" spc="60" dirty="0"/>
              <a:t> </a:t>
            </a:r>
            <a:r>
              <a:rPr sz="1900" spc="65" dirty="0"/>
              <a:t>(CPU)</a:t>
            </a:r>
            <a:endParaRPr sz="1900" dirty="0"/>
          </a:p>
          <a:p>
            <a:pPr marL="469265" lvl="1" indent="-227965">
              <a:lnSpc>
                <a:spcPct val="100000"/>
              </a:lnSpc>
              <a:spcBef>
                <a:spcPts val="40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Portion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computer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fetches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executes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585858"/>
                </a:solidFill>
                <a:latin typeface="Cambria"/>
                <a:cs typeface="Cambria"/>
              </a:rPr>
              <a:t>instructions</a:t>
            </a:r>
            <a:endParaRPr sz="1700" dirty="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9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Consists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7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an</a:t>
            </a:r>
            <a:r>
              <a:rPr sz="17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ALU,</a:t>
            </a:r>
            <a:r>
              <a:rPr sz="1700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control</a:t>
            </a:r>
            <a:r>
              <a:rPr sz="17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unit,</a:t>
            </a:r>
            <a:r>
              <a:rPr sz="1700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7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40" dirty="0">
                <a:solidFill>
                  <a:srgbClr val="585858"/>
                </a:solidFill>
                <a:latin typeface="Cambria"/>
                <a:cs typeface="Cambria"/>
              </a:rPr>
              <a:t>registers</a:t>
            </a:r>
            <a:endParaRPr sz="1700" dirty="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400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Referred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 as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processor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system</a:t>
            </a:r>
            <a:r>
              <a:rPr sz="1700" spc="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with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single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processing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20" dirty="0">
                <a:solidFill>
                  <a:srgbClr val="585858"/>
                </a:solidFill>
                <a:latin typeface="Cambria"/>
                <a:cs typeface="Cambria"/>
              </a:rPr>
              <a:t>unit</a:t>
            </a:r>
            <a:endParaRPr sz="1700" dirty="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764"/>
              </a:spcBef>
              <a:buClr>
                <a:srgbClr val="663366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spc="100" dirty="0"/>
              <a:t>Core</a:t>
            </a:r>
            <a:endParaRPr sz="1900" dirty="0"/>
          </a:p>
          <a:p>
            <a:pPr marL="469265" lvl="1" indent="-227965">
              <a:lnSpc>
                <a:spcPct val="100000"/>
              </a:lnSpc>
              <a:spcBef>
                <a:spcPts val="40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An</a:t>
            </a:r>
            <a:r>
              <a:rPr sz="17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0000"/>
                </a:solidFill>
                <a:latin typeface="Cambria"/>
                <a:cs typeface="Cambria"/>
              </a:rPr>
              <a:t>individual</a:t>
            </a:r>
            <a:r>
              <a:rPr sz="1700" spc="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FF0000"/>
                </a:solidFill>
                <a:latin typeface="Cambria"/>
                <a:cs typeface="Cambria"/>
              </a:rPr>
              <a:t>processing</a:t>
            </a:r>
            <a:r>
              <a:rPr sz="1700" spc="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0000"/>
                </a:solidFill>
                <a:latin typeface="Cambria"/>
                <a:cs typeface="Cambria"/>
              </a:rPr>
              <a:t>unit</a:t>
            </a:r>
            <a:r>
              <a:rPr sz="1700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0000"/>
                </a:solidFill>
                <a:latin typeface="Cambria"/>
                <a:cs typeface="Cambria"/>
              </a:rPr>
              <a:t>on</a:t>
            </a:r>
            <a:r>
              <a:rPr sz="170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FF0000"/>
                </a:solidFill>
                <a:latin typeface="Cambria"/>
                <a:cs typeface="Cambria"/>
              </a:rPr>
              <a:t>processor</a:t>
            </a:r>
            <a:r>
              <a:rPr sz="170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FF0000"/>
                </a:solidFill>
                <a:latin typeface="Cambria"/>
                <a:cs typeface="Cambria"/>
              </a:rPr>
              <a:t>chip</a:t>
            </a:r>
            <a:endParaRPr sz="1700" dirty="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400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May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55" dirty="0">
                <a:solidFill>
                  <a:srgbClr val="585858"/>
                </a:solidFill>
                <a:latin typeface="Cambria"/>
                <a:cs typeface="Cambria"/>
              </a:rPr>
              <a:t>be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585858"/>
                </a:solidFill>
                <a:latin typeface="Cambria"/>
                <a:cs typeface="Cambria"/>
              </a:rPr>
              <a:t>equivalent</a:t>
            </a:r>
            <a:r>
              <a:rPr sz="17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functionality</a:t>
            </a:r>
            <a:r>
              <a:rPr sz="17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CPU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on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single-</a:t>
            </a: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CPU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40" dirty="0">
                <a:solidFill>
                  <a:srgbClr val="585858"/>
                </a:solidFill>
                <a:latin typeface="Cambria"/>
                <a:cs typeface="Cambria"/>
              </a:rPr>
              <a:t>system</a:t>
            </a:r>
            <a:endParaRPr sz="1700" dirty="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9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Specialized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processing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units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are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also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referred</a:t>
            </a:r>
            <a:r>
              <a:rPr sz="17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as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cores</a:t>
            </a:r>
            <a:endParaRPr sz="1700" dirty="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755"/>
              </a:spcBef>
              <a:buClr>
                <a:srgbClr val="663366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spc="40" dirty="0"/>
              <a:t>Processor</a:t>
            </a:r>
            <a:endParaRPr sz="1900" dirty="0"/>
          </a:p>
          <a:p>
            <a:pPr marL="469265" lvl="1" indent="-227965">
              <a:lnSpc>
                <a:spcPct val="100000"/>
              </a:lnSpc>
              <a:spcBef>
                <a:spcPts val="40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spc="114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physical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piece</a:t>
            </a:r>
            <a:r>
              <a:rPr sz="17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585858"/>
                </a:solidFill>
                <a:latin typeface="Cambria"/>
                <a:cs typeface="Cambria"/>
              </a:rPr>
              <a:t>silicon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FF0000"/>
                </a:solidFill>
                <a:latin typeface="Cambria"/>
                <a:cs typeface="Cambria"/>
              </a:rPr>
              <a:t>containing</a:t>
            </a:r>
            <a:r>
              <a:rPr sz="17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FF0000"/>
                </a:solidFill>
                <a:latin typeface="Cambria"/>
                <a:cs typeface="Cambria"/>
              </a:rPr>
              <a:t>one</a:t>
            </a:r>
            <a:r>
              <a:rPr sz="170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17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0000"/>
                </a:solidFill>
                <a:latin typeface="Cambria"/>
                <a:cs typeface="Cambria"/>
              </a:rPr>
              <a:t>more</a:t>
            </a:r>
            <a:r>
              <a:rPr sz="170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FF0000"/>
                </a:solidFill>
                <a:latin typeface="Cambria"/>
                <a:cs typeface="Cambria"/>
              </a:rPr>
              <a:t>cores</a:t>
            </a:r>
            <a:endParaRPr sz="1700" dirty="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400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17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computer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component</a:t>
            </a:r>
            <a:r>
              <a:rPr sz="17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interprets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executes</a:t>
            </a:r>
            <a:r>
              <a:rPr sz="17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585858"/>
                </a:solidFill>
                <a:latin typeface="Cambria"/>
                <a:cs typeface="Cambria"/>
              </a:rPr>
              <a:t>instructions</a:t>
            </a:r>
            <a:endParaRPr sz="1700" dirty="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9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Referred</a:t>
            </a:r>
            <a:r>
              <a:rPr sz="17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7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as</a:t>
            </a:r>
            <a:r>
              <a:rPr sz="17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i="1" dirty="0">
                <a:solidFill>
                  <a:srgbClr val="585858"/>
                </a:solidFill>
                <a:latin typeface="Cambria"/>
                <a:cs typeface="Cambria"/>
              </a:rPr>
              <a:t>multicore</a:t>
            </a:r>
            <a:r>
              <a:rPr sz="1700" i="1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i="1" spc="70" dirty="0">
                <a:solidFill>
                  <a:srgbClr val="585858"/>
                </a:solidFill>
                <a:latin typeface="Cambria"/>
                <a:cs typeface="Cambria"/>
              </a:rPr>
              <a:t>processor</a:t>
            </a:r>
            <a:r>
              <a:rPr sz="1700" i="1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if</a:t>
            </a:r>
            <a:r>
              <a:rPr sz="17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it</a:t>
            </a:r>
            <a:r>
              <a:rPr sz="17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contains</a:t>
            </a:r>
            <a:r>
              <a:rPr sz="17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multiple</a:t>
            </a:r>
            <a:r>
              <a:rPr sz="17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cores</a:t>
            </a:r>
            <a:endParaRPr sz="17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9219" y="152320"/>
            <a:ext cx="4643751" cy="54939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75905" y="6023680"/>
            <a:ext cx="523430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b="1" dirty="0">
                <a:latin typeface="Times New Roman"/>
                <a:cs typeface="Times New Roman"/>
              </a:rPr>
              <a:t>Figure</a:t>
            </a:r>
            <a:r>
              <a:rPr sz="1300" b="1" spc="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1.2</a:t>
            </a:r>
            <a:r>
              <a:rPr sz="1300" b="1" spc="39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Simplified</a:t>
            </a:r>
            <a:r>
              <a:rPr sz="1300" b="1" spc="10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View</a:t>
            </a:r>
            <a:r>
              <a:rPr sz="1300" b="1" spc="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of</a:t>
            </a:r>
            <a:r>
              <a:rPr sz="1300" b="1" spc="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Major</a:t>
            </a:r>
            <a:r>
              <a:rPr sz="1300" b="1" spc="6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Elements</a:t>
            </a:r>
            <a:r>
              <a:rPr sz="1300" b="1" spc="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of</a:t>
            </a:r>
            <a:r>
              <a:rPr sz="1300" b="1" spc="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</a:t>
            </a:r>
            <a:r>
              <a:rPr sz="1300" b="1" spc="3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Multicore</a:t>
            </a:r>
            <a:r>
              <a:rPr sz="1300" b="1" spc="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Computer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494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90750" y="3992455"/>
            <a:ext cx="40513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b="1" spc="-20" dirty="0">
                <a:solidFill>
                  <a:srgbClr val="006A34"/>
                </a:solidFill>
                <a:latin typeface="Times New Roman"/>
                <a:cs typeface="Times New Roman"/>
              </a:rPr>
              <a:t>CORE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67529" y="1182369"/>
            <a:ext cx="531495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3035" marR="5080" indent="-140970">
              <a:lnSpc>
                <a:spcPct val="101499"/>
              </a:lnSpc>
              <a:spcBef>
                <a:spcPts val="95"/>
              </a:spcBef>
            </a:pPr>
            <a:r>
              <a:rPr sz="950" b="1" spc="-10" dirty="0">
                <a:latin typeface="Times New Roman"/>
                <a:cs typeface="Times New Roman"/>
              </a:rPr>
              <a:t>Processor </a:t>
            </a:r>
            <a:r>
              <a:rPr sz="950" b="1" spc="-20" dirty="0">
                <a:latin typeface="Times New Roman"/>
                <a:cs typeface="Times New Roman"/>
              </a:rPr>
              <a:t>chip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5451" y="181617"/>
            <a:ext cx="1144905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b="1" spc="-10" dirty="0">
                <a:solidFill>
                  <a:srgbClr val="006A34"/>
                </a:solidFill>
                <a:latin typeface="Times New Roman"/>
                <a:cs typeface="Times New Roman"/>
              </a:rPr>
              <a:t>MOTHERBOARD</a:t>
            </a:r>
            <a:endParaRPr sz="10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latin typeface="Times New Roman"/>
                <a:cs typeface="Times New Roman"/>
              </a:rPr>
              <a:t>Main</a:t>
            </a:r>
            <a:r>
              <a:rPr sz="950" b="1" spc="10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memory</a:t>
            </a:r>
            <a:r>
              <a:rPr sz="950" b="1" spc="10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Times New Roman"/>
                <a:cs typeface="Times New Roman"/>
              </a:rPr>
              <a:t>chips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5339" y="1370943"/>
            <a:ext cx="50292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dirty="0">
                <a:latin typeface="Times New Roman"/>
                <a:cs typeface="Times New Roman"/>
              </a:rPr>
              <a:t>I/O</a:t>
            </a:r>
            <a:r>
              <a:rPr sz="950" b="1" spc="5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Times New Roman"/>
                <a:cs typeface="Times New Roman"/>
              </a:rPr>
              <a:t>chips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8033" y="2375480"/>
            <a:ext cx="28194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spc="-20" dirty="0">
                <a:latin typeface="Times New Roman"/>
                <a:cs typeface="Times New Roman"/>
              </a:rPr>
              <a:t>Core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07440" y="2842632"/>
            <a:ext cx="48895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dirty="0">
                <a:latin typeface="Times New Roman"/>
                <a:cs typeface="Times New Roman"/>
              </a:rPr>
              <a:t>L3</a:t>
            </a:r>
            <a:r>
              <a:rPr sz="950" b="1" spc="-5" dirty="0">
                <a:latin typeface="Times New Roman"/>
                <a:cs typeface="Times New Roman"/>
              </a:rPr>
              <a:t> </a:t>
            </a:r>
            <a:r>
              <a:rPr sz="950" b="1" spc="-20" dirty="0">
                <a:latin typeface="Times New Roman"/>
                <a:cs typeface="Times New Roman"/>
              </a:rPr>
              <a:t>cache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76965" y="4293514"/>
            <a:ext cx="606425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245" marR="5080" indent="-170180">
              <a:lnSpc>
                <a:spcPct val="101499"/>
              </a:lnSpc>
              <a:spcBef>
                <a:spcPts val="95"/>
              </a:spcBef>
            </a:pPr>
            <a:r>
              <a:rPr sz="950" b="1" spc="-10" dirty="0">
                <a:latin typeface="Times New Roman"/>
                <a:cs typeface="Times New Roman"/>
              </a:rPr>
              <a:t>Instruction logic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28882" y="4724702"/>
            <a:ext cx="57658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dirty="0">
                <a:latin typeface="Times New Roman"/>
                <a:cs typeface="Times New Roman"/>
              </a:rPr>
              <a:t>L1</a:t>
            </a:r>
            <a:r>
              <a:rPr sz="950" b="1" spc="10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Times New Roman"/>
                <a:cs typeface="Times New Roman"/>
              </a:rPr>
              <a:t>I-cache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33519" y="5102133"/>
            <a:ext cx="76581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8760" marR="5080" indent="-226695">
              <a:lnSpc>
                <a:spcPct val="101600"/>
              </a:lnSpc>
              <a:spcBef>
                <a:spcPts val="95"/>
              </a:spcBef>
            </a:pPr>
            <a:r>
              <a:rPr sz="950" b="1" dirty="0">
                <a:latin typeface="Times New Roman"/>
                <a:cs typeface="Times New Roman"/>
              </a:rPr>
              <a:t>L2</a:t>
            </a:r>
            <a:r>
              <a:rPr sz="950" b="1" spc="-5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Times New Roman"/>
                <a:cs typeface="Times New Roman"/>
              </a:rPr>
              <a:t>instruction cache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34359" y="5102133"/>
            <a:ext cx="42799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580" marR="5080" indent="-56515">
              <a:lnSpc>
                <a:spcPct val="101600"/>
              </a:lnSpc>
              <a:spcBef>
                <a:spcPts val="95"/>
              </a:spcBef>
            </a:pPr>
            <a:r>
              <a:rPr sz="950" b="1" dirty="0">
                <a:latin typeface="Times New Roman"/>
                <a:cs typeface="Times New Roman"/>
              </a:rPr>
              <a:t>L2</a:t>
            </a:r>
            <a:r>
              <a:rPr sz="950" b="1" spc="-5" dirty="0">
                <a:latin typeface="Times New Roman"/>
                <a:cs typeface="Times New Roman"/>
              </a:rPr>
              <a:t> </a:t>
            </a:r>
            <a:r>
              <a:rPr sz="950" b="1" spc="-20" dirty="0">
                <a:latin typeface="Times New Roman"/>
                <a:cs typeface="Times New Roman"/>
              </a:rPr>
              <a:t>data cache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72613" y="4724043"/>
            <a:ext cx="74866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dirty="0">
                <a:latin typeface="Times New Roman"/>
                <a:cs typeface="Times New Roman"/>
              </a:rPr>
              <a:t>L1</a:t>
            </a:r>
            <a:r>
              <a:rPr sz="950" b="1" spc="-5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data </a:t>
            </a:r>
            <a:r>
              <a:rPr sz="950" b="1" spc="-10" dirty="0">
                <a:latin typeface="Times New Roman"/>
                <a:cs typeface="Times New Roman"/>
              </a:rPr>
              <a:t>cache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80409" y="4218763"/>
            <a:ext cx="604520" cy="416559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-1270" algn="ctr">
              <a:lnSpc>
                <a:spcPts val="960"/>
              </a:lnSpc>
              <a:spcBef>
                <a:spcPts val="295"/>
              </a:spcBef>
            </a:pPr>
            <a:r>
              <a:rPr sz="950" b="1" spc="-10" dirty="0">
                <a:latin typeface="Times New Roman"/>
                <a:cs typeface="Times New Roman"/>
              </a:rPr>
              <a:t>Arithmetic </a:t>
            </a:r>
            <a:r>
              <a:rPr sz="950" b="1" dirty="0">
                <a:latin typeface="Times New Roman"/>
                <a:cs typeface="Times New Roman"/>
              </a:rPr>
              <a:t>and</a:t>
            </a:r>
            <a:r>
              <a:rPr sz="950" b="1" spc="5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Times New Roman"/>
                <a:cs typeface="Times New Roman"/>
              </a:rPr>
              <a:t>logic </a:t>
            </a:r>
            <a:r>
              <a:rPr sz="950" b="1" dirty="0">
                <a:latin typeface="Times New Roman"/>
                <a:cs typeface="Times New Roman"/>
              </a:rPr>
              <a:t>unit</a:t>
            </a:r>
            <a:r>
              <a:rPr sz="950" b="1" spc="5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Times New Roman"/>
                <a:cs typeface="Times New Roman"/>
              </a:rPr>
              <a:t>(ALU)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07324" y="4293514"/>
            <a:ext cx="555625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12395">
              <a:lnSpc>
                <a:spcPct val="101499"/>
              </a:lnSpc>
              <a:spcBef>
                <a:spcPts val="95"/>
              </a:spcBef>
            </a:pPr>
            <a:r>
              <a:rPr sz="950" b="1" spc="-10" dirty="0">
                <a:latin typeface="Times New Roman"/>
                <a:cs typeface="Times New Roman"/>
              </a:rPr>
              <a:t>Load/ </a:t>
            </a:r>
            <a:r>
              <a:rPr sz="950" b="1" dirty="0">
                <a:latin typeface="Times New Roman"/>
                <a:cs typeface="Times New Roman"/>
              </a:rPr>
              <a:t>store</a:t>
            </a:r>
            <a:r>
              <a:rPr sz="950" b="1" spc="-15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Times New Roman"/>
                <a:cs typeface="Times New Roman"/>
              </a:rPr>
              <a:t>logic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81572" y="2842632"/>
            <a:ext cx="48895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dirty="0">
                <a:latin typeface="Times New Roman"/>
                <a:cs typeface="Times New Roman"/>
              </a:rPr>
              <a:t>L3</a:t>
            </a:r>
            <a:r>
              <a:rPr sz="950" b="1" spc="-5" dirty="0">
                <a:latin typeface="Times New Roman"/>
                <a:cs typeface="Times New Roman"/>
              </a:rPr>
              <a:t> </a:t>
            </a:r>
            <a:r>
              <a:rPr sz="950" b="1" spc="-20" dirty="0">
                <a:latin typeface="Times New Roman"/>
                <a:cs typeface="Times New Roman"/>
              </a:rPr>
              <a:t>cache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20308" y="2066512"/>
            <a:ext cx="1427480" cy="4813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b="1" dirty="0">
                <a:solidFill>
                  <a:srgbClr val="006A34"/>
                </a:solidFill>
                <a:latin typeface="Times New Roman"/>
                <a:cs typeface="Times New Roman"/>
              </a:rPr>
              <a:t>PROCESSOR</a:t>
            </a:r>
            <a:r>
              <a:rPr sz="1000" b="1" spc="155" dirty="0">
                <a:solidFill>
                  <a:srgbClr val="006A34"/>
                </a:solidFill>
                <a:latin typeface="Times New Roman"/>
                <a:cs typeface="Times New Roman"/>
              </a:rPr>
              <a:t> </a:t>
            </a:r>
            <a:r>
              <a:rPr sz="1000" b="1" spc="-20" dirty="0">
                <a:solidFill>
                  <a:srgbClr val="006A34"/>
                </a:solidFill>
                <a:latin typeface="Times New Roman"/>
                <a:cs typeface="Times New Roman"/>
              </a:rPr>
              <a:t>CHIP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00">
              <a:latin typeface="Times New Roman"/>
              <a:cs typeface="Times New Roman"/>
            </a:endParaRPr>
          </a:p>
          <a:p>
            <a:pPr marL="213360">
              <a:lnSpc>
                <a:spcPct val="100000"/>
              </a:lnSpc>
              <a:tabLst>
                <a:tab pos="685165" algn="l"/>
                <a:tab pos="1157605" algn="l"/>
              </a:tabLst>
            </a:pPr>
            <a:r>
              <a:rPr sz="950" b="1" spc="-20" dirty="0">
                <a:latin typeface="Times New Roman"/>
                <a:cs typeface="Times New Roman"/>
              </a:rPr>
              <a:t>Core</a:t>
            </a:r>
            <a:r>
              <a:rPr sz="950" b="1" dirty="0">
                <a:latin typeface="Times New Roman"/>
                <a:cs typeface="Times New Roman"/>
              </a:rPr>
              <a:t>	</a:t>
            </a:r>
            <a:r>
              <a:rPr sz="950" b="1" spc="-20" dirty="0">
                <a:latin typeface="Times New Roman"/>
                <a:cs typeface="Times New Roman"/>
              </a:rPr>
              <a:t>Core</a:t>
            </a:r>
            <a:r>
              <a:rPr sz="950" b="1" dirty="0">
                <a:latin typeface="Times New Roman"/>
                <a:cs typeface="Times New Roman"/>
              </a:rPr>
              <a:t>	</a:t>
            </a:r>
            <a:r>
              <a:rPr sz="950" b="1" spc="-20" dirty="0">
                <a:latin typeface="Times New Roman"/>
                <a:cs typeface="Times New Roman"/>
              </a:rPr>
              <a:t>Core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48033" y="3350737"/>
            <a:ext cx="28194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spc="-20" dirty="0">
                <a:latin typeface="Times New Roman"/>
                <a:cs typeface="Times New Roman"/>
              </a:rPr>
              <a:t>Core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21126" y="3350737"/>
            <a:ext cx="28130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spc="-20" dirty="0">
                <a:latin typeface="Times New Roman"/>
                <a:cs typeface="Times New Roman"/>
              </a:rPr>
              <a:t>Core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93465" y="3350737"/>
            <a:ext cx="28194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spc="-20" dirty="0">
                <a:latin typeface="Times New Roman"/>
                <a:cs typeface="Times New Roman"/>
              </a:rPr>
              <a:t>Core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65804" y="3350737"/>
            <a:ext cx="28194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spc="-20" dirty="0">
                <a:latin typeface="Times New Roman"/>
                <a:cs typeface="Times New Roman"/>
              </a:rPr>
              <a:t>Core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89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285" dirty="0"/>
              <a:t>Cache</a:t>
            </a:r>
            <a:r>
              <a:rPr sz="3600" spc="110" dirty="0"/>
              <a:t> </a:t>
            </a:r>
            <a:r>
              <a:rPr sz="3600" spc="160" dirty="0"/>
              <a:t>Memory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05938" rIns="0" bIns="0" rtlCol="0">
            <a:spAutoFit/>
          </a:bodyPr>
          <a:lstStyle/>
          <a:p>
            <a:pPr marL="241300" marR="56515" indent="-228600">
              <a:lnSpc>
                <a:spcPct val="100000"/>
              </a:lnSpc>
              <a:spcBef>
                <a:spcPts val="1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pc="55" dirty="0"/>
              <a:t>Multiple</a:t>
            </a:r>
            <a:r>
              <a:rPr spc="85" dirty="0"/>
              <a:t> </a:t>
            </a:r>
            <a:r>
              <a:rPr spc="55" dirty="0"/>
              <a:t>layers</a:t>
            </a:r>
            <a:r>
              <a:rPr spc="6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spc="85" dirty="0"/>
              <a:t>memory</a:t>
            </a:r>
            <a:r>
              <a:rPr spc="60" dirty="0"/>
              <a:t> </a:t>
            </a:r>
            <a:r>
              <a:rPr spc="80" dirty="0"/>
              <a:t>between</a:t>
            </a:r>
            <a:r>
              <a:rPr spc="75" dirty="0"/>
              <a:t> </a:t>
            </a:r>
            <a:r>
              <a:rPr dirty="0"/>
              <a:t>the</a:t>
            </a:r>
            <a:r>
              <a:rPr spc="85" dirty="0"/>
              <a:t> </a:t>
            </a:r>
            <a:r>
              <a:rPr spc="70" dirty="0"/>
              <a:t>processor</a:t>
            </a:r>
            <a:r>
              <a:rPr spc="90" dirty="0"/>
              <a:t> </a:t>
            </a:r>
            <a:r>
              <a:rPr spc="75" dirty="0"/>
              <a:t>and</a:t>
            </a:r>
            <a:r>
              <a:rPr spc="80" dirty="0"/>
              <a:t> </a:t>
            </a:r>
            <a:r>
              <a:rPr spc="-20" dirty="0"/>
              <a:t>main </a:t>
            </a:r>
            <a:r>
              <a:rPr spc="75" dirty="0"/>
              <a:t>memory</a:t>
            </a:r>
          </a:p>
          <a:p>
            <a:pPr marL="240665" indent="-227965">
              <a:lnSpc>
                <a:spcPct val="100000"/>
              </a:lnSpc>
              <a:spcBef>
                <a:spcPts val="20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dirty="0"/>
              <a:t>Is</a:t>
            </a:r>
            <a:r>
              <a:rPr spc="105" dirty="0"/>
              <a:t> </a:t>
            </a:r>
            <a:r>
              <a:rPr spc="65" dirty="0"/>
              <a:t>smaller</a:t>
            </a:r>
            <a:r>
              <a:rPr spc="100" dirty="0"/>
              <a:t> </a:t>
            </a:r>
            <a:r>
              <a:rPr spc="75" dirty="0"/>
              <a:t>and</a:t>
            </a:r>
            <a:r>
              <a:rPr spc="120" dirty="0"/>
              <a:t> </a:t>
            </a:r>
            <a:r>
              <a:rPr dirty="0"/>
              <a:t>faster</a:t>
            </a:r>
            <a:r>
              <a:rPr spc="120" dirty="0"/>
              <a:t> </a:t>
            </a:r>
            <a:r>
              <a:rPr dirty="0"/>
              <a:t>than</a:t>
            </a:r>
            <a:r>
              <a:rPr spc="95" dirty="0"/>
              <a:t> </a:t>
            </a:r>
            <a:r>
              <a:rPr spc="50" dirty="0"/>
              <a:t>main</a:t>
            </a:r>
            <a:r>
              <a:rPr spc="125" dirty="0"/>
              <a:t> </a:t>
            </a:r>
            <a:r>
              <a:rPr spc="75" dirty="0"/>
              <a:t>memory</a:t>
            </a:r>
          </a:p>
          <a:p>
            <a:pPr marL="241300" marR="149225" indent="-228600">
              <a:lnSpc>
                <a:spcPct val="100000"/>
              </a:lnSpc>
              <a:spcBef>
                <a:spcPts val="198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pc="100" dirty="0"/>
              <a:t>Used</a:t>
            </a:r>
            <a:r>
              <a:rPr spc="75" dirty="0"/>
              <a:t> </a:t>
            </a:r>
            <a:r>
              <a:rPr dirty="0"/>
              <a:t>to</a:t>
            </a:r>
            <a:r>
              <a:rPr spc="85" dirty="0"/>
              <a:t> </a:t>
            </a:r>
            <a:r>
              <a:rPr spc="125" dirty="0"/>
              <a:t>speed</a:t>
            </a:r>
            <a:r>
              <a:rPr spc="70" dirty="0"/>
              <a:t> </a:t>
            </a:r>
            <a:r>
              <a:rPr spc="75" dirty="0"/>
              <a:t>up</a:t>
            </a:r>
            <a:r>
              <a:rPr spc="85" dirty="0"/>
              <a:t> memory</a:t>
            </a:r>
            <a:r>
              <a:rPr spc="60" dirty="0"/>
              <a:t> </a:t>
            </a:r>
            <a:r>
              <a:rPr spc="105" dirty="0"/>
              <a:t>access</a:t>
            </a:r>
            <a:r>
              <a:rPr spc="45" dirty="0"/>
              <a:t> </a:t>
            </a:r>
            <a:r>
              <a:rPr spc="105" dirty="0"/>
              <a:t>by</a:t>
            </a:r>
            <a:r>
              <a:rPr spc="75" dirty="0"/>
              <a:t> </a:t>
            </a:r>
            <a:r>
              <a:rPr spc="100" dirty="0"/>
              <a:t>placing</a:t>
            </a:r>
            <a:r>
              <a:rPr spc="70" dirty="0"/>
              <a:t> </a:t>
            </a:r>
            <a:r>
              <a:rPr dirty="0"/>
              <a:t>in</a:t>
            </a:r>
            <a:r>
              <a:rPr spc="85" dirty="0"/>
              <a:t> </a:t>
            </a:r>
            <a:r>
              <a:rPr dirty="0"/>
              <a:t>the</a:t>
            </a:r>
            <a:r>
              <a:rPr spc="85" dirty="0"/>
              <a:t> </a:t>
            </a:r>
            <a:r>
              <a:rPr spc="95" dirty="0"/>
              <a:t>cache </a:t>
            </a:r>
            <a:r>
              <a:rPr spc="55" dirty="0"/>
              <a:t>data</a:t>
            </a:r>
            <a:r>
              <a:rPr spc="75" dirty="0"/>
              <a:t> </a:t>
            </a:r>
            <a:r>
              <a:rPr dirty="0"/>
              <a:t>from</a:t>
            </a:r>
            <a:r>
              <a:rPr spc="75" dirty="0"/>
              <a:t> </a:t>
            </a:r>
            <a:r>
              <a:rPr spc="50" dirty="0"/>
              <a:t>main</a:t>
            </a:r>
            <a:r>
              <a:rPr spc="85" dirty="0"/>
              <a:t> memory</a:t>
            </a:r>
            <a:r>
              <a:rPr spc="60" dirty="0"/>
              <a:t> </a:t>
            </a:r>
            <a:r>
              <a:rPr dirty="0"/>
              <a:t>that</a:t>
            </a:r>
            <a:r>
              <a:rPr spc="70" dirty="0"/>
              <a:t> </a:t>
            </a:r>
            <a:r>
              <a:rPr dirty="0"/>
              <a:t>is</a:t>
            </a:r>
            <a:r>
              <a:rPr spc="85" dirty="0"/>
              <a:t> </a:t>
            </a:r>
            <a:r>
              <a:rPr spc="65" dirty="0"/>
              <a:t>likely</a:t>
            </a:r>
            <a:r>
              <a:rPr spc="60" dirty="0"/>
              <a:t> </a:t>
            </a:r>
            <a:r>
              <a:rPr dirty="0"/>
              <a:t>to</a:t>
            </a:r>
            <a:r>
              <a:rPr spc="85" dirty="0"/>
              <a:t> </a:t>
            </a:r>
            <a:r>
              <a:rPr spc="170" dirty="0"/>
              <a:t>be</a:t>
            </a:r>
            <a:r>
              <a:rPr spc="80" dirty="0"/>
              <a:t> </a:t>
            </a:r>
            <a:r>
              <a:rPr spc="95" dirty="0"/>
              <a:t>used</a:t>
            </a:r>
            <a:r>
              <a:rPr spc="75" dirty="0"/>
              <a:t> </a:t>
            </a:r>
            <a:r>
              <a:rPr dirty="0"/>
              <a:t>in</a:t>
            </a:r>
            <a:r>
              <a:rPr spc="85" dirty="0"/>
              <a:t> </a:t>
            </a:r>
            <a:r>
              <a:rPr dirty="0"/>
              <a:t>the</a:t>
            </a:r>
            <a:r>
              <a:rPr spc="85" dirty="0"/>
              <a:t> </a:t>
            </a:r>
            <a:r>
              <a:rPr spc="50" dirty="0"/>
              <a:t>near </a:t>
            </a:r>
            <a:r>
              <a:rPr spc="-10" dirty="0"/>
              <a:t>future</a:t>
            </a:r>
          </a:p>
          <a:p>
            <a:pPr marL="241300" marR="5080" indent="-228600">
              <a:lnSpc>
                <a:spcPct val="100000"/>
              </a:lnSpc>
              <a:spcBef>
                <a:spcPts val="201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pc="135" dirty="0"/>
              <a:t>A</a:t>
            </a:r>
            <a:r>
              <a:rPr spc="70" dirty="0"/>
              <a:t> greater</a:t>
            </a:r>
            <a:r>
              <a:rPr spc="60" dirty="0"/>
              <a:t> </a:t>
            </a:r>
            <a:r>
              <a:rPr spc="80" dirty="0"/>
              <a:t>performance</a:t>
            </a:r>
            <a:r>
              <a:rPr spc="45" dirty="0"/>
              <a:t> </a:t>
            </a:r>
            <a:r>
              <a:rPr spc="50" dirty="0"/>
              <a:t>improvement</a:t>
            </a:r>
            <a:r>
              <a:rPr spc="60" dirty="0"/>
              <a:t> </a:t>
            </a:r>
            <a:r>
              <a:rPr spc="75" dirty="0"/>
              <a:t>may</a:t>
            </a:r>
            <a:r>
              <a:rPr spc="50" dirty="0"/>
              <a:t> </a:t>
            </a:r>
            <a:r>
              <a:rPr spc="170" dirty="0"/>
              <a:t>be</a:t>
            </a:r>
            <a:r>
              <a:rPr spc="70" dirty="0"/>
              <a:t> </a:t>
            </a:r>
            <a:r>
              <a:rPr spc="75" dirty="0"/>
              <a:t>obtained</a:t>
            </a:r>
            <a:r>
              <a:rPr spc="45" dirty="0"/>
              <a:t> </a:t>
            </a:r>
            <a:r>
              <a:rPr spc="70" dirty="0"/>
              <a:t>by </a:t>
            </a:r>
            <a:r>
              <a:rPr spc="75" dirty="0"/>
              <a:t>using</a:t>
            </a:r>
            <a:r>
              <a:rPr spc="45" dirty="0"/>
              <a:t> multiple</a:t>
            </a:r>
            <a:r>
              <a:rPr spc="60" dirty="0"/>
              <a:t> </a:t>
            </a:r>
            <a:r>
              <a:rPr spc="70" dirty="0"/>
              <a:t>levels</a:t>
            </a:r>
            <a:r>
              <a:rPr spc="50" dirty="0"/>
              <a:t> </a:t>
            </a:r>
            <a:r>
              <a:rPr dirty="0"/>
              <a:t>of</a:t>
            </a:r>
            <a:r>
              <a:rPr spc="60" dirty="0"/>
              <a:t> </a:t>
            </a:r>
            <a:r>
              <a:rPr spc="120" dirty="0"/>
              <a:t>cache,</a:t>
            </a:r>
            <a:r>
              <a:rPr spc="-120" dirty="0"/>
              <a:t> </a:t>
            </a:r>
            <a:r>
              <a:rPr dirty="0"/>
              <a:t>with</a:t>
            </a:r>
            <a:r>
              <a:rPr spc="40" dirty="0"/>
              <a:t> </a:t>
            </a:r>
            <a:r>
              <a:rPr spc="70" dirty="0"/>
              <a:t>level</a:t>
            </a:r>
            <a:r>
              <a:rPr spc="55" dirty="0"/>
              <a:t> </a:t>
            </a:r>
            <a:r>
              <a:rPr dirty="0"/>
              <a:t>1</a:t>
            </a:r>
            <a:r>
              <a:rPr spc="70" dirty="0"/>
              <a:t> </a:t>
            </a:r>
            <a:r>
              <a:rPr dirty="0"/>
              <a:t>(L1)</a:t>
            </a:r>
            <a:r>
              <a:rPr spc="30" dirty="0"/>
              <a:t> </a:t>
            </a:r>
            <a:r>
              <a:rPr spc="60" dirty="0"/>
              <a:t>closest</a:t>
            </a:r>
            <a:r>
              <a:rPr spc="50" dirty="0"/>
              <a:t> </a:t>
            </a:r>
            <a:r>
              <a:rPr dirty="0"/>
              <a:t>to</a:t>
            </a:r>
            <a:r>
              <a:rPr spc="60" dirty="0"/>
              <a:t> </a:t>
            </a:r>
            <a:r>
              <a:rPr spc="-25" dirty="0"/>
              <a:t>the </a:t>
            </a:r>
            <a:r>
              <a:rPr spc="80" dirty="0"/>
              <a:t>core</a:t>
            </a:r>
            <a:r>
              <a:rPr spc="70" dirty="0"/>
              <a:t> </a:t>
            </a:r>
            <a:r>
              <a:rPr spc="85" dirty="0"/>
              <a:t>and</a:t>
            </a:r>
            <a:r>
              <a:rPr spc="80" dirty="0"/>
              <a:t> </a:t>
            </a:r>
            <a:r>
              <a:rPr spc="55" dirty="0"/>
              <a:t>additional</a:t>
            </a:r>
            <a:r>
              <a:rPr spc="85" dirty="0"/>
              <a:t> </a:t>
            </a:r>
            <a:r>
              <a:rPr spc="70" dirty="0"/>
              <a:t>levels</a:t>
            </a:r>
            <a:r>
              <a:rPr spc="75" dirty="0"/>
              <a:t> </a:t>
            </a:r>
            <a:r>
              <a:rPr dirty="0"/>
              <a:t>(L2,</a:t>
            </a:r>
            <a:r>
              <a:rPr spc="-100" dirty="0"/>
              <a:t> </a:t>
            </a:r>
            <a:r>
              <a:rPr dirty="0"/>
              <a:t>L3,</a:t>
            </a:r>
            <a:r>
              <a:rPr spc="-95" dirty="0"/>
              <a:t> </a:t>
            </a:r>
            <a:r>
              <a:rPr spc="80" dirty="0"/>
              <a:t>etc.)</a:t>
            </a:r>
            <a:r>
              <a:rPr spc="85" dirty="0"/>
              <a:t> </a:t>
            </a:r>
            <a:r>
              <a:rPr spc="65" dirty="0"/>
              <a:t>progressively</a:t>
            </a:r>
            <a:r>
              <a:rPr spc="55" dirty="0"/>
              <a:t> </a:t>
            </a:r>
            <a:r>
              <a:rPr spc="-10" dirty="0"/>
              <a:t>farther </a:t>
            </a:r>
            <a:r>
              <a:rPr dirty="0"/>
              <a:t>from</a:t>
            </a:r>
            <a:r>
              <a:rPr spc="130" dirty="0"/>
              <a:t> </a:t>
            </a:r>
            <a:r>
              <a:rPr dirty="0"/>
              <a:t>the</a:t>
            </a:r>
            <a:r>
              <a:rPr spc="140" dirty="0"/>
              <a:t> </a:t>
            </a:r>
            <a:r>
              <a:rPr spc="55" dirty="0"/>
              <a:t>core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8368" y="228600"/>
            <a:ext cx="8202295" cy="6346190"/>
          </a:xfrm>
          <a:custGeom>
            <a:avLst/>
            <a:gdLst/>
            <a:ahLst/>
            <a:cxnLst/>
            <a:rect l="l" t="t" r="r" b="b"/>
            <a:pathLst>
              <a:path w="8202295" h="6346190">
                <a:moveTo>
                  <a:pt x="8202168" y="0"/>
                </a:moveTo>
                <a:lnTo>
                  <a:pt x="0" y="0"/>
                </a:lnTo>
                <a:lnTo>
                  <a:pt x="0" y="6345936"/>
                </a:lnTo>
                <a:lnTo>
                  <a:pt x="8202168" y="6345936"/>
                </a:lnTo>
                <a:lnTo>
                  <a:pt x="8202168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04060" y="3150249"/>
            <a:ext cx="289560" cy="562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360"/>
              </a:lnSpc>
            </a:pPr>
            <a:r>
              <a:rPr sz="40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6511" y="228600"/>
            <a:ext cx="212090" cy="6346190"/>
          </a:xfrm>
          <a:custGeom>
            <a:avLst/>
            <a:gdLst/>
            <a:ahLst/>
            <a:cxnLst/>
            <a:rect l="l" t="t" r="r" b="b"/>
            <a:pathLst>
              <a:path w="212090" h="6346190">
                <a:moveTo>
                  <a:pt x="211835" y="0"/>
                </a:moveTo>
                <a:lnTo>
                  <a:pt x="0" y="0"/>
                </a:lnTo>
                <a:lnTo>
                  <a:pt x="0" y="6345936"/>
                </a:lnTo>
                <a:lnTo>
                  <a:pt x="211835" y="6345936"/>
                </a:lnTo>
                <a:lnTo>
                  <a:pt x="211835" y="0"/>
                </a:lnTo>
                <a:close/>
              </a:path>
            </a:pathLst>
          </a:custGeom>
          <a:solidFill>
            <a:srgbClr val="999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 descr="Motherboard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311" y="1341119"/>
            <a:ext cx="7635240" cy="36088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50442" y="5321909"/>
            <a:ext cx="7263130" cy="852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454" algn="ctr">
              <a:lnSpc>
                <a:spcPct val="100000"/>
              </a:lnSpc>
              <a:spcBef>
                <a:spcPts val="100"/>
              </a:spcBef>
            </a:pPr>
            <a:r>
              <a:rPr sz="3200" spc="105" dirty="0">
                <a:solidFill>
                  <a:srgbClr val="FFFFFF"/>
                </a:solidFill>
                <a:latin typeface="Cambria"/>
                <a:cs typeface="Cambria"/>
              </a:rPr>
              <a:t>Figure</a:t>
            </a:r>
            <a:r>
              <a:rPr sz="32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spc="30" dirty="0">
                <a:solidFill>
                  <a:srgbClr val="FFFFFF"/>
                </a:solidFill>
                <a:latin typeface="Cambria"/>
                <a:cs typeface="Cambria"/>
              </a:rPr>
              <a:t>1.3</a:t>
            </a:r>
            <a:endParaRPr sz="3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200" spc="70" dirty="0">
                <a:solidFill>
                  <a:srgbClr val="FFFFFF"/>
                </a:solidFill>
                <a:latin typeface="Cambria"/>
                <a:cs typeface="Cambria"/>
              </a:rPr>
              <a:t>Motherboard</a:t>
            </a:r>
            <a:r>
              <a:rPr sz="22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FFFFFF"/>
                </a:solidFill>
                <a:latin typeface="Cambria"/>
                <a:cs typeface="Cambria"/>
              </a:rPr>
              <a:t>with Two</a:t>
            </a:r>
            <a:r>
              <a:rPr sz="22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FFFFFF"/>
                </a:solidFill>
                <a:latin typeface="Cambria"/>
                <a:cs typeface="Cambria"/>
              </a:rPr>
              <a:t>Intel</a:t>
            </a:r>
            <a:r>
              <a:rPr sz="22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FFFFFF"/>
                </a:solidFill>
                <a:latin typeface="Cambria"/>
                <a:cs typeface="Cambria"/>
              </a:rPr>
              <a:t>Quad-</a:t>
            </a:r>
            <a:r>
              <a:rPr sz="2200" spc="150" dirty="0">
                <a:solidFill>
                  <a:srgbClr val="FFFFFF"/>
                </a:solidFill>
                <a:latin typeface="Cambria"/>
                <a:cs typeface="Cambria"/>
              </a:rPr>
              <a:t>Core</a:t>
            </a:r>
            <a:r>
              <a:rPr sz="22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FFFFFF"/>
                </a:solidFill>
                <a:latin typeface="Cambria"/>
                <a:cs typeface="Cambria"/>
              </a:rPr>
              <a:t>Xeon</a:t>
            </a:r>
            <a:r>
              <a:rPr sz="22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FFFFFF"/>
                </a:solidFill>
                <a:latin typeface="Cambria"/>
                <a:cs typeface="Cambria"/>
              </a:rPr>
              <a:t>Processors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2354" rIns="0" bIns="0" rtlCol="0">
            <a:spAutoFit/>
          </a:bodyPr>
          <a:lstStyle/>
          <a:p>
            <a:pPr marL="62420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0413" y="200914"/>
            <a:ext cx="286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79704" y="336804"/>
            <a:ext cx="7232650" cy="2070735"/>
            <a:chOff x="679704" y="336804"/>
            <a:chExt cx="7232650" cy="20707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2804" y="336804"/>
              <a:ext cx="3345942" cy="13388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704" y="1068323"/>
              <a:ext cx="7232142" cy="1338834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042822" y="497281"/>
            <a:ext cx="646874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43100">
              <a:lnSpc>
                <a:spcPct val="100000"/>
              </a:lnSpc>
              <a:spcBef>
                <a:spcPts val="100"/>
              </a:spcBef>
            </a:pPr>
            <a:r>
              <a:rPr sz="4800" spc="150" dirty="0"/>
              <a:t>Table </a:t>
            </a:r>
            <a:r>
              <a:rPr sz="4800" spc="55" dirty="0"/>
              <a:t>1.2 </a:t>
            </a:r>
            <a:r>
              <a:rPr sz="4800" spc="229" dirty="0"/>
              <a:t>Computer</a:t>
            </a:r>
            <a:r>
              <a:rPr sz="4800" spc="145" dirty="0"/>
              <a:t> </a:t>
            </a:r>
            <a:r>
              <a:rPr sz="4800" spc="170" dirty="0"/>
              <a:t>Generations</a:t>
            </a:r>
            <a:endParaRPr sz="480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84276" y="2849356"/>
          <a:ext cx="7899400" cy="2569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0785"/>
                <a:gridCol w="1338580"/>
                <a:gridCol w="2613660"/>
                <a:gridCol w="2746375"/>
              </a:tblGrid>
              <a:tr h="560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550" b="1" spc="-10" dirty="0">
                          <a:latin typeface="Times New Roman"/>
                          <a:cs typeface="Times New Roman"/>
                        </a:rPr>
                        <a:t>Generation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41325" marR="91440" indent="-325755">
                        <a:lnSpc>
                          <a:spcPts val="1700"/>
                        </a:lnSpc>
                        <a:spcBef>
                          <a:spcPts val="509"/>
                        </a:spcBef>
                      </a:pPr>
                      <a:r>
                        <a:rPr sz="1550" b="1" spc="-10" dirty="0">
                          <a:latin typeface="Times New Roman"/>
                          <a:cs typeface="Times New Roman"/>
                        </a:rPr>
                        <a:t>Approximate Dates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64769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822325">
                        <a:lnSpc>
                          <a:spcPct val="100000"/>
                        </a:lnSpc>
                      </a:pPr>
                      <a:r>
                        <a:rPr sz="1550" b="1" spc="-10" dirty="0">
                          <a:latin typeface="Times New Roman"/>
                          <a:cs typeface="Times New Roman"/>
                        </a:rPr>
                        <a:t>Technology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8460" marR="375285" indent="394335">
                        <a:lnSpc>
                          <a:spcPts val="1960"/>
                        </a:lnSpc>
                        <a:spcBef>
                          <a:spcPts val="35"/>
                        </a:spcBef>
                      </a:pPr>
                      <a:r>
                        <a:rPr sz="1550" b="1" dirty="0">
                          <a:latin typeface="Times New Roman"/>
                          <a:cs typeface="Times New Roman"/>
                        </a:rPr>
                        <a:t>Typical </a:t>
                      </a:r>
                      <a:r>
                        <a:rPr sz="1550" b="1" spc="-20" dirty="0">
                          <a:latin typeface="Times New Roman"/>
                          <a:cs typeface="Times New Roman"/>
                        </a:rPr>
                        <a:t>Speed </a:t>
                      </a:r>
                      <a:r>
                        <a:rPr sz="1550" b="1" dirty="0">
                          <a:latin typeface="Times New Roman"/>
                          <a:cs typeface="Times New Roman"/>
                        </a:rPr>
                        <a:t>(operations</a:t>
                      </a:r>
                      <a:r>
                        <a:rPr sz="15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b="1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5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b="1" spc="-10" dirty="0">
                          <a:latin typeface="Times New Roman"/>
                          <a:cs typeface="Times New Roman"/>
                        </a:rPr>
                        <a:t>second)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50" dirty="0">
                          <a:latin typeface="Times New Roman"/>
                          <a:cs typeface="Times New Roman"/>
                        </a:rPr>
                        <a:t>1946–</a:t>
                      </a:r>
                      <a:r>
                        <a:rPr sz="1550" spc="-20" dirty="0">
                          <a:latin typeface="Times New Roman"/>
                          <a:cs typeface="Times New Roman"/>
                        </a:rPr>
                        <a:t>1957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50" dirty="0">
                          <a:latin typeface="Times New Roman"/>
                          <a:cs typeface="Times New Roman"/>
                        </a:rPr>
                        <a:t>Vacuum</a:t>
                      </a:r>
                      <a:r>
                        <a:rPr sz="1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-20" dirty="0">
                          <a:latin typeface="Times New Roman"/>
                          <a:cs typeface="Times New Roman"/>
                        </a:rPr>
                        <a:t>tube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1630" algn="ctr">
                        <a:lnSpc>
                          <a:spcPts val="1689"/>
                        </a:lnSpc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40,000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</a:tr>
              <a:tr h="299085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55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550" dirty="0">
                          <a:latin typeface="Times New Roman"/>
                          <a:cs typeface="Times New Roman"/>
                        </a:rPr>
                        <a:t>1957–</a:t>
                      </a:r>
                      <a:r>
                        <a:rPr sz="1550" spc="-20" dirty="0">
                          <a:latin typeface="Times New Roman"/>
                          <a:cs typeface="Times New Roman"/>
                        </a:rPr>
                        <a:t>1964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Transistor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12494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200,000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R w="3175">
                      <a:solidFill>
                        <a:srgbClr val="000000"/>
                      </a:solidFill>
                      <a:prstDash val="solid"/>
                    </a:lnR>
                    <a:solidFill>
                      <a:srgbClr val="CCFFCC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marL="9525" algn="ctr">
                        <a:lnSpc>
                          <a:spcPts val="1839"/>
                        </a:lnSpc>
                        <a:spcBef>
                          <a:spcPts val="285"/>
                        </a:spcBef>
                      </a:pPr>
                      <a:r>
                        <a:rPr sz="155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839"/>
                        </a:lnSpc>
                        <a:spcBef>
                          <a:spcPts val="285"/>
                        </a:spcBef>
                      </a:pPr>
                      <a:r>
                        <a:rPr sz="1550" dirty="0">
                          <a:latin typeface="Times New Roman"/>
                          <a:cs typeface="Times New Roman"/>
                        </a:rPr>
                        <a:t>1965–</a:t>
                      </a:r>
                      <a:r>
                        <a:rPr sz="1550" spc="-20" dirty="0">
                          <a:latin typeface="Times New Roman"/>
                          <a:cs typeface="Times New Roman"/>
                        </a:rPr>
                        <a:t>1971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39"/>
                        </a:lnSpc>
                        <a:spcBef>
                          <a:spcPts val="285"/>
                        </a:spcBef>
                      </a:pPr>
                      <a:r>
                        <a:rPr sz="1550" dirty="0">
                          <a:latin typeface="Times New Roman"/>
                          <a:cs typeface="Times New Roman"/>
                        </a:rPr>
                        <a:t>Small</a:t>
                      </a:r>
                      <a:r>
                        <a:rPr sz="1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dirty="0">
                          <a:latin typeface="Times New Roman"/>
                          <a:cs typeface="Times New Roman"/>
                        </a:rPr>
                        <a:t>medium</a:t>
                      </a:r>
                      <a:r>
                        <a:rPr sz="1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-20" dirty="0">
                          <a:latin typeface="Times New Roman"/>
                          <a:cs typeface="Times New Roman"/>
                        </a:rPr>
                        <a:t>scale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76327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1,000,000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R w="3175">
                      <a:solidFill>
                        <a:srgbClr val="000000"/>
                      </a:solidFill>
                      <a:prstDash val="solid"/>
                    </a:lnR>
                    <a:solidFill>
                      <a:srgbClr val="CCFFCC"/>
                    </a:solidFill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755"/>
                        </a:lnSpc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integration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solidFill>
                      <a:srgbClr val="CCFFCC"/>
                    </a:solidFill>
                  </a:tcPr>
                </a:tc>
              </a:tr>
              <a:tr h="290830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5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50" dirty="0">
                          <a:latin typeface="Times New Roman"/>
                          <a:cs typeface="Times New Roman"/>
                        </a:rPr>
                        <a:t>1972–</a:t>
                      </a:r>
                      <a:r>
                        <a:rPr sz="1550" spc="-20" dirty="0">
                          <a:latin typeface="Times New Roman"/>
                          <a:cs typeface="Times New Roman"/>
                        </a:rPr>
                        <a:t>1977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50" dirty="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sz="1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dirty="0"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sz="1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integration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64210">
                        <a:lnSpc>
                          <a:spcPts val="1820"/>
                        </a:lnSpc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10,000,000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solidFill>
                      <a:srgbClr val="CCFFCC"/>
                    </a:solidFill>
                  </a:tcPr>
                </a:tc>
              </a:tr>
              <a:tr h="299085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dirty="0">
                          <a:latin typeface="Times New Roman"/>
                          <a:cs typeface="Times New Roman"/>
                        </a:rPr>
                        <a:t>1978–</a:t>
                      </a:r>
                      <a:r>
                        <a:rPr sz="1550" spc="-20" dirty="0">
                          <a:latin typeface="Times New Roman"/>
                          <a:cs typeface="Times New Roman"/>
                        </a:rPr>
                        <a:t>1991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dirty="0">
                          <a:latin typeface="Times New Roman"/>
                          <a:cs typeface="Times New Roman"/>
                        </a:rPr>
                        <a:t>Very large</a:t>
                      </a:r>
                      <a:r>
                        <a:rPr sz="1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dirty="0"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sz="1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integration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100,000,000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R w="3175">
                      <a:solidFill>
                        <a:srgbClr val="000000"/>
                      </a:solidFill>
                      <a:prstDash val="solid"/>
                    </a:lnR>
                    <a:solidFill>
                      <a:srgbClr val="CCFFCC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55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550" dirty="0">
                          <a:latin typeface="Times New Roman"/>
                          <a:cs typeface="Times New Roman"/>
                        </a:rPr>
                        <a:t>1991-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550" dirty="0">
                          <a:latin typeface="Times New Roman"/>
                          <a:cs typeface="Times New Roman"/>
                        </a:rPr>
                        <a:t>Ultra</a:t>
                      </a:r>
                      <a:r>
                        <a:rPr sz="1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dirty="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sz="1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dirty="0"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sz="1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integration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550" spc="-10" dirty="0">
                          <a:latin typeface="Times New Roman"/>
                          <a:cs typeface="Times New Roman"/>
                        </a:rPr>
                        <a:t>&gt;1,000,000,000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R w="31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6324" y="281940"/>
            <a:ext cx="8547100" cy="1600200"/>
            <a:chOff x="306324" y="281940"/>
            <a:chExt cx="8547100" cy="1600200"/>
          </a:xfrm>
        </p:grpSpPr>
        <p:sp>
          <p:nvSpPr>
            <p:cNvPr id="3" name="object 3"/>
            <p:cNvSpPr/>
            <p:nvPr/>
          </p:nvSpPr>
          <p:spPr>
            <a:xfrm>
              <a:off x="8211312" y="281940"/>
              <a:ext cx="641985" cy="1600200"/>
            </a:xfrm>
            <a:custGeom>
              <a:avLst/>
              <a:gdLst/>
              <a:ahLst/>
              <a:cxnLst/>
              <a:rect l="l" t="t" r="r" b="b"/>
              <a:pathLst>
                <a:path w="641984" h="1600200">
                  <a:moveTo>
                    <a:pt x="641603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641603" y="1600199"/>
                  </a:lnTo>
                  <a:lnTo>
                    <a:pt x="641603" y="0"/>
                  </a:lnTo>
                  <a:close/>
                </a:path>
              </a:pathLst>
            </a:custGeom>
            <a:solidFill>
              <a:srgbClr val="66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68055" y="281940"/>
              <a:ext cx="91440" cy="1600200"/>
            </a:xfrm>
            <a:custGeom>
              <a:avLst/>
              <a:gdLst/>
              <a:ahLst/>
              <a:cxnLst/>
              <a:rect l="l" t="t" r="r" b="b"/>
              <a:pathLst>
                <a:path w="91440" h="1600200">
                  <a:moveTo>
                    <a:pt x="91440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91440" y="1600199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324" y="382524"/>
              <a:ext cx="5093970" cy="100965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44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60" dirty="0"/>
              <a:t>History</a:t>
            </a:r>
            <a:r>
              <a:rPr sz="3600" spc="135" dirty="0"/>
              <a:t> </a:t>
            </a:r>
            <a:r>
              <a:rPr sz="3600" dirty="0"/>
              <a:t>of</a:t>
            </a:r>
            <a:r>
              <a:rPr sz="3600" spc="145" dirty="0"/>
              <a:t> </a:t>
            </a:r>
            <a:r>
              <a:rPr sz="3600" spc="155" dirty="0"/>
              <a:t>Computers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540" y="2301367"/>
            <a:ext cx="7113270" cy="38531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Vacuum</a:t>
            </a:r>
            <a:r>
              <a:rPr sz="20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tubes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were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used</a:t>
            </a:r>
            <a:r>
              <a:rPr sz="20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for</a:t>
            </a:r>
            <a:r>
              <a:rPr sz="20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digital</a:t>
            </a:r>
            <a:r>
              <a:rPr sz="20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logic</a:t>
            </a:r>
            <a:endParaRPr sz="2000">
              <a:latin typeface="Cambria"/>
              <a:cs typeface="Cambria"/>
            </a:endParaRPr>
          </a:p>
          <a:p>
            <a:pPr marL="240665">
              <a:lnSpc>
                <a:spcPct val="100000"/>
              </a:lnSpc>
            </a:pP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elements</a:t>
            </a:r>
            <a:r>
              <a:rPr sz="20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memory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2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IAS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computer</a:t>
            </a:r>
            <a:endParaRPr sz="2000">
              <a:latin typeface="Cambria"/>
              <a:cs typeface="Cambria"/>
            </a:endParaRPr>
          </a:p>
          <a:p>
            <a:pPr marL="468630" lvl="1" indent="-227965">
              <a:lnSpc>
                <a:spcPct val="100000"/>
              </a:lnSpc>
              <a:spcBef>
                <a:spcPts val="121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8630" algn="l"/>
              </a:tabLst>
            </a:pP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Fundamental</a:t>
            </a:r>
            <a:r>
              <a:rPr sz="18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design</a:t>
            </a:r>
            <a:r>
              <a:rPr sz="1800" spc="1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approach</a:t>
            </a:r>
            <a:r>
              <a:rPr sz="18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was</a:t>
            </a:r>
            <a:r>
              <a:rPr sz="18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1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stored</a:t>
            </a:r>
            <a:r>
              <a:rPr sz="18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program</a:t>
            </a:r>
            <a:r>
              <a:rPr sz="18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concept</a:t>
            </a:r>
            <a:endParaRPr sz="1800">
              <a:latin typeface="Cambria"/>
              <a:cs typeface="Cambria"/>
            </a:endParaRPr>
          </a:p>
          <a:p>
            <a:pPr marL="697230" lvl="2" indent="-227965">
              <a:lnSpc>
                <a:spcPct val="100000"/>
              </a:lnSpc>
              <a:spcBef>
                <a:spcPts val="59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230" algn="l"/>
              </a:tabLst>
            </a:pP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Attributed</a:t>
            </a:r>
            <a:r>
              <a:rPr sz="18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8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mathematician</a:t>
            </a:r>
            <a:r>
              <a:rPr sz="18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John</a:t>
            </a:r>
            <a:r>
              <a:rPr sz="1800" spc="1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von</a:t>
            </a:r>
            <a:r>
              <a:rPr sz="18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Neumann</a:t>
            </a:r>
            <a:endParaRPr sz="1800">
              <a:latin typeface="Cambria"/>
              <a:cs typeface="Cambria"/>
            </a:endParaRPr>
          </a:p>
          <a:p>
            <a:pPr marL="697230" lvl="2" indent="-227965">
              <a:lnSpc>
                <a:spcPct val="100000"/>
              </a:lnSpc>
              <a:spcBef>
                <a:spcPts val="12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230" algn="l"/>
              </a:tabLst>
            </a:pP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First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publication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8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idea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was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1945</a:t>
            </a:r>
            <a:r>
              <a:rPr sz="18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for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585858"/>
                </a:solidFill>
                <a:latin typeface="Cambria"/>
                <a:cs typeface="Cambria"/>
              </a:rPr>
              <a:t>EDVAC</a:t>
            </a:r>
            <a:endParaRPr sz="1800">
              <a:latin typeface="Cambria"/>
              <a:cs typeface="Cambria"/>
            </a:endParaRPr>
          </a:p>
          <a:p>
            <a:pPr marL="469265" marR="259715" lvl="1" indent="-228600">
              <a:lnSpc>
                <a:spcPct val="100000"/>
              </a:lnSpc>
              <a:spcBef>
                <a:spcPts val="12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Design</a:t>
            </a:r>
            <a:r>
              <a:rPr sz="18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20" dirty="0">
                <a:solidFill>
                  <a:srgbClr val="585858"/>
                </a:solidFill>
                <a:latin typeface="Cambria"/>
                <a:cs typeface="Cambria"/>
              </a:rPr>
              <a:t>began</a:t>
            </a:r>
            <a:r>
              <a:rPr sz="18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at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Princeton</a:t>
            </a:r>
            <a:r>
              <a:rPr sz="1800" spc="1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Institute</a:t>
            </a:r>
            <a:r>
              <a:rPr sz="180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sz="180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FF0000"/>
                </a:solidFill>
                <a:latin typeface="Cambria"/>
                <a:cs typeface="Cambria"/>
              </a:rPr>
              <a:t>Advanced</a:t>
            </a:r>
            <a:r>
              <a:rPr sz="180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Studies </a:t>
            </a:r>
            <a:r>
              <a:rPr sz="1800" spc="-10" dirty="0">
                <a:solidFill>
                  <a:srgbClr val="585858"/>
                </a:solidFill>
                <a:latin typeface="Cambria"/>
                <a:cs typeface="Cambria"/>
              </a:rPr>
              <a:t>(IAS)</a:t>
            </a:r>
            <a:endParaRPr sz="1800">
              <a:latin typeface="Cambria"/>
              <a:cs typeface="Cambria"/>
            </a:endParaRPr>
          </a:p>
          <a:p>
            <a:pPr marL="468630" lvl="1" indent="-227965">
              <a:lnSpc>
                <a:spcPct val="100000"/>
              </a:lnSpc>
              <a:spcBef>
                <a:spcPts val="120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8630" algn="l"/>
              </a:tabLst>
            </a:pPr>
            <a:r>
              <a:rPr sz="1800" spc="105" dirty="0">
                <a:solidFill>
                  <a:srgbClr val="585858"/>
                </a:solidFill>
                <a:latin typeface="Cambria"/>
                <a:cs typeface="Cambria"/>
              </a:rPr>
              <a:t>Completed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8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20" dirty="0">
                <a:solidFill>
                  <a:srgbClr val="585858"/>
                </a:solidFill>
                <a:latin typeface="Cambria"/>
                <a:cs typeface="Cambria"/>
              </a:rPr>
              <a:t>1952</a:t>
            </a:r>
            <a:endParaRPr sz="1800">
              <a:latin typeface="Cambria"/>
              <a:cs typeface="Cambria"/>
            </a:endParaRPr>
          </a:p>
          <a:p>
            <a:pPr marL="468630" lvl="1" indent="-227965">
              <a:lnSpc>
                <a:spcPct val="100000"/>
              </a:lnSpc>
              <a:spcBef>
                <a:spcPts val="12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8630" algn="l"/>
              </a:tabLst>
            </a:pP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Prototype</a:t>
            </a:r>
            <a:r>
              <a:rPr sz="18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8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all</a:t>
            </a:r>
            <a:r>
              <a:rPr sz="18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subsequent</a:t>
            </a:r>
            <a:r>
              <a:rPr sz="1800" spc="1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general-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purpose</a:t>
            </a:r>
            <a:r>
              <a:rPr sz="18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computers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775" y="1042416"/>
            <a:ext cx="7341870" cy="10096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45844" y="1160729"/>
            <a:ext cx="67697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663366"/>
                </a:solidFill>
                <a:latin typeface="Cambria"/>
                <a:cs typeface="Cambria"/>
              </a:rPr>
              <a:t>First</a:t>
            </a:r>
            <a:r>
              <a:rPr sz="3600" spc="140" dirty="0">
                <a:solidFill>
                  <a:srgbClr val="663366"/>
                </a:solidFill>
                <a:latin typeface="Cambria"/>
                <a:cs typeface="Cambria"/>
              </a:rPr>
              <a:t> </a:t>
            </a:r>
            <a:r>
              <a:rPr sz="3600" spc="145" dirty="0">
                <a:solidFill>
                  <a:srgbClr val="663366"/>
                </a:solidFill>
                <a:latin typeface="Cambria"/>
                <a:cs typeface="Cambria"/>
              </a:rPr>
              <a:t>Generation:</a:t>
            </a:r>
            <a:r>
              <a:rPr sz="3600" spc="455" dirty="0">
                <a:solidFill>
                  <a:srgbClr val="663366"/>
                </a:solidFill>
                <a:latin typeface="Cambria"/>
                <a:cs typeface="Cambria"/>
              </a:rPr>
              <a:t> </a:t>
            </a:r>
            <a:r>
              <a:rPr sz="3600" spc="85" dirty="0">
                <a:solidFill>
                  <a:srgbClr val="663366"/>
                </a:solidFill>
                <a:latin typeface="Cambria"/>
                <a:cs typeface="Cambria"/>
              </a:rPr>
              <a:t>Vacuum</a:t>
            </a:r>
            <a:r>
              <a:rPr sz="3600" spc="-15" dirty="0">
                <a:solidFill>
                  <a:srgbClr val="663366"/>
                </a:solidFill>
                <a:latin typeface="Cambria"/>
                <a:cs typeface="Cambria"/>
              </a:rPr>
              <a:t> </a:t>
            </a:r>
            <a:r>
              <a:rPr sz="3600" spc="120" dirty="0">
                <a:solidFill>
                  <a:srgbClr val="663366"/>
                </a:solidFill>
                <a:latin typeface="Cambria"/>
                <a:cs typeface="Cambria"/>
              </a:rPr>
              <a:t>Tubes</a:t>
            </a:r>
            <a:endParaRPr sz="360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27064" y="1915667"/>
            <a:ext cx="2515362" cy="1722881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2651" y="1231909"/>
          <a:ext cx="8489949" cy="4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090"/>
                <a:gridCol w="8277859"/>
              </a:tblGrid>
              <a:tr h="424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EE7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5C5C5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934507" y="2059173"/>
            <a:ext cx="1357630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b="1" dirty="0">
                <a:latin typeface="Times New Roman"/>
                <a:cs typeface="Times New Roman"/>
              </a:rPr>
              <a:t>(a)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Number</a:t>
            </a:r>
            <a:r>
              <a:rPr sz="1400" b="1" spc="2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word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910" y="2089682"/>
            <a:ext cx="584200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b="1" dirty="0">
                <a:latin typeface="Times New Roman"/>
                <a:cs typeface="Times New Roman"/>
              </a:rPr>
              <a:t>sign</a:t>
            </a:r>
            <a:r>
              <a:rPr sz="1400" b="1" spc="-25" dirty="0">
                <a:latin typeface="Times New Roman"/>
                <a:cs typeface="Times New Roman"/>
              </a:rPr>
              <a:t> bit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1983" y="1016352"/>
            <a:ext cx="203200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b="1" spc="-25" dirty="0">
                <a:latin typeface="Times New Roman"/>
                <a:cs typeface="Times New Roman"/>
              </a:rPr>
              <a:t>39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2652" y="3733456"/>
          <a:ext cx="8488678" cy="42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7989"/>
                <a:gridCol w="2545715"/>
                <a:gridCol w="1697989"/>
                <a:gridCol w="2546985"/>
              </a:tblGrid>
              <a:tr h="424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EE7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EE7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5C5C5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818747" y="5033302"/>
            <a:ext cx="1581150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b="1" dirty="0">
                <a:latin typeface="Times New Roman"/>
                <a:cs typeface="Times New Roman"/>
              </a:rPr>
              <a:t>(b)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Instruction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word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81040" y="5838187"/>
            <a:ext cx="3846195" cy="3492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b="1" dirty="0">
                <a:latin typeface="Times New Roman"/>
                <a:cs typeface="Times New Roman"/>
              </a:rPr>
              <a:t>Figure</a:t>
            </a:r>
            <a:r>
              <a:rPr sz="2100" b="1" spc="-1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1.7</a:t>
            </a:r>
            <a:r>
              <a:rPr sz="2100" b="1" spc="50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IAS</a:t>
            </a:r>
            <a:r>
              <a:rPr sz="2100" b="1" spc="-1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Memory</a:t>
            </a:r>
            <a:r>
              <a:rPr sz="2100" b="1" spc="-15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Formats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4681" y="4431507"/>
            <a:ext cx="1134110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b="1" dirty="0">
                <a:latin typeface="Times New Roman"/>
                <a:cs typeface="Times New Roman"/>
              </a:rPr>
              <a:t>opcode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(8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bits)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5527" y="4431507"/>
            <a:ext cx="1273810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b="1" dirty="0">
                <a:latin typeface="Times New Roman"/>
                <a:cs typeface="Times New Roman"/>
              </a:rPr>
              <a:t>address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(12</a:t>
            </a:r>
            <a:r>
              <a:rPr sz="1400" b="1" spc="-20" dirty="0">
                <a:latin typeface="Times New Roman"/>
                <a:cs typeface="Times New Roman"/>
              </a:rPr>
              <a:t> bits)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70255" y="2930609"/>
            <a:ext cx="1812289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b="1" dirty="0">
                <a:latin typeface="Times New Roman"/>
                <a:cs typeface="Times New Roman"/>
              </a:rPr>
              <a:t>left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instruction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(20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bits)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2915" y="3517449"/>
            <a:ext cx="115570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b="1" spc="-5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1174" y="3517449"/>
            <a:ext cx="115570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b="1" spc="-50" dirty="0">
                <a:latin typeface="Times New Roman"/>
                <a:cs typeface="Times New Roman"/>
              </a:rPr>
              <a:t>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38787" y="3517449"/>
            <a:ext cx="203200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b="1" spc="-25" dirty="0">
                <a:latin typeface="Times New Roman"/>
                <a:cs typeface="Times New Roman"/>
              </a:rPr>
              <a:t>20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37046" y="3517449"/>
            <a:ext cx="203200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b="1" spc="-25" dirty="0">
                <a:latin typeface="Times New Roman"/>
                <a:cs typeface="Times New Roman"/>
              </a:rPr>
              <a:t>28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70936" y="3517449"/>
            <a:ext cx="203200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b="1" spc="-25" dirty="0">
                <a:latin typeface="Times New Roman"/>
                <a:cs typeface="Times New Roman"/>
              </a:rPr>
              <a:t>39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4022" y="1016352"/>
            <a:ext cx="327025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b="1" dirty="0">
                <a:latin typeface="Times New Roman"/>
                <a:cs typeface="Times New Roman"/>
              </a:rPr>
              <a:t>0</a:t>
            </a:r>
            <a:r>
              <a:rPr sz="1400" b="1" spc="130" dirty="0">
                <a:latin typeface="Times New Roman"/>
                <a:cs typeface="Times New Roman"/>
              </a:rPr>
              <a:t>  </a:t>
            </a:r>
            <a:r>
              <a:rPr sz="1400" b="1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19345" y="1714820"/>
            <a:ext cx="73025" cy="426084"/>
            <a:chOff x="419345" y="1714820"/>
            <a:chExt cx="73025" cy="426084"/>
          </a:xfrm>
        </p:grpSpPr>
        <p:sp>
          <p:nvSpPr>
            <p:cNvPr id="20" name="object 20"/>
            <p:cNvSpPr/>
            <p:nvPr/>
          </p:nvSpPr>
          <p:spPr>
            <a:xfrm>
              <a:off x="456107" y="1773444"/>
              <a:ext cx="0" cy="367665"/>
            </a:xfrm>
            <a:custGeom>
              <a:avLst/>
              <a:gdLst/>
              <a:ahLst/>
              <a:cxnLst/>
              <a:rect l="l" t="t" r="r" b="b"/>
              <a:pathLst>
                <a:path h="367664">
                  <a:moveTo>
                    <a:pt x="0" y="367148"/>
                  </a:moveTo>
                  <a:lnTo>
                    <a:pt x="0" y="367148"/>
                  </a:lnTo>
                  <a:lnTo>
                    <a:pt x="0" y="0"/>
                  </a:lnTo>
                </a:path>
              </a:pathLst>
            </a:custGeom>
            <a:ln w="14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9345" y="1714820"/>
              <a:ext cx="73025" cy="86995"/>
            </a:xfrm>
            <a:custGeom>
              <a:avLst/>
              <a:gdLst/>
              <a:ahLst/>
              <a:cxnLst/>
              <a:rect l="l" t="t" r="r" b="b"/>
              <a:pathLst>
                <a:path w="73025" h="86994">
                  <a:moveTo>
                    <a:pt x="36761" y="0"/>
                  </a:moveTo>
                  <a:lnTo>
                    <a:pt x="0" y="86440"/>
                  </a:lnTo>
                  <a:lnTo>
                    <a:pt x="36761" y="70887"/>
                  </a:lnTo>
                  <a:lnTo>
                    <a:pt x="72776" y="86440"/>
                  </a:lnTo>
                  <a:lnTo>
                    <a:pt x="367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349545" y="3235009"/>
            <a:ext cx="8484870" cy="149860"/>
          </a:xfrm>
          <a:custGeom>
            <a:avLst/>
            <a:gdLst/>
            <a:ahLst/>
            <a:cxnLst/>
            <a:rect l="l" t="t" r="r" b="b"/>
            <a:pathLst>
              <a:path w="8484870" h="149860">
                <a:moveTo>
                  <a:pt x="2119555" y="0"/>
                </a:moveTo>
                <a:lnTo>
                  <a:pt x="2117143" y="14543"/>
                </a:lnTo>
                <a:lnTo>
                  <a:pt x="2110032" y="27806"/>
                </a:lnTo>
                <a:lnTo>
                  <a:pt x="2062432" y="60403"/>
                </a:lnTo>
                <a:lnTo>
                  <a:pt x="2010726" y="76644"/>
                </a:lnTo>
                <a:lnTo>
                  <a:pt x="1944831" y="88958"/>
                </a:lnTo>
                <a:lnTo>
                  <a:pt x="1866281" y="97746"/>
                </a:lnTo>
                <a:lnTo>
                  <a:pt x="1822740" y="100943"/>
                </a:lnTo>
                <a:lnTo>
                  <a:pt x="1776610" y="103409"/>
                </a:lnTo>
                <a:lnTo>
                  <a:pt x="1728084" y="105193"/>
                </a:lnTo>
                <a:lnTo>
                  <a:pt x="1677352" y="106345"/>
                </a:lnTo>
                <a:lnTo>
                  <a:pt x="1624607" y="106917"/>
                </a:lnTo>
                <a:lnTo>
                  <a:pt x="1570041" y="106956"/>
                </a:lnTo>
                <a:lnTo>
                  <a:pt x="1513845" y="106515"/>
                </a:lnTo>
                <a:lnTo>
                  <a:pt x="1456210" y="105642"/>
                </a:lnTo>
                <a:lnTo>
                  <a:pt x="1397330" y="104388"/>
                </a:lnTo>
                <a:lnTo>
                  <a:pt x="1337395" y="102802"/>
                </a:lnTo>
                <a:lnTo>
                  <a:pt x="1276597" y="100935"/>
                </a:lnTo>
                <a:lnTo>
                  <a:pt x="1215128" y="98837"/>
                </a:lnTo>
                <a:lnTo>
                  <a:pt x="1153179" y="96558"/>
                </a:lnTo>
                <a:lnTo>
                  <a:pt x="1090943" y="94147"/>
                </a:lnTo>
                <a:lnTo>
                  <a:pt x="1028611" y="91655"/>
                </a:lnTo>
                <a:lnTo>
                  <a:pt x="966375" y="89132"/>
                </a:lnTo>
                <a:lnTo>
                  <a:pt x="904427" y="86628"/>
                </a:lnTo>
                <a:lnTo>
                  <a:pt x="842958" y="84192"/>
                </a:lnTo>
                <a:lnTo>
                  <a:pt x="782160" y="81876"/>
                </a:lnTo>
                <a:lnTo>
                  <a:pt x="722225" y="79728"/>
                </a:lnTo>
                <a:lnTo>
                  <a:pt x="663344" y="77799"/>
                </a:lnTo>
                <a:lnTo>
                  <a:pt x="605710" y="76139"/>
                </a:lnTo>
                <a:lnTo>
                  <a:pt x="549514" y="74797"/>
                </a:lnTo>
                <a:lnTo>
                  <a:pt x="494948" y="73825"/>
                </a:lnTo>
                <a:lnTo>
                  <a:pt x="442203" y="73272"/>
                </a:lnTo>
                <a:lnTo>
                  <a:pt x="391471" y="73187"/>
                </a:lnTo>
                <a:lnTo>
                  <a:pt x="342945" y="73622"/>
                </a:lnTo>
                <a:lnTo>
                  <a:pt x="296815" y="74625"/>
                </a:lnTo>
                <a:lnTo>
                  <a:pt x="253274" y="76247"/>
                </a:lnTo>
                <a:lnTo>
                  <a:pt x="212513" y="78539"/>
                </a:lnTo>
                <a:lnTo>
                  <a:pt x="140098" y="85329"/>
                </a:lnTo>
                <a:lnTo>
                  <a:pt x="81106" y="95395"/>
                </a:lnTo>
                <a:lnTo>
                  <a:pt x="37069" y="109137"/>
                </a:lnTo>
                <a:lnTo>
                  <a:pt x="2412" y="137519"/>
                </a:lnTo>
                <a:lnTo>
                  <a:pt x="0" y="149252"/>
                </a:lnTo>
              </a:path>
              <a:path w="8484870" h="149860">
                <a:moveTo>
                  <a:pt x="2119555" y="0"/>
                </a:moveTo>
                <a:lnTo>
                  <a:pt x="2121968" y="14543"/>
                </a:lnTo>
                <a:lnTo>
                  <a:pt x="2129077" y="27806"/>
                </a:lnTo>
                <a:lnTo>
                  <a:pt x="2176671" y="60403"/>
                </a:lnTo>
                <a:lnTo>
                  <a:pt x="2228370" y="76644"/>
                </a:lnTo>
                <a:lnTo>
                  <a:pt x="2294256" y="88958"/>
                </a:lnTo>
                <a:lnTo>
                  <a:pt x="2372796" y="97746"/>
                </a:lnTo>
                <a:lnTo>
                  <a:pt x="2416331" y="100943"/>
                </a:lnTo>
                <a:lnTo>
                  <a:pt x="2462455" y="103409"/>
                </a:lnTo>
                <a:lnTo>
                  <a:pt x="2510975" y="105193"/>
                </a:lnTo>
                <a:lnTo>
                  <a:pt x="2561699" y="106345"/>
                </a:lnTo>
                <a:lnTo>
                  <a:pt x="2614437" y="106917"/>
                </a:lnTo>
                <a:lnTo>
                  <a:pt x="2668996" y="106956"/>
                </a:lnTo>
                <a:lnTo>
                  <a:pt x="2725185" y="106515"/>
                </a:lnTo>
                <a:lnTo>
                  <a:pt x="2782811" y="105642"/>
                </a:lnTo>
                <a:lnTo>
                  <a:pt x="2841684" y="104388"/>
                </a:lnTo>
                <a:lnTo>
                  <a:pt x="2901611" y="102802"/>
                </a:lnTo>
                <a:lnTo>
                  <a:pt x="2962401" y="100935"/>
                </a:lnTo>
                <a:lnTo>
                  <a:pt x="3023862" y="98837"/>
                </a:lnTo>
                <a:lnTo>
                  <a:pt x="3085802" y="96558"/>
                </a:lnTo>
                <a:lnTo>
                  <a:pt x="3148029" y="94147"/>
                </a:lnTo>
                <a:lnTo>
                  <a:pt x="3210353" y="91655"/>
                </a:lnTo>
                <a:lnTo>
                  <a:pt x="3272581" y="89132"/>
                </a:lnTo>
                <a:lnTo>
                  <a:pt x="3334521" y="86628"/>
                </a:lnTo>
                <a:lnTo>
                  <a:pt x="3395982" y="84192"/>
                </a:lnTo>
                <a:lnTo>
                  <a:pt x="3456771" y="81876"/>
                </a:lnTo>
                <a:lnTo>
                  <a:pt x="3516698" y="79728"/>
                </a:lnTo>
                <a:lnTo>
                  <a:pt x="3575571" y="77799"/>
                </a:lnTo>
                <a:lnTo>
                  <a:pt x="3633198" y="76139"/>
                </a:lnTo>
                <a:lnTo>
                  <a:pt x="3689386" y="74797"/>
                </a:lnTo>
                <a:lnTo>
                  <a:pt x="3743945" y="73825"/>
                </a:lnTo>
                <a:lnTo>
                  <a:pt x="3796683" y="73272"/>
                </a:lnTo>
                <a:lnTo>
                  <a:pt x="3847408" y="73187"/>
                </a:lnTo>
                <a:lnTo>
                  <a:pt x="3895928" y="73622"/>
                </a:lnTo>
                <a:lnTo>
                  <a:pt x="3942051" y="74625"/>
                </a:lnTo>
                <a:lnTo>
                  <a:pt x="3985587" y="76247"/>
                </a:lnTo>
                <a:lnTo>
                  <a:pt x="4026342" y="78539"/>
                </a:lnTo>
                <a:lnTo>
                  <a:pt x="4098747" y="85329"/>
                </a:lnTo>
                <a:lnTo>
                  <a:pt x="4157731" y="95395"/>
                </a:lnTo>
                <a:lnTo>
                  <a:pt x="4201762" y="109137"/>
                </a:lnTo>
                <a:lnTo>
                  <a:pt x="4236415" y="137519"/>
                </a:lnTo>
                <a:lnTo>
                  <a:pt x="4238827" y="149252"/>
                </a:lnTo>
              </a:path>
              <a:path w="8484870" h="149860">
                <a:moveTo>
                  <a:pt x="6365128" y="0"/>
                </a:moveTo>
                <a:lnTo>
                  <a:pt x="6362714" y="14543"/>
                </a:lnTo>
                <a:lnTo>
                  <a:pt x="6355599" y="27806"/>
                </a:lnTo>
                <a:lnTo>
                  <a:pt x="6307972" y="60403"/>
                </a:lnTo>
                <a:lnTo>
                  <a:pt x="6256237" y="76644"/>
                </a:lnTo>
                <a:lnTo>
                  <a:pt x="6190304" y="88958"/>
                </a:lnTo>
                <a:lnTo>
                  <a:pt x="6152493" y="93768"/>
                </a:lnTo>
                <a:lnTo>
                  <a:pt x="6111709" y="97746"/>
                </a:lnTo>
                <a:lnTo>
                  <a:pt x="6068143" y="100943"/>
                </a:lnTo>
                <a:lnTo>
                  <a:pt x="6021987" y="103409"/>
                </a:lnTo>
                <a:lnTo>
                  <a:pt x="5973433" y="105193"/>
                </a:lnTo>
                <a:lnTo>
                  <a:pt x="5922672" y="106345"/>
                </a:lnTo>
                <a:lnTo>
                  <a:pt x="5869897" y="106917"/>
                </a:lnTo>
                <a:lnTo>
                  <a:pt x="5815299" y="106956"/>
                </a:lnTo>
                <a:lnTo>
                  <a:pt x="5759071" y="106515"/>
                </a:lnTo>
                <a:lnTo>
                  <a:pt x="5701404" y="105642"/>
                </a:lnTo>
                <a:lnTo>
                  <a:pt x="5642490" y="104388"/>
                </a:lnTo>
                <a:lnTo>
                  <a:pt x="5582520" y="102802"/>
                </a:lnTo>
                <a:lnTo>
                  <a:pt x="5521688" y="100935"/>
                </a:lnTo>
                <a:lnTo>
                  <a:pt x="5460184" y="98837"/>
                </a:lnTo>
                <a:lnTo>
                  <a:pt x="5398200" y="96558"/>
                </a:lnTo>
                <a:lnTo>
                  <a:pt x="5335928" y="94147"/>
                </a:lnTo>
                <a:lnTo>
                  <a:pt x="5273561" y="91655"/>
                </a:lnTo>
                <a:lnTo>
                  <a:pt x="5211289" y="89132"/>
                </a:lnTo>
                <a:lnTo>
                  <a:pt x="5149305" y="86628"/>
                </a:lnTo>
                <a:lnTo>
                  <a:pt x="5087801" y="84192"/>
                </a:lnTo>
                <a:lnTo>
                  <a:pt x="5026968" y="81876"/>
                </a:lnTo>
                <a:lnTo>
                  <a:pt x="4966999" y="79728"/>
                </a:lnTo>
                <a:lnTo>
                  <a:pt x="4908085" y="77799"/>
                </a:lnTo>
                <a:lnTo>
                  <a:pt x="4850418" y="76139"/>
                </a:lnTo>
                <a:lnTo>
                  <a:pt x="4794189" y="74797"/>
                </a:lnTo>
                <a:lnTo>
                  <a:pt x="4739592" y="73825"/>
                </a:lnTo>
                <a:lnTo>
                  <a:pt x="4686817" y="73272"/>
                </a:lnTo>
                <a:lnTo>
                  <a:pt x="4636056" y="73187"/>
                </a:lnTo>
                <a:lnTo>
                  <a:pt x="4587502" y="73622"/>
                </a:lnTo>
                <a:lnTo>
                  <a:pt x="4541346" y="74625"/>
                </a:lnTo>
                <a:lnTo>
                  <a:pt x="4497780" y="76247"/>
                </a:lnTo>
                <a:lnTo>
                  <a:pt x="4456995" y="78539"/>
                </a:lnTo>
                <a:lnTo>
                  <a:pt x="4384540" y="85329"/>
                </a:lnTo>
                <a:lnTo>
                  <a:pt x="4325514" y="95395"/>
                </a:lnTo>
                <a:lnTo>
                  <a:pt x="4281452" y="109137"/>
                </a:lnTo>
                <a:lnTo>
                  <a:pt x="4246775" y="137519"/>
                </a:lnTo>
                <a:lnTo>
                  <a:pt x="4244361" y="149252"/>
                </a:lnTo>
              </a:path>
              <a:path w="8484870" h="149860">
                <a:moveTo>
                  <a:pt x="6365128" y="0"/>
                </a:moveTo>
                <a:lnTo>
                  <a:pt x="6367541" y="14543"/>
                </a:lnTo>
                <a:lnTo>
                  <a:pt x="6374652" y="27806"/>
                </a:lnTo>
                <a:lnTo>
                  <a:pt x="6422255" y="60403"/>
                </a:lnTo>
                <a:lnTo>
                  <a:pt x="6473966" y="76644"/>
                </a:lnTo>
                <a:lnTo>
                  <a:pt x="6539866" y="88958"/>
                </a:lnTo>
                <a:lnTo>
                  <a:pt x="6618422" y="97746"/>
                </a:lnTo>
                <a:lnTo>
                  <a:pt x="6661967" y="100943"/>
                </a:lnTo>
                <a:lnTo>
                  <a:pt x="6708100" y="103409"/>
                </a:lnTo>
                <a:lnTo>
                  <a:pt x="6756630" y="105193"/>
                </a:lnTo>
                <a:lnTo>
                  <a:pt x="6807366" y="106345"/>
                </a:lnTo>
                <a:lnTo>
                  <a:pt x="6860115" y="106917"/>
                </a:lnTo>
                <a:lnTo>
                  <a:pt x="6914685" y="106956"/>
                </a:lnTo>
                <a:lnTo>
                  <a:pt x="6970886" y="106515"/>
                </a:lnTo>
                <a:lnTo>
                  <a:pt x="7028524" y="105642"/>
                </a:lnTo>
                <a:lnTo>
                  <a:pt x="7087409" y="104388"/>
                </a:lnTo>
                <a:lnTo>
                  <a:pt x="7147349" y="102802"/>
                </a:lnTo>
                <a:lnTo>
                  <a:pt x="7208152" y="100935"/>
                </a:lnTo>
                <a:lnTo>
                  <a:pt x="7269626" y="98837"/>
                </a:lnTo>
                <a:lnTo>
                  <a:pt x="7331579" y="96558"/>
                </a:lnTo>
                <a:lnTo>
                  <a:pt x="7393820" y="94147"/>
                </a:lnTo>
                <a:lnTo>
                  <a:pt x="7456157" y="91655"/>
                </a:lnTo>
                <a:lnTo>
                  <a:pt x="7518397" y="89132"/>
                </a:lnTo>
                <a:lnTo>
                  <a:pt x="7580351" y="86628"/>
                </a:lnTo>
                <a:lnTo>
                  <a:pt x="7641824" y="84192"/>
                </a:lnTo>
                <a:lnTo>
                  <a:pt x="7702627" y="81876"/>
                </a:lnTo>
                <a:lnTo>
                  <a:pt x="7762567" y="79728"/>
                </a:lnTo>
                <a:lnTo>
                  <a:pt x="7821452" y="77799"/>
                </a:lnTo>
                <a:lnTo>
                  <a:pt x="7879091" y="76139"/>
                </a:lnTo>
                <a:lnTo>
                  <a:pt x="7935291" y="74797"/>
                </a:lnTo>
                <a:lnTo>
                  <a:pt x="7989862" y="73825"/>
                </a:lnTo>
                <a:lnTo>
                  <a:pt x="8042611" y="73272"/>
                </a:lnTo>
                <a:lnTo>
                  <a:pt x="8093346" y="73187"/>
                </a:lnTo>
                <a:lnTo>
                  <a:pt x="8141877" y="73622"/>
                </a:lnTo>
                <a:lnTo>
                  <a:pt x="8188010" y="74625"/>
                </a:lnTo>
                <a:lnTo>
                  <a:pt x="8231554" y="76247"/>
                </a:lnTo>
                <a:lnTo>
                  <a:pt x="8272319" y="78539"/>
                </a:lnTo>
                <a:lnTo>
                  <a:pt x="8344739" y="85329"/>
                </a:lnTo>
                <a:lnTo>
                  <a:pt x="8403736" y="95395"/>
                </a:lnTo>
                <a:lnTo>
                  <a:pt x="8447776" y="109137"/>
                </a:lnTo>
                <a:lnTo>
                  <a:pt x="8482435" y="137519"/>
                </a:lnTo>
                <a:lnTo>
                  <a:pt x="8484848" y="149252"/>
                </a:lnTo>
              </a:path>
            </a:pathLst>
          </a:custGeom>
          <a:ln w="293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750769" y="2930609"/>
            <a:ext cx="1940560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b="1" dirty="0">
                <a:latin typeface="Times New Roman"/>
                <a:cs typeface="Times New Roman"/>
              </a:rPr>
              <a:t>right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instruction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(20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bits)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8438" y="4298320"/>
            <a:ext cx="4240530" cy="149860"/>
          </a:xfrm>
          <a:custGeom>
            <a:avLst/>
            <a:gdLst/>
            <a:ahLst/>
            <a:cxnLst/>
            <a:rect l="l" t="t" r="r" b="b"/>
            <a:pathLst>
              <a:path w="4240530" h="149860">
                <a:moveTo>
                  <a:pt x="849099" y="149252"/>
                </a:moveTo>
                <a:lnTo>
                  <a:pt x="845691" y="122901"/>
                </a:lnTo>
                <a:lnTo>
                  <a:pt x="835812" y="100953"/>
                </a:lnTo>
                <a:lnTo>
                  <a:pt x="798713" y="68921"/>
                </a:lnTo>
                <a:lnTo>
                  <a:pt x="741942" y="50467"/>
                </a:lnTo>
                <a:lnTo>
                  <a:pt x="669642" y="42901"/>
                </a:lnTo>
                <a:lnTo>
                  <a:pt x="628962" y="42361"/>
                </a:lnTo>
                <a:lnTo>
                  <a:pt x="585953" y="43535"/>
                </a:lnTo>
                <a:lnTo>
                  <a:pt x="541132" y="46087"/>
                </a:lnTo>
                <a:lnTo>
                  <a:pt x="495016" y="49680"/>
                </a:lnTo>
                <a:lnTo>
                  <a:pt x="448125" y="53978"/>
                </a:lnTo>
                <a:lnTo>
                  <a:pt x="400974" y="58646"/>
                </a:lnTo>
                <a:lnTo>
                  <a:pt x="354082" y="63347"/>
                </a:lnTo>
                <a:lnTo>
                  <a:pt x="307967" y="67745"/>
                </a:lnTo>
                <a:lnTo>
                  <a:pt x="263146" y="71504"/>
                </a:lnTo>
                <a:lnTo>
                  <a:pt x="220136" y="74288"/>
                </a:lnTo>
                <a:lnTo>
                  <a:pt x="179457" y="75760"/>
                </a:lnTo>
                <a:lnTo>
                  <a:pt x="141624" y="75585"/>
                </a:lnTo>
                <a:lnTo>
                  <a:pt x="76571" y="68949"/>
                </a:lnTo>
                <a:lnTo>
                  <a:pt x="29118" y="51689"/>
                </a:lnTo>
                <a:lnTo>
                  <a:pt x="3407" y="21118"/>
                </a:lnTo>
                <a:lnTo>
                  <a:pt x="0" y="0"/>
                </a:lnTo>
              </a:path>
              <a:path w="4240530" h="149860">
                <a:moveTo>
                  <a:pt x="849099" y="149252"/>
                </a:moveTo>
                <a:lnTo>
                  <a:pt x="852503" y="122901"/>
                </a:lnTo>
                <a:lnTo>
                  <a:pt x="862369" y="100953"/>
                </a:lnTo>
                <a:lnTo>
                  <a:pt x="899420" y="68921"/>
                </a:lnTo>
                <a:lnTo>
                  <a:pt x="956118" y="50467"/>
                </a:lnTo>
                <a:lnTo>
                  <a:pt x="1028325" y="42901"/>
                </a:lnTo>
                <a:lnTo>
                  <a:pt x="1068953" y="42361"/>
                </a:lnTo>
                <a:lnTo>
                  <a:pt x="1111907" y="43535"/>
                </a:lnTo>
                <a:lnTo>
                  <a:pt x="1156670" y="46087"/>
                </a:lnTo>
                <a:lnTo>
                  <a:pt x="1202726" y="49680"/>
                </a:lnTo>
                <a:lnTo>
                  <a:pt x="1249558" y="53978"/>
                </a:lnTo>
                <a:lnTo>
                  <a:pt x="1296648" y="58646"/>
                </a:lnTo>
                <a:lnTo>
                  <a:pt x="1343479" y="63347"/>
                </a:lnTo>
                <a:lnTo>
                  <a:pt x="1389535" y="67745"/>
                </a:lnTo>
                <a:lnTo>
                  <a:pt x="1434299" y="71504"/>
                </a:lnTo>
                <a:lnTo>
                  <a:pt x="1477253" y="74288"/>
                </a:lnTo>
                <a:lnTo>
                  <a:pt x="1517881" y="75760"/>
                </a:lnTo>
                <a:lnTo>
                  <a:pt x="1555665" y="75585"/>
                </a:lnTo>
                <a:lnTo>
                  <a:pt x="1620634" y="68949"/>
                </a:lnTo>
                <a:lnTo>
                  <a:pt x="1668026" y="51689"/>
                </a:lnTo>
                <a:lnTo>
                  <a:pt x="1693703" y="21118"/>
                </a:lnTo>
                <a:lnTo>
                  <a:pt x="1697107" y="0"/>
                </a:lnTo>
              </a:path>
              <a:path w="4240530" h="149860">
                <a:moveTo>
                  <a:pt x="2969866" y="149252"/>
                </a:moveTo>
                <a:lnTo>
                  <a:pt x="2966811" y="128524"/>
                </a:lnTo>
                <a:lnTo>
                  <a:pt x="2957883" y="110462"/>
                </a:lnTo>
                <a:lnTo>
                  <a:pt x="2923833" y="81718"/>
                </a:lnTo>
                <a:lnTo>
                  <a:pt x="2870562" y="61785"/>
                </a:lnTo>
                <a:lnTo>
                  <a:pt x="2800918" y="49430"/>
                </a:lnTo>
                <a:lnTo>
                  <a:pt x="2760846" y="45708"/>
                </a:lnTo>
                <a:lnTo>
                  <a:pt x="2717748" y="43417"/>
                </a:lnTo>
                <a:lnTo>
                  <a:pt x="2671982" y="42404"/>
                </a:lnTo>
                <a:lnTo>
                  <a:pt x="2623901" y="42513"/>
                </a:lnTo>
                <a:lnTo>
                  <a:pt x="2573863" y="43591"/>
                </a:lnTo>
                <a:lnTo>
                  <a:pt x="2522224" y="45482"/>
                </a:lnTo>
                <a:lnTo>
                  <a:pt x="2469338" y="48034"/>
                </a:lnTo>
                <a:lnTo>
                  <a:pt x="2415563" y="51091"/>
                </a:lnTo>
                <a:lnTo>
                  <a:pt x="2361254" y="54499"/>
                </a:lnTo>
                <a:lnTo>
                  <a:pt x="2306767" y="58104"/>
                </a:lnTo>
                <a:lnTo>
                  <a:pt x="2252457" y="61752"/>
                </a:lnTo>
                <a:lnTo>
                  <a:pt x="2198682" y="65288"/>
                </a:lnTo>
                <a:lnTo>
                  <a:pt x="2145797" y="68559"/>
                </a:lnTo>
                <a:lnTo>
                  <a:pt x="2094157" y="71408"/>
                </a:lnTo>
                <a:lnTo>
                  <a:pt x="2044119" y="73684"/>
                </a:lnTo>
                <a:lnTo>
                  <a:pt x="1996039" y="75230"/>
                </a:lnTo>
                <a:lnTo>
                  <a:pt x="1950272" y="75893"/>
                </a:lnTo>
                <a:lnTo>
                  <a:pt x="1907174" y="75519"/>
                </a:lnTo>
                <a:lnTo>
                  <a:pt x="1867102" y="73952"/>
                </a:lnTo>
                <a:lnTo>
                  <a:pt x="1797459" y="66627"/>
                </a:lnTo>
                <a:lnTo>
                  <a:pt x="1744188" y="52683"/>
                </a:lnTo>
                <a:lnTo>
                  <a:pt x="1710137" y="30885"/>
                </a:lnTo>
                <a:lnTo>
                  <a:pt x="1701209" y="16655"/>
                </a:lnTo>
                <a:lnTo>
                  <a:pt x="1698154" y="0"/>
                </a:lnTo>
              </a:path>
              <a:path w="4240530" h="149860">
                <a:moveTo>
                  <a:pt x="2969866" y="149252"/>
                </a:moveTo>
                <a:lnTo>
                  <a:pt x="2972917" y="128524"/>
                </a:lnTo>
                <a:lnTo>
                  <a:pt x="2981834" y="110462"/>
                </a:lnTo>
                <a:lnTo>
                  <a:pt x="3015841" y="81718"/>
                </a:lnTo>
                <a:lnTo>
                  <a:pt x="3069043" y="61785"/>
                </a:lnTo>
                <a:lnTo>
                  <a:pt x="3138596" y="49430"/>
                </a:lnTo>
                <a:lnTo>
                  <a:pt x="3178617" y="45708"/>
                </a:lnTo>
                <a:lnTo>
                  <a:pt x="3221658" y="43417"/>
                </a:lnTo>
                <a:lnTo>
                  <a:pt x="3267366" y="42404"/>
                </a:lnTo>
                <a:lnTo>
                  <a:pt x="3315384" y="42513"/>
                </a:lnTo>
                <a:lnTo>
                  <a:pt x="3365357" y="43591"/>
                </a:lnTo>
                <a:lnTo>
                  <a:pt x="3416930" y="45482"/>
                </a:lnTo>
                <a:lnTo>
                  <a:pt x="3469747" y="48034"/>
                </a:lnTo>
                <a:lnTo>
                  <a:pt x="3523453" y="51091"/>
                </a:lnTo>
                <a:lnTo>
                  <a:pt x="3577692" y="54499"/>
                </a:lnTo>
                <a:lnTo>
                  <a:pt x="3632108" y="58104"/>
                </a:lnTo>
                <a:lnTo>
                  <a:pt x="3686347" y="61752"/>
                </a:lnTo>
                <a:lnTo>
                  <a:pt x="3740053" y="65288"/>
                </a:lnTo>
                <a:lnTo>
                  <a:pt x="3792870" y="68559"/>
                </a:lnTo>
                <a:lnTo>
                  <a:pt x="3844443" y="71408"/>
                </a:lnTo>
                <a:lnTo>
                  <a:pt x="3894416" y="73684"/>
                </a:lnTo>
                <a:lnTo>
                  <a:pt x="3942434" y="75230"/>
                </a:lnTo>
                <a:lnTo>
                  <a:pt x="3988142" y="75893"/>
                </a:lnTo>
                <a:lnTo>
                  <a:pt x="4031184" y="75519"/>
                </a:lnTo>
                <a:lnTo>
                  <a:pt x="4071204" y="73952"/>
                </a:lnTo>
                <a:lnTo>
                  <a:pt x="4140757" y="66627"/>
                </a:lnTo>
                <a:lnTo>
                  <a:pt x="4193960" y="52683"/>
                </a:lnTo>
                <a:lnTo>
                  <a:pt x="4227966" y="30885"/>
                </a:lnTo>
                <a:lnTo>
                  <a:pt x="4236883" y="16655"/>
                </a:lnTo>
                <a:lnTo>
                  <a:pt x="4239934" y="0"/>
                </a:lnTo>
              </a:path>
            </a:pathLst>
          </a:custGeom>
          <a:ln w="293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909491" y="4431507"/>
            <a:ext cx="1134110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b="1" dirty="0">
                <a:latin typeface="Times New Roman"/>
                <a:cs typeface="Times New Roman"/>
              </a:rPr>
              <a:t>opcode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(8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bits)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31100" y="4431507"/>
            <a:ext cx="1273810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b="1" dirty="0">
                <a:latin typeface="Times New Roman"/>
                <a:cs typeface="Times New Roman"/>
              </a:rPr>
              <a:t>address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(12</a:t>
            </a:r>
            <a:r>
              <a:rPr sz="1400" b="1" spc="-20" dirty="0">
                <a:latin typeface="Times New Roman"/>
                <a:cs typeface="Times New Roman"/>
              </a:rPr>
              <a:t> bits)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593906" y="4298320"/>
            <a:ext cx="4240530" cy="149860"/>
          </a:xfrm>
          <a:custGeom>
            <a:avLst/>
            <a:gdLst/>
            <a:ahLst/>
            <a:cxnLst/>
            <a:rect l="l" t="t" r="r" b="b"/>
            <a:pathLst>
              <a:path w="4240530" h="149860">
                <a:moveTo>
                  <a:pt x="848456" y="149252"/>
                </a:moveTo>
                <a:lnTo>
                  <a:pt x="845051" y="122901"/>
                </a:lnTo>
                <a:lnTo>
                  <a:pt x="835179" y="100953"/>
                </a:lnTo>
                <a:lnTo>
                  <a:pt x="798108" y="68921"/>
                </a:lnTo>
                <a:lnTo>
                  <a:pt x="741381" y="50467"/>
                </a:lnTo>
                <a:lnTo>
                  <a:pt x="669135" y="42901"/>
                </a:lnTo>
                <a:lnTo>
                  <a:pt x="628486" y="42361"/>
                </a:lnTo>
                <a:lnTo>
                  <a:pt x="585509" y="43535"/>
                </a:lnTo>
                <a:lnTo>
                  <a:pt x="540722" y="46087"/>
                </a:lnTo>
                <a:lnTo>
                  <a:pt x="494641" y="49680"/>
                </a:lnTo>
                <a:lnTo>
                  <a:pt x="447785" y="53978"/>
                </a:lnTo>
                <a:lnTo>
                  <a:pt x="400670" y="58646"/>
                </a:lnTo>
                <a:lnTo>
                  <a:pt x="353814" y="63347"/>
                </a:lnTo>
                <a:lnTo>
                  <a:pt x="307734" y="67745"/>
                </a:lnTo>
                <a:lnTo>
                  <a:pt x="262946" y="71504"/>
                </a:lnTo>
                <a:lnTo>
                  <a:pt x="219970" y="74288"/>
                </a:lnTo>
                <a:lnTo>
                  <a:pt x="179321" y="75760"/>
                </a:lnTo>
                <a:lnTo>
                  <a:pt x="141517" y="75585"/>
                </a:lnTo>
                <a:lnTo>
                  <a:pt x="76513" y="68949"/>
                </a:lnTo>
                <a:lnTo>
                  <a:pt x="29096" y="51689"/>
                </a:lnTo>
                <a:lnTo>
                  <a:pt x="3405" y="21118"/>
                </a:lnTo>
                <a:lnTo>
                  <a:pt x="0" y="0"/>
                </a:lnTo>
              </a:path>
              <a:path w="4240530" h="149860">
                <a:moveTo>
                  <a:pt x="848456" y="149252"/>
                </a:moveTo>
                <a:lnTo>
                  <a:pt x="851864" y="122901"/>
                </a:lnTo>
                <a:lnTo>
                  <a:pt x="861742" y="100953"/>
                </a:lnTo>
                <a:lnTo>
                  <a:pt x="898839" y="68921"/>
                </a:lnTo>
                <a:lnTo>
                  <a:pt x="955607" y="50467"/>
                </a:lnTo>
                <a:lnTo>
                  <a:pt x="1027904" y="42901"/>
                </a:lnTo>
                <a:lnTo>
                  <a:pt x="1068581" y="42361"/>
                </a:lnTo>
                <a:lnTo>
                  <a:pt x="1111588" y="43535"/>
                </a:lnTo>
                <a:lnTo>
                  <a:pt x="1156407" y="46087"/>
                </a:lnTo>
                <a:lnTo>
                  <a:pt x="1202520" y="49680"/>
                </a:lnTo>
                <a:lnTo>
                  <a:pt x="1249409" y="53978"/>
                </a:lnTo>
                <a:lnTo>
                  <a:pt x="1296557" y="58646"/>
                </a:lnTo>
                <a:lnTo>
                  <a:pt x="1343447" y="63347"/>
                </a:lnTo>
                <a:lnTo>
                  <a:pt x="1389560" y="67745"/>
                </a:lnTo>
                <a:lnTo>
                  <a:pt x="1434378" y="71504"/>
                </a:lnTo>
                <a:lnTo>
                  <a:pt x="1477385" y="74288"/>
                </a:lnTo>
                <a:lnTo>
                  <a:pt x="1518063" y="75760"/>
                </a:lnTo>
                <a:lnTo>
                  <a:pt x="1555894" y="75585"/>
                </a:lnTo>
                <a:lnTo>
                  <a:pt x="1620943" y="68949"/>
                </a:lnTo>
                <a:lnTo>
                  <a:pt x="1668394" y="51689"/>
                </a:lnTo>
                <a:lnTo>
                  <a:pt x="1694103" y="21118"/>
                </a:lnTo>
                <a:lnTo>
                  <a:pt x="1697511" y="0"/>
                </a:lnTo>
              </a:path>
              <a:path w="4240530" h="149860">
                <a:moveTo>
                  <a:pt x="2968775" y="149252"/>
                </a:moveTo>
                <a:lnTo>
                  <a:pt x="2965723" y="128524"/>
                </a:lnTo>
                <a:lnTo>
                  <a:pt x="2956807" y="110462"/>
                </a:lnTo>
                <a:lnTo>
                  <a:pt x="2922800" y="81718"/>
                </a:lnTo>
                <a:lnTo>
                  <a:pt x="2869598" y="61785"/>
                </a:lnTo>
                <a:lnTo>
                  <a:pt x="2800044" y="49430"/>
                </a:lnTo>
                <a:lnTo>
                  <a:pt x="2760024" y="45708"/>
                </a:lnTo>
                <a:lnTo>
                  <a:pt x="2716983" y="43417"/>
                </a:lnTo>
                <a:lnTo>
                  <a:pt x="2671275" y="42404"/>
                </a:lnTo>
                <a:lnTo>
                  <a:pt x="2623257" y="42513"/>
                </a:lnTo>
                <a:lnTo>
                  <a:pt x="2573284" y="43591"/>
                </a:lnTo>
                <a:lnTo>
                  <a:pt x="2521711" y="45482"/>
                </a:lnTo>
                <a:lnTo>
                  <a:pt x="2468894" y="48034"/>
                </a:lnTo>
                <a:lnTo>
                  <a:pt x="2415188" y="51091"/>
                </a:lnTo>
                <a:lnTo>
                  <a:pt x="2360949" y="54499"/>
                </a:lnTo>
                <a:lnTo>
                  <a:pt x="2306533" y="58104"/>
                </a:lnTo>
                <a:lnTo>
                  <a:pt x="2252294" y="61752"/>
                </a:lnTo>
                <a:lnTo>
                  <a:pt x="2198588" y="65288"/>
                </a:lnTo>
                <a:lnTo>
                  <a:pt x="2145771" y="68559"/>
                </a:lnTo>
                <a:lnTo>
                  <a:pt x="2094198" y="71408"/>
                </a:lnTo>
                <a:lnTo>
                  <a:pt x="2044225" y="73684"/>
                </a:lnTo>
                <a:lnTo>
                  <a:pt x="1996207" y="75230"/>
                </a:lnTo>
                <a:lnTo>
                  <a:pt x="1950499" y="75893"/>
                </a:lnTo>
                <a:lnTo>
                  <a:pt x="1907457" y="75519"/>
                </a:lnTo>
                <a:lnTo>
                  <a:pt x="1867437" y="73952"/>
                </a:lnTo>
                <a:lnTo>
                  <a:pt x="1797884" y="66627"/>
                </a:lnTo>
                <a:lnTo>
                  <a:pt x="1744681" y="52683"/>
                </a:lnTo>
                <a:lnTo>
                  <a:pt x="1710675" y="30885"/>
                </a:lnTo>
                <a:lnTo>
                  <a:pt x="1701758" y="16655"/>
                </a:lnTo>
                <a:lnTo>
                  <a:pt x="1698707" y="0"/>
                </a:lnTo>
              </a:path>
              <a:path w="4240530" h="149860">
                <a:moveTo>
                  <a:pt x="2968775" y="149252"/>
                </a:moveTo>
                <a:lnTo>
                  <a:pt x="2971830" y="128524"/>
                </a:lnTo>
                <a:lnTo>
                  <a:pt x="2980758" y="110462"/>
                </a:lnTo>
                <a:lnTo>
                  <a:pt x="3014808" y="81718"/>
                </a:lnTo>
                <a:lnTo>
                  <a:pt x="3068079" y="61785"/>
                </a:lnTo>
                <a:lnTo>
                  <a:pt x="3137723" y="49430"/>
                </a:lnTo>
                <a:lnTo>
                  <a:pt x="3177795" y="45708"/>
                </a:lnTo>
                <a:lnTo>
                  <a:pt x="3220893" y="43417"/>
                </a:lnTo>
                <a:lnTo>
                  <a:pt x="3266659" y="42404"/>
                </a:lnTo>
                <a:lnTo>
                  <a:pt x="3314740" y="42513"/>
                </a:lnTo>
                <a:lnTo>
                  <a:pt x="3364778" y="43591"/>
                </a:lnTo>
                <a:lnTo>
                  <a:pt x="3416417" y="45482"/>
                </a:lnTo>
                <a:lnTo>
                  <a:pt x="3469303" y="48034"/>
                </a:lnTo>
                <a:lnTo>
                  <a:pt x="3523078" y="51091"/>
                </a:lnTo>
                <a:lnTo>
                  <a:pt x="3577387" y="54499"/>
                </a:lnTo>
                <a:lnTo>
                  <a:pt x="3631874" y="58104"/>
                </a:lnTo>
                <a:lnTo>
                  <a:pt x="3686184" y="61752"/>
                </a:lnTo>
                <a:lnTo>
                  <a:pt x="3739959" y="65288"/>
                </a:lnTo>
                <a:lnTo>
                  <a:pt x="3792844" y="68559"/>
                </a:lnTo>
                <a:lnTo>
                  <a:pt x="3844484" y="71408"/>
                </a:lnTo>
                <a:lnTo>
                  <a:pt x="3894522" y="73684"/>
                </a:lnTo>
                <a:lnTo>
                  <a:pt x="3942602" y="75230"/>
                </a:lnTo>
                <a:lnTo>
                  <a:pt x="3988369" y="75893"/>
                </a:lnTo>
                <a:lnTo>
                  <a:pt x="4031467" y="75519"/>
                </a:lnTo>
                <a:lnTo>
                  <a:pt x="4071538" y="73952"/>
                </a:lnTo>
                <a:lnTo>
                  <a:pt x="4141182" y="66627"/>
                </a:lnTo>
                <a:lnTo>
                  <a:pt x="4194453" y="52683"/>
                </a:lnTo>
                <a:lnTo>
                  <a:pt x="4228504" y="30885"/>
                </a:lnTo>
                <a:lnTo>
                  <a:pt x="4237432" y="16655"/>
                </a:lnTo>
                <a:lnTo>
                  <a:pt x="4240487" y="0"/>
                </a:lnTo>
              </a:path>
            </a:pathLst>
          </a:custGeom>
          <a:ln w="293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0413" y="200914"/>
            <a:ext cx="286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240151" y="242062"/>
            <a:ext cx="24320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145" dirty="0">
                <a:solidFill>
                  <a:srgbClr val="666699"/>
                </a:solidFill>
              </a:rPr>
              <a:t>Registers</a:t>
            </a:r>
            <a:endParaRPr sz="4400"/>
          </a:p>
        </p:txBody>
      </p:sp>
      <p:grpSp>
        <p:nvGrpSpPr>
          <p:cNvPr id="6" name="object 6"/>
          <p:cNvGrpSpPr/>
          <p:nvPr/>
        </p:nvGrpSpPr>
        <p:grpSpPr>
          <a:xfrm>
            <a:off x="3019044" y="1296669"/>
            <a:ext cx="4836160" cy="675640"/>
            <a:chOff x="3019044" y="1296669"/>
            <a:chExt cx="4836160" cy="675640"/>
          </a:xfrm>
        </p:grpSpPr>
        <p:sp>
          <p:nvSpPr>
            <p:cNvPr id="7" name="object 7"/>
            <p:cNvSpPr/>
            <p:nvPr/>
          </p:nvSpPr>
          <p:spPr>
            <a:xfrm>
              <a:off x="3069336" y="1303019"/>
              <a:ext cx="4779645" cy="662940"/>
            </a:xfrm>
            <a:custGeom>
              <a:avLst/>
              <a:gdLst/>
              <a:ahLst/>
              <a:cxnLst/>
              <a:rect l="l" t="t" r="r" b="b"/>
              <a:pathLst>
                <a:path w="4779645" h="662939">
                  <a:moveTo>
                    <a:pt x="4668773" y="0"/>
                  </a:moveTo>
                  <a:lnTo>
                    <a:pt x="0" y="0"/>
                  </a:lnTo>
                  <a:lnTo>
                    <a:pt x="0" y="662939"/>
                  </a:lnTo>
                  <a:lnTo>
                    <a:pt x="4668773" y="662939"/>
                  </a:lnTo>
                  <a:lnTo>
                    <a:pt x="4711755" y="654248"/>
                  </a:lnTo>
                  <a:lnTo>
                    <a:pt x="4746878" y="630554"/>
                  </a:lnTo>
                  <a:lnTo>
                    <a:pt x="4770572" y="595431"/>
                  </a:lnTo>
                  <a:lnTo>
                    <a:pt x="4779264" y="552450"/>
                  </a:lnTo>
                  <a:lnTo>
                    <a:pt x="4779264" y="110489"/>
                  </a:lnTo>
                  <a:lnTo>
                    <a:pt x="4770572" y="67508"/>
                  </a:lnTo>
                  <a:lnTo>
                    <a:pt x="4746879" y="32384"/>
                  </a:lnTo>
                  <a:lnTo>
                    <a:pt x="4711755" y="8691"/>
                  </a:lnTo>
                  <a:lnTo>
                    <a:pt x="4668773" y="0"/>
                  </a:lnTo>
                  <a:close/>
                </a:path>
              </a:pathLst>
            </a:custGeom>
            <a:solidFill>
              <a:srgbClr val="D2CD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69336" y="1303019"/>
              <a:ext cx="4779645" cy="662940"/>
            </a:xfrm>
            <a:custGeom>
              <a:avLst/>
              <a:gdLst/>
              <a:ahLst/>
              <a:cxnLst/>
              <a:rect l="l" t="t" r="r" b="b"/>
              <a:pathLst>
                <a:path w="4779645" h="662939">
                  <a:moveTo>
                    <a:pt x="4779264" y="110489"/>
                  </a:moveTo>
                  <a:lnTo>
                    <a:pt x="4779264" y="552450"/>
                  </a:lnTo>
                  <a:lnTo>
                    <a:pt x="4770572" y="595431"/>
                  </a:lnTo>
                  <a:lnTo>
                    <a:pt x="4746878" y="630554"/>
                  </a:lnTo>
                  <a:lnTo>
                    <a:pt x="4711755" y="654248"/>
                  </a:lnTo>
                  <a:lnTo>
                    <a:pt x="4668773" y="662939"/>
                  </a:lnTo>
                  <a:lnTo>
                    <a:pt x="0" y="662939"/>
                  </a:lnTo>
                  <a:lnTo>
                    <a:pt x="0" y="0"/>
                  </a:lnTo>
                  <a:lnTo>
                    <a:pt x="4668773" y="0"/>
                  </a:lnTo>
                  <a:lnTo>
                    <a:pt x="4711755" y="8691"/>
                  </a:lnTo>
                  <a:lnTo>
                    <a:pt x="4746879" y="32384"/>
                  </a:lnTo>
                  <a:lnTo>
                    <a:pt x="4770572" y="67508"/>
                  </a:lnTo>
                  <a:lnTo>
                    <a:pt x="4779264" y="110489"/>
                  </a:lnTo>
                  <a:close/>
                </a:path>
              </a:pathLst>
            </a:custGeom>
            <a:ln w="12192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19044" y="1391399"/>
              <a:ext cx="258318" cy="33910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3344" y="1391399"/>
              <a:ext cx="4568189" cy="33910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19044" y="1578851"/>
              <a:ext cx="258318" cy="3391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3344" y="1578851"/>
              <a:ext cx="4525517" cy="33910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102991" y="1422272"/>
            <a:ext cx="4501515" cy="396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0"/>
              </a:spcBef>
              <a:buChar char="•"/>
              <a:tabLst>
                <a:tab pos="125730" algn="l"/>
              </a:tabLst>
            </a:pPr>
            <a:r>
              <a:rPr sz="1200" spc="10" dirty="0">
                <a:latin typeface="Cambria"/>
                <a:cs typeface="Cambria"/>
              </a:rPr>
              <a:t>Contains</a:t>
            </a:r>
            <a:r>
              <a:rPr sz="1200" spc="9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a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word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to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105" dirty="0">
                <a:latin typeface="Cambria"/>
                <a:cs typeface="Cambria"/>
              </a:rPr>
              <a:t>be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stored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in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memory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or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sent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to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the</a:t>
            </a:r>
            <a:r>
              <a:rPr sz="1200" spc="42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I/O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unit</a:t>
            </a:r>
            <a:endParaRPr sz="1200">
              <a:latin typeface="Cambria"/>
              <a:cs typeface="Cambria"/>
            </a:endParaRPr>
          </a:p>
          <a:p>
            <a:pPr marL="125730" indent="-113030">
              <a:lnSpc>
                <a:spcPct val="100000"/>
              </a:lnSpc>
              <a:spcBef>
                <a:spcPts val="35"/>
              </a:spcBef>
              <a:buChar char="•"/>
              <a:tabLst>
                <a:tab pos="125730" algn="l"/>
              </a:tabLst>
            </a:pPr>
            <a:r>
              <a:rPr sz="1200" spc="80" dirty="0">
                <a:latin typeface="Cambria"/>
                <a:cs typeface="Cambria"/>
              </a:rPr>
              <a:t>Or </a:t>
            </a:r>
            <a:r>
              <a:rPr sz="1200" dirty="0">
                <a:latin typeface="Cambria"/>
                <a:cs typeface="Cambria"/>
              </a:rPr>
              <a:t>is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spc="50" dirty="0">
                <a:latin typeface="Cambria"/>
                <a:cs typeface="Cambria"/>
              </a:rPr>
              <a:t>used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spc="45" dirty="0">
                <a:latin typeface="Cambria"/>
                <a:cs typeface="Cambria"/>
              </a:rPr>
              <a:t>receive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word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from</a:t>
            </a:r>
            <a:r>
              <a:rPr sz="1200" spc="9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memory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or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from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I/O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unit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15468" y="1181100"/>
            <a:ext cx="2847340" cy="955675"/>
            <a:chOff x="315468" y="1181100"/>
            <a:chExt cx="2847340" cy="95567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5468" y="1181100"/>
              <a:ext cx="2814828" cy="9555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5092" y="1292364"/>
              <a:ext cx="2807208" cy="78484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9476" y="1219200"/>
              <a:ext cx="2689860" cy="8305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9100" y="1330439"/>
              <a:ext cx="2681478" cy="44425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80159" y="1545323"/>
              <a:ext cx="907541" cy="44425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30758" y="1372869"/>
            <a:ext cx="2388235" cy="4838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873760" marR="5080" indent="-861694">
              <a:lnSpc>
                <a:spcPts val="1689"/>
              </a:lnSpc>
              <a:spcBef>
                <a:spcPts val="340"/>
              </a:spcBef>
            </a:pPr>
            <a:r>
              <a:rPr sz="1600" b="1" spc="110" dirty="0">
                <a:solidFill>
                  <a:srgbClr val="FFFFFF"/>
                </a:solidFill>
                <a:latin typeface="Cambria"/>
                <a:cs typeface="Cambria"/>
              </a:rPr>
              <a:t>Memory</a:t>
            </a:r>
            <a:r>
              <a:rPr sz="1600" b="1" spc="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mbria"/>
                <a:cs typeface="Cambria"/>
              </a:rPr>
              <a:t>buffer</a:t>
            </a:r>
            <a:r>
              <a:rPr sz="1600" b="1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mbria"/>
                <a:cs typeface="Cambria"/>
              </a:rPr>
              <a:t>register </a:t>
            </a:r>
            <a:r>
              <a:rPr sz="1600" b="1" spc="-20" dirty="0">
                <a:solidFill>
                  <a:srgbClr val="FFFFFF"/>
                </a:solidFill>
                <a:latin typeface="Cambria"/>
                <a:cs typeface="Cambria"/>
              </a:rPr>
              <a:t>(MBR)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019044" y="2166873"/>
            <a:ext cx="4836160" cy="675640"/>
            <a:chOff x="3019044" y="2166873"/>
            <a:chExt cx="4836160" cy="675640"/>
          </a:xfrm>
        </p:grpSpPr>
        <p:sp>
          <p:nvSpPr>
            <p:cNvPr id="22" name="object 22"/>
            <p:cNvSpPr/>
            <p:nvPr/>
          </p:nvSpPr>
          <p:spPr>
            <a:xfrm>
              <a:off x="3069336" y="2173223"/>
              <a:ext cx="4779645" cy="662940"/>
            </a:xfrm>
            <a:custGeom>
              <a:avLst/>
              <a:gdLst/>
              <a:ahLst/>
              <a:cxnLst/>
              <a:rect l="l" t="t" r="r" b="b"/>
              <a:pathLst>
                <a:path w="4779645" h="662939">
                  <a:moveTo>
                    <a:pt x="4668773" y="0"/>
                  </a:moveTo>
                  <a:lnTo>
                    <a:pt x="0" y="0"/>
                  </a:lnTo>
                  <a:lnTo>
                    <a:pt x="0" y="662939"/>
                  </a:lnTo>
                  <a:lnTo>
                    <a:pt x="4668773" y="662939"/>
                  </a:lnTo>
                  <a:lnTo>
                    <a:pt x="4711755" y="654248"/>
                  </a:lnTo>
                  <a:lnTo>
                    <a:pt x="4746878" y="630554"/>
                  </a:lnTo>
                  <a:lnTo>
                    <a:pt x="4770572" y="595431"/>
                  </a:lnTo>
                  <a:lnTo>
                    <a:pt x="4779264" y="552450"/>
                  </a:lnTo>
                  <a:lnTo>
                    <a:pt x="4779264" y="110489"/>
                  </a:lnTo>
                  <a:lnTo>
                    <a:pt x="4770572" y="67508"/>
                  </a:lnTo>
                  <a:lnTo>
                    <a:pt x="4746879" y="32384"/>
                  </a:lnTo>
                  <a:lnTo>
                    <a:pt x="4711755" y="8691"/>
                  </a:lnTo>
                  <a:lnTo>
                    <a:pt x="4668773" y="0"/>
                  </a:lnTo>
                  <a:close/>
                </a:path>
              </a:pathLst>
            </a:custGeom>
            <a:solidFill>
              <a:srgbClr val="D2CD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69336" y="2173223"/>
              <a:ext cx="4779645" cy="662940"/>
            </a:xfrm>
            <a:custGeom>
              <a:avLst/>
              <a:gdLst/>
              <a:ahLst/>
              <a:cxnLst/>
              <a:rect l="l" t="t" r="r" b="b"/>
              <a:pathLst>
                <a:path w="4779645" h="662939">
                  <a:moveTo>
                    <a:pt x="4779264" y="110489"/>
                  </a:moveTo>
                  <a:lnTo>
                    <a:pt x="4779264" y="552450"/>
                  </a:lnTo>
                  <a:lnTo>
                    <a:pt x="4770572" y="595431"/>
                  </a:lnTo>
                  <a:lnTo>
                    <a:pt x="4746878" y="630554"/>
                  </a:lnTo>
                  <a:lnTo>
                    <a:pt x="4711755" y="654248"/>
                  </a:lnTo>
                  <a:lnTo>
                    <a:pt x="4668773" y="662939"/>
                  </a:lnTo>
                  <a:lnTo>
                    <a:pt x="0" y="662939"/>
                  </a:lnTo>
                  <a:lnTo>
                    <a:pt x="0" y="0"/>
                  </a:lnTo>
                  <a:lnTo>
                    <a:pt x="4668773" y="0"/>
                  </a:lnTo>
                  <a:lnTo>
                    <a:pt x="4711755" y="8691"/>
                  </a:lnTo>
                  <a:lnTo>
                    <a:pt x="4746879" y="32384"/>
                  </a:lnTo>
                  <a:lnTo>
                    <a:pt x="4770572" y="67508"/>
                  </a:lnTo>
                  <a:lnTo>
                    <a:pt x="4779264" y="110489"/>
                  </a:lnTo>
                  <a:close/>
                </a:path>
              </a:pathLst>
            </a:custGeom>
            <a:ln w="12192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19044" y="2275319"/>
              <a:ext cx="258318" cy="33910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33344" y="2275319"/>
              <a:ext cx="4635246" cy="33910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33344" y="2436863"/>
              <a:ext cx="1628394" cy="339102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3102991" y="2305939"/>
            <a:ext cx="4528820" cy="37020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5730" marR="5080" indent="-113030">
              <a:lnSpc>
                <a:spcPts val="1270"/>
              </a:lnSpc>
              <a:spcBef>
                <a:spcPts val="280"/>
              </a:spcBef>
              <a:buChar char="•"/>
              <a:tabLst>
                <a:tab pos="127000" algn="l"/>
              </a:tabLst>
            </a:pPr>
            <a:r>
              <a:rPr sz="1200" spc="45" dirty="0">
                <a:latin typeface="Cambria"/>
                <a:cs typeface="Cambria"/>
              </a:rPr>
              <a:t>Specifies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the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address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in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memory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of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the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word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to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spc="105" dirty="0">
                <a:latin typeface="Cambria"/>
                <a:cs typeface="Cambria"/>
              </a:rPr>
              <a:t>be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written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from 	</a:t>
            </a:r>
            <a:r>
              <a:rPr sz="1200" dirty="0">
                <a:latin typeface="Cambria"/>
                <a:cs typeface="Cambria"/>
              </a:rPr>
              <a:t>or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read</a:t>
            </a:r>
            <a:r>
              <a:rPr sz="1200" spc="10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into</a:t>
            </a:r>
            <a:r>
              <a:rPr sz="1200" spc="1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110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MBR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15468" y="2051304"/>
            <a:ext cx="2814955" cy="955675"/>
            <a:chOff x="315468" y="2051304"/>
            <a:chExt cx="2814955" cy="955675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5468" y="2051304"/>
              <a:ext cx="2814828" cy="95554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5800" y="2162568"/>
              <a:ext cx="2145792" cy="78484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9476" y="2089404"/>
              <a:ext cx="2689860" cy="83058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9808" y="2200643"/>
              <a:ext cx="2020062" cy="44425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61059" y="2415527"/>
              <a:ext cx="1745741" cy="444258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861466" y="2243073"/>
            <a:ext cx="1727200" cy="4838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3825" marR="5080" indent="-111760">
              <a:lnSpc>
                <a:spcPts val="1689"/>
              </a:lnSpc>
              <a:spcBef>
                <a:spcPts val="340"/>
              </a:spcBef>
            </a:pPr>
            <a:r>
              <a:rPr sz="1600" b="1" spc="110" dirty="0">
                <a:solidFill>
                  <a:srgbClr val="FFFFFF"/>
                </a:solidFill>
                <a:latin typeface="Cambria"/>
                <a:cs typeface="Cambria"/>
              </a:rPr>
              <a:t>Memory</a:t>
            </a:r>
            <a:r>
              <a:rPr sz="1600" b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mbria"/>
                <a:cs typeface="Cambria"/>
              </a:rPr>
              <a:t>address </a:t>
            </a:r>
            <a:r>
              <a:rPr sz="1600" b="1" dirty="0">
                <a:solidFill>
                  <a:srgbClr val="FFFFFF"/>
                </a:solidFill>
                <a:latin typeface="Cambria"/>
                <a:cs typeface="Cambria"/>
              </a:rPr>
              <a:t>register</a:t>
            </a:r>
            <a:r>
              <a:rPr sz="1600" b="1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mbria"/>
                <a:cs typeface="Cambria"/>
              </a:rPr>
              <a:t>(MAR)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019044" y="3037077"/>
            <a:ext cx="4836160" cy="675640"/>
            <a:chOff x="3019044" y="3037077"/>
            <a:chExt cx="4836160" cy="675640"/>
          </a:xfrm>
        </p:grpSpPr>
        <p:sp>
          <p:nvSpPr>
            <p:cNvPr id="36" name="object 36"/>
            <p:cNvSpPr/>
            <p:nvPr/>
          </p:nvSpPr>
          <p:spPr>
            <a:xfrm>
              <a:off x="3069336" y="3043427"/>
              <a:ext cx="4779645" cy="662940"/>
            </a:xfrm>
            <a:custGeom>
              <a:avLst/>
              <a:gdLst/>
              <a:ahLst/>
              <a:cxnLst/>
              <a:rect l="l" t="t" r="r" b="b"/>
              <a:pathLst>
                <a:path w="4779645" h="662939">
                  <a:moveTo>
                    <a:pt x="4668773" y="0"/>
                  </a:moveTo>
                  <a:lnTo>
                    <a:pt x="0" y="0"/>
                  </a:lnTo>
                  <a:lnTo>
                    <a:pt x="0" y="662940"/>
                  </a:lnTo>
                  <a:lnTo>
                    <a:pt x="4668773" y="662940"/>
                  </a:lnTo>
                  <a:lnTo>
                    <a:pt x="4711755" y="654248"/>
                  </a:lnTo>
                  <a:lnTo>
                    <a:pt x="4746878" y="630555"/>
                  </a:lnTo>
                  <a:lnTo>
                    <a:pt x="4770572" y="595431"/>
                  </a:lnTo>
                  <a:lnTo>
                    <a:pt x="4779264" y="552450"/>
                  </a:lnTo>
                  <a:lnTo>
                    <a:pt x="4779264" y="110489"/>
                  </a:lnTo>
                  <a:lnTo>
                    <a:pt x="4770572" y="67508"/>
                  </a:lnTo>
                  <a:lnTo>
                    <a:pt x="4746879" y="32385"/>
                  </a:lnTo>
                  <a:lnTo>
                    <a:pt x="4711755" y="8691"/>
                  </a:lnTo>
                  <a:lnTo>
                    <a:pt x="4668773" y="0"/>
                  </a:lnTo>
                  <a:close/>
                </a:path>
              </a:pathLst>
            </a:custGeom>
            <a:solidFill>
              <a:srgbClr val="D2CD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69336" y="3043427"/>
              <a:ext cx="4779645" cy="662940"/>
            </a:xfrm>
            <a:custGeom>
              <a:avLst/>
              <a:gdLst/>
              <a:ahLst/>
              <a:cxnLst/>
              <a:rect l="l" t="t" r="r" b="b"/>
              <a:pathLst>
                <a:path w="4779645" h="662939">
                  <a:moveTo>
                    <a:pt x="4779264" y="110489"/>
                  </a:moveTo>
                  <a:lnTo>
                    <a:pt x="4779264" y="552450"/>
                  </a:lnTo>
                  <a:lnTo>
                    <a:pt x="4770572" y="595431"/>
                  </a:lnTo>
                  <a:lnTo>
                    <a:pt x="4746878" y="630555"/>
                  </a:lnTo>
                  <a:lnTo>
                    <a:pt x="4711755" y="654248"/>
                  </a:lnTo>
                  <a:lnTo>
                    <a:pt x="4668773" y="662940"/>
                  </a:lnTo>
                  <a:lnTo>
                    <a:pt x="0" y="662940"/>
                  </a:lnTo>
                  <a:lnTo>
                    <a:pt x="0" y="0"/>
                  </a:lnTo>
                  <a:lnTo>
                    <a:pt x="4668773" y="0"/>
                  </a:lnTo>
                  <a:lnTo>
                    <a:pt x="4711755" y="8691"/>
                  </a:lnTo>
                  <a:lnTo>
                    <a:pt x="4746879" y="32385"/>
                  </a:lnTo>
                  <a:lnTo>
                    <a:pt x="4770572" y="67508"/>
                  </a:lnTo>
                  <a:lnTo>
                    <a:pt x="4779264" y="110489"/>
                  </a:lnTo>
                  <a:close/>
                </a:path>
              </a:pathLst>
            </a:custGeom>
            <a:ln w="12192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19044" y="3224783"/>
              <a:ext cx="258318" cy="34061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33344" y="3224783"/>
              <a:ext cx="1203197" cy="34061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31563" y="3224783"/>
              <a:ext cx="258317" cy="34061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184904" y="3224783"/>
              <a:ext cx="2879598" cy="340613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3102991" y="3256534"/>
            <a:ext cx="3863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0"/>
              </a:spcBef>
              <a:buChar char="•"/>
              <a:tabLst>
                <a:tab pos="125730" algn="l"/>
              </a:tabLst>
            </a:pPr>
            <a:r>
              <a:rPr sz="1200" spc="10" dirty="0">
                <a:latin typeface="Cambria"/>
                <a:cs typeface="Cambria"/>
              </a:rPr>
              <a:t>Contains</a:t>
            </a:r>
            <a:r>
              <a:rPr sz="1200" spc="10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the</a:t>
            </a:r>
            <a:r>
              <a:rPr sz="1200" spc="9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8-</a:t>
            </a:r>
            <a:r>
              <a:rPr sz="1200" spc="10" dirty="0">
                <a:latin typeface="Cambria"/>
                <a:cs typeface="Cambria"/>
              </a:rPr>
              <a:t>bit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spc="70" dirty="0">
                <a:latin typeface="Cambria"/>
                <a:cs typeface="Cambria"/>
              </a:rPr>
              <a:t>opcode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instruction</a:t>
            </a:r>
            <a:r>
              <a:rPr sz="1200" spc="110" dirty="0">
                <a:latin typeface="Cambria"/>
                <a:cs typeface="Cambria"/>
              </a:rPr>
              <a:t> </a:t>
            </a:r>
            <a:r>
              <a:rPr sz="1200" spc="70" dirty="0">
                <a:latin typeface="Cambria"/>
                <a:cs typeface="Cambria"/>
              </a:rPr>
              <a:t>being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spc="40" dirty="0">
                <a:latin typeface="Cambria"/>
                <a:cs typeface="Cambria"/>
              </a:rPr>
              <a:t>executed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15468" y="2921495"/>
            <a:ext cx="2814955" cy="954405"/>
            <a:chOff x="315468" y="2921495"/>
            <a:chExt cx="2814955" cy="954405"/>
          </a:xfrm>
        </p:grpSpPr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5468" y="2921495"/>
              <a:ext cx="2814828" cy="95403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45948" y="3139427"/>
              <a:ext cx="2772156" cy="56998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9476" y="2959608"/>
              <a:ext cx="2689860" cy="82905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9956" y="3177527"/>
              <a:ext cx="2646426" cy="444258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521614" y="3220592"/>
            <a:ext cx="24041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" dirty="0">
                <a:solidFill>
                  <a:srgbClr val="FFFFFF"/>
                </a:solidFill>
                <a:latin typeface="Cambria"/>
                <a:cs typeface="Cambria"/>
              </a:rPr>
              <a:t>Instruction</a:t>
            </a:r>
            <a:r>
              <a:rPr sz="1600" b="1" spc="3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spc="10" dirty="0">
                <a:solidFill>
                  <a:srgbClr val="FFFFFF"/>
                </a:solidFill>
                <a:latin typeface="Cambria"/>
                <a:cs typeface="Cambria"/>
              </a:rPr>
              <a:t>register</a:t>
            </a:r>
            <a:r>
              <a:rPr sz="1600" b="1" spc="3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mbria"/>
                <a:cs typeface="Cambria"/>
              </a:rPr>
              <a:t>(IR)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019044" y="3907282"/>
            <a:ext cx="4836160" cy="675640"/>
            <a:chOff x="3019044" y="3907282"/>
            <a:chExt cx="4836160" cy="675640"/>
          </a:xfrm>
        </p:grpSpPr>
        <p:sp>
          <p:nvSpPr>
            <p:cNvPr id="50" name="object 50"/>
            <p:cNvSpPr/>
            <p:nvPr/>
          </p:nvSpPr>
          <p:spPr>
            <a:xfrm>
              <a:off x="3069336" y="3913632"/>
              <a:ext cx="4779645" cy="662940"/>
            </a:xfrm>
            <a:custGeom>
              <a:avLst/>
              <a:gdLst/>
              <a:ahLst/>
              <a:cxnLst/>
              <a:rect l="l" t="t" r="r" b="b"/>
              <a:pathLst>
                <a:path w="4779645" h="662939">
                  <a:moveTo>
                    <a:pt x="4668773" y="0"/>
                  </a:moveTo>
                  <a:lnTo>
                    <a:pt x="0" y="0"/>
                  </a:lnTo>
                  <a:lnTo>
                    <a:pt x="0" y="662940"/>
                  </a:lnTo>
                  <a:lnTo>
                    <a:pt x="4668773" y="662940"/>
                  </a:lnTo>
                  <a:lnTo>
                    <a:pt x="4711755" y="654248"/>
                  </a:lnTo>
                  <a:lnTo>
                    <a:pt x="4746878" y="630555"/>
                  </a:lnTo>
                  <a:lnTo>
                    <a:pt x="4770572" y="595431"/>
                  </a:lnTo>
                  <a:lnTo>
                    <a:pt x="4779264" y="552450"/>
                  </a:lnTo>
                  <a:lnTo>
                    <a:pt x="4779264" y="110490"/>
                  </a:lnTo>
                  <a:lnTo>
                    <a:pt x="4770572" y="67508"/>
                  </a:lnTo>
                  <a:lnTo>
                    <a:pt x="4746879" y="32385"/>
                  </a:lnTo>
                  <a:lnTo>
                    <a:pt x="4711755" y="8691"/>
                  </a:lnTo>
                  <a:lnTo>
                    <a:pt x="4668773" y="0"/>
                  </a:lnTo>
                  <a:close/>
                </a:path>
              </a:pathLst>
            </a:custGeom>
            <a:solidFill>
              <a:srgbClr val="D2CD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069336" y="3913632"/>
              <a:ext cx="4779645" cy="662940"/>
            </a:xfrm>
            <a:custGeom>
              <a:avLst/>
              <a:gdLst/>
              <a:ahLst/>
              <a:cxnLst/>
              <a:rect l="l" t="t" r="r" b="b"/>
              <a:pathLst>
                <a:path w="4779645" h="662939">
                  <a:moveTo>
                    <a:pt x="4779264" y="110490"/>
                  </a:moveTo>
                  <a:lnTo>
                    <a:pt x="4779264" y="552450"/>
                  </a:lnTo>
                  <a:lnTo>
                    <a:pt x="4770572" y="595431"/>
                  </a:lnTo>
                  <a:lnTo>
                    <a:pt x="4746878" y="630555"/>
                  </a:lnTo>
                  <a:lnTo>
                    <a:pt x="4711755" y="654248"/>
                  </a:lnTo>
                  <a:lnTo>
                    <a:pt x="4668773" y="662940"/>
                  </a:lnTo>
                  <a:lnTo>
                    <a:pt x="0" y="662940"/>
                  </a:lnTo>
                  <a:lnTo>
                    <a:pt x="0" y="0"/>
                  </a:lnTo>
                  <a:lnTo>
                    <a:pt x="4668773" y="0"/>
                  </a:lnTo>
                  <a:lnTo>
                    <a:pt x="4711755" y="8691"/>
                  </a:lnTo>
                  <a:lnTo>
                    <a:pt x="4746879" y="32385"/>
                  </a:lnTo>
                  <a:lnTo>
                    <a:pt x="4770572" y="67508"/>
                  </a:lnTo>
                  <a:lnTo>
                    <a:pt x="4779264" y="110490"/>
                  </a:lnTo>
                  <a:close/>
                </a:path>
              </a:pathLst>
            </a:custGeom>
            <a:ln w="12192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19044" y="4014216"/>
              <a:ext cx="258318" cy="34061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133344" y="4014216"/>
              <a:ext cx="2939034" cy="34061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867400" y="4014216"/>
              <a:ext cx="258317" cy="340613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920739" y="4014216"/>
              <a:ext cx="1853945" cy="34061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133344" y="4175760"/>
              <a:ext cx="1355597" cy="340613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3102991" y="4046346"/>
            <a:ext cx="4537710" cy="370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 indent="-113030">
              <a:lnSpc>
                <a:spcPts val="1355"/>
              </a:lnSpc>
              <a:spcBef>
                <a:spcPts val="100"/>
              </a:spcBef>
              <a:buChar char="•"/>
              <a:tabLst>
                <a:tab pos="125730" algn="l"/>
              </a:tabLst>
            </a:pPr>
            <a:r>
              <a:rPr sz="1200" spc="10" dirty="0">
                <a:latin typeface="Cambria"/>
                <a:cs typeface="Cambria"/>
              </a:rPr>
              <a:t>Employed</a:t>
            </a:r>
            <a:r>
              <a:rPr sz="1200" spc="12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to</a:t>
            </a:r>
            <a:r>
              <a:rPr sz="1200" spc="14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temporarily</a:t>
            </a:r>
            <a:r>
              <a:rPr sz="1200" spc="12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hold</a:t>
            </a:r>
            <a:r>
              <a:rPr sz="1200" spc="16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the</a:t>
            </a:r>
            <a:r>
              <a:rPr sz="1200" spc="14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right-hand</a:t>
            </a:r>
            <a:r>
              <a:rPr sz="1200" spc="14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instruction</a:t>
            </a:r>
            <a:r>
              <a:rPr sz="1200" spc="15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from</a:t>
            </a:r>
            <a:r>
              <a:rPr sz="1200" spc="145" dirty="0">
                <a:latin typeface="Cambria"/>
                <a:cs typeface="Cambria"/>
              </a:rPr>
              <a:t> </a:t>
            </a:r>
            <a:r>
              <a:rPr sz="1200" spc="-50" dirty="0">
                <a:latin typeface="Cambria"/>
                <a:cs typeface="Cambria"/>
              </a:rPr>
              <a:t>a</a:t>
            </a:r>
            <a:endParaRPr sz="1200">
              <a:latin typeface="Cambria"/>
              <a:cs typeface="Cambria"/>
            </a:endParaRPr>
          </a:p>
          <a:p>
            <a:pPr marL="127000">
              <a:lnSpc>
                <a:spcPts val="1355"/>
              </a:lnSpc>
            </a:pPr>
            <a:r>
              <a:rPr sz="1200" dirty="0">
                <a:latin typeface="Cambria"/>
                <a:cs typeface="Cambria"/>
              </a:rPr>
              <a:t>word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memory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15468" y="3791699"/>
            <a:ext cx="2814955" cy="954405"/>
            <a:chOff x="315468" y="3791699"/>
            <a:chExt cx="2814955" cy="954405"/>
          </a:xfrm>
        </p:grpSpPr>
        <p:pic>
          <p:nvPicPr>
            <p:cNvPr id="59" name="object 5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5468" y="3791699"/>
              <a:ext cx="2814828" cy="95403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50747" y="3901452"/>
              <a:ext cx="2214372" cy="78484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79476" y="3829811"/>
              <a:ext cx="2689860" cy="82905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14756" y="3941051"/>
              <a:ext cx="2088642" cy="44425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23544" y="4155935"/>
              <a:ext cx="1620774" cy="444258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826414" y="3983482"/>
            <a:ext cx="1795780" cy="4838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20979" marR="5080" indent="-208915">
              <a:lnSpc>
                <a:spcPts val="1689"/>
              </a:lnSpc>
              <a:spcBef>
                <a:spcPts val="340"/>
              </a:spcBef>
            </a:pPr>
            <a:r>
              <a:rPr sz="1600" b="1" spc="10" dirty="0">
                <a:solidFill>
                  <a:srgbClr val="FFFFFF"/>
                </a:solidFill>
                <a:latin typeface="Cambria"/>
                <a:cs typeface="Cambria"/>
              </a:rPr>
              <a:t>Instruction</a:t>
            </a:r>
            <a:r>
              <a:rPr sz="1600" b="1" spc="4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mbria"/>
                <a:cs typeface="Cambria"/>
              </a:rPr>
              <a:t>buffer </a:t>
            </a:r>
            <a:r>
              <a:rPr sz="1600" b="1" dirty="0">
                <a:solidFill>
                  <a:srgbClr val="FFFFFF"/>
                </a:solidFill>
                <a:latin typeface="Cambria"/>
                <a:cs typeface="Cambria"/>
              </a:rPr>
              <a:t>register</a:t>
            </a:r>
            <a:r>
              <a:rPr sz="1600" b="1" spc="3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mbria"/>
                <a:cs typeface="Cambria"/>
              </a:rPr>
              <a:t>(IBR)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3019044" y="4777485"/>
            <a:ext cx="4836160" cy="675640"/>
            <a:chOff x="3019044" y="4777485"/>
            <a:chExt cx="4836160" cy="675640"/>
          </a:xfrm>
        </p:grpSpPr>
        <p:sp>
          <p:nvSpPr>
            <p:cNvPr id="66" name="object 66"/>
            <p:cNvSpPr/>
            <p:nvPr/>
          </p:nvSpPr>
          <p:spPr>
            <a:xfrm>
              <a:off x="3069336" y="4783835"/>
              <a:ext cx="4779645" cy="662940"/>
            </a:xfrm>
            <a:custGeom>
              <a:avLst/>
              <a:gdLst/>
              <a:ahLst/>
              <a:cxnLst/>
              <a:rect l="l" t="t" r="r" b="b"/>
              <a:pathLst>
                <a:path w="4779645" h="662939">
                  <a:moveTo>
                    <a:pt x="4668773" y="0"/>
                  </a:moveTo>
                  <a:lnTo>
                    <a:pt x="0" y="0"/>
                  </a:lnTo>
                  <a:lnTo>
                    <a:pt x="0" y="662939"/>
                  </a:lnTo>
                  <a:lnTo>
                    <a:pt x="4668773" y="662939"/>
                  </a:lnTo>
                  <a:lnTo>
                    <a:pt x="4711755" y="654248"/>
                  </a:lnTo>
                  <a:lnTo>
                    <a:pt x="4746878" y="630554"/>
                  </a:lnTo>
                  <a:lnTo>
                    <a:pt x="4770572" y="595431"/>
                  </a:lnTo>
                  <a:lnTo>
                    <a:pt x="4779264" y="552450"/>
                  </a:lnTo>
                  <a:lnTo>
                    <a:pt x="4779264" y="110489"/>
                  </a:lnTo>
                  <a:lnTo>
                    <a:pt x="4770572" y="67508"/>
                  </a:lnTo>
                  <a:lnTo>
                    <a:pt x="4746879" y="32384"/>
                  </a:lnTo>
                  <a:lnTo>
                    <a:pt x="4711755" y="8691"/>
                  </a:lnTo>
                  <a:lnTo>
                    <a:pt x="4668773" y="0"/>
                  </a:lnTo>
                  <a:close/>
                </a:path>
              </a:pathLst>
            </a:custGeom>
            <a:solidFill>
              <a:srgbClr val="D2CD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069336" y="4783835"/>
              <a:ext cx="4779645" cy="662940"/>
            </a:xfrm>
            <a:custGeom>
              <a:avLst/>
              <a:gdLst/>
              <a:ahLst/>
              <a:cxnLst/>
              <a:rect l="l" t="t" r="r" b="b"/>
              <a:pathLst>
                <a:path w="4779645" h="662939">
                  <a:moveTo>
                    <a:pt x="4779264" y="110489"/>
                  </a:moveTo>
                  <a:lnTo>
                    <a:pt x="4779264" y="552450"/>
                  </a:lnTo>
                  <a:lnTo>
                    <a:pt x="4770572" y="595431"/>
                  </a:lnTo>
                  <a:lnTo>
                    <a:pt x="4746878" y="630554"/>
                  </a:lnTo>
                  <a:lnTo>
                    <a:pt x="4711755" y="654248"/>
                  </a:lnTo>
                  <a:lnTo>
                    <a:pt x="4668773" y="662939"/>
                  </a:lnTo>
                  <a:lnTo>
                    <a:pt x="0" y="662939"/>
                  </a:lnTo>
                  <a:lnTo>
                    <a:pt x="0" y="0"/>
                  </a:lnTo>
                  <a:lnTo>
                    <a:pt x="4668773" y="0"/>
                  </a:lnTo>
                  <a:lnTo>
                    <a:pt x="4711755" y="8691"/>
                  </a:lnTo>
                  <a:lnTo>
                    <a:pt x="4746879" y="32384"/>
                  </a:lnTo>
                  <a:lnTo>
                    <a:pt x="4770572" y="67508"/>
                  </a:lnTo>
                  <a:lnTo>
                    <a:pt x="4779264" y="110489"/>
                  </a:lnTo>
                  <a:close/>
                </a:path>
              </a:pathLst>
            </a:custGeom>
            <a:ln w="12192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019044" y="4884419"/>
              <a:ext cx="258318" cy="34061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133344" y="4884419"/>
              <a:ext cx="4552950" cy="34061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133344" y="5045963"/>
              <a:ext cx="1154430" cy="340614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3102991" y="4916246"/>
            <a:ext cx="4444365" cy="370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4" indent="-113664">
              <a:lnSpc>
                <a:spcPts val="1355"/>
              </a:lnSpc>
              <a:spcBef>
                <a:spcPts val="100"/>
              </a:spcBef>
              <a:buChar char="•"/>
              <a:tabLst>
                <a:tab pos="126364" algn="l"/>
              </a:tabLst>
            </a:pPr>
            <a:r>
              <a:rPr sz="1200" spc="10" dirty="0">
                <a:latin typeface="Cambria"/>
                <a:cs typeface="Cambria"/>
              </a:rPr>
              <a:t>Contains</a:t>
            </a:r>
            <a:r>
              <a:rPr sz="1200" spc="12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the</a:t>
            </a:r>
            <a:r>
              <a:rPr sz="1200" spc="114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address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of</a:t>
            </a:r>
            <a:r>
              <a:rPr sz="1200" spc="10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the</a:t>
            </a:r>
            <a:r>
              <a:rPr sz="1200" spc="114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next</a:t>
            </a:r>
            <a:r>
              <a:rPr sz="1200" spc="12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instruction</a:t>
            </a:r>
            <a:r>
              <a:rPr sz="1200" spc="13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pair</a:t>
            </a:r>
            <a:r>
              <a:rPr sz="1200" spc="11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to</a:t>
            </a:r>
            <a:r>
              <a:rPr sz="1200" spc="100" dirty="0">
                <a:latin typeface="Cambria"/>
                <a:cs typeface="Cambria"/>
              </a:rPr>
              <a:t> be</a:t>
            </a:r>
            <a:r>
              <a:rPr sz="1200" spc="114" dirty="0">
                <a:latin typeface="Cambria"/>
                <a:cs typeface="Cambria"/>
              </a:rPr>
              <a:t> </a:t>
            </a:r>
            <a:r>
              <a:rPr sz="1200" spc="35" dirty="0">
                <a:latin typeface="Cambria"/>
                <a:cs typeface="Cambria"/>
              </a:rPr>
              <a:t>fetched</a:t>
            </a:r>
            <a:endParaRPr sz="1200">
              <a:latin typeface="Cambria"/>
              <a:cs typeface="Cambria"/>
            </a:endParaRPr>
          </a:p>
          <a:p>
            <a:pPr marL="127000">
              <a:lnSpc>
                <a:spcPts val="1355"/>
              </a:lnSpc>
            </a:pPr>
            <a:r>
              <a:rPr sz="1200" dirty="0">
                <a:latin typeface="Cambria"/>
                <a:cs typeface="Cambria"/>
              </a:rPr>
              <a:t>from</a:t>
            </a:r>
            <a:r>
              <a:rPr sz="1200" spc="4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memory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15468" y="4660391"/>
            <a:ext cx="2814955" cy="955675"/>
            <a:chOff x="315468" y="4660391"/>
            <a:chExt cx="2814955" cy="955675"/>
          </a:xfrm>
        </p:grpSpPr>
        <p:pic>
          <p:nvPicPr>
            <p:cNvPr id="73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5468" y="4660391"/>
              <a:ext cx="2814828" cy="95554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46531" y="4879835"/>
              <a:ext cx="2570988" cy="569988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9476" y="4698491"/>
              <a:ext cx="2689860" cy="83058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10539" y="4917935"/>
              <a:ext cx="2445258" cy="444258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622198" y="4961382"/>
            <a:ext cx="2203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5" dirty="0">
                <a:solidFill>
                  <a:srgbClr val="FFFFFF"/>
                </a:solidFill>
                <a:latin typeface="Cambria"/>
                <a:cs typeface="Cambria"/>
              </a:rPr>
              <a:t>Program</a:t>
            </a:r>
            <a:r>
              <a:rPr sz="1600" b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mbria"/>
                <a:cs typeface="Cambria"/>
              </a:rPr>
              <a:t>counter</a:t>
            </a:r>
            <a:r>
              <a:rPr sz="1600" b="1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mbria"/>
                <a:cs typeface="Cambria"/>
              </a:rPr>
              <a:t>(PC)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3019044" y="5647690"/>
            <a:ext cx="4836160" cy="675640"/>
            <a:chOff x="3019044" y="5647690"/>
            <a:chExt cx="4836160" cy="675640"/>
          </a:xfrm>
        </p:grpSpPr>
        <p:sp>
          <p:nvSpPr>
            <p:cNvPr id="79" name="object 79"/>
            <p:cNvSpPr/>
            <p:nvPr/>
          </p:nvSpPr>
          <p:spPr>
            <a:xfrm>
              <a:off x="3069336" y="5654040"/>
              <a:ext cx="4779645" cy="662940"/>
            </a:xfrm>
            <a:custGeom>
              <a:avLst/>
              <a:gdLst/>
              <a:ahLst/>
              <a:cxnLst/>
              <a:rect l="l" t="t" r="r" b="b"/>
              <a:pathLst>
                <a:path w="4779645" h="662939">
                  <a:moveTo>
                    <a:pt x="4668773" y="0"/>
                  </a:moveTo>
                  <a:lnTo>
                    <a:pt x="0" y="0"/>
                  </a:lnTo>
                  <a:lnTo>
                    <a:pt x="0" y="662940"/>
                  </a:lnTo>
                  <a:lnTo>
                    <a:pt x="4668773" y="662940"/>
                  </a:lnTo>
                  <a:lnTo>
                    <a:pt x="4711755" y="654257"/>
                  </a:lnTo>
                  <a:lnTo>
                    <a:pt x="4746878" y="630578"/>
                  </a:lnTo>
                  <a:lnTo>
                    <a:pt x="4770572" y="595458"/>
                  </a:lnTo>
                  <a:lnTo>
                    <a:pt x="4779264" y="552450"/>
                  </a:lnTo>
                  <a:lnTo>
                    <a:pt x="4779264" y="110490"/>
                  </a:lnTo>
                  <a:lnTo>
                    <a:pt x="4770572" y="67481"/>
                  </a:lnTo>
                  <a:lnTo>
                    <a:pt x="4746879" y="32361"/>
                  </a:lnTo>
                  <a:lnTo>
                    <a:pt x="4711755" y="8682"/>
                  </a:lnTo>
                  <a:lnTo>
                    <a:pt x="4668773" y="0"/>
                  </a:lnTo>
                  <a:close/>
                </a:path>
              </a:pathLst>
            </a:custGeom>
            <a:solidFill>
              <a:srgbClr val="D2CD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069336" y="5654040"/>
              <a:ext cx="4779645" cy="662940"/>
            </a:xfrm>
            <a:custGeom>
              <a:avLst/>
              <a:gdLst/>
              <a:ahLst/>
              <a:cxnLst/>
              <a:rect l="l" t="t" r="r" b="b"/>
              <a:pathLst>
                <a:path w="4779645" h="662939">
                  <a:moveTo>
                    <a:pt x="4779264" y="110490"/>
                  </a:moveTo>
                  <a:lnTo>
                    <a:pt x="4779264" y="552450"/>
                  </a:lnTo>
                  <a:lnTo>
                    <a:pt x="4770572" y="595458"/>
                  </a:lnTo>
                  <a:lnTo>
                    <a:pt x="4746878" y="630578"/>
                  </a:lnTo>
                  <a:lnTo>
                    <a:pt x="4711755" y="654257"/>
                  </a:lnTo>
                  <a:lnTo>
                    <a:pt x="4668773" y="662940"/>
                  </a:lnTo>
                  <a:lnTo>
                    <a:pt x="0" y="662940"/>
                  </a:lnTo>
                  <a:lnTo>
                    <a:pt x="0" y="0"/>
                  </a:lnTo>
                  <a:lnTo>
                    <a:pt x="4668773" y="0"/>
                  </a:lnTo>
                  <a:lnTo>
                    <a:pt x="4711755" y="8682"/>
                  </a:lnTo>
                  <a:lnTo>
                    <a:pt x="4746879" y="32361"/>
                  </a:lnTo>
                  <a:lnTo>
                    <a:pt x="4770572" y="67481"/>
                  </a:lnTo>
                  <a:lnTo>
                    <a:pt x="4779264" y="110490"/>
                  </a:lnTo>
                  <a:close/>
                </a:path>
              </a:pathLst>
            </a:custGeom>
            <a:ln w="12192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019044" y="5754624"/>
              <a:ext cx="258318" cy="340613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133344" y="5754624"/>
              <a:ext cx="4336541" cy="340613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133344" y="5916168"/>
              <a:ext cx="950213" cy="340613"/>
            </a:xfrm>
            <a:prstGeom prst="rect">
              <a:avLst/>
            </a:prstGeom>
          </p:spPr>
        </p:pic>
      </p:grpSp>
      <p:sp>
        <p:nvSpPr>
          <p:cNvPr id="84" name="object 84"/>
          <p:cNvSpPr txBox="1"/>
          <p:nvPr/>
        </p:nvSpPr>
        <p:spPr>
          <a:xfrm>
            <a:off x="3102991" y="5787034"/>
            <a:ext cx="4232275" cy="370205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5730" marR="5080" indent="-113030">
              <a:lnSpc>
                <a:spcPts val="1270"/>
              </a:lnSpc>
              <a:spcBef>
                <a:spcPts val="284"/>
              </a:spcBef>
              <a:buChar char="•"/>
              <a:tabLst>
                <a:tab pos="127000" algn="l"/>
              </a:tabLst>
            </a:pPr>
            <a:r>
              <a:rPr sz="1200" spc="10" dirty="0">
                <a:latin typeface="Cambria"/>
                <a:cs typeface="Cambria"/>
              </a:rPr>
              <a:t>Employed</a:t>
            </a:r>
            <a:r>
              <a:rPr sz="1200" spc="14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to</a:t>
            </a:r>
            <a:r>
              <a:rPr sz="1200" spc="16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temporarily</a:t>
            </a:r>
            <a:r>
              <a:rPr sz="1200" spc="13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hold</a:t>
            </a:r>
            <a:r>
              <a:rPr sz="1200" spc="18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operands</a:t>
            </a:r>
            <a:r>
              <a:rPr sz="1200" spc="14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and</a:t>
            </a:r>
            <a:r>
              <a:rPr sz="1200" spc="17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results</a:t>
            </a:r>
            <a:r>
              <a:rPr sz="1200" spc="15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of</a:t>
            </a:r>
            <a:r>
              <a:rPr sz="1200" spc="170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ALU 	</a:t>
            </a:r>
            <a:r>
              <a:rPr sz="1200" spc="-10" dirty="0">
                <a:latin typeface="Cambria"/>
                <a:cs typeface="Cambria"/>
              </a:rPr>
              <a:t>operations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300227" y="5530596"/>
            <a:ext cx="2865120" cy="955675"/>
            <a:chOff x="300227" y="5530596"/>
            <a:chExt cx="2865120" cy="955675"/>
          </a:xfrm>
        </p:grpSpPr>
        <p:pic>
          <p:nvPicPr>
            <p:cNvPr id="86" name="object 8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5467" y="5530596"/>
              <a:ext cx="2814828" cy="955547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00227" y="5641848"/>
              <a:ext cx="2865120" cy="784847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79475" y="5568696"/>
              <a:ext cx="2689860" cy="830580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98347" y="5679948"/>
              <a:ext cx="2521458" cy="444258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64235" y="5894832"/>
              <a:ext cx="2739390" cy="444258"/>
            </a:xfrm>
            <a:prstGeom prst="rect">
              <a:avLst/>
            </a:prstGeom>
          </p:spPr>
        </p:pic>
      </p:grpSp>
      <p:sp>
        <p:nvSpPr>
          <p:cNvPr id="91" name="object 91"/>
          <p:cNvSpPr txBox="1"/>
          <p:nvPr/>
        </p:nvSpPr>
        <p:spPr>
          <a:xfrm>
            <a:off x="475894" y="5723940"/>
            <a:ext cx="2498090" cy="483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805"/>
              </a:lnSpc>
              <a:spcBef>
                <a:spcPts val="95"/>
              </a:spcBef>
            </a:pPr>
            <a:r>
              <a:rPr sz="1600" b="1" spc="55" dirty="0">
                <a:solidFill>
                  <a:srgbClr val="FFFFFF"/>
                </a:solidFill>
                <a:latin typeface="Cambria"/>
                <a:cs typeface="Cambria"/>
              </a:rPr>
              <a:t>Accumulator</a:t>
            </a:r>
            <a:r>
              <a:rPr sz="1600" b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mbria"/>
                <a:cs typeface="Cambria"/>
              </a:rPr>
              <a:t>(AC)</a:t>
            </a:r>
            <a:r>
              <a:rPr sz="1600" b="1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endParaRPr sz="1600">
              <a:latin typeface="Cambria"/>
              <a:cs typeface="Cambria"/>
            </a:endParaRPr>
          </a:p>
          <a:p>
            <a:pPr algn="ctr">
              <a:lnSpc>
                <a:spcPts val="1805"/>
              </a:lnSpc>
            </a:pPr>
            <a:r>
              <a:rPr sz="1600" b="1" spc="10" dirty="0">
                <a:solidFill>
                  <a:srgbClr val="FFFFFF"/>
                </a:solidFill>
                <a:latin typeface="Cambria"/>
                <a:cs typeface="Cambria"/>
              </a:rPr>
              <a:t>multiplier</a:t>
            </a:r>
            <a:r>
              <a:rPr sz="1600" b="1" spc="2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spc="10" dirty="0">
                <a:solidFill>
                  <a:srgbClr val="FFFFFF"/>
                </a:solidFill>
                <a:latin typeface="Cambria"/>
                <a:cs typeface="Cambria"/>
              </a:rPr>
              <a:t>quotient</a:t>
            </a:r>
            <a:r>
              <a:rPr sz="1600" b="1" spc="2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b="1" spc="70" dirty="0">
                <a:solidFill>
                  <a:srgbClr val="FFFFFF"/>
                </a:solidFill>
                <a:latin typeface="Cambria"/>
                <a:cs typeface="Cambria"/>
              </a:rPr>
              <a:t>(MQ)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92" name="object 9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444329" y="264987"/>
            <a:ext cx="3637279" cy="5401945"/>
            <a:chOff x="2444329" y="264987"/>
            <a:chExt cx="3637279" cy="5401945"/>
          </a:xfrm>
        </p:grpSpPr>
        <p:sp>
          <p:nvSpPr>
            <p:cNvPr id="4" name="object 4"/>
            <p:cNvSpPr/>
            <p:nvPr/>
          </p:nvSpPr>
          <p:spPr>
            <a:xfrm>
              <a:off x="2457600" y="275311"/>
              <a:ext cx="3610610" cy="5379085"/>
            </a:xfrm>
            <a:custGeom>
              <a:avLst/>
              <a:gdLst/>
              <a:ahLst/>
              <a:cxnLst/>
              <a:rect l="l" t="t" r="r" b="b"/>
              <a:pathLst>
                <a:path w="3610610" h="5379085">
                  <a:moveTo>
                    <a:pt x="3610440" y="0"/>
                  </a:moveTo>
                  <a:lnTo>
                    <a:pt x="0" y="0"/>
                  </a:lnTo>
                  <a:lnTo>
                    <a:pt x="0" y="5379014"/>
                  </a:lnTo>
                  <a:lnTo>
                    <a:pt x="3610440" y="5379014"/>
                  </a:lnTo>
                  <a:lnTo>
                    <a:pt x="3610440" y="0"/>
                  </a:lnTo>
                  <a:close/>
                </a:path>
              </a:pathLst>
            </a:custGeom>
            <a:solidFill>
              <a:srgbClr val="D7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71560" y="5654326"/>
              <a:ext cx="3496945" cy="0"/>
            </a:xfrm>
            <a:custGeom>
              <a:avLst/>
              <a:gdLst/>
              <a:ahLst/>
              <a:cxnLst/>
              <a:rect l="l" t="t" r="r" b="b"/>
              <a:pathLst>
                <a:path w="3496945">
                  <a:moveTo>
                    <a:pt x="0" y="0"/>
                  </a:moveTo>
                  <a:lnTo>
                    <a:pt x="3496480" y="0"/>
                  </a:lnTo>
                </a:path>
              </a:pathLst>
            </a:custGeom>
            <a:ln w="18693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57600" y="5620011"/>
              <a:ext cx="33020" cy="34925"/>
            </a:xfrm>
            <a:custGeom>
              <a:avLst/>
              <a:gdLst/>
              <a:ahLst/>
              <a:cxnLst/>
              <a:rect l="l" t="t" r="r" b="b"/>
              <a:pathLst>
                <a:path w="33019" h="34925">
                  <a:moveTo>
                    <a:pt x="32617" y="34315"/>
                  </a:moveTo>
                  <a:lnTo>
                    <a:pt x="0" y="34315"/>
                  </a:lnTo>
                  <a:lnTo>
                    <a:pt x="0" y="0"/>
                  </a:lnTo>
                </a:path>
              </a:pathLst>
            </a:custGeom>
            <a:ln w="228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57600" y="353188"/>
              <a:ext cx="0" cy="5209540"/>
            </a:xfrm>
            <a:custGeom>
              <a:avLst/>
              <a:gdLst/>
              <a:ahLst/>
              <a:cxnLst/>
              <a:rect l="l" t="t" r="r" b="b"/>
              <a:pathLst>
                <a:path h="5209540">
                  <a:moveTo>
                    <a:pt x="0" y="0"/>
                  </a:moveTo>
                  <a:lnTo>
                    <a:pt x="0" y="5209535"/>
                  </a:lnTo>
                </a:path>
              </a:pathLst>
            </a:custGeom>
            <a:ln w="2654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57600" y="275311"/>
              <a:ext cx="50800" cy="20955"/>
            </a:xfrm>
            <a:custGeom>
              <a:avLst/>
              <a:gdLst/>
              <a:ahLst/>
              <a:cxnLst/>
              <a:rect l="l" t="t" r="r" b="b"/>
              <a:pathLst>
                <a:path w="50800" h="20954">
                  <a:moveTo>
                    <a:pt x="0" y="20589"/>
                  </a:moveTo>
                  <a:lnTo>
                    <a:pt x="0" y="0"/>
                  </a:lnTo>
                  <a:lnTo>
                    <a:pt x="50754" y="0"/>
                  </a:lnTo>
                </a:path>
              </a:pathLst>
            </a:custGeom>
            <a:ln w="198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89696" y="275311"/>
              <a:ext cx="3334385" cy="0"/>
            </a:xfrm>
            <a:custGeom>
              <a:avLst/>
              <a:gdLst/>
              <a:ahLst/>
              <a:cxnLst/>
              <a:rect l="l" t="t" r="r" b="b"/>
              <a:pathLst>
                <a:path w="3334385">
                  <a:moveTo>
                    <a:pt x="0" y="0"/>
                  </a:moveTo>
                  <a:lnTo>
                    <a:pt x="3333932" y="0"/>
                  </a:lnTo>
                </a:path>
              </a:pathLst>
            </a:custGeom>
            <a:ln w="18693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04969" y="275311"/>
              <a:ext cx="63500" cy="13335"/>
            </a:xfrm>
            <a:custGeom>
              <a:avLst/>
              <a:gdLst/>
              <a:ahLst/>
              <a:cxnLst/>
              <a:rect l="l" t="t" r="r" b="b"/>
              <a:pathLst>
                <a:path w="63500" h="13335">
                  <a:moveTo>
                    <a:pt x="0" y="0"/>
                  </a:moveTo>
                  <a:lnTo>
                    <a:pt x="63070" y="0"/>
                  </a:lnTo>
                  <a:lnTo>
                    <a:pt x="63070" y="12772"/>
                  </a:lnTo>
                </a:path>
              </a:pathLst>
            </a:custGeom>
            <a:ln w="190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68040" y="345372"/>
              <a:ext cx="0" cy="5309235"/>
            </a:xfrm>
            <a:custGeom>
              <a:avLst/>
              <a:gdLst/>
              <a:ahLst/>
              <a:cxnLst/>
              <a:rect l="l" t="t" r="r" b="b"/>
              <a:pathLst>
                <a:path h="5309235">
                  <a:moveTo>
                    <a:pt x="0" y="0"/>
                  </a:moveTo>
                  <a:lnTo>
                    <a:pt x="0" y="5308954"/>
                  </a:lnTo>
                </a:path>
              </a:pathLst>
            </a:custGeom>
            <a:ln w="2654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55048" y="343942"/>
              <a:ext cx="3415665" cy="2061210"/>
            </a:xfrm>
            <a:custGeom>
              <a:avLst/>
              <a:gdLst/>
              <a:ahLst/>
              <a:cxnLst/>
              <a:rect l="l" t="t" r="r" b="b"/>
              <a:pathLst>
                <a:path w="3415665" h="2061210">
                  <a:moveTo>
                    <a:pt x="3415273" y="0"/>
                  </a:moveTo>
                  <a:lnTo>
                    <a:pt x="0" y="0"/>
                  </a:lnTo>
                  <a:lnTo>
                    <a:pt x="0" y="2061013"/>
                  </a:lnTo>
                  <a:lnTo>
                    <a:pt x="3415273" y="2061013"/>
                  </a:lnTo>
                  <a:lnTo>
                    <a:pt x="3415273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55048" y="343942"/>
              <a:ext cx="3415665" cy="2061210"/>
            </a:xfrm>
            <a:custGeom>
              <a:avLst/>
              <a:gdLst/>
              <a:ahLst/>
              <a:cxnLst/>
              <a:rect l="l" t="t" r="r" b="b"/>
              <a:pathLst>
                <a:path w="3415665" h="2061210">
                  <a:moveTo>
                    <a:pt x="3415273" y="2061013"/>
                  </a:moveTo>
                  <a:lnTo>
                    <a:pt x="0" y="2061013"/>
                  </a:lnTo>
                  <a:lnTo>
                    <a:pt x="0" y="0"/>
                  </a:lnTo>
                  <a:lnTo>
                    <a:pt x="3415273" y="0"/>
                  </a:lnTo>
                  <a:lnTo>
                    <a:pt x="3415273" y="2061013"/>
                  </a:lnTo>
                  <a:close/>
                </a:path>
              </a:pathLst>
            </a:custGeom>
            <a:ln w="207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55048" y="3091928"/>
              <a:ext cx="3415665" cy="2494280"/>
            </a:xfrm>
            <a:custGeom>
              <a:avLst/>
              <a:gdLst/>
              <a:ahLst/>
              <a:cxnLst/>
              <a:rect l="l" t="t" r="r" b="b"/>
              <a:pathLst>
                <a:path w="3415665" h="2494279">
                  <a:moveTo>
                    <a:pt x="3415273" y="0"/>
                  </a:moveTo>
                  <a:lnTo>
                    <a:pt x="0" y="0"/>
                  </a:lnTo>
                  <a:lnTo>
                    <a:pt x="0" y="2493767"/>
                  </a:lnTo>
                  <a:lnTo>
                    <a:pt x="3415273" y="2493767"/>
                  </a:lnTo>
                  <a:lnTo>
                    <a:pt x="3415273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55048" y="3091928"/>
              <a:ext cx="3415665" cy="2494280"/>
            </a:xfrm>
            <a:custGeom>
              <a:avLst/>
              <a:gdLst/>
              <a:ahLst/>
              <a:cxnLst/>
              <a:rect l="l" t="t" r="r" b="b"/>
              <a:pathLst>
                <a:path w="3415665" h="2494279">
                  <a:moveTo>
                    <a:pt x="3415273" y="2493767"/>
                  </a:moveTo>
                  <a:lnTo>
                    <a:pt x="0" y="2493767"/>
                  </a:lnTo>
                  <a:lnTo>
                    <a:pt x="0" y="0"/>
                  </a:lnTo>
                  <a:lnTo>
                    <a:pt x="3415273" y="0"/>
                  </a:lnTo>
                  <a:lnTo>
                    <a:pt x="3415273" y="2493767"/>
                  </a:lnTo>
                  <a:close/>
                </a:path>
              </a:pathLst>
            </a:custGeom>
            <a:ln w="21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039323" y="3085466"/>
            <a:ext cx="793750" cy="2506980"/>
            <a:chOff x="1039323" y="3085466"/>
            <a:chExt cx="793750" cy="2506980"/>
          </a:xfrm>
        </p:grpSpPr>
        <p:sp>
          <p:nvSpPr>
            <p:cNvPr id="17" name="object 17"/>
            <p:cNvSpPr/>
            <p:nvPr/>
          </p:nvSpPr>
          <p:spPr>
            <a:xfrm>
              <a:off x="1045785" y="3091928"/>
              <a:ext cx="781050" cy="2494280"/>
            </a:xfrm>
            <a:custGeom>
              <a:avLst/>
              <a:gdLst/>
              <a:ahLst/>
              <a:cxnLst/>
              <a:rect l="l" t="t" r="r" b="b"/>
              <a:pathLst>
                <a:path w="781050" h="2494279">
                  <a:moveTo>
                    <a:pt x="780434" y="0"/>
                  </a:moveTo>
                  <a:lnTo>
                    <a:pt x="0" y="0"/>
                  </a:lnTo>
                  <a:lnTo>
                    <a:pt x="0" y="2493767"/>
                  </a:lnTo>
                  <a:lnTo>
                    <a:pt x="780434" y="2493767"/>
                  </a:lnTo>
                  <a:lnTo>
                    <a:pt x="780434" y="0"/>
                  </a:lnTo>
                  <a:close/>
                </a:path>
              </a:pathLst>
            </a:custGeom>
            <a:solidFill>
              <a:srgbClr val="D7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45785" y="3091928"/>
              <a:ext cx="781050" cy="2494280"/>
            </a:xfrm>
            <a:custGeom>
              <a:avLst/>
              <a:gdLst/>
              <a:ahLst/>
              <a:cxnLst/>
              <a:rect l="l" t="t" r="r" b="b"/>
              <a:pathLst>
                <a:path w="781050" h="2494279">
                  <a:moveTo>
                    <a:pt x="780434" y="2493767"/>
                  </a:moveTo>
                  <a:lnTo>
                    <a:pt x="0" y="2493767"/>
                  </a:lnTo>
                  <a:lnTo>
                    <a:pt x="0" y="0"/>
                  </a:lnTo>
                  <a:lnTo>
                    <a:pt x="780434" y="0"/>
                  </a:lnTo>
                  <a:lnTo>
                    <a:pt x="780434" y="2493767"/>
                  </a:lnTo>
                  <a:close/>
                </a:path>
                <a:path w="781050" h="2494279">
                  <a:moveTo>
                    <a:pt x="780434" y="2347736"/>
                  </a:moveTo>
                  <a:lnTo>
                    <a:pt x="780434" y="2347736"/>
                  </a:lnTo>
                  <a:lnTo>
                    <a:pt x="0" y="2347736"/>
                  </a:lnTo>
                </a:path>
                <a:path w="781050" h="2494279">
                  <a:moveTo>
                    <a:pt x="0" y="145267"/>
                  </a:moveTo>
                  <a:lnTo>
                    <a:pt x="0" y="145267"/>
                  </a:lnTo>
                  <a:lnTo>
                    <a:pt x="780434" y="145267"/>
                  </a:lnTo>
                </a:path>
              </a:pathLst>
            </a:custGeom>
            <a:ln w="111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708784" y="1882382"/>
            <a:ext cx="1108710" cy="267970"/>
            <a:chOff x="3708784" y="1882382"/>
            <a:chExt cx="1108710" cy="267970"/>
          </a:xfrm>
        </p:grpSpPr>
        <p:sp>
          <p:nvSpPr>
            <p:cNvPr id="20" name="object 20"/>
            <p:cNvSpPr/>
            <p:nvPr/>
          </p:nvSpPr>
          <p:spPr>
            <a:xfrm>
              <a:off x="3713864" y="1887462"/>
              <a:ext cx="1098550" cy="257810"/>
            </a:xfrm>
            <a:custGeom>
              <a:avLst/>
              <a:gdLst/>
              <a:ahLst/>
              <a:cxnLst/>
              <a:rect l="l" t="t" r="r" b="b"/>
              <a:pathLst>
                <a:path w="1098550" h="257810">
                  <a:moveTo>
                    <a:pt x="1098046" y="0"/>
                  </a:moveTo>
                  <a:lnTo>
                    <a:pt x="0" y="0"/>
                  </a:lnTo>
                  <a:lnTo>
                    <a:pt x="0" y="257650"/>
                  </a:lnTo>
                  <a:lnTo>
                    <a:pt x="1098046" y="257650"/>
                  </a:lnTo>
                  <a:lnTo>
                    <a:pt x="1098046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13864" y="1887462"/>
              <a:ext cx="1098550" cy="257810"/>
            </a:xfrm>
            <a:custGeom>
              <a:avLst/>
              <a:gdLst/>
              <a:ahLst/>
              <a:cxnLst/>
              <a:rect l="l" t="t" r="r" b="b"/>
              <a:pathLst>
                <a:path w="1098550" h="257810">
                  <a:moveTo>
                    <a:pt x="1098046" y="257650"/>
                  </a:moveTo>
                  <a:lnTo>
                    <a:pt x="0" y="257650"/>
                  </a:lnTo>
                  <a:lnTo>
                    <a:pt x="0" y="0"/>
                  </a:lnTo>
                  <a:lnTo>
                    <a:pt x="1098046" y="0"/>
                  </a:lnTo>
                  <a:lnTo>
                    <a:pt x="1098046" y="257650"/>
                  </a:lnTo>
                  <a:close/>
                </a:path>
              </a:pathLst>
            </a:custGeom>
            <a:ln w="94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494664" y="4723429"/>
            <a:ext cx="975994" cy="515620"/>
          </a:xfrm>
          <a:prstGeom prst="rect">
            <a:avLst/>
          </a:prstGeom>
          <a:solidFill>
            <a:srgbClr val="DCDCDC"/>
          </a:solidFill>
          <a:ln w="10622">
            <a:solidFill>
              <a:srgbClr val="000000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marL="233045" marR="210185" indent="-13335">
              <a:lnSpc>
                <a:spcPct val="100000"/>
              </a:lnSpc>
              <a:spcBef>
                <a:spcPts val="725"/>
              </a:spcBef>
            </a:pPr>
            <a:r>
              <a:rPr sz="900" b="1" spc="160" dirty="0">
                <a:latin typeface="Times New Roman"/>
                <a:cs typeface="Times New Roman"/>
              </a:rPr>
              <a:t>Control </a:t>
            </a:r>
            <a:r>
              <a:rPr sz="900" b="1" spc="130" dirty="0">
                <a:latin typeface="Times New Roman"/>
                <a:cs typeface="Times New Roman"/>
              </a:rPr>
              <a:t>circuits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74695" y="5638814"/>
            <a:ext cx="7277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165" dirty="0">
                <a:latin typeface="Times New Roman"/>
                <a:cs typeface="Times New Roman"/>
              </a:rPr>
              <a:t>Addresses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73129" y="4877301"/>
            <a:ext cx="562610" cy="30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spc="160" dirty="0">
                <a:latin typeface="Times New Roman"/>
                <a:cs typeface="Times New Roman"/>
              </a:rPr>
              <a:t>Control </a:t>
            </a:r>
            <a:r>
              <a:rPr sz="900" b="1" spc="140" dirty="0">
                <a:latin typeface="Times New Roman"/>
                <a:cs typeface="Times New Roman"/>
              </a:rPr>
              <a:t>signals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24250" y="2858609"/>
            <a:ext cx="860425" cy="30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spc="145" dirty="0">
                <a:latin typeface="Times New Roman"/>
                <a:cs typeface="Times New Roman"/>
              </a:rPr>
              <a:t>Instructions </a:t>
            </a:r>
            <a:r>
              <a:rPr sz="900" b="1" spc="195" dirty="0">
                <a:latin typeface="Times New Roman"/>
                <a:cs typeface="Times New Roman"/>
              </a:rPr>
              <a:t>and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spc="150" dirty="0">
                <a:latin typeface="Times New Roman"/>
                <a:cs typeface="Times New Roman"/>
              </a:rPr>
              <a:t>data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66748" y="3599343"/>
            <a:ext cx="2067560" cy="987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925">
              <a:lnSpc>
                <a:spcPct val="100000"/>
              </a:lnSpc>
              <a:spcBef>
                <a:spcPts val="100"/>
              </a:spcBef>
            </a:pPr>
            <a:r>
              <a:rPr sz="900" spc="204" dirty="0">
                <a:latin typeface="Times New Roman"/>
                <a:cs typeface="Times New Roman"/>
              </a:rPr>
              <a:t>AC: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spc="170" dirty="0">
                <a:latin typeface="Times New Roman"/>
                <a:cs typeface="Times New Roman"/>
              </a:rPr>
              <a:t>Accumulator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spc="125" dirty="0">
                <a:latin typeface="Times New Roman"/>
                <a:cs typeface="Times New Roman"/>
              </a:rPr>
              <a:t>register</a:t>
            </a:r>
            <a:r>
              <a:rPr sz="900" spc="500" dirty="0">
                <a:latin typeface="Times New Roman"/>
                <a:cs typeface="Times New Roman"/>
              </a:rPr>
              <a:t> </a:t>
            </a:r>
            <a:r>
              <a:rPr sz="900" spc="229" dirty="0">
                <a:latin typeface="Times New Roman"/>
                <a:cs typeface="Times New Roman"/>
              </a:rPr>
              <a:t>MQ: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spc="150" dirty="0">
                <a:latin typeface="Times New Roman"/>
                <a:cs typeface="Times New Roman"/>
              </a:rPr>
              <a:t>multiply-</a:t>
            </a:r>
            <a:r>
              <a:rPr sz="900" spc="145" dirty="0">
                <a:latin typeface="Times New Roman"/>
                <a:cs typeface="Times New Roman"/>
              </a:rPr>
              <a:t>quotient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spc="125" dirty="0">
                <a:latin typeface="Times New Roman"/>
                <a:cs typeface="Times New Roman"/>
              </a:rPr>
              <a:t>register </a:t>
            </a:r>
            <a:r>
              <a:rPr sz="900" spc="229" dirty="0">
                <a:latin typeface="Times New Roman"/>
                <a:cs typeface="Times New Roman"/>
              </a:rPr>
              <a:t>MBR: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spc="204" dirty="0">
                <a:latin typeface="Times New Roman"/>
                <a:cs typeface="Times New Roman"/>
              </a:rPr>
              <a:t>memory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spc="155" dirty="0">
                <a:latin typeface="Times New Roman"/>
                <a:cs typeface="Times New Roman"/>
              </a:rPr>
              <a:t>buffer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spc="125" dirty="0">
                <a:latin typeface="Times New Roman"/>
                <a:cs typeface="Times New Roman"/>
              </a:rPr>
              <a:t>register </a:t>
            </a:r>
            <a:r>
              <a:rPr sz="900" spc="175" dirty="0">
                <a:latin typeface="Times New Roman"/>
                <a:cs typeface="Times New Roman"/>
              </a:rPr>
              <a:t>IBR: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spc="140" dirty="0">
                <a:latin typeface="Times New Roman"/>
                <a:cs typeface="Times New Roman"/>
              </a:rPr>
              <a:t>instruction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spc="160" dirty="0">
                <a:latin typeface="Times New Roman"/>
                <a:cs typeface="Times New Roman"/>
              </a:rPr>
              <a:t>buffer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spc="125" dirty="0">
                <a:latin typeface="Times New Roman"/>
                <a:cs typeface="Times New Roman"/>
              </a:rPr>
              <a:t>register </a:t>
            </a:r>
            <a:r>
              <a:rPr sz="900" spc="180" dirty="0">
                <a:latin typeface="Times New Roman"/>
                <a:cs typeface="Times New Roman"/>
              </a:rPr>
              <a:t>PC: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spc="175" dirty="0">
                <a:latin typeface="Times New Roman"/>
                <a:cs typeface="Times New Roman"/>
              </a:rPr>
              <a:t>program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spc="145" dirty="0">
                <a:latin typeface="Times New Roman"/>
                <a:cs typeface="Times New Roman"/>
              </a:rPr>
              <a:t>counter</a:t>
            </a:r>
            <a:endParaRPr sz="9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</a:pPr>
            <a:r>
              <a:rPr sz="900" spc="235" dirty="0">
                <a:latin typeface="Times New Roman"/>
                <a:cs typeface="Times New Roman"/>
              </a:rPr>
              <a:t>MAR: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spc="204" dirty="0">
                <a:latin typeface="Times New Roman"/>
                <a:cs typeface="Times New Roman"/>
              </a:rPr>
              <a:t>memory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spc="155" dirty="0">
                <a:latin typeface="Times New Roman"/>
                <a:cs typeface="Times New Roman"/>
              </a:rPr>
              <a:t>address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spc="125" dirty="0">
                <a:latin typeface="Times New Roman"/>
                <a:cs typeface="Times New Roman"/>
              </a:rPr>
              <a:t>register </a:t>
            </a:r>
            <a:r>
              <a:rPr sz="900" spc="155" dirty="0">
                <a:latin typeface="Times New Roman"/>
                <a:cs typeface="Times New Roman"/>
              </a:rPr>
              <a:t>IR: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spc="145" dirty="0">
                <a:latin typeface="Times New Roman"/>
                <a:cs typeface="Times New Roman"/>
              </a:rPr>
              <a:t>insruction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spc="125" dirty="0">
                <a:latin typeface="Times New Roman"/>
                <a:cs typeface="Times New Roman"/>
              </a:rPr>
              <a:t>register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86888" y="2316333"/>
            <a:ext cx="8604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spc="145" dirty="0">
                <a:latin typeface="Times New Roman"/>
                <a:cs typeface="Times New Roman"/>
              </a:rPr>
              <a:t>Instructions </a:t>
            </a:r>
            <a:r>
              <a:rPr sz="900" b="1" spc="195" dirty="0">
                <a:latin typeface="Times New Roman"/>
                <a:cs typeface="Times New Roman"/>
              </a:rPr>
              <a:t>and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spc="150" dirty="0">
                <a:latin typeface="Times New Roman"/>
                <a:cs typeface="Times New Roman"/>
              </a:rPr>
              <a:t>data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027732" y="3430191"/>
            <a:ext cx="2447925" cy="955040"/>
            <a:chOff x="3027732" y="3430191"/>
            <a:chExt cx="2447925" cy="955040"/>
          </a:xfrm>
        </p:grpSpPr>
        <p:sp>
          <p:nvSpPr>
            <p:cNvPr id="29" name="object 29"/>
            <p:cNvSpPr/>
            <p:nvPr/>
          </p:nvSpPr>
          <p:spPr>
            <a:xfrm>
              <a:off x="4738554" y="3435271"/>
              <a:ext cx="732155" cy="257810"/>
            </a:xfrm>
            <a:custGeom>
              <a:avLst/>
              <a:gdLst/>
              <a:ahLst/>
              <a:cxnLst/>
              <a:rect l="l" t="t" r="r" b="b"/>
              <a:pathLst>
                <a:path w="732154" h="257810">
                  <a:moveTo>
                    <a:pt x="731805" y="0"/>
                  </a:moveTo>
                  <a:lnTo>
                    <a:pt x="0" y="0"/>
                  </a:lnTo>
                  <a:lnTo>
                    <a:pt x="0" y="257650"/>
                  </a:lnTo>
                  <a:lnTo>
                    <a:pt x="731805" y="257650"/>
                  </a:lnTo>
                  <a:lnTo>
                    <a:pt x="731805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38554" y="3435271"/>
              <a:ext cx="732155" cy="257810"/>
            </a:xfrm>
            <a:custGeom>
              <a:avLst/>
              <a:gdLst/>
              <a:ahLst/>
              <a:cxnLst/>
              <a:rect l="l" t="t" r="r" b="b"/>
              <a:pathLst>
                <a:path w="732154" h="257810">
                  <a:moveTo>
                    <a:pt x="731805" y="257650"/>
                  </a:moveTo>
                  <a:lnTo>
                    <a:pt x="0" y="257650"/>
                  </a:lnTo>
                  <a:lnTo>
                    <a:pt x="0" y="0"/>
                  </a:lnTo>
                  <a:lnTo>
                    <a:pt x="731805" y="0"/>
                  </a:lnTo>
                  <a:lnTo>
                    <a:pt x="731805" y="257650"/>
                  </a:lnTo>
                  <a:close/>
                </a:path>
              </a:pathLst>
            </a:custGeom>
            <a:ln w="96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32812" y="4122435"/>
              <a:ext cx="732155" cy="257810"/>
            </a:xfrm>
            <a:custGeom>
              <a:avLst/>
              <a:gdLst/>
              <a:ahLst/>
              <a:cxnLst/>
              <a:rect l="l" t="t" r="r" b="b"/>
              <a:pathLst>
                <a:path w="732154" h="257810">
                  <a:moveTo>
                    <a:pt x="732076" y="0"/>
                  </a:moveTo>
                  <a:lnTo>
                    <a:pt x="0" y="0"/>
                  </a:lnTo>
                  <a:lnTo>
                    <a:pt x="0" y="257459"/>
                  </a:lnTo>
                  <a:lnTo>
                    <a:pt x="732076" y="257459"/>
                  </a:lnTo>
                  <a:lnTo>
                    <a:pt x="732076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32812" y="4122435"/>
              <a:ext cx="732155" cy="257810"/>
            </a:xfrm>
            <a:custGeom>
              <a:avLst/>
              <a:gdLst/>
              <a:ahLst/>
              <a:cxnLst/>
              <a:rect l="l" t="t" r="r" b="b"/>
              <a:pathLst>
                <a:path w="732154" h="257810">
                  <a:moveTo>
                    <a:pt x="732076" y="257459"/>
                  </a:moveTo>
                  <a:lnTo>
                    <a:pt x="0" y="257459"/>
                  </a:lnTo>
                  <a:lnTo>
                    <a:pt x="0" y="0"/>
                  </a:lnTo>
                  <a:lnTo>
                    <a:pt x="732076" y="0"/>
                  </a:lnTo>
                  <a:lnTo>
                    <a:pt x="732076" y="257459"/>
                  </a:lnTo>
                  <a:close/>
                </a:path>
              </a:pathLst>
            </a:custGeom>
            <a:ln w="96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38554" y="4122435"/>
              <a:ext cx="732155" cy="257810"/>
            </a:xfrm>
            <a:custGeom>
              <a:avLst/>
              <a:gdLst/>
              <a:ahLst/>
              <a:cxnLst/>
              <a:rect l="l" t="t" r="r" b="b"/>
              <a:pathLst>
                <a:path w="732154" h="257810">
                  <a:moveTo>
                    <a:pt x="731805" y="0"/>
                  </a:moveTo>
                  <a:lnTo>
                    <a:pt x="0" y="0"/>
                  </a:lnTo>
                  <a:lnTo>
                    <a:pt x="0" y="257459"/>
                  </a:lnTo>
                  <a:lnTo>
                    <a:pt x="731805" y="257459"/>
                  </a:lnTo>
                  <a:lnTo>
                    <a:pt x="731805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38554" y="4122435"/>
              <a:ext cx="732155" cy="257810"/>
            </a:xfrm>
            <a:custGeom>
              <a:avLst/>
              <a:gdLst/>
              <a:ahLst/>
              <a:cxnLst/>
              <a:rect l="l" t="t" r="r" b="b"/>
              <a:pathLst>
                <a:path w="732154" h="257810">
                  <a:moveTo>
                    <a:pt x="731805" y="257459"/>
                  </a:moveTo>
                  <a:lnTo>
                    <a:pt x="0" y="257459"/>
                  </a:lnTo>
                  <a:lnTo>
                    <a:pt x="0" y="0"/>
                  </a:lnTo>
                  <a:lnTo>
                    <a:pt x="731805" y="0"/>
                  </a:lnTo>
                  <a:lnTo>
                    <a:pt x="731805" y="257459"/>
                  </a:lnTo>
                  <a:close/>
                </a:path>
              </a:pathLst>
            </a:custGeom>
            <a:ln w="96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1045785" y="3383227"/>
            <a:ext cx="781050" cy="0"/>
          </a:xfrm>
          <a:custGeom>
            <a:avLst/>
            <a:gdLst/>
            <a:ahLst/>
            <a:cxnLst/>
            <a:rect l="l" t="t" r="r" b="b"/>
            <a:pathLst>
              <a:path w="781050">
                <a:moveTo>
                  <a:pt x="0" y="0"/>
                </a:moveTo>
                <a:lnTo>
                  <a:pt x="0" y="0"/>
                </a:lnTo>
                <a:lnTo>
                  <a:pt x="780434" y="0"/>
                </a:lnTo>
              </a:path>
            </a:pathLst>
          </a:custGeom>
          <a:ln w="92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241406" y="3061241"/>
            <a:ext cx="367665" cy="31750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900" b="1" spc="175" dirty="0">
                <a:latin typeface="Times New Roman"/>
                <a:cs typeface="Times New Roman"/>
              </a:rPr>
              <a:t>M(0)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00" b="1" spc="175" dirty="0">
                <a:latin typeface="Times New Roman"/>
                <a:cs typeface="Times New Roman"/>
              </a:rPr>
              <a:t>M(1)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45785" y="3529162"/>
            <a:ext cx="781050" cy="0"/>
          </a:xfrm>
          <a:custGeom>
            <a:avLst/>
            <a:gdLst/>
            <a:ahLst/>
            <a:cxnLst/>
            <a:rect l="l" t="t" r="r" b="b"/>
            <a:pathLst>
              <a:path w="781050">
                <a:moveTo>
                  <a:pt x="0" y="0"/>
                </a:moveTo>
                <a:lnTo>
                  <a:pt x="0" y="0"/>
                </a:lnTo>
                <a:lnTo>
                  <a:pt x="780434" y="0"/>
                </a:lnTo>
              </a:path>
            </a:pathLst>
          </a:custGeom>
          <a:ln w="92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45785" y="3674907"/>
            <a:ext cx="781050" cy="0"/>
          </a:xfrm>
          <a:custGeom>
            <a:avLst/>
            <a:gdLst/>
            <a:ahLst/>
            <a:cxnLst/>
            <a:rect l="l" t="t" r="r" b="b"/>
            <a:pathLst>
              <a:path w="781050">
                <a:moveTo>
                  <a:pt x="0" y="0"/>
                </a:moveTo>
                <a:lnTo>
                  <a:pt x="0" y="0"/>
                </a:lnTo>
                <a:lnTo>
                  <a:pt x="780434" y="0"/>
                </a:lnTo>
              </a:path>
            </a:pathLst>
          </a:custGeom>
          <a:ln w="92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241406" y="3353111"/>
            <a:ext cx="367665" cy="3175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b="1" spc="175" dirty="0">
                <a:latin typeface="Times New Roman"/>
                <a:cs typeface="Times New Roman"/>
              </a:rPr>
              <a:t>M(2)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00" b="1" spc="175" dirty="0">
                <a:latin typeface="Times New Roman"/>
                <a:cs typeface="Times New Roman"/>
              </a:rPr>
              <a:t>M(3)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045785" y="3820937"/>
            <a:ext cx="781050" cy="0"/>
          </a:xfrm>
          <a:custGeom>
            <a:avLst/>
            <a:gdLst/>
            <a:ahLst/>
            <a:cxnLst/>
            <a:rect l="l" t="t" r="r" b="b"/>
            <a:pathLst>
              <a:path w="781050">
                <a:moveTo>
                  <a:pt x="0" y="0"/>
                </a:moveTo>
                <a:lnTo>
                  <a:pt x="0" y="0"/>
                </a:lnTo>
                <a:lnTo>
                  <a:pt x="780434" y="0"/>
                </a:lnTo>
              </a:path>
            </a:pathLst>
          </a:custGeom>
          <a:ln w="92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241406" y="3653771"/>
            <a:ext cx="3676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175" dirty="0">
                <a:latin typeface="Times New Roman"/>
                <a:cs typeface="Times New Roman"/>
              </a:rPr>
              <a:t>M(4)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19434" y="5422056"/>
            <a:ext cx="6083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175" dirty="0">
                <a:latin typeface="Times New Roman"/>
                <a:cs typeface="Times New Roman"/>
              </a:rPr>
              <a:t>M(4095)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045785" y="5293729"/>
            <a:ext cx="781050" cy="0"/>
          </a:xfrm>
          <a:custGeom>
            <a:avLst/>
            <a:gdLst/>
            <a:ahLst/>
            <a:cxnLst/>
            <a:rect l="l" t="t" r="r" b="b"/>
            <a:pathLst>
              <a:path w="781050">
                <a:moveTo>
                  <a:pt x="780434" y="0"/>
                </a:moveTo>
                <a:lnTo>
                  <a:pt x="780434" y="0"/>
                </a:lnTo>
                <a:lnTo>
                  <a:pt x="0" y="0"/>
                </a:lnTo>
              </a:path>
            </a:pathLst>
          </a:custGeom>
          <a:ln w="92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119434" y="5276025"/>
            <a:ext cx="6083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175" dirty="0">
                <a:latin typeface="Times New Roman"/>
                <a:cs typeface="Times New Roman"/>
              </a:rPr>
              <a:t>M(4093)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45785" y="5147699"/>
            <a:ext cx="781050" cy="0"/>
          </a:xfrm>
          <a:custGeom>
            <a:avLst/>
            <a:gdLst/>
            <a:ahLst/>
            <a:cxnLst/>
            <a:rect l="l" t="t" r="r" b="b"/>
            <a:pathLst>
              <a:path w="781050">
                <a:moveTo>
                  <a:pt x="780434" y="0"/>
                </a:moveTo>
                <a:lnTo>
                  <a:pt x="780434" y="0"/>
                </a:lnTo>
                <a:lnTo>
                  <a:pt x="0" y="0"/>
                </a:lnTo>
              </a:path>
            </a:pathLst>
          </a:custGeom>
          <a:ln w="92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119434" y="5130090"/>
            <a:ext cx="6083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175" dirty="0">
                <a:latin typeface="Times New Roman"/>
                <a:cs typeface="Times New Roman"/>
              </a:rPr>
              <a:t>M(4092)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066052" y="1917608"/>
            <a:ext cx="4044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265" dirty="0">
                <a:latin typeface="Times New Roman"/>
                <a:cs typeface="Times New Roman"/>
              </a:rPr>
              <a:t>MBR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016052" y="44414"/>
            <a:ext cx="2472690" cy="571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50" b="1" spc="195" dirty="0">
                <a:latin typeface="Times New Roman"/>
                <a:cs typeface="Times New Roman"/>
              </a:rPr>
              <a:t>Central</a:t>
            </a:r>
            <a:r>
              <a:rPr sz="1050" b="1" spc="130" dirty="0">
                <a:latin typeface="Times New Roman"/>
                <a:cs typeface="Times New Roman"/>
              </a:rPr>
              <a:t> </a:t>
            </a:r>
            <a:r>
              <a:rPr sz="1050" b="1" spc="190" dirty="0">
                <a:latin typeface="Times New Roman"/>
                <a:cs typeface="Times New Roman"/>
              </a:rPr>
              <a:t>processing</a:t>
            </a:r>
            <a:r>
              <a:rPr sz="1050" b="1" spc="130" dirty="0">
                <a:latin typeface="Times New Roman"/>
                <a:cs typeface="Times New Roman"/>
              </a:rPr>
              <a:t> </a:t>
            </a:r>
            <a:r>
              <a:rPr sz="1050" b="1" spc="180" dirty="0">
                <a:latin typeface="Times New Roman"/>
                <a:cs typeface="Times New Roman"/>
              </a:rPr>
              <a:t>unit</a:t>
            </a:r>
            <a:r>
              <a:rPr sz="1050" b="1" spc="135" dirty="0">
                <a:latin typeface="Times New Roman"/>
                <a:cs typeface="Times New Roman"/>
              </a:rPr>
              <a:t> </a:t>
            </a:r>
            <a:r>
              <a:rPr sz="1050" b="1" spc="220" dirty="0">
                <a:latin typeface="Times New Roman"/>
                <a:cs typeface="Times New Roman"/>
              </a:rPr>
              <a:t>(CPU)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b="1" spc="190" dirty="0">
                <a:latin typeface="Times New Roman"/>
                <a:cs typeface="Times New Roman"/>
              </a:rPr>
              <a:t>Arithmetic-</a:t>
            </a:r>
            <a:r>
              <a:rPr sz="1050" b="1" spc="170" dirty="0">
                <a:latin typeface="Times New Roman"/>
                <a:cs typeface="Times New Roman"/>
              </a:rPr>
              <a:t>logic</a:t>
            </a:r>
            <a:r>
              <a:rPr sz="1050" b="1" spc="130" dirty="0">
                <a:latin typeface="Times New Roman"/>
                <a:cs typeface="Times New Roman"/>
              </a:rPr>
              <a:t> </a:t>
            </a:r>
            <a:r>
              <a:rPr sz="1050" b="1" spc="180" dirty="0">
                <a:latin typeface="Times New Roman"/>
                <a:cs typeface="Times New Roman"/>
              </a:rPr>
              <a:t>unit</a:t>
            </a:r>
            <a:r>
              <a:rPr sz="1050" b="1" spc="140" dirty="0">
                <a:latin typeface="Times New Roman"/>
                <a:cs typeface="Times New Roman"/>
              </a:rPr>
              <a:t> </a:t>
            </a:r>
            <a:r>
              <a:rPr sz="1050" b="1" spc="204" dirty="0">
                <a:latin typeface="Times New Roman"/>
                <a:cs typeface="Times New Roman"/>
              </a:rPr>
              <a:t>(CA)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560000" y="5344884"/>
            <a:ext cx="218884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229" dirty="0">
                <a:latin typeface="Times New Roman"/>
                <a:cs typeface="Times New Roman"/>
              </a:rPr>
              <a:t>Program</a:t>
            </a:r>
            <a:r>
              <a:rPr sz="1050" b="1" spc="114" dirty="0">
                <a:latin typeface="Times New Roman"/>
                <a:cs typeface="Times New Roman"/>
              </a:rPr>
              <a:t> </a:t>
            </a:r>
            <a:r>
              <a:rPr sz="1050" b="1" spc="190" dirty="0">
                <a:latin typeface="Times New Roman"/>
                <a:cs typeface="Times New Roman"/>
              </a:rPr>
              <a:t>control</a:t>
            </a:r>
            <a:r>
              <a:rPr sz="1050" b="1" spc="114" dirty="0">
                <a:latin typeface="Times New Roman"/>
                <a:cs typeface="Times New Roman"/>
              </a:rPr>
              <a:t> </a:t>
            </a:r>
            <a:r>
              <a:rPr sz="1050" b="1" spc="175" dirty="0">
                <a:latin typeface="Times New Roman"/>
                <a:cs typeface="Times New Roman"/>
              </a:rPr>
              <a:t>unit</a:t>
            </a:r>
            <a:r>
              <a:rPr sz="1050" b="1" spc="120" dirty="0">
                <a:latin typeface="Times New Roman"/>
                <a:cs typeface="Times New Roman"/>
              </a:rPr>
              <a:t> </a:t>
            </a:r>
            <a:r>
              <a:rPr sz="1050" b="1" spc="204" dirty="0">
                <a:latin typeface="Times New Roman"/>
                <a:cs typeface="Times New Roman"/>
              </a:rPr>
              <a:t>(CC)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035542" y="6166935"/>
            <a:ext cx="266573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260" dirty="0">
                <a:latin typeface="Times New Roman"/>
                <a:cs typeface="Times New Roman"/>
              </a:rPr>
              <a:t>Figure</a:t>
            </a:r>
            <a:r>
              <a:rPr sz="1350" b="1" spc="130" dirty="0">
                <a:latin typeface="Times New Roman"/>
                <a:cs typeface="Times New Roman"/>
              </a:rPr>
              <a:t> </a:t>
            </a:r>
            <a:r>
              <a:rPr sz="1350" b="1" spc="225" dirty="0">
                <a:latin typeface="Times New Roman"/>
                <a:cs typeface="Times New Roman"/>
              </a:rPr>
              <a:t>1.6</a:t>
            </a:r>
            <a:r>
              <a:rPr sz="1350" b="1" spc="130" dirty="0">
                <a:latin typeface="Times New Roman"/>
                <a:cs typeface="Times New Roman"/>
              </a:rPr>
              <a:t>  </a:t>
            </a:r>
            <a:r>
              <a:rPr sz="1350" b="1" spc="310" dirty="0">
                <a:latin typeface="Times New Roman"/>
                <a:cs typeface="Times New Roman"/>
              </a:rPr>
              <a:t>IAS</a:t>
            </a:r>
            <a:r>
              <a:rPr sz="1350" b="1" spc="135" dirty="0">
                <a:latin typeface="Times New Roman"/>
                <a:cs typeface="Times New Roman"/>
              </a:rPr>
              <a:t> </a:t>
            </a:r>
            <a:r>
              <a:rPr sz="1350" b="1" spc="250" dirty="0">
                <a:latin typeface="Times New Roman"/>
                <a:cs typeface="Times New Roman"/>
              </a:rPr>
              <a:t>Structure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696048" y="638136"/>
            <a:ext cx="1184275" cy="1472565"/>
            <a:chOff x="6696048" y="638136"/>
            <a:chExt cx="1184275" cy="1472565"/>
          </a:xfrm>
        </p:grpSpPr>
        <p:sp>
          <p:nvSpPr>
            <p:cNvPr id="52" name="object 52"/>
            <p:cNvSpPr/>
            <p:nvPr/>
          </p:nvSpPr>
          <p:spPr>
            <a:xfrm>
              <a:off x="6702398" y="644486"/>
              <a:ext cx="1171575" cy="1459865"/>
            </a:xfrm>
            <a:custGeom>
              <a:avLst/>
              <a:gdLst/>
              <a:ahLst/>
              <a:cxnLst/>
              <a:rect l="l" t="t" r="r" b="b"/>
              <a:pathLst>
                <a:path w="1171575" h="1459864">
                  <a:moveTo>
                    <a:pt x="1170997" y="0"/>
                  </a:moveTo>
                  <a:lnTo>
                    <a:pt x="0" y="0"/>
                  </a:lnTo>
                  <a:lnTo>
                    <a:pt x="0" y="1459733"/>
                  </a:lnTo>
                  <a:lnTo>
                    <a:pt x="1170997" y="1459733"/>
                  </a:lnTo>
                  <a:lnTo>
                    <a:pt x="1170997" y="0"/>
                  </a:lnTo>
                  <a:close/>
                </a:path>
              </a:pathLst>
            </a:custGeom>
            <a:solidFill>
              <a:srgbClr val="D7E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702398" y="644486"/>
              <a:ext cx="1171575" cy="1459865"/>
            </a:xfrm>
            <a:custGeom>
              <a:avLst/>
              <a:gdLst/>
              <a:ahLst/>
              <a:cxnLst/>
              <a:rect l="l" t="t" r="r" b="b"/>
              <a:pathLst>
                <a:path w="1171575" h="1459864">
                  <a:moveTo>
                    <a:pt x="1170997" y="1459733"/>
                  </a:moveTo>
                  <a:lnTo>
                    <a:pt x="0" y="1459733"/>
                  </a:lnTo>
                  <a:lnTo>
                    <a:pt x="0" y="0"/>
                  </a:lnTo>
                  <a:lnTo>
                    <a:pt x="1170997" y="0"/>
                  </a:lnTo>
                  <a:lnTo>
                    <a:pt x="1170997" y="1459733"/>
                  </a:lnTo>
                  <a:close/>
                </a:path>
              </a:pathLst>
            </a:custGeom>
            <a:ln w="115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836953" y="1099132"/>
            <a:ext cx="884555" cy="666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95"/>
              </a:spcBef>
            </a:pPr>
            <a:r>
              <a:rPr sz="1050" b="1" spc="185" dirty="0">
                <a:latin typeface="Times New Roman"/>
                <a:cs typeface="Times New Roman"/>
              </a:rPr>
              <a:t>Input-</a:t>
            </a:r>
            <a:r>
              <a:rPr sz="1050" b="1" spc="190" dirty="0">
                <a:latin typeface="Times New Roman"/>
                <a:cs typeface="Times New Roman"/>
              </a:rPr>
              <a:t>output </a:t>
            </a:r>
            <a:r>
              <a:rPr sz="1050" b="1" spc="204" dirty="0">
                <a:latin typeface="Times New Roman"/>
                <a:cs typeface="Times New Roman"/>
              </a:rPr>
              <a:t>equipment </a:t>
            </a:r>
            <a:r>
              <a:rPr sz="1050" b="1" spc="140" dirty="0">
                <a:latin typeface="Times New Roman"/>
                <a:cs typeface="Times New Roman"/>
              </a:rPr>
              <a:t>(I,</a:t>
            </a:r>
            <a:r>
              <a:rPr sz="1050" b="1" spc="100" dirty="0">
                <a:latin typeface="Times New Roman"/>
                <a:cs typeface="Times New Roman"/>
              </a:rPr>
              <a:t> </a:t>
            </a:r>
            <a:r>
              <a:rPr sz="1050" b="1" spc="215" dirty="0">
                <a:latin typeface="Times New Roman"/>
                <a:cs typeface="Times New Roman"/>
              </a:rPr>
              <a:t>O)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89875" y="4331630"/>
            <a:ext cx="696595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95"/>
              </a:spcBef>
            </a:pPr>
            <a:r>
              <a:rPr sz="1050" b="1" spc="215" dirty="0">
                <a:latin typeface="Times New Roman"/>
                <a:cs typeface="Times New Roman"/>
              </a:rPr>
              <a:t>Main </a:t>
            </a:r>
            <a:r>
              <a:rPr sz="1050" b="1" spc="240" dirty="0">
                <a:latin typeface="Times New Roman"/>
                <a:cs typeface="Times New Roman"/>
              </a:rPr>
              <a:t>memory </a:t>
            </a:r>
            <a:r>
              <a:rPr sz="1050" b="1" spc="204" dirty="0">
                <a:latin typeface="Times New Roman"/>
                <a:cs typeface="Times New Roman"/>
              </a:rPr>
              <a:t>(M)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982058" y="794711"/>
            <a:ext cx="975994" cy="172085"/>
          </a:xfrm>
          <a:prstGeom prst="rect">
            <a:avLst/>
          </a:prstGeom>
          <a:solidFill>
            <a:srgbClr val="DCDCDC"/>
          </a:solidFill>
          <a:ln w="9456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R="34290" algn="ctr">
              <a:lnSpc>
                <a:spcPct val="100000"/>
              </a:lnSpc>
              <a:spcBef>
                <a:spcPts val="40"/>
              </a:spcBef>
            </a:pPr>
            <a:r>
              <a:rPr sz="900" b="1" spc="240" dirty="0">
                <a:latin typeface="Times New Roman"/>
                <a:cs typeface="Times New Roman"/>
              </a:rPr>
              <a:t>AC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567615" y="794711"/>
            <a:ext cx="975994" cy="172085"/>
          </a:xfrm>
          <a:prstGeom prst="rect">
            <a:avLst/>
          </a:prstGeom>
          <a:solidFill>
            <a:srgbClr val="DCDCDC"/>
          </a:solidFill>
          <a:ln w="9456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R="34925" algn="ctr">
              <a:lnSpc>
                <a:spcPct val="100000"/>
              </a:lnSpc>
              <a:spcBef>
                <a:spcPts val="40"/>
              </a:spcBef>
            </a:pPr>
            <a:r>
              <a:rPr sz="900" b="1" spc="300" dirty="0">
                <a:latin typeface="Times New Roman"/>
                <a:cs typeface="Times New Roman"/>
              </a:rPr>
              <a:t>MQ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104003" y="1202682"/>
            <a:ext cx="2317750" cy="343535"/>
          </a:xfrm>
          <a:prstGeom prst="rect">
            <a:avLst/>
          </a:prstGeom>
          <a:solidFill>
            <a:srgbClr val="DCDCDC"/>
          </a:solidFill>
          <a:ln w="9392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5510" marR="586105" indent="-313690">
              <a:lnSpc>
                <a:spcPct val="100000"/>
              </a:lnSpc>
              <a:spcBef>
                <a:spcPts val="265"/>
              </a:spcBef>
            </a:pPr>
            <a:r>
              <a:rPr sz="900" b="1" spc="165" dirty="0">
                <a:latin typeface="Times New Roman"/>
                <a:cs typeface="Times New Roman"/>
              </a:rPr>
              <a:t>Arithmetic-</a:t>
            </a:r>
            <a:r>
              <a:rPr sz="900" b="1" spc="130" dirty="0">
                <a:latin typeface="Times New Roman"/>
                <a:cs typeface="Times New Roman"/>
              </a:rPr>
              <a:t>logic circuits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963845" y="841323"/>
            <a:ext cx="603885" cy="81915"/>
            <a:chOff x="3963845" y="841323"/>
            <a:chExt cx="603885" cy="81915"/>
          </a:xfrm>
        </p:grpSpPr>
        <p:sp>
          <p:nvSpPr>
            <p:cNvPr id="60" name="object 60"/>
            <p:cNvSpPr/>
            <p:nvPr/>
          </p:nvSpPr>
          <p:spPr>
            <a:xfrm>
              <a:off x="4063593" y="882024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89">
                  <a:moveTo>
                    <a:pt x="504021" y="0"/>
                  </a:moveTo>
                  <a:lnTo>
                    <a:pt x="504021" y="0"/>
                  </a:lnTo>
                  <a:lnTo>
                    <a:pt x="0" y="0"/>
                  </a:lnTo>
                </a:path>
              </a:pathLst>
            </a:custGeom>
            <a:ln w="14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963845" y="841323"/>
              <a:ext cx="141605" cy="81915"/>
            </a:xfrm>
            <a:custGeom>
              <a:avLst/>
              <a:gdLst/>
              <a:ahLst/>
              <a:cxnLst/>
              <a:rect l="l" t="t" r="r" b="b"/>
              <a:pathLst>
                <a:path w="141604" h="81915">
                  <a:moveTo>
                    <a:pt x="141434" y="0"/>
                  </a:moveTo>
                  <a:lnTo>
                    <a:pt x="0" y="40701"/>
                  </a:lnTo>
                  <a:lnTo>
                    <a:pt x="141434" y="81594"/>
                  </a:lnTo>
                  <a:lnTo>
                    <a:pt x="107869" y="40701"/>
                  </a:lnTo>
                  <a:lnTo>
                    <a:pt x="1414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2" name="object 6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6814" y="5109094"/>
            <a:ext cx="353789" cy="127347"/>
          </a:xfrm>
          <a:prstGeom prst="rect">
            <a:avLst/>
          </a:prstGeom>
        </p:spPr>
      </p:pic>
      <p:sp>
        <p:nvSpPr>
          <p:cNvPr id="63" name="object 63"/>
          <p:cNvSpPr/>
          <p:nvPr/>
        </p:nvSpPr>
        <p:spPr>
          <a:xfrm>
            <a:off x="4326702" y="5021114"/>
            <a:ext cx="41275" cy="29209"/>
          </a:xfrm>
          <a:custGeom>
            <a:avLst/>
            <a:gdLst/>
            <a:ahLst/>
            <a:cxnLst/>
            <a:rect l="l" t="t" r="r" b="b"/>
            <a:pathLst>
              <a:path w="41275" h="29210">
                <a:moveTo>
                  <a:pt x="31535" y="0"/>
                </a:moveTo>
                <a:lnTo>
                  <a:pt x="20436" y="0"/>
                </a:lnTo>
                <a:lnTo>
                  <a:pt x="9338" y="0"/>
                </a:lnTo>
                <a:lnTo>
                  <a:pt x="0" y="6386"/>
                </a:lnTo>
                <a:lnTo>
                  <a:pt x="0" y="22209"/>
                </a:lnTo>
                <a:lnTo>
                  <a:pt x="9338" y="28596"/>
                </a:lnTo>
                <a:lnTo>
                  <a:pt x="31535" y="28596"/>
                </a:lnTo>
                <a:lnTo>
                  <a:pt x="41009" y="22209"/>
                </a:lnTo>
                <a:lnTo>
                  <a:pt x="41009" y="6386"/>
                </a:lnTo>
                <a:lnTo>
                  <a:pt x="315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4" name="object 64"/>
          <p:cNvGrpSpPr/>
          <p:nvPr/>
        </p:nvGrpSpPr>
        <p:grpSpPr>
          <a:xfrm>
            <a:off x="4136814" y="4741444"/>
            <a:ext cx="354330" cy="220345"/>
            <a:chOff x="4136814" y="4741444"/>
            <a:chExt cx="354330" cy="220345"/>
          </a:xfrm>
        </p:grpSpPr>
        <p:sp>
          <p:nvSpPr>
            <p:cNvPr id="65" name="object 65"/>
            <p:cNvSpPr/>
            <p:nvPr/>
          </p:nvSpPr>
          <p:spPr>
            <a:xfrm>
              <a:off x="4237375" y="4782146"/>
              <a:ext cx="253365" cy="0"/>
            </a:xfrm>
            <a:custGeom>
              <a:avLst/>
              <a:gdLst/>
              <a:ahLst/>
              <a:cxnLst/>
              <a:rect l="l" t="t" r="r" b="b"/>
              <a:pathLst>
                <a:path w="253364">
                  <a:moveTo>
                    <a:pt x="0" y="0"/>
                  </a:moveTo>
                  <a:lnTo>
                    <a:pt x="0" y="0"/>
                  </a:lnTo>
                  <a:lnTo>
                    <a:pt x="253228" y="0"/>
                  </a:lnTo>
                </a:path>
              </a:pathLst>
            </a:custGeom>
            <a:ln w="14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136814" y="4741444"/>
              <a:ext cx="141605" cy="80645"/>
            </a:xfrm>
            <a:custGeom>
              <a:avLst/>
              <a:gdLst/>
              <a:ahLst/>
              <a:cxnLst/>
              <a:rect l="l" t="t" r="r" b="b"/>
              <a:pathLst>
                <a:path w="141604" h="80645">
                  <a:moveTo>
                    <a:pt x="141163" y="0"/>
                  </a:moveTo>
                  <a:lnTo>
                    <a:pt x="0" y="40701"/>
                  </a:lnTo>
                  <a:lnTo>
                    <a:pt x="141163" y="80640"/>
                  </a:lnTo>
                  <a:lnTo>
                    <a:pt x="107598" y="40701"/>
                  </a:lnTo>
                  <a:lnTo>
                    <a:pt x="1411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237375" y="4876513"/>
              <a:ext cx="253365" cy="0"/>
            </a:xfrm>
            <a:custGeom>
              <a:avLst/>
              <a:gdLst/>
              <a:ahLst/>
              <a:cxnLst/>
              <a:rect l="l" t="t" r="r" b="b"/>
              <a:pathLst>
                <a:path w="253364">
                  <a:moveTo>
                    <a:pt x="0" y="0"/>
                  </a:moveTo>
                  <a:lnTo>
                    <a:pt x="0" y="0"/>
                  </a:lnTo>
                  <a:lnTo>
                    <a:pt x="253228" y="0"/>
                  </a:lnTo>
                </a:path>
              </a:pathLst>
            </a:custGeom>
            <a:ln w="14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136809" y="4835816"/>
              <a:ext cx="231140" cy="126364"/>
            </a:xfrm>
            <a:custGeom>
              <a:avLst/>
              <a:gdLst/>
              <a:ahLst/>
              <a:cxnLst/>
              <a:rect l="l" t="t" r="r" b="b"/>
              <a:pathLst>
                <a:path w="231139" h="126364">
                  <a:moveTo>
                    <a:pt x="141160" y="0"/>
                  </a:moveTo>
                  <a:lnTo>
                    <a:pt x="0" y="40703"/>
                  </a:lnTo>
                  <a:lnTo>
                    <a:pt x="141160" y="81407"/>
                  </a:lnTo>
                  <a:lnTo>
                    <a:pt x="107594" y="40703"/>
                  </a:lnTo>
                  <a:lnTo>
                    <a:pt x="141160" y="0"/>
                  </a:lnTo>
                  <a:close/>
                </a:path>
                <a:path w="231139" h="126364">
                  <a:moveTo>
                    <a:pt x="230898" y="103708"/>
                  </a:moveTo>
                  <a:lnTo>
                    <a:pt x="221424" y="97320"/>
                  </a:lnTo>
                  <a:lnTo>
                    <a:pt x="210324" y="97320"/>
                  </a:lnTo>
                  <a:lnTo>
                    <a:pt x="199224" y="97320"/>
                  </a:lnTo>
                  <a:lnTo>
                    <a:pt x="189890" y="103708"/>
                  </a:lnTo>
                  <a:lnTo>
                    <a:pt x="189890" y="119532"/>
                  </a:lnTo>
                  <a:lnTo>
                    <a:pt x="199224" y="125920"/>
                  </a:lnTo>
                  <a:lnTo>
                    <a:pt x="221424" y="125920"/>
                  </a:lnTo>
                  <a:lnTo>
                    <a:pt x="230898" y="119532"/>
                  </a:lnTo>
                  <a:lnTo>
                    <a:pt x="230898" y="1037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/>
          <p:nvPr/>
        </p:nvSpPr>
        <p:spPr>
          <a:xfrm>
            <a:off x="1417724" y="4211178"/>
            <a:ext cx="61594" cy="43180"/>
          </a:xfrm>
          <a:custGeom>
            <a:avLst/>
            <a:gdLst/>
            <a:ahLst/>
            <a:cxnLst/>
            <a:rect l="l" t="t" r="r" b="b"/>
            <a:pathLst>
              <a:path w="61594" h="43179">
                <a:moveTo>
                  <a:pt x="30574" y="0"/>
                </a:moveTo>
                <a:lnTo>
                  <a:pt x="18996" y="1726"/>
                </a:lnTo>
                <a:lnTo>
                  <a:pt x="9242" y="6374"/>
                </a:lnTo>
                <a:lnTo>
                  <a:pt x="2510" y="13149"/>
                </a:lnTo>
                <a:lnTo>
                  <a:pt x="0" y="21256"/>
                </a:lnTo>
                <a:lnTo>
                  <a:pt x="2510" y="29809"/>
                </a:lnTo>
                <a:lnTo>
                  <a:pt x="9242" y="36638"/>
                </a:lnTo>
                <a:lnTo>
                  <a:pt x="18996" y="41161"/>
                </a:lnTo>
                <a:lnTo>
                  <a:pt x="30574" y="42798"/>
                </a:lnTo>
                <a:lnTo>
                  <a:pt x="42580" y="41161"/>
                </a:lnTo>
                <a:lnTo>
                  <a:pt x="52286" y="36638"/>
                </a:lnTo>
                <a:lnTo>
                  <a:pt x="58780" y="29809"/>
                </a:lnTo>
                <a:lnTo>
                  <a:pt x="61148" y="21256"/>
                </a:lnTo>
                <a:lnTo>
                  <a:pt x="58780" y="13149"/>
                </a:lnTo>
                <a:lnTo>
                  <a:pt x="52286" y="6374"/>
                </a:lnTo>
                <a:lnTo>
                  <a:pt x="42580" y="1726"/>
                </a:lnTo>
                <a:lnTo>
                  <a:pt x="305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417724" y="4079350"/>
            <a:ext cx="61594" cy="43180"/>
          </a:xfrm>
          <a:custGeom>
            <a:avLst/>
            <a:gdLst/>
            <a:ahLst/>
            <a:cxnLst/>
            <a:rect l="l" t="t" r="r" b="b"/>
            <a:pathLst>
              <a:path w="61594" h="43179">
                <a:moveTo>
                  <a:pt x="30574" y="0"/>
                </a:moveTo>
                <a:lnTo>
                  <a:pt x="18996" y="1730"/>
                </a:lnTo>
                <a:lnTo>
                  <a:pt x="9242" y="6410"/>
                </a:lnTo>
                <a:lnTo>
                  <a:pt x="2510" y="13270"/>
                </a:lnTo>
                <a:lnTo>
                  <a:pt x="0" y="21542"/>
                </a:lnTo>
                <a:lnTo>
                  <a:pt x="2510" y="29975"/>
                </a:lnTo>
                <a:lnTo>
                  <a:pt x="9242" y="36817"/>
                </a:lnTo>
                <a:lnTo>
                  <a:pt x="18996" y="41407"/>
                </a:lnTo>
                <a:lnTo>
                  <a:pt x="30574" y="43084"/>
                </a:lnTo>
                <a:lnTo>
                  <a:pt x="42580" y="41407"/>
                </a:lnTo>
                <a:lnTo>
                  <a:pt x="52286" y="36817"/>
                </a:lnTo>
                <a:lnTo>
                  <a:pt x="58780" y="29975"/>
                </a:lnTo>
                <a:lnTo>
                  <a:pt x="61148" y="21542"/>
                </a:lnTo>
                <a:lnTo>
                  <a:pt x="58780" y="13270"/>
                </a:lnTo>
                <a:lnTo>
                  <a:pt x="52286" y="6410"/>
                </a:lnTo>
                <a:lnTo>
                  <a:pt x="42580" y="1730"/>
                </a:lnTo>
                <a:lnTo>
                  <a:pt x="305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417724" y="3947808"/>
            <a:ext cx="61594" cy="43180"/>
          </a:xfrm>
          <a:custGeom>
            <a:avLst/>
            <a:gdLst/>
            <a:ahLst/>
            <a:cxnLst/>
            <a:rect l="l" t="t" r="r" b="b"/>
            <a:pathLst>
              <a:path w="61594" h="43179">
                <a:moveTo>
                  <a:pt x="30574" y="0"/>
                </a:moveTo>
                <a:lnTo>
                  <a:pt x="18996" y="1618"/>
                </a:lnTo>
                <a:lnTo>
                  <a:pt x="9242" y="6088"/>
                </a:lnTo>
                <a:lnTo>
                  <a:pt x="2510" y="12828"/>
                </a:lnTo>
                <a:lnTo>
                  <a:pt x="0" y="21256"/>
                </a:lnTo>
                <a:lnTo>
                  <a:pt x="2510" y="29528"/>
                </a:lnTo>
                <a:lnTo>
                  <a:pt x="9242" y="36388"/>
                </a:lnTo>
                <a:lnTo>
                  <a:pt x="18996" y="41068"/>
                </a:lnTo>
                <a:lnTo>
                  <a:pt x="30574" y="42798"/>
                </a:lnTo>
                <a:lnTo>
                  <a:pt x="42580" y="41068"/>
                </a:lnTo>
                <a:lnTo>
                  <a:pt x="52286" y="36388"/>
                </a:lnTo>
                <a:lnTo>
                  <a:pt x="58780" y="29528"/>
                </a:lnTo>
                <a:lnTo>
                  <a:pt x="61148" y="21256"/>
                </a:lnTo>
                <a:lnTo>
                  <a:pt x="58780" y="12828"/>
                </a:lnTo>
                <a:lnTo>
                  <a:pt x="52286" y="6088"/>
                </a:lnTo>
                <a:lnTo>
                  <a:pt x="42580" y="1618"/>
                </a:lnTo>
                <a:lnTo>
                  <a:pt x="305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4947278" y="3474092"/>
            <a:ext cx="3143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195" dirty="0">
                <a:latin typeface="Times New Roman"/>
                <a:cs typeface="Times New Roman"/>
              </a:rPr>
              <a:t>IBR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032812" y="3435272"/>
            <a:ext cx="732155" cy="257810"/>
          </a:xfrm>
          <a:prstGeom prst="rect">
            <a:avLst/>
          </a:prstGeom>
          <a:solidFill>
            <a:srgbClr val="DCDCDC"/>
          </a:solidFill>
          <a:ln w="10002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405"/>
              </a:spcBef>
            </a:pPr>
            <a:r>
              <a:rPr sz="900" b="1" spc="215" dirty="0">
                <a:latin typeface="Times New Roman"/>
                <a:cs typeface="Times New Roman"/>
              </a:rPr>
              <a:t>PC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973805" y="4161065"/>
            <a:ext cx="2063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180" dirty="0">
                <a:latin typeface="Times New Roman"/>
                <a:cs typeface="Times New Roman"/>
              </a:rPr>
              <a:t>IR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185774" y="4161065"/>
            <a:ext cx="4140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270" dirty="0">
                <a:latin typeface="Times New Roman"/>
                <a:cs typeface="Times New Roman"/>
              </a:rPr>
              <a:t>MAR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3245438" y="968670"/>
            <a:ext cx="116205" cy="231775"/>
            <a:chOff x="3245438" y="968670"/>
            <a:chExt cx="116205" cy="231775"/>
          </a:xfrm>
        </p:grpSpPr>
        <p:sp>
          <p:nvSpPr>
            <p:cNvPr id="77" name="object 77"/>
            <p:cNvSpPr/>
            <p:nvPr/>
          </p:nvSpPr>
          <p:spPr>
            <a:xfrm>
              <a:off x="3303230" y="968670"/>
              <a:ext cx="0" cy="160655"/>
            </a:xfrm>
            <a:custGeom>
              <a:avLst/>
              <a:gdLst/>
              <a:ahLst/>
              <a:cxnLst/>
              <a:rect l="l" t="t" r="r" b="b"/>
              <a:pathLst>
                <a:path h="160655">
                  <a:moveTo>
                    <a:pt x="0" y="0"/>
                  </a:moveTo>
                  <a:lnTo>
                    <a:pt x="0" y="0"/>
                  </a:lnTo>
                  <a:lnTo>
                    <a:pt x="0" y="160423"/>
                  </a:lnTo>
                </a:path>
              </a:pathLst>
            </a:custGeom>
            <a:ln w="2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245438" y="1100403"/>
              <a:ext cx="116205" cy="99695"/>
            </a:xfrm>
            <a:custGeom>
              <a:avLst/>
              <a:gdLst/>
              <a:ahLst/>
              <a:cxnLst/>
              <a:rect l="l" t="t" r="r" b="b"/>
              <a:pathLst>
                <a:path w="116204" h="99694">
                  <a:moveTo>
                    <a:pt x="115989" y="0"/>
                  </a:moveTo>
                  <a:lnTo>
                    <a:pt x="57791" y="23448"/>
                  </a:lnTo>
                  <a:lnTo>
                    <a:pt x="0" y="0"/>
                  </a:lnTo>
                  <a:lnTo>
                    <a:pt x="57791" y="99418"/>
                  </a:lnTo>
                  <a:lnTo>
                    <a:pt x="1159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" name="object 79"/>
          <p:cNvGrpSpPr/>
          <p:nvPr/>
        </p:nvGrpSpPr>
        <p:grpSpPr>
          <a:xfrm>
            <a:off x="3567693" y="968670"/>
            <a:ext cx="116205" cy="231775"/>
            <a:chOff x="3567693" y="968670"/>
            <a:chExt cx="116205" cy="231775"/>
          </a:xfrm>
        </p:grpSpPr>
        <p:sp>
          <p:nvSpPr>
            <p:cNvPr id="80" name="object 80"/>
            <p:cNvSpPr/>
            <p:nvPr/>
          </p:nvSpPr>
          <p:spPr>
            <a:xfrm>
              <a:off x="3625485" y="1039398"/>
              <a:ext cx="0" cy="160655"/>
            </a:xfrm>
            <a:custGeom>
              <a:avLst/>
              <a:gdLst/>
              <a:ahLst/>
              <a:cxnLst/>
              <a:rect l="l" t="t" r="r" b="b"/>
              <a:pathLst>
                <a:path h="160655">
                  <a:moveTo>
                    <a:pt x="0" y="0"/>
                  </a:moveTo>
                  <a:lnTo>
                    <a:pt x="0" y="0"/>
                  </a:lnTo>
                  <a:lnTo>
                    <a:pt x="0" y="160423"/>
                  </a:lnTo>
                </a:path>
              </a:pathLst>
            </a:custGeom>
            <a:ln w="2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567693" y="968670"/>
              <a:ext cx="116205" cy="99695"/>
            </a:xfrm>
            <a:custGeom>
              <a:avLst/>
              <a:gdLst/>
              <a:ahLst/>
              <a:cxnLst/>
              <a:rect l="l" t="t" r="r" b="b"/>
              <a:pathLst>
                <a:path w="116204" h="99694">
                  <a:moveTo>
                    <a:pt x="57791" y="0"/>
                  </a:moveTo>
                  <a:lnTo>
                    <a:pt x="0" y="99323"/>
                  </a:lnTo>
                  <a:lnTo>
                    <a:pt x="57791" y="75874"/>
                  </a:lnTo>
                  <a:lnTo>
                    <a:pt x="115854" y="99323"/>
                  </a:lnTo>
                  <a:lnTo>
                    <a:pt x="577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" name="object 82"/>
          <p:cNvGrpSpPr/>
          <p:nvPr/>
        </p:nvGrpSpPr>
        <p:grpSpPr>
          <a:xfrm>
            <a:off x="4831942" y="968670"/>
            <a:ext cx="116205" cy="231775"/>
            <a:chOff x="4831942" y="968670"/>
            <a:chExt cx="116205" cy="231775"/>
          </a:xfrm>
        </p:grpSpPr>
        <p:sp>
          <p:nvSpPr>
            <p:cNvPr id="83" name="object 83"/>
            <p:cNvSpPr/>
            <p:nvPr/>
          </p:nvSpPr>
          <p:spPr>
            <a:xfrm>
              <a:off x="4889734" y="968670"/>
              <a:ext cx="0" cy="160655"/>
            </a:xfrm>
            <a:custGeom>
              <a:avLst/>
              <a:gdLst/>
              <a:ahLst/>
              <a:cxnLst/>
              <a:rect l="l" t="t" r="r" b="b"/>
              <a:pathLst>
                <a:path h="160655">
                  <a:moveTo>
                    <a:pt x="0" y="0"/>
                  </a:moveTo>
                  <a:lnTo>
                    <a:pt x="0" y="0"/>
                  </a:lnTo>
                  <a:lnTo>
                    <a:pt x="0" y="160423"/>
                  </a:lnTo>
                </a:path>
              </a:pathLst>
            </a:custGeom>
            <a:ln w="2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831942" y="1100403"/>
              <a:ext cx="116205" cy="99695"/>
            </a:xfrm>
            <a:custGeom>
              <a:avLst/>
              <a:gdLst/>
              <a:ahLst/>
              <a:cxnLst/>
              <a:rect l="l" t="t" r="r" b="b"/>
              <a:pathLst>
                <a:path w="116204" h="99694">
                  <a:moveTo>
                    <a:pt x="115989" y="0"/>
                  </a:moveTo>
                  <a:lnTo>
                    <a:pt x="57791" y="23448"/>
                  </a:lnTo>
                  <a:lnTo>
                    <a:pt x="0" y="0"/>
                  </a:lnTo>
                  <a:lnTo>
                    <a:pt x="57791" y="99418"/>
                  </a:lnTo>
                  <a:lnTo>
                    <a:pt x="1159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5" name="object 85"/>
          <p:cNvGrpSpPr/>
          <p:nvPr/>
        </p:nvGrpSpPr>
        <p:grpSpPr>
          <a:xfrm>
            <a:off x="5154197" y="968670"/>
            <a:ext cx="114935" cy="231775"/>
            <a:chOff x="5154197" y="968670"/>
            <a:chExt cx="114935" cy="231775"/>
          </a:xfrm>
        </p:grpSpPr>
        <p:sp>
          <p:nvSpPr>
            <p:cNvPr id="86" name="object 86"/>
            <p:cNvSpPr/>
            <p:nvPr/>
          </p:nvSpPr>
          <p:spPr>
            <a:xfrm>
              <a:off x="5211041" y="1039398"/>
              <a:ext cx="0" cy="160655"/>
            </a:xfrm>
            <a:custGeom>
              <a:avLst/>
              <a:gdLst/>
              <a:ahLst/>
              <a:cxnLst/>
              <a:rect l="l" t="t" r="r" b="b"/>
              <a:pathLst>
                <a:path h="160655">
                  <a:moveTo>
                    <a:pt x="0" y="0"/>
                  </a:moveTo>
                  <a:lnTo>
                    <a:pt x="0" y="0"/>
                  </a:lnTo>
                  <a:lnTo>
                    <a:pt x="0" y="160423"/>
                  </a:lnTo>
                </a:path>
              </a:pathLst>
            </a:custGeom>
            <a:ln w="2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154197" y="968670"/>
              <a:ext cx="114935" cy="99695"/>
            </a:xfrm>
            <a:custGeom>
              <a:avLst/>
              <a:gdLst/>
              <a:ahLst/>
              <a:cxnLst/>
              <a:rect l="l" t="t" r="r" b="b"/>
              <a:pathLst>
                <a:path w="114935" h="99694">
                  <a:moveTo>
                    <a:pt x="56844" y="0"/>
                  </a:moveTo>
                  <a:lnTo>
                    <a:pt x="0" y="99323"/>
                  </a:lnTo>
                  <a:lnTo>
                    <a:pt x="56844" y="75874"/>
                  </a:lnTo>
                  <a:lnTo>
                    <a:pt x="114907" y="99323"/>
                  </a:lnTo>
                  <a:lnTo>
                    <a:pt x="568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8" name="object 88"/>
          <p:cNvGrpSpPr/>
          <p:nvPr/>
        </p:nvGrpSpPr>
        <p:grpSpPr>
          <a:xfrm>
            <a:off x="1243008" y="1546978"/>
            <a:ext cx="6245860" cy="4276725"/>
            <a:chOff x="1243008" y="1546978"/>
            <a:chExt cx="6245860" cy="4276725"/>
          </a:xfrm>
        </p:grpSpPr>
        <p:sp>
          <p:nvSpPr>
            <p:cNvPr id="89" name="object 89"/>
            <p:cNvSpPr/>
            <p:nvPr/>
          </p:nvSpPr>
          <p:spPr>
            <a:xfrm>
              <a:off x="1434195" y="4378465"/>
              <a:ext cx="1965960" cy="1436370"/>
            </a:xfrm>
            <a:custGeom>
              <a:avLst/>
              <a:gdLst/>
              <a:ahLst/>
              <a:cxnLst/>
              <a:rect l="l" t="t" r="r" b="b"/>
              <a:pathLst>
                <a:path w="1965960" h="1436370">
                  <a:moveTo>
                    <a:pt x="1965535" y="0"/>
                  </a:moveTo>
                  <a:lnTo>
                    <a:pt x="1965535" y="1436284"/>
                  </a:lnTo>
                  <a:lnTo>
                    <a:pt x="0" y="1436284"/>
                  </a:lnTo>
                  <a:lnTo>
                    <a:pt x="0" y="1278720"/>
                  </a:lnTo>
                </a:path>
              </a:pathLst>
            </a:custGeom>
            <a:ln w="165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376065" y="5587125"/>
              <a:ext cx="116205" cy="99695"/>
            </a:xfrm>
            <a:custGeom>
              <a:avLst/>
              <a:gdLst/>
              <a:ahLst/>
              <a:cxnLst/>
              <a:rect l="l" t="t" r="r" b="b"/>
              <a:pathLst>
                <a:path w="116205" h="99695">
                  <a:moveTo>
                    <a:pt x="58130" y="0"/>
                  </a:moveTo>
                  <a:lnTo>
                    <a:pt x="0" y="99418"/>
                  </a:lnTo>
                  <a:lnTo>
                    <a:pt x="58130" y="75970"/>
                  </a:lnTo>
                  <a:lnTo>
                    <a:pt x="115908" y="99418"/>
                  </a:lnTo>
                  <a:lnTo>
                    <a:pt x="581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321772" y="3766033"/>
              <a:ext cx="0" cy="354330"/>
            </a:xfrm>
            <a:custGeom>
              <a:avLst/>
              <a:gdLst/>
              <a:ahLst/>
              <a:cxnLst/>
              <a:rect l="l" t="t" r="r" b="b"/>
              <a:pathLst>
                <a:path h="354329">
                  <a:moveTo>
                    <a:pt x="0" y="354209"/>
                  </a:moveTo>
                  <a:lnTo>
                    <a:pt x="0" y="354209"/>
                  </a:lnTo>
                  <a:lnTo>
                    <a:pt x="0" y="0"/>
                  </a:lnTo>
                </a:path>
              </a:pathLst>
            </a:custGeom>
            <a:ln w="2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263574" y="3695019"/>
              <a:ext cx="116205" cy="99695"/>
            </a:xfrm>
            <a:custGeom>
              <a:avLst/>
              <a:gdLst/>
              <a:ahLst/>
              <a:cxnLst/>
              <a:rect l="l" t="t" r="r" b="b"/>
              <a:pathLst>
                <a:path w="116204" h="99695">
                  <a:moveTo>
                    <a:pt x="58197" y="0"/>
                  </a:moveTo>
                  <a:lnTo>
                    <a:pt x="0" y="99609"/>
                  </a:lnTo>
                  <a:lnTo>
                    <a:pt x="58197" y="75970"/>
                  </a:lnTo>
                  <a:lnTo>
                    <a:pt x="115989" y="99609"/>
                  </a:lnTo>
                  <a:lnTo>
                    <a:pt x="581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177225" y="3693589"/>
              <a:ext cx="0" cy="359410"/>
            </a:xfrm>
            <a:custGeom>
              <a:avLst/>
              <a:gdLst/>
              <a:ahLst/>
              <a:cxnLst/>
              <a:rect l="l" t="t" r="r" b="b"/>
              <a:pathLst>
                <a:path h="359410">
                  <a:moveTo>
                    <a:pt x="0" y="0"/>
                  </a:moveTo>
                  <a:lnTo>
                    <a:pt x="0" y="0"/>
                  </a:lnTo>
                  <a:lnTo>
                    <a:pt x="0" y="359261"/>
                  </a:lnTo>
                </a:path>
              </a:pathLst>
            </a:custGeom>
            <a:ln w="2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120515" y="4023492"/>
              <a:ext cx="114935" cy="100965"/>
            </a:xfrm>
            <a:custGeom>
              <a:avLst/>
              <a:gdLst/>
              <a:ahLst/>
              <a:cxnLst/>
              <a:rect l="l" t="t" r="r" b="b"/>
              <a:pathLst>
                <a:path w="114935" h="100964">
                  <a:moveTo>
                    <a:pt x="114501" y="0"/>
                  </a:moveTo>
                  <a:lnTo>
                    <a:pt x="56709" y="23639"/>
                  </a:lnTo>
                  <a:lnTo>
                    <a:pt x="0" y="0"/>
                  </a:lnTo>
                  <a:lnTo>
                    <a:pt x="56709" y="100372"/>
                  </a:lnTo>
                  <a:lnTo>
                    <a:pt x="1145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222410" y="3695019"/>
              <a:ext cx="0" cy="353060"/>
            </a:xfrm>
            <a:custGeom>
              <a:avLst/>
              <a:gdLst/>
              <a:ahLst/>
              <a:cxnLst/>
              <a:rect l="l" t="t" r="r" b="b"/>
              <a:pathLst>
                <a:path h="353060">
                  <a:moveTo>
                    <a:pt x="0" y="0"/>
                  </a:moveTo>
                  <a:lnTo>
                    <a:pt x="0" y="0"/>
                  </a:lnTo>
                  <a:lnTo>
                    <a:pt x="0" y="352875"/>
                  </a:lnTo>
                </a:path>
              </a:pathLst>
            </a:custGeom>
            <a:ln w="2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164347" y="4019203"/>
              <a:ext cx="116205" cy="99695"/>
            </a:xfrm>
            <a:custGeom>
              <a:avLst/>
              <a:gdLst/>
              <a:ahLst/>
              <a:cxnLst/>
              <a:rect l="l" t="t" r="r" b="b"/>
              <a:pathLst>
                <a:path w="116204" h="99695">
                  <a:moveTo>
                    <a:pt x="115854" y="0"/>
                  </a:moveTo>
                  <a:lnTo>
                    <a:pt x="58062" y="23734"/>
                  </a:lnTo>
                  <a:lnTo>
                    <a:pt x="0" y="0"/>
                  </a:lnTo>
                  <a:lnTo>
                    <a:pt x="58062" y="99418"/>
                  </a:lnTo>
                  <a:lnTo>
                    <a:pt x="1158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472004" y="3834663"/>
              <a:ext cx="1750060" cy="212725"/>
            </a:xfrm>
            <a:custGeom>
              <a:avLst/>
              <a:gdLst/>
              <a:ahLst/>
              <a:cxnLst/>
              <a:rect l="l" t="t" r="r" b="b"/>
              <a:pathLst>
                <a:path w="1750060" h="212725">
                  <a:moveTo>
                    <a:pt x="1749458" y="0"/>
                  </a:moveTo>
                  <a:lnTo>
                    <a:pt x="0" y="0"/>
                  </a:lnTo>
                  <a:lnTo>
                    <a:pt x="0" y="212468"/>
                  </a:lnTo>
                </a:path>
              </a:pathLst>
            </a:custGeom>
            <a:ln w="145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414212" y="4017773"/>
              <a:ext cx="116205" cy="100330"/>
            </a:xfrm>
            <a:custGeom>
              <a:avLst/>
              <a:gdLst/>
              <a:ahLst/>
              <a:cxnLst/>
              <a:rect l="l" t="t" r="r" b="b"/>
              <a:pathLst>
                <a:path w="116204" h="100329">
                  <a:moveTo>
                    <a:pt x="115854" y="0"/>
                  </a:moveTo>
                  <a:lnTo>
                    <a:pt x="57791" y="23734"/>
                  </a:lnTo>
                  <a:lnTo>
                    <a:pt x="0" y="0"/>
                  </a:lnTo>
                  <a:lnTo>
                    <a:pt x="57791" y="100181"/>
                  </a:lnTo>
                  <a:lnTo>
                    <a:pt x="1158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617364" y="3975737"/>
              <a:ext cx="1365250" cy="77470"/>
            </a:xfrm>
            <a:custGeom>
              <a:avLst/>
              <a:gdLst/>
              <a:ahLst/>
              <a:cxnLst/>
              <a:rect l="l" t="t" r="r" b="b"/>
              <a:pathLst>
                <a:path w="1365250" h="77470">
                  <a:moveTo>
                    <a:pt x="0" y="74254"/>
                  </a:moveTo>
                  <a:lnTo>
                    <a:pt x="0" y="0"/>
                  </a:lnTo>
                  <a:lnTo>
                    <a:pt x="1365216" y="0"/>
                  </a:lnTo>
                  <a:lnTo>
                    <a:pt x="1365216" y="77114"/>
                  </a:lnTo>
                </a:path>
              </a:pathLst>
            </a:custGeom>
            <a:ln w="14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560241" y="4021404"/>
              <a:ext cx="1479550" cy="102870"/>
            </a:xfrm>
            <a:custGeom>
              <a:avLst/>
              <a:gdLst/>
              <a:ahLst/>
              <a:cxnLst/>
              <a:rect l="l" t="t" r="r" b="b"/>
              <a:pathLst>
                <a:path w="1479550" h="102870">
                  <a:moveTo>
                    <a:pt x="114909" y="0"/>
                  </a:moveTo>
                  <a:lnTo>
                    <a:pt x="57111" y="23634"/>
                  </a:lnTo>
                  <a:lnTo>
                    <a:pt x="0" y="0"/>
                  </a:lnTo>
                  <a:lnTo>
                    <a:pt x="57111" y="99606"/>
                  </a:lnTo>
                  <a:lnTo>
                    <a:pt x="114909" y="0"/>
                  </a:lnTo>
                  <a:close/>
                </a:path>
                <a:path w="1479550" h="102870">
                  <a:moveTo>
                    <a:pt x="1479042" y="2095"/>
                  </a:moveTo>
                  <a:lnTo>
                    <a:pt x="1422336" y="26492"/>
                  </a:lnTo>
                  <a:lnTo>
                    <a:pt x="1364132" y="2095"/>
                  </a:lnTo>
                  <a:lnTo>
                    <a:pt x="1422336" y="102463"/>
                  </a:lnTo>
                  <a:lnTo>
                    <a:pt x="147904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103442" y="4379895"/>
              <a:ext cx="0" cy="240665"/>
            </a:xfrm>
            <a:custGeom>
              <a:avLst/>
              <a:gdLst/>
              <a:ahLst/>
              <a:cxnLst/>
              <a:rect l="l" t="t" r="r" b="b"/>
              <a:pathLst>
                <a:path h="240664">
                  <a:moveTo>
                    <a:pt x="0" y="0"/>
                  </a:moveTo>
                  <a:lnTo>
                    <a:pt x="0" y="0"/>
                  </a:lnTo>
                  <a:lnTo>
                    <a:pt x="0" y="240397"/>
                  </a:lnTo>
                </a:path>
              </a:pathLst>
            </a:custGeom>
            <a:ln w="2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021153" y="4578828"/>
              <a:ext cx="165100" cy="142875"/>
            </a:xfrm>
            <a:custGeom>
              <a:avLst/>
              <a:gdLst/>
              <a:ahLst/>
              <a:cxnLst/>
              <a:rect l="l" t="t" r="r" b="b"/>
              <a:pathLst>
                <a:path w="165100" h="142875">
                  <a:moveTo>
                    <a:pt x="164578" y="0"/>
                  </a:moveTo>
                  <a:lnTo>
                    <a:pt x="82289" y="34315"/>
                  </a:lnTo>
                  <a:lnTo>
                    <a:pt x="0" y="0"/>
                  </a:lnTo>
                  <a:lnTo>
                    <a:pt x="82289" y="142503"/>
                  </a:lnTo>
                  <a:lnTo>
                    <a:pt x="1645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080782" y="1549838"/>
              <a:ext cx="0" cy="266065"/>
            </a:xfrm>
            <a:custGeom>
              <a:avLst/>
              <a:gdLst/>
              <a:ahLst/>
              <a:cxnLst/>
              <a:rect l="l" t="t" r="r" b="b"/>
              <a:pathLst>
                <a:path h="266064">
                  <a:moveTo>
                    <a:pt x="0" y="0"/>
                  </a:moveTo>
                  <a:lnTo>
                    <a:pt x="0" y="0"/>
                  </a:lnTo>
                  <a:lnTo>
                    <a:pt x="0" y="265466"/>
                  </a:lnTo>
                </a:path>
              </a:pathLst>
            </a:custGeom>
            <a:ln w="2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022990" y="1785946"/>
              <a:ext cx="114935" cy="100330"/>
            </a:xfrm>
            <a:custGeom>
              <a:avLst/>
              <a:gdLst/>
              <a:ahLst/>
              <a:cxnLst/>
              <a:rect l="l" t="t" r="r" b="b"/>
              <a:pathLst>
                <a:path w="114935" h="100330">
                  <a:moveTo>
                    <a:pt x="114907" y="0"/>
                  </a:moveTo>
                  <a:lnTo>
                    <a:pt x="57791" y="24401"/>
                  </a:lnTo>
                  <a:lnTo>
                    <a:pt x="0" y="0"/>
                  </a:lnTo>
                  <a:lnTo>
                    <a:pt x="57791" y="100086"/>
                  </a:lnTo>
                  <a:lnTo>
                    <a:pt x="114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443640" y="1617706"/>
              <a:ext cx="0" cy="267970"/>
            </a:xfrm>
            <a:custGeom>
              <a:avLst/>
              <a:gdLst/>
              <a:ahLst/>
              <a:cxnLst/>
              <a:rect l="l" t="t" r="r" b="b"/>
              <a:pathLst>
                <a:path h="267969">
                  <a:moveTo>
                    <a:pt x="0" y="267659"/>
                  </a:moveTo>
                  <a:lnTo>
                    <a:pt x="0" y="267659"/>
                  </a:lnTo>
                  <a:lnTo>
                    <a:pt x="0" y="0"/>
                  </a:lnTo>
                </a:path>
              </a:pathLst>
            </a:custGeom>
            <a:ln w="2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385848" y="1546978"/>
              <a:ext cx="116205" cy="100330"/>
            </a:xfrm>
            <a:custGeom>
              <a:avLst/>
              <a:gdLst/>
              <a:ahLst/>
              <a:cxnLst/>
              <a:rect l="l" t="t" r="r" b="b"/>
              <a:pathLst>
                <a:path w="116204" h="100330">
                  <a:moveTo>
                    <a:pt x="57791" y="0"/>
                  </a:moveTo>
                  <a:lnTo>
                    <a:pt x="0" y="100086"/>
                  </a:lnTo>
                  <a:lnTo>
                    <a:pt x="57791" y="76446"/>
                  </a:lnTo>
                  <a:lnTo>
                    <a:pt x="115854" y="100086"/>
                  </a:lnTo>
                  <a:lnTo>
                    <a:pt x="577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261872" y="2141585"/>
              <a:ext cx="2830195" cy="1831975"/>
            </a:xfrm>
            <a:custGeom>
              <a:avLst/>
              <a:gdLst/>
              <a:ahLst/>
              <a:cxnLst/>
              <a:rect l="l" t="t" r="r" b="b"/>
              <a:pathLst>
                <a:path w="2830195" h="1831975">
                  <a:moveTo>
                    <a:pt x="0" y="0"/>
                  </a:moveTo>
                  <a:lnTo>
                    <a:pt x="0" y="0"/>
                  </a:lnTo>
                  <a:lnTo>
                    <a:pt x="0" y="1831959"/>
                  </a:lnTo>
                </a:path>
                <a:path w="2830195" h="1831975">
                  <a:moveTo>
                    <a:pt x="361774" y="1429"/>
                  </a:moveTo>
                  <a:lnTo>
                    <a:pt x="361774" y="489373"/>
                  </a:lnTo>
                  <a:lnTo>
                    <a:pt x="2829639" y="489373"/>
                  </a:lnTo>
                  <a:lnTo>
                    <a:pt x="2829639" y="35077"/>
                  </a:lnTo>
                </a:path>
              </a:pathLst>
            </a:custGeom>
            <a:ln w="174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033720" y="2106603"/>
              <a:ext cx="116205" cy="99695"/>
            </a:xfrm>
            <a:custGeom>
              <a:avLst/>
              <a:gdLst/>
              <a:ahLst/>
              <a:cxnLst/>
              <a:rect l="l" t="t" r="r" b="b"/>
              <a:pathLst>
                <a:path w="116204" h="99694">
                  <a:moveTo>
                    <a:pt x="57791" y="0"/>
                  </a:moveTo>
                  <a:lnTo>
                    <a:pt x="0" y="99323"/>
                  </a:lnTo>
                  <a:lnTo>
                    <a:pt x="57791" y="75684"/>
                  </a:lnTo>
                  <a:lnTo>
                    <a:pt x="115854" y="99323"/>
                  </a:lnTo>
                  <a:lnTo>
                    <a:pt x="577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446617" y="2104220"/>
              <a:ext cx="3034665" cy="749935"/>
            </a:xfrm>
            <a:custGeom>
              <a:avLst/>
              <a:gdLst/>
              <a:ahLst/>
              <a:cxnLst/>
              <a:rect l="l" t="t" r="r" b="b"/>
              <a:pathLst>
                <a:path w="3034665" h="749935">
                  <a:moveTo>
                    <a:pt x="3034280" y="0"/>
                  </a:moveTo>
                  <a:lnTo>
                    <a:pt x="3034280" y="749407"/>
                  </a:lnTo>
                  <a:lnTo>
                    <a:pt x="0" y="749407"/>
                  </a:lnTo>
                  <a:lnTo>
                    <a:pt x="0" y="113812"/>
                  </a:lnTo>
                </a:path>
              </a:pathLst>
            </a:custGeom>
            <a:ln w="147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388825" y="2147305"/>
              <a:ext cx="116205" cy="99695"/>
            </a:xfrm>
            <a:custGeom>
              <a:avLst/>
              <a:gdLst/>
              <a:ahLst/>
              <a:cxnLst/>
              <a:rect l="l" t="t" r="r" b="b"/>
              <a:pathLst>
                <a:path w="116204" h="99694">
                  <a:moveTo>
                    <a:pt x="57791" y="0"/>
                  </a:moveTo>
                  <a:lnTo>
                    <a:pt x="0" y="99323"/>
                  </a:lnTo>
                  <a:lnTo>
                    <a:pt x="57791" y="75684"/>
                  </a:lnTo>
                  <a:lnTo>
                    <a:pt x="115989" y="99323"/>
                  </a:lnTo>
                  <a:lnTo>
                    <a:pt x="577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300800" y="2142348"/>
              <a:ext cx="2592705" cy="878205"/>
            </a:xfrm>
            <a:custGeom>
              <a:avLst/>
              <a:gdLst/>
              <a:ahLst/>
              <a:cxnLst/>
              <a:rect l="l" t="t" r="r" b="b"/>
              <a:pathLst>
                <a:path w="2592704" h="878205">
                  <a:moveTo>
                    <a:pt x="2592124" y="0"/>
                  </a:moveTo>
                  <a:lnTo>
                    <a:pt x="2592124" y="486419"/>
                  </a:lnTo>
                  <a:lnTo>
                    <a:pt x="0" y="486419"/>
                  </a:lnTo>
                  <a:lnTo>
                    <a:pt x="0" y="877803"/>
                  </a:lnTo>
                </a:path>
              </a:pathLst>
            </a:custGeom>
            <a:ln w="15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243008" y="2991556"/>
              <a:ext cx="116205" cy="99695"/>
            </a:xfrm>
            <a:custGeom>
              <a:avLst/>
              <a:gdLst/>
              <a:ahLst/>
              <a:cxnLst/>
              <a:rect l="l" t="t" r="r" b="b"/>
              <a:pathLst>
                <a:path w="116205" h="99694">
                  <a:moveTo>
                    <a:pt x="115922" y="0"/>
                  </a:moveTo>
                  <a:lnTo>
                    <a:pt x="57791" y="23639"/>
                  </a:lnTo>
                  <a:lnTo>
                    <a:pt x="0" y="0"/>
                  </a:lnTo>
                  <a:lnTo>
                    <a:pt x="57791" y="99609"/>
                  </a:lnTo>
                  <a:lnTo>
                    <a:pt x="115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548764" y="2217270"/>
              <a:ext cx="2530475" cy="871855"/>
            </a:xfrm>
            <a:custGeom>
              <a:avLst/>
              <a:gdLst/>
              <a:ahLst/>
              <a:cxnLst/>
              <a:rect l="l" t="t" r="r" b="b"/>
              <a:pathLst>
                <a:path w="2530475" h="871855">
                  <a:moveTo>
                    <a:pt x="0" y="871798"/>
                  </a:moveTo>
                  <a:lnTo>
                    <a:pt x="0" y="637024"/>
                  </a:lnTo>
                  <a:lnTo>
                    <a:pt x="2529987" y="641314"/>
                  </a:lnTo>
                  <a:lnTo>
                    <a:pt x="2529987" y="0"/>
                  </a:lnTo>
                </a:path>
              </a:pathLst>
            </a:custGeom>
            <a:ln w="150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020960" y="2146542"/>
              <a:ext cx="116205" cy="99695"/>
            </a:xfrm>
            <a:custGeom>
              <a:avLst/>
              <a:gdLst/>
              <a:ahLst/>
              <a:cxnLst/>
              <a:rect l="l" t="t" r="r" b="b"/>
              <a:pathLst>
                <a:path w="116204" h="99694">
                  <a:moveTo>
                    <a:pt x="57791" y="0"/>
                  </a:moveTo>
                  <a:lnTo>
                    <a:pt x="0" y="99418"/>
                  </a:lnTo>
                  <a:lnTo>
                    <a:pt x="57791" y="75779"/>
                  </a:lnTo>
                  <a:lnTo>
                    <a:pt x="115854" y="99418"/>
                  </a:lnTo>
                  <a:lnTo>
                    <a:pt x="577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259842" y="3262932"/>
              <a:ext cx="845185" cy="169545"/>
            </a:xfrm>
            <a:custGeom>
              <a:avLst/>
              <a:gdLst/>
              <a:ahLst/>
              <a:cxnLst/>
              <a:rect l="l" t="t" r="r" b="b"/>
              <a:pathLst>
                <a:path w="845185" h="169545">
                  <a:moveTo>
                    <a:pt x="844682" y="0"/>
                  </a:moveTo>
                  <a:lnTo>
                    <a:pt x="0" y="0"/>
                  </a:lnTo>
                  <a:lnTo>
                    <a:pt x="844682" y="169479"/>
                  </a:lnTo>
                  <a:lnTo>
                    <a:pt x="84468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259842" y="3262932"/>
              <a:ext cx="845185" cy="99060"/>
            </a:xfrm>
            <a:custGeom>
              <a:avLst/>
              <a:gdLst/>
              <a:ahLst/>
              <a:cxnLst/>
              <a:rect l="l" t="t" r="r" b="b"/>
              <a:pathLst>
                <a:path w="845185" h="99060">
                  <a:moveTo>
                    <a:pt x="0" y="0"/>
                  </a:moveTo>
                  <a:lnTo>
                    <a:pt x="844682" y="0"/>
                  </a:lnTo>
                  <a:lnTo>
                    <a:pt x="844682" y="98751"/>
                  </a:lnTo>
                </a:path>
              </a:pathLst>
            </a:custGeom>
            <a:ln w="145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5046327" y="3332326"/>
              <a:ext cx="116205" cy="100330"/>
            </a:xfrm>
            <a:custGeom>
              <a:avLst/>
              <a:gdLst/>
              <a:ahLst/>
              <a:cxnLst/>
              <a:rect l="l" t="t" r="r" b="b"/>
              <a:pathLst>
                <a:path w="116204" h="100329">
                  <a:moveTo>
                    <a:pt x="115989" y="0"/>
                  </a:moveTo>
                  <a:lnTo>
                    <a:pt x="58197" y="23639"/>
                  </a:lnTo>
                  <a:lnTo>
                    <a:pt x="0" y="0"/>
                  </a:lnTo>
                  <a:lnTo>
                    <a:pt x="58197" y="100086"/>
                  </a:lnTo>
                  <a:lnTo>
                    <a:pt x="1159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494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60244" y="2246517"/>
            <a:ext cx="316865" cy="85725"/>
            <a:chOff x="4260244" y="2246517"/>
            <a:chExt cx="316865" cy="85725"/>
          </a:xfrm>
        </p:grpSpPr>
        <p:sp>
          <p:nvSpPr>
            <p:cNvPr id="4" name="object 4"/>
            <p:cNvSpPr/>
            <p:nvPr/>
          </p:nvSpPr>
          <p:spPr>
            <a:xfrm>
              <a:off x="4349429" y="2289450"/>
              <a:ext cx="227965" cy="0"/>
            </a:xfrm>
            <a:custGeom>
              <a:avLst/>
              <a:gdLst/>
              <a:ahLst/>
              <a:cxnLst/>
              <a:rect l="l" t="t" r="r" b="b"/>
              <a:pathLst>
                <a:path w="227964">
                  <a:moveTo>
                    <a:pt x="227639" y="0"/>
                  </a:moveTo>
                  <a:lnTo>
                    <a:pt x="227639" y="0"/>
                  </a:lnTo>
                  <a:lnTo>
                    <a:pt x="0" y="0"/>
                  </a:lnTo>
                </a:path>
              </a:pathLst>
            </a:custGeom>
            <a:ln w="189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60244" y="2246517"/>
              <a:ext cx="131445" cy="85725"/>
            </a:xfrm>
            <a:custGeom>
              <a:avLst/>
              <a:gdLst/>
              <a:ahLst/>
              <a:cxnLst/>
              <a:rect l="l" t="t" r="r" b="b"/>
              <a:pathLst>
                <a:path w="131445" h="85725">
                  <a:moveTo>
                    <a:pt x="131344" y="0"/>
                  </a:moveTo>
                  <a:lnTo>
                    <a:pt x="0" y="42932"/>
                  </a:lnTo>
                  <a:lnTo>
                    <a:pt x="131344" y="85479"/>
                  </a:lnTo>
                  <a:lnTo>
                    <a:pt x="107770" y="42932"/>
                  </a:lnTo>
                  <a:lnTo>
                    <a:pt x="1313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515583" y="4068215"/>
            <a:ext cx="1014730" cy="85725"/>
            <a:chOff x="3515583" y="4068215"/>
            <a:chExt cx="1014730" cy="85725"/>
          </a:xfrm>
        </p:grpSpPr>
        <p:sp>
          <p:nvSpPr>
            <p:cNvPr id="7" name="object 7"/>
            <p:cNvSpPr/>
            <p:nvPr/>
          </p:nvSpPr>
          <p:spPr>
            <a:xfrm>
              <a:off x="3604768" y="4110858"/>
              <a:ext cx="925830" cy="0"/>
            </a:xfrm>
            <a:custGeom>
              <a:avLst/>
              <a:gdLst/>
              <a:ahLst/>
              <a:cxnLst/>
              <a:rect l="l" t="t" r="r" b="b"/>
              <a:pathLst>
                <a:path w="925829">
                  <a:moveTo>
                    <a:pt x="925275" y="0"/>
                  </a:moveTo>
                  <a:lnTo>
                    <a:pt x="925275" y="0"/>
                  </a:lnTo>
                  <a:lnTo>
                    <a:pt x="0" y="0"/>
                  </a:lnTo>
                </a:path>
              </a:pathLst>
            </a:custGeom>
            <a:ln w="189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15583" y="4068215"/>
              <a:ext cx="131445" cy="85725"/>
            </a:xfrm>
            <a:custGeom>
              <a:avLst/>
              <a:gdLst/>
              <a:ahLst/>
              <a:cxnLst/>
              <a:rect l="l" t="t" r="r" b="b"/>
              <a:pathLst>
                <a:path w="131445" h="85725">
                  <a:moveTo>
                    <a:pt x="131344" y="0"/>
                  </a:moveTo>
                  <a:lnTo>
                    <a:pt x="0" y="42643"/>
                  </a:lnTo>
                  <a:lnTo>
                    <a:pt x="131344" y="85479"/>
                  </a:lnTo>
                  <a:lnTo>
                    <a:pt x="107770" y="42643"/>
                  </a:lnTo>
                  <a:lnTo>
                    <a:pt x="1313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959637" y="103073"/>
            <a:ext cx="1098550" cy="297815"/>
            <a:chOff x="2959637" y="103073"/>
            <a:chExt cx="1098550" cy="297815"/>
          </a:xfrm>
        </p:grpSpPr>
        <p:sp>
          <p:nvSpPr>
            <p:cNvPr id="10" name="object 10"/>
            <p:cNvSpPr/>
            <p:nvPr/>
          </p:nvSpPr>
          <p:spPr>
            <a:xfrm>
              <a:off x="2969374" y="112809"/>
              <a:ext cx="1079500" cy="278130"/>
            </a:xfrm>
            <a:custGeom>
              <a:avLst/>
              <a:gdLst/>
              <a:ahLst/>
              <a:cxnLst/>
              <a:rect l="l" t="t" r="r" b="b"/>
              <a:pathLst>
                <a:path w="1079500" h="278130">
                  <a:moveTo>
                    <a:pt x="899580" y="0"/>
                  </a:moveTo>
                  <a:lnTo>
                    <a:pt x="179866" y="0"/>
                  </a:lnTo>
                  <a:lnTo>
                    <a:pt x="123129" y="7096"/>
                  </a:lnTo>
                  <a:lnTo>
                    <a:pt x="73768" y="26853"/>
                  </a:lnTo>
                  <a:lnTo>
                    <a:pt x="34789" y="56974"/>
                  </a:lnTo>
                  <a:lnTo>
                    <a:pt x="9198" y="95162"/>
                  </a:lnTo>
                  <a:lnTo>
                    <a:pt x="0" y="139121"/>
                  </a:lnTo>
                  <a:lnTo>
                    <a:pt x="9198" y="183022"/>
                  </a:lnTo>
                  <a:lnTo>
                    <a:pt x="34789" y="221158"/>
                  </a:lnTo>
                  <a:lnTo>
                    <a:pt x="73768" y="251236"/>
                  </a:lnTo>
                  <a:lnTo>
                    <a:pt x="123129" y="270964"/>
                  </a:lnTo>
                  <a:lnTo>
                    <a:pt x="179866" y="278049"/>
                  </a:lnTo>
                  <a:lnTo>
                    <a:pt x="899580" y="278049"/>
                  </a:lnTo>
                  <a:lnTo>
                    <a:pt x="956278" y="270964"/>
                  </a:lnTo>
                  <a:lnTo>
                    <a:pt x="1005546" y="251236"/>
                  </a:lnTo>
                  <a:lnTo>
                    <a:pt x="1044414" y="221158"/>
                  </a:lnTo>
                  <a:lnTo>
                    <a:pt x="1069912" y="183022"/>
                  </a:lnTo>
                  <a:lnTo>
                    <a:pt x="1079072" y="139121"/>
                  </a:lnTo>
                  <a:lnTo>
                    <a:pt x="1069912" y="95162"/>
                  </a:lnTo>
                  <a:lnTo>
                    <a:pt x="1044414" y="56974"/>
                  </a:lnTo>
                  <a:lnTo>
                    <a:pt x="1005546" y="26853"/>
                  </a:lnTo>
                  <a:lnTo>
                    <a:pt x="956278" y="7096"/>
                  </a:lnTo>
                  <a:lnTo>
                    <a:pt x="899580" y="0"/>
                  </a:lnTo>
                  <a:close/>
                </a:path>
              </a:pathLst>
            </a:custGeom>
            <a:solidFill>
              <a:srgbClr val="BEE7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69374" y="112809"/>
              <a:ext cx="1079500" cy="278130"/>
            </a:xfrm>
            <a:custGeom>
              <a:avLst/>
              <a:gdLst/>
              <a:ahLst/>
              <a:cxnLst/>
              <a:rect l="l" t="t" r="r" b="b"/>
              <a:pathLst>
                <a:path w="1079500" h="278130">
                  <a:moveTo>
                    <a:pt x="1079072" y="139121"/>
                  </a:moveTo>
                  <a:lnTo>
                    <a:pt x="1069912" y="183022"/>
                  </a:lnTo>
                  <a:lnTo>
                    <a:pt x="1044414" y="221158"/>
                  </a:lnTo>
                  <a:lnTo>
                    <a:pt x="1005546" y="251236"/>
                  </a:lnTo>
                  <a:lnTo>
                    <a:pt x="956278" y="270964"/>
                  </a:lnTo>
                  <a:lnTo>
                    <a:pt x="899580" y="278049"/>
                  </a:lnTo>
                  <a:lnTo>
                    <a:pt x="179866" y="278049"/>
                  </a:lnTo>
                  <a:lnTo>
                    <a:pt x="123129" y="270964"/>
                  </a:lnTo>
                  <a:lnTo>
                    <a:pt x="73768" y="251236"/>
                  </a:lnTo>
                  <a:lnTo>
                    <a:pt x="34789" y="221158"/>
                  </a:lnTo>
                  <a:lnTo>
                    <a:pt x="9198" y="183022"/>
                  </a:lnTo>
                  <a:lnTo>
                    <a:pt x="0" y="139121"/>
                  </a:lnTo>
                  <a:lnTo>
                    <a:pt x="9198" y="95162"/>
                  </a:lnTo>
                  <a:lnTo>
                    <a:pt x="34789" y="56974"/>
                  </a:lnTo>
                  <a:lnTo>
                    <a:pt x="73768" y="26853"/>
                  </a:lnTo>
                  <a:lnTo>
                    <a:pt x="123129" y="7096"/>
                  </a:lnTo>
                  <a:lnTo>
                    <a:pt x="179866" y="0"/>
                  </a:lnTo>
                  <a:lnTo>
                    <a:pt x="899580" y="0"/>
                  </a:lnTo>
                  <a:lnTo>
                    <a:pt x="956278" y="7096"/>
                  </a:lnTo>
                  <a:lnTo>
                    <a:pt x="1005546" y="26853"/>
                  </a:lnTo>
                  <a:lnTo>
                    <a:pt x="1044414" y="56974"/>
                  </a:lnTo>
                  <a:lnTo>
                    <a:pt x="1069912" y="95162"/>
                  </a:lnTo>
                  <a:lnTo>
                    <a:pt x="1079072" y="139121"/>
                  </a:lnTo>
                  <a:close/>
                </a:path>
              </a:pathLst>
            </a:custGeom>
            <a:ln w="192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929079" y="740210"/>
            <a:ext cx="1161415" cy="763270"/>
            <a:chOff x="2929079" y="740210"/>
            <a:chExt cx="1161415" cy="763270"/>
          </a:xfrm>
        </p:grpSpPr>
        <p:sp>
          <p:nvSpPr>
            <p:cNvPr id="13" name="object 13"/>
            <p:cNvSpPr/>
            <p:nvPr/>
          </p:nvSpPr>
          <p:spPr>
            <a:xfrm>
              <a:off x="2939687" y="750819"/>
              <a:ext cx="1139825" cy="742315"/>
            </a:xfrm>
            <a:custGeom>
              <a:avLst/>
              <a:gdLst/>
              <a:ahLst/>
              <a:cxnLst/>
              <a:rect l="l" t="t" r="r" b="b"/>
              <a:pathLst>
                <a:path w="1139825" h="742315">
                  <a:moveTo>
                    <a:pt x="570407" y="0"/>
                  </a:moveTo>
                  <a:lnTo>
                    <a:pt x="0" y="372501"/>
                  </a:lnTo>
                  <a:lnTo>
                    <a:pt x="566665" y="741722"/>
                  </a:lnTo>
                  <a:lnTo>
                    <a:pt x="1139817" y="376746"/>
                  </a:lnTo>
                  <a:lnTo>
                    <a:pt x="570407" y="0"/>
                  </a:lnTo>
                  <a:close/>
                </a:path>
              </a:pathLst>
            </a:custGeom>
            <a:solidFill>
              <a:srgbClr val="BEE7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39687" y="750819"/>
              <a:ext cx="1139825" cy="742315"/>
            </a:xfrm>
            <a:custGeom>
              <a:avLst/>
              <a:gdLst/>
              <a:ahLst/>
              <a:cxnLst/>
              <a:rect l="l" t="t" r="r" b="b"/>
              <a:pathLst>
                <a:path w="1139825" h="742315">
                  <a:moveTo>
                    <a:pt x="570407" y="0"/>
                  </a:moveTo>
                  <a:lnTo>
                    <a:pt x="1139817" y="376746"/>
                  </a:lnTo>
                  <a:lnTo>
                    <a:pt x="566665" y="741722"/>
                  </a:lnTo>
                  <a:lnTo>
                    <a:pt x="0" y="372501"/>
                  </a:lnTo>
                  <a:lnTo>
                    <a:pt x="570407" y="0"/>
                  </a:lnTo>
                  <a:close/>
                </a:path>
              </a:pathLst>
            </a:custGeom>
            <a:ln w="205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518438" y="1902771"/>
            <a:ext cx="1161415" cy="763270"/>
            <a:chOff x="4518438" y="1902771"/>
            <a:chExt cx="1161415" cy="763270"/>
          </a:xfrm>
        </p:grpSpPr>
        <p:sp>
          <p:nvSpPr>
            <p:cNvPr id="16" name="object 16"/>
            <p:cNvSpPr/>
            <p:nvPr/>
          </p:nvSpPr>
          <p:spPr>
            <a:xfrm>
              <a:off x="4529046" y="1913379"/>
              <a:ext cx="1140460" cy="742315"/>
            </a:xfrm>
            <a:custGeom>
              <a:avLst/>
              <a:gdLst/>
              <a:ahLst/>
              <a:cxnLst/>
              <a:rect l="l" t="t" r="r" b="b"/>
              <a:pathLst>
                <a:path w="1140460" h="742314">
                  <a:moveTo>
                    <a:pt x="570657" y="0"/>
                  </a:moveTo>
                  <a:lnTo>
                    <a:pt x="0" y="372405"/>
                  </a:lnTo>
                  <a:lnTo>
                    <a:pt x="567040" y="741722"/>
                  </a:lnTo>
                  <a:lnTo>
                    <a:pt x="1140191" y="376746"/>
                  </a:lnTo>
                  <a:lnTo>
                    <a:pt x="570657" y="0"/>
                  </a:lnTo>
                  <a:close/>
                </a:path>
              </a:pathLst>
            </a:custGeom>
            <a:solidFill>
              <a:srgbClr val="BEE7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29046" y="1913379"/>
              <a:ext cx="1140460" cy="742315"/>
            </a:xfrm>
            <a:custGeom>
              <a:avLst/>
              <a:gdLst/>
              <a:ahLst/>
              <a:cxnLst/>
              <a:rect l="l" t="t" r="r" b="b"/>
              <a:pathLst>
                <a:path w="1140460" h="742314">
                  <a:moveTo>
                    <a:pt x="570657" y="0"/>
                  </a:moveTo>
                  <a:lnTo>
                    <a:pt x="1140191" y="376746"/>
                  </a:lnTo>
                  <a:lnTo>
                    <a:pt x="567040" y="741722"/>
                  </a:lnTo>
                  <a:lnTo>
                    <a:pt x="0" y="372405"/>
                  </a:lnTo>
                  <a:lnTo>
                    <a:pt x="570657" y="0"/>
                  </a:lnTo>
                  <a:close/>
                </a:path>
              </a:pathLst>
            </a:custGeom>
            <a:ln w="205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518436" y="3728037"/>
            <a:ext cx="1161415" cy="763905"/>
            <a:chOff x="4518436" y="3728037"/>
            <a:chExt cx="1161415" cy="763905"/>
          </a:xfrm>
        </p:grpSpPr>
        <p:sp>
          <p:nvSpPr>
            <p:cNvPr id="19" name="object 19"/>
            <p:cNvSpPr/>
            <p:nvPr/>
          </p:nvSpPr>
          <p:spPr>
            <a:xfrm>
              <a:off x="4529046" y="3738646"/>
              <a:ext cx="1140460" cy="742950"/>
            </a:xfrm>
            <a:custGeom>
              <a:avLst/>
              <a:gdLst/>
              <a:ahLst/>
              <a:cxnLst/>
              <a:rect l="l" t="t" r="r" b="b"/>
              <a:pathLst>
                <a:path w="1140460" h="742950">
                  <a:moveTo>
                    <a:pt x="570657" y="0"/>
                  </a:moveTo>
                  <a:lnTo>
                    <a:pt x="0" y="372212"/>
                  </a:lnTo>
                  <a:lnTo>
                    <a:pt x="567040" y="742398"/>
                  </a:lnTo>
                  <a:lnTo>
                    <a:pt x="1140191" y="377422"/>
                  </a:lnTo>
                  <a:lnTo>
                    <a:pt x="570657" y="0"/>
                  </a:lnTo>
                  <a:close/>
                </a:path>
              </a:pathLst>
            </a:custGeom>
            <a:solidFill>
              <a:srgbClr val="BEE7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9046" y="3738646"/>
              <a:ext cx="1140460" cy="742950"/>
            </a:xfrm>
            <a:custGeom>
              <a:avLst/>
              <a:gdLst/>
              <a:ahLst/>
              <a:cxnLst/>
              <a:rect l="l" t="t" r="r" b="b"/>
              <a:pathLst>
                <a:path w="1140460" h="742950">
                  <a:moveTo>
                    <a:pt x="570657" y="0"/>
                  </a:moveTo>
                  <a:lnTo>
                    <a:pt x="1140191" y="377422"/>
                  </a:lnTo>
                  <a:lnTo>
                    <a:pt x="567040" y="742398"/>
                  </a:lnTo>
                  <a:lnTo>
                    <a:pt x="0" y="372212"/>
                  </a:lnTo>
                  <a:lnTo>
                    <a:pt x="570657" y="0"/>
                  </a:lnTo>
                  <a:close/>
                </a:path>
              </a:pathLst>
            </a:custGeom>
            <a:ln w="205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4591038" y="953037"/>
            <a:ext cx="1016635" cy="306705"/>
          </a:xfrm>
          <a:custGeom>
            <a:avLst/>
            <a:gdLst/>
            <a:ahLst/>
            <a:cxnLst/>
            <a:rect l="l" t="t" r="r" b="b"/>
            <a:pathLst>
              <a:path w="1016635" h="306705">
                <a:moveTo>
                  <a:pt x="1016580" y="0"/>
                </a:moveTo>
                <a:lnTo>
                  <a:pt x="0" y="0"/>
                </a:lnTo>
                <a:lnTo>
                  <a:pt x="0" y="306317"/>
                </a:lnTo>
                <a:lnTo>
                  <a:pt x="1016580" y="306317"/>
                </a:lnTo>
                <a:lnTo>
                  <a:pt x="1016580" y="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478653" y="1432436"/>
            <a:ext cx="1240790" cy="265430"/>
          </a:xfrm>
          <a:custGeom>
            <a:avLst/>
            <a:gdLst/>
            <a:ahLst/>
            <a:cxnLst/>
            <a:rect l="l" t="t" r="r" b="b"/>
            <a:pathLst>
              <a:path w="1240789" h="265430">
                <a:moveTo>
                  <a:pt x="1240353" y="0"/>
                </a:moveTo>
                <a:lnTo>
                  <a:pt x="0" y="0"/>
                </a:lnTo>
                <a:lnTo>
                  <a:pt x="0" y="265121"/>
                </a:lnTo>
                <a:lnTo>
                  <a:pt x="1240353" y="265121"/>
                </a:lnTo>
                <a:lnTo>
                  <a:pt x="1240353" y="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17661" y="2037932"/>
            <a:ext cx="1537970" cy="514350"/>
          </a:xfrm>
          <a:custGeom>
            <a:avLst/>
            <a:gdLst/>
            <a:ahLst/>
            <a:cxnLst/>
            <a:rect l="l" t="t" r="r" b="b"/>
            <a:pathLst>
              <a:path w="1537970" h="514350">
                <a:moveTo>
                  <a:pt x="1537968" y="0"/>
                </a:moveTo>
                <a:lnTo>
                  <a:pt x="0" y="0"/>
                </a:lnTo>
                <a:lnTo>
                  <a:pt x="0" y="514227"/>
                </a:lnTo>
                <a:lnTo>
                  <a:pt x="1537968" y="514227"/>
                </a:lnTo>
                <a:lnTo>
                  <a:pt x="1537968" y="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987808" y="2037932"/>
            <a:ext cx="1437640" cy="505459"/>
          </a:xfrm>
          <a:custGeom>
            <a:avLst/>
            <a:gdLst/>
            <a:ahLst/>
            <a:cxnLst/>
            <a:rect l="l" t="t" r="r" b="b"/>
            <a:pathLst>
              <a:path w="1437640" h="505460">
                <a:moveTo>
                  <a:pt x="1437058" y="0"/>
                </a:moveTo>
                <a:lnTo>
                  <a:pt x="0" y="0"/>
                </a:lnTo>
                <a:lnTo>
                  <a:pt x="0" y="504869"/>
                </a:lnTo>
                <a:lnTo>
                  <a:pt x="1437058" y="504869"/>
                </a:lnTo>
                <a:lnTo>
                  <a:pt x="1437058" y="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162874" y="2027973"/>
            <a:ext cx="1414145" cy="525145"/>
            <a:chOff x="1162874" y="2027973"/>
            <a:chExt cx="1414145" cy="525145"/>
          </a:xfrm>
        </p:grpSpPr>
        <p:sp>
          <p:nvSpPr>
            <p:cNvPr id="26" name="object 26"/>
            <p:cNvSpPr/>
            <p:nvPr/>
          </p:nvSpPr>
          <p:spPr>
            <a:xfrm>
              <a:off x="1172832" y="2037932"/>
              <a:ext cx="1394460" cy="505459"/>
            </a:xfrm>
            <a:custGeom>
              <a:avLst/>
              <a:gdLst/>
              <a:ahLst/>
              <a:cxnLst/>
              <a:rect l="l" t="t" r="r" b="b"/>
              <a:pathLst>
                <a:path w="1394460" h="505460">
                  <a:moveTo>
                    <a:pt x="1394025" y="0"/>
                  </a:moveTo>
                  <a:lnTo>
                    <a:pt x="0" y="0"/>
                  </a:lnTo>
                  <a:lnTo>
                    <a:pt x="0" y="504869"/>
                  </a:lnTo>
                  <a:lnTo>
                    <a:pt x="1394025" y="504869"/>
                  </a:lnTo>
                  <a:lnTo>
                    <a:pt x="1394025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72832" y="2037932"/>
              <a:ext cx="1394460" cy="505459"/>
            </a:xfrm>
            <a:custGeom>
              <a:avLst/>
              <a:gdLst/>
              <a:ahLst/>
              <a:cxnLst/>
              <a:rect l="l" t="t" r="r" b="b"/>
              <a:pathLst>
                <a:path w="1394460" h="505460">
                  <a:moveTo>
                    <a:pt x="1394025" y="504869"/>
                  </a:moveTo>
                  <a:lnTo>
                    <a:pt x="0" y="504869"/>
                  </a:lnTo>
                  <a:lnTo>
                    <a:pt x="0" y="0"/>
                  </a:lnTo>
                  <a:lnTo>
                    <a:pt x="1394025" y="0"/>
                  </a:lnTo>
                  <a:lnTo>
                    <a:pt x="1394025" y="504869"/>
                  </a:lnTo>
                  <a:close/>
                </a:path>
              </a:pathLst>
            </a:custGeom>
            <a:ln w="19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2851375" y="3017280"/>
            <a:ext cx="1316355" cy="276225"/>
          </a:xfrm>
          <a:custGeom>
            <a:avLst/>
            <a:gdLst/>
            <a:ahLst/>
            <a:cxnLst/>
            <a:rect l="l" t="t" r="r" b="b"/>
            <a:pathLst>
              <a:path w="1316354" h="276225">
                <a:moveTo>
                  <a:pt x="1316316" y="0"/>
                </a:moveTo>
                <a:lnTo>
                  <a:pt x="0" y="0"/>
                </a:lnTo>
                <a:lnTo>
                  <a:pt x="0" y="275927"/>
                </a:lnTo>
                <a:lnTo>
                  <a:pt x="1316316" y="275927"/>
                </a:lnTo>
                <a:lnTo>
                  <a:pt x="1316316" y="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47555" y="4877184"/>
            <a:ext cx="1317625" cy="276860"/>
          </a:xfrm>
          <a:custGeom>
            <a:avLst/>
            <a:gdLst/>
            <a:ahLst/>
            <a:cxnLst/>
            <a:rect l="l" t="t" r="r" b="b"/>
            <a:pathLst>
              <a:path w="1317625" h="276860">
                <a:moveTo>
                  <a:pt x="1317313" y="0"/>
                </a:moveTo>
                <a:lnTo>
                  <a:pt x="0" y="0"/>
                </a:lnTo>
                <a:lnTo>
                  <a:pt x="0" y="276698"/>
                </a:lnTo>
                <a:lnTo>
                  <a:pt x="1317313" y="276698"/>
                </a:lnTo>
                <a:lnTo>
                  <a:pt x="1317313" y="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53246" y="4380997"/>
            <a:ext cx="1313180" cy="269875"/>
          </a:xfrm>
          <a:custGeom>
            <a:avLst/>
            <a:gdLst/>
            <a:ahLst/>
            <a:cxnLst/>
            <a:rect l="l" t="t" r="r" b="b"/>
            <a:pathLst>
              <a:path w="1313179" h="269875">
                <a:moveTo>
                  <a:pt x="1312574" y="0"/>
                </a:moveTo>
                <a:lnTo>
                  <a:pt x="0" y="0"/>
                </a:lnTo>
                <a:lnTo>
                  <a:pt x="0" y="269463"/>
                </a:lnTo>
                <a:lnTo>
                  <a:pt x="1312574" y="269463"/>
                </a:lnTo>
                <a:lnTo>
                  <a:pt x="1312574" y="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1202528" y="4375223"/>
            <a:ext cx="1335405" cy="282575"/>
            <a:chOff x="1202528" y="4375223"/>
            <a:chExt cx="1335405" cy="282575"/>
          </a:xfrm>
        </p:grpSpPr>
        <p:sp>
          <p:nvSpPr>
            <p:cNvPr id="32" name="object 32"/>
            <p:cNvSpPr/>
            <p:nvPr/>
          </p:nvSpPr>
          <p:spPr>
            <a:xfrm>
              <a:off x="1212161" y="4384856"/>
              <a:ext cx="1316355" cy="262890"/>
            </a:xfrm>
            <a:custGeom>
              <a:avLst/>
              <a:gdLst/>
              <a:ahLst/>
              <a:cxnLst/>
              <a:rect l="l" t="t" r="r" b="b"/>
              <a:pathLst>
                <a:path w="1316355" h="262889">
                  <a:moveTo>
                    <a:pt x="1316029" y="0"/>
                  </a:moveTo>
                  <a:lnTo>
                    <a:pt x="0" y="0"/>
                  </a:lnTo>
                  <a:lnTo>
                    <a:pt x="0" y="262709"/>
                  </a:lnTo>
                  <a:lnTo>
                    <a:pt x="1316029" y="262709"/>
                  </a:lnTo>
                  <a:lnTo>
                    <a:pt x="1316029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12161" y="4384856"/>
              <a:ext cx="1316355" cy="262890"/>
            </a:xfrm>
            <a:custGeom>
              <a:avLst/>
              <a:gdLst/>
              <a:ahLst/>
              <a:cxnLst/>
              <a:rect l="l" t="t" r="r" b="b"/>
              <a:pathLst>
                <a:path w="1316355" h="262889">
                  <a:moveTo>
                    <a:pt x="1316029" y="262709"/>
                  </a:moveTo>
                  <a:lnTo>
                    <a:pt x="0" y="262709"/>
                  </a:lnTo>
                  <a:lnTo>
                    <a:pt x="0" y="0"/>
                  </a:lnTo>
                  <a:lnTo>
                    <a:pt x="1316029" y="0"/>
                  </a:lnTo>
                  <a:lnTo>
                    <a:pt x="1316029" y="262709"/>
                  </a:lnTo>
                  <a:close/>
                </a:path>
              </a:pathLst>
            </a:custGeom>
            <a:ln w="19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1202318" y="4872454"/>
            <a:ext cx="1336040" cy="281940"/>
            <a:chOff x="1202318" y="4872454"/>
            <a:chExt cx="1336040" cy="281940"/>
          </a:xfrm>
        </p:grpSpPr>
        <p:sp>
          <p:nvSpPr>
            <p:cNvPr id="35" name="object 35"/>
            <p:cNvSpPr/>
            <p:nvPr/>
          </p:nvSpPr>
          <p:spPr>
            <a:xfrm>
              <a:off x="1212161" y="4882297"/>
              <a:ext cx="1316355" cy="262255"/>
            </a:xfrm>
            <a:custGeom>
              <a:avLst/>
              <a:gdLst/>
              <a:ahLst/>
              <a:cxnLst/>
              <a:rect l="l" t="t" r="r" b="b"/>
              <a:pathLst>
                <a:path w="1316355" h="262254">
                  <a:moveTo>
                    <a:pt x="1316029" y="0"/>
                  </a:moveTo>
                  <a:lnTo>
                    <a:pt x="0" y="0"/>
                  </a:lnTo>
                  <a:lnTo>
                    <a:pt x="0" y="262227"/>
                  </a:lnTo>
                  <a:lnTo>
                    <a:pt x="1316029" y="262227"/>
                  </a:lnTo>
                  <a:lnTo>
                    <a:pt x="1316029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212161" y="4882297"/>
              <a:ext cx="1316355" cy="262255"/>
            </a:xfrm>
            <a:custGeom>
              <a:avLst/>
              <a:gdLst/>
              <a:ahLst/>
              <a:cxnLst/>
              <a:rect l="l" t="t" r="r" b="b"/>
              <a:pathLst>
                <a:path w="1316355" h="262254">
                  <a:moveTo>
                    <a:pt x="1316029" y="262227"/>
                  </a:moveTo>
                  <a:lnTo>
                    <a:pt x="0" y="262227"/>
                  </a:lnTo>
                  <a:lnTo>
                    <a:pt x="0" y="0"/>
                  </a:lnTo>
                  <a:lnTo>
                    <a:pt x="1316029" y="0"/>
                  </a:lnTo>
                  <a:lnTo>
                    <a:pt x="1316029" y="262227"/>
                  </a:lnTo>
                  <a:close/>
                </a:path>
              </a:pathLst>
            </a:custGeom>
            <a:ln w="1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356695" y="147047"/>
            <a:ext cx="347980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100" dirty="0">
                <a:latin typeface="Times New Roman"/>
                <a:cs typeface="Times New Roman"/>
              </a:rPr>
              <a:t>Start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53629" y="879411"/>
            <a:ext cx="720725" cy="443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1400"/>
              </a:lnSpc>
              <a:spcBef>
                <a:spcPts val="95"/>
              </a:spcBef>
            </a:pPr>
            <a:r>
              <a:rPr sz="900" b="1" spc="105" dirty="0">
                <a:latin typeface="Times New Roman"/>
                <a:cs typeface="Times New Roman"/>
              </a:rPr>
              <a:t>Is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100" dirty="0">
                <a:latin typeface="Times New Roman"/>
                <a:cs typeface="Times New Roman"/>
              </a:rPr>
              <a:t>next instruction </a:t>
            </a:r>
            <a:r>
              <a:rPr sz="900" b="1" spc="110" dirty="0">
                <a:latin typeface="Times New Roman"/>
                <a:cs typeface="Times New Roman"/>
              </a:rPr>
              <a:t>in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135" dirty="0">
                <a:latin typeface="Times New Roman"/>
                <a:cs typeface="Times New Roman"/>
              </a:rPr>
              <a:t>IBR?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591038" y="953037"/>
            <a:ext cx="1016635" cy="306705"/>
          </a:xfrm>
          <a:prstGeom prst="rect">
            <a:avLst/>
          </a:prstGeom>
          <a:ln w="19650">
            <a:solidFill>
              <a:srgbClr val="000000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580"/>
              </a:spcBef>
              <a:tabLst>
                <a:tab pos="692150" algn="l"/>
              </a:tabLst>
            </a:pPr>
            <a:r>
              <a:rPr sz="900" b="1" spc="190" dirty="0">
                <a:latin typeface="Times New Roman"/>
                <a:cs typeface="Times New Roman"/>
              </a:rPr>
              <a:t>MAR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150" dirty="0">
                <a:latin typeface="Times New Roman"/>
                <a:cs typeface="Times New Roman"/>
              </a:rPr>
              <a:t>PC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78653" y="1432436"/>
            <a:ext cx="1240790" cy="265430"/>
          </a:xfrm>
          <a:prstGeom prst="rect">
            <a:avLst/>
          </a:prstGeom>
          <a:ln w="19313">
            <a:solidFill>
              <a:srgbClr val="000000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434"/>
              </a:spcBef>
              <a:tabLst>
                <a:tab pos="614680" algn="l"/>
              </a:tabLst>
            </a:pPr>
            <a:r>
              <a:rPr sz="900" b="1" spc="190" dirty="0">
                <a:latin typeface="Times New Roman"/>
                <a:cs typeface="Times New Roman"/>
              </a:rPr>
              <a:t>MBR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170" dirty="0">
                <a:latin typeface="Times New Roman"/>
                <a:cs typeface="Times New Roman"/>
              </a:rPr>
              <a:t>M(MAR)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82791" y="2125810"/>
            <a:ext cx="1374140" cy="3041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110"/>
              </a:spcBef>
              <a:tabLst>
                <a:tab pos="404495" algn="l"/>
              </a:tabLst>
            </a:pPr>
            <a:r>
              <a:rPr sz="900" b="1" spc="125" dirty="0">
                <a:latin typeface="Times New Roman"/>
                <a:cs typeface="Times New Roman"/>
              </a:rPr>
              <a:t>IR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160" dirty="0">
                <a:latin typeface="Times New Roman"/>
                <a:cs typeface="Times New Roman"/>
              </a:rPr>
              <a:t>IBR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95" dirty="0">
                <a:latin typeface="Times New Roman"/>
                <a:cs typeface="Times New Roman"/>
              </a:rPr>
              <a:t>(0:7)</a:t>
            </a:r>
            <a:endParaRPr sz="90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15"/>
              </a:spcBef>
              <a:tabLst>
                <a:tab pos="614680" algn="l"/>
              </a:tabLst>
            </a:pPr>
            <a:r>
              <a:rPr sz="900" b="1" spc="190" dirty="0">
                <a:latin typeface="Times New Roman"/>
                <a:cs typeface="Times New Roman"/>
              </a:rPr>
              <a:t>MAR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160" dirty="0">
                <a:latin typeface="Times New Roman"/>
                <a:cs typeface="Times New Roman"/>
              </a:rPr>
              <a:t>IBR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95" dirty="0">
                <a:latin typeface="Times New Roman"/>
                <a:cs typeface="Times New Roman"/>
              </a:rPr>
              <a:t>(8:19)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717661" y="2037932"/>
            <a:ext cx="1537970" cy="514350"/>
          </a:xfrm>
          <a:prstGeom prst="rect">
            <a:avLst/>
          </a:prstGeom>
          <a:ln w="19792">
            <a:solidFill>
              <a:srgbClr val="00000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05"/>
              </a:spcBef>
              <a:tabLst>
                <a:tab pos="441325" algn="l"/>
              </a:tabLst>
            </a:pPr>
            <a:r>
              <a:rPr sz="900" b="1" spc="125" dirty="0">
                <a:latin typeface="Times New Roman"/>
                <a:cs typeface="Times New Roman"/>
              </a:rPr>
              <a:t>IR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215" dirty="0">
                <a:latin typeface="Times New Roman"/>
                <a:cs typeface="Times New Roman"/>
              </a:rPr>
              <a:t>MBR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spc="100" dirty="0">
                <a:latin typeface="Times New Roman"/>
                <a:cs typeface="Times New Roman"/>
              </a:rPr>
              <a:t>(20:27)</a:t>
            </a:r>
            <a:endParaRPr sz="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  <a:tabLst>
                <a:tab pos="596265" algn="l"/>
              </a:tabLst>
            </a:pPr>
            <a:r>
              <a:rPr sz="900" b="1" spc="190" dirty="0">
                <a:latin typeface="Times New Roman"/>
                <a:cs typeface="Times New Roman"/>
              </a:rPr>
              <a:t>MAR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215" dirty="0">
                <a:latin typeface="Times New Roman"/>
                <a:cs typeface="Times New Roman"/>
              </a:rPr>
              <a:t>MBR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spc="100" dirty="0">
                <a:latin typeface="Times New Roman"/>
                <a:cs typeface="Times New Roman"/>
              </a:rPr>
              <a:t>(28:39)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47976" y="1997012"/>
            <a:ext cx="72072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175" algn="ctr">
              <a:lnSpc>
                <a:spcPct val="101400"/>
              </a:lnSpc>
              <a:spcBef>
                <a:spcPts val="95"/>
              </a:spcBef>
            </a:pPr>
            <a:r>
              <a:rPr sz="900" b="1" spc="100" dirty="0">
                <a:latin typeface="Times New Roman"/>
                <a:cs typeface="Times New Roman"/>
              </a:rPr>
              <a:t>Left instruction </a:t>
            </a:r>
            <a:r>
              <a:rPr sz="900" b="1" spc="110" dirty="0">
                <a:latin typeface="Times New Roman"/>
                <a:cs typeface="Times New Roman"/>
              </a:rPr>
              <a:t>required?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987808" y="2037932"/>
            <a:ext cx="1437640" cy="505459"/>
          </a:xfrm>
          <a:prstGeom prst="rect">
            <a:avLst/>
          </a:prstGeom>
          <a:ln w="19868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295"/>
              </a:spcBef>
              <a:tabLst>
                <a:tab pos="490855" algn="l"/>
              </a:tabLst>
            </a:pPr>
            <a:r>
              <a:rPr sz="900" b="1" spc="135" dirty="0">
                <a:latin typeface="Times New Roman"/>
                <a:cs typeface="Times New Roman"/>
              </a:rPr>
              <a:t>IBR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215" dirty="0">
                <a:latin typeface="Times New Roman"/>
                <a:cs typeface="Times New Roman"/>
              </a:rPr>
              <a:t>MBR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spc="100" dirty="0">
                <a:latin typeface="Times New Roman"/>
                <a:cs typeface="Times New Roman"/>
              </a:rPr>
              <a:t>(20:39)</a:t>
            </a:r>
            <a:endParaRPr sz="900">
              <a:latin typeface="Times New Roman"/>
              <a:cs typeface="Times New Roman"/>
            </a:endParaRPr>
          </a:p>
          <a:p>
            <a:pPr marL="6350" algn="ctr">
              <a:lnSpc>
                <a:spcPct val="100000"/>
              </a:lnSpc>
              <a:spcBef>
                <a:spcPts val="15"/>
              </a:spcBef>
              <a:tabLst>
                <a:tab pos="393065" algn="l"/>
              </a:tabLst>
            </a:pPr>
            <a:r>
              <a:rPr sz="900" b="1" spc="125" dirty="0">
                <a:latin typeface="Times New Roman"/>
                <a:cs typeface="Times New Roman"/>
              </a:rPr>
              <a:t>IR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215" dirty="0">
                <a:latin typeface="Times New Roman"/>
                <a:cs typeface="Times New Roman"/>
              </a:rPr>
              <a:t>MBR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spc="85" dirty="0">
                <a:latin typeface="Times New Roman"/>
                <a:cs typeface="Times New Roman"/>
              </a:rPr>
              <a:t>(0:7)</a:t>
            </a:r>
            <a:endParaRPr sz="900">
              <a:latin typeface="Times New Roman"/>
              <a:cs typeface="Times New Roman"/>
            </a:endParaRPr>
          </a:p>
          <a:p>
            <a:pPr marL="5080" algn="ctr">
              <a:lnSpc>
                <a:spcPct val="100000"/>
              </a:lnSpc>
              <a:spcBef>
                <a:spcPts val="15"/>
              </a:spcBef>
              <a:tabLst>
                <a:tab pos="601980" algn="l"/>
              </a:tabLst>
            </a:pPr>
            <a:r>
              <a:rPr sz="900" b="1" spc="190" dirty="0">
                <a:latin typeface="Times New Roman"/>
                <a:cs typeface="Times New Roman"/>
              </a:rPr>
              <a:t>MAR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215" dirty="0">
                <a:latin typeface="Times New Roman"/>
                <a:cs typeface="Times New Roman"/>
              </a:rPr>
              <a:t>MBR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spc="95" dirty="0">
                <a:latin typeface="Times New Roman"/>
                <a:cs typeface="Times New Roman"/>
              </a:rPr>
              <a:t>(8:19)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851375" y="3017280"/>
            <a:ext cx="1316355" cy="276225"/>
          </a:xfrm>
          <a:prstGeom prst="rect">
            <a:avLst/>
          </a:prstGeom>
          <a:ln w="19299">
            <a:solidFill>
              <a:srgbClr val="000000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555"/>
              </a:spcBef>
              <a:tabLst>
                <a:tab pos="652145" algn="l"/>
              </a:tabLst>
            </a:pPr>
            <a:r>
              <a:rPr sz="900" b="1" spc="155" dirty="0">
                <a:latin typeface="Times New Roman"/>
                <a:cs typeface="Times New Roman"/>
              </a:rPr>
              <a:t>PC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180" dirty="0">
                <a:latin typeface="Times New Roman"/>
                <a:cs typeface="Times New Roman"/>
              </a:rPr>
              <a:t>PC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spc="155" dirty="0">
                <a:latin typeface="Times New Roman"/>
                <a:cs typeface="Times New Roman"/>
              </a:rPr>
              <a:t>+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85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30032" y="880183"/>
            <a:ext cx="242570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70" dirty="0">
                <a:latin typeface="Times New Roman"/>
                <a:cs typeface="Times New Roman"/>
              </a:rPr>
              <a:t>Yes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656538" y="2096095"/>
            <a:ext cx="241300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70" dirty="0">
                <a:latin typeface="Times New Roman"/>
                <a:cs typeface="Times New Roman"/>
              </a:rPr>
              <a:t>Yes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10410" y="3931686"/>
            <a:ext cx="242570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70" dirty="0">
                <a:latin typeface="Times New Roman"/>
                <a:cs typeface="Times New Roman"/>
              </a:rPr>
              <a:t>Yes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063936" y="880183"/>
            <a:ext cx="208279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140" dirty="0">
                <a:latin typeface="Times New Roman"/>
                <a:cs typeface="Times New Roman"/>
              </a:rPr>
              <a:t>No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352570" y="2096095"/>
            <a:ext cx="208279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140" dirty="0">
                <a:latin typeface="Times New Roman"/>
                <a:cs typeface="Times New Roman"/>
              </a:rPr>
              <a:t>No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156355" y="4430574"/>
            <a:ext cx="208279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140" dirty="0">
                <a:latin typeface="Times New Roman"/>
                <a:cs typeface="Times New Roman"/>
              </a:rPr>
              <a:t>No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13046" y="5635246"/>
            <a:ext cx="3581400" cy="303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5"/>
              </a:spcBef>
            </a:pPr>
            <a:r>
              <a:rPr sz="900" b="1" spc="155" dirty="0">
                <a:latin typeface="Times New Roman"/>
                <a:cs typeface="Times New Roman"/>
              </a:rPr>
              <a:t>M(X)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155" dirty="0">
                <a:latin typeface="Times New Roman"/>
                <a:cs typeface="Times New Roman"/>
              </a:rPr>
              <a:t>=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spc="114" dirty="0">
                <a:latin typeface="Times New Roman"/>
                <a:cs typeface="Times New Roman"/>
              </a:rPr>
              <a:t>contents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105" dirty="0">
                <a:latin typeface="Times New Roman"/>
                <a:cs typeface="Times New Roman"/>
              </a:rPr>
              <a:t>of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spc="160" dirty="0">
                <a:latin typeface="Times New Roman"/>
                <a:cs typeface="Times New Roman"/>
              </a:rPr>
              <a:t>memory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110" dirty="0">
                <a:latin typeface="Times New Roman"/>
                <a:cs typeface="Times New Roman"/>
              </a:rPr>
              <a:t>location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135" dirty="0">
                <a:latin typeface="Times New Roman"/>
                <a:cs typeface="Times New Roman"/>
              </a:rPr>
              <a:t>whose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spc="130" dirty="0">
                <a:latin typeface="Times New Roman"/>
                <a:cs typeface="Times New Roman"/>
              </a:rPr>
              <a:t>addr</a:t>
            </a:r>
            <a:r>
              <a:rPr sz="900" b="1" spc="-35" dirty="0">
                <a:latin typeface="Times New Roman"/>
                <a:cs typeface="Times New Roman"/>
              </a:rPr>
              <a:t> </a:t>
            </a:r>
            <a:r>
              <a:rPr sz="900" b="1" spc="110" dirty="0">
                <a:latin typeface="Times New Roman"/>
                <a:cs typeface="Times New Roman"/>
              </a:rPr>
              <a:t>ess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spc="90" dirty="0">
                <a:latin typeface="Times New Roman"/>
                <a:cs typeface="Times New Roman"/>
              </a:rPr>
              <a:t>is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spc="150" dirty="0">
                <a:latin typeface="Times New Roman"/>
                <a:cs typeface="Times New Roman"/>
              </a:rPr>
              <a:t>X </a:t>
            </a:r>
            <a:r>
              <a:rPr sz="900" b="1" spc="80" dirty="0">
                <a:latin typeface="Times New Roman"/>
                <a:cs typeface="Times New Roman"/>
              </a:rPr>
              <a:t>(i:j)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155" dirty="0">
                <a:latin typeface="Times New Roman"/>
                <a:cs typeface="Times New Roman"/>
              </a:rPr>
              <a:t>=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spc="100" dirty="0">
                <a:latin typeface="Times New Roman"/>
                <a:cs typeface="Times New Roman"/>
              </a:rPr>
              <a:t>bits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75" dirty="0">
                <a:latin typeface="Times New Roman"/>
                <a:cs typeface="Times New Roman"/>
              </a:rPr>
              <a:t>i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spc="135" dirty="0">
                <a:latin typeface="Times New Roman"/>
                <a:cs typeface="Times New Roman"/>
              </a:rPr>
              <a:t>through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40" dirty="0">
                <a:latin typeface="Times New Roman"/>
                <a:cs typeface="Times New Roman"/>
              </a:rPr>
              <a:t>j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934854" y="1131412"/>
            <a:ext cx="775335" cy="443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1499"/>
              </a:lnSpc>
              <a:spcBef>
                <a:spcPts val="95"/>
              </a:spcBef>
            </a:pPr>
            <a:r>
              <a:rPr sz="900" b="1" spc="170" dirty="0">
                <a:latin typeface="Times New Roman"/>
                <a:cs typeface="Times New Roman"/>
              </a:rPr>
              <a:t>No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150" dirty="0">
                <a:latin typeface="Times New Roman"/>
                <a:cs typeface="Times New Roman"/>
              </a:rPr>
              <a:t>memory </a:t>
            </a:r>
            <a:r>
              <a:rPr sz="900" b="1" spc="105" dirty="0">
                <a:latin typeface="Times New Roman"/>
                <a:cs typeface="Times New Roman"/>
              </a:rPr>
              <a:t>access </a:t>
            </a:r>
            <a:r>
              <a:rPr sz="900" b="1" spc="110" dirty="0">
                <a:latin typeface="Times New Roman"/>
                <a:cs typeface="Times New Roman"/>
              </a:rPr>
              <a:t>required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525070" y="3324549"/>
            <a:ext cx="3167380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10"/>
              </a:spcBef>
            </a:pPr>
            <a:r>
              <a:rPr sz="900" b="1" spc="135" dirty="0">
                <a:latin typeface="Times New Roman"/>
                <a:cs typeface="Times New Roman"/>
              </a:rPr>
              <a:t>Decode</a:t>
            </a:r>
            <a:r>
              <a:rPr sz="900" b="1" spc="80" dirty="0">
                <a:latin typeface="Times New Roman"/>
                <a:cs typeface="Times New Roman"/>
              </a:rPr>
              <a:t> </a:t>
            </a:r>
            <a:r>
              <a:rPr sz="900" b="1" spc="110" dirty="0">
                <a:latin typeface="Times New Roman"/>
                <a:cs typeface="Times New Roman"/>
              </a:rPr>
              <a:t>instruction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spc="110" dirty="0">
                <a:latin typeface="Times New Roman"/>
                <a:cs typeface="Times New Roman"/>
              </a:rPr>
              <a:t>in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spc="125" dirty="0">
                <a:latin typeface="Times New Roman"/>
                <a:cs typeface="Times New Roman"/>
              </a:rPr>
              <a:t>IR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06548" y="3568832"/>
            <a:ext cx="241300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170" dirty="0">
                <a:latin typeface="Times New Roman"/>
                <a:cs typeface="Times New Roman"/>
              </a:rPr>
              <a:t>AC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479829" y="3568832"/>
            <a:ext cx="374650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135" dirty="0">
                <a:latin typeface="Times New Roman"/>
                <a:cs typeface="Times New Roman"/>
              </a:rPr>
              <a:t>M(X)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359074" y="3539888"/>
            <a:ext cx="1106170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175" dirty="0">
                <a:latin typeface="Times New Roman"/>
                <a:cs typeface="Times New Roman"/>
              </a:rPr>
              <a:t>Go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spc="114" dirty="0">
                <a:latin typeface="Times New Roman"/>
                <a:cs typeface="Times New Roman"/>
              </a:rPr>
              <a:t>to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spc="150" dirty="0">
                <a:latin typeface="Times New Roman"/>
                <a:cs typeface="Times New Roman"/>
              </a:rPr>
              <a:t>M(X,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90" dirty="0">
                <a:latin typeface="Times New Roman"/>
                <a:cs typeface="Times New Roman"/>
              </a:rPr>
              <a:t>0:19)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904775" y="3546352"/>
            <a:ext cx="1063625" cy="303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215">
              <a:lnSpc>
                <a:spcPct val="101200"/>
              </a:lnSpc>
              <a:spcBef>
                <a:spcPts val="100"/>
              </a:spcBef>
            </a:pPr>
            <a:r>
              <a:rPr sz="900" b="1" spc="100" dirty="0">
                <a:latin typeface="Times New Roman"/>
                <a:cs typeface="Times New Roman"/>
              </a:rPr>
              <a:t>If</a:t>
            </a:r>
            <a:r>
              <a:rPr sz="900" b="1" spc="5" dirty="0">
                <a:latin typeface="Times New Roman"/>
                <a:cs typeface="Times New Roman"/>
              </a:rPr>
              <a:t> </a:t>
            </a:r>
            <a:r>
              <a:rPr sz="900" b="1" spc="195" dirty="0">
                <a:latin typeface="Times New Roman"/>
                <a:cs typeface="Times New Roman"/>
              </a:rPr>
              <a:t>AC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155" dirty="0">
                <a:latin typeface="Times New Roman"/>
                <a:cs typeface="Times New Roman"/>
              </a:rPr>
              <a:t>&gt;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135" dirty="0">
                <a:latin typeface="Times New Roman"/>
                <a:cs typeface="Times New Roman"/>
              </a:rPr>
              <a:t>0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100" dirty="0">
                <a:latin typeface="Times New Roman"/>
                <a:cs typeface="Times New Roman"/>
              </a:rPr>
              <a:t>then </a:t>
            </a:r>
            <a:r>
              <a:rPr sz="900" b="1" spc="130" dirty="0">
                <a:latin typeface="Times New Roman"/>
                <a:cs typeface="Times New Roman"/>
              </a:rPr>
              <a:t>go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114" dirty="0">
                <a:latin typeface="Times New Roman"/>
                <a:cs typeface="Times New Roman"/>
              </a:rPr>
              <a:t>to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spc="150" dirty="0">
                <a:latin typeface="Times New Roman"/>
                <a:cs typeface="Times New Roman"/>
              </a:rPr>
              <a:t>M(X,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90" dirty="0">
                <a:latin typeface="Times New Roman"/>
                <a:cs typeface="Times New Roman"/>
              </a:rPr>
              <a:t>0:19)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456090" y="3549150"/>
            <a:ext cx="241300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170" dirty="0">
                <a:latin typeface="Times New Roman"/>
                <a:cs typeface="Times New Roman"/>
              </a:rPr>
              <a:t>AC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906629" y="3549150"/>
            <a:ext cx="748030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195" dirty="0">
                <a:latin typeface="Times New Roman"/>
                <a:cs typeface="Times New Roman"/>
              </a:rPr>
              <a:t>AC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155" dirty="0">
                <a:latin typeface="Times New Roman"/>
                <a:cs typeface="Times New Roman"/>
              </a:rPr>
              <a:t>+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135" dirty="0">
                <a:latin typeface="Times New Roman"/>
                <a:cs typeface="Times New Roman"/>
              </a:rPr>
              <a:t>M(X)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789139" y="3993914"/>
            <a:ext cx="694690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105" dirty="0">
                <a:latin typeface="Times New Roman"/>
                <a:cs typeface="Times New Roman"/>
              </a:rPr>
              <a:t>Is</a:t>
            </a:r>
            <a:r>
              <a:rPr sz="900" b="1" spc="5" dirty="0">
                <a:latin typeface="Times New Roman"/>
                <a:cs typeface="Times New Roman"/>
              </a:rPr>
              <a:t> </a:t>
            </a:r>
            <a:r>
              <a:rPr sz="900" b="1" spc="195" dirty="0">
                <a:latin typeface="Times New Roman"/>
                <a:cs typeface="Times New Roman"/>
              </a:rPr>
              <a:t>AC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155" dirty="0">
                <a:latin typeface="Times New Roman"/>
                <a:cs typeface="Times New Roman"/>
              </a:rPr>
              <a:t>&gt;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105" dirty="0">
                <a:latin typeface="Times New Roman"/>
                <a:cs typeface="Times New Roman"/>
              </a:rPr>
              <a:t>0?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221794" y="4430574"/>
            <a:ext cx="1297305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110"/>
              </a:spcBef>
              <a:tabLst>
                <a:tab pos="630555" algn="l"/>
              </a:tabLst>
            </a:pPr>
            <a:r>
              <a:rPr sz="900" b="1" spc="190" dirty="0">
                <a:latin typeface="Times New Roman"/>
                <a:cs typeface="Times New Roman"/>
              </a:rPr>
              <a:t>MBR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170" dirty="0">
                <a:latin typeface="Times New Roman"/>
                <a:cs typeface="Times New Roman"/>
              </a:rPr>
              <a:t>M(MAR)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047555" y="4384856"/>
            <a:ext cx="1317625" cy="262890"/>
          </a:xfrm>
          <a:custGeom>
            <a:avLst/>
            <a:gdLst/>
            <a:ahLst/>
            <a:cxnLst/>
            <a:rect l="l" t="t" r="r" b="b"/>
            <a:pathLst>
              <a:path w="1317625" h="262889">
                <a:moveTo>
                  <a:pt x="1317313" y="0"/>
                </a:moveTo>
                <a:lnTo>
                  <a:pt x="0" y="0"/>
                </a:lnTo>
                <a:lnTo>
                  <a:pt x="0" y="262709"/>
                </a:lnTo>
                <a:lnTo>
                  <a:pt x="1317313" y="262709"/>
                </a:lnTo>
                <a:lnTo>
                  <a:pt x="1317313" y="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6047555" y="4384856"/>
            <a:ext cx="1317625" cy="262890"/>
          </a:xfrm>
          <a:prstGeom prst="rect">
            <a:avLst/>
          </a:prstGeom>
          <a:ln w="19265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470"/>
              </a:spcBef>
              <a:tabLst>
                <a:tab pos="641985" algn="l"/>
              </a:tabLst>
            </a:pPr>
            <a:r>
              <a:rPr sz="900" b="1" spc="190" dirty="0">
                <a:latin typeface="Times New Roman"/>
                <a:cs typeface="Times New Roman"/>
              </a:rPr>
              <a:t>MBR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170" dirty="0">
                <a:latin typeface="Times New Roman"/>
                <a:cs typeface="Times New Roman"/>
              </a:rPr>
              <a:t>M(MAR)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853246" y="4380997"/>
            <a:ext cx="1313180" cy="269875"/>
          </a:xfrm>
          <a:prstGeom prst="rect">
            <a:avLst/>
          </a:prstGeom>
          <a:ln w="19284">
            <a:solidFill>
              <a:srgbClr val="0000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319405">
              <a:lnSpc>
                <a:spcPct val="100000"/>
              </a:lnSpc>
              <a:spcBef>
                <a:spcPts val="500"/>
              </a:spcBef>
              <a:tabLst>
                <a:tab pos="757555" algn="l"/>
              </a:tabLst>
            </a:pPr>
            <a:r>
              <a:rPr sz="900" b="1" spc="155" dirty="0">
                <a:latin typeface="Times New Roman"/>
                <a:cs typeface="Times New Roman"/>
              </a:rPr>
              <a:t>PC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190" dirty="0">
                <a:latin typeface="Times New Roman"/>
                <a:cs typeface="Times New Roman"/>
              </a:rPr>
              <a:t>MAR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221794" y="4929654"/>
            <a:ext cx="1297305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10"/>
              </a:spcBef>
              <a:tabLst>
                <a:tab pos="677545" algn="l"/>
              </a:tabLst>
            </a:pPr>
            <a:r>
              <a:rPr sz="900" b="1" spc="170" dirty="0">
                <a:latin typeface="Times New Roman"/>
                <a:cs typeface="Times New Roman"/>
              </a:rPr>
              <a:t>AC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190" dirty="0">
                <a:latin typeface="Times New Roman"/>
                <a:cs typeface="Times New Roman"/>
              </a:rPr>
              <a:t>MBR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047555" y="4877184"/>
            <a:ext cx="1317625" cy="276860"/>
          </a:xfrm>
          <a:prstGeom prst="rect">
            <a:avLst/>
          </a:prstGeom>
          <a:ln w="19300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525"/>
              </a:spcBef>
              <a:tabLst>
                <a:tab pos="528955" algn="l"/>
              </a:tabLst>
            </a:pPr>
            <a:r>
              <a:rPr sz="900" b="1" spc="170" dirty="0">
                <a:latin typeface="Times New Roman"/>
                <a:cs typeface="Times New Roman"/>
              </a:rPr>
              <a:t>AC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195" dirty="0">
                <a:latin typeface="Times New Roman"/>
                <a:cs typeface="Times New Roman"/>
              </a:rPr>
              <a:t>AC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155" dirty="0">
                <a:latin typeface="Times New Roman"/>
                <a:cs typeface="Times New Roman"/>
              </a:rPr>
              <a:t>+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190" dirty="0">
                <a:latin typeface="Times New Roman"/>
                <a:cs typeface="Times New Roman"/>
              </a:rPr>
              <a:t>MBR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800706" y="378477"/>
            <a:ext cx="6817995" cy="5157470"/>
            <a:chOff x="800706" y="378477"/>
            <a:chExt cx="6817995" cy="5157470"/>
          </a:xfrm>
        </p:grpSpPr>
        <p:sp>
          <p:nvSpPr>
            <p:cNvPr id="69" name="object 69"/>
            <p:cNvSpPr/>
            <p:nvPr/>
          </p:nvSpPr>
          <p:spPr>
            <a:xfrm>
              <a:off x="3512839" y="390859"/>
              <a:ext cx="0" cy="281305"/>
            </a:xfrm>
            <a:custGeom>
              <a:avLst/>
              <a:gdLst/>
              <a:ahLst/>
              <a:cxnLst/>
              <a:rect l="l" t="t" r="r" b="b"/>
              <a:pathLst>
                <a:path h="281305">
                  <a:moveTo>
                    <a:pt x="0" y="0"/>
                  </a:moveTo>
                  <a:lnTo>
                    <a:pt x="0" y="0"/>
                  </a:lnTo>
                  <a:lnTo>
                    <a:pt x="0" y="281233"/>
                  </a:lnTo>
                </a:path>
              </a:pathLst>
            </a:custGeom>
            <a:ln w="24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457707" y="640158"/>
              <a:ext cx="111125" cy="101600"/>
            </a:xfrm>
            <a:custGeom>
              <a:avLst/>
              <a:gdLst/>
              <a:ahLst/>
              <a:cxnLst/>
              <a:rect l="l" t="t" r="r" b="b"/>
              <a:pathLst>
                <a:path w="111125" h="101600">
                  <a:moveTo>
                    <a:pt x="110514" y="0"/>
                  </a:moveTo>
                  <a:lnTo>
                    <a:pt x="55132" y="18041"/>
                  </a:lnTo>
                  <a:lnTo>
                    <a:pt x="0" y="0"/>
                  </a:lnTo>
                  <a:lnTo>
                    <a:pt x="55132" y="101398"/>
                  </a:lnTo>
                  <a:lnTo>
                    <a:pt x="1105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512839" y="2559588"/>
              <a:ext cx="0" cy="388620"/>
            </a:xfrm>
            <a:custGeom>
              <a:avLst/>
              <a:gdLst/>
              <a:ahLst/>
              <a:cxnLst/>
              <a:rect l="l" t="t" r="r" b="b"/>
              <a:pathLst>
                <a:path h="388619">
                  <a:moveTo>
                    <a:pt x="0" y="0"/>
                  </a:moveTo>
                  <a:lnTo>
                    <a:pt x="0" y="0"/>
                  </a:lnTo>
                  <a:lnTo>
                    <a:pt x="0" y="388227"/>
                  </a:lnTo>
                </a:path>
              </a:pathLst>
            </a:custGeom>
            <a:ln w="24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457707" y="2915206"/>
              <a:ext cx="111125" cy="101600"/>
            </a:xfrm>
            <a:custGeom>
              <a:avLst/>
              <a:gdLst/>
              <a:ahLst/>
              <a:cxnLst/>
              <a:rect l="l" t="t" r="r" b="b"/>
              <a:pathLst>
                <a:path w="111125" h="101600">
                  <a:moveTo>
                    <a:pt x="110514" y="0"/>
                  </a:moveTo>
                  <a:lnTo>
                    <a:pt x="55132" y="17944"/>
                  </a:lnTo>
                  <a:lnTo>
                    <a:pt x="0" y="0"/>
                  </a:lnTo>
                  <a:lnTo>
                    <a:pt x="55132" y="101301"/>
                  </a:lnTo>
                  <a:lnTo>
                    <a:pt x="1105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096085" y="1260030"/>
              <a:ext cx="0" cy="102870"/>
            </a:xfrm>
            <a:custGeom>
              <a:avLst/>
              <a:gdLst/>
              <a:ahLst/>
              <a:cxnLst/>
              <a:rect l="l" t="t" r="r" b="b"/>
              <a:pathLst>
                <a:path h="102869">
                  <a:moveTo>
                    <a:pt x="0" y="0"/>
                  </a:moveTo>
                  <a:lnTo>
                    <a:pt x="0" y="0"/>
                  </a:lnTo>
                  <a:lnTo>
                    <a:pt x="0" y="102266"/>
                  </a:lnTo>
                </a:path>
              </a:pathLst>
            </a:custGeom>
            <a:ln w="24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039706" y="1329687"/>
              <a:ext cx="111760" cy="101600"/>
            </a:xfrm>
            <a:custGeom>
              <a:avLst/>
              <a:gdLst/>
              <a:ahLst/>
              <a:cxnLst/>
              <a:rect l="l" t="t" r="r" b="b"/>
              <a:pathLst>
                <a:path w="111760" h="101600">
                  <a:moveTo>
                    <a:pt x="111387" y="0"/>
                  </a:moveTo>
                  <a:lnTo>
                    <a:pt x="56379" y="18041"/>
                  </a:lnTo>
                  <a:lnTo>
                    <a:pt x="0" y="0"/>
                  </a:lnTo>
                  <a:lnTo>
                    <a:pt x="56379" y="101301"/>
                  </a:lnTo>
                  <a:lnTo>
                    <a:pt x="1113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096085" y="1698329"/>
              <a:ext cx="0" cy="141605"/>
            </a:xfrm>
            <a:custGeom>
              <a:avLst/>
              <a:gdLst/>
              <a:ahLst/>
              <a:cxnLst/>
              <a:rect l="l" t="t" r="r" b="b"/>
              <a:pathLst>
                <a:path h="141605">
                  <a:moveTo>
                    <a:pt x="0" y="0"/>
                  </a:moveTo>
                  <a:lnTo>
                    <a:pt x="0" y="0"/>
                  </a:lnTo>
                  <a:lnTo>
                    <a:pt x="0" y="141340"/>
                  </a:lnTo>
                </a:path>
              </a:pathLst>
            </a:custGeom>
            <a:ln w="24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039706" y="1807060"/>
              <a:ext cx="111760" cy="101600"/>
            </a:xfrm>
            <a:custGeom>
              <a:avLst/>
              <a:gdLst/>
              <a:ahLst/>
              <a:cxnLst/>
              <a:rect l="l" t="t" r="r" b="b"/>
              <a:pathLst>
                <a:path w="111760" h="101600">
                  <a:moveTo>
                    <a:pt x="111387" y="0"/>
                  </a:moveTo>
                  <a:lnTo>
                    <a:pt x="56379" y="17944"/>
                  </a:lnTo>
                  <a:lnTo>
                    <a:pt x="0" y="0"/>
                  </a:lnTo>
                  <a:lnTo>
                    <a:pt x="56379" y="101301"/>
                  </a:lnTo>
                  <a:lnTo>
                    <a:pt x="1113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096085" y="3525719"/>
              <a:ext cx="0" cy="150495"/>
            </a:xfrm>
            <a:custGeom>
              <a:avLst/>
              <a:gdLst/>
              <a:ahLst/>
              <a:cxnLst/>
              <a:rect l="l" t="t" r="r" b="b"/>
              <a:pathLst>
                <a:path h="150495">
                  <a:moveTo>
                    <a:pt x="0" y="0"/>
                  </a:moveTo>
                  <a:lnTo>
                    <a:pt x="0" y="0"/>
                  </a:lnTo>
                  <a:lnTo>
                    <a:pt x="0" y="149926"/>
                  </a:lnTo>
                </a:path>
              </a:pathLst>
            </a:custGeom>
            <a:ln w="24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039706" y="3643037"/>
              <a:ext cx="111760" cy="102235"/>
            </a:xfrm>
            <a:custGeom>
              <a:avLst/>
              <a:gdLst/>
              <a:ahLst/>
              <a:cxnLst/>
              <a:rect l="l" t="t" r="r" b="b"/>
              <a:pathLst>
                <a:path w="111760" h="102235">
                  <a:moveTo>
                    <a:pt x="111387" y="0"/>
                  </a:moveTo>
                  <a:lnTo>
                    <a:pt x="56379" y="18041"/>
                  </a:lnTo>
                  <a:lnTo>
                    <a:pt x="0" y="0"/>
                  </a:lnTo>
                  <a:lnTo>
                    <a:pt x="56379" y="102073"/>
                  </a:lnTo>
                  <a:lnTo>
                    <a:pt x="1113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703406" y="4651135"/>
              <a:ext cx="0" cy="150495"/>
            </a:xfrm>
            <a:custGeom>
              <a:avLst/>
              <a:gdLst/>
              <a:ahLst/>
              <a:cxnLst/>
              <a:rect l="l" t="t" r="r" b="b"/>
              <a:pathLst>
                <a:path h="150495">
                  <a:moveTo>
                    <a:pt x="0" y="0"/>
                  </a:moveTo>
                  <a:lnTo>
                    <a:pt x="0" y="0"/>
                  </a:lnTo>
                  <a:lnTo>
                    <a:pt x="0" y="149926"/>
                  </a:lnTo>
                </a:path>
              </a:pathLst>
            </a:custGeom>
            <a:ln w="24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648273" y="4768452"/>
              <a:ext cx="111125" cy="102870"/>
            </a:xfrm>
            <a:custGeom>
              <a:avLst/>
              <a:gdLst/>
              <a:ahLst/>
              <a:cxnLst/>
              <a:rect l="l" t="t" r="r" b="b"/>
              <a:pathLst>
                <a:path w="111125" h="102870">
                  <a:moveTo>
                    <a:pt x="110514" y="0"/>
                  </a:moveTo>
                  <a:lnTo>
                    <a:pt x="55132" y="19006"/>
                  </a:lnTo>
                  <a:lnTo>
                    <a:pt x="0" y="0"/>
                  </a:lnTo>
                  <a:lnTo>
                    <a:pt x="55132" y="102266"/>
                  </a:lnTo>
                  <a:lnTo>
                    <a:pt x="1105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703406" y="5153882"/>
              <a:ext cx="0" cy="272415"/>
            </a:xfrm>
            <a:custGeom>
              <a:avLst/>
              <a:gdLst/>
              <a:ahLst/>
              <a:cxnLst/>
              <a:rect l="l" t="t" r="r" b="b"/>
              <a:pathLst>
                <a:path h="272414">
                  <a:moveTo>
                    <a:pt x="0" y="0"/>
                  </a:moveTo>
                  <a:lnTo>
                    <a:pt x="0" y="0"/>
                  </a:lnTo>
                  <a:lnTo>
                    <a:pt x="0" y="272260"/>
                  </a:lnTo>
                </a:path>
              </a:pathLst>
            </a:custGeom>
            <a:ln w="24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648273" y="5393630"/>
              <a:ext cx="111125" cy="101600"/>
            </a:xfrm>
            <a:custGeom>
              <a:avLst/>
              <a:gdLst/>
              <a:ahLst/>
              <a:cxnLst/>
              <a:rect l="l" t="t" r="r" b="b"/>
              <a:pathLst>
                <a:path w="111125" h="101600">
                  <a:moveTo>
                    <a:pt x="110514" y="0"/>
                  </a:moveTo>
                  <a:lnTo>
                    <a:pt x="55132" y="18137"/>
                  </a:lnTo>
                  <a:lnTo>
                    <a:pt x="0" y="0"/>
                  </a:lnTo>
                  <a:lnTo>
                    <a:pt x="55132" y="101494"/>
                  </a:lnTo>
                  <a:lnTo>
                    <a:pt x="1105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869845" y="5151663"/>
              <a:ext cx="0" cy="276860"/>
            </a:xfrm>
            <a:custGeom>
              <a:avLst/>
              <a:gdLst/>
              <a:ahLst/>
              <a:cxnLst/>
              <a:rect l="l" t="t" r="r" b="b"/>
              <a:pathLst>
                <a:path h="276860">
                  <a:moveTo>
                    <a:pt x="0" y="0"/>
                  </a:moveTo>
                  <a:lnTo>
                    <a:pt x="0" y="0"/>
                  </a:lnTo>
                  <a:lnTo>
                    <a:pt x="0" y="276698"/>
                  </a:lnTo>
                </a:path>
              </a:pathLst>
            </a:custGeom>
            <a:ln w="24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814463" y="5395753"/>
              <a:ext cx="111125" cy="102870"/>
            </a:xfrm>
            <a:custGeom>
              <a:avLst/>
              <a:gdLst/>
              <a:ahLst/>
              <a:cxnLst/>
              <a:rect l="l" t="t" r="r" b="b"/>
              <a:pathLst>
                <a:path w="111125" h="102870">
                  <a:moveTo>
                    <a:pt x="110514" y="0"/>
                  </a:moveTo>
                  <a:lnTo>
                    <a:pt x="55381" y="18234"/>
                  </a:lnTo>
                  <a:lnTo>
                    <a:pt x="0" y="0"/>
                  </a:lnTo>
                  <a:lnTo>
                    <a:pt x="55381" y="102266"/>
                  </a:lnTo>
                  <a:lnTo>
                    <a:pt x="1105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869845" y="4646794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h="161925">
                  <a:moveTo>
                    <a:pt x="0" y="0"/>
                  </a:moveTo>
                  <a:lnTo>
                    <a:pt x="0" y="0"/>
                  </a:lnTo>
                  <a:lnTo>
                    <a:pt x="0" y="161697"/>
                  </a:lnTo>
                </a:path>
              </a:pathLst>
            </a:custGeom>
            <a:ln w="24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814463" y="4775881"/>
              <a:ext cx="111125" cy="102235"/>
            </a:xfrm>
            <a:custGeom>
              <a:avLst/>
              <a:gdLst/>
              <a:ahLst/>
              <a:cxnLst/>
              <a:rect l="l" t="t" r="r" b="b"/>
              <a:pathLst>
                <a:path w="111125" h="102235">
                  <a:moveTo>
                    <a:pt x="110514" y="0"/>
                  </a:moveTo>
                  <a:lnTo>
                    <a:pt x="55381" y="18716"/>
                  </a:lnTo>
                  <a:lnTo>
                    <a:pt x="0" y="0"/>
                  </a:lnTo>
                  <a:lnTo>
                    <a:pt x="55381" y="102073"/>
                  </a:lnTo>
                  <a:lnTo>
                    <a:pt x="1105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512839" y="4650460"/>
              <a:ext cx="0" cy="778510"/>
            </a:xfrm>
            <a:custGeom>
              <a:avLst/>
              <a:gdLst/>
              <a:ahLst/>
              <a:cxnLst/>
              <a:rect l="l" t="t" r="r" b="b"/>
              <a:pathLst>
                <a:path h="778510">
                  <a:moveTo>
                    <a:pt x="0" y="0"/>
                  </a:moveTo>
                  <a:lnTo>
                    <a:pt x="0" y="0"/>
                  </a:lnTo>
                  <a:lnTo>
                    <a:pt x="0" y="777902"/>
                  </a:lnTo>
                </a:path>
              </a:pathLst>
            </a:custGeom>
            <a:ln w="24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457707" y="5395753"/>
              <a:ext cx="111125" cy="102870"/>
            </a:xfrm>
            <a:custGeom>
              <a:avLst/>
              <a:gdLst/>
              <a:ahLst/>
              <a:cxnLst/>
              <a:rect l="l" t="t" r="r" b="b"/>
              <a:pathLst>
                <a:path w="111125" h="102870">
                  <a:moveTo>
                    <a:pt x="110514" y="0"/>
                  </a:moveTo>
                  <a:lnTo>
                    <a:pt x="55132" y="18234"/>
                  </a:lnTo>
                  <a:lnTo>
                    <a:pt x="0" y="0"/>
                  </a:lnTo>
                  <a:lnTo>
                    <a:pt x="55132" y="102266"/>
                  </a:lnTo>
                  <a:lnTo>
                    <a:pt x="1105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096085" y="4481045"/>
              <a:ext cx="0" cy="947419"/>
            </a:xfrm>
            <a:custGeom>
              <a:avLst/>
              <a:gdLst/>
              <a:ahLst/>
              <a:cxnLst/>
              <a:rect l="l" t="t" r="r" b="b"/>
              <a:pathLst>
                <a:path h="947420">
                  <a:moveTo>
                    <a:pt x="0" y="0"/>
                  </a:moveTo>
                  <a:lnTo>
                    <a:pt x="0" y="0"/>
                  </a:lnTo>
                  <a:lnTo>
                    <a:pt x="0" y="947317"/>
                  </a:lnTo>
                </a:path>
              </a:pathLst>
            </a:custGeom>
            <a:ln w="24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039706" y="5395753"/>
              <a:ext cx="111760" cy="102870"/>
            </a:xfrm>
            <a:custGeom>
              <a:avLst/>
              <a:gdLst/>
              <a:ahLst/>
              <a:cxnLst/>
              <a:rect l="l" t="t" r="r" b="b"/>
              <a:pathLst>
                <a:path w="111760" h="102870">
                  <a:moveTo>
                    <a:pt x="111387" y="0"/>
                  </a:moveTo>
                  <a:lnTo>
                    <a:pt x="56379" y="18234"/>
                  </a:lnTo>
                  <a:lnTo>
                    <a:pt x="0" y="0"/>
                  </a:lnTo>
                  <a:lnTo>
                    <a:pt x="56379" y="102266"/>
                  </a:lnTo>
                  <a:lnTo>
                    <a:pt x="1113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512839" y="3292435"/>
              <a:ext cx="0" cy="1021715"/>
            </a:xfrm>
            <a:custGeom>
              <a:avLst/>
              <a:gdLst/>
              <a:ahLst/>
              <a:cxnLst/>
              <a:rect l="l" t="t" r="r" b="b"/>
              <a:pathLst>
                <a:path h="1021714">
                  <a:moveTo>
                    <a:pt x="0" y="0"/>
                  </a:moveTo>
                  <a:lnTo>
                    <a:pt x="0" y="0"/>
                  </a:lnTo>
                  <a:lnTo>
                    <a:pt x="0" y="1021219"/>
                  </a:lnTo>
                </a:path>
              </a:pathLst>
            </a:custGeom>
            <a:ln w="24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457707" y="4281142"/>
              <a:ext cx="111125" cy="101600"/>
            </a:xfrm>
            <a:custGeom>
              <a:avLst/>
              <a:gdLst/>
              <a:ahLst/>
              <a:cxnLst/>
              <a:rect l="l" t="t" r="r" b="b"/>
              <a:pathLst>
                <a:path w="111125" h="101600">
                  <a:moveTo>
                    <a:pt x="110514" y="0"/>
                  </a:moveTo>
                  <a:lnTo>
                    <a:pt x="55132" y="18137"/>
                  </a:lnTo>
                  <a:lnTo>
                    <a:pt x="0" y="0"/>
                  </a:lnTo>
                  <a:lnTo>
                    <a:pt x="55132" y="101301"/>
                  </a:lnTo>
                  <a:lnTo>
                    <a:pt x="1105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704279" y="2542801"/>
              <a:ext cx="0" cy="1771014"/>
            </a:xfrm>
            <a:custGeom>
              <a:avLst/>
              <a:gdLst/>
              <a:ahLst/>
              <a:cxnLst/>
              <a:rect l="l" t="t" r="r" b="b"/>
              <a:pathLst>
                <a:path h="1771014">
                  <a:moveTo>
                    <a:pt x="0" y="0"/>
                  </a:moveTo>
                  <a:lnTo>
                    <a:pt x="0" y="0"/>
                  </a:lnTo>
                  <a:lnTo>
                    <a:pt x="0" y="1770853"/>
                  </a:lnTo>
                </a:path>
              </a:pathLst>
            </a:custGeom>
            <a:ln w="24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649271" y="4281142"/>
              <a:ext cx="111125" cy="101600"/>
            </a:xfrm>
            <a:custGeom>
              <a:avLst/>
              <a:gdLst/>
              <a:ahLst/>
              <a:cxnLst/>
              <a:rect l="l" t="t" r="r" b="b"/>
              <a:pathLst>
                <a:path w="111125" h="101600">
                  <a:moveTo>
                    <a:pt x="110514" y="0"/>
                  </a:moveTo>
                  <a:lnTo>
                    <a:pt x="55007" y="18137"/>
                  </a:lnTo>
                  <a:lnTo>
                    <a:pt x="0" y="0"/>
                  </a:lnTo>
                  <a:lnTo>
                    <a:pt x="55007" y="101301"/>
                  </a:lnTo>
                  <a:lnTo>
                    <a:pt x="1105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869845" y="3525719"/>
              <a:ext cx="4834890" cy="788035"/>
            </a:xfrm>
            <a:custGeom>
              <a:avLst/>
              <a:gdLst/>
              <a:ahLst/>
              <a:cxnLst/>
              <a:rect l="l" t="t" r="r" b="b"/>
              <a:pathLst>
                <a:path w="4834890" h="788035">
                  <a:moveTo>
                    <a:pt x="0" y="787935"/>
                  </a:moveTo>
                  <a:lnTo>
                    <a:pt x="0" y="0"/>
                  </a:lnTo>
                  <a:lnTo>
                    <a:pt x="4834433" y="0"/>
                  </a:lnTo>
                </a:path>
              </a:pathLst>
            </a:custGeom>
            <a:ln w="190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814463" y="4281142"/>
              <a:ext cx="111125" cy="101600"/>
            </a:xfrm>
            <a:custGeom>
              <a:avLst/>
              <a:gdLst/>
              <a:ahLst/>
              <a:cxnLst/>
              <a:rect l="l" t="t" r="r" b="b"/>
              <a:pathLst>
                <a:path w="111125" h="101600">
                  <a:moveTo>
                    <a:pt x="110514" y="0"/>
                  </a:moveTo>
                  <a:lnTo>
                    <a:pt x="55381" y="18137"/>
                  </a:lnTo>
                  <a:lnTo>
                    <a:pt x="0" y="0"/>
                  </a:lnTo>
                  <a:lnTo>
                    <a:pt x="55381" y="101301"/>
                  </a:lnTo>
                  <a:lnTo>
                    <a:pt x="1105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869845" y="2542801"/>
              <a:ext cx="1551940" cy="214629"/>
            </a:xfrm>
            <a:custGeom>
              <a:avLst/>
              <a:gdLst/>
              <a:ahLst/>
              <a:cxnLst/>
              <a:rect l="l" t="t" r="r" b="b"/>
              <a:pathLst>
                <a:path w="1551939" h="214630">
                  <a:moveTo>
                    <a:pt x="0" y="0"/>
                  </a:moveTo>
                  <a:lnTo>
                    <a:pt x="0" y="214374"/>
                  </a:lnTo>
                  <a:lnTo>
                    <a:pt x="1551314" y="214374"/>
                  </a:lnTo>
                </a:path>
              </a:pathLst>
            </a:custGeom>
            <a:ln w="190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378750" y="2713760"/>
              <a:ext cx="132715" cy="86360"/>
            </a:xfrm>
            <a:custGeom>
              <a:avLst/>
              <a:gdLst/>
              <a:ahLst/>
              <a:cxnLst/>
              <a:rect l="l" t="t" r="r" b="b"/>
              <a:pathLst>
                <a:path w="132714" h="86360">
                  <a:moveTo>
                    <a:pt x="0" y="0"/>
                  </a:moveTo>
                  <a:lnTo>
                    <a:pt x="24447" y="43415"/>
                  </a:lnTo>
                  <a:lnTo>
                    <a:pt x="0" y="86251"/>
                  </a:lnTo>
                  <a:lnTo>
                    <a:pt x="132217" y="43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662627" y="2289450"/>
              <a:ext cx="227965" cy="0"/>
            </a:xfrm>
            <a:custGeom>
              <a:avLst/>
              <a:gdLst/>
              <a:ahLst/>
              <a:cxnLst/>
              <a:rect l="l" t="t" r="r" b="b"/>
              <a:pathLst>
                <a:path w="227964">
                  <a:moveTo>
                    <a:pt x="0" y="0"/>
                  </a:moveTo>
                  <a:lnTo>
                    <a:pt x="0" y="0"/>
                  </a:lnTo>
                  <a:lnTo>
                    <a:pt x="227639" y="0"/>
                  </a:lnTo>
                </a:path>
              </a:pathLst>
            </a:custGeom>
            <a:ln w="189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848106" y="2246517"/>
              <a:ext cx="132715" cy="85725"/>
            </a:xfrm>
            <a:custGeom>
              <a:avLst/>
              <a:gdLst/>
              <a:ahLst/>
              <a:cxnLst/>
              <a:rect l="l" t="t" r="r" b="b"/>
              <a:pathLst>
                <a:path w="132714" h="85725">
                  <a:moveTo>
                    <a:pt x="0" y="0"/>
                  </a:moveTo>
                  <a:lnTo>
                    <a:pt x="23574" y="42932"/>
                  </a:lnTo>
                  <a:lnTo>
                    <a:pt x="0" y="85479"/>
                  </a:lnTo>
                  <a:lnTo>
                    <a:pt x="132217" y="42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10231" y="5493002"/>
              <a:ext cx="950594" cy="0"/>
            </a:xfrm>
            <a:custGeom>
              <a:avLst/>
              <a:gdLst/>
              <a:ahLst/>
              <a:cxnLst/>
              <a:rect l="l" t="t" r="r" b="b"/>
              <a:pathLst>
                <a:path w="950594">
                  <a:moveTo>
                    <a:pt x="0" y="0"/>
                  </a:moveTo>
                  <a:lnTo>
                    <a:pt x="949972" y="0"/>
                  </a:lnTo>
                </a:path>
              </a:pathLst>
            </a:custGeom>
            <a:ln w="1892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733885" y="5450070"/>
              <a:ext cx="131445" cy="85725"/>
            </a:xfrm>
            <a:custGeom>
              <a:avLst/>
              <a:gdLst/>
              <a:ahLst/>
              <a:cxnLst/>
              <a:rect l="l" t="t" r="r" b="b"/>
              <a:pathLst>
                <a:path w="131444" h="85725">
                  <a:moveTo>
                    <a:pt x="0" y="0"/>
                  </a:moveTo>
                  <a:lnTo>
                    <a:pt x="23574" y="42932"/>
                  </a:lnTo>
                  <a:lnTo>
                    <a:pt x="0" y="85576"/>
                  </a:lnTo>
                  <a:lnTo>
                    <a:pt x="131344" y="42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10231" y="3525719"/>
              <a:ext cx="1049655" cy="0"/>
            </a:xfrm>
            <a:custGeom>
              <a:avLst/>
              <a:gdLst/>
              <a:ahLst/>
              <a:cxnLst/>
              <a:rect l="l" t="t" r="r" b="b"/>
              <a:pathLst>
                <a:path w="1049655">
                  <a:moveTo>
                    <a:pt x="0" y="0"/>
                  </a:moveTo>
                  <a:lnTo>
                    <a:pt x="1049136" y="0"/>
                  </a:lnTo>
                </a:path>
              </a:pathLst>
            </a:custGeom>
            <a:ln w="1892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080378" y="1126890"/>
              <a:ext cx="418465" cy="0"/>
            </a:xfrm>
            <a:custGeom>
              <a:avLst/>
              <a:gdLst/>
              <a:ahLst/>
              <a:cxnLst/>
              <a:rect l="l" t="t" r="r" b="b"/>
              <a:pathLst>
                <a:path w="418464">
                  <a:moveTo>
                    <a:pt x="0" y="0"/>
                  </a:moveTo>
                  <a:lnTo>
                    <a:pt x="0" y="0"/>
                  </a:lnTo>
                  <a:lnTo>
                    <a:pt x="417983" y="0"/>
                  </a:lnTo>
                </a:path>
              </a:pathLst>
            </a:custGeom>
            <a:ln w="189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455952" y="1083957"/>
              <a:ext cx="132715" cy="85725"/>
            </a:xfrm>
            <a:custGeom>
              <a:avLst/>
              <a:gdLst/>
              <a:ahLst/>
              <a:cxnLst/>
              <a:rect l="l" t="t" r="r" b="b"/>
              <a:pathLst>
                <a:path w="132714" h="85725">
                  <a:moveTo>
                    <a:pt x="0" y="0"/>
                  </a:moveTo>
                  <a:lnTo>
                    <a:pt x="24447" y="42932"/>
                  </a:lnTo>
                  <a:lnTo>
                    <a:pt x="0" y="85576"/>
                  </a:lnTo>
                  <a:lnTo>
                    <a:pt x="132217" y="42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869845" y="1123320"/>
              <a:ext cx="1069975" cy="844550"/>
            </a:xfrm>
            <a:custGeom>
              <a:avLst/>
              <a:gdLst/>
              <a:ahLst/>
              <a:cxnLst/>
              <a:rect l="l" t="t" r="r" b="b"/>
              <a:pathLst>
                <a:path w="1069975" h="844550">
                  <a:moveTo>
                    <a:pt x="1069842" y="0"/>
                  </a:moveTo>
                  <a:lnTo>
                    <a:pt x="0" y="0"/>
                  </a:lnTo>
                  <a:lnTo>
                    <a:pt x="0" y="844472"/>
                  </a:lnTo>
                </a:path>
              </a:pathLst>
            </a:custGeom>
            <a:ln w="210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814463" y="1935183"/>
              <a:ext cx="111125" cy="102235"/>
            </a:xfrm>
            <a:custGeom>
              <a:avLst/>
              <a:gdLst/>
              <a:ahLst/>
              <a:cxnLst/>
              <a:rect l="l" t="t" r="r" b="b"/>
              <a:pathLst>
                <a:path w="111125" h="102235">
                  <a:moveTo>
                    <a:pt x="110514" y="0"/>
                  </a:moveTo>
                  <a:lnTo>
                    <a:pt x="55381" y="17944"/>
                  </a:lnTo>
                  <a:lnTo>
                    <a:pt x="0" y="0"/>
                  </a:lnTo>
                  <a:lnTo>
                    <a:pt x="55381" y="102073"/>
                  </a:lnTo>
                  <a:lnTo>
                    <a:pt x="1105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869845" y="524964"/>
              <a:ext cx="5737860" cy="4968240"/>
            </a:xfrm>
            <a:custGeom>
              <a:avLst/>
              <a:gdLst/>
              <a:ahLst/>
              <a:cxnLst/>
              <a:rect l="l" t="t" r="r" b="b"/>
              <a:pathLst>
                <a:path w="5737859" h="4968240">
                  <a:moveTo>
                    <a:pt x="0" y="4968038"/>
                  </a:moveTo>
                  <a:lnTo>
                    <a:pt x="5737382" y="4968038"/>
                  </a:lnTo>
                  <a:lnTo>
                    <a:pt x="5737382" y="0"/>
                  </a:lnTo>
                  <a:lnTo>
                    <a:pt x="1730931" y="0"/>
                  </a:lnTo>
                </a:path>
              </a:pathLst>
            </a:custGeom>
            <a:ln w="212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511841" y="482127"/>
              <a:ext cx="131445" cy="85725"/>
            </a:xfrm>
            <a:custGeom>
              <a:avLst/>
              <a:gdLst/>
              <a:ahLst/>
              <a:cxnLst/>
              <a:rect l="l" t="t" r="r" b="b"/>
              <a:pathLst>
                <a:path w="131445" h="85725">
                  <a:moveTo>
                    <a:pt x="131344" y="0"/>
                  </a:moveTo>
                  <a:lnTo>
                    <a:pt x="0" y="42836"/>
                  </a:lnTo>
                  <a:lnTo>
                    <a:pt x="131344" y="85479"/>
                  </a:lnTo>
                  <a:lnTo>
                    <a:pt x="107770" y="42836"/>
                  </a:lnTo>
                  <a:lnTo>
                    <a:pt x="1313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941526" y="3594412"/>
              <a:ext cx="0" cy="1825625"/>
            </a:xfrm>
            <a:custGeom>
              <a:avLst/>
              <a:gdLst/>
              <a:ahLst/>
              <a:cxnLst/>
              <a:rect l="l" t="t" r="r" b="b"/>
              <a:pathLst>
                <a:path h="1825625">
                  <a:moveTo>
                    <a:pt x="0" y="677372"/>
                  </a:moveTo>
                  <a:lnTo>
                    <a:pt x="0" y="1825267"/>
                  </a:lnTo>
                </a:path>
                <a:path h="1825625">
                  <a:moveTo>
                    <a:pt x="0" y="0"/>
                  </a:moveTo>
                  <a:lnTo>
                    <a:pt x="0" y="364300"/>
                  </a:lnTo>
                </a:path>
              </a:pathLst>
            </a:custGeom>
            <a:ln w="24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886091" y="3525723"/>
              <a:ext cx="111760" cy="1962785"/>
            </a:xfrm>
            <a:custGeom>
              <a:avLst/>
              <a:gdLst/>
              <a:ahLst/>
              <a:cxnLst/>
              <a:rect l="l" t="t" r="r" b="b"/>
              <a:pathLst>
                <a:path w="111759" h="1962785">
                  <a:moveTo>
                    <a:pt x="111467" y="1861451"/>
                  </a:moveTo>
                  <a:lnTo>
                    <a:pt x="55422" y="1879587"/>
                  </a:lnTo>
                  <a:lnTo>
                    <a:pt x="0" y="1861451"/>
                  </a:lnTo>
                  <a:lnTo>
                    <a:pt x="55422" y="1962746"/>
                  </a:lnTo>
                  <a:lnTo>
                    <a:pt x="111467" y="1861451"/>
                  </a:lnTo>
                  <a:close/>
                </a:path>
                <a:path w="111759" h="1962785">
                  <a:moveTo>
                    <a:pt x="111467" y="101307"/>
                  </a:moveTo>
                  <a:lnTo>
                    <a:pt x="55422" y="0"/>
                  </a:lnTo>
                  <a:lnTo>
                    <a:pt x="0" y="101307"/>
                  </a:lnTo>
                  <a:lnTo>
                    <a:pt x="55422" y="83362"/>
                  </a:lnTo>
                  <a:lnTo>
                    <a:pt x="111467" y="1013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941526" y="591630"/>
              <a:ext cx="0" cy="2858135"/>
            </a:xfrm>
            <a:custGeom>
              <a:avLst/>
              <a:gdLst/>
              <a:ahLst/>
              <a:cxnLst/>
              <a:rect l="l" t="t" r="r" b="b"/>
              <a:pathLst>
                <a:path h="2858135">
                  <a:moveTo>
                    <a:pt x="0" y="990732"/>
                  </a:moveTo>
                  <a:lnTo>
                    <a:pt x="0" y="2857968"/>
                  </a:lnTo>
                </a:path>
                <a:path h="2858135">
                  <a:moveTo>
                    <a:pt x="0" y="0"/>
                  </a:moveTo>
                  <a:lnTo>
                    <a:pt x="0" y="646113"/>
                  </a:lnTo>
                </a:path>
              </a:pathLst>
            </a:custGeom>
            <a:ln w="24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886091" y="522172"/>
              <a:ext cx="111760" cy="2996565"/>
            </a:xfrm>
            <a:custGeom>
              <a:avLst/>
              <a:gdLst/>
              <a:ahLst/>
              <a:cxnLst/>
              <a:rect l="l" t="t" r="r" b="b"/>
              <a:pathLst>
                <a:path w="111759" h="2996565">
                  <a:moveTo>
                    <a:pt x="111467" y="2894825"/>
                  </a:moveTo>
                  <a:lnTo>
                    <a:pt x="55422" y="2913062"/>
                  </a:lnTo>
                  <a:lnTo>
                    <a:pt x="0" y="2894825"/>
                  </a:lnTo>
                  <a:lnTo>
                    <a:pt x="55422" y="2996412"/>
                  </a:lnTo>
                  <a:lnTo>
                    <a:pt x="111467" y="2894825"/>
                  </a:lnTo>
                  <a:close/>
                </a:path>
                <a:path w="111759" h="2996565">
                  <a:moveTo>
                    <a:pt x="111467" y="101981"/>
                  </a:moveTo>
                  <a:lnTo>
                    <a:pt x="55422" y="0"/>
                  </a:lnTo>
                  <a:lnTo>
                    <a:pt x="0" y="101981"/>
                  </a:lnTo>
                  <a:lnTo>
                    <a:pt x="55422" y="83070"/>
                  </a:lnTo>
                  <a:lnTo>
                    <a:pt x="111467" y="1019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892605" y="1237743"/>
              <a:ext cx="99695" cy="344805"/>
            </a:xfrm>
            <a:custGeom>
              <a:avLst/>
              <a:gdLst/>
              <a:ahLst/>
              <a:cxnLst/>
              <a:rect l="l" t="t" r="r" b="b"/>
              <a:pathLst>
                <a:path w="99694" h="344805">
                  <a:moveTo>
                    <a:pt x="99387" y="0"/>
                  </a:moveTo>
                  <a:lnTo>
                    <a:pt x="0" y="0"/>
                  </a:lnTo>
                  <a:lnTo>
                    <a:pt x="0" y="344619"/>
                  </a:lnTo>
                  <a:lnTo>
                    <a:pt x="99387" y="344619"/>
                  </a:lnTo>
                  <a:lnTo>
                    <a:pt x="99387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775241" y="1227696"/>
            <a:ext cx="382270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020" marR="5080" indent="-20955">
              <a:lnSpc>
                <a:spcPct val="101400"/>
              </a:lnSpc>
              <a:spcBef>
                <a:spcPts val="95"/>
              </a:spcBef>
            </a:pPr>
            <a:r>
              <a:rPr sz="900" b="1" spc="114" dirty="0">
                <a:latin typeface="Times New Roman"/>
                <a:cs typeface="Times New Roman"/>
              </a:rPr>
              <a:t>Fetch </a:t>
            </a:r>
            <a:r>
              <a:rPr sz="900" b="1" spc="100" dirty="0">
                <a:latin typeface="Times New Roman"/>
                <a:cs typeface="Times New Roman"/>
              </a:rPr>
              <a:t>cycle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904991" y="3958713"/>
            <a:ext cx="76835" cy="313690"/>
          </a:xfrm>
          <a:custGeom>
            <a:avLst/>
            <a:gdLst/>
            <a:ahLst/>
            <a:cxnLst/>
            <a:rect l="l" t="t" r="r" b="b"/>
            <a:pathLst>
              <a:path w="76834" h="313689">
                <a:moveTo>
                  <a:pt x="76786" y="0"/>
                </a:moveTo>
                <a:lnTo>
                  <a:pt x="0" y="0"/>
                </a:lnTo>
                <a:lnTo>
                  <a:pt x="0" y="313071"/>
                </a:lnTo>
                <a:lnTo>
                  <a:pt x="76786" y="313071"/>
                </a:lnTo>
                <a:lnTo>
                  <a:pt x="76786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/>
          <p:nvPr/>
        </p:nvSpPr>
        <p:spPr>
          <a:xfrm>
            <a:off x="657879" y="3937378"/>
            <a:ext cx="662305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5260" marR="5080" indent="-163195">
              <a:lnSpc>
                <a:spcPct val="101499"/>
              </a:lnSpc>
              <a:spcBef>
                <a:spcPts val="95"/>
              </a:spcBef>
            </a:pPr>
            <a:r>
              <a:rPr sz="900" b="1" spc="114" dirty="0">
                <a:latin typeface="Times New Roman"/>
                <a:cs typeface="Times New Roman"/>
              </a:rPr>
              <a:t>Execution </a:t>
            </a:r>
            <a:r>
              <a:rPr sz="900" b="1" spc="90" dirty="0">
                <a:latin typeface="Times New Roman"/>
                <a:cs typeface="Times New Roman"/>
              </a:rPr>
              <a:t>cycle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884088" y="6071848"/>
            <a:ext cx="4500245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190" dirty="0">
                <a:latin typeface="Times New Roman"/>
                <a:cs typeface="Times New Roman"/>
              </a:rPr>
              <a:t>Figure</a:t>
            </a:r>
            <a:r>
              <a:rPr sz="1350" b="1" spc="100" dirty="0">
                <a:latin typeface="Times New Roman"/>
                <a:cs typeface="Times New Roman"/>
              </a:rPr>
              <a:t> </a:t>
            </a:r>
            <a:r>
              <a:rPr sz="1350" b="1" spc="165" dirty="0">
                <a:latin typeface="Times New Roman"/>
                <a:cs typeface="Times New Roman"/>
              </a:rPr>
              <a:t>1.8</a:t>
            </a:r>
            <a:r>
              <a:rPr sz="1350" b="1" spc="100" dirty="0">
                <a:latin typeface="Times New Roman"/>
                <a:cs typeface="Times New Roman"/>
              </a:rPr>
              <a:t>  </a:t>
            </a:r>
            <a:r>
              <a:rPr sz="1350" b="1" spc="165" dirty="0">
                <a:latin typeface="Times New Roman"/>
                <a:cs typeface="Times New Roman"/>
              </a:rPr>
              <a:t>Partial</a:t>
            </a:r>
            <a:r>
              <a:rPr sz="1350" b="1" spc="105" dirty="0">
                <a:latin typeface="Times New Roman"/>
                <a:cs typeface="Times New Roman"/>
              </a:rPr>
              <a:t> </a:t>
            </a:r>
            <a:r>
              <a:rPr sz="1350" b="1" spc="195" dirty="0">
                <a:latin typeface="Times New Roman"/>
                <a:cs typeface="Times New Roman"/>
              </a:rPr>
              <a:t>Flowchart</a:t>
            </a:r>
            <a:r>
              <a:rPr sz="1350" b="1" spc="95" dirty="0">
                <a:latin typeface="Times New Roman"/>
                <a:cs typeface="Times New Roman"/>
              </a:rPr>
              <a:t> </a:t>
            </a:r>
            <a:r>
              <a:rPr sz="1350" b="1" spc="165" dirty="0">
                <a:latin typeface="Times New Roman"/>
                <a:cs typeface="Times New Roman"/>
              </a:rPr>
              <a:t>of</a:t>
            </a:r>
            <a:r>
              <a:rPr sz="1350" b="1" spc="95" dirty="0">
                <a:latin typeface="Times New Roman"/>
                <a:cs typeface="Times New Roman"/>
              </a:rPr>
              <a:t> </a:t>
            </a:r>
            <a:r>
              <a:rPr sz="1350" b="1" spc="225" dirty="0">
                <a:latin typeface="Times New Roman"/>
                <a:cs typeface="Times New Roman"/>
              </a:rPr>
              <a:t>IAS</a:t>
            </a:r>
            <a:r>
              <a:rPr sz="1350" b="1" spc="105" dirty="0">
                <a:latin typeface="Times New Roman"/>
                <a:cs typeface="Times New Roman"/>
              </a:rPr>
              <a:t> </a:t>
            </a:r>
            <a:r>
              <a:rPr sz="1350" b="1" spc="185" dirty="0">
                <a:latin typeface="Times New Roman"/>
                <a:cs typeface="Times New Roman"/>
              </a:rPr>
              <a:t>Operation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1262628" y="1079712"/>
            <a:ext cx="5410200" cy="3973195"/>
            <a:chOff x="1262628" y="1079712"/>
            <a:chExt cx="5410200" cy="3973195"/>
          </a:xfrm>
        </p:grpSpPr>
        <p:sp>
          <p:nvSpPr>
            <p:cNvPr id="120" name="object 120"/>
            <p:cNvSpPr/>
            <p:nvPr/>
          </p:nvSpPr>
          <p:spPr>
            <a:xfrm>
              <a:off x="1685239" y="4521565"/>
              <a:ext cx="151130" cy="0"/>
            </a:xfrm>
            <a:custGeom>
              <a:avLst/>
              <a:gdLst/>
              <a:ahLst/>
              <a:cxnLst/>
              <a:rect l="l" t="t" r="r" b="b"/>
              <a:pathLst>
                <a:path w="151130">
                  <a:moveTo>
                    <a:pt x="150803" y="0"/>
                  </a:moveTo>
                  <a:lnTo>
                    <a:pt x="150803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637304" y="4496192"/>
              <a:ext cx="57785" cy="50800"/>
            </a:xfrm>
            <a:custGeom>
              <a:avLst/>
              <a:gdLst/>
              <a:ahLst/>
              <a:cxnLst/>
              <a:rect l="l" t="t" r="r" b="b"/>
              <a:pathLst>
                <a:path w="57785" h="50800">
                  <a:moveTo>
                    <a:pt x="57290" y="0"/>
                  </a:moveTo>
                  <a:lnTo>
                    <a:pt x="0" y="25373"/>
                  </a:lnTo>
                  <a:lnTo>
                    <a:pt x="57290" y="50747"/>
                  </a:lnTo>
                  <a:lnTo>
                    <a:pt x="572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309690" y="3667735"/>
              <a:ext cx="151765" cy="0"/>
            </a:xfrm>
            <a:custGeom>
              <a:avLst/>
              <a:gdLst/>
              <a:ahLst/>
              <a:cxnLst/>
              <a:rect l="l" t="t" r="r" b="b"/>
              <a:pathLst>
                <a:path w="151765">
                  <a:moveTo>
                    <a:pt x="151726" y="0"/>
                  </a:moveTo>
                  <a:lnTo>
                    <a:pt x="151726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262628" y="3642361"/>
              <a:ext cx="57785" cy="50800"/>
            </a:xfrm>
            <a:custGeom>
              <a:avLst/>
              <a:gdLst/>
              <a:ahLst/>
              <a:cxnLst/>
              <a:rect l="l" t="t" r="r" b="b"/>
              <a:pathLst>
                <a:path w="57784" h="50800">
                  <a:moveTo>
                    <a:pt x="57277" y="0"/>
                  </a:moveTo>
                  <a:lnTo>
                    <a:pt x="0" y="25373"/>
                  </a:lnTo>
                  <a:lnTo>
                    <a:pt x="57277" y="50554"/>
                  </a:lnTo>
                  <a:lnTo>
                    <a:pt x="57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5741334" y="3643037"/>
              <a:ext cx="151130" cy="0"/>
            </a:xfrm>
            <a:custGeom>
              <a:avLst/>
              <a:gdLst/>
              <a:ahLst/>
              <a:cxnLst/>
              <a:rect l="l" t="t" r="r" b="b"/>
              <a:pathLst>
                <a:path w="151129">
                  <a:moveTo>
                    <a:pt x="150803" y="0"/>
                  </a:moveTo>
                  <a:lnTo>
                    <a:pt x="150803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693685" y="3617663"/>
              <a:ext cx="57150" cy="51435"/>
            </a:xfrm>
            <a:custGeom>
              <a:avLst/>
              <a:gdLst/>
              <a:ahLst/>
              <a:cxnLst/>
              <a:rect l="l" t="t" r="r" b="b"/>
              <a:pathLst>
                <a:path w="57150" h="51435">
                  <a:moveTo>
                    <a:pt x="56878" y="0"/>
                  </a:moveTo>
                  <a:lnTo>
                    <a:pt x="0" y="25373"/>
                  </a:lnTo>
                  <a:lnTo>
                    <a:pt x="56878" y="50843"/>
                  </a:lnTo>
                  <a:lnTo>
                    <a:pt x="568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723657" y="5027110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1801" y="0"/>
                  </a:moveTo>
                  <a:lnTo>
                    <a:pt x="151801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676882" y="5001736"/>
              <a:ext cx="56515" cy="51435"/>
            </a:xfrm>
            <a:custGeom>
              <a:avLst/>
              <a:gdLst/>
              <a:ahLst/>
              <a:cxnLst/>
              <a:rect l="l" t="t" r="r" b="b"/>
              <a:pathLst>
                <a:path w="56514" h="51435">
                  <a:moveTo>
                    <a:pt x="56130" y="0"/>
                  </a:moveTo>
                  <a:lnTo>
                    <a:pt x="0" y="25373"/>
                  </a:lnTo>
                  <a:lnTo>
                    <a:pt x="56130" y="50843"/>
                  </a:lnTo>
                  <a:lnTo>
                    <a:pt x="561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399928" y="5027110"/>
              <a:ext cx="151130" cy="0"/>
            </a:xfrm>
            <a:custGeom>
              <a:avLst/>
              <a:gdLst/>
              <a:ahLst/>
              <a:cxnLst/>
              <a:rect l="l" t="t" r="r" b="b"/>
              <a:pathLst>
                <a:path w="151129">
                  <a:moveTo>
                    <a:pt x="150803" y="0"/>
                  </a:moveTo>
                  <a:lnTo>
                    <a:pt x="150803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352280" y="5001736"/>
              <a:ext cx="57150" cy="51435"/>
            </a:xfrm>
            <a:custGeom>
              <a:avLst/>
              <a:gdLst/>
              <a:ahLst/>
              <a:cxnLst/>
              <a:rect l="l" t="t" r="r" b="b"/>
              <a:pathLst>
                <a:path w="57150" h="51435">
                  <a:moveTo>
                    <a:pt x="57003" y="0"/>
                  </a:moveTo>
                  <a:lnTo>
                    <a:pt x="0" y="25373"/>
                  </a:lnTo>
                  <a:lnTo>
                    <a:pt x="57003" y="50843"/>
                  </a:lnTo>
                  <a:lnTo>
                    <a:pt x="570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520671" y="4521565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1801" y="0"/>
                  </a:moveTo>
                  <a:lnTo>
                    <a:pt x="151801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474020" y="4496192"/>
              <a:ext cx="56515" cy="50800"/>
            </a:xfrm>
            <a:custGeom>
              <a:avLst/>
              <a:gdLst/>
              <a:ahLst/>
              <a:cxnLst/>
              <a:rect l="l" t="t" r="r" b="b"/>
              <a:pathLst>
                <a:path w="56515" h="50800">
                  <a:moveTo>
                    <a:pt x="56005" y="0"/>
                  </a:moveTo>
                  <a:lnTo>
                    <a:pt x="0" y="25373"/>
                  </a:lnTo>
                  <a:lnTo>
                    <a:pt x="56005" y="50747"/>
                  </a:lnTo>
                  <a:lnTo>
                    <a:pt x="560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5109058" y="1104314"/>
              <a:ext cx="151765" cy="0"/>
            </a:xfrm>
            <a:custGeom>
              <a:avLst/>
              <a:gdLst/>
              <a:ahLst/>
              <a:cxnLst/>
              <a:rect l="l" t="t" r="r" b="b"/>
              <a:pathLst>
                <a:path w="151764">
                  <a:moveTo>
                    <a:pt x="151676" y="0"/>
                  </a:moveTo>
                  <a:lnTo>
                    <a:pt x="151676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062283" y="1079712"/>
              <a:ext cx="56515" cy="50165"/>
            </a:xfrm>
            <a:custGeom>
              <a:avLst/>
              <a:gdLst/>
              <a:ahLst/>
              <a:cxnLst/>
              <a:rect l="l" t="t" r="r" b="b"/>
              <a:pathLst>
                <a:path w="56514" h="50165">
                  <a:moveTo>
                    <a:pt x="56005" y="0"/>
                  </a:moveTo>
                  <a:lnTo>
                    <a:pt x="0" y="24601"/>
                  </a:lnTo>
                  <a:lnTo>
                    <a:pt x="56005" y="50072"/>
                  </a:lnTo>
                  <a:lnTo>
                    <a:pt x="560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595181" y="2224038"/>
              <a:ext cx="151765" cy="0"/>
            </a:xfrm>
            <a:custGeom>
              <a:avLst/>
              <a:gdLst/>
              <a:ahLst/>
              <a:cxnLst/>
              <a:rect l="l" t="t" r="r" b="b"/>
              <a:pathLst>
                <a:path w="151764">
                  <a:moveTo>
                    <a:pt x="151676" y="0"/>
                  </a:moveTo>
                  <a:lnTo>
                    <a:pt x="151676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1548431" y="2198857"/>
              <a:ext cx="56515" cy="50800"/>
            </a:xfrm>
            <a:custGeom>
              <a:avLst/>
              <a:gdLst/>
              <a:ahLst/>
              <a:cxnLst/>
              <a:rect l="l" t="t" r="r" b="b"/>
              <a:pathLst>
                <a:path w="56515" h="50800">
                  <a:moveTo>
                    <a:pt x="56354" y="0"/>
                  </a:moveTo>
                  <a:lnTo>
                    <a:pt x="0" y="25180"/>
                  </a:lnTo>
                  <a:lnTo>
                    <a:pt x="56354" y="50554"/>
                  </a:lnTo>
                  <a:lnTo>
                    <a:pt x="563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1638227" y="2356695"/>
              <a:ext cx="151765" cy="0"/>
            </a:xfrm>
            <a:custGeom>
              <a:avLst/>
              <a:gdLst/>
              <a:ahLst/>
              <a:cxnLst/>
              <a:rect l="l" t="t" r="r" b="b"/>
              <a:pathLst>
                <a:path w="151764">
                  <a:moveTo>
                    <a:pt x="151164" y="0"/>
                  </a:moveTo>
                  <a:lnTo>
                    <a:pt x="151164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1590541" y="2331322"/>
              <a:ext cx="57785" cy="50800"/>
            </a:xfrm>
            <a:custGeom>
              <a:avLst/>
              <a:gdLst/>
              <a:ahLst/>
              <a:cxnLst/>
              <a:rect l="l" t="t" r="r" b="b"/>
              <a:pathLst>
                <a:path w="57785" h="50800">
                  <a:moveTo>
                    <a:pt x="57277" y="0"/>
                  </a:moveTo>
                  <a:lnTo>
                    <a:pt x="0" y="25373"/>
                  </a:lnTo>
                  <a:lnTo>
                    <a:pt x="57277" y="50747"/>
                  </a:lnTo>
                  <a:lnTo>
                    <a:pt x="57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112818" y="2224038"/>
              <a:ext cx="151130" cy="0"/>
            </a:xfrm>
            <a:custGeom>
              <a:avLst/>
              <a:gdLst/>
              <a:ahLst/>
              <a:cxnLst/>
              <a:rect l="l" t="t" r="r" b="b"/>
              <a:pathLst>
                <a:path w="151129">
                  <a:moveTo>
                    <a:pt x="150678" y="0"/>
                  </a:moveTo>
                  <a:lnTo>
                    <a:pt x="150678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065045" y="2198857"/>
              <a:ext cx="57785" cy="50800"/>
            </a:xfrm>
            <a:custGeom>
              <a:avLst/>
              <a:gdLst/>
              <a:ahLst/>
              <a:cxnLst/>
              <a:rect l="l" t="t" r="r" b="b"/>
              <a:pathLst>
                <a:path w="57785" h="50800">
                  <a:moveTo>
                    <a:pt x="57252" y="0"/>
                  </a:moveTo>
                  <a:lnTo>
                    <a:pt x="0" y="25180"/>
                  </a:lnTo>
                  <a:lnTo>
                    <a:pt x="57252" y="50554"/>
                  </a:lnTo>
                  <a:lnTo>
                    <a:pt x="57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3192398" y="2356695"/>
              <a:ext cx="151765" cy="0"/>
            </a:xfrm>
            <a:custGeom>
              <a:avLst/>
              <a:gdLst/>
              <a:ahLst/>
              <a:cxnLst/>
              <a:rect l="l" t="t" r="r" b="b"/>
              <a:pathLst>
                <a:path w="151764">
                  <a:moveTo>
                    <a:pt x="151676" y="0"/>
                  </a:moveTo>
                  <a:lnTo>
                    <a:pt x="151676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3145623" y="2331322"/>
              <a:ext cx="56515" cy="50800"/>
            </a:xfrm>
            <a:custGeom>
              <a:avLst/>
              <a:gdLst/>
              <a:ahLst/>
              <a:cxnLst/>
              <a:rect l="l" t="t" r="r" b="b"/>
              <a:pathLst>
                <a:path w="56514" h="50800">
                  <a:moveTo>
                    <a:pt x="56254" y="0"/>
                  </a:moveTo>
                  <a:lnTo>
                    <a:pt x="0" y="25373"/>
                  </a:lnTo>
                  <a:lnTo>
                    <a:pt x="56254" y="50747"/>
                  </a:lnTo>
                  <a:lnTo>
                    <a:pt x="562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3327360" y="3165760"/>
              <a:ext cx="151130" cy="0"/>
            </a:xfrm>
            <a:custGeom>
              <a:avLst/>
              <a:gdLst/>
              <a:ahLst/>
              <a:cxnLst/>
              <a:rect l="l" t="t" r="r" b="b"/>
              <a:pathLst>
                <a:path w="151129">
                  <a:moveTo>
                    <a:pt x="150803" y="0"/>
                  </a:moveTo>
                  <a:lnTo>
                    <a:pt x="150803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279712" y="3140386"/>
              <a:ext cx="57150" cy="50800"/>
            </a:xfrm>
            <a:custGeom>
              <a:avLst/>
              <a:gdLst/>
              <a:ahLst/>
              <a:cxnLst/>
              <a:rect l="l" t="t" r="r" b="b"/>
              <a:pathLst>
                <a:path w="57150" h="50800">
                  <a:moveTo>
                    <a:pt x="56878" y="0"/>
                  </a:moveTo>
                  <a:lnTo>
                    <a:pt x="0" y="25373"/>
                  </a:lnTo>
                  <a:lnTo>
                    <a:pt x="56878" y="50747"/>
                  </a:lnTo>
                  <a:lnTo>
                    <a:pt x="568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437001" y="4521565"/>
              <a:ext cx="151765" cy="0"/>
            </a:xfrm>
            <a:custGeom>
              <a:avLst/>
              <a:gdLst/>
              <a:ahLst/>
              <a:cxnLst/>
              <a:rect l="l" t="t" r="r" b="b"/>
              <a:pathLst>
                <a:path w="151764">
                  <a:moveTo>
                    <a:pt x="151676" y="0"/>
                  </a:moveTo>
                  <a:lnTo>
                    <a:pt x="151676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390226" y="4496192"/>
              <a:ext cx="56515" cy="50800"/>
            </a:xfrm>
            <a:custGeom>
              <a:avLst/>
              <a:gdLst/>
              <a:ahLst/>
              <a:cxnLst/>
              <a:rect l="l" t="t" r="r" b="b"/>
              <a:pathLst>
                <a:path w="56514" h="50800">
                  <a:moveTo>
                    <a:pt x="56005" y="0"/>
                  </a:moveTo>
                  <a:lnTo>
                    <a:pt x="0" y="25373"/>
                  </a:lnTo>
                  <a:lnTo>
                    <a:pt x="56005" y="50747"/>
                  </a:lnTo>
                  <a:lnTo>
                    <a:pt x="560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6374607" y="2150232"/>
              <a:ext cx="151765" cy="0"/>
            </a:xfrm>
            <a:custGeom>
              <a:avLst/>
              <a:gdLst/>
              <a:ahLst/>
              <a:cxnLst/>
              <a:rect l="l" t="t" r="r" b="b"/>
              <a:pathLst>
                <a:path w="151765">
                  <a:moveTo>
                    <a:pt x="151676" y="0"/>
                  </a:moveTo>
                  <a:lnTo>
                    <a:pt x="151676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6327832" y="2124859"/>
              <a:ext cx="56515" cy="50800"/>
            </a:xfrm>
            <a:custGeom>
              <a:avLst/>
              <a:gdLst/>
              <a:ahLst/>
              <a:cxnLst/>
              <a:rect l="l" t="t" r="r" b="b"/>
              <a:pathLst>
                <a:path w="56514" h="50800">
                  <a:moveTo>
                    <a:pt x="56005" y="0"/>
                  </a:moveTo>
                  <a:lnTo>
                    <a:pt x="0" y="25373"/>
                  </a:lnTo>
                  <a:lnTo>
                    <a:pt x="56005" y="50747"/>
                  </a:lnTo>
                  <a:lnTo>
                    <a:pt x="560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6399055" y="2295142"/>
              <a:ext cx="151765" cy="0"/>
            </a:xfrm>
            <a:custGeom>
              <a:avLst/>
              <a:gdLst/>
              <a:ahLst/>
              <a:cxnLst/>
              <a:rect l="l" t="t" r="r" b="b"/>
              <a:pathLst>
                <a:path w="151765">
                  <a:moveTo>
                    <a:pt x="151676" y="0"/>
                  </a:moveTo>
                  <a:lnTo>
                    <a:pt x="151676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6352280" y="2269769"/>
              <a:ext cx="56515" cy="50800"/>
            </a:xfrm>
            <a:custGeom>
              <a:avLst/>
              <a:gdLst/>
              <a:ahLst/>
              <a:cxnLst/>
              <a:rect l="l" t="t" r="r" b="b"/>
              <a:pathLst>
                <a:path w="56514" h="50800">
                  <a:moveTo>
                    <a:pt x="56005" y="0"/>
                  </a:moveTo>
                  <a:lnTo>
                    <a:pt x="0" y="25373"/>
                  </a:lnTo>
                  <a:lnTo>
                    <a:pt x="56005" y="50747"/>
                  </a:lnTo>
                  <a:lnTo>
                    <a:pt x="560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6461921" y="2428282"/>
              <a:ext cx="151130" cy="0"/>
            </a:xfrm>
            <a:custGeom>
              <a:avLst/>
              <a:gdLst/>
              <a:ahLst/>
              <a:cxnLst/>
              <a:rect l="l" t="t" r="r" b="b"/>
              <a:pathLst>
                <a:path w="151129">
                  <a:moveTo>
                    <a:pt x="150803" y="0"/>
                  </a:moveTo>
                  <a:lnTo>
                    <a:pt x="150803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6413899" y="2402908"/>
              <a:ext cx="57785" cy="51435"/>
            </a:xfrm>
            <a:custGeom>
              <a:avLst/>
              <a:gdLst/>
              <a:ahLst/>
              <a:cxnLst/>
              <a:rect l="l" t="t" r="r" b="b"/>
              <a:pathLst>
                <a:path w="57785" h="51435">
                  <a:moveTo>
                    <a:pt x="57252" y="0"/>
                  </a:moveTo>
                  <a:lnTo>
                    <a:pt x="0" y="25373"/>
                  </a:lnTo>
                  <a:lnTo>
                    <a:pt x="57252" y="50843"/>
                  </a:lnTo>
                  <a:lnTo>
                    <a:pt x="57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4910606" y="1564900"/>
              <a:ext cx="151765" cy="0"/>
            </a:xfrm>
            <a:custGeom>
              <a:avLst/>
              <a:gdLst/>
              <a:ahLst/>
              <a:cxnLst/>
              <a:rect l="l" t="t" r="r" b="b"/>
              <a:pathLst>
                <a:path w="151764">
                  <a:moveTo>
                    <a:pt x="151676" y="0"/>
                  </a:moveTo>
                  <a:lnTo>
                    <a:pt x="151676" y="0"/>
                  </a:lnTo>
                  <a:lnTo>
                    <a:pt x="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4863457" y="1539816"/>
              <a:ext cx="56515" cy="50800"/>
            </a:xfrm>
            <a:custGeom>
              <a:avLst/>
              <a:gdLst/>
              <a:ahLst/>
              <a:cxnLst/>
              <a:rect l="l" t="t" r="r" b="b"/>
              <a:pathLst>
                <a:path w="56514" h="50800">
                  <a:moveTo>
                    <a:pt x="56379" y="0"/>
                  </a:moveTo>
                  <a:lnTo>
                    <a:pt x="0" y="25084"/>
                  </a:lnTo>
                  <a:lnTo>
                    <a:pt x="56379" y="50458"/>
                  </a:lnTo>
                  <a:lnTo>
                    <a:pt x="56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4" name="object 1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508495" y="2155951"/>
            <a:ext cx="15138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85" dirty="0">
                <a:solidFill>
                  <a:srgbClr val="000000"/>
                </a:solidFill>
              </a:rPr>
              <a:t>Table</a:t>
            </a:r>
            <a:r>
              <a:rPr sz="2800" spc="90" dirty="0">
                <a:solidFill>
                  <a:srgbClr val="000000"/>
                </a:solidFill>
              </a:rPr>
              <a:t> </a:t>
            </a:r>
            <a:r>
              <a:rPr sz="2800" spc="-25" dirty="0">
                <a:solidFill>
                  <a:srgbClr val="000000"/>
                </a:solidFill>
              </a:rPr>
              <a:t>1.1</a:t>
            </a:r>
            <a:endParaRPr sz="28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3088" y="186655"/>
          <a:ext cx="5811520" cy="6162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8240"/>
                <a:gridCol w="731520"/>
                <a:gridCol w="1273175"/>
                <a:gridCol w="2648585"/>
              </a:tblGrid>
              <a:tr h="28892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00" b="1" spc="50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900" b="1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45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00" b="1" spc="55" dirty="0">
                          <a:latin typeface="Times New Roman"/>
                          <a:cs typeface="Times New Roman"/>
                        </a:rPr>
                        <a:t>Opcode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41935" marR="172720" indent="167640">
                        <a:lnSpc>
                          <a:spcPts val="980"/>
                        </a:lnSpc>
                        <a:spcBef>
                          <a:spcPts val="65"/>
                        </a:spcBef>
                      </a:pPr>
                      <a:r>
                        <a:rPr sz="900" b="1" spc="45" dirty="0">
                          <a:latin typeface="Times New Roman"/>
                          <a:cs typeface="Times New Roman"/>
                        </a:rPr>
                        <a:t>Symbolic Representation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121920"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00" b="1" spc="4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ts val="1040"/>
                        </a:lnSpc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00001010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040"/>
                        </a:lnSpc>
                      </a:pPr>
                      <a:r>
                        <a:rPr sz="900" spc="85" dirty="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75" dirty="0">
                          <a:latin typeface="Times New Roman"/>
                          <a:cs typeface="Times New Roman"/>
                        </a:rPr>
                        <a:t>MQ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21970">
                        <a:lnSpc>
                          <a:spcPts val="980"/>
                        </a:lnSpc>
                        <a:spcBef>
                          <a:spcPts val="75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contents</a:t>
                      </a:r>
                      <a:r>
                        <a:rPr sz="9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20" dirty="0">
                          <a:latin typeface="Times New Roman"/>
                          <a:cs typeface="Times New Roman"/>
                        </a:rPr>
                        <a:t>register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105" dirty="0">
                          <a:latin typeface="Times New Roman"/>
                          <a:cs typeface="Times New Roman"/>
                        </a:rPr>
                        <a:t>MQ</a:t>
                      </a:r>
                      <a:r>
                        <a:rPr sz="9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accumulator</a:t>
                      </a:r>
                      <a:r>
                        <a:rPr sz="900" spc="70" dirty="0">
                          <a:latin typeface="Times New Roman"/>
                          <a:cs typeface="Times New Roman"/>
                        </a:rPr>
                        <a:t> AC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00001001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85" dirty="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MQ,M(X)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334010">
                        <a:lnSpc>
                          <a:spcPts val="1070"/>
                        </a:lnSpc>
                        <a:spcBef>
                          <a:spcPts val="10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contents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location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9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00" spc="75" dirty="0">
                          <a:latin typeface="Times New Roman"/>
                          <a:cs typeface="Times New Roman"/>
                        </a:rPr>
                        <a:t> MQ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solidFill>
                      <a:srgbClr val="CCFFCC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</a:pPr>
                      <a:r>
                        <a:rPr sz="900" spc="55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transfer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055"/>
                        </a:lnSpc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00100001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00000001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055"/>
                        </a:lnSpc>
                      </a:pPr>
                      <a:r>
                        <a:rPr sz="900" spc="80" dirty="0">
                          <a:latin typeface="Times New Roman"/>
                          <a:cs typeface="Times New Roman"/>
                        </a:rPr>
                        <a:t>STOR</a:t>
                      </a:r>
                      <a:r>
                        <a:rPr sz="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M(X)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15570">
                        <a:lnSpc>
                          <a:spcPct val="100000"/>
                        </a:lnSpc>
                      </a:pPr>
                      <a:r>
                        <a:rPr sz="900" spc="85" dirty="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M(X)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235585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contents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accumulator</a:t>
                      </a:r>
                      <a:r>
                        <a:rPr sz="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memory </a:t>
                      </a:r>
                      <a:r>
                        <a:rPr sz="900" spc="20" dirty="0">
                          <a:latin typeface="Times New Roman"/>
                          <a:cs typeface="Times New Roman"/>
                        </a:rPr>
                        <a:t>location</a:t>
                      </a:r>
                      <a:r>
                        <a:rPr sz="900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30" dirty="0">
                          <a:latin typeface="Times New Roman"/>
                          <a:cs typeface="Times New Roman"/>
                        </a:rPr>
                        <a:t>X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8580" marR="12192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M(X)</a:t>
                      </a:r>
                      <a:r>
                        <a:rPr sz="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accumulator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00000010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sz="900" spc="85" dirty="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M(X)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121920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–M(X)</a:t>
                      </a:r>
                      <a:r>
                        <a:rPr sz="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 accumulator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ts val="1050"/>
                        </a:lnSpc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00000011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050"/>
                        </a:lnSpc>
                      </a:pPr>
                      <a:r>
                        <a:rPr sz="900" spc="85" dirty="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|M(X)|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544830">
                        <a:lnSpc>
                          <a:spcPts val="1070"/>
                        </a:lnSpc>
                        <a:spcBef>
                          <a:spcPts val="10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absolute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70" dirty="0">
                          <a:latin typeface="Times New Roman"/>
                          <a:cs typeface="Times New Roman"/>
                        </a:rPr>
                        <a:t>M(X)</a:t>
                      </a:r>
                      <a:r>
                        <a:rPr sz="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accumulator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solidFill>
                      <a:srgbClr val="CCFFCC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00000100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85" dirty="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|M(X)|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12192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 –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|M(X)|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accumulator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 marL="65405">
                        <a:lnSpc>
                          <a:spcPts val="1030"/>
                        </a:lnSpc>
                        <a:spcBef>
                          <a:spcPts val="40"/>
                        </a:spcBef>
                      </a:pPr>
                      <a:r>
                        <a:rPr sz="900" spc="45" dirty="0">
                          <a:latin typeface="Times New Roman"/>
                          <a:cs typeface="Times New Roman"/>
                        </a:rPr>
                        <a:t>Unconditional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ts val="1045"/>
                        </a:lnSpc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00001101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045"/>
                        </a:lnSpc>
                      </a:pPr>
                      <a:r>
                        <a:rPr sz="900" spc="80" dirty="0">
                          <a:latin typeface="Times New Roman"/>
                          <a:cs typeface="Times New Roman"/>
                        </a:rPr>
                        <a:t>JUMP</a:t>
                      </a:r>
                      <a:r>
                        <a:rPr sz="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M(X,0:19)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121920">
                        <a:lnSpc>
                          <a:spcPts val="1045"/>
                        </a:lnSpc>
                      </a:pPr>
                      <a:r>
                        <a:rPr sz="900" spc="60" dirty="0">
                          <a:latin typeface="Times New Roman"/>
                          <a:cs typeface="Times New Roman"/>
                        </a:rPr>
                        <a:t>Take</a:t>
                      </a:r>
                      <a:r>
                        <a:rPr sz="9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next</a:t>
                      </a:r>
                      <a:r>
                        <a:rPr sz="9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9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9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left</a:t>
                      </a:r>
                      <a:r>
                        <a:rPr sz="9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half</a:t>
                      </a:r>
                      <a:r>
                        <a:rPr sz="9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M(X)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65405">
                        <a:lnSpc>
                          <a:spcPts val="1015"/>
                        </a:lnSpc>
                      </a:pPr>
                      <a:r>
                        <a:rPr sz="900" spc="45" dirty="0">
                          <a:latin typeface="Times New Roman"/>
                          <a:cs typeface="Times New Roman"/>
                        </a:rPr>
                        <a:t>branch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00001110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spc="80" dirty="0">
                          <a:latin typeface="Times New Roman"/>
                          <a:cs typeface="Times New Roman"/>
                        </a:rPr>
                        <a:t>JUMP</a:t>
                      </a:r>
                      <a:r>
                        <a:rPr sz="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M(X,20:39)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1219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spc="60" dirty="0">
                          <a:latin typeface="Times New Roman"/>
                          <a:cs typeface="Times New Roman"/>
                        </a:rPr>
                        <a:t>Take</a:t>
                      </a:r>
                      <a:r>
                        <a:rPr sz="9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next</a:t>
                      </a:r>
                      <a:r>
                        <a:rPr sz="9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9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9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sz="9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half</a:t>
                      </a:r>
                      <a:r>
                        <a:rPr sz="9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M(X)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ts val="965"/>
                        </a:lnSpc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00001111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965"/>
                        </a:lnSpc>
                      </a:pPr>
                      <a:r>
                        <a:rPr sz="900" spc="75" dirty="0">
                          <a:latin typeface="Times New Roman"/>
                          <a:cs typeface="Times New Roman"/>
                        </a:rPr>
                        <a:t>JUMP+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M(X,0:19)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121920">
                        <a:lnSpc>
                          <a:spcPts val="955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accumulator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nonnegative,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8580" marR="121920">
                        <a:lnSpc>
                          <a:spcPts val="1070"/>
                        </a:lnSpc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take</a:t>
                      </a:r>
                      <a:r>
                        <a:rPr sz="9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next</a:t>
                      </a:r>
                      <a:r>
                        <a:rPr sz="9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9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9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left</a:t>
                      </a:r>
                      <a:r>
                        <a:rPr sz="9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half</a:t>
                      </a:r>
                      <a:r>
                        <a:rPr sz="9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M(X)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40335" algn="r">
                        <a:lnSpc>
                          <a:spcPts val="990"/>
                        </a:lnSpc>
                        <a:spcBef>
                          <a:spcPts val="15"/>
                        </a:spcBef>
                      </a:pPr>
                      <a:r>
                        <a:rPr sz="900" i="1" spc="45" dirty="0">
                          <a:latin typeface="Times New Roman"/>
                          <a:cs typeface="Times New Roman"/>
                        </a:rPr>
                        <a:t>JU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25830" marR="121920">
                        <a:lnSpc>
                          <a:spcPts val="990"/>
                        </a:lnSpc>
                        <a:spcBef>
                          <a:spcPts val="15"/>
                        </a:spcBef>
                      </a:pPr>
                      <a:r>
                        <a:rPr sz="900" i="1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900" i="1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i="1" spc="6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900" i="1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i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i="1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i="1" spc="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</a:tr>
              <a:tr h="9474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</a:pPr>
                      <a:r>
                        <a:rPr sz="900" spc="55" dirty="0">
                          <a:latin typeface="Times New Roman"/>
                          <a:cs typeface="Times New Roman"/>
                        </a:rPr>
                        <a:t>Conditional</a:t>
                      </a:r>
                      <a:r>
                        <a:rPr sz="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branch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72185">
                        <a:lnSpc>
                          <a:spcPts val="965"/>
                        </a:lnSpc>
                      </a:pPr>
                      <a:r>
                        <a:rPr sz="900" i="1" spc="65" dirty="0">
                          <a:latin typeface="Times New Roman"/>
                          <a:cs typeface="Times New Roman"/>
                        </a:rPr>
                        <a:t>MP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72185" marR="62230">
                        <a:lnSpc>
                          <a:spcPts val="1070"/>
                        </a:lnSpc>
                        <a:spcBef>
                          <a:spcPts val="35"/>
                        </a:spcBef>
                      </a:pPr>
                      <a:r>
                        <a:rPr sz="900" i="1" spc="25" dirty="0">
                          <a:latin typeface="Times New Roman"/>
                          <a:cs typeface="Times New Roman"/>
                        </a:rPr>
                        <a:t>+ </a:t>
                      </a:r>
                      <a:r>
                        <a:rPr sz="900" i="1" spc="45" dirty="0">
                          <a:latin typeface="Times New Roman"/>
                          <a:cs typeface="Times New Roman"/>
                        </a:rPr>
                        <a:t>M(X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72185">
                        <a:lnSpc>
                          <a:spcPts val="975"/>
                        </a:lnSpc>
                      </a:pPr>
                      <a:r>
                        <a:rPr sz="900" i="1" spc="-20" dirty="0">
                          <a:latin typeface="Times New Roman"/>
                          <a:cs typeface="Times New Roman"/>
                        </a:rPr>
                        <a:t>,20: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72185">
                        <a:lnSpc>
                          <a:spcPts val="1030"/>
                        </a:lnSpc>
                      </a:pPr>
                      <a:r>
                        <a:rPr sz="900" i="1" spc="30" dirty="0">
                          <a:latin typeface="Times New Roman"/>
                          <a:cs typeface="Times New Roman"/>
                        </a:rPr>
                        <a:t>39)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25830" marR="121920">
                        <a:lnSpc>
                          <a:spcPts val="965"/>
                        </a:lnSpc>
                      </a:pPr>
                      <a:r>
                        <a:rPr sz="900" i="1" spc="55" dirty="0">
                          <a:latin typeface="Times New Roman"/>
                          <a:cs typeface="Times New Roman"/>
                        </a:rPr>
                        <a:t>accumulator</a:t>
                      </a:r>
                      <a:r>
                        <a:rPr sz="900" i="1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i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900" i="1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i="1" spc="40" dirty="0">
                          <a:latin typeface="Times New Roman"/>
                          <a:cs typeface="Times New Roman"/>
                        </a:rPr>
                        <a:t>nonnegative,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25830" marR="366395">
                        <a:lnSpc>
                          <a:spcPts val="1070"/>
                        </a:lnSpc>
                        <a:spcBef>
                          <a:spcPts val="35"/>
                        </a:spcBef>
                      </a:pPr>
                      <a:r>
                        <a:rPr sz="900" i="1" spc="50" dirty="0">
                          <a:latin typeface="Times New Roman"/>
                          <a:cs typeface="Times New Roman"/>
                        </a:rPr>
                        <a:t>take</a:t>
                      </a:r>
                      <a:r>
                        <a:rPr sz="900" i="1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i="1" spc="50" dirty="0">
                          <a:latin typeface="Times New Roman"/>
                          <a:cs typeface="Times New Roman"/>
                        </a:rPr>
                        <a:t>next </a:t>
                      </a:r>
                      <a:r>
                        <a:rPr sz="900" i="1" spc="45" dirty="0">
                          <a:latin typeface="Times New Roman"/>
                          <a:cs typeface="Times New Roman"/>
                        </a:rPr>
                        <a:t>instruction </a:t>
                      </a:r>
                      <a:r>
                        <a:rPr sz="900" i="1" spc="35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900" i="1" dirty="0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sz="900" i="1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i="1" spc="50" dirty="0">
                          <a:latin typeface="Times New Roman"/>
                          <a:cs typeface="Times New Roman"/>
                        </a:rPr>
                        <a:t>half</a:t>
                      </a:r>
                      <a:r>
                        <a:rPr sz="900" i="1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i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i="1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i="1" spc="45" dirty="0">
                          <a:latin typeface="Times New Roman"/>
                          <a:cs typeface="Times New Roman"/>
                        </a:rPr>
                        <a:t>M(X)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ts val="1040"/>
                        </a:lnSpc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00000101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040"/>
                        </a:lnSpc>
                      </a:pPr>
                      <a:r>
                        <a:rPr sz="900" spc="90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M(X)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121920">
                        <a:lnSpc>
                          <a:spcPts val="1040"/>
                        </a:lnSpc>
                      </a:pPr>
                      <a:r>
                        <a:rPr sz="900" spc="70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70" dirty="0">
                          <a:latin typeface="Times New Roman"/>
                          <a:cs typeface="Times New Roman"/>
                        </a:rPr>
                        <a:t>M(X)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70" dirty="0">
                          <a:latin typeface="Times New Roman"/>
                          <a:cs typeface="Times New Roman"/>
                        </a:rPr>
                        <a:t>AC;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put</a:t>
                      </a:r>
                      <a:r>
                        <a:rPr sz="9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result</a:t>
                      </a:r>
                      <a:r>
                        <a:rPr sz="9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 AC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00000111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sz="900" spc="90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|M(X)|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121920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sz="900" spc="70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|M(X)|</a:t>
                      </a:r>
                      <a:r>
                        <a:rPr sz="9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70" dirty="0">
                          <a:latin typeface="Times New Roman"/>
                          <a:cs typeface="Times New Roman"/>
                        </a:rPr>
                        <a:t>AC;</a:t>
                      </a:r>
                      <a:r>
                        <a:rPr sz="9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put</a:t>
                      </a:r>
                      <a:r>
                        <a:rPr sz="9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result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 AC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ts val="1055"/>
                        </a:lnSpc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00000110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055"/>
                        </a:lnSpc>
                      </a:pPr>
                      <a:r>
                        <a:rPr sz="900" spc="80" dirty="0">
                          <a:latin typeface="Times New Roman"/>
                          <a:cs typeface="Times New Roman"/>
                        </a:rPr>
                        <a:t>SUB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M(X)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121920">
                        <a:lnSpc>
                          <a:spcPts val="1055"/>
                        </a:lnSpc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Subtract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M(X)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 from</a:t>
                      </a:r>
                      <a:r>
                        <a:rPr sz="9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70" dirty="0">
                          <a:latin typeface="Times New Roman"/>
                          <a:cs typeface="Times New Roman"/>
                        </a:rPr>
                        <a:t>AC;</a:t>
                      </a:r>
                      <a:r>
                        <a:rPr sz="9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put</a:t>
                      </a:r>
                      <a:r>
                        <a:rPr sz="9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result</a:t>
                      </a:r>
                      <a:r>
                        <a:rPr sz="9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AC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CC"/>
                    </a:solidFill>
                  </a:tcPr>
                </a:tc>
              </a:tr>
              <a:tr h="290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00001000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80" dirty="0">
                          <a:latin typeface="Times New Roman"/>
                          <a:cs typeface="Times New Roman"/>
                        </a:rPr>
                        <a:t>SUB</a:t>
                      </a:r>
                      <a:r>
                        <a:rPr sz="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|M(X)|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259079">
                        <a:lnSpc>
                          <a:spcPts val="1070"/>
                        </a:lnSpc>
                        <a:spcBef>
                          <a:spcPts val="50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Subtract</a:t>
                      </a:r>
                      <a:r>
                        <a:rPr sz="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|M(X)|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AC;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put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remainder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AC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solidFill>
                      <a:srgbClr val="CCFFCC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</a:pPr>
                      <a:r>
                        <a:rPr sz="900" spc="40" dirty="0">
                          <a:latin typeface="Times New Roman"/>
                          <a:cs typeface="Times New Roman"/>
                        </a:rPr>
                        <a:t>Arithmetic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00001011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95" dirty="0">
                          <a:latin typeface="Times New Roman"/>
                          <a:cs typeface="Times New Roman"/>
                        </a:rPr>
                        <a:t>MUL</a:t>
                      </a:r>
                      <a:r>
                        <a:rPr sz="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M(X)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255270" algn="just">
                        <a:lnSpc>
                          <a:spcPct val="94600"/>
                        </a:lnSpc>
                        <a:spcBef>
                          <a:spcPts val="75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Multiply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M(X)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80" dirty="0">
                          <a:latin typeface="Times New Roman"/>
                          <a:cs typeface="Times New Roman"/>
                        </a:rPr>
                        <a:t>MQ;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put 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significant 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bits</a:t>
                      </a:r>
                      <a:r>
                        <a:rPr sz="9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result</a:t>
                      </a:r>
                      <a:r>
                        <a:rPr sz="9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70" dirty="0">
                          <a:latin typeface="Times New Roman"/>
                          <a:cs typeface="Times New Roman"/>
                        </a:rPr>
                        <a:t>AC,</a:t>
                      </a:r>
                      <a:r>
                        <a:rPr sz="9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put</a:t>
                      </a:r>
                      <a:r>
                        <a:rPr sz="900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least</a:t>
                      </a:r>
                      <a:r>
                        <a:rPr sz="9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significant</a:t>
                      </a:r>
                      <a:r>
                        <a:rPr sz="9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bits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80" dirty="0">
                          <a:latin typeface="Times New Roman"/>
                          <a:cs typeface="Times New Roman"/>
                        </a:rPr>
                        <a:t>MQ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solidFill>
                      <a:srgbClr val="CCFFCC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00001100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70" dirty="0">
                          <a:latin typeface="Times New Roman"/>
                          <a:cs typeface="Times New Roman"/>
                        </a:rPr>
                        <a:t>DIV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M(X)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238760">
                        <a:lnSpc>
                          <a:spcPts val="980"/>
                        </a:lnSpc>
                        <a:spcBef>
                          <a:spcPts val="130"/>
                        </a:spcBef>
                      </a:pPr>
                      <a:r>
                        <a:rPr sz="900" spc="55" dirty="0">
                          <a:latin typeface="Times New Roman"/>
                          <a:cs typeface="Times New Roman"/>
                        </a:rPr>
                        <a:t>Divide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85" dirty="0">
                          <a:latin typeface="Times New Roman"/>
                          <a:cs typeface="Times New Roman"/>
                        </a:rPr>
                        <a:t>AC</a:t>
                      </a:r>
                      <a:r>
                        <a:rPr sz="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M(X);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put</a:t>
                      </a:r>
                      <a:r>
                        <a:rPr sz="9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quotient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75" dirty="0">
                          <a:latin typeface="Times New Roman"/>
                          <a:cs typeface="Times New Roman"/>
                        </a:rPr>
                        <a:t>MQ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remainder</a:t>
                      </a:r>
                      <a:r>
                        <a:rPr sz="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AC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solidFill>
                      <a:srgbClr val="CCFFCC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00010100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45" dirty="0">
                          <a:latin typeface="Times New Roman"/>
                          <a:cs typeface="Times New Roman"/>
                        </a:rPr>
                        <a:t>LSH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216535">
                        <a:lnSpc>
                          <a:spcPts val="1060"/>
                        </a:lnSpc>
                        <a:spcBef>
                          <a:spcPts val="25"/>
                        </a:spcBef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Multiply</a:t>
                      </a:r>
                      <a:r>
                        <a:rPr sz="9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accumulator</a:t>
                      </a:r>
                      <a:r>
                        <a:rPr sz="9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9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2;</a:t>
                      </a:r>
                      <a:r>
                        <a:rPr sz="9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i.e.,</a:t>
                      </a:r>
                      <a:r>
                        <a:rPr sz="9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shift</a:t>
                      </a:r>
                      <a:r>
                        <a:rPr sz="9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left</a:t>
                      </a:r>
                      <a:r>
                        <a:rPr sz="9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one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bit</a:t>
                      </a:r>
                      <a:r>
                        <a:rPr sz="9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position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solidFill>
                      <a:srgbClr val="CCFFCC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5570" algn="r">
                        <a:lnSpc>
                          <a:spcPts val="1055"/>
                        </a:lnSpc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00010101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055"/>
                        </a:lnSpc>
                      </a:pPr>
                      <a:r>
                        <a:rPr sz="900" spc="55" dirty="0">
                          <a:latin typeface="Times New Roman"/>
                          <a:cs typeface="Times New Roman"/>
                        </a:rPr>
                        <a:t>RSH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246379">
                        <a:lnSpc>
                          <a:spcPts val="1060"/>
                        </a:lnSpc>
                        <a:spcBef>
                          <a:spcPts val="25"/>
                        </a:spcBef>
                      </a:pPr>
                      <a:r>
                        <a:rPr sz="900" spc="55" dirty="0">
                          <a:latin typeface="Times New Roman"/>
                          <a:cs typeface="Times New Roman"/>
                        </a:rPr>
                        <a:t>Divide</a:t>
                      </a:r>
                      <a:r>
                        <a:rPr sz="900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5" dirty="0">
                          <a:latin typeface="Times New Roman"/>
                          <a:cs typeface="Times New Roman"/>
                        </a:rPr>
                        <a:t>accumulator</a:t>
                      </a:r>
                      <a:r>
                        <a:rPr sz="9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900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2;</a:t>
                      </a:r>
                      <a:r>
                        <a:rPr sz="900" spc="1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i.e.,</a:t>
                      </a:r>
                      <a:r>
                        <a:rPr sz="9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shift</a:t>
                      </a:r>
                      <a:r>
                        <a:rPr sz="9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sz="900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one </a:t>
                      </a:r>
                      <a:r>
                        <a:rPr sz="900" spc="40" dirty="0">
                          <a:latin typeface="Times New Roman"/>
                          <a:cs typeface="Times New Roman"/>
                        </a:rPr>
                        <a:t>position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ts val="950"/>
                        </a:lnSpc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00010010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950"/>
                        </a:lnSpc>
                      </a:pPr>
                      <a:r>
                        <a:rPr sz="900" spc="80" dirty="0">
                          <a:latin typeface="Times New Roman"/>
                          <a:cs typeface="Times New Roman"/>
                        </a:rPr>
                        <a:t>STOR</a:t>
                      </a:r>
                      <a:r>
                        <a:rPr sz="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M(X,8:19)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121920">
                        <a:lnSpc>
                          <a:spcPts val="950"/>
                        </a:lnSpc>
                      </a:pPr>
                      <a:r>
                        <a:rPr sz="900" spc="55" dirty="0">
                          <a:latin typeface="Times New Roman"/>
                          <a:cs typeface="Times New Roman"/>
                        </a:rPr>
                        <a:t>Replace</a:t>
                      </a:r>
                      <a:r>
                        <a:rPr sz="9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left</a:t>
                      </a:r>
                      <a:r>
                        <a:rPr sz="9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address</a:t>
                      </a:r>
                      <a:r>
                        <a:rPr sz="9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field</a:t>
                      </a:r>
                      <a:r>
                        <a:rPr sz="9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9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70" dirty="0">
                          <a:latin typeface="Times New Roman"/>
                          <a:cs typeface="Times New Roman"/>
                        </a:rPr>
                        <a:t>M(X)</a:t>
                      </a:r>
                      <a:r>
                        <a:rPr sz="9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9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35" dirty="0">
                          <a:latin typeface="Times New Roman"/>
                          <a:cs typeface="Times New Roman"/>
                        </a:rPr>
                        <a:t>12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55" dirty="0">
                          <a:latin typeface="Times New Roman"/>
                          <a:cs typeface="Times New Roman"/>
                        </a:rPr>
                        <a:t>Address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 modify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16205" algn="r">
                        <a:lnSpc>
                          <a:spcPts val="1030"/>
                        </a:lnSpc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00010011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15570">
                        <a:lnSpc>
                          <a:spcPts val="1030"/>
                        </a:lnSpc>
                      </a:pPr>
                      <a:r>
                        <a:rPr sz="900" spc="80" dirty="0">
                          <a:latin typeface="Times New Roman"/>
                          <a:cs typeface="Times New Roman"/>
                        </a:rPr>
                        <a:t>STOR</a:t>
                      </a:r>
                      <a:r>
                        <a:rPr sz="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M(X,28:39)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121920">
                        <a:lnSpc>
                          <a:spcPts val="944"/>
                        </a:lnSpc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rightmost</a:t>
                      </a:r>
                      <a:r>
                        <a:rPr sz="9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bits</a:t>
                      </a:r>
                      <a:r>
                        <a:rPr sz="9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AC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200"/>
                        </a:lnSpc>
                      </a:pPr>
                      <a:r>
                        <a:rPr sz="900" spc="55" dirty="0">
                          <a:latin typeface="Times New Roman"/>
                          <a:cs typeface="Times New Roman"/>
                        </a:rPr>
                        <a:t>Replace</a:t>
                      </a:r>
                      <a:r>
                        <a:rPr sz="9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sz="9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address</a:t>
                      </a:r>
                      <a:r>
                        <a:rPr sz="9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field</a:t>
                      </a:r>
                      <a:r>
                        <a:rPr sz="9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9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70" dirty="0">
                          <a:latin typeface="Times New Roman"/>
                          <a:cs typeface="Times New Roman"/>
                        </a:rPr>
                        <a:t>M(X)</a:t>
                      </a:r>
                      <a:r>
                        <a:rPr sz="9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9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0" dirty="0">
                          <a:latin typeface="Times New Roman"/>
                          <a:cs typeface="Times New Roman"/>
                        </a:rPr>
                        <a:t>12</a:t>
                      </a:r>
                      <a:r>
                        <a:rPr sz="900" spc="2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650" spc="-30" baseline="-37878" dirty="0">
                          <a:latin typeface="Cambria"/>
                          <a:cs typeface="Cambria"/>
                        </a:rPr>
                        <a:t>(Tab</a:t>
                      </a:r>
                      <a:endParaRPr sz="1650" baseline="-37878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solidFill>
                      <a:srgbClr val="CCFFCC"/>
                    </a:solidFill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121920">
                        <a:lnSpc>
                          <a:spcPts val="1015"/>
                        </a:lnSpc>
                      </a:pPr>
                      <a:r>
                        <a:rPr sz="900" spc="50" dirty="0">
                          <a:latin typeface="Times New Roman"/>
                          <a:cs typeface="Times New Roman"/>
                        </a:rPr>
                        <a:t>rightmost</a:t>
                      </a:r>
                      <a:r>
                        <a:rPr sz="9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bits</a:t>
                      </a:r>
                      <a:r>
                        <a:rPr sz="9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65" dirty="0">
                          <a:latin typeface="Times New Roman"/>
                          <a:cs typeface="Times New Roman"/>
                        </a:rPr>
                        <a:t>AC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120390" y="6123228"/>
            <a:ext cx="28511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55" dirty="0">
                <a:latin typeface="Cambria"/>
                <a:cs typeface="Cambria"/>
              </a:rPr>
              <a:t>le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can</a:t>
            </a:r>
            <a:r>
              <a:rPr sz="1100" spc="70" dirty="0">
                <a:latin typeface="Cambria"/>
                <a:cs typeface="Cambria"/>
              </a:rPr>
              <a:t> </a:t>
            </a:r>
            <a:r>
              <a:rPr sz="1100" spc="90" dirty="0">
                <a:latin typeface="Cambria"/>
                <a:cs typeface="Cambria"/>
              </a:rPr>
              <a:t>be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found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on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spc="90" dirty="0">
                <a:latin typeface="Cambria"/>
                <a:cs typeface="Cambria"/>
              </a:rPr>
              <a:t>page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17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in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textbook.)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6009" y="3009087"/>
            <a:ext cx="2355215" cy="2733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95300">
              <a:lnSpc>
                <a:spcPct val="100000"/>
              </a:lnSpc>
              <a:spcBef>
                <a:spcPts val="95"/>
              </a:spcBef>
            </a:pPr>
            <a:r>
              <a:rPr sz="2800" spc="85" dirty="0">
                <a:latin typeface="Cambria"/>
                <a:cs typeface="Cambria"/>
              </a:rPr>
              <a:t>The</a:t>
            </a:r>
            <a:r>
              <a:rPr sz="2800" spc="60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IAS </a:t>
            </a:r>
            <a:r>
              <a:rPr sz="2800" dirty="0">
                <a:latin typeface="Cambria"/>
                <a:cs typeface="Cambria"/>
              </a:rPr>
              <a:t>Instruction</a:t>
            </a:r>
            <a:r>
              <a:rPr sz="2800" spc="375" dirty="0">
                <a:latin typeface="Cambria"/>
                <a:cs typeface="Cambria"/>
              </a:rPr>
              <a:t> </a:t>
            </a:r>
            <a:r>
              <a:rPr sz="2800" spc="45" dirty="0">
                <a:latin typeface="Cambria"/>
                <a:cs typeface="Cambria"/>
              </a:rPr>
              <a:t>Set</a:t>
            </a:r>
            <a:endParaRPr sz="2800">
              <a:latin typeface="Cambria"/>
              <a:cs typeface="Cambria"/>
            </a:endParaRPr>
          </a:p>
          <a:p>
            <a:pPr marL="396875" marR="70485">
              <a:lnSpc>
                <a:spcPct val="100000"/>
              </a:lnSpc>
              <a:spcBef>
                <a:spcPts val="3085"/>
              </a:spcBef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25" dirty="0">
                <a:latin typeface="Times New Roman"/>
                <a:cs typeface="Times New Roman"/>
              </a:rPr>
              <a:t>IAS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total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21 </a:t>
            </a:r>
            <a:r>
              <a:rPr sz="2400" spc="-10" dirty="0">
                <a:latin typeface="Times New Roman"/>
                <a:cs typeface="Times New Roman"/>
              </a:rPr>
              <a:t>instructions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06324" y="281940"/>
            <a:ext cx="7853680" cy="1694180"/>
            <a:chOff x="306324" y="281940"/>
            <a:chExt cx="7853680" cy="1694180"/>
          </a:xfrm>
        </p:grpSpPr>
        <p:sp>
          <p:nvSpPr>
            <p:cNvPr id="4" name="object 4"/>
            <p:cNvSpPr/>
            <p:nvPr/>
          </p:nvSpPr>
          <p:spPr>
            <a:xfrm>
              <a:off x="8068055" y="281940"/>
              <a:ext cx="91440" cy="1600200"/>
            </a:xfrm>
            <a:custGeom>
              <a:avLst/>
              <a:gdLst/>
              <a:ahLst/>
              <a:cxnLst/>
              <a:rect l="l" t="t" r="r" b="b"/>
              <a:pathLst>
                <a:path w="91440" h="1600200">
                  <a:moveTo>
                    <a:pt x="91440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91440" y="1600199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324" y="382524"/>
              <a:ext cx="5093970" cy="10096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575" y="966216"/>
              <a:ext cx="7239761" cy="100965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12140" y="2081911"/>
            <a:ext cx="6352540" cy="343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Smaller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135" dirty="0">
                <a:solidFill>
                  <a:srgbClr val="585858"/>
                </a:solidFill>
                <a:latin typeface="Cambria"/>
                <a:cs typeface="Cambria"/>
              </a:rPr>
              <a:t>Cheaper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99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Dissipates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less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heat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than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585858"/>
                </a:solidFill>
                <a:latin typeface="Cambria"/>
                <a:cs typeface="Cambria"/>
              </a:rPr>
              <a:t>vacuum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585858"/>
                </a:solidFill>
                <a:latin typeface="Cambria"/>
                <a:cs typeface="Cambria"/>
              </a:rPr>
              <a:t>tube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i="1" spc="75" dirty="0">
                <a:solidFill>
                  <a:srgbClr val="585858"/>
                </a:solidFill>
                <a:latin typeface="Cambria"/>
                <a:cs typeface="Cambria"/>
              </a:rPr>
              <a:t>solid</a:t>
            </a:r>
            <a:r>
              <a:rPr sz="2000" i="1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585858"/>
                </a:solidFill>
                <a:latin typeface="Cambria"/>
                <a:cs typeface="Cambria"/>
              </a:rPr>
              <a:t>state</a:t>
            </a:r>
            <a:r>
              <a:rPr sz="2000" i="1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i="1" spc="105" dirty="0">
                <a:solidFill>
                  <a:srgbClr val="585858"/>
                </a:solidFill>
                <a:latin typeface="Cambria"/>
                <a:cs typeface="Cambria"/>
              </a:rPr>
              <a:t>device</a:t>
            </a:r>
            <a:r>
              <a:rPr sz="2000" i="1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made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from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585858"/>
                </a:solidFill>
                <a:latin typeface="Cambria"/>
                <a:cs typeface="Cambria"/>
              </a:rPr>
              <a:t>silicon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Was</a:t>
            </a:r>
            <a:r>
              <a:rPr sz="20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invented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at</a:t>
            </a:r>
            <a:r>
              <a:rPr sz="20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Bell</a:t>
            </a:r>
            <a:r>
              <a:rPr sz="20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Labs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20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1947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99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It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was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not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until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late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1950’s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fully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transistorized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computers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were</a:t>
            </a:r>
            <a:r>
              <a:rPr sz="20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commercially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available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85013" y="468449"/>
            <a:ext cx="7578725" cy="11906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44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60" dirty="0"/>
              <a:t>History</a:t>
            </a:r>
            <a:r>
              <a:rPr sz="3600" spc="135" dirty="0"/>
              <a:t> </a:t>
            </a:r>
            <a:r>
              <a:rPr sz="3600" dirty="0"/>
              <a:t>of</a:t>
            </a:r>
            <a:r>
              <a:rPr sz="3600" spc="145" dirty="0"/>
              <a:t> </a:t>
            </a:r>
            <a:r>
              <a:rPr sz="3600" spc="155" dirty="0"/>
              <a:t>Computers</a:t>
            </a:r>
            <a:endParaRPr sz="3600">
              <a:latin typeface="Times New Roman"/>
              <a:cs typeface="Times New Roman"/>
            </a:endParaRPr>
          </a:p>
          <a:p>
            <a:pPr marL="897255">
              <a:lnSpc>
                <a:spcPct val="100000"/>
              </a:lnSpc>
              <a:spcBef>
                <a:spcPts val="265"/>
              </a:spcBef>
            </a:pPr>
            <a:r>
              <a:rPr spc="180" dirty="0"/>
              <a:t>Second</a:t>
            </a:r>
            <a:r>
              <a:rPr spc="130" dirty="0"/>
              <a:t> </a:t>
            </a:r>
            <a:r>
              <a:rPr spc="145" dirty="0"/>
              <a:t>Generation:</a:t>
            </a:r>
            <a:r>
              <a:rPr spc="580" dirty="0"/>
              <a:t> </a:t>
            </a:r>
            <a:r>
              <a:rPr spc="-10" dirty="0"/>
              <a:t>Transistors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89676" y="2132076"/>
            <a:ext cx="3056381" cy="227761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97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-10" dirty="0"/>
              <a:t>Transistor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276" y="1493519"/>
            <a:ext cx="7056120" cy="48798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0413" y="200914"/>
            <a:ext cx="286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519683"/>
            <a:ext cx="7099554" cy="100965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90473" y="638378"/>
            <a:ext cx="65265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Second</a:t>
            </a:r>
            <a:r>
              <a:rPr spc="120" dirty="0"/>
              <a:t> </a:t>
            </a:r>
            <a:r>
              <a:rPr spc="150" dirty="0"/>
              <a:t>Generation</a:t>
            </a:r>
            <a:r>
              <a:rPr spc="100" dirty="0"/>
              <a:t> </a:t>
            </a:r>
            <a:r>
              <a:rPr spc="155" dirty="0"/>
              <a:t>Computers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6303" y="1850315"/>
            <a:ext cx="7100570" cy="383540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800" spc="55" dirty="0">
                <a:solidFill>
                  <a:srgbClr val="585858"/>
                </a:solidFill>
                <a:latin typeface="Cambria"/>
                <a:cs typeface="Cambria"/>
              </a:rPr>
              <a:t>Introduced:</a:t>
            </a:r>
            <a:endParaRPr sz="2800">
              <a:latin typeface="Cambria"/>
              <a:cs typeface="Cambria"/>
            </a:endParaRPr>
          </a:p>
          <a:p>
            <a:pPr marL="469900" marR="365125" lvl="1" indent="-228600">
              <a:lnSpc>
                <a:spcPct val="100000"/>
              </a:lnSpc>
              <a:spcBef>
                <a:spcPts val="60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400" spc="75" dirty="0">
                <a:solidFill>
                  <a:srgbClr val="585858"/>
                </a:solidFill>
                <a:latin typeface="Cambria"/>
                <a:cs typeface="Cambria"/>
              </a:rPr>
              <a:t>More</a:t>
            </a:r>
            <a:r>
              <a:rPr sz="24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585858"/>
                </a:solidFill>
                <a:latin typeface="Cambria"/>
                <a:cs typeface="Cambria"/>
              </a:rPr>
              <a:t>complex</a:t>
            </a:r>
            <a:r>
              <a:rPr sz="24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585858"/>
                </a:solidFill>
                <a:latin typeface="Cambria"/>
                <a:cs typeface="Cambria"/>
              </a:rPr>
              <a:t>arithmetic</a:t>
            </a:r>
            <a:r>
              <a:rPr sz="24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585858"/>
                </a:solidFill>
                <a:latin typeface="Cambria"/>
                <a:cs typeface="Cambria"/>
              </a:rPr>
              <a:t>and </a:t>
            </a:r>
            <a:r>
              <a:rPr sz="2400" spc="130" dirty="0">
                <a:solidFill>
                  <a:srgbClr val="585858"/>
                </a:solidFill>
                <a:latin typeface="Cambria"/>
                <a:cs typeface="Cambria"/>
              </a:rPr>
              <a:t>logic</a:t>
            </a:r>
            <a:r>
              <a:rPr sz="24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585858"/>
                </a:solidFill>
                <a:latin typeface="Cambria"/>
                <a:cs typeface="Cambria"/>
              </a:rPr>
              <a:t>units</a:t>
            </a:r>
            <a:r>
              <a:rPr sz="24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585858"/>
                </a:solidFill>
                <a:latin typeface="Cambria"/>
                <a:cs typeface="Cambria"/>
              </a:rPr>
              <a:t>and </a:t>
            </a:r>
            <a:r>
              <a:rPr sz="2400" dirty="0">
                <a:solidFill>
                  <a:srgbClr val="585858"/>
                </a:solidFill>
                <a:latin typeface="Cambria"/>
                <a:cs typeface="Cambria"/>
              </a:rPr>
              <a:t>control</a:t>
            </a:r>
            <a:r>
              <a:rPr sz="2400" spc="3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585858"/>
                </a:solidFill>
                <a:latin typeface="Cambria"/>
                <a:cs typeface="Cambria"/>
              </a:rPr>
              <a:t>units</a:t>
            </a:r>
            <a:endParaRPr sz="24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2400" spc="7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400" spc="80" dirty="0">
                <a:solidFill>
                  <a:srgbClr val="585858"/>
                </a:solidFill>
                <a:latin typeface="Cambria"/>
                <a:cs typeface="Cambria"/>
              </a:rPr>
              <a:t> use</a:t>
            </a:r>
            <a:r>
              <a:rPr sz="24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24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585858"/>
                </a:solidFill>
                <a:latin typeface="Cambria"/>
                <a:cs typeface="Cambria"/>
              </a:rPr>
              <a:t>high-</a:t>
            </a:r>
            <a:r>
              <a:rPr sz="2400" spc="80" dirty="0">
                <a:solidFill>
                  <a:srgbClr val="585858"/>
                </a:solidFill>
                <a:latin typeface="Cambria"/>
                <a:cs typeface="Cambria"/>
              </a:rPr>
              <a:t>level</a:t>
            </a:r>
            <a:r>
              <a:rPr sz="24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585858"/>
                </a:solidFill>
                <a:latin typeface="Cambria"/>
                <a:cs typeface="Cambria"/>
              </a:rPr>
              <a:t>programming</a:t>
            </a:r>
            <a:r>
              <a:rPr sz="24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585858"/>
                </a:solidFill>
                <a:latin typeface="Cambria"/>
                <a:cs typeface="Cambria"/>
              </a:rPr>
              <a:t>languages</a:t>
            </a:r>
            <a:endParaRPr sz="2400">
              <a:latin typeface="Cambria"/>
              <a:cs typeface="Cambria"/>
            </a:endParaRPr>
          </a:p>
          <a:p>
            <a:pPr marL="469900" marR="5080" lvl="1" indent="-228600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400" dirty="0">
                <a:solidFill>
                  <a:srgbClr val="585858"/>
                </a:solidFill>
                <a:latin typeface="Cambria"/>
                <a:cs typeface="Cambria"/>
              </a:rPr>
              <a:t>Provision</a:t>
            </a:r>
            <a:r>
              <a:rPr sz="2400" spc="1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2400" spc="1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i="1" spc="80" dirty="0">
                <a:solidFill>
                  <a:srgbClr val="585858"/>
                </a:solidFill>
                <a:latin typeface="Cambria"/>
                <a:cs typeface="Cambria"/>
              </a:rPr>
              <a:t>system</a:t>
            </a:r>
            <a:r>
              <a:rPr sz="2400" i="1" spc="2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585858"/>
                </a:solidFill>
                <a:latin typeface="Cambria"/>
                <a:cs typeface="Cambria"/>
              </a:rPr>
              <a:t>software</a:t>
            </a:r>
            <a:r>
              <a:rPr sz="2400" i="1" spc="1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585858"/>
                </a:solidFill>
                <a:latin typeface="Cambria"/>
                <a:cs typeface="Cambria"/>
              </a:rPr>
              <a:t>which</a:t>
            </a:r>
            <a:r>
              <a:rPr sz="2400" spc="1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585858"/>
                </a:solidFill>
                <a:latin typeface="Cambria"/>
                <a:cs typeface="Cambria"/>
              </a:rPr>
              <a:t>provided</a:t>
            </a:r>
            <a:r>
              <a:rPr sz="2400" spc="1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solidFill>
                  <a:srgbClr val="585858"/>
                </a:solidFill>
                <a:latin typeface="Cambria"/>
                <a:cs typeface="Cambria"/>
              </a:rPr>
              <a:t>the </a:t>
            </a:r>
            <a:r>
              <a:rPr sz="2400" spc="65" dirty="0">
                <a:solidFill>
                  <a:srgbClr val="585858"/>
                </a:solidFill>
                <a:latin typeface="Cambria"/>
                <a:cs typeface="Cambria"/>
              </a:rPr>
              <a:t>ability</a:t>
            </a:r>
            <a:r>
              <a:rPr sz="24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solidFill>
                  <a:srgbClr val="585858"/>
                </a:solidFill>
                <a:latin typeface="Cambria"/>
                <a:cs typeface="Cambria"/>
              </a:rPr>
              <a:t>to:</a:t>
            </a:r>
            <a:endParaRPr sz="2400">
              <a:latin typeface="Cambria"/>
              <a:cs typeface="Cambria"/>
            </a:endParaRPr>
          </a:p>
          <a:p>
            <a:pPr marL="697865" lvl="2" indent="-227965">
              <a:lnSpc>
                <a:spcPct val="100000"/>
              </a:lnSpc>
              <a:spcBef>
                <a:spcPts val="61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2200" spc="65" dirty="0">
                <a:solidFill>
                  <a:srgbClr val="585858"/>
                </a:solidFill>
                <a:latin typeface="Cambria"/>
                <a:cs typeface="Cambria"/>
              </a:rPr>
              <a:t>Load</a:t>
            </a:r>
            <a:r>
              <a:rPr sz="22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585858"/>
                </a:solidFill>
                <a:latin typeface="Cambria"/>
                <a:cs typeface="Cambria"/>
              </a:rPr>
              <a:t>programs</a:t>
            </a:r>
            <a:endParaRPr sz="2200">
              <a:latin typeface="Cambria"/>
              <a:cs typeface="Cambria"/>
            </a:endParaRPr>
          </a:p>
          <a:p>
            <a:pPr marL="697865" lvl="2" indent="-227965">
              <a:lnSpc>
                <a:spcPct val="100000"/>
              </a:lnSpc>
              <a:spcBef>
                <a:spcPts val="6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2200" spc="75" dirty="0">
                <a:solidFill>
                  <a:srgbClr val="585858"/>
                </a:solidFill>
                <a:latin typeface="Cambria"/>
                <a:cs typeface="Cambria"/>
              </a:rPr>
              <a:t>Move</a:t>
            </a:r>
            <a:r>
              <a:rPr sz="22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585858"/>
                </a:solidFill>
                <a:latin typeface="Cambria"/>
                <a:cs typeface="Cambria"/>
              </a:rPr>
              <a:t>data</a:t>
            </a:r>
            <a:r>
              <a:rPr sz="22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22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200" spc="65" dirty="0">
                <a:solidFill>
                  <a:srgbClr val="585858"/>
                </a:solidFill>
                <a:latin typeface="Cambria"/>
                <a:cs typeface="Cambria"/>
              </a:rPr>
              <a:t>peripherals</a:t>
            </a:r>
            <a:endParaRPr sz="2200">
              <a:latin typeface="Cambria"/>
              <a:cs typeface="Cambria"/>
            </a:endParaRPr>
          </a:p>
          <a:p>
            <a:pPr marL="698500" lvl="2" indent="-228600">
              <a:lnSpc>
                <a:spcPct val="100000"/>
              </a:lnSpc>
              <a:spcBef>
                <a:spcPts val="6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2200" spc="50" dirty="0">
                <a:solidFill>
                  <a:srgbClr val="585858"/>
                </a:solidFill>
                <a:latin typeface="Cambria"/>
                <a:cs typeface="Cambria"/>
              </a:rPr>
              <a:t>Libraries</a:t>
            </a:r>
            <a:r>
              <a:rPr sz="22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200" spc="65" dirty="0">
                <a:solidFill>
                  <a:srgbClr val="585858"/>
                </a:solidFill>
                <a:latin typeface="Cambria"/>
                <a:cs typeface="Cambria"/>
              </a:rPr>
              <a:t>perform</a:t>
            </a:r>
            <a:r>
              <a:rPr sz="22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585858"/>
                </a:solidFill>
                <a:latin typeface="Cambria"/>
                <a:cs typeface="Cambria"/>
              </a:rPr>
              <a:t>common</a:t>
            </a:r>
            <a:r>
              <a:rPr sz="22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ambria"/>
                <a:cs typeface="Cambria"/>
              </a:rPr>
              <a:t>computations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21298" y="5087253"/>
            <a:ext cx="1606993" cy="172280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856111" y="409487"/>
            <a:ext cx="3083560" cy="5049520"/>
            <a:chOff x="1856111" y="409487"/>
            <a:chExt cx="3083560" cy="5049520"/>
          </a:xfrm>
        </p:grpSpPr>
        <p:sp>
          <p:nvSpPr>
            <p:cNvPr id="4" name="object 4"/>
            <p:cNvSpPr/>
            <p:nvPr/>
          </p:nvSpPr>
          <p:spPr>
            <a:xfrm>
              <a:off x="1875010" y="428386"/>
              <a:ext cx="3046095" cy="5012055"/>
            </a:xfrm>
            <a:custGeom>
              <a:avLst/>
              <a:gdLst/>
              <a:ahLst/>
              <a:cxnLst/>
              <a:rect l="l" t="t" r="r" b="b"/>
              <a:pathLst>
                <a:path w="3046095" h="5012055">
                  <a:moveTo>
                    <a:pt x="3045558" y="0"/>
                  </a:moveTo>
                  <a:lnTo>
                    <a:pt x="0" y="0"/>
                  </a:lnTo>
                  <a:lnTo>
                    <a:pt x="0" y="5011567"/>
                  </a:lnTo>
                  <a:lnTo>
                    <a:pt x="3045558" y="5011567"/>
                  </a:lnTo>
                  <a:lnTo>
                    <a:pt x="3045558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95277" y="5415277"/>
              <a:ext cx="25400" cy="24765"/>
            </a:xfrm>
            <a:custGeom>
              <a:avLst/>
              <a:gdLst/>
              <a:ahLst/>
              <a:cxnLst/>
              <a:rect l="l" t="t" r="r" b="b"/>
              <a:pathLst>
                <a:path w="25400" h="24764">
                  <a:moveTo>
                    <a:pt x="25291" y="0"/>
                  </a:moveTo>
                  <a:lnTo>
                    <a:pt x="25291" y="24676"/>
                  </a:lnTo>
                  <a:lnTo>
                    <a:pt x="0" y="24676"/>
                  </a:lnTo>
                </a:path>
              </a:pathLst>
            </a:custGeom>
            <a:ln w="377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76164" y="5439953"/>
              <a:ext cx="2842895" cy="0"/>
            </a:xfrm>
            <a:custGeom>
              <a:avLst/>
              <a:gdLst/>
              <a:ahLst/>
              <a:cxnLst/>
              <a:rect l="l" t="t" r="r" b="b"/>
              <a:pathLst>
                <a:path w="2842895">
                  <a:moveTo>
                    <a:pt x="0" y="0"/>
                  </a:moveTo>
                  <a:lnTo>
                    <a:pt x="2842608" y="0"/>
                  </a:lnTo>
                </a:path>
              </a:pathLst>
            </a:custGeom>
            <a:ln w="3779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75010" y="5415277"/>
              <a:ext cx="26034" cy="24765"/>
            </a:xfrm>
            <a:custGeom>
              <a:avLst/>
              <a:gdLst/>
              <a:ahLst/>
              <a:cxnLst/>
              <a:rect l="l" t="t" r="r" b="b"/>
              <a:pathLst>
                <a:path w="26035" h="24764">
                  <a:moveTo>
                    <a:pt x="25618" y="24676"/>
                  </a:moveTo>
                  <a:lnTo>
                    <a:pt x="0" y="24676"/>
                  </a:lnTo>
                  <a:lnTo>
                    <a:pt x="0" y="0"/>
                  </a:lnTo>
                </a:path>
              </a:pathLst>
            </a:custGeom>
            <a:ln w="377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75010" y="528426"/>
              <a:ext cx="0" cy="4811395"/>
            </a:xfrm>
            <a:custGeom>
              <a:avLst/>
              <a:gdLst/>
              <a:ahLst/>
              <a:cxnLst/>
              <a:rect l="l" t="t" r="r" b="b"/>
              <a:pathLst>
                <a:path h="4811395">
                  <a:moveTo>
                    <a:pt x="0" y="0"/>
                  </a:moveTo>
                  <a:lnTo>
                    <a:pt x="0" y="4811211"/>
                  </a:lnTo>
                </a:path>
              </a:pathLst>
            </a:custGeom>
            <a:ln w="377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75010" y="428386"/>
              <a:ext cx="26034" cy="25400"/>
            </a:xfrm>
            <a:custGeom>
              <a:avLst/>
              <a:gdLst/>
              <a:ahLst/>
              <a:cxnLst/>
              <a:rect l="l" t="t" r="r" b="b"/>
              <a:pathLst>
                <a:path w="26035" h="25400">
                  <a:moveTo>
                    <a:pt x="0" y="25293"/>
                  </a:moveTo>
                  <a:lnTo>
                    <a:pt x="0" y="0"/>
                  </a:lnTo>
                  <a:lnTo>
                    <a:pt x="25618" y="0"/>
                  </a:lnTo>
                </a:path>
              </a:pathLst>
            </a:custGeom>
            <a:ln w="377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76164" y="428386"/>
              <a:ext cx="2843530" cy="0"/>
            </a:xfrm>
            <a:custGeom>
              <a:avLst/>
              <a:gdLst/>
              <a:ahLst/>
              <a:cxnLst/>
              <a:rect l="l" t="t" r="r" b="b"/>
              <a:pathLst>
                <a:path w="2843529">
                  <a:moveTo>
                    <a:pt x="0" y="0"/>
                  </a:moveTo>
                  <a:lnTo>
                    <a:pt x="2843489" y="0"/>
                  </a:lnTo>
                </a:path>
              </a:pathLst>
            </a:custGeom>
            <a:ln w="3779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95277" y="42838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0" y="0"/>
                  </a:moveTo>
                  <a:lnTo>
                    <a:pt x="25291" y="0"/>
                  </a:lnTo>
                  <a:lnTo>
                    <a:pt x="25291" y="25293"/>
                  </a:lnTo>
                </a:path>
              </a:pathLst>
            </a:custGeom>
            <a:ln w="377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20569" y="528426"/>
              <a:ext cx="0" cy="4811395"/>
            </a:xfrm>
            <a:custGeom>
              <a:avLst/>
              <a:gdLst/>
              <a:ahLst/>
              <a:cxnLst/>
              <a:rect l="l" t="t" r="r" b="b"/>
              <a:pathLst>
                <a:path h="4811395">
                  <a:moveTo>
                    <a:pt x="0" y="0"/>
                  </a:moveTo>
                  <a:lnTo>
                    <a:pt x="0" y="4811211"/>
                  </a:lnTo>
                </a:path>
              </a:pathLst>
            </a:custGeom>
            <a:ln w="377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160626" y="409487"/>
            <a:ext cx="1933575" cy="5049520"/>
            <a:chOff x="5160626" y="409487"/>
            <a:chExt cx="1933575" cy="5049520"/>
          </a:xfrm>
        </p:grpSpPr>
        <p:sp>
          <p:nvSpPr>
            <p:cNvPr id="14" name="object 14"/>
            <p:cNvSpPr/>
            <p:nvPr/>
          </p:nvSpPr>
          <p:spPr>
            <a:xfrm>
              <a:off x="5179525" y="428386"/>
              <a:ext cx="1896110" cy="5012055"/>
            </a:xfrm>
            <a:custGeom>
              <a:avLst/>
              <a:gdLst/>
              <a:ahLst/>
              <a:cxnLst/>
              <a:rect l="l" t="t" r="r" b="b"/>
              <a:pathLst>
                <a:path w="1896109" h="5012055">
                  <a:moveTo>
                    <a:pt x="1895743" y="0"/>
                  </a:moveTo>
                  <a:lnTo>
                    <a:pt x="0" y="0"/>
                  </a:lnTo>
                  <a:lnTo>
                    <a:pt x="0" y="5011567"/>
                  </a:lnTo>
                  <a:lnTo>
                    <a:pt x="1895743" y="5011567"/>
                  </a:lnTo>
                  <a:lnTo>
                    <a:pt x="1895743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50606" y="5415277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4">
                  <a:moveTo>
                    <a:pt x="24662" y="0"/>
                  </a:moveTo>
                  <a:lnTo>
                    <a:pt x="24662" y="24676"/>
                  </a:lnTo>
                  <a:lnTo>
                    <a:pt x="0" y="24676"/>
                  </a:lnTo>
                </a:path>
              </a:pathLst>
            </a:custGeom>
            <a:ln w="377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80692" y="5439953"/>
              <a:ext cx="1694814" cy="0"/>
            </a:xfrm>
            <a:custGeom>
              <a:avLst/>
              <a:gdLst/>
              <a:ahLst/>
              <a:cxnLst/>
              <a:rect l="l" t="t" r="r" b="b"/>
              <a:pathLst>
                <a:path w="1694815">
                  <a:moveTo>
                    <a:pt x="0" y="0"/>
                  </a:moveTo>
                  <a:lnTo>
                    <a:pt x="1694290" y="0"/>
                  </a:lnTo>
                </a:path>
              </a:pathLst>
            </a:custGeom>
            <a:ln w="3779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79525" y="5415277"/>
              <a:ext cx="26034" cy="24765"/>
            </a:xfrm>
            <a:custGeom>
              <a:avLst/>
              <a:gdLst/>
              <a:ahLst/>
              <a:cxnLst/>
              <a:rect l="l" t="t" r="r" b="b"/>
              <a:pathLst>
                <a:path w="26035" h="24764">
                  <a:moveTo>
                    <a:pt x="25543" y="24676"/>
                  </a:moveTo>
                  <a:lnTo>
                    <a:pt x="0" y="24676"/>
                  </a:lnTo>
                  <a:lnTo>
                    <a:pt x="0" y="0"/>
                  </a:lnTo>
                </a:path>
              </a:pathLst>
            </a:custGeom>
            <a:ln w="377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79525" y="528426"/>
              <a:ext cx="0" cy="4811395"/>
            </a:xfrm>
            <a:custGeom>
              <a:avLst/>
              <a:gdLst/>
              <a:ahLst/>
              <a:cxnLst/>
              <a:rect l="l" t="t" r="r" b="b"/>
              <a:pathLst>
                <a:path h="4811395">
                  <a:moveTo>
                    <a:pt x="0" y="0"/>
                  </a:moveTo>
                  <a:lnTo>
                    <a:pt x="0" y="4811211"/>
                  </a:lnTo>
                </a:path>
              </a:pathLst>
            </a:custGeom>
            <a:ln w="377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79525" y="428386"/>
              <a:ext cx="26034" cy="25400"/>
            </a:xfrm>
            <a:custGeom>
              <a:avLst/>
              <a:gdLst/>
              <a:ahLst/>
              <a:cxnLst/>
              <a:rect l="l" t="t" r="r" b="b"/>
              <a:pathLst>
                <a:path w="26035" h="25400">
                  <a:moveTo>
                    <a:pt x="0" y="25293"/>
                  </a:moveTo>
                  <a:lnTo>
                    <a:pt x="0" y="0"/>
                  </a:lnTo>
                  <a:lnTo>
                    <a:pt x="25543" y="0"/>
                  </a:lnTo>
                </a:path>
              </a:pathLst>
            </a:custGeom>
            <a:ln w="377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80692" y="428386"/>
              <a:ext cx="1694814" cy="0"/>
            </a:xfrm>
            <a:custGeom>
              <a:avLst/>
              <a:gdLst/>
              <a:ahLst/>
              <a:cxnLst/>
              <a:rect l="l" t="t" r="r" b="b"/>
              <a:pathLst>
                <a:path w="1694815">
                  <a:moveTo>
                    <a:pt x="0" y="0"/>
                  </a:moveTo>
                  <a:lnTo>
                    <a:pt x="1694290" y="0"/>
                  </a:lnTo>
                </a:path>
              </a:pathLst>
            </a:custGeom>
            <a:ln w="3779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50606" y="428386"/>
              <a:ext cx="24765" cy="25400"/>
            </a:xfrm>
            <a:custGeom>
              <a:avLst/>
              <a:gdLst/>
              <a:ahLst/>
              <a:cxnLst/>
              <a:rect l="l" t="t" r="r" b="b"/>
              <a:pathLst>
                <a:path w="24765" h="25400">
                  <a:moveTo>
                    <a:pt x="0" y="0"/>
                  </a:moveTo>
                  <a:lnTo>
                    <a:pt x="24662" y="0"/>
                  </a:lnTo>
                  <a:lnTo>
                    <a:pt x="24662" y="25293"/>
                  </a:lnTo>
                </a:path>
              </a:pathLst>
            </a:custGeom>
            <a:ln w="377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5269" y="528426"/>
              <a:ext cx="0" cy="4811395"/>
            </a:xfrm>
            <a:custGeom>
              <a:avLst/>
              <a:gdLst/>
              <a:ahLst/>
              <a:cxnLst/>
              <a:rect l="l" t="t" r="r" b="b"/>
              <a:pathLst>
                <a:path h="4811395">
                  <a:moveTo>
                    <a:pt x="0" y="0"/>
                  </a:moveTo>
                  <a:lnTo>
                    <a:pt x="0" y="4811211"/>
                  </a:lnTo>
                </a:path>
              </a:pathLst>
            </a:custGeom>
            <a:ln w="377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2044105" y="597252"/>
            <a:ext cx="1213485" cy="1066165"/>
            <a:chOff x="2044105" y="597252"/>
            <a:chExt cx="1213485" cy="1066165"/>
          </a:xfrm>
        </p:grpSpPr>
        <p:sp>
          <p:nvSpPr>
            <p:cNvPr id="24" name="object 24"/>
            <p:cNvSpPr/>
            <p:nvPr/>
          </p:nvSpPr>
          <p:spPr>
            <a:xfrm>
              <a:off x="2056443" y="609590"/>
              <a:ext cx="1188720" cy="1041400"/>
            </a:xfrm>
            <a:custGeom>
              <a:avLst/>
              <a:gdLst/>
              <a:ahLst/>
              <a:cxnLst/>
              <a:rect l="l" t="t" r="r" b="b"/>
              <a:pathLst>
                <a:path w="1188720" h="1041400">
                  <a:moveTo>
                    <a:pt x="1188583" y="0"/>
                  </a:moveTo>
                  <a:lnTo>
                    <a:pt x="0" y="0"/>
                  </a:lnTo>
                  <a:lnTo>
                    <a:pt x="0" y="1041166"/>
                  </a:lnTo>
                  <a:lnTo>
                    <a:pt x="1188583" y="1041166"/>
                  </a:lnTo>
                  <a:lnTo>
                    <a:pt x="1188583" y="0"/>
                  </a:lnTo>
                  <a:close/>
                </a:path>
              </a:pathLst>
            </a:custGeom>
            <a:solidFill>
              <a:srgbClr val="CA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56443" y="609590"/>
              <a:ext cx="1188720" cy="1041400"/>
            </a:xfrm>
            <a:custGeom>
              <a:avLst/>
              <a:gdLst/>
              <a:ahLst/>
              <a:cxnLst/>
              <a:rect l="l" t="t" r="r" b="b"/>
              <a:pathLst>
                <a:path w="1188720" h="1041400">
                  <a:moveTo>
                    <a:pt x="1188583" y="1041166"/>
                  </a:moveTo>
                  <a:lnTo>
                    <a:pt x="0" y="1041166"/>
                  </a:lnTo>
                  <a:lnTo>
                    <a:pt x="0" y="0"/>
                  </a:lnTo>
                  <a:lnTo>
                    <a:pt x="1188583" y="0"/>
                  </a:lnTo>
                  <a:lnTo>
                    <a:pt x="1188583" y="1041166"/>
                  </a:lnTo>
                  <a:close/>
                </a:path>
              </a:pathLst>
            </a:custGeom>
            <a:ln w="24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2587569" y="1655412"/>
            <a:ext cx="118110" cy="946150"/>
            <a:chOff x="2587569" y="1655412"/>
            <a:chExt cx="118110" cy="946150"/>
          </a:xfrm>
        </p:grpSpPr>
        <p:sp>
          <p:nvSpPr>
            <p:cNvPr id="27" name="object 27"/>
            <p:cNvSpPr/>
            <p:nvPr/>
          </p:nvSpPr>
          <p:spPr>
            <a:xfrm>
              <a:off x="2643059" y="1746014"/>
              <a:ext cx="6985" cy="765810"/>
            </a:xfrm>
            <a:custGeom>
              <a:avLst/>
              <a:gdLst/>
              <a:ahLst/>
              <a:cxnLst/>
              <a:rect l="l" t="t" r="r" b="b"/>
              <a:pathLst>
                <a:path w="6985" h="765810">
                  <a:moveTo>
                    <a:pt x="6920" y="0"/>
                  </a:moveTo>
                  <a:lnTo>
                    <a:pt x="6920" y="0"/>
                  </a:lnTo>
                  <a:lnTo>
                    <a:pt x="0" y="765334"/>
                  </a:lnTo>
                </a:path>
              </a:pathLst>
            </a:custGeom>
            <a:ln w="24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87561" y="1655419"/>
              <a:ext cx="118110" cy="946150"/>
            </a:xfrm>
            <a:custGeom>
              <a:avLst/>
              <a:gdLst/>
              <a:ahLst/>
              <a:cxnLst/>
              <a:rect l="l" t="t" r="r" b="b"/>
              <a:pathLst>
                <a:path w="118110" h="946150">
                  <a:moveTo>
                    <a:pt x="111480" y="813523"/>
                  </a:moveTo>
                  <a:lnTo>
                    <a:pt x="55486" y="836930"/>
                  </a:lnTo>
                  <a:lnTo>
                    <a:pt x="0" y="813523"/>
                  </a:lnTo>
                  <a:lnTo>
                    <a:pt x="55486" y="945654"/>
                  </a:lnTo>
                  <a:lnTo>
                    <a:pt x="111480" y="813523"/>
                  </a:lnTo>
                  <a:close/>
                </a:path>
                <a:path w="118110" h="946150">
                  <a:moveTo>
                    <a:pt x="118033" y="132130"/>
                  </a:moveTo>
                  <a:lnTo>
                    <a:pt x="62407" y="0"/>
                  </a:lnTo>
                  <a:lnTo>
                    <a:pt x="6540" y="132130"/>
                  </a:lnTo>
                  <a:lnTo>
                    <a:pt x="62407" y="108724"/>
                  </a:lnTo>
                  <a:lnTo>
                    <a:pt x="118033" y="1321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2587569" y="3693074"/>
            <a:ext cx="118110" cy="818515"/>
            <a:chOff x="2587569" y="3693074"/>
            <a:chExt cx="118110" cy="818515"/>
          </a:xfrm>
        </p:grpSpPr>
        <p:sp>
          <p:nvSpPr>
            <p:cNvPr id="30" name="object 30"/>
            <p:cNvSpPr/>
            <p:nvPr/>
          </p:nvSpPr>
          <p:spPr>
            <a:xfrm>
              <a:off x="2643059" y="3783676"/>
              <a:ext cx="6985" cy="637540"/>
            </a:xfrm>
            <a:custGeom>
              <a:avLst/>
              <a:gdLst/>
              <a:ahLst/>
              <a:cxnLst/>
              <a:rect l="l" t="t" r="r" b="b"/>
              <a:pathLst>
                <a:path w="6985" h="637539">
                  <a:moveTo>
                    <a:pt x="6920" y="0"/>
                  </a:moveTo>
                  <a:lnTo>
                    <a:pt x="6920" y="0"/>
                  </a:lnTo>
                  <a:lnTo>
                    <a:pt x="0" y="636981"/>
                  </a:lnTo>
                </a:path>
              </a:pathLst>
            </a:custGeom>
            <a:ln w="24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87561" y="3693083"/>
              <a:ext cx="118110" cy="818515"/>
            </a:xfrm>
            <a:custGeom>
              <a:avLst/>
              <a:gdLst/>
              <a:ahLst/>
              <a:cxnLst/>
              <a:rect l="l" t="t" r="r" b="b"/>
              <a:pathLst>
                <a:path w="118110" h="818514">
                  <a:moveTo>
                    <a:pt x="111480" y="685050"/>
                  </a:moveTo>
                  <a:lnTo>
                    <a:pt x="55486" y="709460"/>
                  </a:lnTo>
                  <a:lnTo>
                    <a:pt x="0" y="685050"/>
                  </a:lnTo>
                  <a:lnTo>
                    <a:pt x="55486" y="818184"/>
                  </a:lnTo>
                  <a:lnTo>
                    <a:pt x="111480" y="685050"/>
                  </a:lnTo>
                  <a:close/>
                </a:path>
                <a:path w="118110" h="818514">
                  <a:moveTo>
                    <a:pt x="118033" y="133388"/>
                  </a:moveTo>
                  <a:lnTo>
                    <a:pt x="62407" y="0"/>
                  </a:lnTo>
                  <a:lnTo>
                    <a:pt x="6540" y="133388"/>
                  </a:lnTo>
                  <a:lnTo>
                    <a:pt x="62407" y="109728"/>
                  </a:lnTo>
                  <a:lnTo>
                    <a:pt x="118033" y="1333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3017275" y="1534610"/>
            <a:ext cx="868044" cy="1256665"/>
            <a:chOff x="3017275" y="1534610"/>
            <a:chExt cx="868044" cy="1256665"/>
          </a:xfrm>
        </p:grpSpPr>
        <p:sp>
          <p:nvSpPr>
            <p:cNvPr id="33" name="object 33"/>
            <p:cNvSpPr/>
            <p:nvPr/>
          </p:nvSpPr>
          <p:spPr>
            <a:xfrm>
              <a:off x="3107243" y="1591110"/>
              <a:ext cx="687070" cy="1144270"/>
            </a:xfrm>
            <a:custGeom>
              <a:avLst/>
              <a:gdLst/>
              <a:ahLst/>
              <a:cxnLst/>
              <a:rect l="l" t="t" r="r" b="b"/>
              <a:pathLst>
                <a:path w="687070" h="1144270">
                  <a:moveTo>
                    <a:pt x="0" y="1144226"/>
                  </a:moveTo>
                  <a:lnTo>
                    <a:pt x="347666" y="1144226"/>
                  </a:lnTo>
                  <a:lnTo>
                    <a:pt x="347666" y="0"/>
                  </a:lnTo>
                  <a:lnTo>
                    <a:pt x="686901" y="0"/>
                  </a:lnTo>
                </a:path>
              </a:pathLst>
            </a:custGeom>
            <a:ln w="24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17266" y="1534616"/>
              <a:ext cx="868044" cy="1256665"/>
            </a:xfrm>
            <a:custGeom>
              <a:avLst/>
              <a:gdLst/>
              <a:ahLst/>
              <a:cxnLst/>
              <a:rect l="l" t="t" r="r" b="b"/>
              <a:pathLst>
                <a:path w="868045" h="1256664">
                  <a:moveTo>
                    <a:pt x="132499" y="1143850"/>
                  </a:moveTo>
                  <a:lnTo>
                    <a:pt x="0" y="1200721"/>
                  </a:lnTo>
                  <a:lnTo>
                    <a:pt x="132499" y="1256347"/>
                  </a:lnTo>
                  <a:lnTo>
                    <a:pt x="108724" y="1200721"/>
                  </a:lnTo>
                  <a:lnTo>
                    <a:pt x="132499" y="1143850"/>
                  </a:lnTo>
                  <a:close/>
                </a:path>
                <a:path w="868045" h="1256664">
                  <a:moveTo>
                    <a:pt x="867841" y="56502"/>
                  </a:moveTo>
                  <a:lnTo>
                    <a:pt x="734466" y="0"/>
                  </a:lnTo>
                  <a:lnTo>
                    <a:pt x="758126" y="56502"/>
                  </a:lnTo>
                  <a:lnTo>
                    <a:pt x="734466" y="112369"/>
                  </a:lnTo>
                  <a:lnTo>
                    <a:pt x="867841" y="56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4616313" y="1527941"/>
            <a:ext cx="730250" cy="111760"/>
            <a:chOff x="4616313" y="1527941"/>
            <a:chExt cx="730250" cy="111760"/>
          </a:xfrm>
        </p:grpSpPr>
        <p:sp>
          <p:nvSpPr>
            <p:cNvPr id="36" name="object 36"/>
            <p:cNvSpPr/>
            <p:nvPr/>
          </p:nvSpPr>
          <p:spPr>
            <a:xfrm>
              <a:off x="4706281" y="1583560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>
                  <a:moveTo>
                    <a:pt x="0" y="0"/>
                  </a:moveTo>
                  <a:lnTo>
                    <a:pt x="0" y="0"/>
                  </a:lnTo>
                  <a:lnTo>
                    <a:pt x="639715" y="0"/>
                  </a:lnTo>
                </a:path>
              </a:pathLst>
            </a:custGeom>
            <a:ln w="24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16313" y="1527941"/>
              <a:ext cx="132715" cy="111760"/>
            </a:xfrm>
            <a:custGeom>
              <a:avLst/>
              <a:gdLst/>
              <a:ahLst/>
              <a:cxnLst/>
              <a:rect l="l" t="t" r="r" b="b"/>
              <a:pathLst>
                <a:path w="132714" h="111760">
                  <a:moveTo>
                    <a:pt x="132498" y="0"/>
                  </a:moveTo>
                  <a:lnTo>
                    <a:pt x="0" y="55619"/>
                  </a:lnTo>
                  <a:lnTo>
                    <a:pt x="132498" y="111616"/>
                  </a:lnTo>
                  <a:lnTo>
                    <a:pt x="108716" y="55619"/>
                  </a:lnTo>
                  <a:lnTo>
                    <a:pt x="1324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4603227" y="3128322"/>
            <a:ext cx="742950" cy="113030"/>
            <a:chOff x="4603227" y="3128322"/>
            <a:chExt cx="742950" cy="113030"/>
          </a:xfrm>
        </p:grpSpPr>
        <p:sp>
          <p:nvSpPr>
            <p:cNvPr id="39" name="object 39"/>
            <p:cNvSpPr/>
            <p:nvPr/>
          </p:nvSpPr>
          <p:spPr>
            <a:xfrm>
              <a:off x="4693824" y="3184822"/>
              <a:ext cx="652780" cy="0"/>
            </a:xfrm>
            <a:custGeom>
              <a:avLst/>
              <a:gdLst/>
              <a:ahLst/>
              <a:cxnLst/>
              <a:rect l="l" t="t" r="r" b="b"/>
              <a:pathLst>
                <a:path w="652779">
                  <a:moveTo>
                    <a:pt x="0" y="0"/>
                  </a:moveTo>
                  <a:lnTo>
                    <a:pt x="0" y="0"/>
                  </a:lnTo>
                  <a:lnTo>
                    <a:pt x="652172" y="0"/>
                  </a:lnTo>
                </a:path>
              </a:pathLst>
            </a:custGeom>
            <a:ln w="24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03227" y="3128322"/>
              <a:ext cx="133350" cy="113030"/>
            </a:xfrm>
            <a:custGeom>
              <a:avLst/>
              <a:gdLst/>
              <a:ahLst/>
              <a:cxnLst/>
              <a:rect l="l" t="t" r="r" b="b"/>
              <a:pathLst>
                <a:path w="133350" h="113030">
                  <a:moveTo>
                    <a:pt x="133001" y="0"/>
                  </a:moveTo>
                  <a:lnTo>
                    <a:pt x="0" y="56500"/>
                  </a:lnTo>
                  <a:lnTo>
                    <a:pt x="133001" y="112497"/>
                  </a:lnTo>
                  <a:lnTo>
                    <a:pt x="109597" y="56500"/>
                  </a:lnTo>
                  <a:lnTo>
                    <a:pt x="1330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5351660" y="4458408"/>
            <a:ext cx="309880" cy="113030"/>
            <a:chOff x="5351660" y="4458408"/>
            <a:chExt cx="309880" cy="113030"/>
          </a:xfrm>
        </p:grpSpPr>
        <p:sp>
          <p:nvSpPr>
            <p:cNvPr id="42" name="object 42"/>
            <p:cNvSpPr/>
            <p:nvPr/>
          </p:nvSpPr>
          <p:spPr>
            <a:xfrm>
              <a:off x="5351660" y="4515034"/>
              <a:ext cx="226060" cy="0"/>
            </a:xfrm>
            <a:custGeom>
              <a:avLst/>
              <a:gdLst/>
              <a:ahLst/>
              <a:cxnLst/>
              <a:rect l="l" t="t" r="r" b="b"/>
              <a:pathLst>
                <a:path w="226060">
                  <a:moveTo>
                    <a:pt x="0" y="0"/>
                  </a:moveTo>
                  <a:lnTo>
                    <a:pt x="0" y="0"/>
                  </a:lnTo>
                  <a:lnTo>
                    <a:pt x="225863" y="0"/>
                  </a:lnTo>
                </a:path>
              </a:pathLst>
            </a:custGeom>
            <a:ln w="24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529331" y="4458408"/>
              <a:ext cx="132715" cy="113030"/>
            </a:xfrm>
            <a:custGeom>
              <a:avLst/>
              <a:gdLst/>
              <a:ahLst/>
              <a:cxnLst/>
              <a:rect l="l" t="t" r="r" b="b"/>
              <a:pathLst>
                <a:path w="132714" h="113029">
                  <a:moveTo>
                    <a:pt x="0" y="0"/>
                  </a:moveTo>
                  <a:lnTo>
                    <a:pt x="23404" y="56626"/>
                  </a:lnTo>
                  <a:lnTo>
                    <a:pt x="0" y="112497"/>
                  </a:lnTo>
                  <a:lnTo>
                    <a:pt x="132120" y="566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3017275" y="2868471"/>
            <a:ext cx="868044" cy="387350"/>
            <a:chOff x="3017275" y="2868471"/>
            <a:chExt cx="868044" cy="387350"/>
          </a:xfrm>
        </p:grpSpPr>
        <p:sp>
          <p:nvSpPr>
            <p:cNvPr id="45" name="object 45"/>
            <p:cNvSpPr/>
            <p:nvPr/>
          </p:nvSpPr>
          <p:spPr>
            <a:xfrm>
              <a:off x="3107243" y="2924090"/>
              <a:ext cx="687070" cy="276225"/>
            </a:xfrm>
            <a:custGeom>
              <a:avLst/>
              <a:gdLst/>
              <a:ahLst/>
              <a:cxnLst/>
              <a:rect l="l" t="t" r="r" b="b"/>
              <a:pathLst>
                <a:path w="687070" h="276225">
                  <a:moveTo>
                    <a:pt x="0" y="0"/>
                  </a:moveTo>
                  <a:lnTo>
                    <a:pt x="336467" y="0"/>
                  </a:lnTo>
                  <a:lnTo>
                    <a:pt x="336467" y="275832"/>
                  </a:lnTo>
                  <a:lnTo>
                    <a:pt x="686901" y="275832"/>
                  </a:lnTo>
                </a:path>
              </a:pathLst>
            </a:custGeom>
            <a:ln w="24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017266" y="2868472"/>
              <a:ext cx="868044" cy="387350"/>
            </a:xfrm>
            <a:custGeom>
              <a:avLst/>
              <a:gdLst/>
              <a:ahLst/>
              <a:cxnLst/>
              <a:rect l="l" t="t" r="r" b="b"/>
              <a:pathLst>
                <a:path w="868045" h="387350">
                  <a:moveTo>
                    <a:pt x="132499" y="0"/>
                  </a:moveTo>
                  <a:lnTo>
                    <a:pt x="0" y="55626"/>
                  </a:lnTo>
                  <a:lnTo>
                    <a:pt x="132499" y="112382"/>
                  </a:lnTo>
                  <a:lnTo>
                    <a:pt x="108724" y="55626"/>
                  </a:lnTo>
                  <a:lnTo>
                    <a:pt x="132499" y="0"/>
                  </a:lnTo>
                  <a:close/>
                </a:path>
                <a:path w="868045" h="387350">
                  <a:moveTo>
                    <a:pt x="867841" y="331457"/>
                  </a:moveTo>
                  <a:lnTo>
                    <a:pt x="734466" y="275831"/>
                  </a:lnTo>
                  <a:lnTo>
                    <a:pt x="758126" y="331457"/>
                  </a:lnTo>
                  <a:lnTo>
                    <a:pt x="734466" y="387324"/>
                  </a:lnTo>
                  <a:lnTo>
                    <a:pt x="867841" y="3314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3020170" y="3302982"/>
            <a:ext cx="878205" cy="1806575"/>
            <a:chOff x="3020170" y="3302982"/>
            <a:chExt cx="878205" cy="1806575"/>
          </a:xfrm>
        </p:grpSpPr>
        <p:sp>
          <p:nvSpPr>
            <p:cNvPr id="48" name="object 48"/>
            <p:cNvSpPr/>
            <p:nvPr/>
          </p:nvSpPr>
          <p:spPr>
            <a:xfrm>
              <a:off x="3111018" y="3358854"/>
              <a:ext cx="687070" cy="617855"/>
            </a:xfrm>
            <a:custGeom>
              <a:avLst/>
              <a:gdLst/>
              <a:ahLst/>
              <a:cxnLst/>
              <a:rect l="l" t="t" r="r" b="b"/>
              <a:pathLst>
                <a:path w="687070" h="617854">
                  <a:moveTo>
                    <a:pt x="0" y="0"/>
                  </a:moveTo>
                  <a:lnTo>
                    <a:pt x="509230" y="0"/>
                  </a:lnTo>
                  <a:lnTo>
                    <a:pt x="509230" y="617602"/>
                  </a:lnTo>
                  <a:lnTo>
                    <a:pt x="686901" y="617602"/>
                  </a:lnTo>
                </a:path>
              </a:pathLst>
            </a:custGeom>
            <a:ln w="24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020161" y="3302990"/>
              <a:ext cx="868044" cy="730885"/>
            </a:xfrm>
            <a:custGeom>
              <a:avLst/>
              <a:gdLst/>
              <a:ahLst/>
              <a:cxnLst/>
              <a:rect l="l" t="t" r="r" b="b"/>
              <a:pathLst>
                <a:path w="868045" h="730885">
                  <a:moveTo>
                    <a:pt x="133375" y="0"/>
                  </a:moveTo>
                  <a:lnTo>
                    <a:pt x="0" y="55867"/>
                  </a:lnTo>
                  <a:lnTo>
                    <a:pt x="133375" y="111493"/>
                  </a:lnTo>
                  <a:lnTo>
                    <a:pt x="109601" y="55867"/>
                  </a:lnTo>
                  <a:lnTo>
                    <a:pt x="133375" y="0"/>
                  </a:lnTo>
                  <a:close/>
                </a:path>
                <a:path w="868045" h="730885">
                  <a:moveTo>
                    <a:pt x="867714" y="673468"/>
                  </a:moveTo>
                  <a:lnTo>
                    <a:pt x="735228" y="617855"/>
                  </a:lnTo>
                  <a:lnTo>
                    <a:pt x="759002" y="673468"/>
                  </a:lnTo>
                  <a:lnTo>
                    <a:pt x="735228" y="730351"/>
                  </a:lnTo>
                  <a:lnTo>
                    <a:pt x="867714" y="6734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117561" y="3560946"/>
              <a:ext cx="690245" cy="1492885"/>
            </a:xfrm>
            <a:custGeom>
              <a:avLst/>
              <a:gdLst/>
              <a:ahLst/>
              <a:cxnLst/>
              <a:rect l="l" t="t" r="r" b="b"/>
              <a:pathLst>
                <a:path w="690245" h="1492885">
                  <a:moveTo>
                    <a:pt x="0" y="0"/>
                  </a:moveTo>
                  <a:lnTo>
                    <a:pt x="331811" y="0"/>
                  </a:lnTo>
                  <a:lnTo>
                    <a:pt x="331811" y="1492539"/>
                  </a:lnTo>
                  <a:lnTo>
                    <a:pt x="689795" y="1492539"/>
                  </a:lnTo>
                </a:path>
              </a:pathLst>
            </a:custGeom>
            <a:ln w="24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026956" y="3505085"/>
              <a:ext cx="871855" cy="1604645"/>
            </a:xfrm>
            <a:custGeom>
              <a:avLst/>
              <a:gdLst/>
              <a:ahLst/>
              <a:cxnLst/>
              <a:rect l="l" t="t" r="r" b="b"/>
              <a:pathLst>
                <a:path w="871854" h="1604645">
                  <a:moveTo>
                    <a:pt x="133134" y="0"/>
                  </a:moveTo>
                  <a:lnTo>
                    <a:pt x="0" y="55867"/>
                  </a:lnTo>
                  <a:lnTo>
                    <a:pt x="133134" y="111480"/>
                  </a:lnTo>
                  <a:lnTo>
                    <a:pt x="109728" y="55867"/>
                  </a:lnTo>
                  <a:lnTo>
                    <a:pt x="133134" y="0"/>
                  </a:lnTo>
                  <a:close/>
                </a:path>
                <a:path w="871854" h="1604645">
                  <a:moveTo>
                    <a:pt x="871245" y="1548409"/>
                  </a:moveTo>
                  <a:lnTo>
                    <a:pt x="737870" y="1492542"/>
                  </a:lnTo>
                  <a:lnTo>
                    <a:pt x="762533" y="1548409"/>
                  </a:lnTo>
                  <a:lnTo>
                    <a:pt x="737870" y="1604022"/>
                  </a:lnTo>
                  <a:lnTo>
                    <a:pt x="871245" y="15484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5325857" y="709000"/>
            <a:ext cx="337820" cy="1751964"/>
            <a:chOff x="5325857" y="709000"/>
            <a:chExt cx="337820" cy="1751964"/>
          </a:xfrm>
        </p:grpSpPr>
        <p:sp>
          <p:nvSpPr>
            <p:cNvPr id="53" name="object 53"/>
            <p:cNvSpPr/>
            <p:nvPr/>
          </p:nvSpPr>
          <p:spPr>
            <a:xfrm>
              <a:off x="5338196" y="764494"/>
              <a:ext cx="234950" cy="1640205"/>
            </a:xfrm>
            <a:custGeom>
              <a:avLst/>
              <a:gdLst/>
              <a:ahLst/>
              <a:cxnLst/>
              <a:rect l="l" t="t" r="r" b="b"/>
              <a:pathLst>
                <a:path w="234950" h="1640205">
                  <a:moveTo>
                    <a:pt x="234545" y="0"/>
                  </a:moveTo>
                  <a:lnTo>
                    <a:pt x="0" y="0"/>
                  </a:lnTo>
                  <a:lnTo>
                    <a:pt x="0" y="1640019"/>
                  </a:lnTo>
                  <a:lnTo>
                    <a:pt x="231777" y="1640019"/>
                  </a:lnTo>
                </a:path>
              </a:pathLst>
            </a:custGeom>
            <a:ln w="24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527179" y="709002"/>
              <a:ext cx="136525" cy="1751964"/>
            </a:xfrm>
            <a:custGeom>
              <a:avLst/>
              <a:gdLst/>
              <a:ahLst/>
              <a:cxnLst/>
              <a:rect l="l" t="t" r="r" b="b"/>
              <a:pathLst>
                <a:path w="136525" h="1751964">
                  <a:moveTo>
                    <a:pt x="133388" y="1695513"/>
                  </a:moveTo>
                  <a:lnTo>
                    <a:pt x="0" y="1639900"/>
                  </a:lnTo>
                  <a:lnTo>
                    <a:pt x="24663" y="1695513"/>
                  </a:lnTo>
                  <a:lnTo>
                    <a:pt x="0" y="1751520"/>
                  </a:lnTo>
                  <a:lnTo>
                    <a:pt x="133388" y="1695513"/>
                  </a:lnTo>
                  <a:close/>
                </a:path>
                <a:path w="136525" h="1751964">
                  <a:moveTo>
                    <a:pt x="136156" y="55499"/>
                  </a:moveTo>
                  <a:lnTo>
                    <a:pt x="3149" y="0"/>
                  </a:lnTo>
                  <a:lnTo>
                    <a:pt x="26555" y="55499"/>
                  </a:lnTo>
                  <a:lnTo>
                    <a:pt x="3149" y="112369"/>
                  </a:lnTo>
                  <a:lnTo>
                    <a:pt x="136156" y="55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338196" y="1309615"/>
              <a:ext cx="234950" cy="544830"/>
            </a:xfrm>
            <a:custGeom>
              <a:avLst/>
              <a:gdLst/>
              <a:ahLst/>
              <a:cxnLst/>
              <a:rect l="l" t="t" r="r" b="b"/>
              <a:pathLst>
                <a:path w="234950" h="544830">
                  <a:moveTo>
                    <a:pt x="234545" y="0"/>
                  </a:moveTo>
                  <a:lnTo>
                    <a:pt x="0" y="0"/>
                  </a:lnTo>
                  <a:lnTo>
                    <a:pt x="0" y="544240"/>
                  </a:lnTo>
                  <a:lnTo>
                    <a:pt x="234545" y="544240"/>
                  </a:lnTo>
                </a:path>
              </a:pathLst>
            </a:custGeom>
            <a:ln w="24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530329" y="1253121"/>
              <a:ext cx="133350" cy="656590"/>
            </a:xfrm>
            <a:custGeom>
              <a:avLst/>
              <a:gdLst/>
              <a:ahLst/>
              <a:cxnLst/>
              <a:rect l="l" t="t" r="r" b="b"/>
              <a:pathLst>
                <a:path w="133350" h="656589">
                  <a:moveTo>
                    <a:pt x="133007" y="600735"/>
                  </a:moveTo>
                  <a:lnTo>
                    <a:pt x="0" y="545122"/>
                  </a:lnTo>
                  <a:lnTo>
                    <a:pt x="23406" y="600735"/>
                  </a:lnTo>
                  <a:lnTo>
                    <a:pt x="0" y="656361"/>
                  </a:lnTo>
                  <a:lnTo>
                    <a:pt x="133007" y="600735"/>
                  </a:lnTo>
                  <a:close/>
                </a:path>
                <a:path w="133350" h="656589">
                  <a:moveTo>
                    <a:pt x="133007" y="56502"/>
                  </a:moveTo>
                  <a:lnTo>
                    <a:pt x="0" y="0"/>
                  </a:lnTo>
                  <a:lnTo>
                    <a:pt x="23406" y="56502"/>
                  </a:lnTo>
                  <a:lnTo>
                    <a:pt x="0" y="112496"/>
                  </a:lnTo>
                  <a:lnTo>
                    <a:pt x="133007" y="56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5331771" y="2868471"/>
            <a:ext cx="332105" cy="632460"/>
            <a:chOff x="5331771" y="2868471"/>
            <a:chExt cx="332105" cy="632460"/>
          </a:xfrm>
        </p:grpSpPr>
        <p:sp>
          <p:nvSpPr>
            <p:cNvPr id="58" name="object 58"/>
            <p:cNvSpPr/>
            <p:nvPr/>
          </p:nvSpPr>
          <p:spPr>
            <a:xfrm>
              <a:off x="5344110" y="2924090"/>
              <a:ext cx="229235" cy="521334"/>
            </a:xfrm>
            <a:custGeom>
              <a:avLst/>
              <a:gdLst/>
              <a:ahLst/>
              <a:cxnLst/>
              <a:rect l="l" t="t" r="r" b="b"/>
              <a:pathLst>
                <a:path w="229235" h="521335">
                  <a:moveTo>
                    <a:pt x="228631" y="0"/>
                  </a:moveTo>
                  <a:lnTo>
                    <a:pt x="0" y="0"/>
                  </a:lnTo>
                  <a:lnTo>
                    <a:pt x="0" y="520709"/>
                  </a:lnTo>
                  <a:lnTo>
                    <a:pt x="225863" y="520709"/>
                  </a:lnTo>
                </a:path>
              </a:pathLst>
            </a:custGeom>
            <a:ln w="24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527179" y="2868472"/>
              <a:ext cx="136525" cy="632460"/>
            </a:xfrm>
            <a:custGeom>
              <a:avLst/>
              <a:gdLst/>
              <a:ahLst/>
              <a:cxnLst/>
              <a:rect l="l" t="t" r="r" b="b"/>
              <a:pathLst>
                <a:path w="136525" h="632460">
                  <a:moveTo>
                    <a:pt x="133388" y="576338"/>
                  </a:moveTo>
                  <a:lnTo>
                    <a:pt x="0" y="520331"/>
                  </a:lnTo>
                  <a:lnTo>
                    <a:pt x="24663" y="576338"/>
                  </a:lnTo>
                  <a:lnTo>
                    <a:pt x="0" y="631952"/>
                  </a:lnTo>
                  <a:lnTo>
                    <a:pt x="133388" y="576338"/>
                  </a:lnTo>
                  <a:close/>
                </a:path>
                <a:path w="136525" h="632460">
                  <a:moveTo>
                    <a:pt x="136156" y="55626"/>
                  </a:moveTo>
                  <a:lnTo>
                    <a:pt x="4025" y="0"/>
                  </a:lnTo>
                  <a:lnTo>
                    <a:pt x="27432" y="55626"/>
                  </a:lnTo>
                  <a:lnTo>
                    <a:pt x="4025" y="112382"/>
                  </a:lnTo>
                  <a:lnTo>
                    <a:pt x="136156" y="556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4605115" y="3938706"/>
            <a:ext cx="1066800" cy="112395"/>
            <a:chOff x="4605115" y="3938706"/>
            <a:chExt cx="1066800" cy="112395"/>
          </a:xfrm>
        </p:grpSpPr>
        <p:sp>
          <p:nvSpPr>
            <p:cNvPr id="61" name="object 61"/>
            <p:cNvSpPr/>
            <p:nvPr/>
          </p:nvSpPr>
          <p:spPr>
            <a:xfrm>
              <a:off x="4694705" y="3995458"/>
              <a:ext cx="887730" cy="0"/>
            </a:xfrm>
            <a:custGeom>
              <a:avLst/>
              <a:gdLst/>
              <a:ahLst/>
              <a:cxnLst/>
              <a:rect l="l" t="t" r="r" b="b"/>
              <a:pathLst>
                <a:path w="887729">
                  <a:moveTo>
                    <a:pt x="0" y="0"/>
                  </a:moveTo>
                  <a:lnTo>
                    <a:pt x="0" y="0"/>
                  </a:lnTo>
                  <a:lnTo>
                    <a:pt x="887473" y="0"/>
                  </a:lnTo>
                </a:path>
              </a:pathLst>
            </a:custGeom>
            <a:ln w="24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05108" y="3938714"/>
              <a:ext cx="1066800" cy="112395"/>
            </a:xfrm>
            <a:custGeom>
              <a:avLst/>
              <a:gdLst/>
              <a:ahLst/>
              <a:cxnLst/>
              <a:rect l="l" t="t" r="r" b="b"/>
              <a:pathLst>
                <a:path w="1066800" h="112395">
                  <a:moveTo>
                    <a:pt x="132118" y="0"/>
                  </a:moveTo>
                  <a:lnTo>
                    <a:pt x="0" y="56743"/>
                  </a:lnTo>
                  <a:lnTo>
                    <a:pt x="132118" y="112369"/>
                  </a:lnTo>
                  <a:lnTo>
                    <a:pt x="108712" y="56743"/>
                  </a:lnTo>
                  <a:lnTo>
                    <a:pt x="132118" y="0"/>
                  </a:lnTo>
                  <a:close/>
                </a:path>
                <a:path w="1066800" h="112395">
                  <a:moveTo>
                    <a:pt x="1066660" y="56743"/>
                  </a:moveTo>
                  <a:lnTo>
                    <a:pt x="934529" y="0"/>
                  </a:lnTo>
                  <a:lnTo>
                    <a:pt x="957935" y="56743"/>
                  </a:lnTo>
                  <a:lnTo>
                    <a:pt x="934529" y="112369"/>
                  </a:lnTo>
                  <a:lnTo>
                    <a:pt x="1066660" y="567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4605115" y="3995458"/>
            <a:ext cx="1056005" cy="1113790"/>
            <a:chOff x="4605115" y="3995458"/>
            <a:chExt cx="1056005" cy="1113790"/>
          </a:xfrm>
        </p:grpSpPr>
        <p:sp>
          <p:nvSpPr>
            <p:cNvPr id="64" name="object 64"/>
            <p:cNvSpPr/>
            <p:nvPr/>
          </p:nvSpPr>
          <p:spPr>
            <a:xfrm>
              <a:off x="4694705" y="5053486"/>
              <a:ext cx="875665" cy="0"/>
            </a:xfrm>
            <a:custGeom>
              <a:avLst/>
              <a:gdLst/>
              <a:ahLst/>
              <a:cxnLst/>
              <a:rect l="l" t="t" r="r" b="b"/>
              <a:pathLst>
                <a:path w="875664">
                  <a:moveTo>
                    <a:pt x="0" y="0"/>
                  </a:moveTo>
                  <a:lnTo>
                    <a:pt x="0" y="0"/>
                  </a:lnTo>
                  <a:lnTo>
                    <a:pt x="875268" y="0"/>
                  </a:lnTo>
                </a:path>
              </a:pathLst>
            </a:custGeom>
            <a:ln w="24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605108" y="4997627"/>
              <a:ext cx="1056005" cy="111760"/>
            </a:xfrm>
            <a:custGeom>
              <a:avLst/>
              <a:gdLst/>
              <a:ahLst/>
              <a:cxnLst/>
              <a:rect l="l" t="t" r="r" b="b"/>
              <a:pathLst>
                <a:path w="1056004" h="111760">
                  <a:moveTo>
                    <a:pt x="132118" y="0"/>
                  </a:moveTo>
                  <a:lnTo>
                    <a:pt x="0" y="55867"/>
                  </a:lnTo>
                  <a:lnTo>
                    <a:pt x="132118" y="111480"/>
                  </a:lnTo>
                  <a:lnTo>
                    <a:pt x="108712" y="55867"/>
                  </a:lnTo>
                  <a:lnTo>
                    <a:pt x="132118" y="0"/>
                  </a:lnTo>
                  <a:close/>
                </a:path>
                <a:path w="1056004" h="111760">
                  <a:moveTo>
                    <a:pt x="1055458" y="55867"/>
                  </a:moveTo>
                  <a:lnTo>
                    <a:pt x="922070" y="0"/>
                  </a:lnTo>
                  <a:lnTo>
                    <a:pt x="946734" y="55867"/>
                  </a:lnTo>
                  <a:lnTo>
                    <a:pt x="922070" y="111480"/>
                  </a:lnTo>
                  <a:lnTo>
                    <a:pt x="1055458" y="558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350653" y="3995458"/>
              <a:ext cx="0" cy="1058545"/>
            </a:xfrm>
            <a:custGeom>
              <a:avLst/>
              <a:gdLst/>
              <a:ahLst/>
              <a:cxnLst/>
              <a:rect l="l" t="t" r="r" b="b"/>
              <a:pathLst>
                <a:path h="1058545">
                  <a:moveTo>
                    <a:pt x="0" y="0"/>
                  </a:moveTo>
                  <a:lnTo>
                    <a:pt x="0" y="0"/>
                  </a:lnTo>
                  <a:lnTo>
                    <a:pt x="0" y="1058028"/>
                  </a:lnTo>
                </a:path>
              </a:pathLst>
            </a:custGeom>
            <a:ln w="24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475464" y="1012715"/>
            <a:ext cx="33528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-25" dirty="0">
                <a:latin typeface="Times New Roman"/>
                <a:cs typeface="Times New Roman"/>
              </a:rPr>
              <a:t>CPU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2292625" y="4505597"/>
            <a:ext cx="717550" cy="754380"/>
          </a:xfrm>
          <a:prstGeom prst="rect">
            <a:avLst/>
          </a:prstGeom>
          <a:solidFill>
            <a:srgbClr val="CAEBCC"/>
          </a:solidFill>
          <a:ln w="24676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5"/>
              </a:spcBef>
            </a:pPr>
            <a:endParaRPr sz="1200">
              <a:latin typeface="Times New Roman"/>
              <a:cs typeface="Times New Roman"/>
            </a:endParaRPr>
          </a:p>
          <a:p>
            <a:pPr marL="7366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Memory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714791" y="6056383"/>
            <a:ext cx="3829050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b="1" dirty="0">
                <a:latin typeface="Times New Roman"/>
                <a:cs typeface="Times New Roman"/>
              </a:rPr>
              <a:t>Figure</a:t>
            </a:r>
            <a:r>
              <a:rPr sz="1750" b="1" spc="30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1.9</a:t>
            </a:r>
            <a:r>
              <a:rPr sz="1750" b="1" spc="450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An</a:t>
            </a:r>
            <a:r>
              <a:rPr sz="1750" b="1" spc="30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IBM</a:t>
            </a:r>
            <a:r>
              <a:rPr sz="1750" b="1" spc="25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7094</a:t>
            </a:r>
            <a:r>
              <a:rPr sz="1750" b="1" spc="30" dirty="0">
                <a:latin typeface="Times New Roman"/>
                <a:cs typeface="Times New Roman"/>
              </a:rPr>
              <a:t> </a:t>
            </a:r>
            <a:r>
              <a:rPr sz="1750" b="1" spc="-10" dirty="0">
                <a:latin typeface="Times New Roman"/>
                <a:cs typeface="Times New Roman"/>
              </a:rPr>
              <a:t>Configuration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535107" y="86789"/>
            <a:ext cx="17532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b="1" dirty="0">
                <a:latin typeface="Times New Roman"/>
                <a:cs typeface="Times New Roman"/>
              </a:rPr>
              <a:t>IBM</a:t>
            </a:r>
            <a:r>
              <a:rPr sz="1550" b="1" spc="5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7094</a:t>
            </a:r>
            <a:r>
              <a:rPr sz="1550" b="1" spc="50" dirty="0">
                <a:latin typeface="Times New Roman"/>
                <a:cs typeface="Times New Roman"/>
              </a:rPr>
              <a:t> </a:t>
            </a:r>
            <a:r>
              <a:rPr sz="1550" b="1" spc="-10" dirty="0">
                <a:latin typeface="Times New Roman"/>
                <a:cs typeface="Times New Roman"/>
              </a:rPr>
              <a:t>computer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338959" y="86789"/>
            <a:ext cx="159956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b="1" dirty="0">
                <a:latin typeface="Times New Roman"/>
                <a:cs typeface="Times New Roman"/>
              </a:rPr>
              <a:t>Peripheral</a:t>
            </a:r>
            <a:r>
              <a:rPr sz="1550" b="1" spc="100" dirty="0">
                <a:latin typeface="Times New Roman"/>
                <a:cs typeface="Times New Roman"/>
              </a:rPr>
              <a:t> </a:t>
            </a:r>
            <a:r>
              <a:rPr sz="1550" b="1" spc="-10" dirty="0">
                <a:latin typeface="Times New Roman"/>
                <a:cs typeface="Times New Roman"/>
              </a:rPr>
              <a:t>devices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889775" y="1363725"/>
            <a:ext cx="710565" cy="410209"/>
          </a:xfrm>
          <a:prstGeom prst="rect">
            <a:avLst/>
          </a:prstGeom>
          <a:solidFill>
            <a:srgbClr val="CAEBCC"/>
          </a:solidFill>
          <a:ln w="24677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3980" marR="107950" indent="95885">
              <a:lnSpc>
                <a:spcPts val="1430"/>
              </a:lnSpc>
              <a:spcBef>
                <a:spcPts val="280"/>
              </a:spcBef>
            </a:pPr>
            <a:r>
              <a:rPr sz="1200" b="1" spc="-20" dirty="0">
                <a:latin typeface="Times New Roman"/>
                <a:cs typeface="Times New Roman"/>
              </a:rPr>
              <a:t>Data channel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664345" y="585178"/>
            <a:ext cx="1134110" cy="392430"/>
          </a:xfrm>
          <a:prstGeom prst="rect">
            <a:avLst/>
          </a:prstGeom>
          <a:solidFill>
            <a:srgbClr val="C5C5C5"/>
          </a:solidFill>
          <a:ln w="2467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74295" algn="ctr">
              <a:lnSpc>
                <a:spcPts val="1340"/>
              </a:lnSpc>
            </a:pPr>
            <a:r>
              <a:rPr sz="1200" b="1" dirty="0">
                <a:latin typeface="Times New Roman"/>
                <a:cs typeface="Times New Roman"/>
              </a:rPr>
              <a:t>Mag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tape</a:t>
            </a:r>
            <a:endParaRPr sz="1200">
              <a:latin typeface="Times New Roman"/>
              <a:cs typeface="Times New Roman"/>
            </a:endParaRPr>
          </a:p>
          <a:p>
            <a:pPr marR="71755" algn="ctr">
              <a:lnSpc>
                <a:spcPts val="1435"/>
              </a:lnSpc>
            </a:pPr>
            <a:r>
              <a:rPr sz="1200" b="1" spc="-10" dirty="0">
                <a:latin typeface="Times New Roman"/>
                <a:cs typeface="Times New Roman"/>
              </a:rPr>
              <a:t>units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64345" y="1117841"/>
            <a:ext cx="1134110" cy="392430"/>
          </a:xfrm>
          <a:prstGeom prst="rect">
            <a:avLst/>
          </a:prstGeom>
          <a:solidFill>
            <a:srgbClr val="C5C5C5"/>
          </a:solidFill>
          <a:ln w="24677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325755" marR="399415" indent="33655">
              <a:lnSpc>
                <a:spcPts val="1430"/>
              </a:lnSpc>
              <a:spcBef>
                <a:spcPts val="95"/>
              </a:spcBef>
            </a:pPr>
            <a:r>
              <a:rPr sz="1200" b="1" spc="-20" dirty="0">
                <a:latin typeface="Times New Roman"/>
                <a:cs typeface="Times New Roman"/>
              </a:rPr>
              <a:t>Card punch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664345" y="1650756"/>
            <a:ext cx="1134110" cy="392430"/>
          </a:xfrm>
          <a:prstGeom prst="rect">
            <a:avLst/>
          </a:prstGeom>
          <a:solidFill>
            <a:srgbClr val="C5C5C5"/>
          </a:solidFill>
          <a:ln w="24677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298450" marR="367665" indent="81915">
              <a:lnSpc>
                <a:spcPts val="1430"/>
              </a:lnSpc>
              <a:spcBef>
                <a:spcPts val="30"/>
              </a:spcBef>
            </a:pPr>
            <a:r>
              <a:rPr sz="1200" b="1" spc="-20" dirty="0">
                <a:latin typeface="Times New Roman"/>
                <a:cs typeface="Times New Roman"/>
              </a:rPr>
              <a:t>Line printer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664345" y="2183420"/>
            <a:ext cx="1134110" cy="392430"/>
          </a:xfrm>
          <a:prstGeom prst="rect">
            <a:avLst/>
          </a:prstGeom>
          <a:solidFill>
            <a:srgbClr val="C5C5C5"/>
          </a:solidFill>
          <a:ln w="24677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316230" marR="386080" indent="43180">
              <a:lnSpc>
                <a:spcPts val="1430"/>
              </a:lnSpc>
              <a:spcBef>
                <a:spcPts val="60"/>
              </a:spcBef>
            </a:pPr>
            <a:r>
              <a:rPr sz="1200" b="1" spc="-20" dirty="0">
                <a:latin typeface="Times New Roman"/>
                <a:cs typeface="Times New Roman"/>
              </a:rPr>
              <a:t>Card </a:t>
            </a:r>
            <a:r>
              <a:rPr sz="1200" b="1" spc="-25" dirty="0">
                <a:latin typeface="Times New Roman"/>
                <a:cs typeface="Times New Roman"/>
              </a:rPr>
              <a:t>reader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664345" y="2717216"/>
            <a:ext cx="1134110" cy="392430"/>
          </a:xfrm>
          <a:prstGeom prst="rect">
            <a:avLst/>
          </a:prstGeom>
          <a:solidFill>
            <a:srgbClr val="C5C5C5"/>
          </a:solidFill>
          <a:ln w="24677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334010">
              <a:lnSpc>
                <a:spcPct val="100000"/>
              </a:lnSpc>
              <a:spcBef>
                <a:spcPts val="425"/>
              </a:spcBef>
            </a:pPr>
            <a:r>
              <a:rPr sz="1200" b="1" spc="-20" dirty="0">
                <a:latin typeface="Times New Roman"/>
                <a:cs typeface="Times New Roman"/>
              </a:rPr>
              <a:t>Drum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664345" y="3250131"/>
            <a:ext cx="1134110" cy="392430"/>
          </a:xfrm>
          <a:prstGeom prst="rect">
            <a:avLst/>
          </a:prstGeom>
          <a:solidFill>
            <a:srgbClr val="C5C5C5"/>
          </a:solidFill>
          <a:ln w="24677">
            <a:solidFill>
              <a:srgbClr val="000000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R="71120" algn="ctr">
              <a:lnSpc>
                <a:spcPct val="100000"/>
              </a:lnSpc>
              <a:spcBef>
                <a:spcPts val="550"/>
              </a:spcBef>
            </a:pPr>
            <a:r>
              <a:rPr sz="1200" b="1" spc="-20" dirty="0">
                <a:latin typeface="Times New Roman"/>
                <a:cs typeface="Times New Roman"/>
              </a:rPr>
              <a:t>Disk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664345" y="3782795"/>
            <a:ext cx="1134110" cy="392430"/>
          </a:xfrm>
          <a:prstGeom prst="rect">
            <a:avLst/>
          </a:prstGeom>
          <a:solidFill>
            <a:srgbClr val="C5C5C5"/>
          </a:solidFill>
          <a:ln w="24677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R="71120" algn="ctr">
              <a:lnSpc>
                <a:spcPct val="100000"/>
              </a:lnSpc>
              <a:spcBef>
                <a:spcPts val="690"/>
              </a:spcBef>
            </a:pPr>
            <a:r>
              <a:rPr sz="1200" b="1" spc="-20" dirty="0">
                <a:latin typeface="Times New Roman"/>
                <a:cs typeface="Times New Roman"/>
              </a:rPr>
              <a:t>Disk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664345" y="4315710"/>
            <a:ext cx="1134110" cy="392430"/>
          </a:xfrm>
          <a:prstGeom prst="rect">
            <a:avLst/>
          </a:prstGeom>
          <a:solidFill>
            <a:srgbClr val="C5C5C5"/>
          </a:solidFill>
          <a:ln w="2467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00355">
              <a:lnSpc>
                <a:spcPts val="1355"/>
              </a:lnSpc>
            </a:pPr>
            <a:r>
              <a:rPr sz="1200" b="1" dirty="0">
                <a:latin typeface="Times New Roman"/>
                <a:cs typeface="Times New Roman"/>
              </a:rPr>
              <a:t>Hyper-</a:t>
            </a:r>
            <a:endParaRPr sz="1200">
              <a:latin typeface="Times New Roman"/>
              <a:cs typeface="Times New Roman"/>
            </a:endParaRPr>
          </a:p>
          <a:p>
            <a:pPr marL="360045">
              <a:lnSpc>
                <a:spcPts val="1435"/>
              </a:lnSpc>
            </a:pPr>
            <a:r>
              <a:rPr sz="1200" b="1" spc="-20" dirty="0">
                <a:latin typeface="Times New Roman"/>
                <a:cs typeface="Times New Roman"/>
              </a:rPr>
              <a:t>tapes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664345" y="4848625"/>
            <a:ext cx="1134110" cy="392430"/>
          </a:xfrm>
          <a:prstGeom prst="rect">
            <a:avLst/>
          </a:prstGeom>
          <a:solidFill>
            <a:srgbClr val="C5C5C5"/>
          </a:solidFill>
          <a:ln w="2467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71755" algn="ctr">
              <a:lnSpc>
                <a:spcPts val="1280"/>
              </a:lnSpc>
            </a:pPr>
            <a:r>
              <a:rPr sz="1200" b="1" spc="-10" dirty="0">
                <a:latin typeface="Times New Roman"/>
                <a:cs typeface="Times New Roman"/>
              </a:rPr>
              <a:t>Teleprocessing</a:t>
            </a:r>
            <a:endParaRPr sz="1200">
              <a:latin typeface="Times New Roman"/>
              <a:cs typeface="Times New Roman"/>
            </a:endParaRPr>
          </a:p>
          <a:p>
            <a:pPr marR="74930" algn="ctr">
              <a:lnSpc>
                <a:spcPts val="1435"/>
              </a:lnSpc>
            </a:pPr>
            <a:r>
              <a:rPr sz="1200" b="1" spc="-10" dirty="0">
                <a:latin typeface="Times New Roman"/>
                <a:cs typeface="Times New Roman"/>
              </a:rPr>
              <a:t>equipment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889775" y="2967755"/>
            <a:ext cx="710565" cy="411480"/>
          </a:xfrm>
          <a:prstGeom prst="rect">
            <a:avLst/>
          </a:prstGeom>
          <a:solidFill>
            <a:srgbClr val="CAEBCC"/>
          </a:solidFill>
          <a:ln w="24677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93980" marR="107950" indent="95885">
              <a:lnSpc>
                <a:spcPts val="1430"/>
              </a:lnSpc>
              <a:spcBef>
                <a:spcPts val="200"/>
              </a:spcBef>
            </a:pPr>
            <a:r>
              <a:rPr sz="1200" b="1" spc="-20" dirty="0">
                <a:latin typeface="Times New Roman"/>
                <a:cs typeface="Times New Roman"/>
              </a:rPr>
              <a:t>Data channel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889775" y="3770589"/>
            <a:ext cx="710565" cy="410209"/>
          </a:xfrm>
          <a:prstGeom prst="rect">
            <a:avLst/>
          </a:prstGeom>
          <a:solidFill>
            <a:srgbClr val="CAEBCC"/>
          </a:solidFill>
          <a:ln w="24677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93980" marR="107950" indent="95885">
              <a:lnSpc>
                <a:spcPts val="1430"/>
              </a:lnSpc>
              <a:spcBef>
                <a:spcPts val="45"/>
              </a:spcBef>
            </a:pPr>
            <a:r>
              <a:rPr sz="1200" b="1" spc="-20" dirty="0">
                <a:latin typeface="Times New Roman"/>
                <a:cs typeface="Times New Roman"/>
              </a:rPr>
              <a:t>Data channel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889775" y="4823961"/>
            <a:ext cx="710565" cy="411480"/>
          </a:xfrm>
          <a:prstGeom prst="rect">
            <a:avLst/>
          </a:prstGeom>
          <a:solidFill>
            <a:srgbClr val="CAEBCC"/>
          </a:solidFill>
          <a:ln w="24677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3980" marR="107950" indent="95885">
              <a:lnSpc>
                <a:spcPts val="1430"/>
              </a:lnSpc>
              <a:spcBef>
                <a:spcPts val="245"/>
              </a:spcBef>
            </a:pPr>
            <a:r>
              <a:rPr sz="1200" b="1" spc="-20" dirty="0">
                <a:latin typeface="Times New Roman"/>
                <a:cs typeface="Times New Roman"/>
              </a:rPr>
              <a:t>Data channel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283313" y="2606606"/>
            <a:ext cx="735330" cy="1097280"/>
          </a:xfrm>
          <a:prstGeom prst="rect">
            <a:avLst/>
          </a:prstGeom>
          <a:solidFill>
            <a:srgbClr val="CAEBCC"/>
          </a:solidFill>
          <a:ln w="2467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Times New Roman"/>
              <a:cs typeface="Times New Roman"/>
            </a:endParaRPr>
          </a:p>
          <a:p>
            <a:pPr marL="156210" marR="161925" indent="-1905">
              <a:lnSpc>
                <a:spcPts val="1430"/>
              </a:lnSpc>
              <a:spcBef>
                <a:spcPts val="5"/>
              </a:spcBef>
            </a:pPr>
            <a:r>
              <a:rPr sz="1200" b="1" spc="-10" dirty="0">
                <a:latin typeface="Times New Roman"/>
                <a:cs typeface="Times New Roman"/>
              </a:rPr>
              <a:t>Multi-</a:t>
            </a:r>
            <a:r>
              <a:rPr sz="1200" b="1" spc="-15" dirty="0">
                <a:latin typeface="Times New Roman"/>
                <a:cs typeface="Times New Roman"/>
              </a:rPr>
              <a:t>plexor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636" y="1054608"/>
            <a:ext cx="7764018" cy="92583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4540" y="1162253"/>
            <a:ext cx="7242809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solidFill>
                  <a:srgbClr val="663366"/>
                </a:solidFill>
                <a:latin typeface="Cambria"/>
                <a:cs typeface="Cambria"/>
              </a:rPr>
              <a:t>Third</a:t>
            </a:r>
            <a:r>
              <a:rPr sz="3300" spc="145" dirty="0">
                <a:solidFill>
                  <a:srgbClr val="663366"/>
                </a:solidFill>
                <a:latin typeface="Cambria"/>
                <a:cs typeface="Cambria"/>
              </a:rPr>
              <a:t> </a:t>
            </a:r>
            <a:r>
              <a:rPr sz="3300" spc="135" dirty="0">
                <a:solidFill>
                  <a:srgbClr val="663366"/>
                </a:solidFill>
                <a:latin typeface="Cambria"/>
                <a:cs typeface="Cambria"/>
              </a:rPr>
              <a:t>Generation:</a:t>
            </a:r>
            <a:r>
              <a:rPr sz="3300" spc="750" dirty="0">
                <a:solidFill>
                  <a:srgbClr val="663366"/>
                </a:solidFill>
                <a:latin typeface="Cambria"/>
                <a:cs typeface="Cambria"/>
              </a:rPr>
              <a:t> </a:t>
            </a:r>
            <a:r>
              <a:rPr sz="3300" spc="100" dirty="0">
                <a:solidFill>
                  <a:srgbClr val="663366"/>
                </a:solidFill>
                <a:latin typeface="Cambria"/>
                <a:cs typeface="Cambria"/>
              </a:rPr>
              <a:t>Integrated</a:t>
            </a:r>
            <a:r>
              <a:rPr sz="3300" spc="135" dirty="0">
                <a:solidFill>
                  <a:srgbClr val="663366"/>
                </a:solidFill>
                <a:latin typeface="Cambria"/>
                <a:cs typeface="Cambria"/>
              </a:rPr>
              <a:t> </a:t>
            </a:r>
            <a:r>
              <a:rPr sz="3300" spc="100" dirty="0">
                <a:solidFill>
                  <a:srgbClr val="663366"/>
                </a:solidFill>
                <a:latin typeface="Cambria"/>
                <a:cs typeface="Cambria"/>
              </a:rPr>
              <a:t>Circuits</a:t>
            </a:r>
            <a:endParaRPr sz="33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375" y="280415"/>
            <a:ext cx="5093970" cy="100965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12140" y="399034"/>
            <a:ext cx="4521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History</a:t>
            </a:r>
            <a:r>
              <a:rPr spc="150" dirty="0"/>
              <a:t> </a:t>
            </a:r>
            <a:r>
              <a:rPr dirty="0"/>
              <a:t>of</a:t>
            </a:r>
            <a:r>
              <a:rPr spc="165" dirty="0"/>
              <a:t> </a:t>
            </a:r>
            <a:r>
              <a:rPr spc="155" dirty="0"/>
              <a:t>Computers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7244" y="2691206"/>
            <a:ext cx="7169784" cy="3080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1958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–</a:t>
            </a:r>
            <a:r>
              <a:rPr sz="20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invention</a:t>
            </a:r>
            <a:r>
              <a:rPr sz="20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20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integrated</a:t>
            </a:r>
            <a:r>
              <a:rPr sz="20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circuit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i="1" spc="70" dirty="0">
                <a:solidFill>
                  <a:srgbClr val="585858"/>
                </a:solidFill>
                <a:latin typeface="Cambria"/>
                <a:cs typeface="Cambria"/>
              </a:rPr>
              <a:t>Discrete</a:t>
            </a:r>
            <a:r>
              <a:rPr sz="2000" i="1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i="1" spc="65" dirty="0">
                <a:solidFill>
                  <a:srgbClr val="585858"/>
                </a:solidFill>
                <a:latin typeface="Cambria"/>
                <a:cs typeface="Cambria"/>
              </a:rPr>
              <a:t>component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1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Single,</a:t>
            </a:r>
            <a:r>
              <a:rPr sz="1800" spc="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self-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contained</a:t>
            </a:r>
            <a:r>
              <a:rPr sz="1800" spc="2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585858"/>
                </a:solidFill>
                <a:latin typeface="Cambria"/>
                <a:cs typeface="Cambria"/>
              </a:rPr>
              <a:t>transistor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20" dirty="0">
                <a:solidFill>
                  <a:srgbClr val="585858"/>
                </a:solidFill>
                <a:latin typeface="Cambria"/>
                <a:cs typeface="Cambria"/>
              </a:rPr>
              <a:t>Manufactured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separately,</a:t>
            </a:r>
            <a:r>
              <a:rPr sz="1800" spc="-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20" dirty="0">
                <a:solidFill>
                  <a:srgbClr val="585858"/>
                </a:solidFill>
                <a:latin typeface="Cambria"/>
                <a:cs typeface="Cambria"/>
              </a:rPr>
              <a:t>packaged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585858"/>
                </a:solidFill>
                <a:latin typeface="Cambria"/>
                <a:cs typeface="Cambria"/>
              </a:rPr>
              <a:t>their</a:t>
            </a:r>
            <a:r>
              <a:rPr sz="18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585858"/>
                </a:solidFill>
                <a:latin typeface="Cambria"/>
                <a:cs typeface="Cambria"/>
              </a:rPr>
              <a:t>own</a:t>
            </a:r>
            <a:r>
              <a:rPr sz="18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containers,</a:t>
            </a:r>
            <a:r>
              <a:rPr sz="1800" spc="-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endParaRPr sz="1800">
              <a:latin typeface="Cambria"/>
              <a:cs typeface="Cambria"/>
            </a:endParaRPr>
          </a:p>
          <a:p>
            <a:pPr marL="469265">
              <a:lnSpc>
                <a:spcPct val="100000"/>
              </a:lnSpc>
            </a:pP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soldered</a:t>
            </a:r>
            <a:r>
              <a:rPr sz="1800" spc="1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or</a:t>
            </a:r>
            <a:r>
              <a:rPr sz="1800" spc="1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wired</a:t>
            </a:r>
            <a:r>
              <a:rPr sz="1800" spc="1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together</a:t>
            </a:r>
            <a:r>
              <a:rPr sz="1800" spc="20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onto</a:t>
            </a:r>
            <a:r>
              <a:rPr sz="1800" spc="1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masonite-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like</a:t>
            </a:r>
            <a:r>
              <a:rPr sz="1800" spc="2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circuit</a:t>
            </a:r>
            <a:r>
              <a:rPr sz="1800" spc="1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boards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Manufacturing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process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was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expensive</a:t>
            </a:r>
            <a:r>
              <a:rPr sz="18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and 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cumbersome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98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6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two</a:t>
            </a:r>
            <a:r>
              <a:rPr sz="20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most</a:t>
            </a:r>
            <a:r>
              <a:rPr sz="20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important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members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20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third</a:t>
            </a:r>
            <a:r>
              <a:rPr sz="20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generation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were</a:t>
            </a:r>
            <a:r>
              <a:rPr sz="20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IBM</a:t>
            </a:r>
            <a:r>
              <a:rPr sz="2000" spc="1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System/360</a:t>
            </a:r>
            <a:r>
              <a:rPr sz="20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20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1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204" dirty="0">
                <a:solidFill>
                  <a:srgbClr val="585858"/>
                </a:solidFill>
                <a:latin typeface="Cambria"/>
                <a:cs typeface="Cambria"/>
              </a:rPr>
              <a:t>DEC</a:t>
            </a:r>
            <a:r>
              <a:rPr sz="20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PDP-</a:t>
            </a:r>
            <a:r>
              <a:rPr sz="2000" spc="-50" dirty="0">
                <a:solidFill>
                  <a:srgbClr val="585858"/>
                </a:solidFill>
                <a:latin typeface="Cambria"/>
                <a:cs typeface="Cambria"/>
              </a:rPr>
              <a:t>8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1171" y="1915667"/>
            <a:ext cx="1524762" cy="190576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75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105" dirty="0"/>
              <a:t>Integrated</a:t>
            </a:r>
            <a:r>
              <a:rPr sz="3600" spc="110" dirty="0"/>
              <a:t> </a:t>
            </a:r>
            <a:r>
              <a:rPr sz="3600" spc="120" dirty="0"/>
              <a:t>Circuit</a:t>
            </a:r>
            <a:r>
              <a:rPr sz="3600" spc="110" dirty="0"/>
              <a:t> </a:t>
            </a:r>
            <a:r>
              <a:rPr sz="3600" spc="125" dirty="0"/>
              <a:t>(IC)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348" y="1556003"/>
            <a:ext cx="7385304" cy="45704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33485" y="2340130"/>
            <a:ext cx="1403985" cy="1010919"/>
          </a:xfrm>
          <a:prstGeom prst="rect">
            <a:avLst/>
          </a:prstGeom>
          <a:solidFill>
            <a:srgbClr val="CAEBCC"/>
          </a:solidFill>
          <a:ln w="30546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282575" marR="340995" indent="-1270" algn="ctr">
              <a:lnSpc>
                <a:spcPct val="101099"/>
              </a:lnSpc>
              <a:spcBef>
                <a:spcPts val="365"/>
              </a:spcBef>
            </a:pPr>
            <a:r>
              <a:rPr sz="17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Boolean logic function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245" y="2660750"/>
            <a:ext cx="544195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b="1" spc="-10" dirty="0">
                <a:latin typeface="Times New Roman"/>
                <a:cs typeface="Times New Roman"/>
              </a:rPr>
              <a:t>Input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1894" y="4043159"/>
            <a:ext cx="797560" cy="548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0" marR="5080" indent="-114935">
              <a:lnSpc>
                <a:spcPct val="101000"/>
              </a:lnSpc>
              <a:spcBef>
                <a:spcPts val="90"/>
              </a:spcBef>
            </a:pPr>
            <a:r>
              <a:rPr sz="1700" b="1" spc="-10" dirty="0">
                <a:latin typeface="Times New Roman"/>
                <a:cs typeface="Times New Roman"/>
              </a:rPr>
              <a:t>Activate signal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8945" y="4798694"/>
            <a:ext cx="780415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b="1" dirty="0">
                <a:latin typeface="Times New Roman"/>
                <a:cs typeface="Times New Roman"/>
              </a:rPr>
              <a:t>(a)</a:t>
            </a:r>
            <a:r>
              <a:rPr sz="1700" b="1" spc="20" dirty="0">
                <a:latin typeface="Times New Roman"/>
                <a:cs typeface="Times New Roman"/>
              </a:rPr>
              <a:t> </a:t>
            </a:r>
            <a:r>
              <a:rPr sz="1700" b="1" spc="-20" dirty="0">
                <a:latin typeface="Times New Roman"/>
                <a:cs typeface="Times New Roman"/>
              </a:rPr>
              <a:t>Gate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7609" y="5645896"/>
            <a:ext cx="559308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dirty="0">
                <a:latin typeface="Times New Roman"/>
                <a:cs typeface="Times New Roman"/>
              </a:rPr>
              <a:t>Figure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1.10</a:t>
            </a:r>
            <a:r>
              <a:rPr sz="2200" b="1" spc="4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Fundamental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Computer</a:t>
            </a:r>
            <a:r>
              <a:rPr sz="2200" b="1" spc="9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Elements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82609" y="2676171"/>
            <a:ext cx="70231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b="1" spc="-10" dirty="0">
                <a:latin typeface="Times New Roman"/>
                <a:cs typeface="Times New Roman"/>
              </a:rPr>
              <a:t>Output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937059" y="2767080"/>
            <a:ext cx="709295" cy="152400"/>
            <a:chOff x="2937059" y="2767080"/>
            <a:chExt cx="709295" cy="152400"/>
          </a:xfrm>
        </p:grpSpPr>
        <p:sp>
          <p:nvSpPr>
            <p:cNvPr id="10" name="object 10"/>
            <p:cNvSpPr/>
            <p:nvPr/>
          </p:nvSpPr>
          <p:spPr>
            <a:xfrm>
              <a:off x="2937059" y="2842781"/>
              <a:ext cx="586740" cy="0"/>
            </a:xfrm>
            <a:custGeom>
              <a:avLst/>
              <a:gdLst/>
              <a:ahLst/>
              <a:cxnLst/>
              <a:rect l="l" t="t" r="r" b="b"/>
              <a:pathLst>
                <a:path w="586739">
                  <a:moveTo>
                    <a:pt x="0" y="0"/>
                  </a:moveTo>
                  <a:lnTo>
                    <a:pt x="0" y="0"/>
                  </a:lnTo>
                  <a:lnTo>
                    <a:pt x="586289" y="0"/>
                  </a:lnTo>
                </a:path>
              </a:pathLst>
            </a:custGeom>
            <a:ln w="30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66027" y="2767080"/>
              <a:ext cx="180340" cy="152400"/>
            </a:xfrm>
            <a:custGeom>
              <a:avLst/>
              <a:gdLst/>
              <a:ahLst/>
              <a:cxnLst/>
              <a:rect l="l" t="t" r="r" b="b"/>
              <a:pathLst>
                <a:path w="180339" h="152400">
                  <a:moveTo>
                    <a:pt x="0" y="0"/>
                  </a:moveTo>
                  <a:lnTo>
                    <a:pt x="31308" y="75701"/>
                  </a:lnTo>
                  <a:lnTo>
                    <a:pt x="0" y="151870"/>
                  </a:lnTo>
                  <a:lnTo>
                    <a:pt x="180216" y="757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16378" y="3356336"/>
            <a:ext cx="1495425" cy="721995"/>
            <a:chOff x="816378" y="3356336"/>
            <a:chExt cx="1495425" cy="721995"/>
          </a:xfrm>
        </p:grpSpPr>
        <p:sp>
          <p:nvSpPr>
            <p:cNvPr id="13" name="object 13"/>
            <p:cNvSpPr/>
            <p:nvPr/>
          </p:nvSpPr>
          <p:spPr>
            <a:xfrm>
              <a:off x="831651" y="3479235"/>
              <a:ext cx="1403985" cy="583565"/>
            </a:xfrm>
            <a:custGeom>
              <a:avLst/>
              <a:gdLst/>
              <a:ahLst/>
              <a:cxnLst/>
              <a:rect l="l" t="t" r="r" b="b"/>
              <a:pathLst>
                <a:path w="1403985" h="583564">
                  <a:moveTo>
                    <a:pt x="1403698" y="0"/>
                  </a:moveTo>
                  <a:lnTo>
                    <a:pt x="1403698" y="583493"/>
                  </a:lnTo>
                  <a:lnTo>
                    <a:pt x="0" y="583493"/>
                  </a:lnTo>
                </a:path>
              </a:pathLst>
            </a:custGeom>
            <a:ln w="30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59026" y="3356336"/>
              <a:ext cx="153035" cy="180340"/>
            </a:xfrm>
            <a:custGeom>
              <a:avLst/>
              <a:gdLst/>
              <a:ahLst/>
              <a:cxnLst/>
              <a:rect l="l" t="t" r="r" b="b"/>
              <a:pathLst>
                <a:path w="153035" h="180339">
                  <a:moveTo>
                    <a:pt x="76323" y="0"/>
                  </a:moveTo>
                  <a:lnTo>
                    <a:pt x="0" y="180219"/>
                  </a:lnTo>
                  <a:lnTo>
                    <a:pt x="76323" y="147353"/>
                  </a:lnTo>
                  <a:lnTo>
                    <a:pt x="152491" y="180219"/>
                  </a:lnTo>
                  <a:lnTo>
                    <a:pt x="763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32820" y="3036864"/>
            <a:ext cx="708025" cy="245745"/>
            <a:chOff x="832820" y="3036864"/>
            <a:chExt cx="708025" cy="245745"/>
          </a:xfrm>
        </p:grpSpPr>
        <p:sp>
          <p:nvSpPr>
            <p:cNvPr id="16" name="object 16"/>
            <p:cNvSpPr/>
            <p:nvPr/>
          </p:nvSpPr>
          <p:spPr>
            <a:xfrm>
              <a:off x="832820" y="3206647"/>
              <a:ext cx="584835" cy="0"/>
            </a:xfrm>
            <a:custGeom>
              <a:avLst/>
              <a:gdLst/>
              <a:ahLst/>
              <a:cxnLst/>
              <a:rect l="l" t="t" r="r" b="b"/>
              <a:pathLst>
                <a:path w="584835">
                  <a:moveTo>
                    <a:pt x="0" y="0"/>
                  </a:moveTo>
                  <a:lnTo>
                    <a:pt x="0" y="0"/>
                  </a:lnTo>
                  <a:lnTo>
                    <a:pt x="584622" y="0"/>
                  </a:lnTo>
                </a:path>
              </a:pathLst>
            </a:custGeom>
            <a:ln w="30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60231" y="3130478"/>
              <a:ext cx="180340" cy="152400"/>
            </a:xfrm>
            <a:custGeom>
              <a:avLst/>
              <a:gdLst/>
              <a:ahLst/>
              <a:cxnLst/>
              <a:rect l="l" t="t" r="r" b="b"/>
              <a:pathLst>
                <a:path w="180340" h="152400">
                  <a:moveTo>
                    <a:pt x="0" y="0"/>
                  </a:moveTo>
                  <a:lnTo>
                    <a:pt x="31666" y="76168"/>
                  </a:lnTo>
                  <a:lnTo>
                    <a:pt x="0" y="152026"/>
                  </a:lnTo>
                  <a:lnTo>
                    <a:pt x="180263" y="76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4329" y="3036864"/>
              <a:ext cx="73846" cy="72741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832820" y="2392778"/>
            <a:ext cx="708025" cy="267970"/>
            <a:chOff x="832820" y="2392778"/>
            <a:chExt cx="708025" cy="267970"/>
          </a:xfrm>
        </p:grpSpPr>
        <p:sp>
          <p:nvSpPr>
            <p:cNvPr id="20" name="object 20"/>
            <p:cNvSpPr/>
            <p:nvPr/>
          </p:nvSpPr>
          <p:spPr>
            <a:xfrm>
              <a:off x="832820" y="2468947"/>
              <a:ext cx="584835" cy="0"/>
            </a:xfrm>
            <a:custGeom>
              <a:avLst/>
              <a:gdLst/>
              <a:ahLst/>
              <a:cxnLst/>
              <a:rect l="l" t="t" r="r" b="b"/>
              <a:pathLst>
                <a:path w="584835">
                  <a:moveTo>
                    <a:pt x="0" y="0"/>
                  </a:moveTo>
                  <a:lnTo>
                    <a:pt x="0" y="0"/>
                  </a:lnTo>
                  <a:lnTo>
                    <a:pt x="584622" y="0"/>
                  </a:lnTo>
                </a:path>
              </a:pathLst>
            </a:custGeom>
            <a:ln w="30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60231" y="2392778"/>
              <a:ext cx="180340" cy="152400"/>
            </a:xfrm>
            <a:custGeom>
              <a:avLst/>
              <a:gdLst/>
              <a:ahLst/>
              <a:cxnLst/>
              <a:rect l="l" t="t" r="r" b="b"/>
              <a:pathLst>
                <a:path w="180340" h="152400">
                  <a:moveTo>
                    <a:pt x="0" y="0"/>
                  </a:moveTo>
                  <a:lnTo>
                    <a:pt x="31666" y="76168"/>
                  </a:lnTo>
                  <a:lnTo>
                    <a:pt x="0" y="151870"/>
                  </a:lnTo>
                  <a:lnTo>
                    <a:pt x="180263" y="76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4329" y="2587951"/>
              <a:ext cx="73846" cy="72741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123643" y="2340130"/>
            <a:ext cx="1403985" cy="1010919"/>
          </a:xfrm>
          <a:prstGeom prst="rect">
            <a:avLst/>
          </a:prstGeom>
          <a:solidFill>
            <a:srgbClr val="CAEBCC"/>
          </a:solidFill>
          <a:ln w="30546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330835" marR="388620" algn="ctr">
              <a:lnSpc>
                <a:spcPct val="101099"/>
              </a:lnSpc>
              <a:spcBef>
                <a:spcPts val="365"/>
              </a:spcBef>
            </a:pPr>
            <a:r>
              <a:rPr sz="1700" b="1" spc="-10" dirty="0">
                <a:latin typeface="Times New Roman"/>
                <a:cs typeface="Times New Roman"/>
              </a:rPr>
              <a:t>Binary storage </a:t>
            </a:r>
            <a:r>
              <a:rPr sz="1700" b="1" spc="-20" dirty="0">
                <a:latin typeface="Times New Roman"/>
                <a:cs typeface="Times New Roman"/>
              </a:rPr>
              <a:t>cell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26372" y="2660750"/>
            <a:ext cx="544195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b="1" spc="-10" dirty="0">
                <a:latin typeface="Times New Roman"/>
                <a:cs typeface="Times New Roman"/>
              </a:rPr>
              <a:t>Input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15935" y="3522924"/>
            <a:ext cx="565150" cy="710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7940">
              <a:lnSpc>
                <a:spcPct val="132200"/>
              </a:lnSpc>
              <a:spcBef>
                <a:spcPts val="95"/>
              </a:spcBef>
            </a:pPr>
            <a:r>
              <a:rPr sz="1700" b="1" spc="-20" dirty="0">
                <a:latin typeface="Times New Roman"/>
                <a:cs typeface="Times New Roman"/>
              </a:rPr>
              <a:t>Read </a:t>
            </a:r>
            <a:r>
              <a:rPr sz="1700" b="1" spc="-10" dirty="0">
                <a:latin typeface="Times New Roman"/>
                <a:cs typeface="Times New Roman"/>
              </a:rPr>
              <a:t>Write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33372" y="4798694"/>
            <a:ext cx="150749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b="1" dirty="0">
                <a:latin typeface="Times New Roman"/>
                <a:cs typeface="Times New Roman"/>
              </a:rPr>
              <a:t>(b)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Memory</a:t>
            </a:r>
            <a:r>
              <a:rPr sz="1700" b="1" spc="-5" dirty="0">
                <a:latin typeface="Times New Roman"/>
                <a:cs typeface="Times New Roman"/>
              </a:rPr>
              <a:t> </a:t>
            </a:r>
            <a:r>
              <a:rPr sz="1700" b="1" spc="-20" dirty="0">
                <a:latin typeface="Times New Roman"/>
                <a:cs typeface="Times New Roman"/>
              </a:rPr>
              <a:t>cell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72767" y="2676171"/>
            <a:ext cx="70231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b="1" spc="-10" dirty="0">
                <a:latin typeface="Times New Roman"/>
                <a:cs typeface="Times New Roman"/>
              </a:rPr>
              <a:t>Output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527216" y="2767080"/>
            <a:ext cx="709295" cy="152400"/>
            <a:chOff x="7527216" y="2767080"/>
            <a:chExt cx="709295" cy="152400"/>
          </a:xfrm>
        </p:grpSpPr>
        <p:sp>
          <p:nvSpPr>
            <p:cNvPr id="29" name="object 29"/>
            <p:cNvSpPr/>
            <p:nvPr/>
          </p:nvSpPr>
          <p:spPr>
            <a:xfrm>
              <a:off x="7527216" y="2842781"/>
              <a:ext cx="586740" cy="0"/>
            </a:xfrm>
            <a:custGeom>
              <a:avLst/>
              <a:gdLst/>
              <a:ahLst/>
              <a:cxnLst/>
              <a:rect l="l" t="t" r="r" b="b"/>
              <a:pathLst>
                <a:path w="586740">
                  <a:moveTo>
                    <a:pt x="0" y="0"/>
                  </a:moveTo>
                  <a:lnTo>
                    <a:pt x="0" y="0"/>
                  </a:lnTo>
                  <a:lnTo>
                    <a:pt x="586289" y="0"/>
                  </a:lnTo>
                </a:path>
              </a:pathLst>
            </a:custGeom>
            <a:ln w="30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55094" y="2767080"/>
              <a:ext cx="181610" cy="152400"/>
            </a:xfrm>
            <a:custGeom>
              <a:avLst/>
              <a:gdLst/>
              <a:ahLst/>
              <a:cxnLst/>
              <a:rect l="l" t="t" r="r" b="b"/>
              <a:pathLst>
                <a:path w="181609" h="152400">
                  <a:moveTo>
                    <a:pt x="0" y="0"/>
                  </a:moveTo>
                  <a:lnTo>
                    <a:pt x="32398" y="75701"/>
                  </a:lnTo>
                  <a:lnTo>
                    <a:pt x="0" y="151870"/>
                  </a:lnTo>
                  <a:lnTo>
                    <a:pt x="181307" y="757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423024" y="2771597"/>
            <a:ext cx="708025" cy="153670"/>
            <a:chOff x="5423024" y="2771597"/>
            <a:chExt cx="708025" cy="153670"/>
          </a:xfrm>
        </p:grpSpPr>
        <p:sp>
          <p:nvSpPr>
            <p:cNvPr id="32" name="object 32"/>
            <p:cNvSpPr/>
            <p:nvPr/>
          </p:nvSpPr>
          <p:spPr>
            <a:xfrm>
              <a:off x="5423024" y="2849012"/>
              <a:ext cx="585470" cy="0"/>
            </a:xfrm>
            <a:custGeom>
              <a:avLst/>
              <a:gdLst/>
              <a:ahLst/>
              <a:cxnLst/>
              <a:rect l="l" t="t" r="r" b="b"/>
              <a:pathLst>
                <a:path w="585470">
                  <a:moveTo>
                    <a:pt x="0" y="0"/>
                  </a:moveTo>
                  <a:lnTo>
                    <a:pt x="0" y="0"/>
                  </a:lnTo>
                  <a:lnTo>
                    <a:pt x="585043" y="0"/>
                  </a:lnTo>
                </a:path>
              </a:pathLst>
            </a:custGeom>
            <a:ln w="30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49189" y="2771597"/>
              <a:ext cx="181610" cy="153670"/>
            </a:xfrm>
            <a:custGeom>
              <a:avLst/>
              <a:gdLst/>
              <a:ahLst/>
              <a:cxnLst/>
              <a:rect l="l" t="t" r="r" b="b"/>
              <a:pathLst>
                <a:path w="181610" h="153669">
                  <a:moveTo>
                    <a:pt x="0" y="0"/>
                  </a:moveTo>
                  <a:lnTo>
                    <a:pt x="32865" y="77414"/>
                  </a:lnTo>
                  <a:lnTo>
                    <a:pt x="0" y="153272"/>
                  </a:lnTo>
                  <a:lnTo>
                    <a:pt x="181463" y="774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406505" y="3356336"/>
            <a:ext cx="1495425" cy="801370"/>
            <a:chOff x="5406505" y="3356336"/>
            <a:chExt cx="1495425" cy="801370"/>
          </a:xfrm>
        </p:grpSpPr>
        <p:sp>
          <p:nvSpPr>
            <p:cNvPr id="35" name="object 35"/>
            <p:cNvSpPr/>
            <p:nvPr/>
          </p:nvSpPr>
          <p:spPr>
            <a:xfrm>
              <a:off x="5421778" y="3479235"/>
              <a:ext cx="1403985" cy="662940"/>
            </a:xfrm>
            <a:custGeom>
              <a:avLst/>
              <a:gdLst/>
              <a:ahLst/>
              <a:cxnLst/>
              <a:rect l="l" t="t" r="r" b="b"/>
              <a:pathLst>
                <a:path w="1403984" h="662939">
                  <a:moveTo>
                    <a:pt x="1403729" y="0"/>
                  </a:moveTo>
                  <a:lnTo>
                    <a:pt x="1403729" y="662777"/>
                  </a:lnTo>
                  <a:lnTo>
                    <a:pt x="0" y="662777"/>
                  </a:lnTo>
                </a:path>
              </a:pathLst>
            </a:custGeom>
            <a:ln w="30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749651" y="3356336"/>
              <a:ext cx="152400" cy="180340"/>
            </a:xfrm>
            <a:custGeom>
              <a:avLst/>
              <a:gdLst/>
              <a:ahLst/>
              <a:cxnLst/>
              <a:rect l="l" t="t" r="r" b="b"/>
              <a:pathLst>
                <a:path w="152400" h="180339">
                  <a:moveTo>
                    <a:pt x="75856" y="0"/>
                  </a:moveTo>
                  <a:lnTo>
                    <a:pt x="0" y="180219"/>
                  </a:lnTo>
                  <a:lnTo>
                    <a:pt x="75856" y="147353"/>
                  </a:lnTo>
                  <a:lnTo>
                    <a:pt x="152023" y="180219"/>
                  </a:lnTo>
                  <a:lnTo>
                    <a:pt x="758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421778" y="3479235"/>
              <a:ext cx="991235" cy="305435"/>
            </a:xfrm>
            <a:custGeom>
              <a:avLst/>
              <a:gdLst/>
              <a:ahLst/>
              <a:cxnLst/>
              <a:rect l="l" t="t" r="r" b="b"/>
              <a:pathLst>
                <a:path w="991235" h="305435">
                  <a:moveTo>
                    <a:pt x="990647" y="0"/>
                  </a:moveTo>
                  <a:lnTo>
                    <a:pt x="990647" y="305142"/>
                  </a:lnTo>
                  <a:lnTo>
                    <a:pt x="0" y="305142"/>
                  </a:lnTo>
                </a:path>
              </a:pathLst>
            </a:custGeom>
            <a:ln w="30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35480" y="3356336"/>
              <a:ext cx="153670" cy="180340"/>
            </a:xfrm>
            <a:custGeom>
              <a:avLst/>
              <a:gdLst/>
              <a:ahLst/>
              <a:cxnLst/>
              <a:rect l="l" t="t" r="r" b="b"/>
              <a:pathLst>
                <a:path w="153670" h="180339">
                  <a:moveTo>
                    <a:pt x="76946" y="0"/>
                  </a:moveTo>
                  <a:lnTo>
                    <a:pt x="0" y="180219"/>
                  </a:lnTo>
                  <a:lnTo>
                    <a:pt x="76946" y="147353"/>
                  </a:lnTo>
                  <a:lnTo>
                    <a:pt x="153114" y="180219"/>
                  </a:lnTo>
                  <a:lnTo>
                    <a:pt x="76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9" name="object 3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4329" y="2812719"/>
            <a:ext cx="73846" cy="72274"/>
          </a:xfrm>
          <a:prstGeom prst="rect">
            <a:avLst/>
          </a:prstGeom>
        </p:spPr>
      </p:pic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1600200"/>
          </a:xfrm>
          <a:custGeom>
            <a:avLst/>
            <a:gdLst/>
            <a:ahLst/>
            <a:cxnLst/>
            <a:rect l="l" t="t" r="r" b="b"/>
            <a:pathLst>
              <a:path w="685800" h="1600200">
                <a:moveTo>
                  <a:pt x="685800" y="0"/>
                </a:moveTo>
                <a:lnTo>
                  <a:pt x="0" y="0"/>
                </a:lnTo>
                <a:lnTo>
                  <a:pt x="0" y="1600199"/>
                </a:lnTo>
                <a:lnTo>
                  <a:pt x="685800" y="1600199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0413" y="200914"/>
            <a:ext cx="286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8576" y="356615"/>
            <a:ext cx="2912110" cy="1558290"/>
            <a:chOff x="798576" y="356615"/>
            <a:chExt cx="2912110" cy="15582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8576" y="356615"/>
              <a:ext cx="2911602" cy="10096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576" y="905256"/>
              <a:ext cx="2228850" cy="100965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422775" y="406653"/>
            <a:ext cx="34124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12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8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computer</a:t>
            </a:r>
            <a:r>
              <a:rPr sz="18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consists</a:t>
            </a:r>
            <a:r>
              <a:rPr sz="18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8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gates,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memory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cells,</a:t>
            </a:r>
            <a:r>
              <a:rPr sz="1800" spc="-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and </a:t>
            </a:r>
            <a:r>
              <a:rPr sz="1800" spc="20" dirty="0">
                <a:solidFill>
                  <a:srgbClr val="585858"/>
                </a:solidFill>
                <a:latin typeface="Cambria"/>
                <a:cs typeface="Cambria"/>
              </a:rPr>
              <a:t>interconnections</a:t>
            </a:r>
            <a:r>
              <a:rPr sz="1800" spc="2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among</a:t>
            </a:r>
            <a:r>
              <a:rPr sz="1800" spc="229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these 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elements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422775" y="1758822"/>
            <a:ext cx="33851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 gates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memory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 cells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are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constructed</a:t>
            </a:r>
            <a:r>
              <a:rPr sz="18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8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simple 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digital</a:t>
            </a:r>
            <a:r>
              <a:rPr sz="1800" spc="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electronic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components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7392" y="475234"/>
            <a:ext cx="308546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4825" marR="372110">
              <a:lnSpc>
                <a:spcPct val="100000"/>
              </a:lnSpc>
              <a:spcBef>
                <a:spcPts val="100"/>
              </a:spcBef>
            </a:pPr>
            <a:r>
              <a:rPr sz="3600" spc="95" dirty="0">
                <a:solidFill>
                  <a:srgbClr val="663366"/>
                </a:solidFill>
                <a:latin typeface="Cambria"/>
                <a:cs typeface="Cambria"/>
              </a:rPr>
              <a:t>Integrated </a:t>
            </a:r>
            <a:r>
              <a:rPr sz="3600" spc="105" dirty="0">
                <a:solidFill>
                  <a:srgbClr val="663366"/>
                </a:solidFill>
                <a:latin typeface="Cambria"/>
                <a:cs typeface="Cambria"/>
              </a:rPr>
              <a:t>Circuits</a:t>
            </a:r>
            <a:endParaRPr sz="3600">
              <a:latin typeface="Cambria"/>
              <a:cs typeface="Cambria"/>
            </a:endParaRPr>
          </a:p>
          <a:p>
            <a:pPr marL="240665" indent="-227965">
              <a:lnSpc>
                <a:spcPts val="2055"/>
              </a:lnSpc>
              <a:spcBef>
                <a:spcPts val="32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Data</a:t>
            </a:r>
            <a:r>
              <a:rPr sz="1800" spc="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storage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–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provided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by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ts val="2055"/>
              </a:lnSpc>
            </a:pP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memory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cells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7392" y="2732913"/>
            <a:ext cx="346329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5080" indent="-228600">
              <a:lnSpc>
                <a:spcPts val="1939"/>
              </a:lnSpc>
              <a:spcBef>
                <a:spcPts val="34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Data</a:t>
            </a:r>
            <a:r>
              <a:rPr sz="1800" spc="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processing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–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 provided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by 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gates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7392" y="3480054"/>
            <a:ext cx="3332479" cy="128778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5080" indent="-228600">
              <a:lnSpc>
                <a:spcPts val="1939"/>
              </a:lnSpc>
              <a:spcBef>
                <a:spcPts val="34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Data</a:t>
            </a:r>
            <a:r>
              <a:rPr sz="18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movement</a:t>
            </a:r>
            <a:r>
              <a:rPr sz="1800" spc="20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–</a:t>
            </a:r>
            <a:r>
              <a:rPr sz="18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585858"/>
                </a:solidFill>
                <a:latin typeface="Cambria"/>
                <a:cs typeface="Cambria"/>
              </a:rPr>
              <a:t>paths 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among</a:t>
            </a:r>
            <a:r>
              <a:rPr sz="18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components</a:t>
            </a:r>
            <a:r>
              <a:rPr sz="18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are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used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8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move</a:t>
            </a:r>
            <a:r>
              <a:rPr sz="18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data</a:t>
            </a:r>
            <a:r>
              <a:rPr sz="18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from</a:t>
            </a:r>
            <a:r>
              <a:rPr sz="18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memory</a:t>
            </a:r>
            <a:r>
              <a:rPr sz="18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585858"/>
                </a:solidFill>
                <a:latin typeface="Cambria"/>
                <a:cs typeface="Cambria"/>
              </a:rPr>
              <a:t>to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memory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from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 memory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through</a:t>
            </a:r>
            <a:r>
              <a:rPr sz="18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585858"/>
                </a:solidFill>
                <a:latin typeface="Cambria"/>
                <a:cs typeface="Cambria"/>
              </a:rPr>
              <a:t>gates</a:t>
            </a:r>
            <a:r>
              <a:rPr sz="18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8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memory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7392" y="4969255"/>
            <a:ext cx="3387725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5080" indent="-228600">
              <a:lnSpc>
                <a:spcPts val="1939"/>
              </a:lnSpc>
              <a:spcBef>
                <a:spcPts val="34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Control</a:t>
            </a:r>
            <a:r>
              <a:rPr sz="18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–</a:t>
            </a:r>
            <a:r>
              <a:rPr sz="18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paths</a:t>
            </a:r>
            <a:r>
              <a:rPr sz="18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among 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components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can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carry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585858"/>
                </a:solidFill>
                <a:latin typeface="Cambria"/>
                <a:cs typeface="Cambria"/>
              </a:rPr>
              <a:t>control 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signals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89450" y="2895981"/>
            <a:ext cx="3452495" cy="121793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41300" marR="5080" indent="-228600">
              <a:lnSpc>
                <a:spcPts val="1839"/>
              </a:lnSpc>
              <a:spcBef>
                <a:spcPts val="33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Exploits</a:t>
            </a:r>
            <a:r>
              <a:rPr sz="1700" spc="20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700" spc="2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fact</a:t>
            </a:r>
            <a:r>
              <a:rPr sz="1700" spc="1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1700" spc="2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30" dirty="0">
                <a:solidFill>
                  <a:srgbClr val="585858"/>
                </a:solidFill>
                <a:latin typeface="Cambria"/>
                <a:cs typeface="Cambria"/>
              </a:rPr>
              <a:t>such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components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as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585858"/>
                </a:solidFill>
                <a:latin typeface="Cambria"/>
                <a:cs typeface="Cambria"/>
              </a:rPr>
              <a:t>transistors,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resistors,</a:t>
            </a:r>
            <a:r>
              <a:rPr sz="1700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conductors</a:t>
            </a:r>
            <a:r>
              <a:rPr sz="17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can</a:t>
            </a:r>
            <a:r>
              <a:rPr sz="17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25" dirty="0">
                <a:solidFill>
                  <a:srgbClr val="585858"/>
                </a:solidFill>
                <a:latin typeface="Cambria"/>
                <a:cs typeface="Cambria"/>
              </a:rPr>
              <a:t>be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fabricated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from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2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5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semiconductor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 such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 as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585858"/>
                </a:solidFill>
                <a:latin typeface="Cambria"/>
                <a:cs typeface="Cambria"/>
              </a:rPr>
              <a:t>silicon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89450" y="4316729"/>
            <a:ext cx="3366135" cy="7518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41300" marR="5080" indent="-228600">
              <a:lnSpc>
                <a:spcPts val="1839"/>
              </a:lnSpc>
              <a:spcBef>
                <a:spcPts val="33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spc="55" dirty="0">
                <a:solidFill>
                  <a:srgbClr val="FF0000"/>
                </a:solidFill>
                <a:latin typeface="Cambria"/>
                <a:cs typeface="Cambria"/>
              </a:rPr>
              <a:t>Many</a:t>
            </a:r>
            <a:r>
              <a:rPr sz="17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0000"/>
                </a:solidFill>
                <a:latin typeface="Cambria"/>
                <a:cs typeface="Cambria"/>
              </a:rPr>
              <a:t>transistors</a:t>
            </a:r>
            <a:r>
              <a:rPr sz="17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can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25" dirty="0">
                <a:solidFill>
                  <a:srgbClr val="585858"/>
                </a:solidFill>
                <a:latin typeface="Cambria"/>
                <a:cs typeface="Cambria"/>
              </a:rPr>
              <a:t>be 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produced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at</a:t>
            </a:r>
            <a:r>
              <a:rPr sz="17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same</a:t>
            </a:r>
            <a:r>
              <a:rPr sz="17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time</a:t>
            </a:r>
            <a:r>
              <a:rPr sz="17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on</a:t>
            </a:r>
            <a:r>
              <a:rPr sz="17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20" dirty="0">
                <a:solidFill>
                  <a:srgbClr val="FF0000"/>
                </a:solidFill>
                <a:latin typeface="Cambria"/>
                <a:cs typeface="Cambria"/>
              </a:rPr>
              <a:t>a </a:t>
            </a:r>
            <a:r>
              <a:rPr sz="1700" spc="75" dirty="0">
                <a:solidFill>
                  <a:srgbClr val="FF0000"/>
                </a:solidFill>
                <a:latin typeface="Cambria"/>
                <a:cs typeface="Cambria"/>
              </a:rPr>
              <a:t>single</a:t>
            </a:r>
            <a:r>
              <a:rPr sz="1700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0000"/>
                </a:solidFill>
                <a:latin typeface="Cambria"/>
                <a:cs typeface="Cambria"/>
              </a:rPr>
              <a:t>wafer</a:t>
            </a:r>
            <a:r>
              <a:rPr sz="1700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700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FF0000"/>
                </a:solidFill>
                <a:latin typeface="Cambria"/>
                <a:cs typeface="Cambria"/>
              </a:rPr>
              <a:t>silicon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89450" y="5268925"/>
            <a:ext cx="3448050" cy="752475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241300" marR="5080" indent="-228600">
              <a:lnSpc>
                <a:spcPts val="1839"/>
              </a:lnSpc>
              <a:spcBef>
                <a:spcPts val="334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Transistors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can</a:t>
            </a:r>
            <a:r>
              <a:rPr sz="17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55" dirty="0">
                <a:solidFill>
                  <a:srgbClr val="585858"/>
                </a:solidFill>
                <a:latin typeface="Cambria"/>
                <a:cs typeface="Cambria"/>
              </a:rPr>
              <a:t>be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connected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with</a:t>
            </a:r>
            <a:r>
              <a:rPr sz="17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processor</a:t>
            </a:r>
            <a:r>
              <a:rPr sz="17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metallization</a:t>
            </a:r>
            <a:r>
              <a:rPr sz="17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585858"/>
                </a:solidFill>
                <a:latin typeface="Cambria"/>
                <a:cs typeface="Cambria"/>
              </a:rPr>
              <a:t>to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form</a:t>
            </a:r>
            <a:r>
              <a:rPr sz="1700" spc="1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585858"/>
                </a:solidFill>
                <a:latin typeface="Cambria"/>
                <a:cs typeface="Cambria"/>
              </a:rPr>
              <a:t>circuits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097325" y="174599"/>
            <a:ext cx="2117090" cy="2115820"/>
            <a:chOff x="3097325" y="174599"/>
            <a:chExt cx="2117090" cy="2115820"/>
          </a:xfrm>
        </p:grpSpPr>
        <p:sp>
          <p:nvSpPr>
            <p:cNvPr id="4" name="object 4"/>
            <p:cNvSpPr/>
            <p:nvPr/>
          </p:nvSpPr>
          <p:spPr>
            <a:xfrm>
              <a:off x="3112717" y="189992"/>
              <a:ext cx="2085975" cy="2084705"/>
            </a:xfrm>
            <a:custGeom>
              <a:avLst/>
              <a:gdLst/>
              <a:ahLst/>
              <a:cxnLst/>
              <a:rect l="l" t="t" r="r" b="b"/>
              <a:pathLst>
                <a:path w="2085975" h="2084705">
                  <a:moveTo>
                    <a:pt x="1042555" y="0"/>
                  </a:moveTo>
                  <a:lnTo>
                    <a:pt x="994841" y="1072"/>
                  </a:lnTo>
                  <a:lnTo>
                    <a:pt x="947678" y="4260"/>
                  </a:lnTo>
                  <a:lnTo>
                    <a:pt x="901110" y="9517"/>
                  </a:lnTo>
                  <a:lnTo>
                    <a:pt x="855184" y="16796"/>
                  </a:lnTo>
                  <a:lnTo>
                    <a:pt x="809946" y="26052"/>
                  </a:lnTo>
                  <a:lnTo>
                    <a:pt x="765442" y="37238"/>
                  </a:lnTo>
                  <a:lnTo>
                    <a:pt x="721717" y="50308"/>
                  </a:lnTo>
                  <a:lnTo>
                    <a:pt x="678819" y="65216"/>
                  </a:lnTo>
                  <a:lnTo>
                    <a:pt x="636793" y="81916"/>
                  </a:lnTo>
                  <a:lnTo>
                    <a:pt x="595685" y="100361"/>
                  </a:lnTo>
                  <a:lnTo>
                    <a:pt x="555541" y="120507"/>
                  </a:lnTo>
                  <a:lnTo>
                    <a:pt x="516408" y="142305"/>
                  </a:lnTo>
                  <a:lnTo>
                    <a:pt x="478330" y="165710"/>
                  </a:lnTo>
                  <a:lnTo>
                    <a:pt x="441355" y="190677"/>
                  </a:lnTo>
                  <a:lnTo>
                    <a:pt x="405529" y="217158"/>
                  </a:lnTo>
                  <a:lnTo>
                    <a:pt x="370896" y="245108"/>
                  </a:lnTo>
                  <a:lnTo>
                    <a:pt x="337505" y="274481"/>
                  </a:lnTo>
                  <a:lnTo>
                    <a:pt x="305399" y="305230"/>
                  </a:lnTo>
                  <a:lnTo>
                    <a:pt x="274627" y="337309"/>
                  </a:lnTo>
                  <a:lnTo>
                    <a:pt x="245233" y="370672"/>
                  </a:lnTo>
                  <a:lnTo>
                    <a:pt x="217263" y="405272"/>
                  </a:lnTo>
                  <a:lnTo>
                    <a:pt x="190765" y="441065"/>
                  </a:lnTo>
                  <a:lnTo>
                    <a:pt x="165783" y="478003"/>
                  </a:lnTo>
                  <a:lnTo>
                    <a:pt x="142364" y="516040"/>
                  </a:lnTo>
                  <a:lnTo>
                    <a:pt x="120554" y="555131"/>
                  </a:lnTo>
                  <a:lnTo>
                    <a:pt x="100399" y="595229"/>
                  </a:lnTo>
                  <a:lnTo>
                    <a:pt x="81945" y="636287"/>
                  </a:lnTo>
                  <a:lnTo>
                    <a:pt x="65237" y="678260"/>
                  </a:lnTo>
                  <a:lnTo>
                    <a:pt x="50323" y="721102"/>
                  </a:lnTo>
                  <a:lnTo>
                    <a:pt x="37248" y="764766"/>
                  </a:lnTo>
                  <a:lnTo>
                    <a:pt x="26059" y="809206"/>
                  </a:lnTo>
                  <a:lnTo>
                    <a:pt x="16800" y="854377"/>
                  </a:lnTo>
                  <a:lnTo>
                    <a:pt x="9519" y="900231"/>
                  </a:lnTo>
                  <a:lnTo>
                    <a:pt x="4261" y="946723"/>
                  </a:lnTo>
                  <a:lnTo>
                    <a:pt x="1073" y="993806"/>
                  </a:lnTo>
                  <a:lnTo>
                    <a:pt x="0" y="1041435"/>
                  </a:lnTo>
                  <a:lnTo>
                    <a:pt x="1073" y="1089204"/>
                  </a:lnTo>
                  <a:lnTo>
                    <a:pt x="4261" y="1136419"/>
                  </a:lnTo>
                  <a:lnTo>
                    <a:pt x="9519" y="1183036"/>
                  </a:lnTo>
                  <a:lnTo>
                    <a:pt x="16800" y="1229007"/>
                  </a:lnTo>
                  <a:lnTo>
                    <a:pt x="26059" y="1274288"/>
                  </a:lnTo>
                  <a:lnTo>
                    <a:pt x="37248" y="1318831"/>
                  </a:lnTo>
                  <a:lnTo>
                    <a:pt x="50323" y="1362592"/>
                  </a:lnTo>
                  <a:lnTo>
                    <a:pt x="65237" y="1405524"/>
                  </a:lnTo>
                  <a:lnTo>
                    <a:pt x="81945" y="1447581"/>
                  </a:lnTo>
                  <a:lnTo>
                    <a:pt x="100399" y="1488717"/>
                  </a:lnTo>
                  <a:lnTo>
                    <a:pt x="120554" y="1528887"/>
                  </a:lnTo>
                  <a:lnTo>
                    <a:pt x="142364" y="1568045"/>
                  </a:lnTo>
                  <a:lnTo>
                    <a:pt x="165783" y="1606143"/>
                  </a:lnTo>
                  <a:lnTo>
                    <a:pt x="190765" y="1643137"/>
                  </a:lnTo>
                  <a:lnTo>
                    <a:pt x="217263" y="1678981"/>
                  </a:lnTo>
                  <a:lnTo>
                    <a:pt x="245233" y="1713629"/>
                  </a:lnTo>
                  <a:lnTo>
                    <a:pt x="274627" y="1747034"/>
                  </a:lnTo>
                  <a:lnTo>
                    <a:pt x="305399" y="1779151"/>
                  </a:lnTo>
                  <a:lnTo>
                    <a:pt x="337505" y="1809934"/>
                  </a:lnTo>
                  <a:lnTo>
                    <a:pt x="370896" y="1839337"/>
                  </a:lnTo>
                  <a:lnTo>
                    <a:pt x="405529" y="1867313"/>
                  </a:lnTo>
                  <a:lnTo>
                    <a:pt x="441355" y="1893818"/>
                  </a:lnTo>
                  <a:lnTo>
                    <a:pt x="478330" y="1918805"/>
                  </a:lnTo>
                  <a:lnTo>
                    <a:pt x="516408" y="1942228"/>
                  </a:lnTo>
                  <a:lnTo>
                    <a:pt x="555541" y="1964041"/>
                  </a:lnTo>
                  <a:lnTo>
                    <a:pt x="595685" y="1984198"/>
                  </a:lnTo>
                  <a:lnTo>
                    <a:pt x="636793" y="2002654"/>
                  </a:lnTo>
                  <a:lnTo>
                    <a:pt x="678819" y="2019362"/>
                  </a:lnTo>
                  <a:lnTo>
                    <a:pt x="721717" y="2034276"/>
                  </a:lnTo>
                  <a:lnTo>
                    <a:pt x="765442" y="2047351"/>
                  </a:lnTo>
                  <a:lnTo>
                    <a:pt x="809946" y="2058540"/>
                  </a:lnTo>
                  <a:lnTo>
                    <a:pt x="855184" y="2067798"/>
                  </a:lnTo>
                  <a:lnTo>
                    <a:pt x="901110" y="2075079"/>
                  </a:lnTo>
                  <a:lnTo>
                    <a:pt x="947678" y="2080336"/>
                  </a:lnTo>
                  <a:lnTo>
                    <a:pt x="994841" y="2083524"/>
                  </a:lnTo>
                  <a:lnTo>
                    <a:pt x="1042555" y="2084597"/>
                  </a:lnTo>
                  <a:lnTo>
                    <a:pt x="1090319" y="2083524"/>
                  </a:lnTo>
                  <a:lnTo>
                    <a:pt x="1137530" y="2080336"/>
                  </a:lnTo>
                  <a:lnTo>
                    <a:pt x="1184144" y="2075079"/>
                  </a:lnTo>
                  <a:lnTo>
                    <a:pt x="1230112" y="2067798"/>
                  </a:lnTo>
                  <a:lnTo>
                    <a:pt x="1275390" y="2058540"/>
                  </a:lnTo>
                  <a:lnTo>
                    <a:pt x="1319932" y="2047351"/>
                  </a:lnTo>
                  <a:lnTo>
                    <a:pt x="1363692" y="2034276"/>
                  </a:lnTo>
                  <a:lnTo>
                    <a:pt x="1406623" y="2019362"/>
                  </a:lnTo>
                  <a:lnTo>
                    <a:pt x="1448679" y="2002654"/>
                  </a:lnTo>
                  <a:lnTo>
                    <a:pt x="1489816" y="1984198"/>
                  </a:lnTo>
                  <a:lnTo>
                    <a:pt x="1529986" y="1964041"/>
                  </a:lnTo>
                  <a:lnTo>
                    <a:pt x="1569144" y="1942228"/>
                  </a:lnTo>
                  <a:lnTo>
                    <a:pt x="1607243" y="1918805"/>
                  </a:lnTo>
                  <a:lnTo>
                    <a:pt x="1644239" y="1893818"/>
                  </a:lnTo>
                  <a:lnTo>
                    <a:pt x="1680084" y="1867313"/>
                  </a:lnTo>
                  <a:lnTo>
                    <a:pt x="1714733" y="1839337"/>
                  </a:lnTo>
                  <a:lnTo>
                    <a:pt x="1748140" y="1809934"/>
                  </a:lnTo>
                  <a:lnTo>
                    <a:pt x="1780259" y="1779151"/>
                  </a:lnTo>
                  <a:lnTo>
                    <a:pt x="1811044" y="1747034"/>
                  </a:lnTo>
                  <a:lnTo>
                    <a:pt x="1840449" y="1713629"/>
                  </a:lnTo>
                  <a:lnTo>
                    <a:pt x="1868428" y="1678981"/>
                  </a:lnTo>
                  <a:lnTo>
                    <a:pt x="1894935" y="1643137"/>
                  </a:lnTo>
                  <a:lnTo>
                    <a:pt x="1919924" y="1606143"/>
                  </a:lnTo>
                  <a:lnTo>
                    <a:pt x="1943350" y="1568045"/>
                  </a:lnTo>
                  <a:lnTo>
                    <a:pt x="1965165" y="1528887"/>
                  </a:lnTo>
                  <a:lnTo>
                    <a:pt x="1985325" y="1488717"/>
                  </a:lnTo>
                  <a:lnTo>
                    <a:pt x="2003783" y="1447581"/>
                  </a:lnTo>
                  <a:lnTo>
                    <a:pt x="2020493" y="1405524"/>
                  </a:lnTo>
                  <a:lnTo>
                    <a:pt x="2035409" y="1362592"/>
                  </a:lnTo>
                  <a:lnTo>
                    <a:pt x="2048486" y="1318831"/>
                  </a:lnTo>
                  <a:lnTo>
                    <a:pt x="2059677" y="1274288"/>
                  </a:lnTo>
                  <a:lnTo>
                    <a:pt x="2068936" y="1229007"/>
                  </a:lnTo>
                  <a:lnTo>
                    <a:pt x="2076218" y="1183036"/>
                  </a:lnTo>
                  <a:lnTo>
                    <a:pt x="2081476" y="1136419"/>
                  </a:lnTo>
                  <a:lnTo>
                    <a:pt x="2084664" y="1089204"/>
                  </a:lnTo>
                  <a:lnTo>
                    <a:pt x="2085738" y="1041435"/>
                  </a:lnTo>
                  <a:lnTo>
                    <a:pt x="2084664" y="993806"/>
                  </a:lnTo>
                  <a:lnTo>
                    <a:pt x="2081476" y="946723"/>
                  </a:lnTo>
                  <a:lnTo>
                    <a:pt x="2076218" y="900231"/>
                  </a:lnTo>
                  <a:lnTo>
                    <a:pt x="2068936" y="854377"/>
                  </a:lnTo>
                  <a:lnTo>
                    <a:pt x="2059677" y="809206"/>
                  </a:lnTo>
                  <a:lnTo>
                    <a:pt x="2048486" y="764766"/>
                  </a:lnTo>
                  <a:lnTo>
                    <a:pt x="2035409" y="721102"/>
                  </a:lnTo>
                  <a:lnTo>
                    <a:pt x="2020493" y="678260"/>
                  </a:lnTo>
                  <a:lnTo>
                    <a:pt x="2003783" y="636287"/>
                  </a:lnTo>
                  <a:lnTo>
                    <a:pt x="1985325" y="595229"/>
                  </a:lnTo>
                  <a:lnTo>
                    <a:pt x="1965165" y="555131"/>
                  </a:lnTo>
                  <a:lnTo>
                    <a:pt x="1943350" y="516040"/>
                  </a:lnTo>
                  <a:lnTo>
                    <a:pt x="1919924" y="478003"/>
                  </a:lnTo>
                  <a:lnTo>
                    <a:pt x="1894935" y="441065"/>
                  </a:lnTo>
                  <a:lnTo>
                    <a:pt x="1868428" y="405272"/>
                  </a:lnTo>
                  <a:lnTo>
                    <a:pt x="1840449" y="370672"/>
                  </a:lnTo>
                  <a:lnTo>
                    <a:pt x="1811044" y="337309"/>
                  </a:lnTo>
                  <a:lnTo>
                    <a:pt x="1780259" y="305230"/>
                  </a:lnTo>
                  <a:lnTo>
                    <a:pt x="1748140" y="274481"/>
                  </a:lnTo>
                  <a:lnTo>
                    <a:pt x="1714733" y="245108"/>
                  </a:lnTo>
                  <a:lnTo>
                    <a:pt x="1680084" y="217158"/>
                  </a:lnTo>
                  <a:lnTo>
                    <a:pt x="1644239" y="190677"/>
                  </a:lnTo>
                  <a:lnTo>
                    <a:pt x="1607243" y="165710"/>
                  </a:lnTo>
                  <a:lnTo>
                    <a:pt x="1569144" y="142305"/>
                  </a:lnTo>
                  <a:lnTo>
                    <a:pt x="1529986" y="120507"/>
                  </a:lnTo>
                  <a:lnTo>
                    <a:pt x="1489816" y="100361"/>
                  </a:lnTo>
                  <a:lnTo>
                    <a:pt x="1448679" y="81916"/>
                  </a:lnTo>
                  <a:lnTo>
                    <a:pt x="1406623" y="65216"/>
                  </a:lnTo>
                  <a:lnTo>
                    <a:pt x="1363692" y="50308"/>
                  </a:lnTo>
                  <a:lnTo>
                    <a:pt x="1319932" y="37238"/>
                  </a:lnTo>
                  <a:lnTo>
                    <a:pt x="1275390" y="26052"/>
                  </a:lnTo>
                  <a:lnTo>
                    <a:pt x="1230112" y="16796"/>
                  </a:lnTo>
                  <a:lnTo>
                    <a:pt x="1184144" y="9517"/>
                  </a:lnTo>
                  <a:lnTo>
                    <a:pt x="1137530" y="4260"/>
                  </a:lnTo>
                  <a:lnTo>
                    <a:pt x="1090319" y="1072"/>
                  </a:lnTo>
                  <a:lnTo>
                    <a:pt x="1042555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12717" y="189992"/>
              <a:ext cx="2085975" cy="2084705"/>
            </a:xfrm>
            <a:custGeom>
              <a:avLst/>
              <a:gdLst/>
              <a:ahLst/>
              <a:cxnLst/>
              <a:rect l="l" t="t" r="r" b="b"/>
              <a:pathLst>
                <a:path w="2085975" h="2084705">
                  <a:moveTo>
                    <a:pt x="2085738" y="1041435"/>
                  </a:moveTo>
                  <a:lnTo>
                    <a:pt x="2084664" y="1089204"/>
                  </a:lnTo>
                  <a:lnTo>
                    <a:pt x="2081476" y="1136419"/>
                  </a:lnTo>
                  <a:lnTo>
                    <a:pt x="2076218" y="1183036"/>
                  </a:lnTo>
                  <a:lnTo>
                    <a:pt x="2068936" y="1229007"/>
                  </a:lnTo>
                  <a:lnTo>
                    <a:pt x="2059677" y="1274288"/>
                  </a:lnTo>
                  <a:lnTo>
                    <a:pt x="2048486" y="1318831"/>
                  </a:lnTo>
                  <a:lnTo>
                    <a:pt x="2035409" y="1362592"/>
                  </a:lnTo>
                  <a:lnTo>
                    <a:pt x="2020493" y="1405524"/>
                  </a:lnTo>
                  <a:lnTo>
                    <a:pt x="2003783" y="1447581"/>
                  </a:lnTo>
                  <a:lnTo>
                    <a:pt x="1985325" y="1488717"/>
                  </a:lnTo>
                  <a:lnTo>
                    <a:pt x="1965165" y="1528887"/>
                  </a:lnTo>
                  <a:lnTo>
                    <a:pt x="1943350" y="1568045"/>
                  </a:lnTo>
                  <a:lnTo>
                    <a:pt x="1919924" y="1606143"/>
                  </a:lnTo>
                  <a:lnTo>
                    <a:pt x="1894935" y="1643137"/>
                  </a:lnTo>
                  <a:lnTo>
                    <a:pt x="1868428" y="1678981"/>
                  </a:lnTo>
                  <a:lnTo>
                    <a:pt x="1840449" y="1713629"/>
                  </a:lnTo>
                  <a:lnTo>
                    <a:pt x="1811044" y="1747034"/>
                  </a:lnTo>
                  <a:lnTo>
                    <a:pt x="1780259" y="1779151"/>
                  </a:lnTo>
                  <a:lnTo>
                    <a:pt x="1748140" y="1809934"/>
                  </a:lnTo>
                  <a:lnTo>
                    <a:pt x="1714733" y="1839337"/>
                  </a:lnTo>
                  <a:lnTo>
                    <a:pt x="1680084" y="1867313"/>
                  </a:lnTo>
                  <a:lnTo>
                    <a:pt x="1644239" y="1893818"/>
                  </a:lnTo>
                  <a:lnTo>
                    <a:pt x="1607243" y="1918805"/>
                  </a:lnTo>
                  <a:lnTo>
                    <a:pt x="1569144" y="1942228"/>
                  </a:lnTo>
                  <a:lnTo>
                    <a:pt x="1529986" y="1964041"/>
                  </a:lnTo>
                  <a:lnTo>
                    <a:pt x="1489816" y="1984198"/>
                  </a:lnTo>
                  <a:lnTo>
                    <a:pt x="1448679" y="2002654"/>
                  </a:lnTo>
                  <a:lnTo>
                    <a:pt x="1406623" y="2019362"/>
                  </a:lnTo>
                  <a:lnTo>
                    <a:pt x="1363692" y="2034276"/>
                  </a:lnTo>
                  <a:lnTo>
                    <a:pt x="1319932" y="2047351"/>
                  </a:lnTo>
                  <a:lnTo>
                    <a:pt x="1275390" y="2058540"/>
                  </a:lnTo>
                  <a:lnTo>
                    <a:pt x="1230112" y="2067798"/>
                  </a:lnTo>
                  <a:lnTo>
                    <a:pt x="1184144" y="2075079"/>
                  </a:lnTo>
                  <a:lnTo>
                    <a:pt x="1137530" y="2080336"/>
                  </a:lnTo>
                  <a:lnTo>
                    <a:pt x="1090319" y="2083524"/>
                  </a:lnTo>
                  <a:lnTo>
                    <a:pt x="1042555" y="2084597"/>
                  </a:lnTo>
                  <a:lnTo>
                    <a:pt x="994841" y="2083524"/>
                  </a:lnTo>
                  <a:lnTo>
                    <a:pt x="947678" y="2080336"/>
                  </a:lnTo>
                  <a:lnTo>
                    <a:pt x="901110" y="2075079"/>
                  </a:lnTo>
                  <a:lnTo>
                    <a:pt x="855184" y="2067798"/>
                  </a:lnTo>
                  <a:lnTo>
                    <a:pt x="809946" y="2058540"/>
                  </a:lnTo>
                  <a:lnTo>
                    <a:pt x="765442" y="2047351"/>
                  </a:lnTo>
                  <a:lnTo>
                    <a:pt x="721717" y="2034276"/>
                  </a:lnTo>
                  <a:lnTo>
                    <a:pt x="678819" y="2019362"/>
                  </a:lnTo>
                  <a:lnTo>
                    <a:pt x="636793" y="2002654"/>
                  </a:lnTo>
                  <a:lnTo>
                    <a:pt x="595685" y="1984198"/>
                  </a:lnTo>
                  <a:lnTo>
                    <a:pt x="555541" y="1964041"/>
                  </a:lnTo>
                  <a:lnTo>
                    <a:pt x="516408" y="1942228"/>
                  </a:lnTo>
                  <a:lnTo>
                    <a:pt x="478330" y="1918805"/>
                  </a:lnTo>
                  <a:lnTo>
                    <a:pt x="441355" y="1893818"/>
                  </a:lnTo>
                  <a:lnTo>
                    <a:pt x="405529" y="1867313"/>
                  </a:lnTo>
                  <a:lnTo>
                    <a:pt x="370896" y="1839337"/>
                  </a:lnTo>
                  <a:lnTo>
                    <a:pt x="337505" y="1809934"/>
                  </a:lnTo>
                  <a:lnTo>
                    <a:pt x="305399" y="1779151"/>
                  </a:lnTo>
                  <a:lnTo>
                    <a:pt x="274627" y="1747034"/>
                  </a:lnTo>
                  <a:lnTo>
                    <a:pt x="245233" y="1713629"/>
                  </a:lnTo>
                  <a:lnTo>
                    <a:pt x="217263" y="1678981"/>
                  </a:lnTo>
                  <a:lnTo>
                    <a:pt x="190765" y="1643137"/>
                  </a:lnTo>
                  <a:lnTo>
                    <a:pt x="165783" y="1606143"/>
                  </a:lnTo>
                  <a:lnTo>
                    <a:pt x="142364" y="1568045"/>
                  </a:lnTo>
                  <a:lnTo>
                    <a:pt x="120554" y="1528887"/>
                  </a:lnTo>
                  <a:lnTo>
                    <a:pt x="100399" y="1488717"/>
                  </a:lnTo>
                  <a:lnTo>
                    <a:pt x="81945" y="1447581"/>
                  </a:lnTo>
                  <a:lnTo>
                    <a:pt x="65237" y="1405524"/>
                  </a:lnTo>
                  <a:lnTo>
                    <a:pt x="50323" y="1362592"/>
                  </a:lnTo>
                  <a:lnTo>
                    <a:pt x="37248" y="1318831"/>
                  </a:lnTo>
                  <a:lnTo>
                    <a:pt x="26059" y="1274288"/>
                  </a:lnTo>
                  <a:lnTo>
                    <a:pt x="16800" y="1229007"/>
                  </a:lnTo>
                  <a:lnTo>
                    <a:pt x="9519" y="1183036"/>
                  </a:lnTo>
                  <a:lnTo>
                    <a:pt x="4261" y="1136419"/>
                  </a:lnTo>
                  <a:lnTo>
                    <a:pt x="1073" y="1089204"/>
                  </a:lnTo>
                  <a:lnTo>
                    <a:pt x="0" y="1041435"/>
                  </a:lnTo>
                  <a:lnTo>
                    <a:pt x="1073" y="993806"/>
                  </a:lnTo>
                  <a:lnTo>
                    <a:pt x="4261" y="946723"/>
                  </a:lnTo>
                  <a:lnTo>
                    <a:pt x="9519" y="900231"/>
                  </a:lnTo>
                  <a:lnTo>
                    <a:pt x="16800" y="854377"/>
                  </a:lnTo>
                  <a:lnTo>
                    <a:pt x="26059" y="809206"/>
                  </a:lnTo>
                  <a:lnTo>
                    <a:pt x="37248" y="764766"/>
                  </a:lnTo>
                  <a:lnTo>
                    <a:pt x="50323" y="721102"/>
                  </a:lnTo>
                  <a:lnTo>
                    <a:pt x="65237" y="678260"/>
                  </a:lnTo>
                  <a:lnTo>
                    <a:pt x="81945" y="636287"/>
                  </a:lnTo>
                  <a:lnTo>
                    <a:pt x="100399" y="595229"/>
                  </a:lnTo>
                  <a:lnTo>
                    <a:pt x="120554" y="555131"/>
                  </a:lnTo>
                  <a:lnTo>
                    <a:pt x="142364" y="516040"/>
                  </a:lnTo>
                  <a:lnTo>
                    <a:pt x="165783" y="478003"/>
                  </a:lnTo>
                  <a:lnTo>
                    <a:pt x="190765" y="441065"/>
                  </a:lnTo>
                  <a:lnTo>
                    <a:pt x="217263" y="405272"/>
                  </a:lnTo>
                  <a:lnTo>
                    <a:pt x="245233" y="370672"/>
                  </a:lnTo>
                  <a:lnTo>
                    <a:pt x="274627" y="337309"/>
                  </a:lnTo>
                  <a:lnTo>
                    <a:pt x="305399" y="305230"/>
                  </a:lnTo>
                  <a:lnTo>
                    <a:pt x="337505" y="274481"/>
                  </a:lnTo>
                  <a:lnTo>
                    <a:pt x="370896" y="245108"/>
                  </a:lnTo>
                  <a:lnTo>
                    <a:pt x="405529" y="217158"/>
                  </a:lnTo>
                  <a:lnTo>
                    <a:pt x="441355" y="190677"/>
                  </a:lnTo>
                  <a:lnTo>
                    <a:pt x="478330" y="165710"/>
                  </a:lnTo>
                  <a:lnTo>
                    <a:pt x="516408" y="142305"/>
                  </a:lnTo>
                  <a:lnTo>
                    <a:pt x="555541" y="120507"/>
                  </a:lnTo>
                  <a:lnTo>
                    <a:pt x="595685" y="100361"/>
                  </a:lnTo>
                  <a:lnTo>
                    <a:pt x="636793" y="81916"/>
                  </a:lnTo>
                  <a:lnTo>
                    <a:pt x="678819" y="65216"/>
                  </a:lnTo>
                  <a:lnTo>
                    <a:pt x="721717" y="50308"/>
                  </a:lnTo>
                  <a:lnTo>
                    <a:pt x="765442" y="37238"/>
                  </a:lnTo>
                  <a:lnTo>
                    <a:pt x="809946" y="26052"/>
                  </a:lnTo>
                  <a:lnTo>
                    <a:pt x="855184" y="16796"/>
                  </a:lnTo>
                  <a:lnTo>
                    <a:pt x="901110" y="9517"/>
                  </a:lnTo>
                  <a:lnTo>
                    <a:pt x="947678" y="4260"/>
                  </a:lnTo>
                  <a:lnTo>
                    <a:pt x="994841" y="1072"/>
                  </a:lnTo>
                  <a:lnTo>
                    <a:pt x="1042555" y="0"/>
                  </a:lnTo>
                  <a:lnTo>
                    <a:pt x="1090319" y="1072"/>
                  </a:lnTo>
                  <a:lnTo>
                    <a:pt x="1137530" y="4260"/>
                  </a:lnTo>
                  <a:lnTo>
                    <a:pt x="1184144" y="9517"/>
                  </a:lnTo>
                  <a:lnTo>
                    <a:pt x="1230112" y="16796"/>
                  </a:lnTo>
                  <a:lnTo>
                    <a:pt x="1275390" y="26052"/>
                  </a:lnTo>
                  <a:lnTo>
                    <a:pt x="1319932" y="37238"/>
                  </a:lnTo>
                  <a:lnTo>
                    <a:pt x="1363692" y="50308"/>
                  </a:lnTo>
                  <a:lnTo>
                    <a:pt x="1406623" y="65216"/>
                  </a:lnTo>
                  <a:lnTo>
                    <a:pt x="1448679" y="81916"/>
                  </a:lnTo>
                  <a:lnTo>
                    <a:pt x="1489816" y="100361"/>
                  </a:lnTo>
                  <a:lnTo>
                    <a:pt x="1529986" y="120507"/>
                  </a:lnTo>
                  <a:lnTo>
                    <a:pt x="1569144" y="142305"/>
                  </a:lnTo>
                  <a:lnTo>
                    <a:pt x="1607243" y="165710"/>
                  </a:lnTo>
                  <a:lnTo>
                    <a:pt x="1644239" y="190677"/>
                  </a:lnTo>
                  <a:lnTo>
                    <a:pt x="1680084" y="217158"/>
                  </a:lnTo>
                  <a:lnTo>
                    <a:pt x="1714733" y="245108"/>
                  </a:lnTo>
                  <a:lnTo>
                    <a:pt x="1748140" y="274481"/>
                  </a:lnTo>
                  <a:lnTo>
                    <a:pt x="1780259" y="305230"/>
                  </a:lnTo>
                  <a:lnTo>
                    <a:pt x="1811044" y="337309"/>
                  </a:lnTo>
                  <a:lnTo>
                    <a:pt x="1840449" y="370672"/>
                  </a:lnTo>
                  <a:lnTo>
                    <a:pt x="1868428" y="405272"/>
                  </a:lnTo>
                  <a:lnTo>
                    <a:pt x="1894935" y="441065"/>
                  </a:lnTo>
                  <a:lnTo>
                    <a:pt x="1919924" y="478003"/>
                  </a:lnTo>
                  <a:lnTo>
                    <a:pt x="1943350" y="516040"/>
                  </a:lnTo>
                  <a:lnTo>
                    <a:pt x="1965165" y="555131"/>
                  </a:lnTo>
                  <a:lnTo>
                    <a:pt x="1985325" y="595229"/>
                  </a:lnTo>
                  <a:lnTo>
                    <a:pt x="2003783" y="636287"/>
                  </a:lnTo>
                  <a:lnTo>
                    <a:pt x="2020493" y="678260"/>
                  </a:lnTo>
                  <a:lnTo>
                    <a:pt x="2035409" y="721102"/>
                  </a:lnTo>
                  <a:lnTo>
                    <a:pt x="2048486" y="764766"/>
                  </a:lnTo>
                  <a:lnTo>
                    <a:pt x="2059677" y="809206"/>
                  </a:lnTo>
                  <a:lnTo>
                    <a:pt x="2068936" y="854377"/>
                  </a:lnTo>
                  <a:lnTo>
                    <a:pt x="2076218" y="900231"/>
                  </a:lnTo>
                  <a:lnTo>
                    <a:pt x="2081476" y="946723"/>
                  </a:lnTo>
                  <a:lnTo>
                    <a:pt x="2084664" y="993806"/>
                  </a:lnTo>
                  <a:lnTo>
                    <a:pt x="2085738" y="1041435"/>
                  </a:lnTo>
                  <a:close/>
                </a:path>
              </a:pathLst>
            </a:custGeom>
            <a:ln w="307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04870" y="193445"/>
              <a:ext cx="1721485" cy="2075814"/>
            </a:xfrm>
            <a:custGeom>
              <a:avLst/>
              <a:gdLst/>
              <a:ahLst/>
              <a:cxnLst/>
              <a:rect l="l" t="t" r="r" b="b"/>
              <a:pathLst>
                <a:path w="1721485" h="2075814">
                  <a:moveTo>
                    <a:pt x="765471" y="2072982"/>
                  </a:moveTo>
                  <a:lnTo>
                    <a:pt x="765471" y="2072982"/>
                  </a:lnTo>
                  <a:lnTo>
                    <a:pt x="765471" y="0"/>
                  </a:lnTo>
                </a:path>
                <a:path w="1721485" h="2075814">
                  <a:moveTo>
                    <a:pt x="574417" y="2043316"/>
                  </a:moveTo>
                  <a:lnTo>
                    <a:pt x="574417" y="2043316"/>
                  </a:lnTo>
                  <a:lnTo>
                    <a:pt x="574417" y="33118"/>
                  </a:lnTo>
                </a:path>
                <a:path w="1721485" h="2075814">
                  <a:moveTo>
                    <a:pt x="382264" y="1970172"/>
                  </a:moveTo>
                  <a:lnTo>
                    <a:pt x="382264" y="1970172"/>
                  </a:lnTo>
                  <a:lnTo>
                    <a:pt x="382264" y="113011"/>
                  </a:lnTo>
                </a:path>
                <a:path w="1721485" h="2075814">
                  <a:moveTo>
                    <a:pt x="191367" y="1847743"/>
                  </a:moveTo>
                  <a:lnTo>
                    <a:pt x="191367" y="1847743"/>
                  </a:lnTo>
                  <a:lnTo>
                    <a:pt x="191367" y="231046"/>
                  </a:lnTo>
                </a:path>
                <a:path w="1721485" h="2075814">
                  <a:moveTo>
                    <a:pt x="0" y="1634590"/>
                  </a:moveTo>
                  <a:lnTo>
                    <a:pt x="0" y="1634590"/>
                  </a:lnTo>
                  <a:lnTo>
                    <a:pt x="0" y="438391"/>
                  </a:lnTo>
                </a:path>
                <a:path w="1721485" h="2075814">
                  <a:moveTo>
                    <a:pt x="956368" y="2075336"/>
                  </a:moveTo>
                  <a:lnTo>
                    <a:pt x="956368" y="2075336"/>
                  </a:lnTo>
                  <a:lnTo>
                    <a:pt x="956368" y="0"/>
                  </a:lnTo>
                </a:path>
                <a:path w="1721485" h="2075814">
                  <a:moveTo>
                    <a:pt x="1147265" y="2039863"/>
                  </a:moveTo>
                  <a:lnTo>
                    <a:pt x="1147265" y="2039863"/>
                  </a:lnTo>
                  <a:lnTo>
                    <a:pt x="1147265" y="43635"/>
                  </a:lnTo>
                </a:path>
                <a:path w="1721485" h="2075814">
                  <a:moveTo>
                    <a:pt x="1339418" y="1958400"/>
                  </a:moveTo>
                  <a:lnTo>
                    <a:pt x="1339418" y="1958400"/>
                  </a:lnTo>
                  <a:lnTo>
                    <a:pt x="1339418" y="122743"/>
                  </a:lnTo>
                </a:path>
                <a:path w="1721485" h="2075814">
                  <a:moveTo>
                    <a:pt x="1530472" y="1831419"/>
                  </a:moveTo>
                  <a:lnTo>
                    <a:pt x="1530472" y="1831419"/>
                  </a:lnTo>
                  <a:lnTo>
                    <a:pt x="1530472" y="246271"/>
                  </a:lnTo>
                </a:path>
                <a:path w="1721485" h="2075814">
                  <a:moveTo>
                    <a:pt x="1721369" y="1613243"/>
                  </a:moveTo>
                  <a:lnTo>
                    <a:pt x="1721369" y="1613243"/>
                  </a:lnTo>
                  <a:lnTo>
                    <a:pt x="1721369" y="477318"/>
                  </a:lnTo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390443" y="2637473"/>
            <a:ext cx="1147445" cy="1167130"/>
            <a:chOff x="5390443" y="2637473"/>
            <a:chExt cx="1147445" cy="1167130"/>
          </a:xfrm>
        </p:grpSpPr>
        <p:sp>
          <p:nvSpPr>
            <p:cNvPr id="8" name="object 8"/>
            <p:cNvSpPr/>
            <p:nvPr/>
          </p:nvSpPr>
          <p:spPr>
            <a:xfrm>
              <a:off x="5405835" y="2652865"/>
              <a:ext cx="1116965" cy="1136015"/>
            </a:xfrm>
            <a:custGeom>
              <a:avLst/>
              <a:gdLst/>
              <a:ahLst/>
              <a:cxnLst/>
              <a:rect l="l" t="t" r="r" b="b"/>
              <a:pathLst>
                <a:path w="1116965" h="1136014">
                  <a:moveTo>
                    <a:pt x="1116496" y="0"/>
                  </a:moveTo>
                  <a:lnTo>
                    <a:pt x="0" y="0"/>
                  </a:lnTo>
                  <a:lnTo>
                    <a:pt x="0" y="1135925"/>
                  </a:lnTo>
                  <a:lnTo>
                    <a:pt x="1116496" y="1135925"/>
                  </a:lnTo>
                  <a:lnTo>
                    <a:pt x="1116496" y="0"/>
                  </a:lnTo>
                  <a:close/>
                </a:path>
              </a:pathLst>
            </a:custGeom>
            <a:solidFill>
              <a:srgbClr val="97D9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05835" y="2652865"/>
              <a:ext cx="1116965" cy="1136015"/>
            </a:xfrm>
            <a:custGeom>
              <a:avLst/>
              <a:gdLst/>
              <a:ahLst/>
              <a:cxnLst/>
              <a:rect l="l" t="t" r="r" b="b"/>
              <a:pathLst>
                <a:path w="1116965" h="1136014">
                  <a:moveTo>
                    <a:pt x="1116496" y="1135925"/>
                  </a:moveTo>
                  <a:lnTo>
                    <a:pt x="0" y="1135925"/>
                  </a:lnTo>
                  <a:lnTo>
                    <a:pt x="0" y="0"/>
                  </a:lnTo>
                  <a:lnTo>
                    <a:pt x="1116496" y="0"/>
                  </a:lnTo>
                  <a:lnTo>
                    <a:pt x="1116496" y="1135925"/>
                  </a:lnTo>
                  <a:close/>
                </a:path>
              </a:pathLst>
            </a:custGeom>
            <a:ln w="307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55287" y="2723497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572" y="0"/>
                  </a:moveTo>
                  <a:lnTo>
                    <a:pt x="0" y="0"/>
                  </a:lnTo>
                  <a:lnTo>
                    <a:pt x="0" y="128550"/>
                  </a:lnTo>
                  <a:lnTo>
                    <a:pt x="128572" y="128550"/>
                  </a:lnTo>
                  <a:lnTo>
                    <a:pt x="12857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55287" y="2723497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572" y="128550"/>
                  </a:moveTo>
                  <a:lnTo>
                    <a:pt x="0" y="128550"/>
                  </a:lnTo>
                  <a:lnTo>
                    <a:pt x="0" y="0"/>
                  </a:lnTo>
                  <a:lnTo>
                    <a:pt x="128572" y="0"/>
                  </a:lnTo>
                  <a:lnTo>
                    <a:pt x="128572" y="128550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27502" y="2723497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729" y="0"/>
                  </a:moveTo>
                  <a:lnTo>
                    <a:pt x="0" y="0"/>
                  </a:lnTo>
                  <a:lnTo>
                    <a:pt x="0" y="128550"/>
                  </a:lnTo>
                  <a:lnTo>
                    <a:pt x="128729" y="128550"/>
                  </a:lnTo>
                  <a:lnTo>
                    <a:pt x="128729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27502" y="2723497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729" y="128550"/>
                  </a:moveTo>
                  <a:lnTo>
                    <a:pt x="0" y="128550"/>
                  </a:lnTo>
                  <a:lnTo>
                    <a:pt x="0" y="0"/>
                  </a:lnTo>
                  <a:lnTo>
                    <a:pt x="128729" y="0"/>
                  </a:lnTo>
                  <a:lnTo>
                    <a:pt x="128729" y="128550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99875" y="2723497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572" y="0"/>
                  </a:moveTo>
                  <a:lnTo>
                    <a:pt x="0" y="0"/>
                  </a:lnTo>
                  <a:lnTo>
                    <a:pt x="0" y="128550"/>
                  </a:lnTo>
                  <a:lnTo>
                    <a:pt x="128572" y="128550"/>
                  </a:lnTo>
                  <a:lnTo>
                    <a:pt x="12857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99875" y="2723497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572" y="128550"/>
                  </a:moveTo>
                  <a:lnTo>
                    <a:pt x="0" y="128550"/>
                  </a:lnTo>
                  <a:lnTo>
                    <a:pt x="0" y="0"/>
                  </a:lnTo>
                  <a:lnTo>
                    <a:pt x="128572" y="0"/>
                  </a:lnTo>
                  <a:lnTo>
                    <a:pt x="128572" y="128550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72090" y="2723497"/>
              <a:ext cx="128270" cy="128905"/>
            </a:xfrm>
            <a:custGeom>
              <a:avLst/>
              <a:gdLst/>
              <a:ahLst/>
              <a:cxnLst/>
              <a:rect l="l" t="t" r="r" b="b"/>
              <a:pathLst>
                <a:path w="128270" h="128905">
                  <a:moveTo>
                    <a:pt x="128258" y="0"/>
                  </a:moveTo>
                  <a:lnTo>
                    <a:pt x="0" y="0"/>
                  </a:lnTo>
                  <a:lnTo>
                    <a:pt x="0" y="128550"/>
                  </a:lnTo>
                  <a:lnTo>
                    <a:pt x="128258" y="128550"/>
                  </a:lnTo>
                  <a:lnTo>
                    <a:pt x="128258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72090" y="2723497"/>
              <a:ext cx="128270" cy="128905"/>
            </a:xfrm>
            <a:custGeom>
              <a:avLst/>
              <a:gdLst/>
              <a:ahLst/>
              <a:cxnLst/>
              <a:rect l="l" t="t" r="r" b="b"/>
              <a:pathLst>
                <a:path w="128270" h="128905">
                  <a:moveTo>
                    <a:pt x="128258" y="128550"/>
                  </a:moveTo>
                  <a:lnTo>
                    <a:pt x="0" y="128550"/>
                  </a:lnTo>
                  <a:lnTo>
                    <a:pt x="0" y="0"/>
                  </a:lnTo>
                  <a:lnTo>
                    <a:pt x="128258" y="0"/>
                  </a:lnTo>
                  <a:lnTo>
                    <a:pt x="128258" y="128550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43991" y="2723497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572" y="0"/>
                  </a:moveTo>
                  <a:lnTo>
                    <a:pt x="0" y="0"/>
                  </a:lnTo>
                  <a:lnTo>
                    <a:pt x="0" y="128550"/>
                  </a:lnTo>
                  <a:lnTo>
                    <a:pt x="128572" y="128550"/>
                  </a:lnTo>
                  <a:lnTo>
                    <a:pt x="12857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43991" y="2723497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572" y="128550"/>
                  </a:moveTo>
                  <a:lnTo>
                    <a:pt x="0" y="128550"/>
                  </a:lnTo>
                  <a:lnTo>
                    <a:pt x="0" y="0"/>
                  </a:lnTo>
                  <a:lnTo>
                    <a:pt x="128572" y="0"/>
                  </a:lnTo>
                  <a:lnTo>
                    <a:pt x="128572" y="128550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27502" y="3586154"/>
              <a:ext cx="128905" cy="128270"/>
            </a:xfrm>
            <a:custGeom>
              <a:avLst/>
              <a:gdLst/>
              <a:ahLst/>
              <a:cxnLst/>
              <a:rect l="l" t="t" r="r" b="b"/>
              <a:pathLst>
                <a:path w="128904" h="128270">
                  <a:moveTo>
                    <a:pt x="128729" y="0"/>
                  </a:moveTo>
                  <a:lnTo>
                    <a:pt x="0" y="0"/>
                  </a:lnTo>
                  <a:lnTo>
                    <a:pt x="0" y="128237"/>
                  </a:lnTo>
                  <a:lnTo>
                    <a:pt x="128729" y="128237"/>
                  </a:lnTo>
                  <a:lnTo>
                    <a:pt x="128729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27502" y="3586154"/>
              <a:ext cx="128905" cy="128270"/>
            </a:xfrm>
            <a:custGeom>
              <a:avLst/>
              <a:gdLst/>
              <a:ahLst/>
              <a:cxnLst/>
              <a:rect l="l" t="t" r="r" b="b"/>
              <a:pathLst>
                <a:path w="128904" h="128270">
                  <a:moveTo>
                    <a:pt x="128729" y="128237"/>
                  </a:moveTo>
                  <a:lnTo>
                    <a:pt x="0" y="128237"/>
                  </a:lnTo>
                  <a:lnTo>
                    <a:pt x="0" y="0"/>
                  </a:lnTo>
                  <a:lnTo>
                    <a:pt x="128729" y="0"/>
                  </a:lnTo>
                  <a:lnTo>
                    <a:pt x="128729" y="128237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9875" y="3586154"/>
              <a:ext cx="128905" cy="128270"/>
            </a:xfrm>
            <a:custGeom>
              <a:avLst/>
              <a:gdLst/>
              <a:ahLst/>
              <a:cxnLst/>
              <a:rect l="l" t="t" r="r" b="b"/>
              <a:pathLst>
                <a:path w="128904" h="128270">
                  <a:moveTo>
                    <a:pt x="128572" y="0"/>
                  </a:moveTo>
                  <a:lnTo>
                    <a:pt x="0" y="0"/>
                  </a:lnTo>
                  <a:lnTo>
                    <a:pt x="0" y="128237"/>
                  </a:lnTo>
                  <a:lnTo>
                    <a:pt x="128572" y="128237"/>
                  </a:lnTo>
                  <a:lnTo>
                    <a:pt x="12857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9875" y="3586154"/>
              <a:ext cx="128905" cy="128270"/>
            </a:xfrm>
            <a:custGeom>
              <a:avLst/>
              <a:gdLst/>
              <a:ahLst/>
              <a:cxnLst/>
              <a:rect l="l" t="t" r="r" b="b"/>
              <a:pathLst>
                <a:path w="128904" h="128270">
                  <a:moveTo>
                    <a:pt x="128572" y="128237"/>
                  </a:moveTo>
                  <a:lnTo>
                    <a:pt x="0" y="128237"/>
                  </a:lnTo>
                  <a:lnTo>
                    <a:pt x="0" y="0"/>
                  </a:lnTo>
                  <a:lnTo>
                    <a:pt x="128572" y="0"/>
                  </a:lnTo>
                  <a:lnTo>
                    <a:pt x="128572" y="128237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72090" y="3586154"/>
              <a:ext cx="128270" cy="128270"/>
            </a:xfrm>
            <a:custGeom>
              <a:avLst/>
              <a:gdLst/>
              <a:ahLst/>
              <a:cxnLst/>
              <a:rect l="l" t="t" r="r" b="b"/>
              <a:pathLst>
                <a:path w="128270" h="128270">
                  <a:moveTo>
                    <a:pt x="128258" y="0"/>
                  </a:moveTo>
                  <a:lnTo>
                    <a:pt x="0" y="0"/>
                  </a:lnTo>
                  <a:lnTo>
                    <a:pt x="0" y="128237"/>
                  </a:lnTo>
                  <a:lnTo>
                    <a:pt x="128258" y="128237"/>
                  </a:lnTo>
                  <a:lnTo>
                    <a:pt x="128258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72090" y="3586154"/>
              <a:ext cx="128270" cy="128270"/>
            </a:xfrm>
            <a:custGeom>
              <a:avLst/>
              <a:gdLst/>
              <a:ahLst/>
              <a:cxnLst/>
              <a:rect l="l" t="t" r="r" b="b"/>
              <a:pathLst>
                <a:path w="128270" h="128270">
                  <a:moveTo>
                    <a:pt x="128258" y="128237"/>
                  </a:moveTo>
                  <a:lnTo>
                    <a:pt x="0" y="128237"/>
                  </a:lnTo>
                  <a:lnTo>
                    <a:pt x="0" y="0"/>
                  </a:lnTo>
                  <a:lnTo>
                    <a:pt x="128258" y="0"/>
                  </a:lnTo>
                  <a:lnTo>
                    <a:pt x="128258" y="128237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43991" y="3586154"/>
              <a:ext cx="128905" cy="128270"/>
            </a:xfrm>
            <a:custGeom>
              <a:avLst/>
              <a:gdLst/>
              <a:ahLst/>
              <a:cxnLst/>
              <a:rect l="l" t="t" r="r" b="b"/>
              <a:pathLst>
                <a:path w="128904" h="128270">
                  <a:moveTo>
                    <a:pt x="128572" y="0"/>
                  </a:moveTo>
                  <a:lnTo>
                    <a:pt x="0" y="0"/>
                  </a:lnTo>
                  <a:lnTo>
                    <a:pt x="0" y="128237"/>
                  </a:lnTo>
                  <a:lnTo>
                    <a:pt x="128572" y="128237"/>
                  </a:lnTo>
                  <a:lnTo>
                    <a:pt x="12857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43991" y="3586154"/>
              <a:ext cx="128905" cy="128270"/>
            </a:xfrm>
            <a:custGeom>
              <a:avLst/>
              <a:gdLst/>
              <a:ahLst/>
              <a:cxnLst/>
              <a:rect l="l" t="t" r="r" b="b"/>
              <a:pathLst>
                <a:path w="128904" h="128270">
                  <a:moveTo>
                    <a:pt x="128572" y="128237"/>
                  </a:moveTo>
                  <a:lnTo>
                    <a:pt x="0" y="128237"/>
                  </a:lnTo>
                  <a:lnTo>
                    <a:pt x="0" y="0"/>
                  </a:lnTo>
                  <a:lnTo>
                    <a:pt x="128572" y="0"/>
                  </a:lnTo>
                  <a:lnTo>
                    <a:pt x="128572" y="128237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316207" y="2723497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572" y="0"/>
                  </a:moveTo>
                  <a:lnTo>
                    <a:pt x="0" y="0"/>
                  </a:lnTo>
                  <a:lnTo>
                    <a:pt x="0" y="128550"/>
                  </a:lnTo>
                  <a:lnTo>
                    <a:pt x="128572" y="128550"/>
                  </a:lnTo>
                  <a:lnTo>
                    <a:pt x="12857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16207" y="2723497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572" y="128550"/>
                  </a:moveTo>
                  <a:lnTo>
                    <a:pt x="0" y="128550"/>
                  </a:lnTo>
                  <a:lnTo>
                    <a:pt x="0" y="0"/>
                  </a:lnTo>
                  <a:lnTo>
                    <a:pt x="128572" y="0"/>
                  </a:lnTo>
                  <a:lnTo>
                    <a:pt x="128572" y="128550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455287" y="2895369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572" y="0"/>
                  </a:moveTo>
                  <a:lnTo>
                    <a:pt x="0" y="0"/>
                  </a:lnTo>
                  <a:lnTo>
                    <a:pt x="0" y="128550"/>
                  </a:lnTo>
                  <a:lnTo>
                    <a:pt x="128572" y="128550"/>
                  </a:lnTo>
                  <a:lnTo>
                    <a:pt x="12857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55287" y="2895369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572" y="128550"/>
                  </a:moveTo>
                  <a:lnTo>
                    <a:pt x="0" y="128550"/>
                  </a:lnTo>
                  <a:lnTo>
                    <a:pt x="0" y="0"/>
                  </a:lnTo>
                  <a:lnTo>
                    <a:pt x="128572" y="0"/>
                  </a:lnTo>
                  <a:lnTo>
                    <a:pt x="128572" y="128550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16207" y="2895369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572" y="0"/>
                  </a:moveTo>
                  <a:lnTo>
                    <a:pt x="0" y="0"/>
                  </a:lnTo>
                  <a:lnTo>
                    <a:pt x="0" y="128550"/>
                  </a:lnTo>
                  <a:lnTo>
                    <a:pt x="128572" y="128550"/>
                  </a:lnTo>
                  <a:lnTo>
                    <a:pt x="12857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16207" y="2895369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572" y="128550"/>
                  </a:moveTo>
                  <a:lnTo>
                    <a:pt x="0" y="128550"/>
                  </a:lnTo>
                  <a:lnTo>
                    <a:pt x="0" y="0"/>
                  </a:lnTo>
                  <a:lnTo>
                    <a:pt x="128572" y="0"/>
                  </a:lnTo>
                  <a:lnTo>
                    <a:pt x="128572" y="128550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55287" y="3067555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572" y="0"/>
                  </a:moveTo>
                  <a:lnTo>
                    <a:pt x="0" y="0"/>
                  </a:lnTo>
                  <a:lnTo>
                    <a:pt x="0" y="128550"/>
                  </a:lnTo>
                  <a:lnTo>
                    <a:pt x="128572" y="128550"/>
                  </a:lnTo>
                  <a:lnTo>
                    <a:pt x="12857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55287" y="3067555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572" y="128550"/>
                  </a:moveTo>
                  <a:lnTo>
                    <a:pt x="0" y="128550"/>
                  </a:lnTo>
                  <a:lnTo>
                    <a:pt x="0" y="0"/>
                  </a:lnTo>
                  <a:lnTo>
                    <a:pt x="128572" y="0"/>
                  </a:lnTo>
                  <a:lnTo>
                    <a:pt x="128572" y="128550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16207" y="3067555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572" y="0"/>
                  </a:moveTo>
                  <a:lnTo>
                    <a:pt x="0" y="0"/>
                  </a:lnTo>
                  <a:lnTo>
                    <a:pt x="0" y="128550"/>
                  </a:lnTo>
                  <a:lnTo>
                    <a:pt x="128572" y="128550"/>
                  </a:lnTo>
                  <a:lnTo>
                    <a:pt x="12857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16207" y="3067555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5">
                  <a:moveTo>
                    <a:pt x="128572" y="128550"/>
                  </a:moveTo>
                  <a:lnTo>
                    <a:pt x="0" y="128550"/>
                  </a:lnTo>
                  <a:lnTo>
                    <a:pt x="0" y="0"/>
                  </a:lnTo>
                  <a:lnTo>
                    <a:pt x="128572" y="0"/>
                  </a:lnTo>
                  <a:lnTo>
                    <a:pt x="128572" y="128550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455287" y="3239741"/>
              <a:ext cx="128905" cy="128270"/>
            </a:xfrm>
            <a:custGeom>
              <a:avLst/>
              <a:gdLst/>
              <a:ahLst/>
              <a:cxnLst/>
              <a:rect l="l" t="t" r="r" b="b"/>
              <a:pathLst>
                <a:path w="128904" h="128270">
                  <a:moveTo>
                    <a:pt x="128572" y="0"/>
                  </a:moveTo>
                  <a:lnTo>
                    <a:pt x="0" y="0"/>
                  </a:lnTo>
                  <a:lnTo>
                    <a:pt x="0" y="128237"/>
                  </a:lnTo>
                  <a:lnTo>
                    <a:pt x="128572" y="128237"/>
                  </a:lnTo>
                  <a:lnTo>
                    <a:pt x="12857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55287" y="3239741"/>
              <a:ext cx="128905" cy="128270"/>
            </a:xfrm>
            <a:custGeom>
              <a:avLst/>
              <a:gdLst/>
              <a:ahLst/>
              <a:cxnLst/>
              <a:rect l="l" t="t" r="r" b="b"/>
              <a:pathLst>
                <a:path w="128904" h="128270">
                  <a:moveTo>
                    <a:pt x="128572" y="128237"/>
                  </a:moveTo>
                  <a:lnTo>
                    <a:pt x="0" y="128237"/>
                  </a:lnTo>
                  <a:lnTo>
                    <a:pt x="0" y="0"/>
                  </a:lnTo>
                  <a:lnTo>
                    <a:pt x="128572" y="0"/>
                  </a:lnTo>
                  <a:lnTo>
                    <a:pt x="128572" y="128237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16207" y="3239741"/>
              <a:ext cx="128905" cy="128270"/>
            </a:xfrm>
            <a:custGeom>
              <a:avLst/>
              <a:gdLst/>
              <a:ahLst/>
              <a:cxnLst/>
              <a:rect l="l" t="t" r="r" b="b"/>
              <a:pathLst>
                <a:path w="128904" h="128270">
                  <a:moveTo>
                    <a:pt x="128572" y="0"/>
                  </a:moveTo>
                  <a:lnTo>
                    <a:pt x="0" y="0"/>
                  </a:lnTo>
                  <a:lnTo>
                    <a:pt x="0" y="128237"/>
                  </a:lnTo>
                  <a:lnTo>
                    <a:pt x="128572" y="128237"/>
                  </a:lnTo>
                  <a:lnTo>
                    <a:pt x="12857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16207" y="3239741"/>
              <a:ext cx="128905" cy="128270"/>
            </a:xfrm>
            <a:custGeom>
              <a:avLst/>
              <a:gdLst/>
              <a:ahLst/>
              <a:cxnLst/>
              <a:rect l="l" t="t" r="r" b="b"/>
              <a:pathLst>
                <a:path w="128904" h="128270">
                  <a:moveTo>
                    <a:pt x="128572" y="128237"/>
                  </a:moveTo>
                  <a:lnTo>
                    <a:pt x="0" y="128237"/>
                  </a:lnTo>
                  <a:lnTo>
                    <a:pt x="0" y="0"/>
                  </a:lnTo>
                  <a:lnTo>
                    <a:pt x="128572" y="0"/>
                  </a:lnTo>
                  <a:lnTo>
                    <a:pt x="128572" y="128237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455287" y="3411614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4">
                  <a:moveTo>
                    <a:pt x="128572" y="0"/>
                  </a:moveTo>
                  <a:lnTo>
                    <a:pt x="0" y="0"/>
                  </a:lnTo>
                  <a:lnTo>
                    <a:pt x="0" y="128550"/>
                  </a:lnTo>
                  <a:lnTo>
                    <a:pt x="128572" y="128550"/>
                  </a:lnTo>
                  <a:lnTo>
                    <a:pt x="12857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455287" y="3411614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4">
                  <a:moveTo>
                    <a:pt x="128572" y="128550"/>
                  </a:moveTo>
                  <a:lnTo>
                    <a:pt x="0" y="128550"/>
                  </a:lnTo>
                  <a:lnTo>
                    <a:pt x="0" y="0"/>
                  </a:lnTo>
                  <a:lnTo>
                    <a:pt x="128572" y="0"/>
                  </a:lnTo>
                  <a:lnTo>
                    <a:pt x="128572" y="128550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316207" y="3411614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4">
                  <a:moveTo>
                    <a:pt x="128572" y="0"/>
                  </a:moveTo>
                  <a:lnTo>
                    <a:pt x="0" y="0"/>
                  </a:lnTo>
                  <a:lnTo>
                    <a:pt x="0" y="128550"/>
                  </a:lnTo>
                  <a:lnTo>
                    <a:pt x="128572" y="128550"/>
                  </a:lnTo>
                  <a:lnTo>
                    <a:pt x="12857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16207" y="3411614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4">
                  <a:moveTo>
                    <a:pt x="128572" y="128550"/>
                  </a:moveTo>
                  <a:lnTo>
                    <a:pt x="0" y="128550"/>
                  </a:lnTo>
                  <a:lnTo>
                    <a:pt x="0" y="0"/>
                  </a:lnTo>
                  <a:lnTo>
                    <a:pt x="128572" y="0"/>
                  </a:lnTo>
                  <a:lnTo>
                    <a:pt x="128572" y="128550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455287" y="3583800"/>
              <a:ext cx="128905" cy="128270"/>
            </a:xfrm>
            <a:custGeom>
              <a:avLst/>
              <a:gdLst/>
              <a:ahLst/>
              <a:cxnLst/>
              <a:rect l="l" t="t" r="r" b="b"/>
              <a:pathLst>
                <a:path w="128904" h="128270">
                  <a:moveTo>
                    <a:pt x="128572" y="0"/>
                  </a:moveTo>
                  <a:lnTo>
                    <a:pt x="0" y="0"/>
                  </a:lnTo>
                  <a:lnTo>
                    <a:pt x="0" y="128237"/>
                  </a:lnTo>
                  <a:lnTo>
                    <a:pt x="128572" y="128237"/>
                  </a:lnTo>
                  <a:lnTo>
                    <a:pt x="12857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455287" y="3583800"/>
              <a:ext cx="128905" cy="128270"/>
            </a:xfrm>
            <a:custGeom>
              <a:avLst/>
              <a:gdLst/>
              <a:ahLst/>
              <a:cxnLst/>
              <a:rect l="l" t="t" r="r" b="b"/>
              <a:pathLst>
                <a:path w="128904" h="128270">
                  <a:moveTo>
                    <a:pt x="128572" y="128237"/>
                  </a:moveTo>
                  <a:lnTo>
                    <a:pt x="0" y="128237"/>
                  </a:lnTo>
                  <a:lnTo>
                    <a:pt x="0" y="0"/>
                  </a:lnTo>
                  <a:lnTo>
                    <a:pt x="128572" y="0"/>
                  </a:lnTo>
                  <a:lnTo>
                    <a:pt x="128572" y="128237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16207" y="3583800"/>
              <a:ext cx="128905" cy="128270"/>
            </a:xfrm>
            <a:custGeom>
              <a:avLst/>
              <a:gdLst/>
              <a:ahLst/>
              <a:cxnLst/>
              <a:rect l="l" t="t" r="r" b="b"/>
              <a:pathLst>
                <a:path w="128904" h="128270">
                  <a:moveTo>
                    <a:pt x="128572" y="0"/>
                  </a:moveTo>
                  <a:lnTo>
                    <a:pt x="0" y="0"/>
                  </a:lnTo>
                  <a:lnTo>
                    <a:pt x="0" y="128237"/>
                  </a:lnTo>
                  <a:lnTo>
                    <a:pt x="128572" y="128237"/>
                  </a:lnTo>
                  <a:lnTo>
                    <a:pt x="12857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316207" y="3583800"/>
              <a:ext cx="128905" cy="128270"/>
            </a:xfrm>
            <a:custGeom>
              <a:avLst/>
              <a:gdLst/>
              <a:ahLst/>
              <a:cxnLst/>
              <a:rect l="l" t="t" r="r" b="b"/>
              <a:pathLst>
                <a:path w="128904" h="128270">
                  <a:moveTo>
                    <a:pt x="128572" y="128237"/>
                  </a:moveTo>
                  <a:lnTo>
                    <a:pt x="0" y="128237"/>
                  </a:lnTo>
                  <a:lnTo>
                    <a:pt x="0" y="0"/>
                  </a:lnTo>
                  <a:lnTo>
                    <a:pt x="128572" y="0"/>
                  </a:lnTo>
                  <a:lnTo>
                    <a:pt x="128572" y="128237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626403" y="3018113"/>
              <a:ext cx="635000" cy="407670"/>
            </a:xfrm>
            <a:custGeom>
              <a:avLst/>
              <a:gdLst/>
              <a:ahLst/>
              <a:cxnLst/>
              <a:rect l="l" t="t" r="r" b="b"/>
              <a:pathLst>
                <a:path w="635000" h="407670">
                  <a:moveTo>
                    <a:pt x="634387" y="0"/>
                  </a:moveTo>
                  <a:lnTo>
                    <a:pt x="0" y="0"/>
                  </a:lnTo>
                  <a:lnTo>
                    <a:pt x="0" y="407470"/>
                  </a:lnTo>
                  <a:lnTo>
                    <a:pt x="634387" y="407470"/>
                  </a:lnTo>
                  <a:lnTo>
                    <a:pt x="634387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626403" y="3018113"/>
              <a:ext cx="635000" cy="407670"/>
            </a:xfrm>
            <a:custGeom>
              <a:avLst/>
              <a:gdLst/>
              <a:ahLst/>
              <a:cxnLst/>
              <a:rect l="l" t="t" r="r" b="b"/>
              <a:pathLst>
                <a:path w="635000" h="407670">
                  <a:moveTo>
                    <a:pt x="634387" y="407470"/>
                  </a:moveTo>
                  <a:lnTo>
                    <a:pt x="0" y="407470"/>
                  </a:lnTo>
                  <a:lnTo>
                    <a:pt x="0" y="0"/>
                  </a:lnTo>
                  <a:lnTo>
                    <a:pt x="634387" y="0"/>
                  </a:lnTo>
                  <a:lnTo>
                    <a:pt x="634387" y="407470"/>
                  </a:lnTo>
                  <a:close/>
                </a:path>
                <a:path w="635000" h="407670">
                  <a:moveTo>
                    <a:pt x="90738" y="407470"/>
                  </a:moveTo>
                  <a:lnTo>
                    <a:pt x="90738" y="407470"/>
                  </a:lnTo>
                  <a:lnTo>
                    <a:pt x="90738" y="0"/>
                  </a:lnTo>
                </a:path>
                <a:path w="635000" h="407670">
                  <a:moveTo>
                    <a:pt x="181634" y="407470"/>
                  </a:moveTo>
                  <a:lnTo>
                    <a:pt x="181634" y="407470"/>
                  </a:lnTo>
                  <a:lnTo>
                    <a:pt x="181634" y="0"/>
                  </a:lnTo>
                </a:path>
                <a:path w="635000" h="407670">
                  <a:moveTo>
                    <a:pt x="271274" y="407470"/>
                  </a:moveTo>
                  <a:lnTo>
                    <a:pt x="271274" y="407470"/>
                  </a:lnTo>
                  <a:lnTo>
                    <a:pt x="271274" y="0"/>
                  </a:lnTo>
                </a:path>
                <a:path w="635000" h="407670">
                  <a:moveTo>
                    <a:pt x="362013" y="407470"/>
                  </a:moveTo>
                  <a:lnTo>
                    <a:pt x="362013" y="407470"/>
                  </a:lnTo>
                  <a:lnTo>
                    <a:pt x="362013" y="0"/>
                  </a:lnTo>
                </a:path>
                <a:path w="635000" h="407670">
                  <a:moveTo>
                    <a:pt x="452909" y="407470"/>
                  </a:moveTo>
                  <a:lnTo>
                    <a:pt x="452909" y="407470"/>
                  </a:lnTo>
                  <a:lnTo>
                    <a:pt x="452909" y="0"/>
                  </a:lnTo>
                </a:path>
                <a:path w="635000" h="407670">
                  <a:moveTo>
                    <a:pt x="543648" y="407470"/>
                  </a:moveTo>
                  <a:lnTo>
                    <a:pt x="543648" y="407470"/>
                  </a:lnTo>
                  <a:lnTo>
                    <a:pt x="543648" y="0"/>
                  </a:lnTo>
                </a:path>
                <a:path w="635000" h="407670">
                  <a:moveTo>
                    <a:pt x="634387" y="326478"/>
                  </a:moveTo>
                  <a:lnTo>
                    <a:pt x="634387" y="326478"/>
                  </a:lnTo>
                  <a:lnTo>
                    <a:pt x="0" y="326478"/>
                  </a:lnTo>
                </a:path>
                <a:path w="635000" h="407670">
                  <a:moveTo>
                    <a:pt x="634387" y="245015"/>
                  </a:moveTo>
                  <a:lnTo>
                    <a:pt x="634387" y="245015"/>
                  </a:lnTo>
                  <a:lnTo>
                    <a:pt x="0" y="245015"/>
                  </a:lnTo>
                </a:path>
                <a:path w="635000" h="407670">
                  <a:moveTo>
                    <a:pt x="634387" y="163553"/>
                  </a:moveTo>
                  <a:lnTo>
                    <a:pt x="634387" y="163553"/>
                  </a:lnTo>
                  <a:lnTo>
                    <a:pt x="0" y="163553"/>
                  </a:lnTo>
                </a:path>
                <a:path w="635000" h="407670">
                  <a:moveTo>
                    <a:pt x="634387" y="82561"/>
                  </a:moveTo>
                  <a:lnTo>
                    <a:pt x="634387" y="82561"/>
                  </a:lnTo>
                  <a:lnTo>
                    <a:pt x="0" y="82561"/>
                  </a:lnTo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6742735" y="3947468"/>
            <a:ext cx="313690" cy="314325"/>
            <a:chOff x="6742735" y="3947468"/>
            <a:chExt cx="313690" cy="314325"/>
          </a:xfrm>
        </p:grpSpPr>
        <p:sp>
          <p:nvSpPr>
            <p:cNvPr id="53" name="object 53"/>
            <p:cNvSpPr/>
            <p:nvPr/>
          </p:nvSpPr>
          <p:spPr>
            <a:xfrm>
              <a:off x="6758127" y="3962860"/>
              <a:ext cx="283210" cy="283210"/>
            </a:xfrm>
            <a:custGeom>
              <a:avLst/>
              <a:gdLst/>
              <a:ahLst/>
              <a:cxnLst/>
              <a:rect l="l" t="t" r="r" b="b"/>
              <a:pathLst>
                <a:path w="283209" h="283210">
                  <a:moveTo>
                    <a:pt x="282891" y="0"/>
                  </a:moveTo>
                  <a:lnTo>
                    <a:pt x="0" y="0"/>
                  </a:lnTo>
                  <a:lnTo>
                    <a:pt x="0" y="283000"/>
                  </a:lnTo>
                  <a:lnTo>
                    <a:pt x="282891" y="283000"/>
                  </a:lnTo>
                  <a:lnTo>
                    <a:pt x="282891" y="0"/>
                  </a:lnTo>
                  <a:close/>
                </a:path>
              </a:pathLst>
            </a:custGeom>
            <a:solidFill>
              <a:srgbClr val="97D9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758127" y="3962860"/>
              <a:ext cx="283210" cy="283210"/>
            </a:xfrm>
            <a:custGeom>
              <a:avLst/>
              <a:gdLst/>
              <a:ahLst/>
              <a:cxnLst/>
              <a:rect l="l" t="t" r="r" b="b"/>
              <a:pathLst>
                <a:path w="283209" h="283210">
                  <a:moveTo>
                    <a:pt x="282891" y="283000"/>
                  </a:moveTo>
                  <a:lnTo>
                    <a:pt x="0" y="283000"/>
                  </a:lnTo>
                  <a:lnTo>
                    <a:pt x="0" y="0"/>
                  </a:lnTo>
                  <a:lnTo>
                    <a:pt x="282891" y="0"/>
                  </a:lnTo>
                  <a:lnTo>
                    <a:pt x="282891" y="283000"/>
                  </a:lnTo>
                  <a:close/>
                </a:path>
              </a:pathLst>
            </a:custGeom>
            <a:ln w="307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3863504" y="4271359"/>
            <a:ext cx="700405" cy="574040"/>
            <a:chOff x="3863504" y="4271359"/>
            <a:chExt cx="700405" cy="574040"/>
          </a:xfrm>
        </p:grpSpPr>
        <p:sp>
          <p:nvSpPr>
            <p:cNvPr id="56" name="object 56"/>
            <p:cNvSpPr/>
            <p:nvPr/>
          </p:nvSpPr>
          <p:spPr>
            <a:xfrm>
              <a:off x="4046479" y="4374412"/>
              <a:ext cx="390525" cy="181610"/>
            </a:xfrm>
            <a:custGeom>
              <a:avLst/>
              <a:gdLst/>
              <a:ahLst/>
              <a:cxnLst/>
              <a:rect l="l" t="t" r="r" b="b"/>
              <a:pathLst>
                <a:path w="390525" h="181610">
                  <a:moveTo>
                    <a:pt x="390428" y="0"/>
                  </a:moveTo>
                  <a:lnTo>
                    <a:pt x="132183" y="0"/>
                  </a:lnTo>
                  <a:lnTo>
                    <a:pt x="0" y="178778"/>
                  </a:lnTo>
                  <a:lnTo>
                    <a:pt x="303143" y="181603"/>
                  </a:lnTo>
                  <a:lnTo>
                    <a:pt x="390428" y="0"/>
                  </a:lnTo>
                  <a:close/>
                </a:path>
              </a:pathLst>
            </a:custGeom>
            <a:solidFill>
              <a:srgbClr val="97D9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871124" y="4278979"/>
              <a:ext cx="685165" cy="558800"/>
            </a:xfrm>
            <a:custGeom>
              <a:avLst/>
              <a:gdLst/>
              <a:ahLst/>
              <a:cxnLst/>
              <a:rect l="l" t="t" r="r" b="b"/>
              <a:pathLst>
                <a:path w="685164" h="558800">
                  <a:moveTo>
                    <a:pt x="175355" y="274210"/>
                  </a:moveTo>
                  <a:lnTo>
                    <a:pt x="307538" y="95432"/>
                  </a:lnTo>
                  <a:lnTo>
                    <a:pt x="565783" y="95432"/>
                  </a:lnTo>
                  <a:lnTo>
                    <a:pt x="478498" y="277035"/>
                  </a:lnTo>
                  <a:lnTo>
                    <a:pt x="175355" y="274210"/>
                  </a:lnTo>
                  <a:close/>
                </a:path>
                <a:path w="685164" h="558800">
                  <a:moveTo>
                    <a:pt x="0" y="377176"/>
                  </a:moveTo>
                  <a:lnTo>
                    <a:pt x="281792" y="0"/>
                  </a:lnTo>
                  <a:lnTo>
                    <a:pt x="684780" y="0"/>
                  </a:lnTo>
                  <a:lnTo>
                    <a:pt x="528106" y="377176"/>
                  </a:lnTo>
                  <a:lnTo>
                    <a:pt x="0" y="377176"/>
                  </a:lnTo>
                  <a:close/>
                </a:path>
                <a:path w="685164" h="558800">
                  <a:moveTo>
                    <a:pt x="528106" y="454715"/>
                  </a:moveTo>
                  <a:lnTo>
                    <a:pt x="684780" y="77538"/>
                  </a:lnTo>
                  <a:lnTo>
                    <a:pt x="684780" y="0"/>
                  </a:lnTo>
                  <a:lnTo>
                    <a:pt x="528106" y="377176"/>
                  </a:lnTo>
                </a:path>
                <a:path w="685164" h="558800">
                  <a:moveTo>
                    <a:pt x="528106" y="377176"/>
                  </a:moveTo>
                  <a:lnTo>
                    <a:pt x="0" y="377176"/>
                  </a:lnTo>
                  <a:lnTo>
                    <a:pt x="0" y="452361"/>
                  </a:lnTo>
                  <a:lnTo>
                    <a:pt x="528106" y="452361"/>
                  </a:lnTo>
                  <a:lnTo>
                    <a:pt x="528106" y="377176"/>
                  </a:lnTo>
                  <a:close/>
                </a:path>
                <a:path w="685164" h="558800">
                  <a:moveTo>
                    <a:pt x="19937" y="452361"/>
                  </a:moveTo>
                  <a:lnTo>
                    <a:pt x="19937" y="452361"/>
                  </a:lnTo>
                  <a:lnTo>
                    <a:pt x="19937" y="558309"/>
                  </a:lnTo>
                </a:path>
                <a:path w="685164" h="558800">
                  <a:moveTo>
                    <a:pt x="84616" y="452361"/>
                  </a:moveTo>
                  <a:lnTo>
                    <a:pt x="84616" y="452361"/>
                  </a:lnTo>
                  <a:lnTo>
                    <a:pt x="84616" y="558309"/>
                  </a:lnTo>
                </a:path>
                <a:path w="685164" h="558800">
                  <a:moveTo>
                    <a:pt x="149609" y="452361"/>
                  </a:moveTo>
                  <a:lnTo>
                    <a:pt x="149609" y="452361"/>
                  </a:lnTo>
                  <a:lnTo>
                    <a:pt x="149609" y="558309"/>
                  </a:lnTo>
                </a:path>
                <a:path w="685164" h="558800">
                  <a:moveTo>
                    <a:pt x="214288" y="452361"/>
                  </a:moveTo>
                  <a:lnTo>
                    <a:pt x="214288" y="452361"/>
                  </a:lnTo>
                  <a:lnTo>
                    <a:pt x="214288" y="558309"/>
                  </a:lnTo>
                </a:path>
                <a:path w="685164" h="558800">
                  <a:moveTo>
                    <a:pt x="278182" y="452361"/>
                  </a:moveTo>
                  <a:lnTo>
                    <a:pt x="278182" y="452361"/>
                  </a:lnTo>
                  <a:lnTo>
                    <a:pt x="278182" y="558309"/>
                  </a:lnTo>
                </a:path>
                <a:path w="685164" h="558800">
                  <a:moveTo>
                    <a:pt x="343018" y="452361"/>
                  </a:moveTo>
                  <a:lnTo>
                    <a:pt x="343018" y="452361"/>
                  </a:lnTo>
                  <a:lnTo>
                    <a:pt x="343018" y="558309"/>
                  </a:lnTo>
                </a:path>
                <a:path w="685164" h="558800">
                  <a:moveTo>
                    <a:pt x="407696" y="452361"/>
                  </a:moveTo>
                  <a:lnTo>
                    <a:pt x="407696" y="452361"/>
                  </a:lnTo>
                  <a:lnTo>
                    <a:pt x="407696" y="558309"/>
                  </a:lnTo>
                </a:path>
                <a:path w="685164" h="558800">
                  <a:moveTo>
                    <a:pt x="472689" y="452361"/>
                  </a:moveTo>
                  <a:lnTo>
                    <a:pt x="472689" y="452361"/>
                  </a:lnTo>
                  <a:lnTo>
                    <a:pt x="472689" y="558309"/>
                  </a:lnTo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868483" y="213848"/>
            <a:ext cx="61087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10" dirty="0">
                <a:latin typeface="Times New Roman"/>
                <a:cs typeface="Times New Roman"/>
              </a:rPr>
              <a:t>Wafer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734113" y="2359660"/>
            <a:ext cx="48704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20" dirty="0">
                <a:latin typeface="Times New Roman"/>
                <a:cs typeface="Times New Roman"/>
              </a:rPr>
              <a:t>Chip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680748" y="4207404"/>
            <a:ext cx="47625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20" dirty="0">
                <a:latin typeface="Times New Roman"/>
                <a:cs typeface="Times New Roman"/>
              </a:rPr>
              <a:t>Gate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586389" y="4880295"/>
            <a:ext cx="6743700" cy="147256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114550" marR="3720465" algn="ctr">
              <a:lnSpc>
                <a:spcPct val="101800"/>
              </a:lnSpc>
              <a:spcBef>
                <a:spcPts val="85"/>
              </a:spcBef>
            </a:pPr>
            <a:r>
              <a:rPr sz="1700" b="1" spc="-10" dirty="0">
                <a:latin typeface="Times New Roman"/>
                <a:cs typeface="Times New Roman"/>
              </a:rPr>
              <a:t>Packaged </a:t>
            </a:r>
            <a:r>
              <a:rPr sz="1700" b="1" spc="-20" dirty="0">
                <a:latin typeface="Times New Roman"/>
                <a:cs typeface="Times New Roman"/>
              </a:rPr>
              <a:t>chip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Figure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1.11</a:t>
            </a:r>
            <a:r>
              <a:rPr sz="2200" b="1" spc="5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Relationship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Among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spc="-35" dirty="0">
                <a:latin typeface="Times New Roman"/>
                <a:cs typeface="Times New Roman"/>
              </a:rPr>
              <a:t>Wafer,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Chip,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Gate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116170" y="1142273"/>
            <a:ext cx="2078989" cy="0"/>
          </a:xfrm>
          <a:custGeom>
            <a:avLst/>
            <a:gdLst/>
            <a:ahLst/>
            <a:cxnLst/>
            <a:rect l="l" t="t" r="r" b="b"/>
            <a:pathLst>
              <a:path w="2078989">
                <a:moveTo>
                  <a:pt x="0" y="0"/>
                </a:moveTo>
                <a:lnTo>
                  <a:pt x="0" y="0"/>
                </a:lnTo>
                <a:lnTo>
                  <a:pt x="2078830" y="0"/>
                </a:lnTo>
              </a:path>
            </a:pathLst>
          </a:custGeom>
          <a:ln w="151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116170" y="1331568"/>
            <a:ext cx="2078989" cy="0"/>
          </a:xfrm>
          <a:custGeom>
            <a:avLst/>
            <a:gdLst/>
            <a:ahLst/>
            <a:cxnLst/>
            <a:rect l="l" t="t" r="r" b="b"/>
            <a:pathLst>
              <a:path w="2078989">
                <a:moveTo>
                  <a:pt x="0" y="0"/>
                </a:moveTo>
                <a:lnTo>
                  <a:pt x="0" y="0"/>
                </a:lnTo>
                <a:lnTo>
                  <a:pt x="2078830" y="0"/>
                </a:lnTo>
              </a:path>
            </a:pathLst>
          </a:custGeom>
          <a:ln w="151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152905" y="1520235"/>
            <a:ext cx="2005964" cy="0"/>
          </a:xfrm>
          <a:custGeom>
            <a:avLst/>
            <a:gdLst/>
            <a:ahLst/>
            <a:cxnLst/>
            <a:rect l="l" t="t" r="r" b="b"/>
            <a:pathLst>
              <a:path w="2005964">
                <a:moveTo>
                  <a:pt x="0" y="0"/>
                </a:moveTo>
                <a:lnTo>
                  <a:pt x="0" y="0"/>
                </a:lnTo>
                <a:lnTo>
                  <a:pt x="2005517" y="0"/>
                </a:lnTo>
              </a:path>
            </a:pathLst>
          </a:custGeom>
          <a:ln w="151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150551" y="953763"/>
            <a:ext cx="2010410" cy="0"/>
          </a:xfrm>
          <a:custGeom>
            <a:avLst/>
            <a:gdLst/>
            <a:ahLst/>
            <a:cxnLst/>
            <a:rect l="l" t="t" r="r" b="b"/>
            <a:pathLst>
              <a:path w="2010410">
                <a:moveTo>
                  <a:pt x="0" y="0"/>
                </a:moveTo>
                <a:lnTo>
                  <a:pt x="0" y="0"/>
                </a:lnTo>
                <a:lnTo>
                  <a:pt x="2010070" y="0"/>
                </a:lnTo>
              </a:path>
            </a:pathLst>
          </a:custGeom>
          <a:ln w="151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228417" y="765096"/>
            <a:ext cx="1859914" cy="0"/>
          </a:xfrm>
          <a:custGeom>
            <a:avLst/>
            <a:gdLst/>
            <a:ahLst/>
            <a:cxnLst/>
            <a:rect l="l" t="t" r="r" b="b"/>
            <a:pathLst>
              <a:path w="1859914">
                <a:moveTo>
                  <a:pt x="0" y="0"/>
                </a:moveTo>
                <a:lnTo>
                  <a:pt x="0" y="0"/>
                </a:lnTo>
                <a:lnTo>
                  <a:pt x="1859361" y="0"/>
                </a:lnTo>
              </a:path>
            </a:pathLst>
          </a:custGeom>
          <a:ln w="151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346157" y="575331"/>
            <a:ext cx="1627505" cy="0"/>
          </a:xfrm>
          <a:custGeom>
            <a:avLst/>
            <a:gdLst/>
            <a:ahLst/>
            <a:cxnLst/>
            <a:rect l="l" t="t" r="r" b="b"/>
            <a:pathLst>
              <a:path w="1627504">
                <a:moveTo>
                  <a:pt x="0" y="0"/>
                </a:moveTo>
                <a:lnTo>
                  <a:pt x="0" y="0"/>
                </a:lnTo>
                <a:lnTo>
                  <a:pt x="1627020" y="0"/>
                </a:lnTo>
              </a:path>
            </a:pathLst>
          </a:custGeom>
          <a:ln w="151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551497" y="386821"/>
            <a:ext cx="1216025" cy="0"/>
          </a:xfrm>
          <a:custGeom>
            <a:avLst/>
            <a:gdLst/>
            <a:ahLst/>
            <a:cxnLst/>
            <a:rect l="l" t="t" r="r" b="b"/>
            <a:pathLst>
              <a:path w="1216025">
                <a:moveTo>
                  <a:pt x="0" y="0"/>
                </a:moveTo>
                <a:lnTo>
                  <a:pt x="0" y="0"/>
                </a:lnTo>
                <a:lnTo>
                  <a:pt x="1215555" y="0"/>
                </a:lnTo>
              </a:path>
            </a:pathLst>
          </a:custGeom>
          <a:ln w="151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/>
          <p:cNvGrpSpPr/>
          <p:nvPr/>
        </p:nvGrpSpPr>
        <p:grpSpPr>
          <a:xfrm>
            <a:off x="3233126" y="1701146"/>
            <a:ext cx="3815715" cy="2862580"/>
            <a:chOff x="3233126" y="1701146"/>
            <a:chExt cx="3815715" cy="2862580"/>
          </a:xfrm>
        </p:grpSpPr>
        <p:sp>
          <p:nvSpPr>
            <p:cNvPr id="70" name="object 70"/>
            <p:cNvSpPr/>
            <p:nvPr/>
          </p:nvSpPr>
          <p:spPr>
            <a:xfrm>
              <a:off x="3233126" y="1708745"/>
              <a:ext cx="1850389" cy="378460"/>
            </a:xfrm>
            <a:custGeom>
              <a:avLst/>
              <a:gdLst/>
              <a:ahLst/>
              <a:cxnLst/>
              <a:rect l="l" t="t" r="r" b="b"/>
              <a:pathLst>
                <a:path w="1850389" h="378460">
                  <a:moveTo>
                    <a:pt x="0" y="0"/>
                  </a:moveTo>
                  <a:lnTo>
                    <a:pt x="0" y="0"/>
                  </a:lnTo>
                  <a:lnTo>
                    <a:pt x="1849942" y="0"/>
                  </a:lnTo>
                </a:path>
                <a:path w="1850389" h="378460">
                  <a:moveTo>
                    <a:pt x="122764" y="188666"/>
                  </a:moveTo>
                  <a:lnTo>
                    <a:pt x="122764" y="188666"/>
                  </a:lnTo>
                  <a:lnTo>
                    <a:pt x="1724980" y="188666"/>
                  </a:lnTo>
                </a:path>
                <a:path w="1850389" h="378460">
                  <a:moveTo>
                    <a:pt x="325435" y="378432"/>
                  </a:moveTo>
                  <a:lnTo>
                    <a:pt x="325435" y="378432"/>
                  </a:lnTo>
                  <a:lnTo>
                    <a:pt x="1519483" y="378432"/>
                  </a:lnTo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452135" y="1708745"/>
              <a:ext cx="192405" cy="189230"/>
            </a:xfrm>
            <a:custGeom>
              <a:avLst/>
              <a:gdLst/>
              <a:ahLst/>
              <a:cxnLst/>
              <a:rect l="l" t="t" r="r" b="b"/>
              <a:pathLst>
                <a:path w="192404" h="189230">
                  <a:moveTo>
                    <a:pt x="192152" y="0"/>
                  </a:moveTo>
                  <a:lnTo>
                    <a:pt x="0" y="0"/>
                  </a:lnTo>
                  <a:lnTo>
                    <a:pt x="0" y="188666"/>
                  </a:lnTo>
                  <a:lnTo>
                    <a:pt x="192152" y="188666"/>
                  </a:lnTo>
                  <a:lnTo>
                    <a:pt x="192152" y="0"/>
                  </a:lnTo>
                  <a:close/>
                </a:path>
              </a:pathLst>
            </a:custGeom>
            <a:solidFill>
              <a:srgbClr val="97D9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452135" y="1708745"/>
              <a:ext cx="192405" cy="189230"/>
            </a:xfrm>
            <a:custGeom>
              <a:avLst/>
              <a:gdLst/>
              <a:ahLst/>
              <a:cxnLst/>
              <a:rect l="l" t="t" r="r" b="b"/>
              <a:pathLst>
                <a:path w="192404" h="189230">
                  <a:moveTo>
                    <a:pt x="192152" y="188666"/>
                  </a:moveTo>
                  <a:lnTo>
                    <a:pt x="0" y="188666"/>
                  </a:lnTo>
                  <a:lnTo>
                    <a:pt x="0" y="0"/>
                  </a:lnTo>
                  <a:lnTo>
                    <a:pt x="192152" y="0"/>
                  </a:lnTo>
                  <a:lnTo>
                    <a:pt x="192152" y="188666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52135" y="1897412"/>
              <a:ext cx="953769" cy="1891664"/>
            </a:xfrm>
            <a:custGeom>
              <a:avLst/>
              <a:gdLst/>
              <a:ahLst/>
              <a:cxnLst/>
              <a:rect l="l" t="t" r="r" b="b"/>
              <a:pathLst>
                <a:path w="953770" h="1891664">
                  <a:moveTo>
                    <a:pt x="0" y="0"/>
                  </a:moveTo>
                  <a:lnTo>
                    <a:pt x="953700" y="1891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E1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52135" y="1897412"/>
              <a:ext cx="953769" cy="1891664"/>
            </a:xfrm>
            <a:custGeom>
              <a:avLst/>
              <a:gdLst/>
              <a:ahLst/>
              <a:cxnLst/>
              <a:rect l="l" t="t" r="r" b="b"/>
              <a:pathLst>
                <a:path w="953770" h="1891664">
                  <a:moveTo>
                    <a:pt x="0" y="0"/>
                  </a:moveTo>
                  <a:lnTo>
                    <a:pt x="0" y="0"/>
                  </a:lnTo>
                  <a:lnTo>
                    <a:pt x="953700" y="1891378"/>
                  </a:lnTo>
                </a:path>
              </a:pathLst>
            </a:custGeom>
            <a:ln w="151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079313" y="3344591"/>
              <a:ext cx="678815" cy="901700"/>
            </a:xfrm>
            <a:custGeom>
              <a:avLst/>
              <a:gdLst/>
              <a:ahLst/>
              <a:cxnLst/>
              <a:rect l="l" t="t" r="r" b="b"/>
              <a:pathLst>
                <a:path w="678815" h="901700">
                  <a:moveTo>
                    <a:pt x="0" y="0"/>
                  </a:moveTo>
                  <a:lnTo>
                    <a:pt x="678814" y="9012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E1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079313" y="3344591"/>
              <a:ext cx="678815" cy="901700"/>
            </a:xfrm>
            <a:custGeom>
              <a:avLst/>
              <a:gdLst/>
              <a:ahLst/>
              <a:cxnLst/>
              <a:rect l="l" t="t" r="r" b="b"/>
              <a:pathLst>
                <a:path w="678815" h="901700">
                  <a:moveTo>
                    <a:pt x="0" y="0"/>
                  </a:moveTo>
                  <a:lnTo>
                    <a:pt x="0" y="0"/>
                  </a:lnTo>
                  <a:lnTo>
                    <a:pt x="678814" y="901269"/>
                  </a:lnTo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170051" y="3263129"/>
              <a:ext cx="871219" cy="699770"/>
            </a:xfrm>
            <a:custGeom>
              <a:avLst/>
              <a:gdLst/>
              <a:ahLst/>
              <a:cxnLst/>
              <a:rect l="l" t="t" r="r" b="b"/>
              <a:pathLst>
                <a:path w="871220" h="699770">
                  <a:moveTo>
                    <a:pt x="0" y="0"/>
                  </a:moveTo>
                  <a:lnTo>
                    <a:pt x="870967" y="699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E1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170051" y="3263129"/>
              <a:ext cx="871219" cy="699770"/>
            </a:xfrm>
            <a:custGeom>
              <a:avLst/>
              <a:gdLst/>
              <a:ahLst/>
              <a:cxnLst/>
              <a:rect l="l" t="t" r="r" b="b"/>
              <a:pathLst>
                <a:path w="871220" h="699770">
                  <a:moveTo>
                    <a:pt x="0" y="0"/>
                  </a:moveTo>
                  <a:lnTo>
                    <a:pt x="0" y="0"/>
                  </a:lnTo>
                  <a:lnTo>
                    <a:pt x="870967" y="699731"/>
                  </a:lnTo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644288" y="1708745"/>
              <a:ext cx="1878330" cy="944244"/>
            </a:xfrm>
            <a:custGeom>
              <a:avLst/>
              <a:gdLst/>
              <a:ahLst/>
              <a:cxnLst/>
              <a:rect l="l" t="t" r="r" b="b"/>
              <a:pathLst>
                <a:path w="1878329" h="944244">
                  <a:moveTo>
                    <a:pt x="0" y="0"/>
                  </a:moveTo>
                  <a:lnTo>
                    <a:pt x="1878043" y="944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E1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644288" y="1708745"/>
              <a:ext cx="1878330" cy="944244"/>
            </a:xfrm>
            <a:custGeom>
              <a:avLst/>
              <a:gdLst/>
              <a:ahLst/>
              <a:cxnLst/>
              <a:rect l="l" t="t" r="r" b="b"/>
              <a:pathLst>
                <a:path w="1878329" h="944244">
                  <a:moveTo>
                    <a:pt x="0" y="0"/>
                  </a:moveTo>
                  <a:lnTo>
                    <a:pt x="0" y="0"/>
                  </a:lnTo>
                  <a:lnTo>
                    <a:pt x="1878043" y="944119"/>
                  </a:lnTo>
                </a:path>
              </a:pathLst>
            </a:custGeom>
            <a:ln w="15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079313" y="3263129"/>
              <a:ext cx="90805" cy="81915"/>
            </a:xfrm>
            <a:custGeom>
              <a:avLst/>
              <a:gdLst/>
              <a:ahLst/>
              <a:cxnLst/>
              <a:rect l="l" t="t" r="r" b="b"/>
              <a:pathLst>
                <a:path w="90804" h="81914">
                  <a:moveTo>
                    <a:pt x="90738" y="0"/>
                  </a:moveTo>
                  <a:lnTo>
                    <a:pt x="0" y="0"/>
                  </a:lnTo>
                  <a:lnTo>
                    <a:pt x="0" y="81462"/>
                  </a:lnTo>
                  <a:lnTo>
                    <a:pt x="90738" y="81462"/>
                  </a:lnTo>
                  <a:lnTo>
                    <a:pt x="90738" y="0"/>
                  </a:lnTo>
                  <a:close/>
                </a:path>
              </a:pathLst>
            </a:custGeom>
            <a:solidFill>
              <a:srgbClr val="97D9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079313" y="3263129"/>
              <a:ext cx="90805" cy="81915"/>
            </a:xfrm>
            <a:custGeom>
              <a:avLst/>
              <a:gdLst/>
              <a:ahLst/>
              <a:cxnLst/>
              <a:rect l="l" t="t" r="r" b="b"/>
              <a:pathLst>
                <a:path w="90804" h="81914">
                  <a:moveTo>
                    <a:pt x="90738" y="81462"/>
                  </a:moveTo>
                  <a:lnTo>
                    <a:pt x="0" y="81462"/>
                  </a:lnTo>
                  <a:lnTo>
                    <a:pt x="0" y="0"/>
                  </a:lnTo>
                  <a:lnTo>
                    <a:pt x="90738" y="0"/>
                  </a:lnTo>
                  <a:lnTo>
                    <a:pt x="90738" y="81462"/>
                  </a:lnTo>
                  <a:close/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178663" y="2652865"/>
              <a:ext cx="1227455" cy="1722120"/>
            </a:xfrm>
            <a:custGeom>
              <a:avLst/>
              <a:gdLst/>
              <a:ahLst/>
              <a:cxnLst/>
              <a:rect l="l" t="t" r="r" b="b"/>
              <a:pathLst>
                <a:path w="1227454" h="1722120">
                  <a:moveTo>
                    <a:pt x="1227172" y="0"/>
                  </a:moveTo>
                  <a:lnTo>
                    <a:pt x="0" y="1721546"/>
                  </a:lnTo>
                  <a:lnTo>
                    <a:pt x="1227172" y="0"/>
                  </a:lnTo>
                  <a:close/>
                </a:path>
              </a:pathLst>
            </a:custGeom>
            <a:solidFill>
              <a:srgbClr val="B1E1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178663" y="2652865"/>
              <a:ext cx="1227455" cy="1722120"/>
            </a:xfrm>
            <a:custGeom>
              <a:avLst/>
              <a:gdLst/>
              <a:ahLst/>
              <a:cxnLst/>
              <a:rect l="l" t="t" r="r" b="b"/>
              <a:pathLst>
                <a:path w="1227454" h="1722120">
                  <a:moveTo>
                    <a:pt x="0" y="1721546"/>
                  </a:moveTo>
                  <a:lnTo>
                    <a:pt x="0" y="1721546"/>
                  </a:lnTo>
                  <a:lnTo>
                    <a:pt x="1227172" y="0"/>
                  </a:lnTo>
                </a:path>
              </a:pathLst>
            </a:custGeom>
            <a:ln w="15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349622" y="3788791"/>
              <a:ext cx="2172970" cy="767715"/>
            </a:xfrm>
            <a:custGeom>
              <a:avLst/>
              <a:gdLst/>
              <a:ahLst/>
              <a:cxnLst/>
              <a:rect l="l" t="t" r="r" b="b"/>
              <a:pathLst>
                <a:path w="2172970" h="767714">
                  <a:moveTo>
                    <a:pt x="2172709" y="0"/>
                  </a:moveTo>
                  <a:lnTo>
                    <a:pt x="0" y="767224"/>
                  </a:lnTo>
                  <a:lnTo>
                    <a:pt x="2172709" y="0"/>
                  </a:lnTo>
                  <a:close/>
                </a:path>
              </a:pathLst>
            </a:custGeom>
            <a:solidFill>
              <a:srgbClr val="B1E1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349622" y="3788791"/>
              <a:ext cx="2172970" cy="767715"/>
            </a:xfrm>
            <a:custGeom>
              <a:avLst/>
              <a:gdLst/>
              <a:ahLst/>
              <a:cxnLst/>
              <a:rect l="l" t="t" r="r" b="b"/>
              <a:pathLst>
                <a:path w="2172970" h="767714">
                  <a:moveTo>
                    <a:pt x="0" y="767224"/>
                  </a:moveTo>
                  <a:lnTo>
                    <a:pt x="0" y="767224"/>
                  </a:lnTo>
                  <a:lnTo>
                    <a:pt x="2172709" y="0"/>
                  </a:lnTo>
                </a:path>
              </a:pathLst>
            </a:custGeom>
            <a:ln w="15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85520" y="5581283"/>
            <a:ext cx="7868284" cy="564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94330" marR="5080" indent="-2882265">
              <a:lnSpc>
                <a:spcPct val="101000"/>
              </a:lnSpc>
              <a:spcBef>
                <a:spcPts val="95"/>
              </a:spcBef>
            </a:pPr>
            <a:r>
              <a:rPr sz="1750" b="1" dirty="0">
                <a:latin typeface="Verdana"/>
                <a:cs typeface="Verdana"/>
              </a:rPr>
              <a:t>Figure</a:t>
            </a:r>
            <a:r>
              <a:rPr sz="1750" b="1" spc="-30" dirty="0">
                <a:latin typeface="Verdana"/>
                <a:cs typeface="Verdana"/>
              </a:rPr>
              <a:t> </a:t>
            </a:r>
            <a:r>
              <a:rPr sz="1750" b="1" dirty="0">
                <a:latin typeface="Verdana"/>
                <a:cs typeface="Verdana"/>
              </a:rPr>
              <a:t>1.12</a:t>
            </a:r>
            <a:r>
              <a:rPr sz="1750" b="1" spc="-15" dirty="0">
                <a:latin typeface="Verdana"/>
                <a:cs typeface="Verdana"/>
              </a:rPr>
              <a:t>  </a:t>
            </a:r>
            <a:r>
              <a:rPr sz="1750" b="1" dirty="0">
                <a:latin typeface="Verdana"/>
                <a:cs typeface="Verdana"/>
              </a:rPr>
              <a:t>Growth</a:t>
            </a:r>
            <a:r>
              <a:rPr sz="1750" b="1" spc="-20" dirty="0">
                <a:latin typeface="Verdana"/>
                <a:cs typeface="Verdana"/>
              </a:rPr>
              <a:t> </a:t>
            </a:r>
            <a:r>
              <a:rPr sz="1750" b="1" dirty="0">
                <a:latin typeface="Verdana"/>
                <a:cs typeface="Verdana"/>
              </a:rPr>
              <a:t>in</a:t>
            </a:r>
            <a:r>
              <a:rPr sz="1750" b="1" spc="-20" dirty="0">
                <a:latin typeface="Verdana"/>
                <a:cs typeface="Verdana"/>
              </a:rPr>
              <a:t> </a:t>
            </a:r>
            <a:r>
              <a:rPr sz="1750" b="1" dirty="0">
                <a:latin typeface="Verdana"/>
                <a:cs typeface="Verdana"/>
              </a:rPr>
              <a:t>Transistor</a:t>
            </a:r>
            <a:r>
              <a:rPr sz="1750" b="1" spc="-10" dirty="0">
                <a:latin typeface="Verdana"/>
                <a:cs typeface="Verdana"/>
              </a:rPr>
              <a:t> </a:t>
            </a:r>
            <a:r>
              <a:rPr sz="1750" b="1" dirty="0">
                <a:latin typeface="Verdana"/>
                <a:cs typeface="Verdana"/>
              </a:rPr>
              <a:t>Count</a:t>
            </a:r>
            <a:r>
              <a:rPr sz="1750" b="1" spc="-20" dirty="0">
                <a:latin typeface="Verdana"/>
                <a:cs typeface="Verdana"/>
              </a:rPr>
              <a:t> </a:t>
            </a:r>
            <a:r>
              <a:rPr sz="1750" b="1" dirty="0">
                <a:latin typeface="Verdana"/>
                <a:cs typeface="Verdana"/>
              </a:rPr>
              <a:t>on</a:t>
            </a:r>
            <a:r>
              <a:rPr sz="1750" b="1" spc="-20" dirty="0">
                <a:latin typeface="Verdana"/>
                <a:cs typeface="Verdana"/>
              </a:rPr>
              <a:t> </a:t>
            </a:r>
            <a:r>
              <a:rPr sz="1750" b="1" dirty="0">
                <a:latin typeface="Verdana"/>
                <a:cs typeface="Verdana"/>
              </a:rPr>
              <a:t>Integrated</a:t>
            </a:r>
            <a:r>
              <a:rPr sz="1750" b="1" spc="-15" dirty="0">
                <a:latin typeface="Verdana"/>
                <a:cs typeface="Verdana"/>
              </a:rPr>
              <a:t> </a:t>
            </a:r>
            <a:r>
              <a:rPr sz="1750" b="1" spc="-10" dirty="0">
                <a:latin typeface="Verdana"/>
                <a:cs typeface="Verdana"/>
              </a:rPr>
              <a:t>Circuits </a:t>
            </a:r>
            <a:r>
              <a:rPr sz="1750" b="1" dirty="0">
                <a:latin typeface="Verdana"/>
                <a:cs typeface="Verdana"/>
              </a:rPr>
              <a:t>(DRAM</a:t>
            </a:r>
            <a:r>
              <a:rPr sz="1750" b="1" spc="-5" dirty="0">
                <a:latin typeface="Verdana"/>
                <a:cs typeface="Verdana"/>
              </a:rPr>
              <a:t> </a:t>
            </a:r>
            <a:r>
              <a:rPr sz="1750" b="1" spc="-10" dirty="0">
                <a:latin typeface="Verdana"/>
                <a:cs typeface="Verdana"/>
              </a:rPr>
              <a:t>memory)</a:t>
            </a:r>
            <a:endParaRPr sz="17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6841" y="1847510"/>
            <a:ext cx="7336155" cy="2469515"/>
            <a:chOff x="606841" y="1847510"/>
            <a:chExt cx="7336155" cy="2469515"/>
          </a:xfrm>
        </p:grpSpPr>
        <p:sp>
          <p:nvSpPr>
            <p:cNvPr id="5" name="object 5"/>
            <p:cNvSpPr/>
            <p:nvPr/>
          </p:nvSpPr>
          <p:spPr>
            <a:xfrm>
              <a:off x="621763" y="1862433"/>
              <a:ext cx="7306309" cy="2439670"/>
            </a:xfrm>
            <a:custGeom>
              <a:avLst/>
              <a:gdLst/>
              <a:ahLst/>
              <a:cxnLst/>
              <a:rect l="l" t="t" r="r" b="b"/>
              <a:pathLst>
                <a:path w="7306309" h="2439670">
                  <a:moveTo>
                    <a:pt x="7306075" y="0"/>
                  </a:moveTo>
                  <a:lnTo>
                    <a:pt x="0" y="0"/>
                  </a:lnTo>
                  <a:lnTo>
                    <a:pt x="0" y="2439312"/>
                  </a:lnTo>
                  <a:lnTo>
                    <a:pt x="7306075" y="2439312"/>
                  </a:lnTo>
                  <a:lnTo>
                    <a:pt x="7306075" y="0"/>
                  </a:lnTo>
                  <a:close/>
                </a:path>
              </a:pathLst>
            </a:custGeom>
            <a:solidFill>
              <a:srgbClr val="CA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1763" y="1862433"/>
              <a:ext cx="7306309" cy="2439670"/>
            </a:xfrm>
            <a:custGeom>
              <a:avLst/>
              <a:gdLst/>
              <a:ahLst/>
              <a:cxnLst/>
              <a:rect l="l" t="t" r="r" b="b"/>
              <a:pathLst>
                <a:path w="7306309" h="2439670">
                  <a:moveTo>
                    <a:pt x="7306075" y="2439312"/>
                  </a:moveTo>
                  <a:lnTo>
                    <a:pt x="0" y="2439312"/>
                  </a:lnTo>
                  <a:lnTo>
                    <a:pt x="0" y="0"/>
                  </a:lnTo>
                  <a:lnTo>
                    <a:pt x="7306075" y="0"/>
                  </a:lnTo>
                  <a:lnTo>
                    <a:pt x="7306075" y="2439312"/>
                  </a:lnTo>
                  <a:close/>
                </a:path>
              </a:pathLst>
            </a:custGeom>
            <a:ln w="293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5283" y="1862433"/>
              <a:ext cx="6849745" cy="2439670"/>
            </a:xfrm>
            <a:custGeom>
              <a:avLst/>
              <a:gdLst/>
              <a:ahLst/>
              <a:cxnLst/>
              <a:rect l="l" t="t" r="r" b="b"/>
              <a:pathLst>
                <a:path w="6849745" h="2439670">
                  <a:moveTo>
                    <a:pt x="0" y="2439312"/>
                  </a:moveTo>
                  <a:lnTo>
                    <a:pt x="0" y="2439312"/>
                  </a:lnTo>
                  <a:lnTo>
                    <a:pt x="0" y="2373426"/>
                  </a:lnTo>
                </a:path>
                <a:path w="6849745" h="2439670">
                  <a:moveTo>
                    <a:pt x="571267" y="2439312"/>
                  </a:moveTo>
                  <a:lnTo>
                    <a:pt x="571267" y="2439312"/>
                  </a:lnTo>
                  <a:lnTo>
                    <a:pt x="571267" y="2373426"/>
                  </a:lnTo>
                </a:path>
                <a:path w="6849745" h="2439670">
                  <a:moveTo>
                    <a:pt x="1144523" y="2439312"/>
                  </a:moveTo>
                  <a:lnTo>
                    <a:pt x="1144523" y="2439312"/>
                  </a:lnTo>
                  <a:lnTo>
                    <a:pt x="1144523" y="2373426"/>
                  </a:lnTo>
                </a:path>
                <a:path w="6849745" h="2439670">
                  <a:moveTo>
                    <a:pt x="2285952" y="2439312"/>
                  </a:moveTo>
                  <a:lnTo>
                    <a:pt x="2285952" y="2439312"/>
                  </a:lnTo>
                  <a:lnTo>
                    <a:pt x="2285952" y="2373426"/>
                  </a:lnTo>
                </a:path>
                <a:path w="6849745" h="2439670">
                  <a:moveTo>
                    <a:pt x="2852781" y="2439312"/>
                  </a:moveTo>
                  <a:lnTo>
                    <a:pt x="2852781" y="2439312"/>
                  </a:lnTo>
                  <a:lnTo>
                    <a:pt x="2852781" y="2373426"/>
                  </a:lnTo>
                </a:path>
                <a:path w="6849745" h="2439670">
                  <a:moveTo>
                    <a:pt x="3426336" y="2439312"/>
                  </a:moveTo>
                  <a:lnTo>
                    <a:pt x="3426336" y="2439312"/>
                  </a:lnTo>
                  <a:lnTo>
                    <a:pt x="3426336" y="2373426"/>
                  </a:lnTo>
                </a:path>
                <a:path w="6849745" h="2439670">
                  <a:moveTo>
                    <a:pt x="3989877" y="2439312"/>
                  </a:moveTo>
                  <a:lnTo>
                    <a:pt x="3989877" y="2439312"/>
                  </a:lnTo>
                  <a:lnTo>
                    <a:pt x="3989877" y="2373426"/>
                  </a:lnTo>
                </a:path>
                <a:path w="6849745" h="2439670">
                  <a:moveTo>
                    <a:pt x="4567915" y="2439312"/>
                  </a:moveTo>
                  <a:lnTo>
                    <a:pt x="4567915" y="2439312"/>
                  </a:lnTo>
                  <a:lnTo>
                    <a:pt x="4567915" y="2373426"/>
                  </a:lnTo>
                </a:path>
                <a:path w="6849745" h="2439670">
                  <a:moveTo>
                    <a:pt x="5141020" y="2439312"/>
                  </a:moveTo>
                  <a:lnTo>
                    <a:pt x="5141020" y="2439312"/>
                  </a:lnTo>
                  <a:lnTo>
                    <a:pt x="5141020" y="2373426"/>
                  </a:lnTo>
                </a:path>
                <a:path w="6849745" h="2439670">
                  <a:moveTo>
                    <a:pt x="5711287" y="2439312"/>
                  </a:moveTo>
                  <a:lnTo>
                    <a:pt x="5711287" y="2439312"/>
                  </a:lnTo>
                  <a:lnTo>
                    <a:pt x="5711287" y="2373426"/>
                  </a:lnTo>
                </a:path>
                <a:path w="6849745" h="2439670">
                  <a:moveTo>
                    <a:pt x="6282600" y="2439312"/>
                  </a:moveTo>
                  <a:lnTo>
                    <a:pt x="6282600" y="2439312"/>
                  </a:lnTo>
                  <a:lnTo>
                    <a:pt x="6282600" y="2373426"/>
                  </a:lnTo>
                </a:path>
                <a:path w="6849745" h="2439670">
                  <a:moveTo>
                    <a:pt x="6849429" y="2439312"/>
                  </a:moveTo>
                  <a:lnTo>
                    <a:pt x="6849429" y="2439312"/>
                  </a:lnTo>
                  <a:lnTo>
                    <a:pt x="6849429" y="2373426"/>
                  </a:lnTo>
                </a:path>
                <a:path w="6849745" h="2439670">
                  <a:moveTo>
                    <a:pt x="921108" y="2439312"/>
                  </a:moveTo>
                  <a:lnTo>
                    <a:pt x="921108" y="2439312"/>
                  </a:lnTo>
                  <a:lnTo>
                    <a:pt x="921108" y="0"/>
                  </a:lnTo>
                </a:path>
                <a:path w="6849745" h="2439670">
                  <a:moveTo>
                    <a:pt x="1721364" y="2439312"/>
                  </a:moveTo>
                  <a:lnTo>
                    <a:pt x="1721364" y="2439312"/>
                  </a:lnTo>
                  <a:lnTo>
                    <a:pt x="1721364" y="0"/>
                  </a:lnTo>
                </a:path>
              </a:pathLst>
            </a:custGeom>
            <a:ln w="144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 rot="18960000">
            <a:off x="331791" y="1078306"/>
            <a:ext cx="1187160" cy="179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15"/>
              </a:lnSpc>
            </a:pPr>
            <a:r>
              <a:rPr sz="1400" spc="-10" dirty="0">
                <a:latin typeface="Verdana"/>
                <a:cs typeface="Verdana"/>
              </a:rPr>
              <a:t>Fir</a:t>
            </a:r>
            <a:r>
              <a:rPr sz="2100" spc="-15" baseline="1984" dirty="0">
                <a:latin typeface="Verdana"/>
                <a:cs typeface="Verdana"/>
              </a:rPr>
              <a:t>st</a:t>
            </a:r>
            <a:r>
              <a:rPr sz="2100" spc="-127" baseline="1984" dirty="0">
                <a:latin typeface="Verdana"/>
                <a:cs typeface="Verdana"/>
              </a:rPr>
              <a:t> </a:t>
            </a:r>
            <a:r>
              <a:rPr sz="2100" spc="-15" baseline="1984" dirty="0">
                <a:latin typeface="Verdana"/>
                <a:cs typeface="Verdana"/>
              </a:rPr>
              <a:t>w</a:t>
            </a:r>
            <a:r>
              <a:rPr sz="2100" spc="-15" baseline="3968" dirty="0">
                <a:latin typeface="Verdana"/>
                <a:cs typeface="Verdana"/>
              </a:rPr>
              <a:t>ork</a:t>
            </a:r>
            <a:r>
              <a:rPr sz="2100" spc="-15" baseline="5952" dirty="0">
                <a:latin typeface="Verdana"/>
                <a:cs typeface="Verdana"/>
              </a:rPr>
              <a:t>ing</a:t>
            </a:r>
            <a:endParaRPr sz="2100" baseline="5952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 rot="18960000">
            <a:off x="525947" y="1338991"/>
            <a:ext cx="880855" cy="179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15"/>
              </a:lnSpc>
            </a:pPr>
            <a:r>
              <a:rPr sz="1400" spc="-10" dirty="0">
                <a:latin typeface="Verdana"/>
                <a:cs typeface="Verdana"/>
              </a:rPr>
              <a:t>tra</a:t>
            </a:r>
            <a:r>
              <a:rPr sz="2100" spc="-15" baseline="1984" dirty="0">
                <a:latin typeface="Verdana"/>
                <a:cs typeface="Verdana"/>
              </a:rPr>
              <a:t>nsis</a:t>
            </a:r>
            <a:r>
              <a:rPr sz="2100" spc="-15" baseline="3968" dirty="0">
                <a:latin typeface="Verdana"/>
                <a:cs typeface="Verdana"/>
              </a:rPr>
              <a:t>tor</a:t>
            </a:r>
            <a:endParaRPr sz="2100" baseline="3968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 rot="18960000">
            <a:off x="2513777" y="1140871"/>
            <a:ext cx="1073690" cy="179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15"/>
              </a:lnSpc>
            </a:pPr>
            <a:r>
              <a:rPr sz="1400" spc="-25" dirty="0">
                <a:latin typeface="Verdana"/>
                <a:cs typeface="Verdana"/>
              </a:rPr>
              <a:t>Mo</a:t>
            </a:r>
            <a:r>
              <a:rPr sz="2100" spc="-37" baseline="1984" dirty="0">
                <a:latin typeface="Verdana"/>
                <a:cs typeface="Verdana"/>
              </a:rPr>
              <a:t>ore’</a:t>
            </a:r>
            <a:r>
              <a:rPr sz="2100" spc="-37" baseline="3968" dirty="0">
                <a:latin typeface="Verdana"/>
                <a:cs typeface="Verdana"/>
              </a:rPr>
              <a:t>s</a:t>
            </a:r>
            <a:r>
              <a:rPr sz="2100" spc="-104" baseline="3968" dirty="0">
                <a:latin typeface="Verdana"/>
                <a:cs typeface="Verdana"/>
              </a:rPr>
              <a:t> </a:t>
            </a:r>
            <a:r>
              <a:rPr sz="2100" spc="-37" baseline="3968" dirty="0">
                <a:latin typeface="Verdana"/>
                <a:cs typeface="Verdana"/>
              </a:rPr>
              <a:t>law</a:t>
            </a:r>
            <a:endParaRPr sz="2100" baseline="3968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 rot="18960000">
            <a:off x="2654402" y="1261845"/>
            <a:ext cx="1162686" cy="179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15"/>
              </a:lnSpc>
            </a:pPr>
            <a:r>
              <a:rPr sz="1400" spc="-10" dirty="0">
                <a:latin typeface="Verdana"/>
                <a:cs typeface="Verdana"/>
              </a:rPr>
              <a:t>pro</a:t>
            </a:r>
            <a:r>
              <a:rPr sz="2100" spc="-15" baseline="1984" dirty="0">
                <a:latin typeface="Verdana"/>
                <a:cs typeface="Verdana"/>
              </a:rPr>
              <a:t>mu</a:t>
            </a:r>
            <a:r>
              <a:rPr sz="2100" spc="-15" baseline="3968" dirty="0">
                <a:latin typeface="Verdana"/>
                <a:cs typeface="Verdana"/>
              </a:rPr>
              <a:t>lgat</a:t>
            </a:r>
            <a:r>
              <a:rPr sz="2100" spc="-15" baseline="5952" dirty="0">
                <a:latin typeface="Verdana"/>
                <a:cs typeface="Verdana"/>
              </a:rPr>
              <a:t>ed</a:t>
            </a:r>
            <a:endParaRPr sz="2100" baseline="5952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 rot="18960000">
            <a:off x="1552964" y="1120762"/>
            <a:ext cx="1108138" cy="179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15"/>
              </a:lnSpc>
            </a:pPr>
            <a:r>
              <a:rPr sz="1400" spc="-25" dirty="0">
                <a:latin typeface="Verdana"/>
                <a:cs typeface="Verdana"/>
              </a:rPr>
              <a:t>In</a:t>
            </a:r>
            <a:r>
              <a:rPr sz="2100" spc="-37" baseline="1984" dirty="0">
                <a:latin typeface="Verdana"/>
                <a:cs typeface="Verdana"/>
              </a:rPr>
              <a:t>vent</a:t>
            </a:r>
            <a:r>
              <a:rPr sz="2100" spc="-37" baseline="3968" dirty="0">
                <a:latin typeface="Verdana"/>
                <a:cs typeface="Verdana"/>
              </a:rPr>
              <a:t>ion</a:t>
            </a:r>
            <a:r>
              <a:rPr sz="2100" spc="-112" baseline="3968" dirty="0">
                <a:latin typeface="Verdana"/>
                <a:cs typeface="Verdana"/>
              </a:rPr>
              <a:t> </a:t>
            </a:r>
            <a:r>
              <a:rPr sz="2100" spc="-37" baseline="5952" dirty="0">
                <a:latin typeface="Verdana"/>
                <a:cs typeface="Verdana"/>
              </a:rPr>
              <a:t>of</a:t>
            </a:r>
            <a:endParaRPr sz="2100" baseline="5952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 rot="18960000">
            <a:off x="1643938" y="1117879"/>
            <a:ext cx="1547171" cy="179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15"/>
              </a:lnSpc>
            </a:pPr>
            <a:r>
              <a:rPr sz="1400" spc="-30" dirty="0">
                <a:latin typeface="Verdana"/>
                <a:cs typeface="Verdana"/>
              </a:rPr>
              <a:t>in</a:t>
            </a:r>
            <a:r>
              <a:rPr sz="2100" spc="-44" baseline="1984" dirty="0">
                <a:latin typeface="Verdana"/>
                <a:cs typeface="Verdana"/>
              </a:rPr>
              <a:t>tegr</a:t>
            </a:r>
            <a:r>
              <a:rPr sz="2100" spc="-44" baseline="3968" dirty="0">
                <a:latin typeface="Verdana"/>
                <a:cs typeface="Verdana"/>
              </a:rPr>
              <a:t>ated</a:t>
            </a:r>
            <a:r>
              <a:rPr sz="2100" spc="-52" baseline="3968" dirty="0">
                <a:latin typeface="Verdana"/>
                <a:cs typeface="Verdana"/>
              </a:rPr>
              <a:t> </a:t>
            </a:r>
            <a:r>
              <a:rPr sz="2100" spc="-15" baseline="5952" dirty="0">
                <a:latin typeface="Verdana"/>
                <a:cs typeface="Verdana"/>
              </a:rPr>
              <a:t>circu</a:t>
            </a:r>
            <a:r>
              <a:rPr sz="2100" spc="-15" baseline="7936" dirty="0">
                <a:latin typeface="Verdana"/>
                <a:cs typeface="Verdana"/>
              </a:rPr>
              <a:t>it</a:t>
            </a:r>
            <a:endParaRPr sz="2100" baseline="7936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7088" y="4316163"/>
            <a:ext cx="706882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114425" algn="l"/>
                <a:tab pos="1690370" algn="l"/>
                <a:tab pos="2259330" algn="l"/>
                <a:tab pos="2829560" algn="l"/>
                <a:tab pos="3395979" algn="l"/>
                <a:tab pos="3972560" algn="l"/>
                <a:tab pos="4547870" algn="l"/>
                <a:tab pos="5114290" algn="l"/>
                <a:tab pos="5688965" algn="l"/>
                <a:tab pos="6139180" algn="l"/>
                <a:tab pos="6828155" algn="l"/>
              </a:tabLst>
            </a:pPr>
            <a:r>
              <a:rPr sz="1400" dirty="0">
                <a:latin typeface="Verdana"/>
                <a:cs typeface="Verdana"/>
              </a:rPr>
              <a:t>1947</a:t>
            </a:r>
            <a:r>
              <a:rPr sz="1400" spc="18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50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5" dirty="0">
                <a:latin typeface="Verdana"/>
                <a:cs typeface="Verdana"/>
              </a:rPr>
              <a:t>55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5" dirty="0">
                <a:latin typeface="Verdana"/>
                <a:cs typeface="Verdana"/>
              </a:rPr>
              <a:t>60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5" dirty="0">
                <a:latin typeface="Verdana"/>
                <a:cs typeface="Verdana"/>
              </a:rPr>
              <a:t>65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5" dirty="0">
                <a:latin typeface="Verdana"/>
                <a:cs typeface="Verdana"/>
              </a:rPr>
              <a:t>70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5" dirty="0">
                <a:latin typeface="Verdana"/>
                <a:cs typeface="Verdana"/>
              </a:rPr>
              <a:t>75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5" dirty="0">
                <a:latin typeface="Verdana"/>
                <a:cs typeface="Verdana"/>
              </a:rPr>
              <a:t>80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5" dirty="0">
                <a:latin typeface="Verdana"/>
                <a:cs typeface="Verdana"/>
              </a:rPr>
              <a:t>85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5" dirty="0">
                <a:latin typeface="Verdana"/>
                <a:cs typeface="Verdana"/>
              </a:rPr>
              <a:t>90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5" dirty="0">
                <a:latin typeface="Verdana"/>
                <a:cs typeface="Verdana"/>
              </a:rPr>
              <a:t>95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0" dirty="0">
                <a:latin typeface="Verdana"/>
                <a:cs typeface="Verdana"/>
              </a:rPr>
              <a:t>2000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5" dirty="0">
                <a:latin typeface="Verdana"/>
                <a:cs typeface="Verdana"/>
              </a:rPr>
              <a:t>05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13071" y="4316163"/>
            <a:ext cx="252729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25" dirty="0">
                <a:latin typeface="Verdana"/>
                <a:cs typeface="Verdana"/>
              </a:rPr>
              <a:t>11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7113" y="1992555"/>
            <a:ext cx="7334250" cy="2324100"/>
            <a:chOff x="607113" y="1992555"/>
            <a:chExt cx="7334250" cy="2324100"/>
          </a:xfrm>
        </p:grpSpPr>
        <p:sp>
          <p:nvSpPr>
            <p:cNvPr id="17" name="object 17"/>
            <p:cNvSpPr/>
            <p:nvPr/>
          </p:nvSpPr>
          <p:spPr>
            <a:xfrm>
              <a:off x="621763" y="2103570"/>
              <a:ext cx="7306309" cy="1931670"/>
            </a:xfrm>
            <a:custGeom>
              <a:avLst/>
              <a:gdLst/>
              <a:ahLst/>
              <a:cxnLst/>
              <a:rect l="l" t="t" r="r" b="b"/>
              <a:pathLst>
                <a:path w="7306309" h="1931670">
                  <a:moveTo>
                    <a:pt x="7306075" y="1931639"/>
                  </a:moveTo>
                  <a:lnTo>
                    <a:pt x="7306075" y="1931639"/>
                  </a:lnTo>
                  <a:lnTo>
                    <a:pt x="0" y="1931639"/>
                  </a:lnTo>
                </a:path>
                <a:path w="7306309" h="1931670">
                  <a:moveTo>
                    <a:pt x="7306075" y="1691547"/>
                  </a:moveTo>
                  <a:lnTo>
                    <a:pt x="7306075" y="1691547"/>
                  </a:lnTo>
                  <a:lnTo>
                    <a:pt x="0" y="1691547"/>
                  </a:lnTo>
                </a:path>
                <a:path w="7306309" h="1931670">
                  <a:moveTo>
                    <a:pt x="7306075" y="1449065"/>
                  </a:moveTo>
                  <a:lnTo>
                    <a:pt x="7306075" y="1449065"/>
                  </a:lnTo>
                  <a:lnTo>
                    <a:pt x="0" y="1449065"/>
                  </a:lnTo>
                </a:path>
                <a:path w="7306309" h="1931670">
                  <a:moveTo>
                    <a:pt x="7306075" y="1206882"/>
                  </a:moveTo>
                  <a:lnTo>
                    <a:pt x="7306075" y="1206882"/>
                  </a:lnTo>
                  <a:lnTo>
                    <a:pt x="0" y="1206882"/>
                  </a:lnTo>
                </a:path>
                <a:path w="7306309" h="1931670">
                  <a:moveTo>
                    <a:pt x="7306075" y="966940"/>
                  </a:moveTo>
                  <a:lnTo>
                    <a:pt x="7306075" y="966940"/>
                  </a:lnTo>
                  <a:lnTo>
                    <a:pt x="0" y="966940"/>
                  </a:lnTo>
                </a:path>
                <a:path w="7306309" h="1931670">
                  <a:moveTo>
                    <a:pt x="7306075" y="728043"/>
                  </a:moveTo>
                  <a:lnTo>
                    <a:pt x="7306075" y="728043"/>
                  </a:lnTo>
                  <a:lnTo>
                    <a:pt x="0" y="728043"/>
                  </a:lnTo>
                </a:path>
                <a:path w="7306309" h="1931670">
                  <a:moveTo>
                    <a:pt x="7306075" y="482125"/>
                  </a:moveTo>
                  <a:lnTo>
                    <a:pt x="7306075" y="482125"/>
                  </a:lnTo>
                  <a:lnTo>
                    <a:pt x="0" y="482125"/>
                  </a:lnTo>
                </a:path>
                <a:path w="7306309" h="1931670">
                  <a:moveTo>
                    <a:pt x="7306075" y="239942"/>
                  </a:moveTo>
                  <a:lnTo>
                    <a:pt x="7306075" y="239942"/>
                  </a:lnTo>
                  <a:lnTo>
                    <a:pt x="0" y="239942"/>
                  </a:lnTo>
                </a:path>
                <a:path w="7306309" h="1931670">
                  <a:moveTo>
                    <a:pt x="7306075" y="0"/>
                  </a:moveTo>
                  <a:lnTo>
                    <a:pt x="7306075" y="0"/>
                  </a:lnTo>
                  <a:lnTo>
                    <a:pt x="0" y="0"/>
                  </a:lnTo>
                </a:path>
              </a:pathLst>
            </a:custGeom>
            <a:ln w="144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1763" y="2007205"/>
              <a:ext cx="7305040" cy="2294890"/>
            </a:xfrm>
            <a:custGeom>
              <a:avLst/>
              <a:gdLst/>
              <a:ahLst/>
              <a:cxnLst/>
              <a:rect l="l" t="t" r="r" b="b"/>
              <a:pathLst>
                <a:path w="7305040" h="2294890">
                  <a:moveTo>
                    <a:pt x="0" y="2294540"/>
                  </a:moveTo>
                  <a:lnTo>
                    <a:pt x="2045905" y="1576955"/>
                  </a:lnTo>
                  <a:lnTo>
                    <a:pt x="3323177" y="1311016"/>
                  </a:lnTo>
                  <a:lnTo>
                    <a:pt x="3651947" y="1093634"/>
                  </a:lnTo>
                  <a:lnTo>
                    <a:pt x="4327419" y="963503"/>
                  </a:lnTo>
                  <a:lnTo>
                    <a:pt x="5188498" y="716539"/>
                  </a:lnTo>
                  <a:lnTo>
                    <a:pt x="5598115" y="678591"/>
                  </a:lnTo>
                  <a:lnTo>
                    <a:pt x="6397176" y="250998"/>
                  </a:lnTo>
                  <a:lnTo>
                    <a:pt x="6497002" y="157919"/>
                  </a:lnTo>
                  <a:lnTo>
                    <a:pt x="7046048" y="116833"/>
                  </a:lnTo>
                  <a:lnTo>
                    <a:pt x="7304880" y="0"/>
                  </a:lnTo>
                </a:path>
              </a:pathLst>
            </a:custGeom>
            <a:ln w="293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982687" y="1706350"/>
            <a:ext cx="772160" cy="269430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400" dirty="0">
                <a:latin typeface="Verdana"/>
                <a:cs typeface="Verdana"/>
              </a:rPr>
              <a:t>100</a:t>
            </a:r>
            <a:r>
              <a:rPr sz="1400" spc="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bn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400" dirty="0">
                <a:latin typeface="Verdana"/>
                <a:cs typeface="Verdana"/>
              </a:rPr>
              <a:t>10</a:t>
            </a:r>
            <a:r>
              <a:rPr sz="1400" spc="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bn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400" dirty="0">
                <a:latin typeface="Verdana"/>
                <a:cs typeface="Verdana"/>
              </a:rPr>
              <a:t>1</a:t>
            </a:r>
            <a:r>
              <a:rPr sz="1400" spc="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bn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400" dirty="0">
                <a:latin typeface="Verdana"/>
                <a:cs typeface="Verdana"/>
              </a:rPr>
              <a:t>100</a:t>
            </a:r>
            <a:r>
              <a:rPr sz="1400" spc="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m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400" dirty="0">
                <a:latin typeface="Verdana"/>
                <a:cs typeface="Verdana"/>
              </a:rPr>
              <a:t>10</a:t>
            </a:r>
            <a:r>
              <a:rPr sz="1400" spc="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m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1400" spc="-10" dirty="0">
                <a:latin typeface="Verdana"/>
                <a:cs typeface="Verdana"/>
              </a:rPr>
              <a:t>100,000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400" spc="-10" dirty="0">
                <a:latin typeface="Verdana"/>
                <a:cs typeface="Verdana"/>
              </a:rPr>
              <a:t>10.000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400" spc="-10" dirty="0">
                <a:latin typeface="Verdana"/>
                <a:cs typeface="Verdana"/>
              </a:rPr>
              <a:t>1,000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400" spc="-25" dirty="0">
                <a:latin typeface="Verdana"/>
                <a:cs typeface="Verdana"/>
              </a:rPr>
              <a:t>100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400" spc="-25" dirty="0">
                <a:latin typeface="Verdana"/>
                <a:cs typeface="Verdana"/>
              </a:rPr>
              <a:t>10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400" spc="-50" dirty="0">
                <a:latin typeface="Verdana"/>
                <a:cs typeface="Verdana"/>
              </a:rPr>
              <a:t>1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0772"/>
            <a:ext cx="9144000" cy="669645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106"/>
            <a:ext cx="9144000" cy="66537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" y="0"/>
            <a:ext cx="3181350" cy="90906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07340" y="17475"/>
            <a:ext cx="26098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>
                <a:solidFill>
                  <a:srgbClr val="666699"/>
                </a:solidFill>
              </a:rPr>
              <a:t>Moore’s</a:t>
            </a:r>
            <a:r>
              <a:rPr spc="105" dirty="0">
                <a:solidFill>
                  <a:srgbClr val="666699"/>
                </a:solidFill>
              </a:rPr>
              <a:t> </a:t>
            </a:r>
            <a:r>
              <a:rPr spc="-25" dirty="0">
                <a:solidFill>
                  <a:srgbClr val="666699"/>
                </a:solidFill>
              </a:rPr>
              <a:t>Law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08788" y="571500"/>
            <a:ext cx="8768080" cy="6041390"/>
            <a:chOff x="208788" y="571500"/>
            <a:chExt cx="8768080" cy="604139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8788" y="571500"/>
              <a:ext cx="8767572" cy="60411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840" y="670534"/>
              <a:ext cx="7551420" cy="92356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796" y="609600"/>
              <a:ext cx="8642604" cy="59161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7848" y="710184"/>
              <a:ext cx="4014978" cy="79781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49623" y="710184"/>
              <a:ext cx="657605" cy="79781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25467" y="710184"/>
              <a:ext cx="877062" cy="79781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9328" y="710184"/>
              <a:ext cx="604265" cy="79781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60391" y="710184"/>
              <a:ext cx="3073145" cy="79781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5196" y="2051303"/>
              <a:ext cx="8334756" cy="42656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0436" y="2129027"/>
              <a:ext cx="8380476" cy="13136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9204" y="2089403"/>
              <a:ext cx="8209788" cy="414082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4444" y="2168652"/>
              <a:ext cx="8254746" cy="79781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4444" y="2558795"/>
              <a:ext cx="8047482" cy="79781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94943" y="3538727"/>
              <a:ext cx="1643380" cy="2380615"/>
            </a:xfrm>
            <a:custGeom>
              <a:avLst/>
              <a:gdLst/>
              <a:ahLst/>
              <a:cxnLst/>
              <a:rect l="l" t="t" r="r" b="b"/>
              <a:pathLst>
                <a:path w="1643380" h="2380615">
                  <a:moveTo>
                    <a:pt x="1470406" y="0"/>
                  </a:moveTo>
                  <a:lnTo>
                    <a:pt x="172504" y="0"/>
                  </a:lnTo>
                  <a:lnTo>
                    <a:pt x="126644" y="6160"/>
                  </a:lnTo>
                  <a:lnTo>
                    <a:pt x="85436" y="23546"/>
                  </a:lnTo>
                  <a:lnTo>
                    <a:pt x="50523" y="50514"/>
                  </a:lnTo>
                  <a:lnTo>
                    <a:pt x="23550" y="85419"/>
                  </a:lnTo>
                  <a:lnTo>
                    <a:pt x="6161" y="126617"/>
                  </a:lnTo>
                  <a:lnTo>
                    <a:pt x="0" y="172466"/>
                  </a:lnTo>
                  <a:lnTo>
                    <a:pt x="0" y="2207983"/>
                  </a:lnTo>
                  <a:lnTo>
                    <a:pt x="6161" y="2253843"/>
                  </a:lnTo>
                  <a:lnTo>
                    <a:pt x="23550" y="2295051"/>
                  </a:lnTo>
                  <a:lnTo>
                    <a:pt x="50523" y="2329964"/>
                  </a:lnTo>
                  <a:lnTo>
                    <a:pt x="85436" y="2356937"/>
                  </a:lnTo>
                  <a:lnTo>
                    <a:pt x="126644" y="2374326"/>
                  </a:lnTo>
                  <a:lnTo>
                    <a:pt x="172504" y="2380488"/>
                  </a:lnTo>
                  <a:lnTo>
                    <a:pt x="1470406" y="2380488"/>
                  </a:lnTo>
                  <a:lnTo>
                    <a:pt x="1516254" y="2374326"/>
                  </a:lnTo>
                  <a:lnTo>
                    <a:pt x="1557452" y="2356937"/>
                  </a:lnTo>
                  <a:lnTo>
                    <a:pt x="1592357" y="2329964"/>
                  </a:lnTo>
                  <a:lnTo>
                    <a:pt x="1619325" y="2295051"/>
                  </a:lnTo>
                  <a:lnTo>
                    <a:pt x="1636711" y="2253843"/>
                  </a:lnTo>
                  <a:lnTo>
                    <a:pt x="1642872" y="2207983"/>
                  </a:lnTo>
                  <a:lnTo>
                    <a:pt x="1642872" y="172466"/>
                  </a:lnTo>
                  <a:lnTo>
                    <a:pt x="1636711" y="126617"/>
                  </a:lnTo>
                  <a:lnTo>
                    <a:pt x="1619325" y="85419"/>
                  </a:lnTo>
                  <a:lnTo>
                    <a:pt x="1592357" y="50514"/>
                  </a:lnTo>
                  <a:lnTo>
                    <a:pt x="1557452" y="23546"/>
                  </a:lnTo>
                  <a:lnTo>
                    <a:pt x="1516254" y="6160"/>
                  </a:lnTo>
                  <a:lnTo>
                    <a:pt x="147040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4943" y="3538727"/>
              <a:ext cx="1643380" cy="2380615"/>
            </a:xfrm>
            <a:custGeom>
              <a:avLst/>
              <a:gdLst/>
              <a:ahLst/>
              <a:cxnLst/>
              <a:rect l="l" t="t" r="r" b="b"/>
              <a:pathLst>
                <a:path w="1643380" h="2380615">
                  <a:moveTo>
                    <a:pt x="0" y="172466"/>
                  </a:moveTo>
                  <a:lnTo>
                    <a:pt x="6161" y="126617"/>
                  </a:lnTo>
                  <a:lnTo>
                    <a:pt x="23550" y="85419"/>
                  </a:lnTo>
                  <a:lnTo>
                    <a:pt x="50523" y="50514"/>
                  </a:lnTo>
                  <a:lnTo>
                    <a:pt x="85436" y="23546"/>
                  </a:lnTo>
                  <a:lnTo>
                    <a:pt x="126644" y="6160"/>
                  </a:lnTo>
                  <a:lnTo>
                    <a:pt x="172504" y="0"/>
                  </a:lnTo>
                  <a:lnTo>
                    <a:pt x="1470406" y="0"/>
                  </a:lnTo>
                  <a:lnTo>
                    <a:pt x="1516254" y="6160"/>
                  </a:lnTo>
                  <a:lnTo>
                    <a:pt x="1557452" y="23546"/>
                  </a:lnTo>
                  <a:lnTo>
                    <a:pt x="1592357" y="50514"/>
                  </a:lnTo>
                  <a:lnTo>
                    <a:pt x="1619325" y="85419"/>
                  </a:lnTo>
                  <a:lnTo>
                    <a:pt x="1636711" y="126617"/>
                  </a:lnTo>
                  <a:lnTo>
                    <a:pt x="1642872" y="172466"/>
                  </a:lnTo>
                  <a:lnTo>
                    <a:pt x="1642872" y="2207983"/>
                  </a:lnTo>
                  <a:lnTo>
                    <a:pt x="1636711" y="2253843"/>
                  </a:lnTo>
                  <a:lnTo>
                    <a:pt x="1619325" y="2295051"/>
                  </a:lnTo>
                  <a:lnTo>
                    <a:pt x="1592357" y="2329964"/>
                  </a:lnTo>
                  <a:lnTo>
                    <a:pt x="1557452" y="2356937"/>
                  </a:lnTo>
                  <a:lnTo>
                    <a:pt x="1516254" y="2374326"/>
                  </a:lnTo>
                  <a:lnTo>
                    <a:pt x="1470406" y="2380488"/>
                  </a:lnTo>
                  <a:lnTo>
                    <a:pt x="172504" y="2380488"/>
                  </a:lnTo>
                  <a:lnTo>
                    <a:pt x="126644" y="2374326"/>
                  </a:lnTo>
                  <a:lnTo>
                    <a:pt x="85436" y="2356937"/>
                  </a:lnTo>
                  <a:lnTo>
                    <a:pt x="50523" y="2329964"/>
                  </a:lnTo>
                  <a:lnTo>
                    <a:pt x="23550" y="2295051"/>
                  </a:lnTo>
                  <a:lnTo>
                    <a:pt x="6161" y="2253843"/>
                  </a:lnTo>
                  <a:lnTo>
                    <a:pt x="0" y="2207983"/>
                  </a:lnTo>
                  <a:lnTo>
                    <a:pt x="0" y="172466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91972" y="4324350"/>
            <a:ext cx="1445260" cy="78549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065" marR="5080" algn="ctr">
              <a:lnSpc>
                <a:spcPts val="1160"/>
              </a:lnSpc>
              <a:spcBef>
                <a:spcPts val="275"/>
              </a:spcBef>
            </a:pPr>
            <a:r>
              <a:rPr sz="1100" b="1" dirty="0">
                <a:latin typeface="Cambria"/>
                <a:cs typeface="Cambria"/>
              </a:rPr>
              <a:t>The</a:t>
            </a:r>
            <a:r>
              <a:rPr sz="1100" b="1" spc="95" dirty="0">
                <a:latin typeface="Cambria"/>
                <a:cs typeface="Cambria"/>
              </a:rPr>
              <a:t> </a:t>
            </a:r>
            <a:r>
              <a:rPr sz="1100" b="1" spc="55" dirty="0">
                <a:latin typeface="Cambria"/>
                <a:cs typeface="Cambria"/>
              </a:rPr>
              <a:t>pace</a:t>
            </a:r>
            <a:r>
              <a:rPr sz="1100" b="1" spc="85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slowed</a:t>
            </a:r>
            <a:r>
              <a:rPr sz="1100" b="1" spc="70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to</a:t>
            </a:r>
            <a:r>
              <a:rPr sz="1100" b="1" spc="95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a </a:t>
            </a:r>
            <a:r>
              <a:rPr sz="1100" b="1" spc="20" dirty="0">
                <a:latin typeface="Cambria"/>
                <a:cs typeface="Cambria"/>
              </a:rPr>
              <a:t>doubling</a:t>
            </a:r>
            <a:r>
              <a:rPr sz="1100" b="1" spc="95" dirty="0">
                <a:latin typeface="Cambria"/>
                <a:cs typeface="Cambria"/>
              </a:rPr>
              <a:t> </a:t>
            </a:r>
            <a:r>
              <a:rPr sz="1100" b="1" spc="20" dirty="0">
                <a:latin typeface="Cambria"/>
                <a:cs typeface="Cambria"/>
              </a:rPr>
              <a:t>every</a:t>
            </a:r>
            <a:r>
              <a:rPr sz="1100" b="1" spc="125" dirty="0">
                <a:latin typeface="Cambria"/>
                <a:cs typeface="Cambria"/>
              </a:rPr>
              <a:t> </a:t>
            </a:r>
            <a:r>
              <a:rPr sz="1100" b="1" spc="-25" dirty="0">
                <a:latin typeface="Cambria"/>
                <a:cs typeface="Cambria"/>
              </a:rPr>
              <a:t>18 </a:t>
            </a:r>
            <a:r>
              <a:rPr sz="1100" b="1" dirty="0">
                <a:latin typeface="Cambria"/>
                <a:cs typeface="Cambria"/>
              </a:rPr>
              <a:t>months</a:t>
            </a:r>
            <a:r>
              <a:rPr sz="1100" b="1" spc="95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in</a:t>
            </a:r>
            <a:r>
              <a:rPr sz="1100" b="1" spc="135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the</a:t>
            </a:r>
            <a:r>
              <a:rPr sz="1100" b="1" spc="114" dirty="0">
                <a:latin typeface="Cambria"/>
                <a:cs typeface="Cambria"/>
              </a:rPr>
              <a:t> </a:t>
            </a:r>
            <a:r>
              <a:rPr sz="1100" b="1" spc="-10" dirty="0">
                <a:latin typeface="Cambria"/>
                <a:cs typeface="Cambria"/>
              </a:rPr>
              <a:t>1970’s </a:t>
            </a:r>
            <a:r>
              <a:rPr sz="1100" b="1" dirty="0">
                <a:latin typeface="Cambria"/>
                <a:cs typeface="Cambria"/>
              </a:rPr>
              <a:t>but</a:t>
            </a:r>
            <a:r>
              <a:rPr sz="1100" b="1" spc="100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has</a:t>
            </a:r>
            <a:r>
              <a:rPr sz="1100" b="1" spc="100" dirty="0">
                <a:latin typeface="Cambria"/>
                <a:cs typeface="Cambria"/>
              </a:rPr>
              <a:t> </a:t>
            </a:r>
            <a:r>
              <a:rPr sz="1100" b="1" spc="-10" dirty="0">
                <a:latin typeface="Cambria"/>
                <a:cs typeface="Cambria"/>
              </a:rPr>
              <a:t>sustained</a:t>
            </a:r>
            <a:r>
              <a:rPr sz="1100" b="1" spc="500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that</a:t>
            </a:r>
            <a:r>
              <a:rPr sz="1100" b="1" spc="70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rate</a:t>
            </a:r>
            <a:r>
              <a:rPr sz="1100" b="1" spc="65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ever</a:t>
            </a:r>
            <a:r>
              <a:rPr sz="1100" b="1" spc="75" dirty="0">
                <a:latin typeface="Cambria"/>
                <a:cs typeface="Cambria"/>
              </a:rPr>
              <a:t> </a:t>
            </a:r>
            <a:r>
              <a:rPr sz="1100" b="1" spc="40" dirty="0">
                <a:latin typeface="Cambria"/>
                <a:cs typeface="Cambria"/>
              </a:rPr>
              <a:t>since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415539" y="3529584"/>
            <a:ext cx="6128385" cy="2491740"/>
            <a:chOff x="2415539" y="3529584"/>
            <a:chExt cx="6128385" cy="2491740"/>
          </a:xfrm>
        </p:grpSpPr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55163" y="3529584"/>
              <a:ext cx="6088380" cy="249174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15539" y="3553942"/>
              <a:ext cx="5780532" cy="92356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19171" y="3567684"/>
              <a:ext cx="5963411" cy="236677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79547" y="3592068"/>
              <a:ext cx="5654802" cy="79781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19176" y="793241"/>
            <a:ext cx="7911465" cy="33515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0" dirty="0">
                <a:solidFill>
                  <a:srgbClr val="FFFFFF"/>
                </a:solidFill>
                <a:latin typeface="Cambria"/>
                <a:cs typeface="Cambria"/>
              </a:rPr>
              <a:t>1965;</a:t>
            </a:r>
            <a:r>
              <a:rPr sz="2900" spc="-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145" dirty="0">
                <a:solidFill>
                  <a:srgbClr val="FFFFFF"/>
                </a:solidFill>
                <a:latin typeface="Cambria"/>
                <a:cs typeface="Cambria"/>
              </a:rPr>
              <a:t>Gordon</a:t>
            </a:r>
            <a:r>
              <a:rPr sz="2900" spc="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100" dirty="0">
                <a:solidFill>
                  <a:srgbClr val="FFFFFF"/>
                </a:solidFill>
                <a:latin typeface="Cambria"/>
                <a:cs typeface="Cambria"/>
              </a:rPr>
              <a:t>Moore</a:t>
            </a:r>
            <a:r>
              <a:rPr sz="29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dirty="0">
                <a:solidFill>
                  <a:srgbClr val="FFFFFF"/>
                </a:solidFill>
                <a:latin typeface="Cambria"/>
                <a:cs typeface="Cambria"/>
              </a:rPr>
              <a:t>–</a:t>
            </a:r>
            <a:r>
              <a:rPr sz="2900" spc="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130" dirty="0">
                <a:solidFill>
                  <a:srgbClr val="FFFFFF"/>
                </a:solidFill>
                <a:latin typeface="Cambria"/>
                <a:cs typeface="Cambria"/>
              </a:rPr>
              <a:t>co-</a:t>
            </a:r>
            <a:r>
              <a:rPr sz="2900" spc="90" dirty="0">
                <a:solidFill>
                  <a:srgbClr val="FFFFFF"/>
                </a:solidFill>
                <a:latin typeface="Cambria"/>
                <a:cs typeface="Cambria"/>
              </a:rPr>
              <a:t>founder</a:t>
            </a:r>
            <a:r>
              <a:rPr sz="29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29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mbria"/>
                <a:cs typeface="Cambria"/>
              </a:rPr>
              <a:t>Intel</a:t>
            </a:r>
            <a:endParaRPr sz="29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2900">
              <a:latin typeface="Cambria"/>
              <a:cs typeface="Cambria"/>
            </a:endParaRPr>
          </a:p>
          <a:p>
            <a:pPr marL="208915" marR="5080">
              <a:lnSpc>
                <a:spcPts val="3070"/>
              </a:lnSpc>
            </a:pPr>
            <a:r>
              <a:rPr sz="2900" spc="190" dirty="0">
                <a:solidFill>
                  <a:srgbClr val="FFFFFF"/>
                </a:solidFill>
                <a:latin typeface="Cambria"/>
                <a:cs typeface="Cambria"/>
              </a:rPr>
              <a:t>Observed</a:t>
            </a:r>
            <a:r>
              <a:rPr sz="290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110" dirty="0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sz="290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29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dirty="0">
                <a:solidFill>
                  <a:srgbClr val="FFFFFF"/>
                </a:solidFill>
                <a:latin typeface="Cambria"/>
                <a:cs typeface="Cambria"/>
              </a:rPr>
              <a:t>transistors</a:t>
            </a:r>
            <a:r>
              <a:rPr sz="2900" spc="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dirty="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sz="29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120" dirty="0">
                <a:solidFill>
                  <a:srgbClr val="FFFFFF"/>
                </a:solidFill>
                <a:latin typeface="Cambria"/>
                <a:cs typeface="Cambria"/>
              </a:rPr>
              <a:t>could</a:t>
            </a:r>
            <a:r>
              <a:rPr sz="29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229" dirty="0">
                <a:solidFill>
                  <a:srgbClr val="FFFFFF"/>
                </a:solidFill>
                <a:latin typeface="Cambria"/>
                <a:cs typeface="Cambria"/>
              </a:rPr>
              <a:t>be </a:t>
            </a:r>
            <a:r>
              <a:rPr sz="2900" dirty="0">
                <a:solidFill>
                  <a:srgbClr val="FFFFFF"/>
                </a:solidFill>
                <a:latin typeface="Cambria"/>
                <a:cs typeface="Cambria"/>
              </a:rPr>
              <a:t>put</a:t>
            </a:r>
            <a:r>
              <a:rPr sz="2900" spc="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75" dirty="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sz="290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125" dirty="0">
                <a:solidFill>
                  <a:srgbClr val="FFFFFF"/>
                </a:solidFill>
                <a:latin typeface="Cambria"/>
                <a:cs typeface="Cambria"/>
              </a:rPr>
              <a:t>a </a:t>
            </a:r>
            <a:r>
              <a:rPr sz="2900" spc="130" dirty="0">
                <a:solidFill>
                  <a:srgbClr val="FFFFFF"/>
                </a:solidFill>
                <a:latin typeface="Cambria"/>
                <a:cs typeface="Cambria"/>
              </a:rPr>
              <a:t>single</a:t>
            </a:r>
            <a:r>
              <a:rPr sz="29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130" dirty="0">
                <a:solidFill>
                  <a:srgbClr val="FFFFFF"/>
                </a:solidFill>
                <a:latin typeface="Cambria"/>
                <a:cs typeface="Cambria"/>
              </a:rPr>
              <a:t>chip</a:t>
            </a:r>
            <a:r>
              <a:rPr sz="2900" spc="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dirty="0">
                <a:solidFill>
                  <a:srgbClr val="FFFFFF"/>
                </a:solidFill>
                <a:latin typeface="Cambria"/>
                <a:cs typeface="Cambria"/>
              </a:rPr>
              <a:t>was</a:t>
            </a:r>
            <a:r>
              <a:rPr sz="2900" spc="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135" dirty="0">
                <a:solidFill>
                  <a:srgbClr val="FFFFFF"/>
                </a:solidFill>
                <a:latin typeface="Cambria"/>
                <a:cs typeface="Cambria"/>
              </a:rPr>
              <a:t>doubling</a:t>
            </a:r>
            <a:r>
              <a:rPr sz="29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125" dirty="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sz="2900" spc="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75" dirty="0">
                <a:solidFill>
                  <a:srgbClr val="FFFFFF"/>
                </a:solidFill>
                <a:latin typeface="Cambria"/>
                <a:cs typeface="Cambria"/>
              </a:rPr>
              <a:t>year</a:t>
            </a:r>
            <a:endParaRPr sz="2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2900">
              <a:latin typeface="Cambria"/>
              <a:cs typeface="Cambria"/>
            </a:endParaRPr>
          </a:p>
          <a:p>
            <a:pPr marL="2185035">
              <a:lnSpc>
                <a:spcPct val="100000"/>
              </a:lnSpc>
            </a:pPr>
            <a:r>
              <a:rPr sz="2900" spc="165" dirty="0">
                <a:solidFill>
                  <a:srgbClr val="FFFFFF"/>
                </a:solidFill>
                <a:latin typeface="Cambria"/>
                <a:cs typeface="Cambria"/>
              </a:rPr>
              <a:t>Consequences</a:t>
            </a:r>
            <a:r>
              <a:rPr sz="29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29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70" dirty="0">
                <a:solidFill>
                  <a:srgbClr val="FFFFFF"/>
                </a:solidFill>
                <a:latin typeface="Cambria"/>
                <a:cs typeface="Cambria"/>
              </a:rPr>
              <a:t>Moore’s</a:t>
            </a:r>
            <a:r>
              <a:rPr sz="2900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900" spc="-20" dirty="0">
                <a:solidFill>
                  <a:srgbClr val="FFFFFF"/>
                </a:solidFill>
                <a:latin typeface="Cambria"/>
                <a:cs typeface="Cambria"/>
              </a:rPr>
              <a:t>law:</a:t>
            </a:r>
            <a:endParaRPr sz="2900">
              <a:latin typeface="Cambria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663698" y="4626609"/>
            <a:ext cx="1123950" cy="1078230"/>
            <a:chOff x="2663698" y="4626609"/>
            <a:chExt cx="1123950" cy="1078230"/>
          </a:xfrm>
        </p:grpSpPr>
        <p:sp>
          <p:nvSpPr>
            <p:cNvPr id="29" name="object 29"/>
            <p:cNvSpPr/>
            <p:nvPr/>
          </p:nvSpPr>
          <p:spPr>
            <a:xfrm>
              <a:off x="2670048" y="4632959"/>
              <a:ext cx="1111250" cy="1065530"/>
            </a:xfrm>
            <a:custGeom>
              <a:avLst/>
              <a:gdLst/>
              <a:ahLst/>
              <a:cxnLst/>
              <a:rect l="l" t="t" r="r" b="b"/>
              <a:pathLst>
                <a:path w="1111250" h="1065529">
                  <a:moveTo>
                    <a:pt x="999109" y="0"/>
                  </a:moveTo>
                  <a:lnTo>
                    <a:pt x="111887" y="0"/>
                  </a:lnTo>
                  <a:lnTo>
                    <a:pt x="68312" y="8784"/>
                  </a:lnTo>
                  <a:lnTo>
                    <a:pt x="32750" y="32750"/>
                  </a:lnTo>
                  <a:lnTo>
                    <a:pt x="8784" y="68312"/>
                  </a:lnTo>
                  <a:lnTo>
                    <a:pt x="0" y="111887"/>
                  </a:lnTo>
                  <a:lnTo>
                    <a:pt x="0" y="953388"/>
                  </a:lnTo>
                  <a:lnTo>
                    <a:pt x="8784" y="996947"/>
                  </a:lnTo>
                  <a:lnTo>
                    <a:pt x="32750" y="1032511"/>
                  </a:lnTo>
                  <a:lnTo>
                    <a:pt x="68312" y="1056485"/>
                  </a:lnTo>
                  <a:lnTo>
                    <a:pt x="111887" y="1065276"/>
                  </a:lnTo>
                  <a:lnTo>
                    <a:pt x="999109" y="1065276"/>
                  </a:lnTo>
                  <a:lnTo>
                    <a:pt x="1042683" y="1056485"/>
                  </a:lnTo>
                  <a:lnTo>
                    <a:pt x="1078245" y="1032511"/>
                  </a:lnTo>
                  <a:lnTo>
                    <a:pt x="1102211" y="996947"/>
                  </a:lnTo>
                  <a:lnTo>
                    <a:pt x="1110996" y="953388"/>
                  </a:lnTo>
                  <a:lnTo>
                    <a:pt x="1110996" y="111887"/>
                  </a:lnTo>
                  <a:lnTo>
                    <a:pt x="1102211" y="68312"/>
                  </a:lnTo>
                  <a:lnTo>
                    <a:pt x="1078245" y="32750"/>
                  </a:lnTo>
                  <a:lnTo>
                    <a:pt x="1042683" y="8784"/>
                  </a:lnTo>
                  <a:lnTo>
                    <a:pt x="99910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70048" y="4632959"/>
              <a:ext cx="1111250" cy="1065530"/>
            </a:xfrm>
            <a:custGeom>
              <a:avLst/>
              <a:gdLst/>
              <a:ahLst/>
              <a:cxnLst/>
              <a:rect l="l" t="t" r="r" b="b"/>
              <a:pathLst>
                <a:path w="1111250" h="1065529">
                  <a:moveTo>
                    <a:pt x="0" y="111887"/>
                  </a:moveTo>
                  <a:lnTo>
                    <a:pt x="8784" y="68312"/>
                  </a:lnTo>
                  <a:lnTo>
                    <a:pt x="32750" y="32750"/>
                  </a:lnTo>
                  <a:lnTo>
                    <a:pt x="68312" y="8784"/>
                  </a:lnTo>
                  <a:lnTo>
                    <a:pt x="111887" y="0"/>
                  </a:lnTo>
                  <a:lnTo>
                    <a:pt x="999109" y="0"/>
                  </a:lnTo>
                  <a:lnTo>
                    <a:pt x="1042683" y="8784"/>
                  </a:lnTo>
                  <a:lnTo>
                    <a:pt x="1078245" y="32750"/>
                  </a:lnTo>
                  <a:lnTo>
                    <a:pt x="1102211" y="68312"/>
                  </a:lnTo>
                  <a:lnTo>
                    <a:pt x="1110996" y="111887"/>
                  </a:lnTo>
                  <a:lnTo>
                    <a:pt x="1110996" y="953388"/>
                  </a:lnTo>
                  <a:lnTo>
                    <a:pt x="1102211" y="996947"/>
                  </a:lnTo>
                  <a:lnTo>
                    <a:pt x="1078245" y="1032511"/>
                  </a:lnTo>
                  <a:lnTo>
                    <a:pt x="1042683" y="1056485"/>
                  </a:lnTo>
                  <a:lnTo>
                    <a:pt x="999109" y="1065276"/>
                  </a:lnTo>
                  <a:lnTo>
                    <a:pt x="111887" y="1065276"/>
                  </a:lnTo>
                  <a:lnTo>
                    <a:pt x="68312" y="1056485"/>
                  </a:lnTo>
                  <a:lnTo>
                    <a:pt x="32750" y="1032511"/>
                  </a:lnTo>
                  <a:lnTo>
                    <a:pt x="8784" y="996947"/>
                  </a:lnTo>
                  <a:lnTo>
                    <a:pt x="0" y="953388"/>
                  </a:lnTo>
                  <a:lnTo>
                    <a:pt x="0" y="111887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740532" y="4729683"/>
            <a:ext cx="970915" cy="84836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065" marR="5080" indent="1270" algn="ctr">
              <a:lnSpc>
                <a:spcPct val="88000"/>
              </a:lnSpc>
              <a:spcBef>
                <a:spcPts val="240"/>
              </a:spcBef>
            </a:pPr>
            <a:r>
              <a:rPr sz="1000" b="1" dirty="0">
                <a:latin typeface="Cambria"/>
                <a:cs typeface="Cambria"/>
              </a:rPr>
              <a:t>The</a:t>
            </a:r>
            <a:r>
              <a:rPr sz="1000" b="1" spc="120" dirty="0">
                <a:latin typeface="Cambria"/>
                <a:cs typeface="Cambria"/>
              </a:rPr>
              <a:t> </a:t>
            </a:r>
            <a:r>
              <a:rPr sz="1000" b="1" dirty="0">
                <a:latin typeface="Cambria"/>
                <a:cs typeface="Cambria"/>
              </a:rPr>
              <a:t>cost</a:t>
            </a:r>
            <a:r>
              <a:rPr sz="1000" b="1" spc="125" dirty="0">
                <a:latin typeface="Cambria"/>
                <a:cs typeface="Cambria"/>
              </a:rPr>
              <a:t> </a:t>
            </a:r>
            <a:r>
              <a:rPr sz="1000" b="1" spc="-25" dirty="0">
                <a:latin typeface="Cambria"/>
                <a:cs typeface="Cambria"/>
              </a:rPr>
              <a:t>of</a:t>
            </a:r>
            <a:r>
              <a:rPr sz="1000" b="1" dirty="0">
                <a:latin typeface="Cambria"/>
                <a:cs typeface="Cambria"/>
              </a:rPr>
              <a:t> computer</a:t>
            </a:r>
            <a:r>
              <a:rPr sz="1000" b="1" spc="235" dirty="0">
                <a:latin typeface="Cambria"/>
                <a:cs typeface="Cambria"/>
              </a:rPr>
              <a:t> </a:t>
            </a:r>
            <a:r>
              <a:rPr sz="1000" b="1" spc="-10" dirty="0">
                <a:latin typeface="Cambria"/>
                <a:cs typeface="Cambria"/>
              </a:rPr>
              <a:t>logic </a:t>
            </a:r>
            <a:r>
              <a:rPr sz="1000" b="1" dirty="0">
                <a:latin typeface="Cambria"/>
                <a:cs typeface="Cambria"/>
              </a:rPr>
              <a:t>and</a:t>
            </a:r>
            <a:r>
              <a:rPr sz="1000" b="1" spc="110" dirty="0">
                <a:latin typeface="Cambria"/>
                <a:cs typeface="Cambria"/>
              </a:rPr>
              <a:t> </a:t>
            </a:r>
            <a:r>
              <a:rPr sz="1000" b="1" spc="-10" dirty="0">
                <a:latin typeface="Cambria"/>
                <a:cs typeface="Cambria"/>
              </a:rPr>
              <a:t>memory </a:t>
            </a:r>
            <a:r>
              <a:rPr sz="1000" b="1" dirty="0">
                <a:latin typeface="Cambria"/>
                <a:cs typeface="Cambria"/>
              </a:rPr>
              <a:t>circuitry</a:t>
            </a:r>
            <a:r>
              <a:rPr sz="1000" b="1" spc="295" dirty="0">
                <a:latin typeface="Cambria"/>
                <a:cs typeface="Cambria"/>
              </a:rPr>
              <a:t> </a:t>
            </a:r>
            <a:r>
              <a:rPr sz="1000" b="1" spc="-25" dirty="0">
                <a:latin typeface="Cambria"/>
                <a:cs typeface="Cambria"/>
              </a:rPr>
              <a:t>has</a:t>
            </a:r>
            <a:r>
              <a:rPr sz="1000" b="1" dirty="0">
                <a:latin typeface="Cambria"/>
                <a:cs typeface="Cambria"/>
              </a:rPr>
              <a:t> fallen</a:t>
            </a:r>
            <a:r>
              <a:rPr sz="1000" b="1" spc="155" dirty="0">
                <a:latin typeface="Cambria"/>
                <a:cs typeface="Cambria"/>
              </a:rPr>
              <a:t> </a:t>
            </a:r>
            <a:r>
              <a:rPr sz="1000" b="1" dirty="0">
                <a:latin typeface="Cambria"/>
                <a:cs typeface="Cambria"/>
              </a:rPr>
              <a:t>at</a:t>
            </a:r>
            <a:r>
              <a:rPr sz="1000" b="1" spc="130" dirty="0">
                <a:latin typeface="Cambria"/>
                <a:cs typeface="Cambria"/>
              </a:rPr>
              <a:t> </a:t>
            </a:r>
            <a:r>
              <a:rPr sz="1000" b="1" spc="-50" dirty="0">
                <a:latin typeface="Cambria"/>
                <a:cs typeface="Cambria"/>
              </a:rPr>
              <a:t>a</a:t>
            </a:r>
            <a:r>
              <a:rPr sz="1000" b="1" dirty="0">
                <a:latin typeface="Cambria"/>
                <a:cs typeface="Cambria"/>
              </a:rPr>
              <a:t> dramatic</a:t>
            </a:r>
            <a:r>
              <a:rPr sz="1000" b="1" spc="310" dirty="0">
                <a:latin typeface="Cambria"/>
                <a:cs typeface="Cambria"/>
              </a:rPr>
              <a:t> </a:t>
            </a:r>
            <a:r>
              <a:rPr sz="1000" b="1" spc="-20" dirty="0">
                <a:latin typeface="Cambria"/>
                <a:cs typeface="Cambria"/>
              </a:rPr>
              <a:t>rate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800602" y="4626609"/>
            <a:ext cx="1125220" cy="1078230"/>
            <a:chOff x="3800602" y="4626609"/>
            <a:chExt cx="1125220" cy="1078230"/>
          </a:xfrm>
        </p:grpSpPr>
        <p:sp>
          <p:nvSpPr>
            <p:cNvPr id="33" name="object 33"/>
            <p:cNvSpPr/>
            <p:nvPr/>
          </p:nvSpPr>
          <p:spPr>
            <a:xfrm>
              <a:off x="3806952" y="4632959"/>
              <a:ext cx="1112520" cy="1065530"/>
            </a:xfrm>
            <a:custGeom>
              <a:avLst/>
              <a:gdLst/>
              <a:ahLst/>
              <a:cxnLst/>
              <a:rect l="l" t="t" r="r" b="b"/>
              <a:pathLst>
                <a:path w="1112520" h="1065529">
                  <a:moveTo>
                    <a:pt x="1000633" y="0"/>
                  </a:moveTo>
                  <a:lnTo>
                    <a:pt x="111887" y="0"/>
                  </a:lnTo>
                  <a:lnTo>
                    <a:pt x="68312" y="8784"/>
                  </a:lnTo>
                  <a:lnTo>
                    <a:pt x="32750" y="32750"/>
                  </a:lnTo>
                  <a:lnTo>
                    <a:pt x="8784" y="68312"/>
                  </a:lnTo>
                  <a:lnTo>
                    <a:pt x="0" y="111887"/>
                  </a:lnTo>
                  <a:lnTo>
                    <a:pt x="0" y="953388"/>
                  </a:lnTo>
                  <a:lnTo>
                    <a:pt x="8784" y="996947"/>
                  </a:lnTo>
                  <a:lnTo>
                    <a:pt x="32750" y="1032511"/>
                  </a:lnTo>
                  <a:lnTo>
                    <a:pt x="68312" y="1056485"/>
                  </a:lnTo>
                  <a:lnTo>
                    <a:pt x="111887" y="1065276"/>
                  </a:lnTo>
                  <a:lnTo>
                    <a:pt x="1000633" y="1065276"/>
                  </a:lnTo>
                  <a:lnTo>
                    <a:pt x="1044207" y="1056485"/>
                  </a:lnTo>
                  <a:lnTo>
                    <a:pt x="1079769" y="1032511"/>
                  </a:lnTo>
                  <a:lnTo>
                    <a:pt x="1103735" y="996947"/>
                  </a:lnTo>
                  <a:lnTo>
                    <a:pt x="1112520" y="953388"/>
                  </a:lnTo>
                  <a:lnTo>
                    <a:pt x="1112520" y="111887"/>
                  </a:lnTo>
                  <a:lnTo>
                    <a:pt x="1103735" y="68312"/>
                  </a:lnTo>
                  <a:lnTo>
                    <a:pt x="1079769" y="32750"/>
                  </a:lnTo>
                  <a:lnTo>
                    <a:pt x="1044207" y="8784"/>
                  </a:lnTo>
                  <a:lnTo>
                    <a:pt x="100063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06952" y="4632959"/>
              <a:ext cx="1112520" cy="1065530"/>
            </a:xfrm>
            <a:custGeom>
              <a:avLst/>
              <a:gdLst/>
              <a:ahLst/>
              <a:cxnLst/>
              <a:rect l="l" t="t" r="r" b="b"/>
              <a:pathLst>
                <a:path w="1112520" h="1065529">
                  <a:moveTo>
                    <a:pt x="0" y="111887"/>
                  </a:moveTo>
                  <a:lnTo>
                    <a:pt x="8784" y="68312"/>
                  </a:lnTo>
                  <a:lnTo>
                    <a:pt x="32750" y="32750"/>
                  </a:lnTo>
                  <a:lnTo>
                    <a:pt x="68312" y="8784"/>
                  </a:lnTo>
                  <a:lnTo>
                    <a:pt x="111887" y="0"/>
                  </a:lnTo>
                  <a:lnTo>
                    <a:pt x="1000633" y="0"/>
                  </a:lnTo>
                  <a:lnTo>
                    <a:pt x="1044207" y="8784"/>
                  </a:lnTo>
                  <a:lnTo>
                    <a:pt x="1079769" y="32750"/>
                  </a:lnTo>
                  <a:lnTo>
                    <a:pt x="1103735" y="68312"/>
                  </a:lnTo>
                  <a:lnTo>
                    <a:pt x="1112520" y="111887"/>
                  </a:lnTo>
                  <a:lnTo>
                    <a:pt x="1112520" y="953388"/>
                  </a:lnTo>
                  <a:lnTo>
                    <a:pt x="1103735" y="996947"/>
                  </a:lnTo>
                  <a:lnTo>
                    <a:pt x="1079769" y="1032511"/>
                  </a:lnTo>
                  <a:lnTo>
                    <a:pt x="1044207" y="1056485"/>
                  </a:lnTo>
                  <a:lnTo>
                    <a:pt x="1000633" y="1065276"/>
                  </a:lnTo>
                  <a:lnTo>
                    <a:pt x="111887" y="1065276"/>
                  </a:lnTo>
                  <a:lnTo>
                    <a:pt x="68312" y="1056485"/>
                  </a:lnTo>
                  <a:lnTo>
                    <a:pt x="32750" y="1032511"/>
                  </a:lnTo>
                  <a:lnTo>
                    <a:pt x="8784" y="996947"/>
                  </a:lnTo>
                  <a:lnTo>
                    <a:pt x="0" y="953388"/>
                  </a:lnTo>
                  <a:lnTo>
                    <a:pt x="0" y="111887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917696" y="4729683"/>
            <a:ext cx="891540" cy="84836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algn="ctr">
              <a:lnSpc>
                <a:spcPct val="88000"/>
              </a:lnSpc>
              <a:spcBef>
                <a:spcPts val="240"/>
              </a:spcBef>
            </a:pPr>
            <a:r>
              <a:rPr sz="1000" b="1" dirty="0">
                <a:latin typeface="Cambria"/>
                <a:cs typeface="Cambria"/>
              </a:rPr>
              <a:t>The</a:t>
            </a:r>
            <a:r>
              <a:rPr sz="1000" b="1" spc="114" dirty="0">
                <a:latin typeface="Cambria"/>
                <a:cs typeface="Cambria"/>
              </a:rPr>
              <a:t> </a:t>
            </a:r>
            <a:r>
              <a:rPr sz="1000" b="1" spc="-10" dirty="0">
                <a:latin typeface="Cambria"/>
                <a:cs typeface="Cambria"/>
              </a:rPr>
              <a:t>electrical </a:t>
            </a:r>
            <a:r>
              <a:rPr sz="1000" b="1" dirty="0">
                <a:latin typeface="Cambria"/>
                <a:cs typeface="Cambria"/>
              </a:rPr>
              <a:t>path</a:t>
            </a:r>
            <a:r>
              <a:rPr sz="1000" b="1" spc="145" dirty="0">
                <a:latin typeface="Cambria"/>
                <a:cs typeface="Cambria"/>
              </a:rPr>
              <a:t> </a:t>
            </a:r>
            <a:r>
              <a:rPr sz="1000" b="1" dirty="0">
                <a:latin typeface="Cambria"/>
                <a:cs typeface="Cambria"/>
              </a:rPr>
              <a:t>length</a:t>
            </a:r>
            <a:r>
              <a:rPr sz="1000" b="1" spc="145" dirty="0">
                <a:latin typeface="Cambria"/>
                <a:cs typeface="Cambria"/>
              </a:rPr>
              <a:t> </a:t>
            </a:r>
            <a:r>
              <a:rPr sz="1000" b="1" spc="-25" dirty="0">
                <a:latin typeface="Cambria"/>
                <a:cs typeface="Cambria"/>
              </a:rPr>
              <a:t>is</a:t>
            </a:r>
            <a:r>
              <a:rPr sz="1000" b="1" spc="-10" dirty="0">
                <a:latin typeface="Cambria"/>
                <a:cs typeface="Cambria"/>
              </a:rPr>
              <a:t> shortened, increasing operating speed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937505" y="4626609"/>
            <a:ext cx="1125220" cy="1078230"/>
            <a:chOff x="4937505" y="4626609"/>
            <a:chExt cx="1125220" cy="1078230"/>
          </a:xfrm>
        </p:grpSpPr>
        <p:sp>
          <p:nvSpPr>
            <p:cNvPr id="37" name="object 37"/>
            <p:cNvSpPr/>
            <p:nvPr/>
          </p:nvSpPr>
          <p:spPr>
            <a:xfrm>
              <a:off x="4943855" y="4632959"/>
              <a:ext cx="1112520" cy="1065530"/>
            </a:xfrm>
            <a:custGeom>
              <a:avLst/>
              <a:gdLst/>
              <a:ahLst/>
              <a:cxnLst/>
              <a:rect l="l" t="t" r="r" b="b"/>
              <a:pathLst>
                <a:path w="1112520" h="1065529">
                  <a:moveTo>
                    <a:pt x="1000633" y="0"/>
                  </a:moveTo>
                  <a:lnTo>
                    <a:pt x="111887" y="0"/>
                  </a:lnTo>
                  <a:lnTo>
                    <a:pt x="68312" y="8784"/>
                  </a:lnTo>
                  <a:lnTo>
                    <a:pt x="32750" y="32750"/>
                  </a:lnTo>
                  <a:lnTo>
                    <a:pt x="8784" y="68312"/>
                  </a:lnTo>
                  <a:lnTo>
                    <a:pt x="0" y="111887"/>
                  </a:lnTo>
                  <a:lnTo>
                    <a:pt x="0" y="953388"/>
                  </a:lnTo>
                  <a:lnTo>
                    <a:pt x="8784" y="996947"/>
                  </a:lnTo>
                  <a:lnTo>
                    <a:pt x="32750" y="1032511"/>
                  </a:lnTo>
                  <a:lnTo>
                    <a:pt x="68312" y="1056485"/>
                  </a:lnTo>
                  <a:lnTo>
                    <a:pt x="111887" y="1065276"/>
                  </a:lnTo>
                  <a:lnTo>
                    <a:pt x="1000633" y="1065276"/>
                  </a:lnTo>
                  <a:lnTo>
                    <a:pt x="1044207" y="1056485"/>
                  </a:lnTo>
                  <a:lnTo>
                    <a:pt x="1079769" y="1032511"/>
                  </a:lnTo>
                  <a:lnTo>
                    <a:pt x="1103735" y="996947"/>
                  </a:lnTo>
                  <a:lnTo>
                    <a:pt x="1112520" y="953388"/>
                  </a:lnTo>
                  <a:lnTo>
                    <a:pt x="1112520" y="111887"/>
                  </a:lnTo>
                  <a:lnTo>
                    <a:pt x="1103735" y="68312"/>
                  </a:lnTo>
                  <a:lnTo>
                    <a:pt x="1079769" y="32750"/>
                  </a:lnTo>
                  <a:lnTo>
                    <a:pt x="1044207" y="8784"/>
                  </a:lnTo>
                  <a:lnTo>
                    <a:pt x="100063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43855" y="4632959"/>
              <a:ext cx="1112520" cy="1065530"/>
            </a:xfrm>
            <a:custGeom>
              <a:avLst/>
              <a:gdLst/>
              <a:ahLst/>
              <a:cxnLst/>
              <a:rect l="l" t="t" r="r" b="b"/>
              <a:pathLst>
                <a:path w="1112520" h="1065529">
                  <a:moveTo>
                    <a:pt x="0" y="111887"/>
                  </a:moveTo>
                  <a:lnTo>
                    <a:pt x="8784" y="68312"/>
                  </a:lnTo>
                  <a:lnTo>
                    <a:pt x="32750" y="32750"/>
                  </a:lnTo>
                  <a:lnTo>
                    <a:pt x="68312" y="8784"/>
                  </a:lnTo>
                  <a:lnTo>
                    <a:pt x="111887" y="0"/>
                  </a:lnTo>
                  <a:lnTo>
                    <a:pt x="1000633" y="0"/>
                  </a:lnTo>
                  <a:lnTo>
                    <a:pt x="1044207" y="8784"/>
                  </a:lnTo>
                  <a:lnTo>
                    <a:pt x="1079769" y="32750"/>
                  </a:lnTo>
                  <a:lnTo>
                    <a:pt x="1103735" y="68312"/>
                  </a:lnTo>
                  <a:lnTo>
                    <a:pt x="1112520" y="111887"/>
                  </a:lnTo>
                  <a:lnTo>
                    <a:pt x="1112520" y="953388"/>
                  </a:lnTo>
                  <a:lnTo>
                    <a:pt x="1103735" y="996947"/>
                  </a:lnTo>
                  <a:lnTo>
                    <a:pt x="1079769" y="1032511"/>
                  </a:lnTo>
                  <a:lnTo>
                    <a:pt x="1044207" y="1056485"/>
                  </a:lnTo>
                  <a:lnTo>
                    <a:pt x="1000633" y="1065276"/>
                  </a:lnTo>
                  <a:lnTo>
                    <a:pt x="111887" y="1065276"/>
                  </a:lnTo>
                  <a:lnTo>
                    <a:pt x="68312" y="1056485"/>
                  </a:lnTo>
                  <a:lnTo>
                    <a:pt x="32750" y="1032511"/>
                  </a:lnTo>
                  <a:lnTo>
                    <a:pt x="8784" y="996947"/>
                  </a:lnTo>
                  <a:lnTo>
                    <a:pt x="0" y="953388"/>
                  </a:lnTo>
                  <a:lnTo>
                    <a:pt x="0" y="111887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004053" y="4772025"/>
            <a:ext cx="993775" cy="76644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-1905" algn="ctr">
              <a:lnSpc>
                <a:spcPct val="88000"/>
              </a:lnSpc>
              <a:spcBef>
                <a:spcPts val="229"/>
              </a:spcBef>
            </a:pPr>
            <a:r>
              <a:rPr sz="900" b="1" spc="-10" dirty="0">
                <a:latin typeface="Cambria"/>
                <a:cs typeface="Cambria"/>
              </a:rPr>
              <a:t>Computer</a:t>
            </a:r>
            <a:r>
              <a:rPr sz="900" b="1" spc="10" dirty="0">
                <a:latin typeface="Cambria"/>
                <a:cs typeface="Cambria"/>
              </a:rPr>
              <a:t> becomes</a:t>
            </a:r>
            <a:r>
              <a:rPr sz="900" b="1" spc="225" dirty="0">
                <a:latin typeface="Cambria"/>
                <a:cs typeface="Cambria"/>
              </a:rPr>
              <a:t> </a:t>
            </a:r>
            <a:r>
              <a:rPr sz="900" b="1" spc="-10" dirty="0">
                <a:latin typeface="Cambria"/>
                <a:cs typeface="Cambria"/>
              </a:rPr>
              <a:t>smaller</a:t>
            </a:r>
            <a:r>
              <a:rPr sz="900" b="1" spc="500" dirty="0">
                <a:latin typeface="Cambria"/>
                <a:cs typeface="Cambria"/>
              </a:rPr>
              <a:t> </a:t>
            </a:r>
            <a:r>
              <a:rPr sz="900" b="1" dirty="0">
                <a:latin typeface="Cambria"/>
                <a:cs typeface="Cambria"/>
              </a:rPr>
              <a:t>and</a:t>
            </a:r>
            <a:r>
              <a:rPr sz="900" b="1" spc="85" dirty="0">
                <a:latin typeface="Cambria"/>
                <a:cs typeface="Cambria"/>
              </a:rPr>
              <a:t> </a:t>
            </a:r>
            <a:r>
              <a:rPr sz="900" b="1" dirty="0">
                <a:latin typeface="Cambria"/>
                <a:cs typeface="Cambria"/>
              </a:rPr>
              <a:t>is</a:t>
            </a:r>
            <a:r>
              <a:rPr sz="900" b="1" spc="105" dirty="0">
                <a:latin typeface="Cambria"/>
                <a:cs typeface="Cambria"/>
              </a:rPr>
              <a:t> </a:t>
            </a:r>
            <a:r>
              <a:rPr sz="900" b="1" spc="-20" dirty="0">
                <a:latin typeface="Cambria"/>
                <a:cs typeface="Cambria"/>
              </a:rPr>
              <a:t>more</a:t>
            </a:r>
            <a:r>
              <a:rPr sz="900" b="1" spc="10" dirty="0">
                <a:latin typeface="Cambria"/>
                <a:cs typeface="Cambria"/>
              </a:rPr>
              <a:t> convenient</a:t>
            </a:r>
            <a:r>
              <a:rPr sz="900" b="1" spc="180" dirty="0">
                <a:latin typeface="Cambria"/>
                <a:cs typeface="Cambria"/>
              </a:rPr>
              <a:t> </a:t>
            </a:r>
            <a:r>
              <a:rPr sz="900" b="1" spc="-25" dirty="0">
                <a:latin typeface="Cambria"/>
                <a:cs typeface="Cambria"/>
              </a:rPr>
              <a:t>to</a:t>
            </a:r>
            <a:r>
              <a:rPr sz="900" b="1" spc="500" dirty="0">
                <a:latin typeface="Cambria"/>
                <a:cs typeface="Cambria"/>
              </a:rPr>
              <a:t> </a:t>
            </a:r>
            <a:r>
              <a:rPr sz="900" b="1" dirty="0">
                <a:latin typeface="Cambria"/>
                <a:cs typeface="Cambria"/>
              </a:rPr>
              <a:t>use</a:t>
            </a:r>
            <a:r>
              <a:rPr sz="900" b="1" spc="85" dirty="0">
                <a:latin typeface="Cambria"/>
                <a:cs typeface="Cambria"/>
              </a:rPr>
              <a:t> </a:t>
            </a:r>
            <a:r>
              <a:rPr sz="900" b="1" dirty="0">
                <a:latin typeface="Cambria"/>
                <a:cs typeface="Cambria"/>
              </a:rPr>
              <a:t>in</a:t>
            </a:r>
            <a:r>
              <a:rPr sz="900" b="1" spc="70" dirty="0">
                <a:latin typeface="Cambria"/>
                <a:cs typeface="Cambria"/>
              </a:rPr>
              <a:t> </a:t>
            </a:r>
            <a:r>
              <a:rPr sz="900" b="1" dirty="0">
                <a:latin typeface="Cambria"/>
                <a:cs typeface="Cambria"/>
              </a:rPr>
              <a:t>a</a:t>
            </a:r>
            <a:r>
              <a:rPr sz="900" b="1" spc="80" dirty="0">
                <a:latin typeface="Cambria"/>
                <a:cs typeface="Cambria"/>
              </a:rPr>
              <a:t> </a:t>
            </a:r>
            <a:r>
              <a:rPr sz="900" b="1" spc="-10" dirty="0">
                <a:latin typeface="Cambria"/>
                <a:cs typeface="Cambria"/>
              </a:rPr>
              <a:t>variety</a:t>
            </a:r>
            <a:r>
              <a:rPr sz="900" b="1" spc="500" dirty="0">
                <a:latin typeface="Cambria"/>
                <a:cs typeface="Cambria"/>
              </a:rPr>
              <a:t> </a:t>
            </a:r>
            <a:r>
              <a:rPr sz="900" b="1" dirty="0">
                <a:latin typeface="Cambria"/>
                <a:cs typeface="Cambria"/>
              </a:rPr>
              <a:t>of</a:t>
            </a:r>
            <a:r>
              <a:rPr sz="900" b="1" spc="50" dirty="0">
                <a:latin typeface="Cambria"/>
                <a:cs typeface="Cambria"/>
              </a:rPr>
              <a:t> </a:t>
            </a:r>
            <a:r>
              <a:rPr sz="900" b="1" spc="-10" dirty="0">
                <a:latin typeface="Cambria"/>
                <a:cs typeface="Cambria"/>
              </a:rPr>
              <a:t>environments</a:t>
            </a:r>
            <a:endParaRPr sz="900">
              <a:latin typeface="Cambria"/>
              <a:cs typeface="Cambr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075934" y="4626609"/>
            <a:ext cx="1123950" cy="1078230"/>
            <a:chOff x="6075934" y="4626609"/>
            <a:chExt cx="1123950" cy="1078230"/>
          </a:xfrm>
        </p:grpSpPr>
        <p:sp>
          <p:nvSpPr>
            <p:cNvPr id="41" name="object 41"/>
            <p:cNvSpPr/>
            <p:nvPr/>
          </p:nvSpPr>
          <p:spPr>
            <a:xfrm>
              <a:off x="6082284" y="4632959"/>
              <a:ext cx="1111250" cy="1065530"/>
            </a:xfrm>
            <a:custGeom>
              <a:avLst/>
              <a:gdLst/>
              <a:ahLst/>
              <a:cxnLst/>
              <a:rect l="l" t="t" r="r" b="b"/>
              <a:pathLst>
                <a:path w="1111250" h="1065529">
                  <a:moveTo>
                    <a:pt x="999109" y="0"/>
                  </a:moveTo>
                  <a:lnTo>
                    <a:pt x="111887" y="0"/>
                  </a:lnTo>
                  <a:lnTo>
                    <a:pt x="68312" y="8784"/>
                  </a:lnTo>
                  <a:lnTo>
                    <a:pt x="32750" y="32750"/>
                  </a:lnTo>
                  <a:lnTo>
                    <a:pt x="8784" y="68312"/>
                  </a:lnTo>
                  <a:lnTo>
                    <a:pt x="0" y="111887"/>
                  </a:lnTo>
                  <a:lnTo>
                    <a:pt x="0" y="953388"/>
                  </a:lnTo>
                  <a:lnTo>
                    <a:pt x="8784" y="996947"/>
                  </a:lnTo>
                  <a:lnTo>
                    <a:pt x="32750" y="1032511"/>
                  </a:lnTo>
                  <a:lnTo>
                    <a:pt x="68312" y="1056485"/>
                  </a:lnTo>
                  <a:lnTo>
                    <a:pt x="111887" y="1065276"/>
                  </a:lnTo>
                  <a:lnTo>
                    <a:pt x="999109" y="1065276"/>
                  </a:lnTo>
                  <a:lnTo>
                    <a:pt x="1042683" y="1056485"/>
                  </a:lnTo>
                  <a:lnTo>
                    <a:pt x="1078245" y="1032511"/>
                  </a:lnTo>
                  <a:lnTo>
                    <a:pt x="1102211" y="996947"/>
                  </a:lnTo>
                  <a:lnTo>
                    <a:pt x="1110995" y="953388"/>
                  </a:lnTo>
                  <a:lnTo>
                    <a:pt x="1110995" y="111887"/>
                  </a:lnTo>
                  <a:lnTo>
                    <a:pt x="1102211" y="68312"/>
                  </a:lnTo>
                  <a:lnTo>
                    <a:pt x="1078245" y="32750"/>
                  </a:lnTo>
                  <a:lnTo>
                    <a:pt x="1042683" y="8784"/>
                  </a:lnTo>
                  <a:lnTo>
                    <a:pt x="99910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082284" y="4632959"/>
              <a:ext cx="1111250" cy="1065530"/>
            </a:xfrm>
            <a:custGeom>
              <a:avLst/>
              <a:gdLst/>
              <a:ahLst/>
              <a:cxnLst/>
              <a:rect l="l" t="t" r="r" b="b"/>
              <a:pathLst>
                <a:path w="1111250" h="1065529">
                  <a:moveTo>
                    <a:pt x="0" y="111887"/>
                  </a:moveTo>
                  <a:lnTo>
                    <a:pt x="8784" y="68312"/>
                  </a:lnTo>
                  <a:lnTo>
                    <a:pt x="32750" y="32750"/>
                  </a:lnTo>
                  <a:lnTo>
                    <a:pt x="68312" y="8784"/>
                  </a:lnTo>
                  <a:lnTo>
                    <a:pt x="111887" y="0"/>
                  </a:lnTo>
                  <a:lnTo>
                    <a:pt x="999109" y="0"/>
                  </a:lnTo>
                  <a:lnTo>
                    <a:pt x="1042683" y="8784"/>
                  </a:lnTo>
                  <a:lnTo>
                    <a:pt x="1078245" y="32750"/>
                  </a:lnTo>
                  <a:lnTo>
                    <a:pt x="1102211" y="68312"/>
                  </a:lnTo>
                  <a:lnTo>
                    <a:pt x="1110995" y="111887"/>
                  </a:lnTo>
                  <a:lnTo>
                    <a:pt x="1110995" y="953388"/>
                  </a:lnTo>
                  <a:lnTo>
                    <a:pt x="1102211" y="996947"/>
                  </a:lnTo>
                  <a:lnTo>
                    <a:pt x="1078245" y="1032511"/>
                  </a:lnTo>
                  <a:lnTo>
                    <a:pt x="1042683" y="1056485"/>
                  </a:lnTo>
                  <a:lnTo>
                    <a:pt x="999109" y="1065276"/>
                  </a:lnTo>
                  <a:lnTo>
                    <a:pt x="111887" y="1065276"/>
                  </a:lnTo>
                  <a:lnTo>
                    <a:pt x="68312" y="1056485"/>
                  </a:lnTo>
                  <a:lnTo>
                    <a:pt x="32750" y="1032511"/>
                  </a:lnTo>
                  <a:lnTo>
                    <a:pt x="8784" y="996947"/>
                  </a:lnTo>
                  <a:lnTo>
                    <a:pt x="0" y="953388"/>
                  </a:lnTo>
                  <a:lnTo>
                    <a:pt x="0" y="111887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201917" y="4864353"/>
            <a:ext cx="872490" cy="57975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 algn="ctr">
              <a:lnSpc>
                <a:spcPts val="1060"/>
              </a:lnSpc>
              <a:spcBef>
                <a:spcPts val="245"/>
              </a:spcBef>
            </a:pPr>
            <a:r>
              <a:rPr sz="1000" b="1" spc="10" dirty="0">
                <a:latin typeface="Cambria"/>
                <a:cs typeface="Cambria"/>
              </a:rPr>
              <a:t>Reduction</a:t>
            </a:r>
            <a:r>
              <a:rPr sz="1000" b="1" spc="180" dirty="0">
                <a:latin typeface="Cambria"/>
                <a:cs typeface="Cambria"/>
              </a:rPr>
              <a:t> </a:t>
            </a:r>
            <a:r>
              <a:rPr sz="1000" b="1" spc="-25" dirty="0">
                <a:latin typeface="Cambria"/>
                <a:cs typeface="Cambria"/>
              </a:rPr>
              <a:t>in</a:t>
            </a:r>
            <a:r>
              <a:rPr sz="1000" b="1" dirty="0">
                <a:latin typeface="Cambria"/>
                <a:cs typeface="Cambria"/>
              </a:rPr>
              <a:t> power</a:t>
            </a:r>
            <a:r>
              <a:rPr sz="1000" b="1" spc="55" dirty="0">
                <a:latin typeface="Cambria"/>
                <a:cs typeface="Cambria"/>
              </a:rPr>
              <a:t> </a:t>
            </a:r>
            <a:r>
              <a:rPr sz="1000" b="1" spc="-25" dirty="0">
                <a:latin typeface="Cambria"/>
                <a:cs typeface="Cambria"/>
              </a:rPr>
              <a:t>and</a:t>
            </a:r>
            <a:r>
              <a:rPr sz="1000" b="1" spc="-10" dirty="0">
                <a:latin typeface="Cambria"/>
                <a:cs typeface="Cambria"/>
              </a:rPr>
              <a:t> cooling requirements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213092" y="4626864"/>
            <a:ext cx="1123315" cy="1077595"/>
            <a:chOff x="7213092" y="4626864"/>
            <a:chExt cx="1123315" cy="1077595"/>
          </a:xfrm>
        </p:grpSpPr>
        <p:sp>
          <p:nvSpPr>
            <p:cNvPr id="45" name="object 45"/>
            <p:cNvSpPr/>
            <p:nvPr/>
          </p:nvSpPr>
          <p:spPr>
            <a:xfrm>
              <a:off x="7219188" y="4632960"/>
              <a:ext cx="1111250" cy="1065530"/>
            </a:xfrm>
            <a:custGeom>
              <a:avLst/>
              <a:gdLst/>
              <a:ahLst/>
              <a:cxnLst/>
              <a:rect l="l" t="t" r="r" b="b"/>
              <a:pathLst>
                <a:path w="1111250" h="1065529">
                  <a:moveTo>
                    <a:pt x="999108" y="0"/>
                  </a:moveTo>
                  <a:lnTo>
                    <a:pt x="111886" y="0"/>
                  </a:lnTo>
                  <a:lnTo>
                    <a:pt x="68312" y="8784"/>
                  </a:lnTo>
                  <a:lnTo>
                    <a:pt x="32750" y="32750"/>
                  </a:lnTo>
                  <a:lnTo>
                    <a:pt x="8784" y="68312"/>
                  </a:lnTo>
                  <a:lnTo>
                    <a:pt x="0" y="111887"/>
                  </a:lnTo>
                  <a:lnTo>
                    <a:pt x="0" y="953388"/>
                  </a:lnTo>
                  <a:lnTo>
                    <a:pt x="8784" y="996947"/>
                  </a:lnTo>
                  <a:lnTo>
                    <a:pt x="32750" y="1032511"/>
                  </a:lnTo>
                  <a:lnTo>
                    <a:pt x="68312" y="1056485"/>
                  </a:lnTo>
                  <a:lnTo>
                    <a:pt x="111886" y="1065276"/>
                  </a:lnTo>
                  <a:lnTo>
                    <a:pt x="999108" y="1065276"/>
                  </a:lnTo>
                  <a:lnTo>
                    <a:pt x="1042683" y="1056485"/>
                  </a:lnTo>
                  <a:lnTo>
                    <a:pt x="1078245" y="1032511"/>
                  </a:lnTo>
                  <a:lnTo>
                    <a:pt x="1102211" y="996947"/>
                  </a:lnTo>
                  <a:lnTo>
                    <a:pt x="1110995" y="953388"/>
                  </a:lnTo>
                  <a:lnTo>
                    <a:pt x="1110995" y="111887"/>
                  </a:lnTo>
                  <a:lnTo>
                    <a:pt x="1102211" y="68312"/>
                  </a:lnTo>
                  <a:lnTo>
                    <a:pt x="1078245" y="32750"/>
                  </a:lnTo>
                  <a:lnTo>
                    <a:pt x="1042683" y="8784"/>
                  </a:lnTo>
                  <a:lnTo>
                    <a:pt x="99910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219188" y="4632960"/>
              <a:ext cx="1111250" cy="1065530"/>
            </a:xfrm>
            <a:custGeom>
              <a:avLst/>
              <a:gdLst/>
              <a:ahLst/>
              <a:cxnLst/>
              <a:rect l="l" t="t" r="r" b="b"/>
              <a:pathLst>
                <a:path w="1111250" h="1065529">
                  <a:moveTo>
                    <a:pt x="0" y="111887"/>
                  </a:moveTo>
                  <a:lnTo>
                    <a:pt x="8784" y="68312"/>
                  </a:lnTo>
                  <a:lnTo>
                    <a:pt x="32750" y="32750"/>
                  </a:lnTo>
                  <a:lnTo>
                    <a:pt x="68312" y="8784"/>
                  </a:lnTo>
                  <a:lnTo>
                    <a:pt x="111886" y="0"/>
                  </a:lnTo>
                  <a:lnTo>
                    <a:pt x="999108" y="0"/>
                  </a:lnTo>
                  <a:lnTo>
                    <a:pt x="1042683" y="8784"/>
                  </a:lnTo>
                  <a:lnTo>
                    <a:pt x="1078245" y="32750"/>
                  </a:lnTo>
                  <a:lnTo>
                    <a:pt x="1102211" y="68312"/>
                  </a:lnTo>
                  <a:lnTo>
                    <a:pt x="1110995" y="111887"/>
                  </a:lnTo>
                  <a:lnTo>
                    <a:pt x="1110995" y="953388"/>
                  </a:lnTo>
                  <a:lnTo>
                    <a:pt x="1102211" y="996947"/>
                  </a:lnTo>
                  <a:lnTo>
                    <a:pt x="1078245" y="1032511"/>
                  </a:lnTo>
                  <a:lnTo>
                    <a:pt x="1042683" y="1056485"/>
                  </a:lnTo>
                  <a:lnTo>
                    <a:pt x="999108" y="1065276"/>
                  </a:lnTo>
                  <a:lnTo>
                    <a:pt x="111886" y="1065276"/>
                  </a:lnTo>
                  <a:lnTo>
                    <a:pt x="68312" y="1056485"/>
                  </a:lnTo>
                  <a:lnTo>
                    <a:pt x="32750" y="1032511"/>
                  </a:lnTo>
                  <a:lnTo>
                    <a:pt x="8784" y="996947"/>
                  </a:lnTo>
                  <a:lnTo>
                    <a:pt x="0" y="953388"/>
                  </a:lnTo>
                  <a:lnTo>
                    <a:pt x="0" y="111887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386319" y="4931409"/>
            <a:ext cx="778510" cy="44577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065" marR="5080" indent="-635" algn="ctr">
              <a:lnSpc>
                <a:spcPts val="1060"/>
              </a:lnSpc>
              <a:spcBef>
                <a:spcPts val="245"/>
              </a:spcBef>
            </a:pPr>
            <a:r>
              <a:rPr sz="1000" b="1" spc="-10" dirty="0">
                <a:latin typeface="Cambria"/>
                <a:cs typeface="Cambria"/>
              </a:rPr>
              <a:t>Fewer interchip connections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494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9936"/>
            <a:ext cx="9144000" cy="63581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52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IBM</a:t>
            </a:r>
            <a:r>
              <a:rPr sz="3600" spc="135" dirty="0"/>
              <a:t> </a:t>
            </a:r>
            <a:r>
              <a:rPr sz="3600" spc="-10" dirty="0"/>
              <a:t>System/360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0862" y="1836166"/>
            <a:ext cx="7258684" cy="4077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Announced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1964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Product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line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was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FF0000"/>
                </a:solidFill>
                <a:latin typeface="Cambria"/>
                <a:cs typeface="Cambria"/>
              </a:rPr>
              <a:t>incompatible</a:t>
            </a:r>
            <a:r>
              <a:rPr sz="200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with</a:t>
            </a:r>
            <a:r>
              <a:rPr sz="20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FF0000"/>
                </a:solidFill>
                <a:latin typeface="Cambria"/>
                <a:cs typeface="Cambria"/>
              </a:rPr>
              <a:t>older</a:t>
            </a:r>
            <a:r>
              <a:rPr sz="200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IBM</a:t>
            </a:r>
            <a:r>
              <a:rPr sz="20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machines</a:t>
            </a:r>
            <a:endParaRPr sz="2000">
              <a:latin typeface="Cambria"/>
              <a:cs typeface="Cambria"/>
            </a:endParaRPr>
          </a:p>
          <a:p>
            <a:pPr marL="241300" marR="475615" indent="-228600">
              <a:lnSpc>
                <a:spcPct val="100000"/>
              </a:lnSpc>
              <a:spcBef>
                <a:spcPts val="199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Was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0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FF0000"/>
                </a:solidFill>
                <a:latin typeface="Cambria"/>
                <a:cs typeface="Cambria"/>
              </a:rPr>
              <a:t>success</a:t>
            </a:r>
            <a:r>
              <a:rPr sz="20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0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0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FF0000"/>
                </a:solidFill>
                <a:latin typeface="Cambria"/>
                <a:cs typeface="Cambria"/>
              </a:rPr>
              <a:t>decade</a:t>
            </a:r>
            <a:r>
              <a:rPr sz="20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0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FF0000"/>
                </a:solidFill>
                <a:latin typeface="Cambria"/>
                <a:cs typeface="Cambria"/>
              </a:rPr>
              <a:t>cemented</a:t>
            </a:r>
            <a:r>
              <a:rPr sz="20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IBM</a:t>
            </a:r>
            <a:r>
              <a:rPr sz="20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as</a:t>
            </a:r>
            <a:r>
              <a:rPr sz="20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mbria"/>
                <a:cs typeface="Cambria"/>
              </a:rPr>
              <a:t>the </a:t>
            </a: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overwhelmingly</a:t>
            </a:r>
            <a:r>
              <a:rPr sz="2000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dominant</a:t>
            </a:r>
            <a:r>
              <a:rPr sz="2000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computer</a:t>
            </a:r>
            <a:r>
              <a:rPr sz="2000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vend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or</a:t>
            </a:r>
            <a:endParaRPr sz="2000">
              <a:latin typeface="Cambria"/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201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6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0" dirty="0">
                <a:solidFill>
                  <a:srgbClr val="585858"/>
                </a:solidFill>
                <a:latin typeface="Cambria"/>
                <a:cs typeface="Cambria"/>
              </a:rPr>
              <a:t>architecture</a:t>
            </a:r>
            <a:r>
              <a:rPr sz="20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FF0000"/>
                </a:solidFill>
                <a:latin typeface="Cambria"/>
                <a:cs typeface="Cambria"/>
              </a:rPr>
              <a:t>remains</a:t>
            </a:r>
            <a:r>
              <a:rPr sz="200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1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000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10" dirty="0">
                <a:solidFill>
                  <a:srgbClr val="FF0000"/>
                </a:solidFill>
                <a:latin typeface="Cambria"/>
                <a:cs typeface="Cambria"/>
              </a:rPr>
              <a:t>this</a:t>
            </a:r>
            <a:r>
              <a:rPr sz="2000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FF0000"/>
                </a:solidFill>
                <a:latin typeface="Cambria"/>
                <a:cs typeface="Cambria"/>
              </a:rPr>
              <a:t>day</a:t>
            </a:r>
            <a:r>
              <a:rPr sz="2000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1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000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10" dirty="0">
                <a:solidFill>
                  <a:srgbClr val="FF0000"/>
                </a:solidFill>
                <a:latin typeface="Cambria"/>
                <a:cs typeface="Cambria"/>
              </a:rPr>
              <a:t>architecture</a:t>
            </a:r>
            <a:r>
              <a:rPr sz="200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1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0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IBM’s </a:t>
            </a:r>
            <a:r>
              <a:rPr sz="2000" spc="50" dirty="0">
                <a:solidFill>
                  <a:srgbClr val="FF0000"/>
                </a:solidFill>
                <a:latin typeface="Cambria"/>
                <a:cs typeface="Cambria"/>
              </a:rPr>
              <a:t>mainframe</a:t>
            </a:r>
            <a:r>
              <a:rPr sz="2000" spc="55" dirty="0">
                <a:solidFill>
                  <a:srgbClr val="FF0000"/>
                </a:solidFill>
                <a:latin typeface="Cambria"/>
                <a:cs typeface="Cambria"/>
              </a:rPr>
              <a:t> computers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Was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industry’s</a:t>
            </a:r>
            <a:r>
              <a:rPr sz="20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first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planned</a:t>
            </a:r>
            <a:r>
              <a:rPr sz="20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585858"/>
                </a:solidFill>
                <a:latin typeface="Cambria"/>
                <a:cs typeface="Cambria"/>
              </a:rPr>
              <a:t>family</a:t>
            </a:r>
            <a:r>
              <a:rPr sz="20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585858"/>
                </a:solidFill>
                <a:latin typeface="Cambria"/>
                <a:cs typeface="Cambria"/>
              </a:rPr>
              <a:t>computers</a:t>
            </a:r>
            <a:endParaRPr sz="2000">
              <a:latin typeface="Cambria"/>
              <a:cs typeface="Cambria"/>
            </a:endParaRPr>
          </a:p>
          <a:p>
            <a:pPr marL="469900" marR="128270" lvl="1" indent="-228600">
              <a:lnSpc>
                <a:spcPct val="100000"/>
              </a:lnSpc>
              <a:spcBef>
                <a:spcPts val="61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Models</a:t>
            </a:r>
            <a:r>
              <a:rPr sz="18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were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compatible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8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sense</a:t>
            </a:r>
            <a:r>
              <a:rPr sz="18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program</a:t>
            </a:r>
            <a:r>
              <a:rPr sz="18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written</a:t>
            </a:r>
            <a:r>
              <a:rPr sz="18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585858"/>
                </a:solidFill>
                <a:latin typeface="Cambria"/>
                <a:cs typeface="Cambria"/>
              </a:rPr>
              <a:t>for 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one </a:t>
            </a:r>
            <a:r>
              <a:rPr sz="1800" spc="85" dirty="0">
                <a:solidFill>
                  <a:srgbClr val="585858"/>
                </a:solidFill>
                <a:latin typeface="Cambria"/>
                <a:cs typeface="Cambria"/>
              </a:rPr>
              <a:t>model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should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55" dirty="0">
                <a:solidFill>
                  <a:srgbClr val="585858"/>
                </a:solidFill>
                <a:latin typeface="Cambria"/>
                <a:cs typeface="Cambria"/>
              </a:rPr>
              <a:t>be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5" dirty="0">
                <a:solidFill>
                  <a:srgbClr val="585858"/>
                </a:solidFill>
                <a:latin typeface="Cambria"/>
                <a:cs typeface="Cambria"/>
              </a:rPr>
              <a:t>capable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14" dirty="0">
                <a:solidFill>
                  <a:srgbClr val="585858"/>
                </a:solidFill>
                <a:latin typeface="Cambria"/>
                <a:cs typeface="Cambria"/>
              </a:rPr>
              <a:t>being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585858"/>
                </a:solidFill>
                <a:latin typeface="Cambria"/>
                <a:cs typeface="Cambria"/>
              </a:rPr>
              <a:t>executed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by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585858"/>
                </a:solidFill>
                <a:latin typeface="Cambria"/>
                <a:cs typeface="Cambria"/>
              </a:rPr>
              <a:t>another </a:t>
            </a:r>
            <a:r>
              <a:rPr sz="1800" spc="85" dirty="0">
                <a:solidFill>
                  <a:srgbClr val="585858"/>
                </a:solidFill>
                <a:latin typeface="Cambria"/>
                <a:cs typeface="Cambria"/>
              </a:rPr>
              <a:t>model</a:t>
            </a:r>
            <a:r>
              <a:rPr sz="18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8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series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28472" y="2647188"/>
            <a:ext cx="2487295" cy="1542415"/>
            <a:chOff x="728472" y="2647188"/>
            <a:chExt cx="2487295" cy="15424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8472" y="2647188"/>
              <a:ext cx="2487167" cy="15422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956" y="2770632"/>
              <a:ext cx="2360676" cy="13456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2480" y="2685288"/>
              <a:ext cx="2362200" cy="141732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16609" y="2868879"/>
            <a:ext cx="1916430" cy="9944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 indent="-2540" algn="ctr">
              <a:lnSpc>
                <a:spcPct val="88100"/>
              </a:lnSpc>
              <a:spcBef>
                <a:spcPts val="434"/>
              </a:spcBef>
            </a:pPr>
            <a:r>
              <a:rPr sz="2300" dirty="0">
                <a:solidFill>
                  <a:srgbClr val="330E42"/>
                </a:solidFill>
                <a:latin typeface="Cambria"/>
                <a:cs typeface="Cambria"/>
              </a:rPr>
              <a:t>Similar</a:t>
            </a:r>
            <a:r>
              <a:rPr sz="2300" spc="390" dirty="0">
                <a:solidFill>
                  <a:srgbClr val="330E42"/>
                </a:solidFill>
                <a:latin typeface="Cambria"/>
                <a:cs typeface="Cambria"/>
              </a:rPr>
              <a:t> </a:t>
            </a:r>
            <a:r>
              <a:rPr sz="2300" spc="25" dirty="0">
                <a:solidFill>
                  <a:srgbClr val="330E42"/>
                </a:solidFill>
                <a:latin typeface="Cambria"/>
                <a:cs typeface="Cambria"/>
              </a:rPr>
              <a:t>or </a:t>
            </a:r>
            <a:r>
              <a:rPr sz="2300" spc="60" dirty="0">
                <a:solidFill>
                  <a:srgbClr val="330E42"/>
                </a:solidFill>
                <a:latin typeface="Cambria"/>
                <a:cs typeface="Cambria"/>
              </a:rPr>
              <a:t>identical </a:t>
            </a:r>
            <a:r>
              <a:rPr sz="2300" dirty="0">
                <a:solidFill>
                  <a:srgbClr val="330E42"/>
                </a:solidFill>
                <a:latin typeface="Cambria"/>
                <a:cs typeface="Cambria"/>
              </a:rPr>
              <a:t>instruction</a:t>
            </a:r>
            <a:r>
              <a:rPr sz="2300" spc="360" dirty="0">
                <a:solidFill>
                  <a:srgbClr val="330E42"/>
                </a:solidFill>
                <a:latin typeface="Cambria"/>
                <a:cs typeface="Cambria"/>
              </a:rPr>
              <a:t> </a:t>
            </a:r>
            <a:r>
              <a:rPr sz="2300" spc="30" dirty="0">
                <a:solidFill>
                  <a:srgbClr val="330E42"/>
                </a:solidFill>
                <a:latin typeface="Cambria"/>
                <a:cs typeface="Cambria"/>
              </a:rPr>
              <a:t>set</a:t>
            </a:r>
            <a:endParaRPr sz="23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25367" y="2615183"/>
            <a:ext cx="2489200" cy="1656714"/>
            <a:chOff x="3325367" y="2615183"/>
            <a:chExt cx="2489200" cy="1656714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5367" y="2647187"/>
              <a:ext cx="2488691" cy="15422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77411" y="2615183"/>
              <a:ext cx="1854708" cy="165658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89375" y="2685287"/>
              <a:ext cx="2363724" cy="141732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902709" y="2715006"/>
            <a:ext cx="1338580" cy="13036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065" marR="5080" indent="-635" algn="ctr">
              <a:lnSpc>
                <a:spcPct val="88100"/>
              </a:lnSpc>
              <a:spcBef>
                <a:spcPts val="430"/>
              </a:spcBef>
            </a:pPr>
            <a:r>
              <a:rPr sz="2300" spc="50" dirty="0">
                <a:solidFill>
                  <a:srgbClr val="330E42"/>
                </a:solidFill>
                <a:latin typeface="Cambria"/>
                <a:cs typeface="Cambria"/>
              </a:rPr>
              <a:t>Similar</a:t>
            </a:r>
            <a:r>
              <a:rPr sz="2300" spc="55" dirty="0">
                <a:solidFill>
                  <a:srgbClr val="330E42"/>
                </a:solidFill>
                <a:latin typeface="Cambria"/>
                <a:cs typeface="Cambria"/>
              </a:rPr>
              <a:t> </a:t>
            </a:r>
            <a:r>
              <a:rPr sz="2300" spc="-25" dirty="0">
                <a:solidFill>
                  <a:srgbClr val="330E42"/>
                </a:solidFill>
                <a:latin typeface="Cambria"/>
                <a:cs typeface="Cambria"/>
              </a:rPr>
              <a:t>or </a:t>
            </a:r>
            <a:r>
              <a:rPr sz="2300" spc="60" dirty="0">
                <a:solidFill>
                  <a:srgbClr val="330E42"/>
                </a:solidFill>
                <a:latin typeface="Cambria"/>
                <a:cs typeface="Cambria"/>
              </a:rPr>
              <a:t>identical </a:t>
            </a:r>
            <a:r>
              <a:rPr sz="2300" spc="70" dirty="0">
                <a:solidFill>
                  <a:srgbClr val="330E42"/>
                </a:solidFill>
                <a:latin typeface="Cambria"/>
                <a:cs typeface="Cambria"/>
              </a:rPr>
              <a:t>operating </a:t>
            </a:r>
            <a:r>
              <a:rPr sz="2300" spc="50" dirty="0">
                <a:solidFill>
                  <a:srgbClr val="330E42"/>
                </a:solidFill>
                <a:latin typeface="Cambria"/>
                <a:cs typeface="Cambria"/>
              </a:rPr>
              <a:t>system</a:t>
            </a:r>
            <a:endParaRPr sz="230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923788" y="2647188"/>
            <a:ext cx="2487295" cy="1542415"/>
            <a:chOff x="5923788" y="2647188"/>
            <a:chExt cx="2487295" cy="154241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23788" y="2647188"/>
              <a:ext cx="2487167" cy="15422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25540" y="2924556"/>
              <a:ext cx="1953767" cy="10378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87796" y="2685288"/>
              <a:ext cx="2362200" cy="141732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451853" y="3023743"/>
            <a:ext cx="1437005" cy="6845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00355" marR="5080" indent="-288290">
              <a:lnSpc>
                <a:spcPts val="2420"/>
              </a:lnSpc>
              <a:spcBef>
                <a:spcPts val="465"/>
              </a:spcBef>
            </a:pPr>
            <a:r>
              <a:rPr sz="2300" spc="65" dirty="0">
                <a:solidFill>
                  <a:srgbClr val="330E42"/>
                </a:solidFill>
                <a:latin typeface="Cambria"/>
                <a:cs typeface="Cambria"/>
              </a:rPr>
              <a:t>Increasing </a:t>
            </a:r>
            <a:r>
              <a:rPr sz="2300" spc="140" dirty="0">
                <a:solidFill>
                  <a:srgbClr val="330E42"/>
                </a:solidFill>
                <a:latin typeface="Cambria"/>
                <a:cs typeface="Cambria"/>
              </a:rPr>
              <a:t>speed</a:t>
            </a:r>
            <a:endParaRPr sz="23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28472" y="4299191"/>
            <a:ext cx="2506980" cy="1544320"/>
            <a:chOff x="728472" y="4299191"/>
            <a:chExt cx="2506980" cy="154432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8472" y="4299191"/>
              <a:ext cx="2487167" cy="154381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8764" y="4422648"/>
              <a:ext cx="2456688" cy="134721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2480" y="4337304"/>
              <a:ext cx="2362200" cy="1418843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004722" y="4522723"/>
            <a:ext cx="1939289" cy="9937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 indent="635" algn="ctr">
              <a:lnSpc>
                <a:spcPct val="88000"/>
              </a:lnSpc>
              <a:spcBef>
                <a:spcPts val="434"/>
              </a:spcBef>
            </a:pPr>
            <a:r>
              <a:rPr sz="2300" spc="65" dirty="0">
                <a:solidFill>
                  <a:srgbClr val="330E42"/>
                </a:solidFill>
                <a:latin typeface="Cambria"/>
                <a:cs typeface="Cambria"/>
              </a:rPr>
              <a:t>Increasing </a:t>
            </a:r>
            <a:r>
              <a:rPr sz="2300" spc="85" dirty="0">
                <a:solidFill>
                  <a:srgbClr val="330E42"/>
                </a:solidFill>
                <a:latin typeface="Cambria"/>
                <a:cs typeface="Cambria"/>
              </a:rPr>
              <a:t>number</a:t>
            </a:r>
            <a:r>
              <a:rPr sz="2300" spc="80" dirty="0">
                <a:solidFill>
                  <a:srgbClr val="330E42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330E42"/>
                </a:solidFill>
                <a:latin typeface="Cambria"/>
                <a:cs typeface="Cambria"/>
              </a:rPr>
              <a:t>of</a:t>
            </a:r>
            <a:r>
              <a:rPr sz="2300" spc="105" dirty="0">
                <a:solidFill>
                  <a:srgbClr val="330E42"/>
                </a:solidFill>
                <a:latin typeface="Cambria"/>
                <a:cs typeface="Cambria"/>
              </a:rPr>
              <a:t> </a:t>
            </a:r>
            <a:r>
              <a:rPr sz="2300" spc="40" dirty="0">
                <a:solidFill>
                  <a:srgbClr val="330E42"/>
                </a:solidFill>
                <a:latin typeface="Cambria"/>
                <a:cs typeface="Cambria"/>
              </a:rPr>
              <a:t>I/O ports</a:t>
            </a:r>
            <a:endParaRPr sz="230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325367" y="4299191"/>
            <a:ext cx="2489200" cy="1544320"/>
            <a:chOff x="3325367" y="4299191"/>
            <a:chExt cx="2489200" cy="1544320"/>
          </a:xfrm>
        </p:grpSpPr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25367" y="4299191"/>
              <a:ext cx="2488691" cy="154381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74719" y="4578096"/>
              <a:ext cx="2189988" cy="10363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89375" y="4337304"/>
              <a:ext cx="2363724" cy="1418843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3700017" y="4676597"/>
            <a:ext cx="1744980" cy="685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6370">
              <a:lnSpc>
                <a:spcPts val="2595"/>
              </a:lnSpc>
              <a:spcBef>
                <a:spcPts val="105"/>
              </a:spcBef>
            </a:pPr>
            <a:r>
              <a:rPr sz="2300" spc="65" dirty="0">
                <a:solidFill>
                  <a:srgbClr val="330E42"/>
                </a:solidFill>
                <a:latin typeface="Cambria"/>
                <a:cs typeface="Cambria"/>
              </a:rPr>
              <a:t>Increasing</a:t>
            </a:r>
            <a:endParaRPr sz="2300">
              <a:latin typeface="Cambria"/>
              <a:cs typeface="Cambria"/>
            </a:endParaRPr>
          </a:p>
          <a:p>
            <a:pPr marL="12700">
              <a:lnSpc>
                <a:spcPts val="2595"/>
              </a:lnSpc>
            </a:pPr>
            <a:r>
              <a:rPr sz="2300" spc="95" dirty="0">
                <a:solidFill>
                  <a:srgbClr val="330E42"/>
                </a:solidFill>
                <a:latin typeface="Cambria"/>
                <a:cs typeface="Cambria"/>
              </a:rPr>
              <a:t>memory</a:t>
            </a:r>
            <a:r>
              <a:rPr sz="2300" spc="70" dirty="0">
                <a:solidFill>
                  <a:srgbClr val="330E42"/>
                </a:solidFill>
                <a:latin typeface="Cambria"/>
                <a:cs typeface="Cambria"/>
              </a:rPr>
              <a:t> </a:t>
            </a:r>
            <a:r>
              <a:rPr sz="2300" spc="35" dirty="0">
                <a:solidFill>
                  <a:srgbClr val="330E42"/>
                </a:solidFill>
                <a:latin typeface="Cambria"/>
                <a:cs typeface="Cambria"/>
              </a:rPr>
              <a:t>size</a:t>
            </a:r>
            <a:endParaRPr sz="2300">
              <a:latin typeface="Cambria"/>
              <a:cs typeface="Cambri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917691" y="4299191"/>
            <a:ext cx="2496820" cy="1544320"/>
            <a:chOff x="5917691" y="4299191"/>
            <a:chExt cx="2496820" cy="1544320"/>
          </a:xfrm>
        </p:grpSpPr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23787" y="4299191"/>
              <a:ext cx="2487167" cy="154381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917691" y="4732032"/>
              <a:ext cx="2496312" cy="72845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987795" y="4337304"/>
              <a:ext cx="2362200" cy="1418843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6144005" y="4831460"/>
            <a:ext cx="205168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75" dirty="0">
                <a:solidFill>
                  <a:srgbClr val="330E42"/>
                </a:solidFill>
                <a:latin typeface="Cambria"/>
                <a:cs typeface="Cambria"/>
              </a:rPr>
              <a:t>Increasing</a:t>
            </a:r>
            <a:r>
              <a:rPr sz="2300" spc="80" dirty="0">
                <a:solidFill>
                  <a:srgbClr val="330E42"/>
                </a:solidFill>
                <a:latin typeface="Cambria"/>
                <a:cs typeface="Cambria"/>
              </a:rPr>
              <a:t> </a:t>
            </a:r>
            <a:r>
              <a:rPr sz="2300" spc="40" dirty="0">
                <a:solidFill>
                  <a:srgbClr val="330E42"/>
                </a:solidFill>
                <a:latin typeface="Cambria"/>
                <a:cs typeface="Cambria"/>
              </a:rPr>
              <a:t>cost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xfrm>
            <a:off x="185013" y="278638"/>
            <a:ext cx="7073265" cy="2051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b="1" baseline="9259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330" baseline="9259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Family</a:t>
            </a:r>
            <a:r>
              <a:rPr sz="3600" spc="220" dirty="0"/>
              <a:t> </a:t>
            </a:r>
            <a:r>
              <a:rPr sz="3600" spc="114" dirty="0"/>
              <a:t>Characteristics</a:t>
            </a:r>
            <a:endParaRPr sz="3600">
              <a:latin typeface="Times New Roman"/>
              <a:cs typeface="Times New Roman"/>
            </a:endParaRPr>
          </a:p>
          <a:p>
            <a:pPr marL="373380" marR="30480" algn="just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concept</a:t>
            </a:r>
            <a:r>
              <a:rPr sz="2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2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family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compatible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computers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Times New Roman"/>
                <a:cs typeface="Times New Roman"/>
              </a:rPr>
              <a:t>was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both</a:t>
            </a:r>
            <a:r>
              <a:rPr sz="2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novel</a:t>
            </a:r>
            <a:r>
              <a:rPr sz="2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and extremely</a:t>
            </a:r>
            <a:r>
              <a:rPr sz="2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Times New Roman"/>
                <a:cs typeface="Times New Roman"/>
              </a:rPr>
              <a:t>successful.</a:t>
            </a:r>
            <a:r>
              <a:rPr sz="2400" spc="-1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400" spc="-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customer</a:t>
            </a:r>
            <a:r>
              <a:rPr sz="2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Times New Roman"/>
                <a:cs typeface="Times New Roman"/>
              </a:rPr>
              <a:t>with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modest</a:t>
            </a:r>
            <a:r>
              <a:rPr sz="2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requirements</a:t>
            </a:r>
            <a:r>
              <a:rPr sz="2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budget</a:t>
            </a:r>
            <a:r>
              <a:rPr sz="2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2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match</a:t>
            </a:r>
            <a:r>
              <a:rPr sz="2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could</a:t>
            </a:r>
            <a:r>
              <a:rPr sz="2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Times New Roman"/>
                <a:cs typeface="Times New Roman"/>
              </a:rPr>
              <a:t>start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2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the relatively</a:t>
            </a:r>
            <a:r>
              <a:rPr sz="2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inexpensive</a:t>
            </a:r>
            <a:r>
              <a:rPr sz="2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Times New Roman"/>
                <a:cs typeface="Times New Roman"/>
              </a:rPr>
              <a:t>Model.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89594" y="5914554"/>
            <a:ext cx="1548130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340" dirty="0">
                <a:latin typeface="Times New Roman"/>
                <a:cs typeface="Times New Roman"/>
              </a:rPr>
              <a:t>Figure</a:t>
            </a:r>
            <a:r>
              <a:rPr sz="1750" b="1" spc="170" dirty="0">
                <a:latin typeface="Times New Roman"/>
                <a:cs typeface="Times New Roman"/>
              </a:rPr>
              <a:t> </a:t>
            </a:r>
            <a:r>
              <a:rPr sz="1750" b="1" spc="290" dirty="0">
                <a:latin typeface="Times New Roman"/>
                <a:cs typeface="Times New Roman"/>
              </a:rPr>
              <a:t>1.13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2123" y="5914554"/>
            <a:ext cx="2891155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405" dirty="0">
                <a:latin typeface="Times New Roman"/>
                <a:cs typeface="Times New Roman"/>
              </a:rPr>
              <a:t>PDP-</a:t>
            </a:r>
            <a:r>
              <a:rPr sz="1750" b="1" spc="365" dirty="0">
                <a:latin typeface="Times New Roman"/>
                <a:cs typeface="Times New Roman"/>
              </a:rPr>
              <a:t>8</a:t>
            </a:r>
            <a:r>
              <a:rPr sz="1750" b="1" spc="175" dirty="0">
                <a:latin typeface="Times New Roman"/>
                <a:cs typeface="Times New Roman"/>
              </a:rPr>
              <a:t> </a:t>
            </a:r>
            <a:r>
              <a:rPr sz="1750" b="1" spc="395" dirty="0">
                <a:latin typeface="Times New Roman"/>
                <a:cs typeface="Times New Roman"/>
              </a:rPr>
              <a:t>Bus</a:t>
            </a:r>
            <a:r>
              <a:rPr sz="1750" b="1" spc="175" dirty="0">
                <a:latin typeface="Times New Roman"/>
                <a:cs typeface="Times New Roman"/>
              </a:rPr>
              <a:t> </a:t>
            </a:r>
            <a:r>
              <a:rPr sz="1750" b="1" spc="340" dirty="0">
                <a:latin typeface="Times New Roman"/>
                <a:cs typeface="Times New Roman"/>
              </a:rPr>
              <a:t>Structure</a:t>
            </a:r>
            <a:endParaRPr sz="175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75693" y="3844852"/>
          <a:ext cx="8369926" cy="1092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120"/>
                <a:gridCol w="432434"/>
                <a:gridCol w="326389"/>
                <a:gridCol w="423544"/>
                <a:gridCol w="494030"/>
                <a:gridCol w="422909"/>
                <a:gridCol w="317500"/>
                <a:gridCol w="441960"/>
                <a:gridCol w="493395"/>
                <a:gridCol w="415289"/>
                <a:gridCol w="290829"/>
                <a:gridCol w="476885"/>
                <a:gridCol w="459104"/>
                <a:gridCol w="415925"/>
                <a:gridCol w="248285"/>
                <a:gridCol w="520700"/>
                <a:gridCol w="467359"/>
                <a:gridCol w="372109"/>
                <a:gridCol w="291465"/>
                <a:gridCol w="520700"/>
                <a:gridCol w="213995"/>
              </a:tblGrid>
              <a:tr h="474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96520" marR="190500" indent="83820">
                        <a:lnSpc>
                          <a:spcPct val="102499"/>
                        </a:lnSpc>
                        <a:spcBef>
                          <a:spcPts val="185"/>
                        </a:spcBef>
                      </a:pPr>
                      <a:r>
                        <a:rPr sz="1150" b="1" spc="229" dirty="0">
                          <a:latin typeface="Times New Roman"/>
                          <a:cs typeface="Times New Roman"/>
                        </a:rPr>
                        <a:t>Console </a:t>
                      </a:r>
                      <a:r>
                        <a:rPr sz="1150" b="1" spc="195" dirty="0">
                          <a:latin typeface="Times New Roman"/>
                          <a:cs typeface="Times New Roman"/>
                        </a:rPr>
                        <a:t>controller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B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150" b="1" spc="320" dirty="0">
                          <a:latin typeface="Times New Roman"/>
                          <a:cs typeface="Times New Roman"/>
                        </a:rPr>
                        <a:t>CPU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B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198120" marR="226695" indent="133985">
                        <a:lnSpc>
                          <a:spcPct val="102499"/>
                        </a:lnSpc>
                        <a:spcBef>
                          <a:spcPts val="185"/>
                        </a:spcBef>
                      </a:pPr>
                      <a:r>
                        <a:rPr sz="1150" b="1" spc="265" dirty="0">
                          <a:latin typeface="Times New Roman"/>
                          <a:cs typeface="Times New Roman"/>
                        </a:rPr>
                        <a:t>Main </a:t>
                      </a:r>
                      <a:r>
                        <a:rPr sz="1150" b="1" spc="285" dirty="0">
                          <a:latin typeface="Times New Roman"/>
                          <a:cs typeface="Times New Roman"/>
                        </a:rPr>
                        <a:t>memory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B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56540" marR="253365" indent="182880">
                        <a:lnSpc>
                          <a:spcPct val="102499"/>
                        </a:lnSpc>
                        <a:spcBef>
                          <a:spcPts val="185"/>
                        </a:spcBef>
                      </a:pPr>
                      <a:r>
                        <a:rPr sz="1150" b="1" spc="210" dirty="0">
                          <a:latin typeface="Times New Roman"/>
                          <a:cs typeface="Times New Roman"/>
                        </a:rPr>
                        <a:t>I/O </a:t>
                      </a:r>
                      <a:r>
                        <a:rPr sz="1150" b="1" spc="250" dirty="0">
                          <a:latin typeface="Times New Roman"/>
                          <a:cs typeface="Times New Roman"/>
                        </a:rPr>
                        <a:t>module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B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194310" marR="314960" indent="182245">
                        <a:lnSpc>
                          <a:spcPct val="102499"/>
                        </a:lnSpc>
                        <a:spcBef>
                          <a:spcPts val="185"/>
                        </a:spcBef>
                      </a:pPr>
                      <a:r>
                        <a:rPr sz="1150" b="1" spc="210" dirty="0">
                          <a:latin typeface="Times New Roman"/>
                          <a:cs typeface="Times New Roman"/>
                        </a:rPr>
                        <a:t>I/O </a:t>
                      </a:r>
                      <a:r>
                        <a:rPr sz="1150" b="1" spc="250" dirty="0">
                          <a:latin typeface="Times New Roman"/>
                          <a:cs typeface="Times New Roman"/>
                        </a:rPr>
                        <a:t>module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AEB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36512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DAD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DAD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DAD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DAD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DADAD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3365">
                <a:tc gridSpan="21">
                  <a:txBody>
                    <a:bodyPr/>
                    <a:lstStyle/>
                    <a:p>
                      <a:pPr marR="14604" algn="ctr">
                        <a:lnSpc>
                          <a:spcPts val="1580"/>
                        </a:lnSpc>
                      </a:pPr>
                      <a:r>
                        <a:rPr sz="1350" b="1" spc="310" dirty="0">
                          <a:latin typeface="Times New Roman"/>
                          <a:cs typeface="Times New Roman"/>
                        </a:rPr>
                        <a:t>Omnibus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ADADA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6964004" y="4076649"/>
            <a:ext cx="53340" cy="38100"/>
          </a:xfrm>
          <a:custGeom>
            <a:avLst/>
            <a:gdLst/>
            <a:ahLst/>
            <a:cxnLst/>
            <a:rect l="l" t="t" r="r" b="b"/>
            <a:pathLst>
              <a:path w="53340" h="38100">
                <a:moveTo>
                  <a:pt x="26781" y="0"/>
                </a:moveTo>
                <a:lnTo>
                  <a:pt x="16501" y="1465"/>
                </a:lnTo>
                <a:lnTo>
                  <a:pt x="7972" y="5458"/>
                </a:lnTo>
                <a:lnTo>
                  <a:pt x="2152" y="11369"/>
                </a:lnTo>
                <a:lnTo>
                  <a:pt x="0" y="18589"/>
                </a:lnTo>
                <a:lnTo>
                  <a:pt x="2152" y="26026"/>
                </a:lnTo>
                <a:lnTo>
                  <a:pt x="7972" y="32048"/>
                </a:lnTo>
                <a:lnTo>
                  <a:pt x="16501" y="36082"/>
                </a:lnTo>
                <a:lnTo>
                  <a:pt x="26781" y="37553"/>
                </a:lnTo>
                <a:lnTo>
                  <a:pt x="36978" y="36082"/>
                </a:lnTo>
                <a:lnTo>
                  <a:pt x="45325" y="32048"/>
                </a:lnTo>
                <a:lnTo>
                  <a:pt x="50963" y="26026"/>
                </a:lnTo>
                <a:lnTo>
                  <a:pt x="53033" y="18589"/>
                </a:lnTo>
                <a:lnTo>
                  <a:pt x="50963" y="11369"/>
                </a:lnTo>
                <a:lnTo>
                  <a:pt x="45325" y="5458"/>
                </a:lnTo>
                <a:lnTo>
                  <a:pt x="36978" y="1465"/>
                </a:lnTo>
                <a:lnTo>
                  <a:pt x="26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91390" y="4076649"/>
            <a:ext cx="53340" cy="38100"/>
          </a:xfrm>
          <a:custGeom>
            <a:avLst/>
            <a:gdLst/>
            <a:ahLst/>
            <a:cxnLst/>
            <a:rect l="l" t="t" r="r" b="b"/>
            <a:pathLst>
              <a:path w="53340" h="38100">
                <a:moveTo>
                  <a:pt x="26252" y="0"/>
                </a:moveTo>
                <a:lnTo>
                  <a:pt x="16055" y="1465"/>
                </a:lnTo>
                <a:lnTo>
                  <a:pt x="7708" y="5458"/>
                </a:lnTo>
                <a:lnTo>
                  <a:pt x="2070" y="11369"/>
                </a:lnTo>
                <a:lnTo>
                  <a:pt x="0" y="18589"/>
                </a:lnTo>
                <a:lnTo>
                  <a:pt x="2070" y="26026"/>
                </a:lnTo>
                <a:lnTo>
                  <a:pt x="7708" y="32048"/>
                </a:lnTo>
                <a:lnTo>
                  <a:pt x="16055" y="36082"/>
                </a:lnTo>
                <a:lnTo>
                  <a:pt x="26252" y="37553"/>
                </a:lnTo>
                <a:lnTo>
                  <a:pt x="36504" y="36082"/>
                </a:lnTo>
                <a:lnTo>
                  <a:pt x="44972" y="32048"/>
                </a:lnTo>
                <a:lnTo>
                  <a:pt x="50731" y="26026"/>
                </a:lnTo>
                <a:lnTo>
                  <a:pt x="52857" y="18589"/>
                </a:lnTo>
                <a:lnTo>
                  <a:pt x="50731" y="11369"/>
                </a:lnTo>
                <a:lnTo>
                  <a:pt x="44972" y="5458"/>
                </a:lnTo>
                <a:lnTo>
                  <a:pt x="36504" y="1465"/>
                </a:lnTo>
                <a:lnTo>
                  <a:pt x="262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18247" y="4076649"/>
            <a:ext cx="53340" cy="38100"/>
          </a:xfrm>
          <a:custGeom>
            <a:avLst/>
            <a:gdLst/>
            <a:ahLst/>
            <a:cxnLst/>
            <a:rect l="l" t="t" r="r" b="b"/>
            <a:pathLst>
              <a:path w="53340" h="38100">
                <a:moveTo>
                  <a:pt x="26604" y="0"/>
                </a:moveTo>
                <a:lnTo>
                  <a:pt x="16204" y="1465"/>
                </a:lnTo>
                <a:lnTo>
                  <a:pt x="7752" y="5458"/>
                </a:lnTo>
                <a:lnTo>
                  <a:pt x="2075" y="11369"/>
                </a:lnTo>
                <a:lnTo>
                  <a:pt x="0" y="18589"/>
                </a:lnTo>
                <a:lnTo>
                  <a:pt x="2075" y="26026"/>
                </a:lnTo>
                <a:lnTo>
                  <a:pt x="7752" y="32048"/>
                </a:lnTo>
                <a:lnTo>
                  <a:pt x="16204" y="36082"/>
                </a:lnTo>
                <a:lnTo>
                  <a:pt x="26604" y="37553"/>
                </a:lnTo>
                <a:lnTo>
                  <a:pt x="36801" y="36082"/>
                </a:lnTo>
                <a:lnTo>
                  <a:pt x="45148" y="32048"/>
                </a:lnTo>
                <a:lnTo>
                  <a:pt x="50787" y="26026"/>
                </a:lnTo>
                <a:lnTo>
                  <a:pt x="52857" y="18589"/>
                </a:lnTo>
                <a:lnTo>
                  <a:pt x="50787" y="11369"/>
                </a:lnTo>
                <a:lnTo>
                  <a:pt x="45148" y="5458"/>
                </a:lnTo>
                <a:lnTo>
                  <a:pt x="36801" y="1465"/>
                </a:lnTo>
                <a:lnTo>
                  <a:pt x="266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55928" y="502411"/>
            <a:ext cx="7211695" cy="257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654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same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year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IBM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shipped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first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System/360,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another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momentous </a:t>
            </a:r>
            <a:r>
              <a:rPr sz="1800" dirty="0">
                <a:latin typeface="Times New Roman"/>
                <a:cs typeface="Times New Roman"/>
              </a:rPr>
              <a:t>first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shipment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occurred: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PDP-</a:t>
            </a:r>
            <a:r>
              <a:rPr sz="1800" dirty="0">
                <a:latin typeface="Times New Roman"/>
                <a:cs typeface="Times New Roman"/>
              </a:rPr>
              <a:t>8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Digital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Equipment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Corporation(DEC).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645"/>
              </a:spcBef>
            </a:pP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average</a:t>
            </a:r>
            <a:r>
              <a:rPr sz="1800" spc="3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required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1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air-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conditioned</a:t>
            </a:r>
            <a:r>
              <a:rPr sz="18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room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the </a:t>
            </a:r>
            <a:r>
              <a:rPr sz="1800" spc="-10" dirty="0">
                <a:latin typeface="Times New Roman"/>
                <a:cs typeface="Times New Roman"/>
              </a:rPr>
              <a:t>PDP-</a:t>
            </a:r>
            <a:r>
              <a:rPr sz="1800" dirty="0">
                <a:latin typeface="Times New Roman"/>
                <a:cs typeface="Times New Roman"/>
              </a:rPr>
              <a:t>8.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(dubbed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minicomputer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industry,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after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miniskirt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day) </a:t>
            </a:r>
            <a:r>
              <a:rPr sz="1800" dirty="0">
                <a:latin typeface="Times New Roman"/>
                <a:cs typeface="Times New Roman"/>
              </a:rPr>
              <a:t>was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small enough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could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placed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 top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lab bench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 be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built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into </a:t>
            </a:r>
            <a:r>
              <a:rPr sz="1800" dirty="0">
                <a:latin typeface="Times New Roman"/>
                <a:cs typeface="Times New Roman"/>
              </a:rPr>
              <a:t>other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equipment.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could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everything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mainframe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could,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at</a:t>
            </a:r>
            <a:endParaRPr sz="1800">
              <a:latin typeface="Times New Roman"/>
              <a:cs typeface="Times New Roman"/>
            </a:endParaRPr>
          </a:p>
          <a:p>
            <a:pPr marL="12700" marR="8509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$16,000,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cheap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enough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each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lab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technician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have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one.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contrast,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System/360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series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mainframe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computers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introduced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just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few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months </a:t>
            </a:r>
            <a:r>
              <a:rPr sz="1800" dirty="0">
                <a:latin typeface="Times New Roman"/>
                <a:cs typeface="Times New Roman"/>
              </a:rPr>
              <a:t>before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cost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hundreds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thousands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dollars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1940" y="228600"/>
            <a:ext cx="4236720" cy="4188460"/>
            <a:chOff x="281940" y="228600"/>
            <a:chExt cx="4236720" cy="4188460"/>
          </a:xfrm>
        </p:grpSpPr>
        <p:sp>
          <p:nvSpPr>
            <p:cNvPr id="3" name="object 3"/>
            <p:cNvSpPr/>
            <p:nvPr/>
          </p:nvSpPr>
          <p:spPr>
            <a:xfrm>
              <a:off x="281940" y="228600"/>
              <a:ext cx="4236720" cy="4188460"/>
            </a:xfrm>
            <a:custGeom>
              <a:avLst/>
              <a:gdLst/>
              <a:ahLst/>
              <a:cxnLst/>
              <a:rect l="l" t="t" r="r" b="b"/>
              <a:pathLst>
                <a:path w="4236720" h="4188460">
                  <a:moveTo>
                    <a:pt x="4236720" y="0"/>
                  </a:moveTo>
                  <a:lnTo>
                    <a:pt x="0" y="0"/>
                  </a:lnTo>
                  <a:lnTo>
                    <a:pt x="0" y="4187952"/>
                  </a:lnTo>
                  <a:lnTo>
                    <a:pt x="4236720" y="4187952"/>
                  </a:lnTo>
                  <a:lnTo>
                    <a:pt x="4236720" y="0"/>
                  </a:lnTo>
                  <a:close/>
                </a:path>
              </a:pathLst>
            </a:custGeom>
            <a:solidFill>
              <a:srgbClr val="66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836" y="1234439"/>
              <a:ext cx="2126741" cy="128244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1668" y="1935479"/>
              <a:ext cx="4053078" cy="128244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81940" y="228600"/>
            <a:ext cx="4236720" cy="4188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875">
              <a:lnSpc>
                <a:spcPts val="5880"/>
              </a:lnSpc>
            </a:pPr>
            <a:r>
              <a:rPr sz="54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5400">
              <a:latin typeface="Times New Roman"/>
              <a:cs typeface="Times New Roman"/>
            </a:endParaRPr>
          </a:p>
          <a:p>
            <a:pPr marL="469265" marR="460375" indent="963294">
              <a:lnSpc>
                <a:spcPct val="100000"/>
              </a:lnSpc>
              <a:spcBef>
                <a:spcPts val="3340"/>
              </a:spcBef>
            </a:pPr>
            <a:r>
              <a:rPr sz="4600" spc="50" dirty="0">
                <a:solidFill>
                  <a:srgbClr val="FFFFFF"/>
                </a:solidFill>
                <a:latin typeface="Cambria"/>
                <a:cs typeface="Cambria"/>
              </a:rPr>
              <a:t>Later </a:t>
            </a:r>
            <a:r>
              <a:rPr sz="4600" spc="170" dirty="0">
                <a:solidFill>
                  <a:srgbClr val="FFFFFF"/>
                </a:solidFill>
                <a:latin typeface="Cambria"/>
                <a:cs typeface="Cambria"/>
              </a:rPr>
              <a:t>Generations</a:t>
            </a:r>
            <a:endParaRPr sz="4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03135" y="228600"/>
            <a:ext cx="2057400" cy="2039620"/>
          </a:xfrm>
          <a:prstGeom prst="rect">
            <a:avLst/>
          </a:prstGeom>
          <a:solidFill>
            <a:srgbClr val="666699"/>
          </a:solidFill>
        </p:spPr>
        <p:txBody>
          <a:bodyPr vert="horz" wrap="square" lIns="0" tIns="339725" rIns="0" bIns="0" rtlCol="0">
            <a:spAutoFit/>
          </a:bodyPr>
          <a:lstStyle/>
          <a:p>
            <a:pPr marL="34290" algn="ctr">
              <a:lnSpc>
                <a:spcPct val="100000"/>
              </a:lnSpc>
              <a:spcBef>
                <a:spcPts val="2675"/>
              </a:spcBef>
            </a:pPr>
            <a:r>
              <a:rPr sz="2400" spc="-25" dirty="0">
                <a:latin typeface="Cambria"/>
                <a:cs typeface="Cambria"/>
              </a:rPr>
              <a:t>LSI</a:t>
            </a:r>
            <a:endParaRPr sz="2400">
              <a:latin typeface="Cambria"/>
              <a:cs typeface="Cambria"/>
            </a:endParaRPr>
          </a:p>
          <a:p>
            <a:pPr marL="402590" marR="361315" algn="ctr">
              <a:lnSpc>
                <a:spcPct val="100000"/>
              </a:lnSpc>
              <a:spcBef>
                <a:spcPts val="15"/>
              </a:spcBef>
            </a:pPr>
            <a:r>
              <a:rPr sz="2000" spc="65" dirty="0">
                <a:latin typeface="Cambria"/>
                <a:cs typeface="Cambria"/>
              </a:rPr>
              <a:t>Large </a:t>
            </a:r>
            <a:r>
              <a:rPr sz="2000" spc="90" dirty="0">
                <a:latin typeface="Cambria"/>
                <a:cs typeface="Cambria"/>
              </a:rPr>
              <a:t>Scale </a:t>
            </a:r>
            <a:r>
              <a:rPr sz="2000" spc="-10" dirty="0">
                <a:latin typeface="Cambria"/>
                <a:cs typeface="Cambria"/>
              </a:rPr>
              <a:t>Integration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23815" y="2377439"/>
            <a:ext cx="2057400" cy="2039620"/>
          </a:xfrm>
          <a:prstGeom prst="rect">
            <a:avLst/>
          </a:prstGeom>
          <a:solidFill>
            <a:srgbClr val="999966"/>
          </a:solidFill>
        </p:spPr>
        <p:txBody>
          <a:bodyPr vert="horz" wrap="square" lIns="0" tIns="325120" rIns="0" bIns="0" rtlCol="0">
            <a:spAutoFit/>
          </a:bodyPr>
          <a:lstStyle/>
          <a:p>
            <a:pPr marR="17780" algn="ctr">
              <a:lnSpc>
                <a:spcPct val="100000"/>
              </a:lnSpc>
              <a:spcBef>
                <a:spcPts val="2560"/>
              </a:spcBef>
            </a:pPr>
            <a:r>
              <a:rPr sz="2400" spc="35" dirty="0">
                <a:latin typeface="Cambria"/>
                <a:cs typeface="Cambria"/>
              </a:rPr>
              <a:t>VLSI</a:t>
            </a:r>
            <a:endParaRPr sz="2400">
              <a:latin typeface="Cambria"/>
              <a:cs typeface="Cambria"/>
            </a:endParaRPr>
          </a:p>
          <a:p>
            <a:pPr marL="371475" marR="393065" indent="1905" algn="ctr">
              <a:lnSpc>
                <a:spcPct val="100000"/>
              </a:lnSpc>
              <a:spcBef>
                <a:spcPts val="20"/>
              </a:spcBef>
            </a:pPr>
            <a:r>
              <a:rPr sz="2000" spc="75" dirty="0">
                <a:latin typeface="Cambria"/>
                <a:cs typeface="Cambria"/>
              </a:rPr>
              <a:t>Very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Large </a:t>
            </a:r>
            <a:r>
              <a:rPr sz="2000" spc="90" dirty="0">
                <a:latin typeface="Cambria"/>
                <a:cs typeface="Cambria"/>
              </a:rPr>
              <a:t>Scale </a:t>
            </a:r>
            <a:r>
              <a:rPr sz="2000" spc="-10" dirty="0">
                <a:latin typeface="Cambria"/>
                <a:cs typeface="Cambria"/>
              </a:rPr>
              <a:t>Integration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1800" y="4495800"/>
            <a:ext cx="2133600" cy="2133600"/>
          </a:xfrm>
          <a:prstGeom prst="rect">
            <a:avLst/>
          </a:prstGeom>
          <a:solidFill>
            <a:srgbClr val="660066">
              <a:alpha val="79998"/>
            </a:srgbClr>
          </a:solidFill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spc="-20" dirty="0">
                <a:latin typeface="Cambria"/>
                <a:cs typeface="Cambria"/>
              </a:rPr>
              <a:t>ULSI</a:t>
            </a:r>
            <a:endParaRPr sz="2400">
              <a:latin typeface="Cambria"/>
              <a:cs typeface="Cambria"/>
            </a:endParaRPr>
          </a:p>
          <a:p>
            <a:pPr marL="423545" marR="414020" algn="ctr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Cambria"/>
                <a:cs typeface="Cambria"/>
              </a:rPr>
              <a:t>Ultra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Large </a:t>
            </a:r>
            <a:r>
              <a:rPr sz="2000" spc="90" dirty="0">
                <a:latin typeface="Cambria"/>
                <a:cs typeface="Cambria"/>
              </a:rPr>
              <a:t>Scale </a:t>
            </a:r>
            <a:r>
              <a:rPr sz="2000" spc="-10" dirty="0">
                <a:latin typeface="Cambria"/>
                <a:cs typeface="Cambria"/>
              </a:rPr>
              <a:t>Integration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4441" y="5128717"/>
            <a:ext cx="353504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1815" marR="5080" indent="-539750">
              <a:lnSpc>
                <a:spcPct val="100000"/>
              </a:lnSpc>
              <a:spcBef>
                <a:spcPts val="95"/>
              </a:spcBef>
            </a:pPr>
            <a:r>
              <a:rPr sz="2500" spc="80" dirty="0">
                <a:solidFill>
                  <a:srgbClr val="2B132C"/>
                </a:solidFill>
                <a:latin typeface="Cambria"/>
                <a:cs typeface="Cambria"/>
              </a:rPr>
              <a:t>Semiconductor</a:t>
            </a:r>
            <a:r>
              <a:rPr sz="2500" spc="120" dirty="0">
                <a:solidFill>
                  <a:srgbClr val="2B132C"/>
                </a:solidFill>
                <a:latin typeface="Cambria"/>
                <a:cs typeface="Cambria"/>
              </a:rPr>
              <a:t> </a:t>
            </a:r>
            <a:r>
              <a:rPr sz="2500" spc="100" dirty="0">
                <a:solidFill>
                  <a:srgbClr val="2B132C"/>
                </a:solidFill>
                <a:latin typeface="Cambria"/>
                <a:cs typeface="Cambria"/>
              </a:rPr>
              <a:t>Memory </a:t>
            </a:r>
            <a:r>
              <a:rPr sz="2500" spc="65" dirty="0">
                <a:solidFill>
                  <a:srgbClr val="2B132C"/>
                </a:solidFill>
                <a:latin typeface="Cambria"/>
                <a:cs typeface="Cambria"/>
              </a:rPr>
              <a:t>Microprocessors</a:t>
            </a:r>
            <a:endParaRPr sz="2500">
              <a:latin typeface="Cambria"/>
              <a:cs typeface="Cambr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5177" y="4560190"/>
            <a:ext cx="1398463" cy="1285265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0104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40739" y="133858"/>
            <a:ext cx="5085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>
                <a:solidFill>
                  <a:srgbClr val="666699"/>
                </a:solidFill>
              </a:rPr>
              <a:t>Semiconductor</a:t>
            </a:r>
            <a:r>
              <a:rPr spc="145" dirty="0">
                <a:solidFill>
                  <a:srgbClr val="666699"/>
                </a:solidFill>
              </a:rPr>
              <a:t> </a:t>
            </a:r>
            <a:r>
              <a:rPr spc="155" dirty="0">
                <a:solidFill>
                  <a:srgbClr val="666699"/>
                </a:solidFill>
              </a:rPr>
              <a:t>Memory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05155" y="4972824"/>
            <a:ext cx="8737600" cy="1464945"/>
            <a:chOff x="105155" y="4972824"/>
            <a:chExt cx="8737600" cy="14649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155" y="4972824"/>
              <a:ext cx="8737092" cy="14645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539" y="5131308"/>
              <a:ext cx="7162800" cy="5684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163" y="5010912"/>
              <a:ext cx="8612124" cy="133959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70863" y="5210302"/>
            <a:ext cx="68084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70" dirty="0">
                <a:solidFill>
                  <a:srgbClr val="FFFFFF"/>
                </a:solidFill>
                <a:latin typeface="Cambria"/>
                <a:cs typeface="Cambria"/>
              </a:rPr>
              <a:t>Since</a:t>
            </a:r>
            <a:r>
              <a:rPr sz="17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1970</a:t>
            </a:r>
            <a:r>
              <a:rPr sz="1700" spc="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FFFFFF"/>
                </a:solidFill>
                <a:latin typeface="Cambria"/>
                <a:cs typeface="Cambria"/>
              </a:rPr>
              <a:t>semiconductor</a:t>
            </a:r>
            <a:r>
              <a:rPr sz="17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FFFFFF"/>
                </a:solidFill>
                <a:latin typeface="Cambria"/>
                <a:cs typeface="Cambria"/>
              </a:rPr>
              <a:t>memory</a:t>
            </a:r>
            <a:r>
              <a:rPr sz="17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has</a:t>
            </a:r>
            <a:r>
              <a:rPr sz="17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FFFFFF"/>
                </a:solidFill>
                <a:latin typeface="Cambria"/>
                <a:cs typeface="Cambria"/>
              </a:rPr>
              <a:t>been</a:t>
            </a:r>
            <a:r>
              <a:rPr sz="1700" spc="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through</a:t>
            </a:r>
            <a:r>
              <a:rPr sz="17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17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FFFFFF"/>
                </a:solidFill>
                <a:latin typeface="Cambria"/>
                <a:cs typeface="Cambria"/>
              </a:rPr>
              <a:t>generations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687" y="5707379"/>
            <a:ext cx="8610600" cy="614680"/>
          </a:xfrm>
          <a:prstGeom prst="rect">
            <a:avLst/>
          </a:prstGeom>
          <a:solidFill>
            <a:srgbClr val="D2CDD2">
              <a:alpha val="90194"/>
            </a:srgbClr>
          </a:solidFill>
          <a:ln w="12192">
            <a:solidFill>
              <a:srgbClr val="666699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 marL="2220595" marR="158115" indent="-2058035">
              <a:lnSpc>
                <a:spcPts val="1480"/>
              </a:lnSpc>
              <a:spcBef>
                <a:spcPts val="930"/>
              </a:spcBef>
            </a:pPr>
            <a:r>
              <a:rPr sz="1400" spc="60" dirty="0">
                <a:latin typeface="Cambria"/>
                <a:cs typeface="Cambria"/>
              </a:rPr>
              <a:t>Each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generation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has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provided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four</a:t>
            </a:r>
            <a:r>
              <a:rPr sz="1400" spc="10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times</a:t>
            </a:r>
            <a:r>
              <a:rPr sz="1400" spc="100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the</a:t>
            </a:r>
            <a:r>
              <a:rPr sz="1400" spc="100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storage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density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of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the</a:t>
            </a:r>
            <a:r>
              <a:rPr sz="1400" spc="10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previous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generation,</a:t>
            </a:r>
            <a:r>
              <a:rPr sz="1400" spc="-5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accompanied </a:t>
            </a:r>
            <a:r>
              <a:rPr sz="1400" spc="80" dirty="0">
                <a:latin typeface="Cambria"/>
                <a:cs typeface="Cambria"/>
              </a:rPr>
              <a:t>by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65" dirty="0">
                <a:latin typeface="Cambria"/>
                <a:cs typeface="Cambria"/>
              </a:rPr>
              <a:t>declining </a:t>
            </a:r>
            <a:r>
              <a:rPr sz="1400" dirty="0">
                <a:latin typeface="Cambria"/>
                <a:cs typeface="Cambria"/>
              </a:rPr>
              <a:t>cost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70" dirty="0">
                <a:latin typeface="Cambria"/>
                <a:cs typeface="Cambria"/>
              </a:rPr>
              <a:t>per </a:t>
            </a:r>
            <a:r>
              <a:rPr sz="1400" dirty="0">
                <a:latin typeface="Cambria"/>
                <a:cs typeface="Cambria"/>
              </a:rPr>
              <a:t>bit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and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spc="65" dirty="0">
                <a:latin typeface="Cambria"/>
                <a:cs typeface="Cambria"/>
              </a:rPr>
              <a:t>declining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access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time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0584" y="2932176"/>
            <a:ext cx="8770620" cy="2192020"/>
            <a:chOff x="100584" y="2932176"/>
            <a:chExt cx="8770620" cy="219202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584" y="2932176"/>
              <a:ext cx="8746236" cy="21915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016" y="2979407"/>
              <a:ext cx="8743188" cy="79858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9164" y="2974848"/>
              <a:ext cx="8612124" cy="20574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0688" y="2976372"/>
              <a:ext cx="8610600" cy="2056130"/>
            </a:xfrm>
            <a:custGeom>
              <a:avLst/>
              <a:gdLst/>
              <a:ahLst/>
              <a:cxnLst/>
              <a:rect l="l" t="t" r="r" b="b"/>
              <a:pathLst>
                <a:path w="8610600" h="2056129">
                  <a:moveTo>
                    <a:pt x="8610600" y="1335785"/>
                  </a:moveTo>
                  <a:lnTo>
                    <a:pt x="4562221" y="1335785"/>
                  </a:lnTo>
                  <a:lnTo>
                    <a:pt x="4562221" y="1541907"/>
                  </a:lnTo>
                  <a:lnTo>
                    <a:pt x="4819269" y="1541907"/>
                  </a:lnTo>
                  <a:lnTo>
                    <a:pt x="4305300" y="2055876"/>
                  </a:lnTo>
                  <a:lnTo>
                    <a:pt x="3791331" y="1541907"/>
                  </a:lnTo>
                  <a:lnTo>
                    <a:pt x="4048379" y="1541907"/>
                  </a:lnTo>
                  <a:lnTo>
                    <a:pt x="4048379" y="1335785"/>
                  </a:lnTo>
                  <a:lnTo>
                    <a:pt x="0" y="1335785"/>
                  </a:lnTo>
                  <a:lnTo>
                    <a:pt x="0" y="0"/>
                  </a:lnTo>
                  <a:lnTo>
                    <a:pt x="8610600" y="0"/>
                  </a:lnTo>
                  <a:lnTo>
                    <a:pt x="8610600" y="1335785"/>
                  </a:lnTo>
                  <a:close/>
                </a:path>
              </a:pathLst>
            </a:custGeom>
            <a:ln w="9144">
              <a:solidFill>
                <a:srgbClr val="8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7340" y="3059049"/>
            <a:ext cx="8334375" cy="51371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382645" marR="5080" indent="-3370579">
              <a:lnSpc>
                <a:spcPts val="1800"/>
              </a:lnSpc>
              <a:spcBef>
                <a:spcPts val="365"/>
              </a:spcBef>
            </a:pP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17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1974</a:t>
            </a:r>
            <a:r>
              <a:rPr sz="17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17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FFFFFF"/>
                </a:solidFill>
                <a:latin typeface="Cambria"/>
                <a:cs typeface="Cambria"/>
              </a:rPr>
              <a:t>price</a:t>
            </a:r>
            <a:r>
              <a:rPr sz="17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FFFFFF"/>
                </a:solidFill>
                <a:latin typeface="Cambria"/>
                <a:cs typeface="Cambria"/>
              </a:rPr>
              <a:t>per</a:t>
            </a:r>
            <a:r>
              <a:rPr sz="17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sz="17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17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FFFFFF"/>
                </a:solidFill>
                <a:latin typeface="Cambria"/>
                <a:cs typeface="Cambria"/>
              </a:rPr>
              <a:t>semiconductor</a:t>
            </a:r>
            <a:r>
              <a:rPr sz="1700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FFFFFF"/>
                </a:solidFill>
                <a:latin typeface="Cambria"/>
                <a:cs typeface="Cambria"/>
              </a:rPr>
              <a:t>memory </a:t>
            </a:r>
            <a:r>
              <a:rPr sz="1700" spc="85" dirty="0">
                <a:solidFill>
                  <a:srgbClr val="FFFFFF"/>
                </a:solidFill>
                <a:latin typeface="Cambria"/>
                <a:cs typeface="Cambria"/>
              </a:rPr>
              <a:t>dropped</a:t>
            </a:r>
            <a:r>
              <a:rPr sz="17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FFFFFF"/>
                </a:solidFill>
                <a:latin typeface="Cambria"/>
                <a:cs typeface="Cambria"/>
              </a:rPr>
              <a:t>below</a:t>
            </a:r>
            <a:r>
              <a:rPr sz="1700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17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FFFFFF"/>
                </a:solidFill>
                <a:latin typeface="Cambria"/>
                <a:cs typeface="Cambria"/>
              </a:rPr>
              <a:t>price</a:t>
            </a:r>
            <a:r>
              <a:rPr sz="1700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FFFFFF"/>
                </a:solidFill>
                <a:latin typeface="Cambria"/>
                <a:cs typeface="Cambria"/>
              </a:rPr>
              <a:t>per</a:t>
            </a:r>
            <a:r>
              <a:rPr sz="17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mbria"/>
                <a:cs typeface="Cambria"/>
              </a:rPr>
              <a:t>bit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17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FFFFFF"/>
                </a:solidFill>
                <a:latin typeface="Cambria"/>
                <a:cs typeface="Cambria"/>
              </a:rPr>
              <a:t>core</a:t>
            </a:r>
            <a:r>
              <a:rPr sz="17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FFFFFF"/>
                </a:solidFill>
                <a:latin typeface="Cambria"/>
                <a:cs typeface="Cambria"/>
              </a:rPr>
              <a:t>memory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0687" y="3697223"/>
            <a:ext cx="8610600" cy="615950"/>
            <a:chOff x="170687" y="3697223"/>
            <a:chExt cx="8610600" cy="615950"/>
          </a:xfrm>
        </p:grpSpPr>
        <p:sp>
          <p:nvSpPr>
            <p:cNvPr id="17" name="object 17"/>
            <p:cNvSpPr/>
            <p:nvPr/>
          </p:nvSpPr>
          <p:spPr>
            <a:xfrm>
              <a:off x="170687" y="3697223"/>
              <a:ext cx="4305300" cy="615950"/>
            </a:xfrm>
            <a:custGeom>
              <a:avLst/>
              <a:gdLst/>
              <a:ahLst/>
              <a:cxnLst/>
              <a:rect l="l" t="t" r="r" b="b"/>
              <a:pathLst>
                <a:path w="4305300" h="615950">
                  <a:moveTo>
                    <a:pt x="4305300" y="0"/>
                  </a:moveTo>
                  <a:lnTo>
                    <a:pt x="0" y="0"/>
                  </a:lnTo>
                  <a:lnTo>
                    <a:pt x="0" y="615695"/>
                  </a:lnTo>
                  <a:lnTo>
                    <a:pt x="4305300" y="615695"/>
                  </a:lnTo>
                  <a:lnTo>
                    <a:pt x="4305300" y="0"/>
                  </a:lnTo>
                  <a:close/>
                </a:path>
              </a:pathLst>
            </a:custGeom>
            <a:solidFill>
              <a:srgbClr val="D2CD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75987" y="3697223"/>
              <a:ext cx="4305300" cy="615950"/>
            </a:xfrm>
            <a:custGeom>
              <a:avLst/>
              <a:gdLst/>
              <a:ahLst/>
              <a:cxnLst/>
              <a:rect l="l" t="t" r="r" b="b"/>
              <a:pathLst>
                <a:path w="4305300" h="615950">
                  <a:moveTo>
                    <a:pt x="4305300" y="0"/>
                  </a:moveTo>
                  <a:lnTo>
                    <a:pt x="0" y="0"/>
                  </a:lnTo>
                  <a:lnTo>
                    <a:pt x="0" y="615695"/>
                  </a:lnTo>
                  <a:lnTo>
                    <a:pt x="4305300" y="615695"/>
                  </a:lnTo>
                  <a:lnTo>
                    <a:pt x="4305300" y="0"/>
                  </a:lnTo>
                  <a:close/>
                </a:path>
              </a:pathLst>
            </a:custGeom>
            <a:solidFill>
              <a:srgbClr val="D2CD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164592" y="3691128"/>
          <a:ext cx="8610600" cy="615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5300"/>
                <a:gridCol w="4305300"/>
              </a:tblGrid>
              <a:tr h="615315">
                <a:tc>
                  <a:txBody>
                    <a:bodyPr/>
                    <a:lstStyle/>
                    <a:p>
                      <a:pPr marL="149225" marR="142875" algn="ctr">
                        <a:lnSpc>
                          <a:spcPts val="1480"/>
                        </a:lnSpc>
                        <a:spcBef>
                          <a:spcPts val="190"/>
                        </a:spcBef>
                      </a:pPr>
                      <a:r>
                        <a:rPr sz="1400" spc="10" dirty="0">
                          <a:latin typeface="Cambria"/>
                          <a:cs typeface="Cambria"/>
                        </a:rPr>
                        <a:t>There</a:t>
                      </a:r>
                      <a:r>
                        <a:rPr sz="14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10" dirty="0">
                          <a:latin typeface="Cambria"/>
                          <a:cs typeface="Cambria"/>
                        </a:rPr>
                        <a:t>has</a:t>
                      </a:r>
                      <a:r>
                        <a:rPr sz="14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90" dirty="0">
                          <a:latin typeface="Cambria"/>
                          <a:cs typeface="Cambria"/>
                        </a:rPr>
                        <a:t>been</a:t>
                      </a:r>
                      <a:r>
                        <a:rPr sz="14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5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4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10" dirty="0">
                          <a:latin typeface="Cambria"/>
                          <a:cs typeface="Cambria"/>
                        </a:rPr>
                        <a:t>continuing</a:t>
                      </a:r>
                      <a:r>
                        <a:rPr sz="14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5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14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10" dirty="0">
                          <a:latin typeface="Cambria"/>
                          <a:cs typeface="Cambria"/>
                        </a:rPr>
                        <a:t>rapid</a:t>
                      </a:r>
                      <a:r>
                        <a:rPr sz="14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65" dirty="0">
                          <a:latin typeface="Cambria"/>
                          <a:cs typeface="Cambria"/>
                        </a:rPr>
                        <a:t>decline</a:t>
                      </a:r>
                      <a:r>
                        <a:rPr sz="14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-25" dirty="0">
                          <a:latin typeface="Cambria"/>
                          <a:cs typeface="Cambria"/>
                        </a:rPr>
                        <a:t>in </a:t>
                      </a:r>
                      <a:r>
                        <a:rPr sz="1400" spc="60" dirty="0">
                          <a:latin typeface="Cambria"/>
                          <a:cs typeface="Cambria"/>
                        </a:rPr>
                        <a:t>memory </a:t>
                      </a:r>
                      <a:r>
                        <a:rPr sz="1400" dirty="0">
                          <a:latin typeface="Cambria"/>
                          <a:cs typeface="Cambria"/>
                        </a:rPr>
                        <a:t>cost</a:t>
                      </a:r>
                      <a:r>
                        <a:rPr sz="1400" spc="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70" dirty="0">
                          <a:latin typeface="Cambria"/>
                          <a:cs typeface="Cambria"/>
                        </a:rPr>
                        <a:t>accompanied</a:t>
                      </a:r>
                      <a:r>
                        <a:rPr sz="1400" spc="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80" dirty="0">
                          <a:latin typeface="Cambria"/>
                          <a:cs typeface="Cambria"/>
                        </a:rPr>
                        <a:t>by </a:t>
                      </a:r>
                      <a:r>
                        <a:rPr sz="1400" spc="5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4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50" dirty="0">
                          <a:latin typeface="Cambria"/>
                          <a:cs typeface="Cambria"/>
                        </a:rPr>
                        <a:t>corresponding </a:t>
                      </a:r>
                      <a:r>
                        <a:rPr sz="1400" spc="45" dirty="0">
                          <a:latin typeface="Cambria"/>
                          <a:cs typeface="Cambria"/>
                        </a:rPr>
                        <a:t>increase</a:t>
                      </a:r>
                      <a:r>
                        <a:rPr sz="1400" spc="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1400" spc="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55" dirty="0">
                          <a:latin typeface="Cambria"/>
                          <a:cs typeface="Cambria"/>
                        </a:rPr>
                        <a:t>physical</a:t>
                      </a:r>
                      <a:r>
                        <a:rPr sz="1400" spc="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60" dirty="0">
                          <a:latin typeface="Cambria"/>
                          <a:cs typeface="Cambria"/>
                        </a:rPr>
                        <a:t>memory</a:t>
                      </a:r>
                      <a:r>
                        <a:rPr sz="14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-10" dirty="0">
                          <a:latin typeface="Cambria"/>
                          <a:cs typeface="Cambria"/>
                        </a:rPr>
                        <a:t>density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666699"/>
                      </a:solidFill>
                      <a:prstDash val="solid"/>
                    </a:lnL>
                    <a:lnR w="12700">
                      <a:solidFill>
                        <a:srgbClr val="666699"/>
                      </a:solidFill>
                      <a:prstDash val="solid"/>
                    </a:lnR>
                    <a:lnT w="12700">
                      <a:solidFill>
                        <a:srgbClr val="666699"/>
                      </a:solidFill>
                      <a:prstDash val="solid"/>
                    </a:lnT>
                    <a:lnB w="12700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 marR="153035" indent="-635" algn="ctr">
                        <a:lnSpc>
                          <a:spcPts val="1480"/>
                        </a:lnSpc>
                        <a:spcBef>
                          <a:spcPts val="190"/>
                        </a:spcBef>
                      </a:pPr>
                      <a:r>
                        <a:rPr sz="1400" spc="50" dirty="0">
                          <a:latin typeface="Cambria"/>
                          <a:cs typeface="Cambria"/>
                        </a:rPr>
                        <a:t>Developments</a:t>
                      </a:r>
                      <a:r>
                        <a:rPr sz="1400" spc="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1400" spc="60" dirty="0">
                          <a:latin typeface="Cambria"/>
                          <a:cs typeface="Cambria"/>
                        </a:rPr>
                        <a:t> memory</a:t>
                      </a:r>
                      <a:r>
                        <a:rPr sz="14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50" dirty="0">
                          <a:latin typeface="Cambria"/>
                          <a:cs typeface="Cambria"/>
                        </a:rPr>
                        <a:t>and </a:t>
                      </a:r>
                      <a:r>
                        <a:rPr sz="1400" spc="45" dirty="0">
                          <a:latin typeface="Cambria"/>
                          <a:cs typeface="Cambria"/>
                        </a:rPr>
                        <a:t>processor </a:t>
                      </a:r>
                      <a:r>
                        <a:rPr sz="1400" spc="60" dirty="0">
                          <a:latin typeface="Cambria"/>
                          <a:cs typeface="Cambria"/>
                        </a:rPr>
                        <a:t>technologies</a:t>
                      </a:r>
                      <a:r>
                        <a:rPr sz="14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80" dirty="0">
                          <a:latin typeface="Cambria"/>
                          <a:cs typeface="Cambria"/>
                        </a:rPr>
                        <a:t>changed</a:t>
                      </a:r>
                      <a:r>
                        <a:rPr sz="14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1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4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10" dirty="0">
                          <a:latin typeface="Cambria"/>
                          <a:cs typeface="Cambria"/>
                        </a:rPr>
                        <a:t>nature</a:t>
                      </a:r>
                      <a:r>
                        <a:rPr sz="14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1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4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10" dirty="0">
                          <a:latin typeface="Cambria"/>
                          <a:cs typeface="Cambria"/>
                        </a:rPr>
                        <a:t>computers</a:t>
                      </a:r>
                      <a:r>
                        <a:rPr sz="14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-25" dirty="0">
                          <a:latin typeface="Cambria"/>
                          <a:cs typeface="Cambria"/>
                        </a:rPr>
                        <a:t>in </a:t>
                      </a:r>
                      <a:r>
                        <a:rPr sz="1400" spc="55" dirty="0">
                          <a:latin typeface="Cambria"/>
                          <a:cs typeface="Cambria"/>
                        </a:rPr>
                        <a:t>less</a:t>
                      </a:r>
                      <a:r>
                        <a:rPr sz="1400" spc="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Cambria"/>
                          <a:cs typeface="Cambria"/>
                        </a:rPr>
                        <a:t>than</a:t>
                      </a:r>
                      <a:r>
                        <a:rPr sz="14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5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4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85" dirty="0">
                          <a:latin typeface="Cambria"/>
                          <a:cs typeface="Cambria"/>
                        </a:rPr>
                        <a:t>decade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666699"/>
                      </a:solidFill>
                      <a:prstDash val="solid"/>
                    </a:lnL>
                    <a:lnR w="12700">
                      <a:solidFill>
                        <a:srgbClr val="666699"/>
                      </a:solidFill>
                      <a:prstDash val="solid"/>
                    </a:lnR>
                    <a:lnT w="12700">
                      <a:solidFill>
                        <a:srgbClr val="666699"/>
                      </a:solidFill>
                      <a:prstDash val="solid"/>
                    </a:lnT>
                    <a:lnB w="12700">
                      <a:solidFill>
                        <a:srgbClr val="6666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0" name="object 20"/>
          <p:cNvGrpSpPr/>
          <p:nvPr/>
        </p:nvGrpSpPr>
        <p:grpSpPr>
          <a:xfrm>
            <a:off x="100584" y="896111"/>
            <a:ext cx="8746490" cy="2192020"/>
            <a:chOff x="100584" y="896111"/>
            <a:chExt cx="8746490" cy="219202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584" y="896111"/>
              <a:ext cx="8746236" cy="219151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9164" y="938783"/>
              <a:ext cx="8612124" cy="20574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70688" y="940307"/>
              <a:ext cx="8610600" cy="2056130"/>
            </a:xfrm>
            <a:custGeom>
              <a:avLst/>
              <a:gdLst/>
              <a:ahLst/>
              <a:cxnLst/>
              <a:rect l="l" t="t" r="r" b="b"/>
              <a:pathLst>
                <a:path w="8610600" h="2056130">
                  <a:moveTo>
                    <a:pt x="8610600" y="1335786"/>
                  </a:moveTo>
                  <a:lnTo>
                    <a:pt x="4562221" y="1335786"/>
                  </a:lnTo>
                  <a:lnTo>
                    <a:pt x="4562221" y="1541906"/>
                  </a:lnTo>
                  <a:lnTo>
                    <a:pt x="4819269" y="1541906"/>
                  </a:lnTo>
                  <a:lnTo>
                    <a:pt x="4305300" y="2055876"/>
                  </a:lnTo>
                  <a:lnTo>
                    <a:pt x="3791331" y="1541906"/>
                  </a:lnTo>
                  <a:lnTo>
                    <a:pt x="4048379" y="1541906"/>
                  </a:lnTo>
                  <a:lnTo>
                    <a:pt x="4048379" y="1335786"/>
                  </a:lnTo>
                  <a:lnTo>
                    <a:pt x="0" y="1335786"/>
                  </a:lnTo>
                  <a:lnTo>
                    <a:pt x="0" y="0"/>
                  </a:lnTo>
                  <a:lnTo>
                    <a:pt x="8610600" y="0"/>
                  </a:lnTo>
                  <a:lnTo>
                    <a:pt x="8610600" y="1335786"/>
                  </a:lnTo>
                  <a:close/>
                </a:path>
              </a:pathLst>
            </a:custGeom>
            <a:ln w="9144">
              <a:solidFill>
                <a:srgbClr val="8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11555" y="1136650"/>
            <a:ext cx="7925434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17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1970</a:t>
            </a:r>
            <a:r>
              <a:rPr sz="170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Fairchild</a:t>
            </a:r>
            <a:r>
              <a:rPr sz="170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FFFFFF"/>
                </a:solidFill>
                <a:latin typeface="Cambria"/>
                <a:cs typeface="Cambria"/>
              </a:rPr>
              <a:t>produced</a:t>
            </a:r>
            <a:r>
              <a:rPr sz="1700" spc="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1700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first</a:t>
            </a:r>
            <a:r>
              <a:rPr sz="170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relatively</a:t>
            </a:r>
            <a:r>
              <a:rPr sz="17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FFFFFF"/>
                </a:solidFill>
                <a:latin typeface="Cambria"/>
                <a:cs typeface="Cambria"/>
              </a:rPr>
              <a:t>capacious</a:t>
            </a:r>
            <a:r>
              <a:rPr sz="1700" spc="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FFFFFF"/>
                </a:solidFill>
                <a:latin typeface="Cambria"/>
                <a:cs typeface="Cambria"/>
              </a:rPr>
              <a:t>semiconductor</a:t>
            </a:r>
            <a:r>
              <a:rPr sz="1700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FFFFFF"/>
                </a:solidFill>
                <a:latin typeface="Cambria"/>
                <a:cs typeface="Cambria"/>
              </a:rPr>
              <a:t>memory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164592" y="1656588"/>
          <a:ext cx="8610600" cy="614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2015"/>
                <a:gridCol w="2153285"/>
                <a:gridCol w="2152015"/>
                <a:gridCol w="2153285"/>
              </a:tblGrid>
              <a:tr h="614045">
                <a:tc>
                  <a:txBody>
                    <a:bodyPr/>
                    <a:lstStyle/>
                    <a:p>
                      <a:pPr marL="452120" marR="106680" indent="-340360">
                        <a:lnSpc>
                          <a:spcPts val="1480"/>
                        </a:lnSpc>
                        <a:spcBef>
                          <a:spcPts val="919"/>
                        </a:spcBef>
                      </a:pPr>
                      <a:r>
                        <a:rPr sz="1400" spc="100" dirty="0">
                          <a:latin typeface="Cambria"/>
                          <a:cs typeface="Cambria"/>
                        </a:rPr>
                        <a:t>Chip</a:t>
                      </a:r>
                      <a:r>
                        <a:rPr sz="14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Cambria"/>
                          <a:cs typeface="Cambria"/>
                        </a:rPr>
                        <a:t>was</a:t>
                      </a:r>
                      <a:r>
                        <a:rPr sz="14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Cambria"/>
                          <a:cs typeface="Cambria"/>
                        </a:rPr>
                        <a:t>about</a:t>
                      </a:r>
                      <a:r>
                        <a:rPr sz="14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4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-20" dirty="0">
                          <a:latin typeface="Cambria"/>
                          <a:cs typeface="Cambria"/>
                        </a:rPr>
                        <a:t>size </a:t>
                      </a:r>
                      <a:r>
                        <a:rPr sz="14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4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5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4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65" dirty="0">
                          <a:latin typeface="Cambria"/>
                          <a:cs typeface="Cambria"/>
                        </a:rPr>
                        <a:t>single</a:t>
                      </a:r>
                      <a:r>
                        <a:rPr sz="1400" spc="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35" dirty="0">
                          <a:latin typeface="Cambria"/>
                          <a:cs typeface="Cambria"/>
                        </a:rPr>
                        <a:t>core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666699"/>
                      </a:solidFill>
                      <a:prstDash val="solid"/>
                    </a:lnL>
                    <a:lnR w="12700">
                      <a:solidFill>
                        <a:srgbClr val="666699"/>
                      </a:solidFill>
                      <a:prstDash val="solid"/>
                    </a:lnR>
                    <a:lnT w="12700">
                      <a:solidFill>
                        <a:srgbClr val="666699"/>
                      </a:solidFill>
                      <a:prstDash val="solid"/>
                    </a:lnT>
                    <a:lnB w="12700">
                      <a:solidFill>
                        <a:srgbClr val="666699"/>
                      </a:solidFill>
                      <a:prstDash val="solid"/>
                    </a:lnB>
                    <a:solidFill>
                      <a:srgbClr val="D2CDD2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30885" marR="173990" indent="-548640">
                        <a:lnSpc>
                          <a:spcPts val="1480"/>
                        </a:lnSpc>
                        <a:spcBef>
                          <a:spcPts val="919"/>
                        </a:spcBef>
                      </a:pPr>
                      <a:r>
                        <a:rPr sz="1400" spc="95" dirty="0">
                          <a:latin typeface="Cambria"/>
                          <a:cs typeface="Cambria"/>
                        </a:rPr>
                        <a:t>Could</a:t>
                      </a:r>
                      <a:r>
                        <a:rPr sz="1400" spc="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50" dirty="0">
                          <a:latin typeface="Cambria"/>
                          <a:cs typeface="Cambria"/>
                        </a:rPr>
                        <a:t>hold</a:t>
                      </a:r>
                      <a:r>
                        <a:rPr sz="1400" spc="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Cambria"/>
                          <a:cs typeface="Cambria"/>
                        </a:rPr>
                        <a:t>256</a:t>
                      </a:r>
                      <a:r>
                        <a:rPr sz="14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Cambria"/>
                          <a:cs typeface="Cambria"/>
                        </a:rPr>
                        <a:t>bits</a:t>
                      </a:r>
                      <a:r>
                        <a:rPr sz="14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-25" dirty="0">
                          <a:latin typeface="Cambria"/>
                          <a:cs typeface="Cambria"/>
                        </a:rPr>
                        <a:t>of </a:t>
                      </a:r>
                      <a:r>
                        <a:rPr sz="1400" spc="50" dirty="0">
                          <a:latin typeface="Cambria"/>
                          <a:cs typeface="Cambria"/>
                        </a:rPr>
                        <a:t>memory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666699"/>
                      </a:solidFill>
                      <a:prstDash val="solid"/>
                    </a:lnL>
                    <a:lnR w="12700">
                      <a:solidFill>
                        <a:srgbClr val="666699"/>
                      </a:solidFill>
                      <a:prstDash val="solid"/>
                    </a:lnR>
                    <a:lnT w="12700">
                      <a:solidFill>
                        <a:srgbClr val="666699"/>
                      </a:solidFill>
                      <a:prstDash val="solid"/>
                    </a:lnT>
                    <a:lnB w="12700">
                      <a:solidFill>
                        <a:srgbClr val="666699"/>
                      </a:solidFill>
                      <a:prstDash val="solid"/>
                    </a:lnB>
                    <a:solidFill>
                      <a:srgbClr val="D2CDD2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2100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dirty="0">
                          <a:latin typeface="Cambria"/>
                          <a:cs typeface="Cambria"/>
                        </a:rPr>
                        <a:t>Non-</a:t>
                      </a:r>
                      <a:r>
                        <a:rPr sz="1400" spc="-10" dirty="0">
                          <a:latin typeface="Cambria"/>
                          <a:cs typeface="Cambria"/>
                        </a:rPr>
                        <a:t>destructive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666699"/>
                      </a:solidFill>
                      <a:prstDash val="solid"/>
                    </a:lnL>
                    <a:lnR w="12700">
                      <a:solidFill>
                        <a:srgbClr val="666699"/>
                      </a:solidFill>
                      <a:prstDash val="solid"/>
                    </a:lnR>
                    <a:lnT w="12700">
                      <a:solidFill>
                        <a:srgbClr val="666699"/>
                      </a:solidFill>
                      <a:prstDash val="solid"/>
                    </a:lnT>
                    <a:lnB w="12700">
                      <a:solidFill>
                        <a:srgbClr val="666699"/>
                      </a:solidFill>
                      <a:prstDash val="solid"/>
                    </a:lnB>
                    <a:solidFill>
                      <a:srgbClr val="D2CDD2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400" spc="55" dirty="0">
                          <a:latin typeface="Cambria"/>
                          <a:cs typeface="Cambria"/>
                        </a:rPr>
                        <a:t>Much</a:t>
                      </a:r>
                      <a:r>
                        <a:rPr sz="14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Cambria"/>
                          <a:cs typeface="Cambria"/>
                        </a:rPr>
                        <a:t>faster</a:t>
                      </a:r>
                      <a:r>
                        <a:rPr sz="14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dirty="0">
                          <a:latin typeface="Cambria"/>
                          <a:cs typeface="Cambria"/>
                        </a:rPr>
                        <a:t>than</a:t>
                      </a:r>
                      <a:r>
                        <a:rPr sz="14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00" spc="35" dirty="0">
                          <a:latin typeface="Cambria"/>
                          <a:cs typeface="Cambria"/>
                        </a:rPr>
                        <a:t>core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666699"/>
                      </a:solidFill>
                      <a:prstDash val="solid"/>
                    </a:lnL>
                    <a:lnR w="12700">
                      <a:solidFill>
                        <a:srgbClr val="666699"/>
                      </a:solidFill>
                      <a:prstDash val="solid"/>
                    </a:lnR>
                    <a:lnT w="12700">
                      <a:solidFill>
                        <a:srgbClr val="666699"/>
                      </a:solidFill>
                      <a:prstDash val="solid"/>
                    </a:lnT>
                    <a:lnB w="12700">
                      <a:solidFill>
                        <a:srgbClr val="666699"/>
                      </a:solidFill>
                      <a:prstDash val="solid"/>
                    </a:lnB>
                    <a:solidFill>
                      <a:srgbClr val="D2CDD2">
                        <a:alpha val="90194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76" y="382524"/>
            <a:ext cx="4104894" cy="100965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97713" y="502158"/>
            <a:ext cx="4114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79120" algn="l"/>
              </a:tabLst>
            </a:pPr>
            <a:r>
              <a:rPr sz="5400" b="1" spc="-75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	</a:t>
            </a:r>
            <a:r>
              <a:rPr sz="3600" spc="105" dirty="0"/>
              <a:t>Microprocessors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392" y="1385409"/>
            <a:ext cx="7338695" cy="490029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4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6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585858"/>
                </a:solidFill>
                <a:latin typeface="Cambria"/>
                <a:cs typeface="Cambria"/>
              </a:rPr>
              <a:t>density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elements </a:t>
            </a:r>
            <a:r>
              <a:rPr sz="2000" spc="50" dirty="0">
                <a:solidFill>
                  <a:srgbClr val="585858"/>
                </a:solidFill>
                <a:latin typeface="Cambria"/>
                <a:cs typeface="Cambria"/>
              </a:rPr>
              <a:t>on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processor 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chips</a:t>
            </a:r>
            <a:r>
              <a:rPr sz="20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continued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585858"/>
                </a:solidFill>
                <a:latin typeface="Cambria"/>
                <a:cs typeface="Cambria"/>
              </a:rPr>
              <a:t>rise</a:t>
            </a:r>
            <a:endParaRPr sz="2000">
              <a:latin typeface="Cambria"/>
              <a:cs typeface="Cambria"/>
            </a:endParaRPr>
          </a:p>
          <a:p>
            <a:pPr marL="469900" marR="88265" lvl="1" indent="-228600">
              <a:lnSpc>
                <a:spcPts val="1939"/>
              </a:lnSpc>
              <a:spcBef>
                <a:spcPts val="64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More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more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elements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were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placed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on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585858"/>
                </a:solidFill>
                <a:latin typeface="Cambria"/>
                <a:cs typeface="Cambria"/>
              </a:rPr>
              <a:t>each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chip</a:t>
            </a:r>
            <a:r>
              <a:rPr sz="18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so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585858"/>
                </a:solidFill>
                <a:latin typeface="Cambria"/>
                <a:cs typeface="Cambria"/>
              </a:rPr>
              <a:t>fewer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8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fewer</a:t>
            </a:r>
            <a:r>
              <a:rPr sz="18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chips</a:t>
            </a:r>
            <a:r>
              <a:rPr sz="18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were</a:t>
            </a:r>
            <a:r>
              <a:rPr sz="18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14" dirty="0">
                <a:solidFill>
                  <a:srgbClr val="585858"/>
                </a:solidFill>
                <a:latin typeface="Cambria"/>
                <a:cs typeface="Cambria"/>
              </a:rPr>
              <a:t>needed</a:t>
            </a:r>
            <a:r>
              <a:rPr sz="18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8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construct</a:t>
            </a:r>
            <a:r>
              <a:rPr sz="18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8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single</a:t>
            </a:r>
            <a:r>
              <a:rPr sz="18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computer 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processor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7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1971</a:t>
            </a:r>
            <a:r>
              <a:rPr sz="20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Intel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developed</a:t>
            </a:r>
            <a:r>
              <a:rPr sz="20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4004</a:t>
            </a:r>
            <a:endParaRPr sz="2000">
              <a:latin typeface="Cambria"/>
              <a:cs typeface="Cambria"/>
            </a:endParaRPr>
          </a:p>
          <a:p>
            <a:pPr marL="469900" marR="346710" lvl="1" indent="-228600">
              <a:lnSpc>
                <a:spcPts val="1939"/>
              </a:lnSpc>
              <a:spcBef>
                <a:spcPts val="64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First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chip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8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contain</a:t>
            </a:r>
            <a:r>
              <a:rPr sz="18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all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8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components</a:t>
            </a:r>
            <a:r>
              <a:rPr sz="18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8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35" dirty="0">
                <a:solidFill>
                  <a:srgbClr val="585858"/>
                </a:solidFill>
                <a:latin typeface="Cambria"/>
                <a:cs typeface="Cambria"/>
              </a:rPr>
              <a:t>CPU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on</a:t>
            </a:r>
            <a:r>
              <a:rPr sz="18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single 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chip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6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Birth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microprocessor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74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1972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Intel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developed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8008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9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First</a:t>
            </a:r>
            <a:r>
              <a:rPr sz="18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585858"/>
                </a:solidFill>
                <a:latin typeface="Cambria"/>
                <a:cs typeface="Cambria"/>
              </a:rPr>
              <a:t>8-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bit</a:t>
            </a:r>
            <a:r>
              <a:rPr sz="18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microprocessor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75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1974</a:t>
            </a:r>
            <a:r>
              <a:rPr sz="20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Intel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developed</a:t>
            </a:r>
            <a:r>
              <a:rPr sz="20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20" dirty="0">
                <a:solidFill>
                  <a:srgbClr val="585858"/>
                </a:solidFill>
                <a:latin typeface="Cambria"/>
                <a:cs typeface="Cambria"/>
              </a:rPr>
              <a:t>8080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9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First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general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purpose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microprocessor</a:t>
            </a:r>
            <a:endParaRPr sz="1800">
              <a:latin typeface="Cambria"/>
              <a:cs typeface="Cambria"/>
            </a:endParaRPr>
          </a:p>
          <a:p>
            <a:pPr marL="469900" marR="895350" lvl="1" indent="-228600">
              <a:lnSpc>
                <a:spcPts val="1939"/>
              </a:lnSpc>
              <a:spcBef>
                <a:spcPts val="63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Faster,</a:t>
            </a:r>
            <a:r>
              <a:rPr sz="1800" spc="-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has</a:t>
            </a:r>
            <a:r>
              <a:rPr sz="18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8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richer</a:t>
            </a:r>
            <a:r>
              <a:rPr sz="18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instruction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set,</a:t>
            </a:r>
            <a:r>
              <a:rPr sz="1800" spc="-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has</a:t>
            </a:r>
            <a:r>
              <a:rPr sz="18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8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large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 addressing 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capability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0676" y="3808476"/>
            <a:ext cx="2372105" cy="202006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231647"/>
            <a:ext cx="7745730" cy="100965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1205" y="350646"/>
            <a:ext cx="71793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Evolution</a:t>
            </a:r>
            <a:r>
              <a:rPr spc="105" dirty="0"/>
              <a:t> </a:t>
            </a:r>
            <a:r>
              <a:rPr dirty="0"/>
              <a:t>of</a:t>
            </a:r>
            <a:r>
              <a:rPr spc="145" dirty="0"/>
              <a:t> </a:t>
            </a:r>
            <a:r>
              <a:rPr spc="50" dirty="0"/>
              <a:t>Intel</a:t>
            </a:r>
            <a:r>
              <a:rPr spc="120" dirty="0"/>
              <a:t> </a:t>
            </a:r>
            <a:r>
              <a:rPr spc="105" dirty="0"/>
              <a:t>Microprocessors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62782" y="5685231"/>
            <a:ext cx="33616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mbria"/>
                <a:cs typeface="Cambria"/>
              </a:rPr>
              <a:t>(a)</a:t>
            </a:r>
            <a:r>
              <a:rPr sz="2800" spc="3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1970s</a:t>
            </a:r>
            <a:r>
              <a:rPr sz="2800" spc="45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Processors</a:t>
            </a:r>
            <a:endParaRPr sz="2800">
              <a:latin typeface="Cambria"/>
              <a:cs typeface="Cambri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0" y="1771754"/>
          <a:ext cx="9126854" cy="3230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8760"/>
                <a:gridCol w="1164590"/>
                <a:gridCol w="1203325"/>
                <a:gridCol w="1299210"/>
                <a:gridCol w="2158365"/>
                <a:gridCol w="1792604"/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2090"/>
                        </a:lnSpc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4004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90"/>
                        </a:lnSpc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8008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090"/>
                        </a:lnSpc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8080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2090"/>
                        </a:lnSpc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8086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ts val="2090"/>
                        </a:lnSpc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8088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104775">
                        <a:lnSpc>
                          <a:spcPts val="2095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Introduced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2095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1971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95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1972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095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1974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2095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1978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ts val="2095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1979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Clock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speeds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108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kHz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108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kHz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MHz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207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MHz,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MHz,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780" algn="ctr">
                        <a:lnSpc>
                          <a:spcPts val="2135"/>
                        </a:lnSpc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MHz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MHz,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MHz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 marL="104775">
                        <a:lnSpc>
                          <a:spcPts val="209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Bus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width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209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209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ts val="209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209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593090">
                <a:tc>
                  <a:txBody>
                    <a:bodyPr/>
                    <a:lstStyle/>
                    <a:p>
                      <a:pPr marL="104775" marR="399415">
                        <a:lnSpc>
                          <a:spcPts val="212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transistors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2,300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3,500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6,000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29,000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29,000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marL="104775" marR="295275">
                        <a:lnSpc>
                          <a:spcPts val="1960"/>
                        </a:lnSpc>
                        <a:spcBef>
                          <a:spcPts val="17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size (µm)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3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3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3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3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3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marL="104775" marR="262255">
                        <a:lnSpc>
                          <a:spcPts val="2100"/>
                        </a:lnSpc>
                        <a:spcBef>
                          <a:spcPts val="6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Addressable memory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640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Bytes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66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KB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66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KB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66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MB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66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MB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66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231647"/>
            <a:ext cx="7745730" cy="100965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1205" y="350646"/>
            <a:ext cx="71793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Evolution</a:t>
            </a:r>
            <a:r>
              <a:rPr spc="105" dirty="0"/>
              <a:t> </a:t>
            </a:r>
            <a:r>
              <a:rPr dirty="0"/>
              <a:t>of</a:t>
            </a:r>
            <a:r>
              <a:rPr spc="145" dirty="0"/>
              <a:t> </a:t>
            </a:r>
            <a:r>
              <a:rPr spc="50" dirty="0"/>
              <a:t>Intel</a:t>
            </a:r>
            <a:r>
              <a:rPr spc="120" dirty="0"/>
              <a:t> </a:t>
            </a:r>
            <a:r>
              <a:rPr spc="105" dirty="0"/>
              <a:t>Microprocessors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41447" y="5900724"/>
            <a:ext cx="3403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60" dirty="0">
                <a:latin typeface="Cambria"/>
                <a:cs typeface="Cambria"/>
              </a:rPr>
              <a:t>(b)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1980s</a:t>
            </a:r>
            <a:r>
              <a:rPr sz="2800" spc="20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Processors</a:t>
            </a:r>
            <a:endParaRPr sz="2800">
              <a:latin typeface="Cambria"/>
              <a:cs typeface="Cambri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8955" y="1407638"/>
          <a:ext cx="9020173" cy="4099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0335"/>
                <a:gridCol w="1585594"/>
                <a:gridCol w="1585595"/>
                <a:gridCol w="1604009"/>
                <a:gridCol w="1564640"/>
              </a:tblGrid>
              <a:tr h="562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750" b="1" spc="-10" dirty="0">
                          <a:latin typeface="Times New Roman"/>
                          <a:cs typeface="Times New Roman"/>
                        </a:rPr>
                        <a:t>80286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750" b="1" dirty="0">
                          <a:latin typeface="Times New Roman"/>
                          <a:cs typeface="Times New Roman"/>
                        </a:rPr>
                        <a:t>386TM</a:t>
                      </a:r>
                      <a:r>
                        <a:rPr sz="1750" b="1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25" dirty="0">
                          <a:latin typeface="Times New Roman"/>
                          <a:cs typeface="Times New Roman"/>
                        </a:rPr>
                        <a:t>DX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750" b="1" dirty="0">
                          <a:latin typeface="Times New Roman"/>
                          <a:cs typeface="Times New Roman"/>
                        </a:rPr>
                        <a:t>386TM</a:t>
                      </a:r>
                      <a:r>
                        <a:rPr sz="1750" b="1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25" dirty="0">
                          <a:latin typeface="Times New Roman"/>
                          <a:cs typeface="Times New Roman"/>
                        </a:rPr>
                        <a:t>SX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562610" marR="217170" indent="-311785">
                        <a:lnSpc>
                          <a:spcPts val="2090"/>
                        </a:lnSpc>
                        <a:spcBef>
                          <a:spcPts val="5"/>
                        </a:spcBef>
                      </a:pPr>
                      <a:r>
                        <a:rPr sz="1750" b="1" dirty="0">
                          <a:latin typeface="Times New Roman"/>
                          <a:cs typeface="Times New Roman"/>
                        </a:rPr>
                        <a:t>486TM</a:t>
                      </a:r>
                      <a:r>
                        <a:rPr sz="1750" b="1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25" dirty="0">
                          <a:latin typeface="Times New Roman"/>
                          <a:cs typeface="Times New Roman"/>
                        </a:rPr>
                        <a:t>DX CPU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marL="103505">
                        <a:lnSpc>
                          <a:spcPts val="2065"/>
                        </a:lnSpc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Introduced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065"/>
                        </a:lnSpc>
                      </a:pP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1982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065"/>
                        </a:lnSpc>
                      </a:pP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1985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2065"/>
                        </a:lnSpc>
                      </a:pP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1988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ts val="2065"/>
                        </a:lnSpc>
                      </a:pP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1989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Clock</a:t>
                      </a:r>
                      <a:r>
                        <a:rPr sz="17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speeds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989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MHz</a:t>
                      </a:r>
                      <a:r>
                        <a:rPr sz="17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7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12.5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9525" algn="ctr">
                        <a:lnSpc>
                          <a:spcPts val="2014"/>
                        </a:lnSpc>
                      </a:pP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MHz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989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MHz</a:t>
                      </a:r>
                      <a:r>
                        <a:rPr sz="17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7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33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0160" algn="ctr">
                        <a:lnSpc>
                          <a:spcPts val="2014"/>
                        </a:lnSpc>
                      </a:pP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MHz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ts val="1989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sz="17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MHz</a:t>
                      </a:r>
                      <a:r>
                        <a:rPr sz="17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7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33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28575" algn="ctr">
                        <a:lnSpc>
                          <a:spcPts val="2014"/>
                        </a:lnSpc>
                      </a:pP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MHz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989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25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MHz</a:t>
                      </a:r>
                      <a:r>
                        <a:rPr sz="17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7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50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25400" algn="ctr">
                        <a:lnSpc>
                          <a:spcPts val="2014"/>
                        </a:lnSpc>
                      </a:pP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MHz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03505">
                        <a:lnSpc>
                          <a:spcPts val="2070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Bus</a:t>
                      </a:r>
                      <a:r>
                        <a:rPr sz="17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width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2070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16 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2070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32 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2070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16 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ts val="2070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32 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586105">
                <a:tc>
                  <a:txBody>
                    <a:bodyPr/>
                    <a:lstStyle/>
                    <a:p>
                      <a:pPr marL="103505">
                        <a:lnSpc>
                          <a:spcPts val="2065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7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75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transistors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134,000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270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275,000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270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275,000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270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1.2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 million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270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103505">
                        <a:lnSpc>
                          <a:spcPts val="2065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7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7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(µm)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2065"/>
                        </a:lnSpc>
                      </a:pP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1.5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2065"/>
                        </a:lnSpc>
                      </a:pPr>
                      <a:r>
                        <a:rPr sz="17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2065"/>
                        </a:lnSpc>
                      </a:pPr>
                      <a:r>
                        <a:rPr sz="17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501650">
                        <a:lnSpc>
                          <a:spcPts val="2065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0.8</a:t>
                      </a:r>
                      <a:r>
                        <a:rPr sz="17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marL="1463040" marR="88900">
                        <a:lnSpc>
                          <a:spcPts val="2090"/>
                        </a:lnSpc>
                        <a:spcBef>
                          <a:spcPts val="40"/>
                        </a:spcBef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Addressable memory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16 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MB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7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GB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16 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MB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7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GB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567055">
                <a:tc>
                  <a:txBody>
                    <a:bodyPr/>
                    <a:lstStyle/>
                    <a:p>
                      <a:pPr marL="1463040" marR="455930">
                        <a:lnSpc>
                          <a:spcPts val="2090"/>
                        </a:lnSpc>
                        <a:spcBef>
                          <a:spcPts val="40"/>
                        </a:spcBef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Virtual memory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7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GB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64 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TB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64 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TB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64 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TB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marL="1463040">
                        <a:lnSpc>
                          <a:spcPts val="2065"/>
                        </a:lnSpc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Cache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2065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2065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2065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2065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7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kB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231647"/>
            <a:ext cx="7745730" cy="100965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1205" y="350646"/>
            <a:ext cx="71793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Evolution</a:t>
            </a:r>
            <a:r>
              <a:rPr spc="105" dirty="0"/>
              <a:t> </a:t>
            </a:r>
            <a:r>
              <a:rPr dirty="0"/>
              <a:t>of</a:t>
            </a:r>
            <a:r>
              <a:rPr spc="145" dirty="0"/>
              <a:t> </a:t>
            </a:r>
            <a:r>
              <a:rPr spc="50" dirty="0"/>
              <a:t>Intel</a:t>
            </a:r>
            <a:r>
              <a:rPr spc="120" dirty="0"/>
              <a:t> </a:t>
            </a:r>
            <a:r>
              <a:rPr spc="105" dirty="0"/>
              <a:t>Microprocessors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64307" y="5685231"/>
            <a:ext cx="33585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mbria"/>
                <a:cs typeface="Cambria"/>
              </a:rPr>
              <a:t>(c)</a:t>
            </a:r>
            <a:r>
              <a:rPr sz="2800" spc="10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1990s</a:t>
            </a:r>
            <a:r>
              <a:rPr sz="2800" spc="95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Processors</a:t>
            </a:r>
            <a:endParaRPr sz="2800">
              <a:latin typeface="Cambria"/>
              <a:cs typeface="Cambri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0" y="1694518"/>
          <a:ext cx="9128123" cy="3507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4195"/>
                <a:gridCol w="1833880"/>
                <a:gridCol w="1833879"/>
                <a:gridCol w="1833879"/>
                <a:gridCol w="1812290"/>
              </a:tblGrid>
              <a:tr h="260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ts val="189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486TM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SX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ts val="1895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Pentium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9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Pentium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Pro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89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Pentium</a:t>
                      </a:r>
                      <a:r>
                        <a:rPr sz="18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II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86385">
                <a:tc>
                  <a:txBody>
                    <a:bodyPr/>
                    <a:lstStyle/>
                    <a:p>
                      <a:pPr marL="104775">
                        <a:lnSpc>
                          <a:spcPts val="1939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Introduced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1939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1991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939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1993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9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1995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ts val="1939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1997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535305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Clock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speeds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91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MHz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33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8100" algn="ctr">
                        <a:lnSpc>
                          <a:spcPts val="2135"/>
                        </a:lnSpc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MHz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191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60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MHz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166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8100" algn="ctr">
                        <a:lnSpc>
                          <a:spcPts val="2135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MHz,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150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MHz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200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ts val="2135"/>
                        </a:lnSpc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MHz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ts val="191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200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MHz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300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 algn="ctr">
                        <a:lnSpc>
                          <a:spcPts val="2135"/>
                        </a:lnSpc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MHz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104775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Bus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width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32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32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marL="104775">
                        <a:lnSpc>
                          <a:spcPts val="191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4775">
                        <a:lnSpc>
                          <a:spcPts val="2135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transistors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1.185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million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330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3.1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million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1402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5.5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million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7.5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million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marL="104775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(µm)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ts val="1945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1945"/>
                        </a:lnSpc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0.8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45"/>
                        </a:lnSpc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0.6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ts val="1945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0.35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534670">
                <a:tc>
                  <a:txBody>
                    <a:bodyPr/>
                    <a:lstStyle/>
                    <a:p>
                      <a:pPr marL="104775">
                        <a:lnSpc>
                          <a:spcPts val="1914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Addressable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4775">
                        <a:lnSpc>
                          <a:spcPts val="213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memory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GB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GB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GB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GB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marL="104775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Virtual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memory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53467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Cache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kB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kB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512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kB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L1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ts val="213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MB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L2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512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kB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L2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231647"/>
            <a:ext cx="7745730" cy="100965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1205" y="350646"/>
            <a:ext cx="71793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Evolution</a:t>
            </a:r>
            <a:r>
              <a:rPr spc="105" dirty="0"/>
              <a:t> </a:t>
            </a:r>
            <a:r>
              <a:rPr dirty="0"/>
              <a:t>of</a:t>
            </a:r>
            <a:r>
              <a:rPr spc="145" dirty="0"/>
              <a:t> </a:t>
            </a:r>
            <a:r>
              <a:rPr spc="50" dirty="0"/>
              <a:t>Intel</a:t>
            </a:r>
            <a:r>
              <a:rPr spc="120" dirty="0"/>
              <a:t> </a:t>
            </a:r>
            <a:r>
              <a:rPr spc="105" dirty="0"/>
              <a:t>Microprocessors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53054" y="5829096"/>
            <a:ext cx="35820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mbria"/>
                <a:cs typeface="Cambria"/>
              </a:rPr>
              <a:t>(d)</a:t>
            </a:r>
            <a:r>
              <a:rPr sz="2800" spc="135" dirty="0">
                <a:latin typeface="Cambria"/>
                <a:cs typeface="Cambria"/>
              </a:rPr>
              <a:t> </a:t>
            </a:r>
            <a:r>
              <a:rPr sz="2800" spc="90" dirty="0">
                <a:latin typeface="Cambria"/>
                <a:cs typeface="Cambria"/>
              </a:rPr>
              <a:t>Recent</a:t>
            </a:r>
            <a:r>
              <a:rPr sz="2800" spc="140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Processors</a:t>
            </a:r>
            <a:endParaRPr sz="2800">
              <a:latin typeface="Cambria"/>
              <a:cs typeface="Cambri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0" y="1267131"/>
          <a:ext cx="9127487" cy="4315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8495"/>
                <a:gridCol w="1815464"/>
                <a:gridCol w="1795145"/>
                <a:gridCol w="1795779"/>
                <a:gridCol w="1792604"/>
              </a:tblGrid>
              <a:tr h="532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Pentium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III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Pentium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93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Duo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ts val="19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i7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EE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3815" algn="ctr">
                        <a:lnSpc>
                          <a:spcPts val="2130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4960X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86385">
                <a:tc>
                  <a:txBody>
                    <a:bodyPr/>
                    <a:lstStyle/>
                    <a:p>
                      <a:pPr marL="104775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Introduced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1945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1999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945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2000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945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2006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ts val="1945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2013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marL="104775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Clock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speeds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450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660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MHz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1.3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1.8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GHz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1.06 -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1.2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GHz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8895" algn="ctr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GHz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802640">
                <a:tc>
                  <a:txBody>
                    <a:bodyPr/>
                    <a:lstStyle/>
                    <a:p>
                      <a:pPr marL="1480185">
                        <a:lnSpc>
                          <a:spcPts val="1914"/>
                        </a:lnSpc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Bus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480185" marR="98425">
                        <a:lnSpc>
                          <a:spcPts val="2110"/>
                        </a:lnSpc>
                        <a:spcBef>
                          <a:spcPts val="80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wid th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74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209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174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209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74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209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ct val="100000"/>
                        </a:lnSpc>
                        <a:spcBef>
                          <a:spcPts val="174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209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534670">
                <a:tc>
                  <a:txBody>
                    <a:bodyPr/>
                    <a:lstStyle/>
                    <a:p>
                      <a:pPr marL="104775">
                        <a:lnSpc>
                          <a:spcPts val="191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4775">
                        <a:lnSpc>
                          <a:spcPts val="213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transistors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9.5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million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42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million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167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million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1.86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billion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86385">
                <a:tc>
                  <a:txBody>
                    <a:bodyPr/>
                    <a:lstStyle/>
                    <a:p>
                      <a:pPr marL="104775">
                        <a:lnSpc>
                          <a:spcPts val="19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(nm)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ts val="1945"/>
                        </a:lnSpc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250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945"/>
                        </a:lnSpc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180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945"/>
                        </a:lnSpc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65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6355" algn="ctr">
                        <a:lnSpc>
                          <a:spcPts val="1945"/>
                        </a:lnSpc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535305">
                <a:tc>
                  <a:txBody>
                    <a:bodyPr/>
                    <a:lstStyle/>
                    <a:p>
                      <a:pPr marL="104775" marR="681990">
                        <a:lnSpc>
                          <a:spcPts val="1960"/>
                        </a:lnSpc>
                        <a:spcBef>
                          <a:spcPts val="1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Addressable memory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GB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GB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GB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GB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marL="104775">
                        <a:lnSpc>
                          <a:spcPts val="1939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Virtual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memory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939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939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939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ts val="1939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535305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Cache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512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kB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L2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256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kB</a:t>
                      </a:r>
                      <a:r>
                        <a:rPr sz="1800" spc="3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L2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MB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L2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ts val="192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1.5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MB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L2/15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87375">
                        <a:lnSpc>
                          <a:spcPts val="213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MB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L3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104775">
                        <a:lnSpc>
                          <a:spcPts val="1939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cores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1939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939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939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ts val="1939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7713" y="502158"/>
            <a:ext cx="64897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 marR="17780" indent="-36703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22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110" dirty="0"/>
              <a:t>The</a:t>
            </a:r>
            <a:r>
              <a:rPr sz="3600" spc="160" dirty="0"/>
              <a:t> </a:t>
            </a:r>
            <a:r>
              <a:rPr sz="3600" spc="55" dirty="0"/>
              <a:t>Evolution</a:t>
            </a:r>
            <a:r>
              <a:rPr sz="3600" spc="140" dirty="0"/>
              <a:t> </a:t>
            </a:r>
            <a:r>
              <a:rPr sz="3600" dirty="0"/>
              <a:t>of</a:t>
            </a:r>
            <a:r>
              <a:rPr sz="3600" spc="160" dirty="0"/>
              <a:t> </a:t>
            </a:r>
            <a:r>
              <a:rPr sz="3600" spc="75" dirty="0"/>
              <a:t>the</a:t>
            </a:r>
            <a:r>
              <a:rPr sz="3600" spc="150" dirty="0"/>
              <a:t> </a:t>
            </a:r>
            <a:r>
              <a:rPr sz="3600" dirty="0"/>
              <a:t>Intel</a:t>
            </a:r>
            <a:r>
              <a:rPr sz="3600" spc="160" dirty="0"/>
              <a:t> </a:t>
            </a:r>
            <a:r>
              <a:rPr sz="3600" spc="30" dirty="0"/>
              <a:t>x86 </a:t>
            </a:r>
            <a:r>
              <a:rPr sz="3600" spc="65" dirty="0"/>
              <a:t>Architecture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7392" y="2005711"/>
            <a:ext cx="7169150" cy="35325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290195" indent="-228600">
              <a:lnSpc>
                <a:spcPct val="100000"/>
              </a:lnSpc>
              <a:spcBef>
                <a:spcPts val="1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Two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common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processor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585858"/>
                </a:solidFill>
                <a:latin typeface="Cambria"/>
                <a:cs typeface="Cambria"/>
              </a:rPr>
              <a:t>families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are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Intel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x86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585858"/>
                </a:solidFill>
                <a:latin typeface="Cambria"/>
                <a:cs typeface="Cambria"/>
              </a:rPr>
              <a:t>the 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ARM</a:t>
            </a:r>
            <a:r>
              <a:rPr sz="20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architectures</a:t>
            </a:r>
            <a:endParaRPr sz="2000">
              <a:latin typeface="Cambria"/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20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Current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x86</a:t>
            </a:r>
            <a:r>
              <a:rPr sz="20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offerings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represent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results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2000" spc="125" dirty="0">
                <a:solidFill>
                  <a:srgbClr val="585858"/>
                </a:solidFill>
                <a:latin typeface="Cambria"/>
                <a:cs typeface="Cambria"/>
              </a:rPr>
              <a:t> decades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585858"/>
                </a:solidFill>
                <a:latin typeface="Cambria"/>
                <a:cs typeface="Cambria"/>
              </a:rPr>
              <a:t>of 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design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effort</a:t>
            </a:r>
            <a:r>
              <a:rPr sz="20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585858"/>
                </a:solidFill>
                <a:latin typeface="Cambria"/>
                <a:cs typeface="Cambria"/>
              </a:rPr>
              <a:t>on</a:t>
            </a:r>
            <a:r>
              <a:rPr sz="20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complex</a:t>
            </a:r>
            <a:r>
              <a:rPr sz="20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instruction</a:t>
            </a:r>
            <a:r>
              <a:rPr sz="20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585858"/>
                </a:solidFill>
                <a:latin typeface="Cambria"/>
                <a:cs typeface="Cambria"/>
              </a:rPr>
              <a:t>set</a:t>
            </a:r>
            <a:r>
              <a:rPr sz="20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computers</a:t>
            </a:r>
            <a:r>
              <a:rPr sz="20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(CISCs)</a:t>
            </a:r>
            <a:endParaRPr sz="2000">
              <a:latin typeface="Cambria"/>
              <a:cs typeface="Cambria"/>
            </a:endParaRPr>
          </a:p>
          <a:p>
            <a:pPr marL="241300" marR="6350" indent="-228600">
              <a:lnSpc>
                <a:spcPct val="100000"/>
              </a:lnSpc>
              <a:spcBef>
                <a:spcPts val="198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An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585858"/>
                </a:solidFill>
                <a:latin typeface="Cambria"/>
                <a:cs typeface="Cambria"/>
              </a:rPr>
              <a:t>alternative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approach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processor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design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reduced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instruction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585858"/>
                </a:solidFill>
                <a:latin typeface="Cambria"/>
                <a:cs typeface="Cambria"/>
              </a:rPr>
              <a:t>set</a:t>
            </a:r>
            <a:r>
              <a:rPr sz="20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computer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585858"/>
                </a:solidFill>
                <a:latin typeface="Cambria"/>
                <a:cs typeface="Cambria"/>
              </a:rPr>
              <a:t>(RISC)</a:t>
            </a:r>
            <a:endParaRPr sz="2000">
              <a:latin typeface="Cambria"/>
              <a:cs typeface="Cambria"/>
            </a:endParaRPr>
          </a:p>
          <a:p>
            <a:pPr marL="241300" marR="36195" indent="-228600">
              <a:lnSpc>
                <a:spcPct val="100000"/>
              </a:lnSpc>
              <a:spcBef>
                <a:spcPts val="201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ARM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0" dirty="0">
                <a:solidFill>
                  <a:srgbClr val="585858"/>
                </a:solidFill>
                <a:latin typeface="Cambria"/>
                <a:cs typeface="Cambria"/>
              </a:rPr>
              <a:t>architecture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20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used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20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20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wide</a:t>
            </a:r>
            <a:r>
              <a:rPr sz="20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variety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20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585858"/>
                </a:solidFill>
                <a:latin typeface="Cambria"/>
                <a:cs typeface="Cambria"/>
              </a:rPr>
              <a:t>embedded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systems</a:t>
            </a:r>
            <a:r>
              <a:rPr sz="20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20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one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most</a:t>
            </a:r>
            <a:r>
              <a:rPr sz="20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powerful</a:t>
            </a:r>
            <a:r>
              <a:rPr sz="20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20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best-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designed 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RISC-</a:t>
            </a:r>
            <a:r>
              <a:rPr sz="2000" spc="130" dirty="0">
                <a:solidFill>
                  <a:srgbClr val="585858"/>
                </a:solidFill>
                <a:latin typeface="Cambria"/>
                <a:cs typeface="Cambria"/>
              </a:rPr>
              <a:t>based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systems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585858"/>
                </a:solidFill>
                <a:latin typeface="Cambria"/>
                <a:cs typeface="Cambria"/>
              </a:rPr>
              <a:t>on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market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02437" y="350646"/>
            <a:ext cx="68421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Highlights </a:t>
            </a:r>
            <a:r>
              <a:rPr dirty="0"/>
              <a:t>of</a:t>
            </a:r>
            <a:r>
              <a:rPr spc="150" dirty="0"/>
              <a:t> </a:t>
            </a:r>
            <a:r>
              <a:rPr spc="75" dirty="0"/>
              <a:t>the</a:t>
            </a:r>
            <a:r>
              <a:rPr spc="155" dirty="0"/>
              <a:t> </a:t>
            </a:r>
            <a:r>
              <a:rPr spc="55" dirty="0"/>
              <a:t>Evolution</a:t>
            </a:r>
            <a:r>
              <a:rPr spc="120" dirty="0"/>
              <a:t> </a:t>
            </a:r>
            <a:r>
              <a:rPr dirty="0"/>
              <a:t>of</a:t>
            </a:r>
            <a:r>
              <a:rPr spc="155" dirty="0"/>
              <a:t> </a:t>
            </a:r>
            <a:r>
              <a:rPr spc="50" dirty="0"/>
              <a:t>the </a:t>
            </a:r>
            <a:r>
              <a:rPr dirty="0"/>
              <a:t>Intel</a:t>
            </a:r>
            <a:r>
              <a:rPr spc="215" dirty="0"/>
              <a:t> </a:t>
            </a:r>
            <a:r>
              <a:rPr spc="55" dirty="0"/>
              <a:t>Product</a:t>
            </a:r>
            <a:r>
              <a:rPr spc="215" dirty="0"/>
              <a:t> </a:t>
            </a:r>
            <a:r>
              <a:rPr spc="55" dirty="0"/>
              <a:t>Line: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33172" y="1591043"/>
            <a:ext cx="1674495" cy="4835525"/>
            <a:chOff x="233172" y="1591043"/>
            <a:chExt cx="1674495" cy="48355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604" y="1591043"/>
              <a:ext cx="1640586" cy="60275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172" y="1994915"/>
              <a:ext cx="1674114" cy="443103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84149" y="1675587"/>
            <a:ext cx="1325245" cy="242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8080</a:t>
            </a:r>
            <a:endParaRPr sz="1800">
              <a:latin typeface="Cambria"/>
              <a:cs typeface="Cambria"/>
            </a:endParaRPr>
          </a:p>
          <a:p>
            <a:pPr marL="126364" marR="5080" indent="-114300">
              <a:lnSpc>
                <a:spcPct val="88000"/>
              </a:lnSpc>
              <a:spcBef>
                <a:spcPts val="1150"/>
              </a:spcBef>
              <a:buChar char="•"/>
              <a:tabLst>
                <a:tab pos="126364" algn="l"/>
              </a:tabLst>
            </a:pPr>
            <a:r>
              <a:rPr sz="1300" dirty="0">
                <a:latin typeface="Cambria"/>
                <a:cs typeface="Cambria"/>
              </a:rPr>
              <a:t>World’s</a:t>
            </a:r>
            <a:r>
              <a:rPr sz="1300" spc="120" dirty="0">
                <a:latin typeface="Cambria"/>
                <a:cs typeface="Cambria"/>
              </a:rPr>
              <a:t> </a:t>
            </a:r>
            <a:r>
              <a:rPr sz="1300" spc="-20" dirty="0">
                <a:latin typeface="Cambria"/>
                <a:cs typeface="Cambria"/>
              </a:rPr>
              <a:t>first </a:t>
            </a:r>
            <a:r>
              <a:rPr sz="1300" spc="50" dirty="0">
                <a:latin typeface="Cambria"/>
                <a:cs typeface="Cambria"/>
              </a:rPr>
              <a:t>general-</a:t>
            </a:r>
            <a:r>
              <a:rPr sz="1300" spc="40" dirty="0">
                <a:latin typeface="Cambria"/>
                <a:cs typeface="Cambria"/>
              </a:rPr>
              <a:t>purpose </a:t>
            </a:r>
            <a:r>
              <a:rPr sz="1300" spc="-10" dirty="0">
                <a:latin typeface="Cambria"/>
                <a:cs typeface="Cambria"/>
              </a:rPr>
              <a:t>microprocessor</a:t>
            </a:r>
            <a:endParaRPr sz="1300">
              <a:latin typeface="Cambria"/>
              <a:cs typeface="Cambria"/>
            </a:endParaRPr>
          </a:p>
          <a:p>
            <a:pPr marL="126364" marR="92075" indent="-114300" algn="just">
              <a:lnSpc>
                <a:spcPct val="88100"/>
              </a:lnSpc>
              <a:spcBef>
                <a:spcPts val="234"/>
              </a:spcBef>
              <a:buChar char="•"/>
              <a:tabLst>
                <a:tab pos="126364" algn="l"/>
              </a:tabLst>
            </a:pPr>
            <a:r>
              <a:rPr sz="1300" spc="-10" dirty="0">
                <a:latin typeface="Cambria"/>
                <a:cs typeface="Cambria"/>
              </a:rPr>
              <a:t>8-</a:t>
            </a:r>
            <a:r>
              <a:rPr sz="1300" dirty="0">
                <a:latin typeface="Cambria"/>
                <a:cs typeface="Cambria"/>
              </a:rPr>
              <a:t>bit</a:t>
            </a:r>
            <a:r>
              <a:rPr sz="1300" spc="135" dirty="0">
                <a:latin typeface="Cambria"/>
                <a:cs typeface="Cambria"/>
              </a:rPr>
              <a:t> </a:t>
            </a:r>
            <a:r>
              <a:rPr sz="1300" spc="35" dirty="0">
                <a:latin typeface="Cambria"/>
                <a:cs typeface="Cambria"/>
              </a:rPr>
              <a:t>machine, </a:t>
            </a:r>
            <a:r>
              <a:rPr sz="1300" spc="-10" dirty="0">
                <a:latin typeface="Cambria"/>
                <a:cs typeface="Cambria"/>
              </a:rPr>
              <a:t>8-</a:t>
            </a:r>
            <a:r>
              <a:rPr sz="1300" dirty="0">
                <a:latin typeface="Cambria"/>
                <a:cs typeface="Cambria"/>
              </a:rPr>
              <a:t>bit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data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-20" dirty="0">
                <a:latin typeface="Cambria"/>
                <a:cs typeface="Cambria"/>
              </a:rPr>
              <a:t>path </a:t>
            </a:r>
            <a:r>
              <a:rPr sz="1300" dirty="0">
                <a:latin typeface="Cambria"/>
                <a:cs typeface="Cambria"/>
              </a:rPr>
              <a:t>to</a:t>
            </a:r>
            <a:r>
              <a:rPr sz="1300" spc="40" dirty="0">
                <a:latin typeface="Cambria"/>
                <a:cs typeface="Cambria"/>
              </a:rPr>
              <a:t> </a:t>
            </a:r>
            <a:r>
              <a:rPr sz="1300" spc="-10" dirty="0">
                <a:latin typeface="Cambria"/>
                <a:cs typeface="Cambria"/>
              </a:rPr>
              <a:t>memory</a:t>
            </a:r>
            <a:endParaRPr sz="1300">
              <a:latin typeface="Cambria"/>
              <a:cs typeface="Cambria"/>
            </a:endParaRPr>
          </a:p>
          <a:p>
            <a:pPr marL="126364" marR="5080" indent="-114300">
              <a:lnSpc>
                <a:spcPct val="883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sz="1300" dirty="0">
                <a:latin typeface="Cambria"/>
                <a:cs typeface="Cambria"/>
              </a:rPr>
              <a:t>Was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55" dirty="0">
                <a:latin typeface="Cambria"/>
                <a:cs typeface="Cambria"/>
              </a:rPr>
              <a:t>used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in</a:t>
            </a:r>
            <a:r>
              <a:rPr sz="1300" spc="65" dirty="0">
                <a:latin typeface="Cambria"/>
                <a:cs typeface="Cambria"/>
              </a:rPr>
              <a:t> </a:t>
            </a:r>
            <a:r>
              <a:rPr sz="1300" spc="-25" dirty="0">
                <a:latin typeface="Cambria"/>
                <a:cs typeface="Cambria"/>
              </a:rPr>
              <a:t>the </a:t>
            </a:r>
            <a:r>
              <a:rPr sz="1300" dirty="0">
                <a:latin typeface="Cambria"/>
                <a:cs typeface="Cambria"/>
              </a:rPr>
              <a:t>first</a:t>
            </a:r>
            <a:r>
              <a:rPr sz="1300" spc="30" dirty="0">
                <a:latin typeface="Cambria"/>
                <a:cs typeface="Cambria"/>
              </a:rPr>
              <a:t> </a:t>
            </a:r>
            <a:r>
              <a:rPr sz="1300" spc="-10" dirty="0">
                <a:latin typeface="Cambria"/>
                <a:cs typeface="Cambria"/>
              </a:rPr>
              <a:t>personal computer (Altair)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52244" y="1591043"/>
            <a:ext cx="1674495" cy="4835525"/>
            <a:chOff x="1952244" y="1591043"/>
            <a:chExt cx="1674495" cy="483552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9676" y="1591043"/>
              <a:ext cx="1640586" cy="60275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2244" y="1994915"/>
              <a:ext cx="1674113" cy="443103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104135" y="1675587"/>
            <a:ext cx="1332865" cy="4547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mbria"/>
                <a:cs typeface="Cambria"/>
              </a:rPr>
              <a:t>8086</a:t>
            </a:r>
            <a:endParaRPr sz="1800">
              <a:latin typeface="Cambria"/>
              <a:cs typeface="Cambria"/>
            </a:endParaRPr>
          </a:p>
          <a:p>
            <a:pPr marL="127000" marR="48260" indent="-114300">
              <a:lnSpc>
                <a:spcPct val="88100"/>
              </a:lnSpc>
              <a:spcBef>
                <a:spcPts val="1150"/>
              </a:spcBef>
              <a:buChar char="•"/>
              <a:tabLst>
                <a:tab pos="127000" algn="l"/>
              </a:tabLst>
            </a:pPr>
            <a:r>
              <a:rPr sz="1300" spc="85" dirty="0">
                <a:latin typeface="Cambria"/>
                <a:cs typeface="Cambria"/>
              </a:rPr>
              <a:t>A</a:t>
            </a:r>
            <a:r>
              <a:rPr sz="1300" spc="40" dirty="0">
                <a:latin typeface="Cambria"/>
                <a:cs typeface="Cambria"/>
              </a:rPr>
              <a:t> </a:t>
            </a:r>
            <a:r>
              <a:rPr sz="1300" spc="-20" dirty="0">
                <a:latin typeface="Cambria"/>
                <a:cs typeface="Cambria"/>
              </a:rPr>
              <a:t>more </a:t>
            </a:r>
            <a:r>
              <a:rPr sz="1300" dirty="0">
                <a:latin typeface="Cambria"/>
                <a:cs typeface="Cambria"/>
              </a:rPr>
              <a:t>powerful</a:t>
            </a:r>
            <a:r>
              <a:rPr sz="1300" spc="220" dirty="0">
                <a:latin typeface="Cambria"/>
                <a:cs typeface="Cambria"/>
              </a:rPr>
              <a:t> </a:t>
            </a:r>
            <a:r>
              <a:rPr sz="1300" spc="-20" dirty="0">
                <a:latin typeface="Cambria"/>
                <a:cs typeface="Cambria"/>
              </a:rPr>
              <a:t>16-</a:t>
            </a:r>
            <a:r>
              <a:rPr sz="1300" spc="-25" dirty="0">
                <a:latin typeface="Cambria"/>
                <a:cs typeface="Cambria"/>
              </a:rPr>
              <a:t>bit </a:t>
            </a:r>
            <a:r>
              <a:rPr sz="1300" spc="-10" dirty="0">
                <a:latin typeface="Cambria"/>
                <a:cs typeface="Cambria"/>
              </a:rPr>
              <a:t>machine</a:t>
            </a:r>
            <a:endParaRPr sz="1300">
              <a:latin typeface="Cambria"/>
              <a:cs typeface="Cambria"/>
            </a:endParaRPr>
          </a:p>
          <a:p>
            <a:pPr marL="127000" marR="5080" indent="-114300">
              <a:lnSpc>
                <a:spcPct val="88200"/>
              </a:lnSpc>
              <a:spcBef>
                <a:spcPts val="220"/>
              </a:spcBef>
              <a:buChar char="•"/>
              <a:tabLst>
                <a:tab pos="127000" algn="l"/>
              </a:tabLst>
            </a:pPr>
            <a:r>
              <a:rPr sz="1300" dirty="0">
                <a:latin typeface="Cambria"/>
                <a:cs typeface="Cambria"/>
              </a:rPr>
              <a:t>Has</a:t>
            </a:r>
            <a:r>
              <a:rPr sz="1300" spc="135" dirty="0">
                <a:latin typeface="Cambria"/>
                <a:cs typeface="Cambria"/>
              </a:rPr>
              <a:t> </a:t>
            </a:r>
            <a:r>
              <a:rPr sz="1300" spc="-25" dirty="0">
                <a:latin typeface="Cambria"/>
                <a:cs typeface="Cambria"/>
              </a:rPr>
              <a:t>an </a:t>
            </a:r>
            <a:r>
              <a:rPr sz="1300" spc="-10" dirty="0">
                <a:latin typeface="Cambria"/>
                <a:cs typeface="Cambria"/>
              </a:rPr>
              <a:t>instruction </a:t>
            </a:r>
            <a:r>
              <a:rPr sz="1300" spc="70" dirty="0">
                <a:latin typeface="Cambria"/>
                <a:cs typeface="Cambria"/>
              </a:rPr>
              <a:t>cache,</a:t>
            </a:r>
            <a:r>
              <a:rPr sz="1300" spc="-30" dirty="0">
                <a:latin typeface="Cambria"/>
                <a:cs typeface="Cambria"/>
              </a:rPr>
              <a:t> </a:t>
            </a:r>
            <a:r>
              <a:rPr sz="1300" spc="-25" dirty="0">
                <a:latin typeface="Cambria"/>
                <a:cs typeface="Cambria"/>
              </a:rPr>
              <a:t>or</a:t>
            </a:r>
            <a:r>
              <a:rPr sz="1300" spc="60" dirty="0">
                <a:latin typeface="Cambria"/>
                <a:cs typeface="Cambria"/>
              </a:rPr>
              <a:t> queue,</a:t>
            </a:r>
            <a:r>
              <a:rPr sz="1300" spc="-30" dirty="0">
                <a:latin typeface="Cambria"/>
                <a:cs typeface="Cambria"/>
              </a:rPr>
              <a:t> </a:t>
            </a:r>
            <a:r>
              <a:rPr sz="1300" spc="-20" dirty="0">
                <a:latin typeface="Cambria"/>
                <a:cs typeface="Cambria"/>
              </a:rPr>
              <a:t>that </a:t>
            </a:r>
            <a:r>
              <a:rPr sz="1300" spc="20" dirty="0">
                <a:latin typeface="Cambria"/>
                <a:cs typeface="Cambria"/>
              </a:rPr>
              <a:t>prefetches</a:t>
            </a:r>
            <a:r>
              <a:rPr sz="1300" spc="285" dirty="0">
                <a:latin typeface="Cambria"/>
                <a:cs typeface="Cambria"/>
              </a:rPr>
              <a:t> </a:t>
            </a:r>
            <a:r>
              <a:rPr sz="1300" spc="-50" dirty="0">
                <a:latin typeface="Cambria"/>
                <a:cs typeface="Cambria"/>
              </a:rPr>
              <a:t>a</a:t>
            </a:r>
            <a:r>
              <a:rPr sz="1300" spc="500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few</a:t>
            </a:r>
            <a:r>
              <a:rPr sz="1300" spc="120" dirty="0">
                <a:latin typeface="Cambria"/>
                <a:cs typeface="Cambria"/>
              </a:rPr>
              <a:t> </a:t>
            </a:r>
            <a:r>
              <a:rPr sz="1300" spc="-10" dirty="0">
                <a:latin typeface="Cambria"/>
                <a:cs typeface="Cambria"/>
              </a:rPr>
              <a:t>instructions </a:t>
            </a:r>
            <a:r>
              <a:rPr sz="1300" spc="50" dirty="0">
                <a:latin typeface="Cambria"/>
                <a:cs typeface="Cambria"/>
              </a:rPr>
              <a:t>before</a:t>
            </a:r>
            <a:r>
              <a:rPr sz="1300" spc="100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they</a:t>
            </a:r>
            <a:r>
              <a:rPr sz="1300" spc="100" dirty="0">
                <a:latin typeface="Cambria"/>
                <a:cs typeface="Cambria"/>
              </a:rPr>
              <a:t> </a:t>
            </a:r>
            <a:r>
              <a:rPr sz="1300" spc="-25" dirty="0">
                <a:latin typeface="Cambria"/>
                <a:cs typeface="Cambria"/>
              </a:rPr>
              <a:t>are </a:t>
            </a:r>
            <a:r>
              <a:rPr sz="1300" spc="45" dirty="0">
                <a:latin typeface="Cambria"/>
                <a:cs typeface="Cambria"/>
              </a:rPr>
              <a:t>executed</a:t>
            </a:r>
            <a:endParaRPr sz="1300">
              <a:latin typeface="Cambria"/>
              <a:cs typeface="Cambria"/>
            </a:endParaRPr>
          </a:p>
          <a:p>
            <a:pPr marL="127000" marR="111125" indent="-114300">
              <a:lnSpc>
                <a:spcPct val="88200"/>
              </a:lnSpc>
              <a:spcBef>
                <a:spcPts val="220"/>
              </a:spcBef>
              <a:buChar char="•"/>
              <a:tabLst>
                <a:tab pos="127000" algn="l"/>
              </a:tabLst>
            </a:pPr>
            <a:r>
              <a:rPr sz="1300" dirty="0">
                <a:latin typeface="Cambria"/>
                <a:cs typeface="Cambria"/>
              </a:rPr>
              <a:t>The</a:t>
            </a:r>
            <a:r>
              <a:rPr sz="1300" spc="145" dirty="0">
                <a:latin typeface="Cambria"/>
                <a:cs typeface="Cambria"/>
              </a:rPr>
              <a:t> </a:t>
            </a:r>
            <a:r>
              <a:rPr sz="1300" spc="-10" dirty="0">
                <a:latin typeface="Cambria"/>
                <a:cs typeface="Cambria"/>
              </a:rPr>
              <a:t>first </a:t>
            </a:r>
            <a:r>
              <a:rPr sz="1300" spc="55" dirty="0">
                <a:latin typeface="Cambria"/>
                <a:cs typeface="Cambria"/>
              </a:rPr>
              <a:t>appearance</a:t>
            </a:r>
            <a:r>
              <a:rPr sz="1300" spc="60" dirty="0">
                <a:latin typeface="Cambria"/>
                <a:cs typeface="Cambria"/>
              </a:rPr>
              <a:t> </a:t>
            </a:r>
            <a:r>
              <a:rPr sz="1300" spc="-25" dirty="0">
                <a:latin typeface="Cambria"/>
                <a:cs typeface="Cambria"/>
              </a:rPr>
              <a:t>of </a:t>
            </a:r>
            <a:r>
              <a:rPr sz="1300" dirty="0">
                <a:latin typeface="Cambria"/>
                <a:cs typeface="Cambria"/>
              </a:rPr>
              <a:t>the</a:t>
            </a:r>
            <a:r>
              <a:rPr sz="1300" spc="114" dirty="0">
                <a:latin typeface="Cambria"/>
                <a:cs typeface="Cambria"/>
              </a:rPr>
              <a:t> </a:t>
            </a:r>
            <a:r>
              <a:rPr sz="1300" spc="-25" dirty="0">
                <a:latin typeface="Cambria"/>
                <a:cs typeface="Cambria"/>
              </a:rPr>
              <a:t>x86 </a:t>
            </a:r>
            <a:r>
              <a:rPr sz="1300" spc="-10" dirty="0">
                <a:latin typeface="Cambria"/>
                <a:cs typeface="Cambria"/>
              </a:rPr>
              <a:t>architecture</a:t>
            </a:r>
            <a:endParaRPr sz="1300">
              <a:latin typeface="Cambria"/>
              <a:cs typeface="Cambria"/>
            </a:endParaRPr>
          </a:p>
          <a:p>
            <a:pPr marL="127000" marR="46990" indent="-114300">
              <a:lnSpc>
                <a:spcPct val="88000"/>
              </a:lnSpc>
              <a:spcBef>
                <a:spcPts val="235"/>
              </a:spcBef>
              <a:buChar char="•"/>
              <a:tabLst>
                <a:tab pos="127000" algn="l"/>
              </a:tabLst>
            </a:pPr>
            <a:r>
              <a:rPr sz="1300" dirty="0">
                <a:latin typeface="Cambria"/>
                <a:cs typeface="Cambria"/>
              </a:rPr>
              <a:t>The</a:t>
            </a:r>
            <a:r>
              <a:rPr sz="1300" spc="55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8088</a:t>
            </a:r>
            <a:r>
              <a:rPr sz="1300" spc="40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was</a:t>
            </a:r>
            <a:r>
              <a:rPr sz="1300" spc="75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a variant</a:t>
            </a:r>
            <a:r>
              <a:rPr sz="1300" spc="125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of</a:t>
            </a:r>
            <a:r>
              <a:rPr sz="1300" spc="114" dirty="0">
                <a:latin typeface="Cambria"/>
                <a:cs typeface="Cambria"/>
              </a:rPr>
              <a:t> </a:t>
            </a:r>
            <a:r>
              <a:rPr sz="1300" spc="-20" dirty="0">
                <a:latin typeface="Cambria"/>
                <a:cs typeface="Cambria"/>
              </a:rPr>
              <a:t>this </a:t>
            </a:r>
            <a:r>
              <a:rPr sz="1300" spc="10" dirty="0">
                <a:latin typeface="Cambria"/>
                <a:cs typeface="Cambria"/>
              </a:rPr>
              <a:t>processor</a:t>
            </a:r>
            <a:r>
              <a:rPr sz="1300" spc="330" dirty="0">
                <a:latin typeface="Cambria"/>
                <a:cs typeface="Cambria"/>
              </a:rPr>
              <a:t> </a:t>
            </a:r>
            <a:r>
              <a:rPr sz="1300" spc="-25" dirty="0">
                <a:latin typeface="Cambria"/>
                <a:cs typeface="Cambria"/>
              </a:rPr>
              <a:t>and </a:t>
            </a:r>
            <a:r>
              <a:rPr sz="1300" spc="55" dirty="0">
                <a:latin typeface="Cambria"/>
                <a:cs typeface="Cambria"/>
              </a:rPr>
              <a:t>used</a:t>
            </a:r>
            <a:r>
              <a:rPr sz="1300" spc="60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in</a:t>
            </a:r>
            <a:r>
              <a:rPr sz="1300" spc="60" dirty="0">
                <a:latin typeface="Cambria"/>
                <a:cs typeface="Cambria"/>
              </a:rPr>
              <a:t> </a:t>
            </a:r>
            <a:r>
              <a:rPr sz="1300" spc="-20" dirty="0">
                <a:latin typeface="Cambria"/>
                <a:cs typeface="Cambria"/>
              </a:rPr>
              <a:t>IBM’s </a:t>
            </a:r>
            <a:r>
              <a:rPr sz="1300" dirty="0">
                <a:latin typeface="Cambria"/>
                <a:cs typeface="Cambria"/>
              </a:rPr>
              <a:t>first</a:t>
            </a:r>
            <a:r>
              <a:rPr sz="1300" spc="30" dirty="0">
                <a:latin typeface="Cambria"/>
                <a:cs typeface="Cambria"/>
              </a:rPr>
              <a:t> </a:t>
            </a:r>
            <a:r>
              <a:rPr sz="1300" spc="-10" dirty="0">
                <a:latin typeface="Cambria"/>
                <a:cs typeface="Cambria"/>
              </a:rPr>
              <a:t>personal computer </a:t>
            </a:r>
            <a:r>
              <a:rPr sz="1300" spc="45" dirty="0">
                <a:latin typeface="Cambria"/>
                <a:cs typeface="Cambria"/>
              </a:rPr>
              <a:t>(securing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-25" dirty="0">
                <a:latin typeface="Cambria"/>
                <a:cs typeface="Cambria"/>
              </a:rPr>
              <a:t>the </a:t>
            </a:r>
            <a:r>
              <a:rPr sz="1300" spc="50" dirty="0">
                <a:latin typeface="Cambria"/>
                <a:cs typeface="Cambria"/>
              </a:rPr>
              <a:t>success</a:t>
            </a:r>
            <a:r>
              <a:rPr sz="1300" spc="95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of</a:t>
            </a:r>
            <a:r>
              <a:rPr sz="1300" spc="75" dirty="0">
                <a:latin typeface="Cambria"/>
                <a:cs typeface="Cambria"/>
              </a:rPr>
              <a:t> </a:t>
            </a:r>
            <a:r>
              <a:rPr sz="1300" spc="-10" dirty="0">
                <a:latin typeface="Cambria"/>
                <a:cs typeface="Cambria"/>
              </a:rPr>
              <a:t>Intel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71315" y="1591043"/>
            <a:ext cx="1694180" cy="4835525"/>
            <a:chOff x="3671315" y="1591043"/>
            <a:chExt cx="1694180" cy="483552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0271" y="1591043"/>
              <a:ext cx="1639062" cy="60275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71315" y="1994915"/>
              <a:ext cx="1693926" cy="443103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823842" y="1675587"/>
            <a:ext cx="1350645" cy="1492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98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80286</a:t>
            </a:r>
            <a:endParaRPr sz="1800">
              <a:latin typeface="Cambria"/>
              <a:cs typeface="Cambria"/>
            </a:endParaRPr>
          </a:p>
          <a:p>
            <a:pPr marL="127000" marR="5080" indent="-114300">
              <a:lnSpc>
                <a:spcPct val="88100"/>
              </a:lnSpc>
              <a:spcBef>
                <a:spcPts val="1150"/>
              </a:spcBef>
              <a:buChar char="•"/>
              <a:tabLst>
                <a:tab pos="127000" algn="l"/>
              </a:tabLst>
            </a:pPr>
            <a:r>
              <a:rPr sz="1300" dirty="0">
                <a:latin typeface="Cambria"/>
                <a:cs typeface="Cambria"/>
              </a:rPr>
              <a:t>Extension</a:t>
            </a:r>
            <a:r>
              <a:rPr sz="1300" spc="204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of</a:t>
            </a:r>
            <a:r>
              <a:rPr sz="1300" spc="220" dirty="0">
                <a:latin typeface="Cambria"/>
                <a:cs typeface="Cambria"/>
              </a:rPr>
              <a:t> </a:t>
            </a:r>
            <a:r>
              <a:rPr sz="1300" spc="-25" dirty="0">
                <a:latin typeface="Cambria"/>
                <a:cs typeface="Cambria"/>
              </a:rPr>
              <a:t>the </a:t>
            </a:r>
            <a:r>
              <a:rPr sz="1300" spc="-10" dirty="0">
                <a:latin typeface="Cambria"/>
                <a:cs typeface="Cambria"/>
              </a:rPr>
              <a:t>8086</a:t>
            </a:r>
            <a:r>
              <a:rPr sz="1300" spc="-50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enabling </a:t>
            </a:r>
            <a:r>
              <a:rPr sz="1300" spc="45" dirty="0">
                <a:latin typeface="Cambria"/>
                <a:cs typeface="Cambria"/>
              </a:rPr>
              <a:t>addressing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a</a:t>
            </a:r>
            <a:endParaRPr sz="1300">
              <a:latin typeface="Cambria"/>
              <a:cs typeface="Cambria"/>
            </a:endParaRPr>
          </a:p>
          <a:p>
            <a:pPr marL="127000">
              <a:lnSpc>
                <a:spcPts val="1280"/>
              </a:lnSpc>
            </a:pPr>
            <a:r>
              <a:rPr sz="1300" spc="-20" dirty="0">
                <a:latin typeface="Cambria"/>
                <a:cs typeface="Cambria"/>
              </a:rPr>
              <a:t>16-</a:t>
            </a:r>
            <a:r>
              <a:rPr sz="1300" dirty="0">
                <a:latin typeface="Cambria"/>
                <a:cs typeface="Cambria"/>
              </a:rPr>
              <a:t>MB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40" dirty="0">
                <a:latin typeface="Cambria"/>
                <a:cs typeface="Cambria"/>
              </a:rPr>
              <a:t>memory</a:t>
            </a:r>
            <a:endParaRPr sz="1300">
              <a:latin typeface="Cambria"/>
              <a:cs typeface="Cambria"/>
            </a:endParaRPr>
          </a:p>
          <a:p>
            <a:pPr marL="127000" marR="170815">
              <a:lnSpc>
                <a:spcPts val="1370"/>
              </a:lnSpc>
              <a:spcBef>
                <a:spcPts val="110"/>
              </a:spcBef>
            </a:pPr>
            <a:r>
              <a:rPr sz="1300" dirty="0">
                <a:latin typeface="Cambria"/>
                <a:cs typeface="Cambria"/>
              </a:rPr>
              <a:t>instead</a:t>
            </a:r>
            <a:r>
              <a:rPr sz="1300" spc="175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of</a:t>
            </a:r>
            <a:r>
              <a:rPr sz="1300" spc="180" dirty="0">
                <a:latin typeface="Cambria"/>
                <a:cs typeface="Cambria"/>
              </a:rPr>
              <a:t> </a:t>
            </a:r>
            <a:r>
              <a:rPr sz="1300" spc="-20" dirty="0">
                <a:latin typeface="Cambria"/>
                <a:cs typeface="Cambria"/>
              </a:rPr>
              <a:t>just </a:t>
            </a:r>
            <a:r>
              <a:rPr sz="1300" spc="-25" dirty="0">
                <a:latin typeface="Cambria"/>
                <a:cs typeface="Cambria"/>
              </a:rPr>
              <a:t>1MB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391911" y="1591043"/>
            <a:ext cx="1674495" cy="4835525"/>
            <a:chOff x="5391911" y="1591043"/>
            <a:chExt cx="1674495" cy="483552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19343" y="1591043"/>
              <a:ext cx="1640586" cy="60275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1911" y="1994915"/>
              <a:ext cx="1674114" cy="443103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543803" y="1675587"/>
            <a:ext cx="1198245" cy="1521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98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80386</a:t>
            </a:r>
            <a:endParaRPr sz="1800">
              <a:latin typeface="Cambria"/>
              <a:cs typeface="Cambria"/>
            </a:endParaRPr>
          </a:p>
          <a:p>
            <a:pPr marL="127000" marR="5080" indent="-114300">
              <a:lnSpc>
                <a:spcPts val="1370"/>
              </a:lnSpc>
              <a:spcBef>
                <a:spcPts val="1165"/>
              </a:spcBef>
              <a:buChar char="•"/>
              <a:tabLst>
                <a:tab pos="127000" algn="l"/>
              </a:tabLst>
            </a:pPr>
            <a:r>
              <a:rPr sz="1300" dirty="0">
                <a:latin typeface="Cambria"/>
                <a:cs typeface="Cambria"/>
              </a:rPr>
              <a:t>Intel’s first </a:t>
            </a:r>
            <a:r>
              <a:rPr sz="1300" spc="-25" dirty="0">
                <a:latin typeface="Cambria"/>
                <a:cs typeface="Cambria"/>
              </a:rPr>
              <a:t>32-</a:t>
            </a:r>
            <a:r>
              <a:rPr sz="1300" dirty="0">
                <a:latin typeface="Cambria"/>
                <a:cs typeface="Cambria"/>
              </a:rPr>
              <a:t>bit</a:t>
            </a:r>
            <a:r>
              <a:rPr sz="1300" spc="125" dirty="0">
                <a:latin typeface="Cambria"/>
                <a:cs typeface="Cambria"/>
              </a:rPr>
              <a:t> </a:t>
            </a:r>
            <a:r>
              <a:rPr sz="1300" spc="-10" dirty="0">
                <a:latin typeface="Cambria"/>
                <a:cs typeface="Cambria"/>
              </a:rPr>
              <a:t>machine</a:t>
            </a:r>
            <a:endParaRPr sz="1300">
              <a:latin typeface="Cambria"/>
              <a:cs typeface="Cambria"/>
            </a:endParaRPr>
          </a:p>
          <a:p>
            <a:pPr marL="127000" marR="121285" indent="-114300">
              <a:lnSpc>
                <a:spcPct val="87900"/>
              </a:lnSpc>
              <a:spcBef>
                <a:spcPts val="225"/>
              </a:spcBef>
              <a:buChar char="•"/>
              <a:tabLst>
                <a:tab pos="127000" algn="l"/>
              </a:tabLst>
            </a:pPr>
            <a:r>
              <a:rPr sz="1300" dirty="0">
                <a:latin typeface="Cambria"/>
                <a:cs typeface="Cambria"/>
              </a:rPr>
              <a:t>First</a:t>
            </a:r>
            <a:r>
              <a:rPr sz="1300" spc="40" dirty="0">
                <a:latin typeface="Cambria"/>
                <a:cs typeface="Cambria"/>
              </a:rPr>
              <a:t> </a:t>
            </a:r>
            <a:r>
              <a:rPr sz="1300" spc="-10" dirty="0">
                <a:latin typeface="Cambria"/>
                <a:cs typeface="Cambria"/>
              </a:rPr>
              <a:t>Intel </a:t>
            </a:r>
            <a:r>
              <a:rPr sz="1300" spc="10" dirty="0">
                <a:latin typeface="Cambria"/>
                <a:cs typeface="Cambria"/>
              </a:rPr>
              <a:t>processor</a:t>
            </a:r>
            <a:r>
              <a:rPr sz="1300" spc="330" dirty="0">
                <a:latin typeface="Cambria"/>
                <a:cs typeface="Cambria"/>
              </a:rPr>
              <a:t> </a:t>
            </a:r>
            <a:r>
              <a:rPr sz="1300" spc="-25" dirty="0">
                <a:latin typeface="Cambria"/>
                <a:cs typeface="Cambria"/>
              </a:rPr>
              <a:t>to </a:t>
            </a:r>
            <a:r>
              <a:rPr sz="1300" spc="-10" dirty="0">
                <a:latin typeface="Cambria"/>
                <a:cs typeface="Cambria"/>
              </a:rPr>
              <a:t>support multitasking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110983" y="1591043"/>
            <a:ext cx="1674495" cy="4835525"/>
            <a:chOff x="7110983" y="1591043"/>
            <a:chExt cx="1674495" cy="4835525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38415" y="1591043"/>
              <a:ext cx="1640585" cy="60275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10983" y="1994915"/>
              <a:ext cx="1674114" cy="443103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263765" y="1675587"/>
            <a:ext cx="1314450" cy="2743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98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80486</a:t>
            </a:r>
            <a:endParaRPr sz="1800">
              <a:latin typeface="Cambria"/>
              <a:cs typeface="Cambria"/>
            </a:endParaRPr>
          </a:p>
          <a:p>
            <a:pPr marL="127000" marR="5080" indent="-114300">
              <a:lnSpc>
                <a:spcPct val="88000"/>
              </a:lnSpc>
              <a:spcBef>
                <a:spcPts val="1150"/>
              </a:spcBef>
              <a:buChar char="•"/>
              <a:tabLst>
                <a:tab pos="127000" algn="l"/>
              </a:tabLst>
            </a:pPr>
            <a:r>
              <a:rPr sz="1300" dirty="0">
                <a:latin typeface="Cambria"/>
                <a:cs typeface="Cambria"/>
              </a:rPr>
              <a:t>Introduced</a:t>
            </a:r>
            <a:r>
              <a:rPr sz="1300" spc="355" dirty="0">
                <a:latin typeface="Cambria"/>
                <a:cs typeface="Cambria"/>
              </a:rPr>
              <a:t> </a:t>
            </a:r>
            <a:r>
              <a:rPr sz="1300" spc="-25" dirty="0">
                <a:latin typeface="Cambria"/>
                <a:cs typeface="Cambria"/>
              </a:rPr>
              <a:t>the </a:t>
            </a:r>
            <a:r>
              <a:rPr sz="1300" dirty="0">
                <a:latin typeface="Cambria"/>
                <a:cs typeface="Cambria"/>
              </a:rPr>
              <a:t>use</a:t>
            </a:r>
            <a:r>
              <a:rPr sz="1300" spc="135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of</a:t>
            </a:r>
            <a:r>
              <a:rPr sz="1300" spc="135" dirty="0">
                <a:latin typeface="Cambria"/>
                <a:cs typeface="Cambria"/>
              </a:rPr>
              <a:t> </a:t>
            </a:r>
            <a:r>
              <a:rPr sz="1300" spc="-20" dirty="0">
                <a:latin typeface="Cambria"/>
                <a:cs typeface="Cambria"/>
              </a:rPr>
              <a:t>much more </a:t>
            </a:r>
            <a:r>
              <a:rPr sz="1300" spc="-10" dirty="0">
                <a:latin typeface="Cambria"/>
                <a:cs typeface="Cambria"/>
              </a:rPr>
              <a:t>sophisticated </a:t>
            </a:r>
            <a:r>
              <a:rPr sz="1300" dirty="0">
                <a:latin typeface="Cambria"/>
                <a:cs typeface="Cambria"/>
              </a:rPr>
              <a:t>and</a:t>
            </a:r>
            <a:r>
              <a:rPr sz="1300" spc="180" dirty="0">
                <a:latin typeface="Cambria"/>
                <a:cs typeface="Cambria"/>
              </a:rPr>
              <a:t> </a:t>
            </a:r>
            <a:r>
              <a:rPr sz="1300" spc="-10" dirty="0">
                <a:latin typeface="Cambria"/>
                <a:cs typeface="Cambria"/>
              </a:rPr>
              <a:t>powerful </a:t>
            </a:r>
            <a:r>
              <a:rPr sz="1300" spc="60" dirty="0">
                <a:latin typeface="Cambria"/>
                <a:cs typeface="Cambria"/>
              </a:rPr>
              <a:t>cache </a:t>
            </a:r>
            <a:r>
              <a:rPr sz="1300" spc="55" dirty="0">
                <a:latin typeface="Cambria"/>
                <a:cs typeface="Cambria"/>
              </a:rPr>
              <a:t>technology</a:t>
            </a:r>
            <a:r>
              <a:rPr sz="1300" spc="45" dirty="0">
                <a:latin typeface="Cambria"/>
                <a:cs typeface="Cambria"/>
              </a:rPr>
              <a:t> </a:t>
            </a:r>
            <a:r>
              <a:rPr sz="1300" spc="-25" dirty="0">
                <a:latin typeface="Cambria"/>
                <a:cs typeface="Cambria"/>
              </a:rPr>
              <a:t>and </a:t>
            </a:r>
            <a:r>
              <a:rPr sz="1300" spc="-10" dirty="0">
                <a:latin typeface="Cambria"/>
                <a:cs typeface="Cambria"/>
              </a:rPr>
              <a:t>sophisticated instruction </a:t>
            </a:r>
            <a:r>
              <a:rPr sz="1300" spc="40" dirty="0">
                <a:latin typeface="Cambria"/>
                <a:cs typeface="Cambria"/>
              </a:rPr>
              <a:t>pipelining</a:t>
            </a:r>
            <a:endParaRPr sz="1300">
              <a:latin typeface="Cambria"/>
              <a:cs typeface="Cambria"/>
            </a:endParaRPr>
          </a:p>
          <a:p>
            <a:pPr marL="127000" marR="126364" indent="-114300">
              <a:lnSpc>
                <a:spcPct val="88100"/>
              </a:lnSpc>
              <a:spcBef>
                <a:spcPts val="235"/>
              </a:spcBef>
              <a:buChar char="•"/>
              <a:tabLst>
                <a:tab pos="127000" algn="l"/>
              </a:tabLst>
            </a:pPr>
            <a:r>
              <a:rPr sz="1300" dirty="0">
                <a:latin typeface="Cambria"/>
                <a:cs typeface="Cambria"/>
              </a:rPr>
              <a:t>Also</a:t>
            </a:r>
            <a:r>
              <a:rPr sz="1300" spc="295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offered</a:t>
            </a:r>
            <a:r>
              <a:rPr sz="1300" spc="265" dirty="0">
                <a:latin typeface="Cambria"/>
                <a:cs typeface="Cambria"/>
              </a:rPr>
              <a:t> </a:t>
            </a:r>
            <a:r>
              <a:rPr sz="1300" spc="-50" dirty="0">
                <a:latin typeface="Cambria"/>
                <a:cs typeface="Cambria"/>
              </a:rPr>
              <a:t>a </a:t>
            </a:r>
            <a:r>
              <a:rPr sz="1300" dirty="0">
                <a:latin typeface="Cambria"/>
                <a:cs typeface="Cambria"/>
              </a:rPr>
              <a:t>built-in</a:t>
            </a:r>
            <a:r>
              <a:rPr sz="1300" spc="195" dirty="0">
                <a:latin typeface="Cambria"/>
                <a:cs typeface="Cambria"/>
              </a:rPr>
              <a:t> </a:t>
            </a:r>
            <a:r>
              <a:rPr sz="1300" spc="-20" dirty="0">
                <a:latin typeface="Cambria"/>
                <a:cs typeface="Cambria"/>
              </a:rPr>
              <a:t>math </a:t>
            </a:r>
            <a:r>
              <a:rPr sz="1300" spc="35" dirty="0">
                <a:latin typeface="Cambria"/>
                <a:cs typeface="Cambria"/>
              </a:rPr>
              <a:t>coprocessor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86334" y="17475"/>
            <a:ext cx="68440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Highlights </a:t>
            </a:r>
            <a:r>
              <a:rPr dirty="0"/>
              <a:t>of</a:t>
            </a:r>
            <a:r>
              <a:rPr spc="160" dirty="0"/>
              <a:t> </a:t>
            </a:r>
            <a:r>
              <a:rPr spc="75" dirty="0"/>
              <a:t>the</a:t>
            </a:r>
            <a:r>
              <a:rPr spc="155" dirty="0"/>
              <a:t> </a:t>
            </a:r>
            <a:r>
              <a:rPr spc="50" dirty="0"/>
              <a:t>Evolution</a:t>
            </a:r>
            <a:r>
              <a:rPr spc="120" dirty="0"/>
              <a:t> </a:t>
            </a:r>
            <a:r>
              <a:rPr dirty="0"/>
              <a:t>of</a:t>
            </a:r>
            <a:r>
              <a:rPr spc="155" dirty="0"/>
              <a:t> </a:t>
            </a:r>
            <a:r>
              <a:rPr spc="50" dirty="0"/>
              <a:t>the </a:t>
            </a:r>
            <a:r>
              <a:rPr dirty="0"/>
              <a:t>Intel</a:t>
            </a:r>
            <a:r>
              <a:rPr spc="215" dirty="0"/>
              <a:t> </a:t>
            </a:r>
            <a:r>
              <a:rPr spc="55" dirty="0"/>
              <a:t>Product</a:t>
            </a:r>
            <a:r>
              <a:rPr spc="215" dirty="0"/>
              <a:t> </a:t>
            </a:r>
            <a:r>
              <a:rPr spc="55" dirty="0"/>
              <a:t>Line: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0772" y="1170432"/>
            <a:ext cx="9062085" cy="5407660"/>
            <a:chOff x="80772" y="1170432"/>
            <a:chExt cx="9062085" cy="5407660"/>
          </a:xfrm>
        </p:grpSpPr>
        <p:sp>
          <p:nvSpPr>
            <p:cNvPr id="5" name="object 5"/>
            <p:cNvSpPr/>
            <p:nvPr/>
          </p:nvSpPr>
          <p:spPr>
            <a:xfrm>
              <a:off x="93726" y="1343406"/>
              <a:ext cx="9036050" cy="439420"/>
            </a:xfrm>
            <a:custGeom>
              <a:avLst/>
              <a:gdLst/>
              <a:ahLst/>
              <a:cxnLst/>
              <a:rect l="l" t="t" r="r" b="b"/>
              <a:pathLst>
                <a:path w="9036050" h="439419">
                  <a:moveTo>
                    <a:pt x="9035796" y="0"/>
                  </a:moveTo>
                  <a:lnTo>
                    <a:pt x="0" y="0"/>
                  </a:lnTo>
                  <a:lnTo>
                    <a:pt x="0" y="438912"/>
                  </a:lnTo>
                  <a:lnTo>
                    <a:pt x="9035796" y="438912"/>
                  </a:lnTo>
                  <a:lnTo>
                    <a:pt x="903579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3726" y="1343406"/>
              <a:ext cx="9036050" cy="439420"/>
            </a:xfrm>
            <a:custGeom>
              <a:avLst/>
              <a:gdLst/>
              <a:ahLst/>
              <a:cxnLst/>
              <a:rect l="l" t="t" r="r" b="b"/>
              <a:pathLst>
                <a:path w="9036050" h="439419">
                  <a:moveTo>
                    <a:pt x="0" y="438912"/>
                  </a:moveTo>
                  <a:lnTo>
                    <a:pt x="9035796" y="438912"/>
                  </a:lnTo>
                  <a:lnTo>
                    <a:pt x="9035796" y="0"/>
                  </a:lnTo>
                  <a:lnTo>
                    <a:pt x="0" y="0"/>
                  </a:lnTo>
                  <a:lnTo>
                    <a:pt x="0" y="438912"/>
                  </a:lnTo>
                  <a:close/>
                </a:path>
              </a:pathLst>
            </a:custGeom>
            <a:ln w="25908">
              <a:solidFill>
                <a:srgbClr val="330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26" y="1183386"/>
              <a:ext cx="6326505" cy="265430"/>
            </a:xfrm>
            <a:custGeom>
              <a:avLst/>
              <a:gdLst/>
              <a:ahLst/>
              <a:cxnLst/>
              <a:rect l="l" t="t" r="r" b="b"/>
              <a:pathLst>
                <a:path w="6326505" h="265430">
                  <a:moveTo>
                    <a:pt x="6281928" y="0"/>
                  </a:moveTo>
                  <a:lnTo>
                    <a:pt x="44195" y="0"/>
                  </a:lnTo>
                  <a:lnTo>
                    <a:pt x="26992" y="3476"/>
                  </a:lnTo>
                  <a:lnTo>
                    <a:pt x="12944" y="12954"/>
                  </a:lnTo>
                  <a:lnTo>
                    <a:pt x="3473" y="27003"/>
                  </a:lnTo>
                  <a:lnTo>
                    <a:pt x="0" y="44196"/>
                  </a:lnTo>
                  <a:lnTo>
                    <a:pt x="0" y="220979"/>
                  </a:lnTo>
                  <a:lnTo>
                    <a:pt x="3473" y="238172"/>
                  </a:lnTo>
                  <a:lnTo>
                    <a:pt x="12944" y="252222"/>
                  </a:lnTo>
                  <a:lnTo>
                    <a:pt x="26992" y="261699"/>
                  </a:lnTo>
                  <a:lnTo>
                    <a:pt x="44195" y="265175"/>
                  </a:lnTo>
                  <a:lnTo>
                    <a:pt x="6281928" y="265175"/>
                  </a:lnTo>
                  <a:lnTo>
                    <a:pt x="6299120" y="261699"/>
                  </a:lnTo>
                  <a:lnTo>
                    <a:pt x="6313170" y="252221"/>
                  </a:lnTo>
                  <a:lnTo>
                    <a:pt x="6322647" y="238172"/>
                  </a:lnTo>
                  <a:lnTo>
                    <a:pt x="6326124" y="220979"/>
                  </a:lnTo>
                  <a:lnTo>
                    <a:pt x="6326124" y="44196"/>
                  </a:lnTo>
                  <a:lnTo>
                    <a:pt x="6322647" y="27003"/>
                  </a:lnTo>
                  <a:lnTo>
                    <a:pt x="6313170" y="12953"/>
                  </a:lnTo>
                  <a:lnTo>
                    <a:pt x="6299120" y="3476"/>
                  </a:lnTo>
                  <a:lnTo>
                    <a:pt x="6281928" y="0"/>
                  </a:lnTo>
                  <a:close/>
                </a:path>
              </a:pathLst>
            </a:custGeom>
            <a:solidFill>
              <a:srgbClr val="330E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726" y="1183386"/>
              <a:ext cx="6326505" cy="265430"/>
            </a:xfrm>
            <a:custGeom>
              <a:avLst/>
              <a:gdLst/>
              <a:ahLst/>
              <a:cxnLst/>
              <a:rect l="l" t="t" r="r" b="b"/>
              <a:pathLst>
                <a:path w="6326505" h="265430">
                  <a:moveTo>
                    <a:pt x="0" y="44196"/>
                  </a:moveTo>
                  <a:lnTo>
                    <a:pt x="3473" y="27003"/>
                  </a:lnTo>
                  <a:lnTo>
                    <a:pt x="12944" y="12954"/>
                  </a:lnTo>
                  <a:lnTo>
                    <a:pt x="26992" y="3476"/>
                  </a:lnTo>
                  <a:lnTo>
                    <a:pt x="44195" y="0"/>
                  </a:lnTo>
                  <a:lnTo>
                    <a:pt x="6281928" y="0"/>
                  </a:lnTo>
                  <a:lnTo>
                    <a:pt x="6299120" y="3476"/>
                  </a:lnTo>
                  <a:lnTo>
                    <a:pt x="6313170" y="12953"/>
                  </a:lnTo>
                  <a:lnTo>
                    <a:pt x="6322647" y="27003"/>
                  </a:lnTo>
                  <a:lnTo>
                    <a:pt x="6326124" y="44196"/>
                  </a:lnTo>
                  <a:lnTo>
                    <a:pt x="6326124" y="220979"/>
                  </a:lnTo>
                  <a:lnTo>
                    <a:pt x="6322647" y="238172"/>
                  </a:lnTo>
                  <a:lnTo>
                    <a:pt x="6313170" y="252221"/>
                  </a:lnTo>
                  <a:lnTo>
                    <a:pt x="6299120" y="261699"/>
                  </a:lnTo>
                  <a:lnTo>
                    <a:pt x="6281928" y="265175"/>
                  </a:lnTo>
                  <a:lnTo>
                    <a:pt x="44195" y="265175"/>
                  </a:lnTo>
                  <a:lnTo>
                    <a:pt x="26992" y="261699"/>
                  </a:lnTo>
                  <a:lnTo>
                    <a:pt x="12944" y="252222"/>
                  </a:lnTo>
                  <a:lnTo>
                    <a:pt x="3473" y="238172"/>
                  </a:lnTo>
                  <a:lnTo>
                    <a:pt x="0" y="220979"/>
                  </a:lnTo>
                  <a:lnTo>
                    <a:pt x="0" y="44196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726" y="1963674"/>
              <a:ext cx="9036050" cy="596265"/>
            </a:xfrm>
            <a:custGeom>
              <a:avLst/>
              <a:gdLst/>
              <a:ahLst/>
              <a:cxnLst/>
              <a:rect l="l" t="t" r="r" b="b"/>
              <a:pathLst>
                <a:path w="9036050" h="596264">
                  <a:moveTo>
                    <a:pt x="9035796" y="0"/>
                  </a:moveTo>
                  <a:lnTo>
                    <a:pt x="0" y="0"/>
                  </a:lnTo>
                  <a:lnTo>
                    <a:pt x="0" y="595884"/>
                  </a:lnTo>
                  <a:lnTo>
                    <a:pt x="9035796" y="595884"/>
                  </a:lnTo>
                  <a:lnTo>
                    <a:pt x="903579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3726" y="1963674"/>
              <a:ext cx="9036050" cy="596265"/>
            </a:xfrm>
            <a:custGeom>
              <a:avLst/>
              <a:gdLst/>
              <a:ahLst/>
              <a:cxnLst/>
              <a:rect l="l" t="t" r="r" b="b"/>
              <a:pathLst>
                <a:path w="9036050" h="596264">
                  <a:moveTo>
                    <a:pt x="0" y="595884"/>
                  </a:moveTo>
                  <a:lnTo>
                    <a:pt x="9035796" y="595884"/>
                  </a:lnTo>
                  <a:lnTo>
                    <a:pt x="9035796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25908">
              <a:solidFill>
                <a:srgbClr val="3B17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830" y="1831086"/>
              <a:ext cx="6326505" cy="265430"/>
            </a:xfrm>
            <a:custGeom>
              <a:avLst/>
              <a:gdLst/>
              <a:ahLst/>
              <a:cxnLst/>
              <a:rect l="l" t="t" r="r" b="b"/>
              <a:pathLst>
                <a:path w="6326505" h="265430">
                  <a:moveTo>
                    <a:pt x="6281928" y="0"/>
                  </a:moveTo>
                  <a:lnTo>
                    <a:pt x="44196" y="0"/>
                  </a:lnTo>
                  <a:lnTo>
                    <a:pt x="26992" y="3476"/>
                  </a:lnTo>
                  <a:lnTo>
                    <a:pt x="12944" y="12954"/>
                  </a:lnTo>
                  <a:lnTo>
                    <a:pt x="3473" y="27003"/>
                  </a:lnTo>
                  <a:lnTo>
                    <a:pt x="0" y="44196"/>
                  </a:lnTo>
                  <a:lnTo>
                    <a:pt x="0" y="220979"/>
                  </a:lnTo>
                  <a:lnTo>
                    <a:pt x="3473" y="238172"/>
                  </a:lnTo>
                  <a:lnTo>
                    <a:pt x="12944" y="252222"/>
                  </a:lnTo>
                  <a:lnTo>
                    <a:pt x="26992" y="261699"/>
                  </a:lnTo>
                  <a:lnTo>
                    <a:pt x="44196" y="265175"/>
                  </a:lnTo>
                  <a:lnTo>
                    <a:pt x="6281928" y="265175"/>
                  </a:lnTo>
                  <a:lnTo>
                    <a:pt x="6299120" y="261699"/>
                  </a:lnTo>
                  <a:lnTo>
                    <a:pt x="6313170" y="252221"/>
                  </a:lnTo>
                  <a:lnTo>
                    <a:pt x="6322647" y="238172"/>
                  </a:lnTo>
                  <a:lnTo>
                    <a:pt x="6326124" y="220979"/>
                  </a:lnTo>
                  <a:lnTo>
                    <a:pt x="6326124" y="44196"/>
                  </a:lnTo>
                  <a:lnTo>
                    <a:pt x="6322647" y="27003"/>
                  </a:lnTo>
                  <a:lnTo>
                    <a:pt x="6313170" y="12953"/>
                  </a:lnTo>
                  <a:lnTo>
                    <a:pt x="6299120" y="3476"/>
                  </a:lnTo>
                  <a:lnTo>
                    <a:pt x="6281928" y="0"/>
                  </a:lnTo>
                  <a:close/>
                </a:path>
              </a:pathLst>
            </a:custGeom>
            <a:solidFill>
              <a:srgbClr val="3B17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830" y="1831086"/>
              <a:ext cx="6326505" cy="265430"/>
            </a:xfrm>
            <a:custGeom>
              <a:avLst/>
              <a:gdLst/>
              <a:ahLst/>
              <a:cxnLst/>
              <a:rect l="l" t="t" r="r" b="b"/>
              <a:pathLst>
                <a:path w="6326505" h="265430">
                  <a:moveTo>
                    <a:pt x="0" y="44196"/>
                  </a:moveTo>
                  <a:lnTo>
                    <a:pt x="3473" y="27003"/>
                  </a:lnTo>
                  <a:lnTo>
                    <a:pt x="12944" y="12954"/>
                  </a:lnTo>
                  <a:lnTo>
                    <a:pt x="26992" y="3476"/>
                  </a:lnTo>
                  <a:lnTo>
                    <a:pt x="44196" y="0"/>
                  </a:lnTo>
                  <a:lnTo>
                    <a:pt x="6281928" y="0"/>
                  </a:lnTo>
                  <a:lnTo>
                    <a:pt x="6299120" y="3476"/>
                  </a:lnTo>
                  <a:lnTo>
                    <a:pt x="6313170" y="12953"/>
                  </a:lnTo>
                  <a:lnTo>
                    <a:pt x="6322647" y="27003"/>
                  </a:lnTo>
                  <a:lnTo>
                    <a:pt x="6326124" y="44196"/>
                  </a:lnTo>
                  <a:lnTo>
                    <a:pt x="6326124" y="220979"/>
                  </a:lnTo>
                  <a:lnTo>
                    <a:pt x="6322647" y="238172"/>
                  </a:lnTo>
                  <a:lnTo>
                    <a:pt x="6313170" y="252221"/>
                  </a:lnTo>
                  <a:lnTo>
                    <a:pt x="6299120" y="261699"/>
                  </a:lnTo>
                  <a:lnTo>
                    <a:pt x="6281928" y="265175"/>
                  </a:lnTo>
                  <a:lnTo>
                    <a:pt x="44196" y="265175"/>
                  </a:lnTo>
                  <a:lnTo>
                    <a:pt x="26992" y="261699"/>
                  </a:lnTo>
                  <a:lnTo>
                    <a:pt x="12944" y="252222"/>
                  </a:lnTo>
                  <a:lnTo>
                    <a:pt x="3473" y="238172"/>
                  </a:lnTo>
                  <a:lnTo>
                    <a:pt x="0" y="220979"/>
                  </a:lnTo>
                  <a:lnTo>
                    <a:pt x="0" y="44196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3726" y="2740914"/>
              <a:ext cx="9036050" cy="594360"/>
            </a:xfrm>
            <a:custGeom>
              <a:avLst/>
              <a:gdLst/>
              <a:ahLst/>
              <a:cxnLst/>
              <a:rect l="l" t="t" r="r" b="b"/>
              <a:pathLst>
                <a:path w="9036050" h="594360">
                  <a:moveTo>
                    <a:pt x="9035796" y="0"/>
                  </a:moveTo>
                  <a:lnTo>
                    <a:pt x="0" y="0"/>
                  </a:lnTo>
                  <a:lnTo>
                    <a:pt x="0" y="594360"/>
                  </a:lnTo>
                  <a:lnTo>
                    <a:pt x="9035796" y="594360"/>
                  </a:lnTo>
                  <a:lnTo>
                    <a:pt x="903579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3726" y="2740914"/>
              <a:ext cx="9036050" cy="594360"/>
            </a:xfrm>
            <a:custGeom>
              <a:avLst/>
              <a:gdLst/>
              <a:ahLst/>
              <a:cxnLst/>
              <a:rect l="l" t="t" r="r" b="b"/>
              <a:pathLst>
                <a:path w="9036050" h="594360">
                  <a:moveTo>
                    <a:pt x="0" y="594360"/>
                  </a:moveTo>
                  <a:lnTo>
                    <a:pt x="9035796" y="594360"/>
                  </a:lnTo>
                  <a:lnTo>
                    <a:pt x="9035796" y="0"/>
                  </a:lnTo>
                  <a:lnTo>
                    <a:pt x="0" y="0"/>
                  </a:lnTo>
                  <a:lnTo>
                    <a:pt x="0" y="594360"/>
                  </a:lnTo>
                  <a:close/>
                </a:path>
              </a:pathLst>
            </a:custGeom>
            <a:ln w="25908">
              <a:solidFill>
                <a:srgbClr val="4423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4830" y="2606802"/>
              <a:ext cx="6326505" cy="266700"/>
            </a:xfrm>
            <a:custGeom>
              <a:avLst/>
              <a:gdLst/>
              <a:ahLst/>
              <a:cxnLst/>
              <a:rect l="l" t="t" r="r" b="b"/>
              <a:pathLst>
                <a:path w="6326505" h="266700">
                  <a:moveTo>
                    <a:pt x="6281674" y="0"/>
                  </a:moveTo>
                  <a:lnTo>
                    <a:pt x="44450" y="0"/>
                  </a:lnTo>
                  <a:lnTo>
                    <a:pt x="27148" y="3498"/>
                  </a:lnTo>
                  <a:lnTo>
                    <a:pt x="13019" y="13033"/>
                  </a:lnTo>
                  <a:lnTo>
                    <a:pt x="3493" y="27164"/>
                  </a:lnTo>
                  <a:lnTo>
                    <a:pt x="0" y="44450"/>
                  </a:lnTo>
                  <a:lnTo>
                    <a:pt x="0" y="222250"/>
                  </a:lnTo>
                  <a:lnTo>
                    <a:pt x="3493" y="239535"/>
                  </a:lnTo>
                  <a:lnTo>
                    <a:pt x="13019" y="253666"/>
                  </a:lnTo>
                  <a:lnTo>
                    <a:pt x="27148" y="263201"/>
                  </a:lnTo>
                  <a:lnTo>
                    <a:pt x="44450" y="266700"/>
                  </a:lnTo>
                  <a:lnTo>
                    <a:pt x="6281674" y="266700"/>
                  </a:lnTo>
                  <a:lnTo>
                    <a:pt x="6298959" y="263201"/>
                  </a:lnTo>
                  <a:lnTo>
                    <a:pt x="6313090" y="253666"/>
                  </a:lnTo>
                  <a:lnTo>
                    <a:pt x="6322625" y="239535"/>
                  </a:lnTo>
                  <a:lnTo>
                    <a:pt x="6326124" y="222250"/>
                  </a:lnTo>
                  <a:lnTo>
                    <a:pt x="6326124" y="44450"/>
                  </a:lnTo>
                  <a:lnTo>
                    <a:pt x="6322625" y="27164"/>
                  </a:lnTo>
                  <a:lnTo>
                    <a:pt x="6313090" y="13033"/>
                  </a:lnTo>
                  <a:lnTo>
                    <a:pt x="6298959" y="3498"/>
                  </a:lnTo>
                  <a:lnTo>
                    <a:pt x="6281674" y="0"/>
                  </a:lnTo>
                  <a:close/>
                </a:path>
              </a:pathLst>
            </a:custGeom>
            <a:solidFill>
              <a:srgbClr val="4423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4830" y="2606802"/>
              <a:ext cx="6326505" cy="266700"/>
            </a:xfrm>
            <a:custGeom>
              <a:avLst/>
              <a:gdLst/>
              <a:ahLst/>
              <a:cxnLst/>
              <a:rect l="l" t="t" r="r" b="b"/>
              <a:pathLst>
                <a:path w="6326505" h="266700">
                  <a:moveTo>
                    <a:pt x="0" y="44450"/>
                  </a:move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6281674" y="0"/>
                  </a:lnTo>
                  <a:lnTo>
                    <a:pt x="6298959" y="3498"/>
                  </a:lnTo>
                  <a:lnTo>
                    <a:pt x="6313090" y="13033"/>
                  </a:lnTo>
                  <a:lnTo>
                    <a:pt x="6322625" y="27164"/>
                  </a:lnTo>
                  <a:lnTo>
                    <a:pt x="6326124" y="44450"/>
                  </a:lnTo>
                  <a:lnTo>
                    <a:pt x="6326124" y="222250"/>
                  </a:lnTo>
                  <a:lnTo>
                    <a:pt x="6322625" y="239535"/>
                  </a:lnTo>
                  <a:lnTo>
                    <a:pt x="6313090" y="253666"/>
                  </a:lnTo>
                  <a:lnTo>
                    <a:pt x="6298959" y="263201"/>
                  </a:lnTo>
                  <a:lnTo>
                    <a:pt x="6281674" y="266700"/>
                  </a:lnTo>
                  <a:lnTo>
                    <a:pt x="44450" y="266700"/>
                  </a:lnTo>
                  <a:lnTo>
                    <a:pt x="27148" y="263201"/>
                  </a:lnTo>
                  <a:lnTo>
                    <a:pt x="13019" y="253666"/>
                  </a:lnTo>
                  <a:lnTo>
                    <a:pt x="3493" y="239535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3726" y="3516630"/>
              <a:ext cx="9036050" cy="596265"/>
            </a:xfrm>
            <a:custGeom>
              <a:avLst/>
              <a:gdLst/>
              <a:ahLst/>
              <a:cxnLst/>
              <a:rect l="l" t="t" r="r" b="b"/>
              <a:pathLst>
                <a:path w="9036050" h="596264">
                  <a:moveTo>
                    <a:pt x="9035796" y="0"/>
                  </a:moveTo>
                  <a:lnTo>
                    <a:pt x="0" y="0"/>
                  </a:lnTo>
                  <a:lnTo>
                    <a:pt x="0" y="595884"/>
                  </a:lnTo>
                  <a:lnTo>
                    <a:pt x="9035796" y="595884"/>
                  </a:lnTo>
                  <a:lnTo>
                    <a:pt x="903579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3726" y="3516630"/>
              <a:ext cx="9036050" cy="596265"/>
            </a:xfrm>
            <a:custGeom>
              <a:avLst/>
              <a:gdLst/>
              <a:ahLst/>
              <a:cxnLst/>
              <a:rect l="l" t="t" r="r" b="b"/>
              <a:pathLst>
                <a:path w="9036050" h="596264">
                  <a:moveTo>
                    <a:pt x="0" y="595884"/>
                  </a:moveTo>
                  <a:lnTo>
                    <a:pt x="9035796" y="595884"/>
                  </a:lnTo>
                  <a:lnTo>
                    <a:pt x="9035796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25908">
              <a:solidFill>
                <a:srgbClr val="4930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4830" y="3384042"/>
              <a:ext cx="6326505" cy="266700"/>
            </a:xfrm>
            <a:custGeom>
              <a:avLst/>
              <a:gdLst/>
              <a:ahLst/>
              <a:cxnLst/>
              <a:rect l="l" t="t" r="r" b="b"/>
              <a:pathLst>
                <a:path w="6326505" h="266700">
                  <a:moveTo>
                    <a:pt x="6281674" y="0"/>
                  </a:moveTo>
                  <a:lnTo>
                    <a:pt x="44450" y="0"/>
                  </a:lnTo>
                  <a:lnTo>
                    <a:pt x="27148" y="3498"/>
                  </a:lnTo>
                  <a:lnTo>
                    <a:pt x="13019" y="13033"/>
                  </a:lnTo>
                  <a:lnTo>
                    <a:pt x="3493" y="27164"/>
                  </a:lnTo>
                  <a:lnTo>
                    <a:pt x="0" y="44450"/>
                  </a:lnTo>
                  <a:lnTo>
                    <a:pt x="0" y="222250"/>
                  </a:lnTo>
                  <a:lnTo>
                    <a:pt x="3493" y="239535"/>
                  </a:lnTo>
                  <a:lnTo>
                    <a:pt x="13019" y="253666"/>
                  </a:lnTo>
                  <a:lnTo>
                    <a:pt x="27148" y="263201"/>
                  </a:lnTo>
                  <a:lnTo>
                    <a:pt x="44450" y="266700"/>
                  </a:lnTo>
                  <a:lnTo>
                    <a:pt x="6281674" y="266700"/>
                  </a:lnTo>
                  <a:lnTo>
                    <a:pt x="6298959" y="263201"/>
                  </a:lnTo>
                  <a:lnTo>
                    <a:pt x="6313090" y="253666"/>
                  </a:lnTo>
                  <a:lnTo>
                    <a:pt x="6322625" y="239535"/>
                  </a:lnTo>
                  <a:lnTo>
                    <a:pt x="6326124" y="222250"/>
                  </a:lnTo>
                  <a:lnTo>
                    <a:pt x="6326124" y="44450"/>
                  </a:lnTo>
                  <a:lnTo>
                    <a:pt x="6322625" y="27164"/>
                  </a:lnTo>
                  <a:lnTo>
                    <a:pt x="6313090" y="13033"/>
                  </a:lnTo>
                  <a:lnTo>
                    <a:pt x="6298959" y="3498"/>
                  </a:lnTo>
                  <a:lnTo>
                    <a:pt x="6281674" y="0"/>
                  </a:lnTo>
                  <a:close/>
                </a:path>
              </a:pathLst>
            </a:custGeom>
            <a:solidFill>
              <a:srgbClr val="4930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4830" y="3384042"/>
              <a:ext cx="6326505" cy="266700"/>
            </a:xfrm>
            <a:custGeom>
              <a:avLst/>
              <a:gdLst/>
              <a:ahLst/>
              <a:cxnLst/>
              <a:rect l="l" t="t" r="r" b="b"/>
              <a:pathLst>
                <a:path w="6326505" h="266700">
                  <a:moveTo>
                    <a:pt x="0" y="44450"/>
                  </a:move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6281674" y="0"/>
                  </a:lnTo>
                  <a:lnTo>
                    <a:pt x="6298959" y="3498"/>
                  </a:lnTo>
                  <a:lnTo>
                    <a:pt x="6313090" y="13033"/>
                  </a:lnTo>
                  <a:lnTo>
                    <a:pt x="6322625" y="27164"/>
                  </a:lnTo>
                  <a:lnTo>
                    <a:pt x="6326124" y="44450"/>
                  </a:lnTo>
                  <a:lnTo>
                    <a:pt x="6326124" y="222250"/>
                  </a:lnTo>
                  <a:lnTo>
                    <a:pt x="6322625" y="239535"/>
                  </a:lnTo>
                  <a:lnTo>
                    <a:pt x="6313090" y="253666"/>
                  </a:lnTo>
                  <a:lnTo>
                    <a:pt x="6298959" y="263201"/>
                  </a:lnTo>
                  <a:lnTo>
                    <a:pt x="6281674" y="266700"/>
                  </a:lnTo>
                  <a:lnTo>
                    <a:pt x="44450" y="266700"/>
                  </a:lnTo>
                  <a:lnTo>
                    <a:pt x="27148" y="263201"/>
                  </a:lnTo>
                  <a:lnTo>
                    <a:pt x="13019" y="253666"/>
                  </a:lnTo>
                  <a:lnTo>
                    <a:pt x="3493" y="239535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3726" y="4293870"/>
              <a:ext cx="9036050" cy="439420"/>
            </a:xfrm>
            <a:custGeom>
              <a:avLst/>
              <a:gdLst/>
              <a:ahLst/>
              <a:cxnLst/>
              <a:rect l="l" t="t" r="r" b="b"/>
              <a:pathLst>
                <a:path w="9036050" h="439420">
                  <a:moveTo>
                    <a:pt x="9035796" y="0"/>
                  </a:moveTo>
                  <a:lnTo>
                    <a:pt x="0" y="0"/>
                  </a:lnTo>
                  <a:lnTo>
                    <a:pt x="0" y="438911"/>
                  </a:lnTo>
                  <a:lnTo>
                    <a:pt x="9035796" y="438911"/>
                  </a:lnTo>
                  <a:lnTo>
                    <a:pt x="903579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3726" y="4293870"/>
              <a:ext cx="9036050" cy="439420"/>
            </a:xfrm>
            <a:custGeom>
              <a:avLst/>
              <a:gdLst/>
              <a:ahLst/>
              <a:cxnLst/>
              <a:rect l="l" t="t" r="r" b="b"/>
              <a:pathLst>
                <a:path w="9036050" h="439420">
                  <a:moveTo>
                    <a:pt x="0" y="438911"/>
                  </a:moveTo>
                  <a:lnTo>
                    <a:pt x="9035796" y="438911"/>
                  </a:lnTo>
                  <a:lnTo>
                    <a:pt x="9035796" y="0"/>
                  </a:lnTo>
                  <a:lnTo>
                    <a:pt x="0" y="0"/>
                  </a:lnTo>
                  <a:lnTo>
                    <a:pt x="0" y="438911"/>
                  </a:lnTo>
                  <a:close/>
                </a:path>
              </a:pathLst>
            </a:custGeom>
            <a:ln w="25908">
              <a:solidFill>
                <a:srgbClr val="51418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4830" y="4161282"/>
              <a:ext cx="6326505" cy="265430"/>
            </a:xfrm>
            <a:custGeom>
              <a:avLst/>
              <a:gdLst/>
              <a:ahLst/>
              <a:cxnLst/>
              <a:rect l="l" t="t" r="r" b="b"/>
              <a:pathLst>
                <a:path w="6326505" h="265429">
                  <a:moveTo>
                    <a:pt x="6281928" y="0"/>
                  </a:moveTo>
                  <a:lnTo>
                    <a:pt x="44196" y="0"/>
                  </a:lnTo>
                  <a:lnTo>
                    <a:pt x="26992" y="3476"/>
                  </a:lnTo>
                  <a:lnTo>
                    <a:pt x="12944" y="12954"/>
                  </a:lnTo>
                  <a:lnTo>
                    <a:pt x="3473" y="27003"/>
                  </a:lnTo>
                  <a:lnTo>
                    <a:pt x="0" y="44196"/>
                  </a:lnTo>
                  <a:lnTo>
                    <a:pt x="0" y="220980"/>
                  </a:lnTo>
                  <a:lnTo>
                    <a:pt x="3473" y="238172"/>
                  </a:lnTo>
                  <a:lnTo>
                    <a:pt x="12944" y="252222"/>
                  </a:lnTo>
                  <a:lnTo>
                    <a:pt x="26992" y="261699"/>
                  </a:lnTo>
                  <a:lnTo>
                    <a:pt x="44196" y="265176"/>
                  </a:lnTo>
                  <a:lnTo>
                    <a:pt x="6281928" y="265176"/>
                  </a:lnTo>
                  <a:lnTo>
                    <a:pt x="6299120" y="261699"/>
                  </a:lnTo>
                  <a:lnTo>
                    <a:pt x="6313170" y="252222"/>
                  </a:lnTo>
                  <a:lnTo>
                    <a:pt x="6322647" y="238172"/>
                  </a:lnTo>
                  <a:lnTo>
                    <a:pt x="6326124" y="220980"/>
                  </a:lnTo>
                  <a:lnTo>
                    <a:pt x="6326124" y="44196"/>
                  </a:lnTo>
                  <a:lnTo>
                    <a:pt x="6322647" y="27003"/>
                  </a:lnTo>
                  <a:lnTo>
                    <a:pt x="6313170" y="12954"/>
                  </a:lnTo>
                  <a:lnTo>
                    <a:pt x="6299120" y="3476"/>
                  </a:lnTo>
                  <a:lnTo>
                    <a:pt x="6281928" y="0"/>
                  </a:lnTo>
                  <a:close/>
                </a:path>
              </a:pathLst>
            </a:custGeom>
            <a:solidFill>
              <a:srgbClr val="5141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4830" y="4161282"/>
              <a:ext cx="6326505" cy="265430"/>
            </a:xfrm>
            <a:custGeom>
              <a:avLst/>
              <a:gdLst/>
              <a:ahLst/>
              <a:cxnLst/>
              <a:rect l="l" t="t" r="r" b="b"/>
              <a:pathLst>
                <a:path w="6326505" h="265429">
                  <a:moveTo>
                    <a:pt x="0" y="44196"/>
                  </a:moveTo>
                  <a:lnTo>
                    <a:pt x="3473" y="27003"/>
                  </a:lnTo>
                  <a:lnTo>
                    <a:pt x="12944" y="12954"/>
                  </a:lnTo>
                  <a:lnTo>
                    <a:pt x="26992" y="3476"/>
                  </a:lnTo>
                  <a:lnTo>
                    <a:pt x="44196" y="0"/>
                  </a:lnTo>
                  <a:lnTo>
                    <a:pt x="6281928" y="0"/>
                  </a:lnTo>
                  <a:lnTo>
                    <a:pt x="6299120" y="3476"/>
                  </a:lnTo>
                  <a:lnTo>
                    <a:pt x="6313170" y="12954"/>
                  </a:lnTo>
                  <a:lnTo>
                    <a:pt x="6322647" y="27003"/>
                  </a:lnTo>
                  <a:lnTo>
                    <a:pt x="6326124" y="44196"/>
                  </a:lnTo>
                  <a:lnTo>
                    <a:pt x="6326124" y="220980"/>
                  </a:lnTo>
                  <a:lnTo>
                    <a:pt x="6322647" y="238172"/>
                  </a:lnTo>
                  <a:lnTo>
                    <a:pt x="6313170" y="252222"/>
                  </a:lnTo>
                  <a:lnTo>
                    <a:pt x="6299120" y="261699"/>
                  </a:lnTo>
                  <a:lnTo>
                    <a:pt x="6281928" y="265176"/>
                  </a:lnTo>
                  <a:lnTo>
                    <a:pt x="44196" y="265176"/>
                  </a:lnTo>
                  <a:lnTo>
                    <a:pt x="26992" y="261699"/>
                  </a:lnTo>
                  <a:lnTo>
                    <a:pt x="12944" y="252222"/>
                  </a:lnTo>
                  <a:lnTo>
                    <a:pt x="3473" y="238172"/>
                  </a:lnTo>
                  <a:lnTo>
                    <a:pt x="0" y="220980"/>
                  </a:lnTo>
                  <a:lnTo>
                    <a:pt x="0" y="44196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3726" y="4914138"/>
              <a:ext cx="9036050" cy="440690"/>
            </a:xfrm>
            <a:custGeom>
              <a:avLst/>
              <a:gdLst/>
              <a:ahLst/>
              <a:cxnLst/>
              <a:rect l="l" t="t" r="r" b="b"/>
              <a:pathLst>
                <a:path w="9036050" h="440689">
                  <a:moveTo>
                    <a:pt x="9035796" y="0"/>
                  </a:moveTo>
                  <a:lnTo>
                    <a:pt x="0" y="0"/>
                  </a:lnTo>
                  <a:lnTo>
                    <a:pt x="0" y="440436"/>
                  </a:lnTo>
                  <a:lnTo>
                    <a:pt x="9035796" y="440436"/>
                  </a:lnTo>
                  <a:lnTo>
                    <a:pt x="903579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3726" y="4914138"/>
              <a:ext cx="9036050" cy="440690"/>
            </a:xfrm>
            <a:custGeom>
              <a:avLst/>
              <a:gdLst/>
              <a:ahLst/>
              <a:cxnLst/>
              <a:rect l="l" t="t" r="r" b="b"/>
              <a:pathLst>
                <a:path w="9036050" h="440689">
                  <a:moveTo>
                    <a:pt x="0" y="440436"/>
                  </a:moveTo>
                  <a:lnTo>
                    <a:pt x="9035796" y="440436"/>
                  </a:lnTo>
                  <a:lnTo>
                    <a:pt x="9035796" y="0"/>
                  </a:lnTo>
                  <a:lnTo>
                    <a:pt x="0" y="0"/>
                  </a:lnTo>
                  <a:lnTo>
                    <a:pt x="0" y="440436"/>
                  </a:lnTo>
                  <a:close/>
                </a:path>
              </a:pathLst>
            </a:custGeom>
            <a:ln w="25908">
              <a:solidFill>
                <a:srgbClr val="5A52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0302" y="4751070"/>
              <a:ext cx="6326505" cy="265430"/>
            </a:xfrm>
            <a:custGeom>
              <a:avLst/>
              <a:gdLst/>
              <a:ahLst/>
              <a:cxnLst/>
              <a:rect l="l" t="t" r="r" b="b"/>
              <a:pathLst>
                <a:path w="6326505" h="265429">
                  <a:moveTo>
                    <a:pt x="6281928" y="0"/>
                  </a:moveTo>
                  <a:lnTo>
                    <a:pt x="44196" y="0"/>
                  </a:lnTo>
                  <a:lnTo>
                    <a:pt x="26992" y="3476"/>
                  </a:lnTo>
                  <a:lnTo>
                    <a:pt x="12944" y="12953"/>
                  </a:lnTo>
                  <a:lnTo>
                    <a:pt x="3473" y="27003"/>
                  </a:lnTo>
                  <a:lnTo>
                    <a:pt x="0" y="44195"/>
                  </a:lnTo>
                  <a:lnTo>
                    <a:pt x="0" y="220979"/>
                  </a:lnTo>
                  <a:lnTo>
                    <a:pt x="3473" y="238172"/>
                  </a:lnTo>
                  <a:lnTo>
                    <a:pt x="12944" y="252221"/>
                  </a:lnTo>
                  <a:lnTo>
                    <a:pt x="26992" y="261699"/>
                  </a:lnTo>
                  <a:lnTo>
                    <a:pt x="44196" y="265175"/>
                  </a:lnTo>
                  <a:lnTo>
                    <a:pt x="6281928" y="265175"/>
                  </a:lnTo>
                  <a:lnTo>
                    <a:pt x="6299120" y="261699"/>
                  </a:lnTo>
                  <a:lnTo>
                    <a:pt x="6313170" y="252221"/>
                  </a:lnTo>
                  <a:lnTo>
                    <a:pt x="6322647" y="238172"/>
                  </a:lnTo>
                  <a:lnTo>
                    <a:pt x="6326124" y="220979"/>
                  </a:lnTo>
                  <a:lnTo>
                    <a:pt x="6326124" y="44195"/>
                  </a:lnTo>
                  <a:lnTo>
                    <a:pt x="6322647" y="27003"/>
                  </a:lnTo>
                  <a:lnTo>
                    <a:pt x="6313170" y="12953"/>
                  </a:lnTo>
                  <a:lnTo>
                    <a:pt x="6299120" y="3476"/>
                  </a:lnTo>
                  <a:lnTo>
                    <a:pt x="6281928" y="0"/>
                  </a:lnTo>
                  <a:close/>
                </a:path>
              </a:pathLst>
            </a:custGeom>
            <a:solidFill>
              <a:srgbClr val="5A52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0302" y="4751070"/>
              <a:ext cx="6326505" cy="265430"/>
            </a:xfrm>
            <a:custGeom>
              <a:avLst/>
              <a:gdLst/>
              <a:ahLst/>
              <a:cxnLst/>
              <a:rect l="l" t="t" r="r" b="b"/>
              <a:pathLst>
                <a:path w="6326505" h="265429">
                  <a:moveTo>
                    <a:pt x="0" y="44195"/>
                  </a:moveTo>
                  <a:lnTo>
                    <a:pt x="3473" y="27003"/>
                  </a:lnTo>
                  <a:lnTo>
                    <a:pt x="12944" y="12953"/>
                  </a:lnTo>
                  <a:lnTo>
                    <a:pt x="26992" y="3476"/>
                  </a:lnTo>
                  <a:lnTo>
                    <a:pt x="44196" y="0"/>
                  </a:lnTo>
                  <a:lnTo>
                    <a:pt x="6281928" y="0"/>
                  </a:lnTo>
                  <a:lnTo>
                    <a:pt x="6299120" y="3476"/>
                  </a:lnTo>
                  <a:lnTo>
                    <a:pt x="6313170" y="12953"/>
                  </a:lnTo>
                  <a:lnTo>
                    <a:pt x="6322647" y="27003"/>
                  </a:lnTo>
                  <a:lnTo>
                    <a:pt x="6326124" y="44195"/>
                  </a:lnTo>
                  <a:lnTo>
                    <a:pt x="6326124" y="220979"/>
                  </a:lnTo>
                  <a:lnTo>
                    <a:pt x="6322647" y="238172"/>
                  </a:lnTo>
                  <a:lnTo>
                    <a:pt x="6313170" y="252221"/>
                  </a:lnTo>
                  <a:lnTo>
                    <a:pt x="6299120" y="261699"/>
                  </a:lnTo>
                  <a:lnTo>
                    <a:pt x="6281928" y="265175"/>
                  </a:lnTo>
                  <a:lnTo>
                    <a:pt x="44196" y="265175"/>
                  </a:lnTo>
                  <a:lnTo>
                    <a:pt x="26992" y="261699"/>
                  </a:lnTo>
                  <a:lnTo>
                    <a:pt x="12944" y="252221"/>
                  </a:lnTo>
                  <a:lnTo>
                    <a:pt x="3473" y="238172"/>
                  </a:lnTo>
                  <a:lnTo>
                    <a:pt x="0" y="220979"/>
                  </a:lnTo>
                  <a:lnTo>
                    <a:pt x="0" y="4419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3726" y="5545073"/>
              <a:ext cx="9036050" cy="1019810"/>
            </a:xfrm>
            <a:custGeom>
              <a:avLst/>
              <a:gdLst/>
              <a:ahLst/>
              <a:cxnLst/>
              <a:rect l="l" t="t" r="r" b="b"/>
              <a:pathLst>
                <a:path w="9036050" h="1019809">
                  <a:moveTo>
                    <a:pt x="9035796" y="0"/>
                  </a:moveTo>
                  <a:lnTo>
                    <a:pt x="0" y="0"/>
                  </a:lnTo>
                  <a:lnTo>
                    <a:pt x="0" y="1019556"/>
                  </a:lnTo>
                  <a:lnTo>
                    <a:pt x="9035796" y="1019556"/>
                  </a:lnTo>
                  <a:lnTo>
                    <a:pt x="903579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3726" y="5545073"/>
              <a:ext cx="9036050" cy="1019810"/>
            </a:xfrm>
            <a:custGeom>
              <a:avLst/>
              <a:gdLst/>
              <a:ahLst/>
              <a:cxnLst/>
              <a:rect l="l" t="t" r="r" b="b"/>
              <a:pathLst>
                <a:path w="9036050" h="1019809">
                  <a:moveTo>
                    <a:pt x="0" y="1019556"/>
                  </a:moveTo>
                  <a:lnTo>
                    <a:pt x="9035796" y="1019556"/>
                  </a:lnTo>
                  <a:lnTo>
                    <a:pt x="9035796" y="0"/>
                  </a:lnTo>
                  <a:lnTo>
                    <a:pt x="0" y="0"/>
                  </a:lnTo>
                  <a:lnTo>
                    <a:pt x="0" y="1019556"/>
                  </a:lnTo>
                  <a:close/>
                </a:path>
              </a:pathLst>
            </a:custGeom>
            <a:ln w="25908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4830" y="5403341"/>
              <a:ext cx="6326505" cy="265430"/>
            </a:xfrm>
            <a:custGeom>
              <a:avLst/>
              <a:gdLst/>
              <a:ahLst/>
              <a:cxnLst/>
              <a:rect l="l" t="t" r="r" b="b"/>
              <a:pathLst>
                <a:path w="6326505" h="265429">
                  <a:moveTo>
                    <a:pt x="6281928" y="0"/>
                  </a:moveTo>
                  <a:lnTo>
                    <a:pt x="44196" y="0"/>
                  </a:lnTo>
                  <a:lnTo>
                    <a:pt x="26992" y="3476"/>
                  </a:lnTo>
                  <a:lnTo>
                    <a:pt x="12944" y="12954"/>
                  </a:lnTo>
                  <a:lnTo>
                    <a:pt x="3473" y="27003"/>
                  </a:lnTo>
                  <a:lnTo>
                    <a:pt x="0" y="44196"/>
                  </a:lnTo>
                  <a:lnTo>
                    <a:pt x="0" y="220980"/>
                  </a:lnTo>
                  <a:lnTo>
                    <a:pt x="3473" y="238183"/>
                  </a:lnTo>
                  <a:lnTo>
                    <a:pt x="12944" y="252231"/>
                  </a:lnTo>
                  <a:lnTo>
                    <a:pt x="26992" y="261702"/>
                  </a:lnTo>
                  <a:lnTo>
                    <a:pt x="44196" y="265176"/>
                  </a:lnTo>
                  <a:lnTo>
                    <a:pt x="6281928" y="265176"/>
                  </a:lnTo>
                  <a:lnTo>
                    <a:pt x="6299120" y="261702"/>
                  </a:lnTo>
                  <a:lnTo>
                    <a:pt x="6313170" y="252231"/>
                  </a:lnTo>
                  <a:lnTo>
                    <a:pt x="6322647" y="238183"/>
                  </a:lnTo>
                  <a:lnTo>
                    <a:pt x="6326124" y="220980"/>
                  </a:lnTo>
                  <a:lnTo>
                    <a:pt x="6326124" y="44196"/>
                  </a:lnTo>
                  <a:lnTo>
                    <a:pt x="6322647" y="27003"/>
                  </a:lnTo>
                  <a:lnTo>
                    <a:pt x="6313170" y="12954"/>
                  </a:lnTo>
                  <a:lnTo>
                    <a:pt x="6299120" y="3476"/>
                  </a:lnTo>
                  <a:lnTo>
                    <a:pt x="6281928" y="0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44830" y="5403341"/>
              <a:ext cx="6326505" cy="265430"/>
            </a:xfrm>
            <a:custGeom>
              <a:avLst/>
              <a:gdLst/>
              <a:ahLst/>
              <a:cxnLst/>
              <a:rect l="l" t="t" r="r" b="b"/>
              <a:pathLst>
                <a:path w="6326505" h="265429">
                  <a:moveTo>
                    <a:pt x="0" y="44196"/>
                  </a:moveTo>
                  <a:lnTo>
                    <a:pt x="3473" y="27003"/>
                  </a:lnTo>
                  <a:lnTo>
                    <a:pt x="12944" y="12954"/>
                  </a:lnTo>
                  <a:lnTo>
                    <a:pt x="26992" y="3476"/>
                  </a:lnTo>
                  <a:lnTo>
                    <a:pt x="44196" y="0"/>
                  </a:lnTo>
                  <a:lnTo>
                    <a:pt x="6281928" y="0"/>
                  </a:lnTo>
                  <a:lnTo>
                    <a:pt x="6299120" y="3476"/>
                  </a:lnTo>
                  <a:lnTo>
                    <a:pt x="6313170" y="12954"/>
                  </a:lnTo>
                  <a:lnTo>
                    <a:pt x="6322647" y="27003"/>
                  </a:lnTo>
                  <a:lnTo>
                    <a:pt x="6326124" y="44196"/>
                  </a:lnTo>
                  <a:lnTo>
                    <a:pt x="6326124" y="220980"/>
                  </a:lnTo>
                  <a:lnTo>
                    <a:pt x="6322647" y="238183"/>
                  </a:lnTo>
                  <a:lnTo>
                    <a:pt x="6313170" y="252231"/>
                  </a:lnTo>
                  <a:lnTo>
                    <a:pt x="6299120" y="261702"/>
                  </a:lnTo>
                  <a:lnTo>
                    <a:pt x="6281928" y="265176"/>
                  </a:lnTo>
                  <a:lnTo>
                    <a:pt x="44196" y="265176"/>
                  </a:lnTo>
                  <a:lnTo>
                    <a:pt x="26992" y="261702"/>
                  </a:lnTo>
                  <a:lnTo>
                    <a:pt x="12944" y="252231"/>
                  </a:lnTo>
                  <a:lnTo>
                    <a:pt x="3473" y="238183"/>
                  </a:lnTo>
                  <a:lnTo>
                    <a:pt x="0" y="220980"/>
                  </a:lnTo>
                  <a:lnTo>
                    <a:pt x="0" y="44196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12013" y="1043292"/>
            <a:ext cx="8162925" cy="542353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1015"/>
              </a:spcBef>
            </a:pPr>
            <a:r>
              <a:rPr sz="1600" spc="-10" dirty="0">
                <a:solidFill>
                  <a:srgbClr val="FFFFFF"/>
                </a:solidFill>
                <a:latin typeface="Cambria"/>
                <a:cs typeface="Cambria"/>
              </a:rPr>
              <a:t>Pentium</a:t>
            </a:r>
            <a:endParaRPr sz="1600">
              <a:latin typeface="Cambria"/>
              <a:cs typeface="Cambria"/>
            </a:endParaRPr>
          </a:p>
          <a:p>
            <a:pPr marL="795020" indent="-113030">
              <a:lnSpc>
                <a:spcPct val="100000"/>
              </a:lnSpc>
              <a:spcBef>
                <a:spcPts val="690"/>
              </a:spcBef>
              <a:buChar char="•"/>
              <a:tabLst>
                <a:tab pos="795020" algn="l"/>
              </a:tabLst>
            </a:pPr>
            <a:r>
              <a:rPr sz="1200" spc="30" dirty="0">
                <a:latin typeface="Cambria"/>
                <a:cs typeface="Cambria"/>
              </a:rPr>
              <a:t>Intel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introduced the use</a:t>
            </a:r>
            <a:r>
              <a:rPr sz="1200" spc="2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of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superscalar</a:t>
            </a:r>
            <a:r>
              <a:rPr sz="1200" spc="1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techniques,</a:t>
            </a:r>
            <a:r>
              <a:rPr sz="1200" spc="-5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which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allow</a:t>
            </a:r>
            <a:r>
              <a:rPr sz="1200" spc="2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multiple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instructions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to</a:t>
            </a:r>
            <a:r>
              <a:rPr sz="1200" spc="10" dirty="0">
                <a:latin typeface="Cambria"/>
                <a:cs typeface="Cambria"/>
              </a:rPr>
              <a:t> </a:t>
            </a:r>
            <a:r>
              <a:rPr sz="1200" spc="50" dirty="0">
                <a:latin typeface="Cambria"/>
                <a:cs typeface="Cambria"/>
              </a:rPr>
              <a:t>execute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in</a:t>
            </a:r>
            <a:r>
              <a:rPr sz="1200" spc="1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parallel</a:t>
            </a:r>
            <a:endParaRPr sz="1200">
              <a:latin typeface="Cambria"/>
              <a:cs typeface="Cambria"/>
            </a:endParaRPr>
          </a:p>
          <a:p>
            <a:pPr marL="684530">
              <a:lnSpc>
                <a:spcPct val="100000"/>
              </a:lnSpc>
              <a:spcBef>
                <a:spcPts val="1055"/>
              </a:spcBef>
            </a:pPr>
            <a:r>
              <a:rPr sz="1600" dirty="0">
                <a:solidFill>
                  <a:srgbClr val="FFFFFF"/>
                </a:solidFill>
                <a:latin typeface="Cambria"/>
                <a:cs typeface="Cambria"/>
              </a:rPr>
              <a:t>Pentium</a:t>
            </a:r>
            <a:r>
              <a:rPr sz="16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mbria"/>
                <a:cs typeface="Cambria"/>
              </a:rPr>
              <a:t>Pro</a:t>
            </a:r>
            <a:endParaRPr sz="1600">
              <a:latin typeface="Cambria"/>
              <a:cs typeface="Cambria"/>
            </a:endParaRPr>
          </a:p>
          <a:p>
            <a:pPr marL="795020" marR="444500" indent="-113030">
              <a:lnSpc>
                <a:spcPts val="1270"/>
              </a:lnSpc>
              <a:spcBef>
                <a:spcPts val="660"/>
              </a:spcBef>
              <a:buChar char="•"/>
              <a:tabLst>
                <a:tab pos="796290" algn="l"/>
              </a:tabLst>
            </a:pPr>
            <a:r>
              <a:rPr sz="1200" spc="20" dirty="0">
                <a:latin typeface="Cambria"/>
                <a:cs typeface="Cambria"/>
              </a:rPr>
              <a:t>Continued</a:t>
            </a:r>
            <a:r>
              <a:rPr sz="1200" spc="114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the</a:t>
            </a:r>
            <a:r>
              <a:rPr sz="1200" spc="105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move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into</a:t>
            </a:r>
            <a:r>
              <a:rPr sz="1200" spc="105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superscalar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organization</a:t>
            </a:r>
            <a:r>
              <a:rPr sz="1200" spc="10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with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spc="55" dirty="0">
                <a:latin typeface="Cambria"/>
                <a:cs typeface="Cambria"/>
              </a:rPr>
              <a:t>aggressive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use</a:t>
            </a:r>
            <a:r>
              <a:rPr sz="1200" spc="11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of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register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renaming,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branch 	</a:t>
            </a:r>
            <a:r>
              <a:rPr sz="1200" spc="20" dirty="0">
                <a:latin typeface="Cambria"/>
                <a:cs typeface="Cambria"/>
              </a:rPr>
              <a:t>prediction, data</a:t>
            </a:r>
            <a:r>
              <a:rPr sz="1200" spc="13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flow</a:t>
            </a:r>
            <a:r>
              <a:rPr sz="1200" spc="16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analysis,</a:t>
            </a:r>
            <a:r>
              <a:rPr sz="1200" spc="3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and</a:t>
            </a:r>
            <a:r>
              <a:rPr sz="1200" spc="155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speculative</a:t>
            </a:r>
            <a:r>
              <a:rPr sz="1200" spc="14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execution</a:t>
            </a:r>
            <a:endParaRPr sz="1200">
              <a:latin typeface="Cambria"/>
              <a:cs typeface="Cambria"/>
            </a:endParaRPr>
          </a:p>
          <a:p>
            <a:pPr marL="68453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solidFill>
                  <a:srgbClr val="FFFFFF"/>
                </a:solidFill>
                <a:latin typeface="Cambria"/>
                <a:cs typeface="Cambria"/>
              </a:rPr>
              <a:t>Pentium</a:t>
            </a:r>
            <a:r>
              <a:rPr sz="16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mbria"/>
                <a:cs typeface="Cambria"/>
              </a:rPr>
              <a:t>II</a:t>
            </a:r>
            <a:endParaRPr sz="1600">
              <a:latin typeface="Cambria"/>
              <a:cs typeface="Cambria"/>
            </a:endParaRPr>
          </a:p>
          <a:p>
            <a:pPr marL="795020" marR="81280" indent="-113030">
              <a:lnSpc>
                <a:spcPts val="1270"/>
              </a:lnSpc>
              <a:spcBef>
                <a:spcPts val="665"/>
              </a:spcBef>
              <a:buChar char="•"/>
              <a:tabLst>
                <a:tab pos="796290" algn="l"/>
              </a:tabLst>
            </a:pPr>
            <a:r>
              <a:rPr sz="1200" spc="20" dirty="0">
                <a:latin typeface="Cambria"/>
                <a:cs typeface="Cambria"/>
              </a:rPr>
              <a:t>Incorporated</a:t>
            </a:r>
            <a:r>
              <a:rPr sz="1200" spc="95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Intel</a:t>
            </a:r>
            <a:r>
              <a:rPr sz="1200" spc="114" dirty="0">
                <a:latin typeface="Cambria"/>
                <a:cs typeface="Cambria"/>
              </a:rPr>
              <a:t> </a:t>
            </a:r>
            <a:r>
              <a:rPr sz="1200" spc="75" dirty="0">
                <a:latin typeface="Cambria"/>
                <a:cs typeface="Cambria"/>
              </a:rPr>
              <a:t>MMX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technology,</a:t>
            </a:r>
            <a:r>
              <a:rPr sz="1200" spc="5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which</a:t>
            </a:r>
            <a:r>
              <a:rPr sz="1200" spc="11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is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70" dirty="0">
                <a:latin typeface="Cambria"/>
                <a:cs typeface="Cambria"/>
              </a:rPr>
              <a:t>designed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spc="45" dirty="0">
                <a:latin typeface="Cambria"/>
                <a:cs typeface="Cambria"/>
              </a:rPr>
              <a:t>specifically</a:t>
            </a:r>
            <a:r>
              <a:rPr sz="1200" spc="95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to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process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50" dirty="0">
                <a:latin typeface="Cambria"/>
                <a:cs typeface="Cambria"/>
              </a:rPr>
              <a:t>video,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audio,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and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spc="40" dirty="0">
                <a:latin typeface="Cambria"/>
                <a:cs typeface="Cambria"/>
              </a:rPr>
              <a:t>graphics 	</a:t>
            </a:r>
            <a:r>
              <a:rPr sz="1200" dirty="0">
                <a:latin typeface="Cambria"/>
                <a:cs typeface="Cambria"/>
              </a:rPr>
              <a:t>data</a:t>
            </a:r>
            <a:r>
              <a:rPr sz="1200" spc="17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efficiently</a:t>
            </a:r>
            <a:endParaRPr sz="1200">
              <a:latin typeface="Cambria"/>
              <a:cs typeface="Cambria"/>
            </a:endParaRPr>
          </a:p>
          <a:p>
            <a:pPr marL="684530">
              <a:lnSpc>
                <a:spcPct val="100000"/>
              </a:lnSpc>
              <a:spcBef>
                <a:spcPts val="995"/>
              </a:spcBef>
            </a:pPr>
            <a:r>
              <a:rPr sz="1600" dirty="0">
                <a:solidFill>
                  <a:srgbClr val="FFFFFF"/>
                </a:solidFill>
                <a:latin typeface="Cambria"/>
                <a:cs typeface="Cambria"/>
              </a:rPr>
              <a:t>Pentium</a:t>
            </a:r>
            <a:r>
              <a:rPr sz="16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mbria"/>
                <a:cs typeface="Cambria"/>
              </a:rPr>
              <a:t>III</a:t>
            </a:r>
            <a:endParaRPr sz="1600">
              <a:latin typeface="Cambria"/>
              <a:cs typeface="Cambria"/>
            </a:endParaRPr>
          </a:p>
          <a:p>
            <a:pPr marL="739775" indent="-74930">
              <a:lnSpc>
                <a:spcPct val="100000"/>
              </a:lnSpc>
              <a:spcBef>
                <a:spcPts val="495"/>
              </a:spcBef>
              <a:buSzPct val="90909"/>
              <a:buChar char="•"/>
              <a:tabLst>
                <a:tab pos="739775" algn="l"/>
              </a:tabLst>
            </a:pPr>
            <a:r>
              <a:rPr sz="1100" spc="20" dirty="0">
                <a:latin typeface="Cambria"/>
                <a:cs typeface="Cambria"/>
              </a:rPr>
              <a:t>Incorporated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additional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floating-point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instructions</a:t>
            </a:r>
            <a:endParaRPr sz="1100">
              <a:latin typeface="Cambria"/>
              <a:cs typeface="Cambria"/>
            </a:endParaRPr>
          </a:p>
          <a:p>
            <a:pPr marL="739775" indent="-74930">
              <a:lnSpc>
                <a:spcPct val="100000"/>
              </a:lnSpc>
              <a:spcBef>
                <a:spcPts val="35"/>
              </a:spcBef>
              <a:buSzPct val="90909"/>
              <a:buChar char="•"/>
              <a:tabLst>
                <a:tab pos="739775" algn="l"/>
              </a:tabLst>
            </a:pPr>
            <a:r>
              <a:rPr sz="1100" spc="20" dirty="0">
                <a:latin typeface="Cambria"/>
                <a:cs typeface="Cambria"/>
              </a:rPr>
              <a:t>Streaming</a:t>
            </a:r>
            <a:r>
              <a:rPr sz="1100" spc="120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SIMD</a:t>
            </a:r>
            <a:r>
              <a:rPr sz="1100" spc="130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Extensions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(SSE)</a:t>
            </a:r>
            <a:endParaRPr sz="1100">
              <a:latin typeface="Cambria"/>
              <a:cs typeface="Cambria"/>
            </a:endParaRPr>
          </a:p>
          <a:p>
            <a:pPr marL="684530">
              <a:lnSpc>
                <a:spcPct val="100000"/>
              </a:lnSpc>
              <a:spcBef>
                <a:spcPts val="1025"/>
              </a:spcBef>
            </a:pPr>
            <a:r>
              <a:rPr sz="1600" dirty="0">
                <a:solidFill>
                  <a:srgbClr val="FFFFFF"/>
                </a:solidFill>
                <a:latin typeface="Cambria"/>
                <a:cs typeface="Cambria"/>
              </a:rPr>
              <a:t>Pentium</a:t>
            </a:r>
            <a:r>
              <a:rPr sz="1600" spc="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1600">
              <a:latin typeface="Cambria"/>
              <a:cs typeface="Cambria"/>
            </a:endParaRPr>
          </a:p>
          <a:p>
            <a:pPr marL="795020" indent="-113030">
              <a:lnSpc>
                <a:spcPct val="100000"/>
              </a:lnSpc>
              <a:spcBef>
                <a:spcPts val="480"/>
              </a:spcBef>
              <a:buChar char="•"/>
              <a:tabLst>
                <a:tab pos="795020" algn="l"/>
              </a:tabLst>
            </a:pPr>
            <a:r>
              <a:rPr sz="1200" spc="20" dirty="0">
                <a:latin typeface="Cambria"/>
                <a:cs typeface="Cambria"/>
              </a:rPr>
              <a:t>Includes</a:t>
            </a:r>
            <a:r>
              <a:rPr sz="1200" spc="125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additional</a:t>
            </a:r>
            <a:r>
              <a:rPr sz="1200" spc="105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floating-point</a:t>
            </a:r>
            <a:r>
              <a:rPr sz="1200" spc="14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and</a:t>
            </a:r>
            <a:r>
              <a:rPr sz="1200" spc="12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other</a:t>
            </a:r>
            <a:r>
              <a:rPr sz="1200" spc="13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enhancements</a:t>
            </a:r>
            <a:r>
              <a:rPr sz="1200" spc="14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for</a:t>
            </a:r>
            <a:r>
              <a:rPr sz="1200" spc="11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multimedia</a:t>
            </a:r>
            <a:endParaRPr sz="1200">
              <a:latin typeface="Cambria"/>
              <a:cs typeface="Cambria"/>
            </a:endParaRPr>
          </a:p>
          <a:p>
            <a:pPr marL="269875">
              <a:lnSpc>
                <a:spcPct val="100000"/>
              </a:lnSpc>
              <a:spcBef>
                <a:spcPts val="805"/>
              </a:spcBef>
            </a:pPr>
            <a:r>
              <a:rPr sz="1600" spc="80" dirty="0">
                <a:solidFill>
                  <a:srgbClr val="FFFFFF"/>
                </a:solidFill>
                <a:latin typeface="Cambria"/>
                <a:cs typeface="Cambria"/>
              </a:rPr>
              <a:t>Core</a:t>
            </a:r>
            <a:endParaRPr sz="1600">
              <a:latin typeface="Cambria"/>
              <a:cs typeface="Cambria"/>
            </a:endParaRPr>
          </a:p>
          <a:p>
            <a:pPr marL="795655" indent="-113664">
              <a:lnSpc>
                <a:spcPct val="100000"/>
              </a:lnSpc>
              <a:spcBef>
                <a:spcPts val="725"/>
              </a:spcBef>
              <a:buChar char="•"/>
              <a:tabLst>
                <a:tab pos="795655" algn="l"/>
              </a:tabLst>
            </a:pPr>
            <a:r>
              <a:rPr sz="1200" dirty="0">
                <a:latin typeface="Cambria"/>
                <a:cs typeface="Cambria"/>
              </a:rPr>
              <a:t>First</a:t>
            </a:r>
            <a:r>
              <a:rPr sz="1200" spc="1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Intel</a:t>
            </a:r>
            <a:r>
              <a:rPr sz="1200" spc="1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x86</a:t>
            </a:r>
            <a:r>
              <a:rPr sz="1200" spc="1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micro-</a:t>
            </a:r>
            <a:r>
              <a:rPr sz="1200" spc="-20" dirty="0">
                <a:latin typeface="Cambria"/>
                <a:cs typeface="Cambria"/>
              </a:rPr>
              <a:t>core</a:t>
            </a:r>
            <a:endParaRPr sz="1200">
              <a:latin typeface="Cambria"/>
              <a:cs typeface="Cambria"/>
            </a:endParaRPr>
          </a:p>
          <a:p>
            <a:pPr marL="684530">
              <a:lnSpc>
                <a:spcPct val="100000"/>
              </a:lnSpc>
              <a:spcBef>
                <a:spcPts val="1050"/>
              </a:spcBef>
            </a:pPr>
            <a:r>
              <a:rPr sz="1600" spc="95" dirty="0">
                <a:solidFill>
                  <a:srgbClr val="FFFFFF"/>
                </a:solidFill>
                <a:latin typeface="Cambria"/>
                <a:cs typeface="Cambria"/>
              </a:rPr>
              <a:t>Core</a:t>
            </a:r>
            <a:r>
              <a:rPr sz="16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600">
              <a:latin typeface="Cambria"/>
              <a:cs typeface="Cambria"/>
            </a:endParaRPr>
          </a:p>
          <a:p>
            <a:pPr marL="795020" indent="-113030">
              <a:lnSpc>
                <a:spcPct val="100000"/>
              </a:lnSpc>
              <a:spcBef>
                <a:spcPts val="550"/>
              </a:spcBef>
              <a:buChar char="•"/>
              <a:tabLst>
                <a:tab pos="795020" algn="l"/>
              </a:tabLst>
            </a:pPr>
            <a:r>
              <a:rPr sz="1200" spc="45" dirty="0">
                <a:latin typeface="Cambria"/>
                <a:cs typeface="Cambria"/>
              </a:rPr>
              <a:t>Extends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75" dirty="0">
                <a:latin typeface="Cambria"/>
                <a:cs typeface="Cambria"/>
              </a:rPr>
              <a:t>Core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architecture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9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64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bits</a:t>
            </a:r>
            <a:endParaRPr sz="1200">
              <a:latin typeface="Cambria"/>
              <a:cs typeface="Cambria"/>
            </a:endParaRPr>
          </a:p>
          <a:p>
            <a:pPr marL="795020" indent="-113030">
              <a:lnSpc>
                <a:spcPct val="100000"/>
              </a:lnSpc>
              <a:spcBef>
                <a:spcPts val="35"/>
              </a:spcBef>
              <a:buChar char="•"/>
              <a:tabLst>
                <a:tab pos="795020" algn="l"/>
              </a:tabLst>
            </a:pPr>
            <a:r>
              <a:rPr sz="1200" spc="75" dirty="0">
                <a:latin typeface="Cambria"/>
                <a:cs typeface="Cambria"/>
              </a:rPr>
              <a:t>Core </a:t>
            </a:r>
            <a:r>
              <a:rPr sz="1200" spc="10" dirty="0">
                <a:latin typeface="Cambria"/>
                <a:cs typeface="Cambria"/>
              </a:rPr>
              <a:t>2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70" dirty="0">
                <a:latin typeface="Cambria"/>
                <a:cs typeface="Cambria"/>
              </a:rPr>
              <a:t>Quad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provides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four</a:t>
            </a:r>
            <a:r>
              <a:rPr sz="1200" spc="10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cores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on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a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spc="50" dirty="0">
                <a:latin typeface="Cambria"/>
                <a:cs typeface="Cambria"/>
              </a:rPr>
              <a:t>single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chip</a:t>
            </a:r>
            <a:endParaRPr sz="1200">
              <a:latin typeface="Cambria"/>
              <a:cs typeface="Cambria"/>
            </a:endParaRPr>
          </a:p>
          <a:p>
            <a:pPr marL="795020" indent="-113030">
              <a:lnSpc>
                <a:spcPct val="100000"/>
              </a:lnSpc>
              <a:spcBef>
                <a:spcPts val="35"/>
              </a:spcBef>
              <a:buChar char="•"/>
              <a:tabLst>
                <a:tab pos="795020" algn="l"/>
              </a:tabLst>
            </a:pPr>
            <a:r>
              <a:rPr sz="1200" spc="10" dirty="0">
                <a:latin typeface="Cambria"/>
                <a:cs typeface="Cambria"/>
              </a:rPr>
              <a:t>More</a:t>
            </a:r>
            <a:r>
              <a:rPr sz="1200" spc="10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recent</a:t>
            </a:r>
            <a:r>
              <a:rPr sz="1200" spc="114" dirty="0">
                <a:latin typeface="Cambria"/>
                <a:cs typeface="Cambria"/>
              </a:rPr>
              <a:t> </a:t>
            </a:r>
            <a:r>
              <a:rPr sz="1200" spc="75" dirty="0">
                <a:latin typeface="Cambria"/>
                <a:cs typeface="Cambria"/>
              </a:rPr>
              <a:t>Core</a:t>
            </a:r>
            <a:r>
              <a:rPr sz="1200" spc="10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offerings</a:t>
            </a:r>
            <a:r>
              <a:rPr sz="1200" spc="12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have</a:t>
            </a:r>
            <a:r>
              <a:rPr sz="1200" spc="12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up</a:t>
            </a:r>
            <a:r>
              <a:rPr sz="1200" spc="114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to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10</a:t>
            </a:r>
            <a:r>
              <a:rPr sz="1200" spc="10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cores</a:t>
            </a:r>
            <a:r>
              <a:rPr sz="1200" spc="12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per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chip</a:t>
            </a:r>
            <a:endParaRPr sz="1200">
              <a:latin typeface="Cambria"/>
              <a:cs typeface="Cambria"/>
            </a:endParaRPr>
          </a:p>
          <a:p>
            <a:pPr marL="795020" indent="-113030">
              <a:lnSpc>
                <a:spcPct val="100000"/>
              </a:lnSpc>
              <a:spcBef>
                <a:spcPts val="50"/>
              </a:spcBef>
              <a:buChar char="•"/>
              <a:tabLst>
                <a:tab pos="795020" algn="l"/>
              </a:tabLst>
            </a:pPr>
            <a:r>
              <a:rPr sz="1200" spc="10" dirty="0">
                <a:latin typeface="Cambria"/>
                <a:cs typeface="Cambria"/>
              </a:rPr>
              <a:t>An</a:t>
            </a:r>
            <a:r>
              <a:rPr sz="1200" spc="10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important</a:t>
            </a:r>
            <a:r>
              <a:rPr sz="1200" spc="11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addition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to</a:t>
            </a:r>
            <a:r>
              <a:rPr sz="1200" spc="114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the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architecture</a:t>
            </a:r>
            <a:r>
              <a:rPr sz="1200" spc="12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was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the</a:t>
            </a:r>
            <a:r>
              <a:rPr sz="1200" spc="114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Advanced</a:t>
            </a:r>
            <a:r>
              <a:rPr sz="1200" spc="-1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Vector</a:t>
            </a:r>
            <a:r>
              <a:rPr sz="1200" spc="110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Extensions</a:t>
            </a:r>
            <a:r>
              <a:rPr sz="1200" spc="114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instruction</a:t>
            </a:r>
            <a:r>
              <a:rPr sz="1200" spc="125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set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494" rIns="0" bIns="0" rtlCol="0">
            <a:spAutoFit/>
          </a:bodyPr>
          <a:lstStyle/>
          <a:p>
            <a:pPr marL="120014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82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245" dirty="0"/>
              <a:t>Embedded</a:t>
            </a:r>
            <a:r>
              <a:rPr sz="3600" spc="90" dirty="0"/>
              <a:t> </a:t>
            </a:r>
            <a:r>
              <a:rPr sz="3600" spc="95" dirty="0"/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303" y="1406093"/>
            <a:ext cx="6567170" cy="4698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6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use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electronics 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software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within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585858"/>
                </a:solidFill>
                <a:latin typeface="Cambria"/>
                <a:cs typeface="Cambria"/>
              </a:rPr>
              <a:t>product</a:t>
            </a:r>
            <a:endParaRPr sz="2000">
              <a:latin typeface="Cambria"/>
              <a:cs typeface="Cambria"/>
            </a:endParaRPr>
          </a:p>
          <a:p>
            <a:pPr marL="241300" marR="148590" indent="-228600">
              <a:lnSpc>
                <a:spcPts val="2160"/>
              </a:lnSpc>
              <a:spcBef>
                <a:spcPts val="203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Billions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20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computer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systems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are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produced</a:t>
            </a:r>
            <a:r>
              <a:rPr sz="20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each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585858"/>
                </a:solidFill>
                <a:latin typeface="Cambria"/>
                <a:cs typeface="Cambria"/>
              </a:rPr>
              <a:t>year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 are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embedded</a:t>
            </a:r>
            <a:r>
              <a:rPr sz="2000" spc="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within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larger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devices</a:t>
            </a:r>
            <a:endParaRPr sz="2000">
              <a:latin typeface="Cambria"/>
              <a:cs typeface="Cambria"/>
            </a:endParaRPr>
          </a:p>
          <a:p>
            <a:pPr marL="241300" marR="264160" indent="-228600">
              <a:lnSpc>
                <a:spcPts val="2160"/>
              </a:lnSpc>
              <a:spcBef>
                <a:spcPts val="199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Today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many</a:t>
            </a:r>
            <a:r>
              <a:rPr sz="20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devices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use</a:t>
            </a:r>
            <a:r>
              <a:rPr sz="20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electric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power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have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585858"/>
                </a:solidFill>
                <a:latin typeface="Cambria"/>
                <a:cs typeface="Cambria"/>
              </a:rPr>
              <a:t>an 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embedded</a:t>
            </a:r>
            <a:r>
              <a:rPr sz="20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computing</a:t>
            </a:r>
            <a:r>
              <a:rPr sz="2000" spc="45" dirty="0">
                <a:solidFill>
                  <a:srgbClr val="585858"/>
                </a:solidFill>
                <a:latin typeface="Cambria"/>
                <a:cs typeface="Cambria"/>
              </a:rPr>
              <a:t> system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ts val="2280"/>
              </a:lnSpc>
              <a:spcBef>
                <a:spcPts val="173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Often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585858"/>
                </a:solidFill>
                <a:latin typeface="Cambria"/>
                <a:cs typeface="Cambria"/>
              </a:rPr>
              <a:t>embedded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systems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are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tightly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coupled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their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ts val="2280"/>
              </a:lnSpc>
            </a:pP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environment</a:t>
            </a:r>
            <a:endParaRPr sz="2000">
              <a:latin typeface="Cambria"/>
              <a:cs typeface="Cambria"/>
            </a:endParaRPr>
          </a:p>
          <a:p>
            <a:pPr marL="469900" marR="104139" lvl="1" indent="-228600">
              <a:lnSpc>
                <a:spcPts val="1939"/>
              </a:lnSpc>
              <a:spcBef>
                <a:spcPts val="64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This</a:t>
            </a:r>
            <a:r>
              <a:rPr sz="18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can</a:t>
            </a:r>
            <a:r>
              <a:rPr sz="18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give</a:t>
            </a:r>
            <a:r>
              <a:rPr sz="18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rise</a:t>
            </a:r>
            <a:r>
              <a:rPr sz="18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8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real-time</a:t>
            </a:r>
            <a:r>
              <a:rPr sz="18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constraints</a:t>
            </a:r>
            <a:r>
              <a:rPr sz="18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imposed</a:t>
            </a:r>
            <a:r>
              <a:rPr sz="18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by</a:t>
            </a:r>
            <a:r>
              <a:rPr sz="18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585858"/>
                </a:solidFill>
                <a:latin typeface="Cambria"/>
                <a:cs typeface="Cambria"/>
              </a:rPr>
              <a:t>the </a:t>
            </a:r>
            <a:r>
              <a:rPr sz="1800" spc="114" dirty="0">
                <a:solidFill>
                  <a:srgbClr val="585858"/>
                </a:solidFill>
                <a:latin typeface="Cambria"/>
                <a:cs typeface="Cambria"/>
              </a:rPr>
              <a:t>need</a:t>
            </a:r>
            <a:r>
              <a:rPr sz="18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8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interact</a:t>
            </a:r>
            <a:r>
              <a:rPr sz="18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with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585858"/>
                </a:solidFill>
                <a:latin typeface="Cambria"/>
                <a:cs typeface="Cambria"/>
              </a:rPr>
              <a:t>environment</a:t>
            </a:r>
            <a:endParaRPr sz="1800">
              <a:latin typeface="Cambria"/>
              <a:cs typeface="Cambria"/>
            </a:endParaRPr>
          </a:p>
          <a:p>
            <a:pPr marL="698500" marR="5080" lvl="2" indent="-229235" algn="just">
              <a:lnSpc>
                <a:spcPct val="90000"/>
              </a:lnSpc>
              <a:spcBef>
                <a:spcPts val="57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Constraints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such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as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required</a:t>
            </a:r>
            <a:r>
              <a:rPr sz="18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585858"/>
                </a:solidFill>
                <a:latin typeface="Cambria"/>
                <a:cs typeface="Cambria"/>
              </a:rPr>
              <a:t>speeds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8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motion,</a:t>
            </a:r>
            <a:r>
              <a:rPr sz="1800" spc="-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585858"/>
                </a:solidFill>
                <a:latin typeface="Cambria"/>
                <a:cs typeface="Cambria"/>
              </a:rPr>
              <a:t>required 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precision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measurement,</a:t>
            </a:r>
            <a:r>
              <a:rPr sz="1800" spc="-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required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time</a:t>
            </a:r>
            <a:r>
              <a:rPr sz="18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585858"/>
                </a:solidFill>
                <a:latin typeface="Cambria"/>
                <a:cs typeface="Cambria"/>
              </a:rPr>
              <a:t>durations, 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dictate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timing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8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software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585858"/>
                </a:solidFill>
                <a:latin typeface="Cambria"/>
                <a:cs typeface="Cambria"/>
              </a:rPr>
              <a:t>operations</a:t>
            </a:r>
            <a:endParaRPr sz="1800">
              <a:latin typeface="Cambria"/>
              <a:cs typeface="Cambria"/>
            </a:endParaRPr>
          </a:p>
          <a:p>
            <a:pPr marL="469900" marR="36830" lvl="1" indent="-228600" algn="just">
              <a:lnSpc>
                <a:spcPts val="1939"/>
              </a:lnSpc>
              <a:spcBef>
                <a:spcPts val="63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If</a:t>
            </a:r>
            <a:r>
              <a:rPr sz="18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multiple</a:t>
            </a:r>
            <a:r>
              <a:rPr sz="1800" spc="1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activities</a:t>
            </a:r>
            <a:r>
              <a:rPr sz="1800" spc="1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must</a:t>
            </a:r>
            <a:r>
              <a:rPr sz="18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55" dirty="0">
                <a:solidFill>
                  <a:srgbClr val="585858"/>
                </a:solidFill>
                <a:latin typeface="Cambria"/>
                <a:cs typeface="Cambria"/>
              </a:rPr>
              <a:t>be</a:t>
            </a:r>
            <a:r>
              <a:rPr sz="1800" spc="1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managed</a:t>
            </a:r>
            <a:r>
              <a:rPr sz="18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585858"/>
                </a:solidFill>
                <a:latin typeface="Cambria"/>
                <a:cs typeface="Cambria"/>
              </a:rPr>
              <a:t>simultaneously</a:t>
            </a:r>
            <a:r>
              <a:rPr sz="1800" spc="1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20" dirty="0">
                <a:solidFill>
                  <a:srgbClr val="585858"/>
                </a:solidFill>
                <a:latin typeface="Cambria"/>
                <a:cs typeface="Cambria"/>
              </a:rPr>
              <a:t>this 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imposes</a:t>
            </a:r>
            <a:r>
              <a:rPr sz="1800" spc="2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more</a:t>
            </a:r>
            <a:r>
              <a:rPr sz="1800" spc="1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complex</a:t>
            </a:r>
            <a:r>
              <a:rPr sz="1800" spc="1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real-time</a:t>
            </a:r>
            <a:r>
              <a:rPr sz="1800" spc="1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585858"/>
                </a:solidFill>
                <a:latin typeface="Cambria"/>
                <a:cs typeface="Cambria"/>
              </a:rPr>
              <a:t>constraints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479" y="0"/>
            <a:ext cx="969263" cy="126949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92695" y="836675"/>
            <a:ext cx="560831" cy="9083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68374" y="4653127"/>
            <a:ext cx="1055128" cy="89429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307580" y="2060448"/>
            <a:ext cx="1667510" cy="2382520"/>
            <a:chOff x="7307580" y="2060448"/>
            <a:chExt cx="1667510" cy="238252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7580" y="2060448"/>
              <a:ext cx="864107" cy="928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2024" y="2924556"/>
              <a:ext cx="1162812" cy="1517903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66659" y="5733286"/>
            <a:ext cx="1577340" cy="1124713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909890" y="1298053"/>
            <a:ext cx="1054100" cy="447040"/>
          </a:xfrm>
          <a:prstGeom prst="rect">
            <a:avLst/>
          </a:prstGeom>
          <a:solidFill>
            <a:srgbClr val="D0D0D0"/>
          </a:solidFill>
          <a:ln w="22381">
            <a:solidFill>
              <a:srgbClr val="00000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65"/>
              </a:spcBef>
            </a:pPr>
            <a:r>
              <a:rPr sz="1600" b="1" spc="-10" dirty="0">
                <a:latin typeface="Times New Roman"/>
                <a:cs typeface="Times New Roman"/>
              </a:rPr>
              <a:t>Memory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8790" y="202215"/>
            <a:ext cx="934719" cy="636270"/>
          </a:xfrm>
          <a:prstGeom prst="rect">
            <a:avLst/>
          </a:prstGeom>
          <a:solidFill>
            <a:srgbClr val="D0D0D0"/>
          </a:solidFill>
          <a:ln w="22382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262255" marR="118745" indent="-137160">
              <a:lnSpc>
                <a:spcPct val="101200"/>
              </a:lnSpc>
              <a:spcBef>
                <a:spcPts val="425"/>
              </a:spcBef>
            </a:pPr>
            <a:r>
              <a:rPr sz="1600" b="1" spc="-10" dirty="0">
                <a:latin typeface="Times New Roman"/>
                <a:cs typeface="Times New Roman"/>
              </a:rPr>
              <a:t>Custom logic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6026" y="2410895"/>
            <a:ext cx="1362710" cy="626110"/>
          </a:xfrm>
          <a:prstGeom prst="rect">
            <a:avLst/>
          </a:prstGeom>
          <a:solidFill>
            <a:srgbClr val="D0D0D0"/>
          </a:solidFill>
          <a:ln w="22381">
            <a:solidFill>
              <a:srgbClr val="000000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239395" marR="341630" indent="57150">
              <a:lnSpc>
                <a:spcPct val="101200"/>
              </a:lnSpc>
              <a:spcBef>
                <a:spcPts val="580"/>
              </a:spcBef>
            </a:pPr>
            <a:r>
              <a:rPr sz="1600" b="1" spc="-10" dirty="0">
                <a:latin typeface="Times New Roman"/>
                <a:cs typeface="Times New Roman"/>
              </a:rPr>
              <a:t>Human interface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4670" y="2410895"/>
            <a:ext cx="1371600" cy="596900"/>
          </a:xfrm>
          <a:prstGeom prst="rect">
            <a:avLst/>
          </a:prstGeom>
          <a:solidFill>
            <a:srgbClr val="D0D0D0"/>
          </a:solidFill>
          <a:ln w="22381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561975" marR="154940" indent="-274955">
              <a:lnSpc>
                <a:spcPct val="101200"/>
              </a:lnSpc>
              <a:spcBef>
                <a:spcPts val="310"/>
              </a:spcBef>
            </a:pPr>
            <a:r>
              <a:rPr sz="1600" b="1" spc="-10" dirty="0">
                <a:latin typeface="Times New Roman"/>
                <a:cs typeface="Times New Roman"/>
              </a:rPr>
              <a:t>Diagnostic </a:t>
            </a:r>
            <a:r>
              <a:rPr sz="1600" b="1" spc="-20" dirty="0">
                <a:latin typeface="Times New Roman"/>
                <a:cs typeface="Times New Roman"/>
              </a:rPr>
              <a:t>port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74420" y="1109631"/>
            <a:ext cx="1234440" cy="822960"/>
          </a:xfrm>
          <a:prstGeom prst="rect">
            <a:avLst/>
          </a:prstGeom>
          <a:solidFill>
            <a:srgbClr val="BEE7C1"/>
          </a:solidFill>
          <a:ln w="22382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1600">
              <a:latin typeface="Times New Roman"/>
              <a:cs typeface="Times New Roman"/>
            </a:endParaRPr>
          </a:p>
          <a:p>
            <a:pPr marL="179070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Times New Roman"/>
                <a:cs typeface="Times New Roman"/>
              </a:rPr>
              <a:t>Processor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0429" y="3437344"/>
            <a:ext cx="1471295" cy="616585"/>
          </a:xfrm>
          <a:prstGeom prst="rect">
            <a:avLst/>
          </a:prstGeom>
          <a:solidFill>
            <a:srgbClr val="D0D0D0"/>
          </a:solidFill>
          <a:ln w="22381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208279" marR="254000" indent="330835">
              <a:lnSpc>
                <a:spcPct val="101099"/>
              </a:lnSpc>
              <a:spcBef>
                <a:spcPts val="105"/>
              </a:spcBef>
            </a:pPr>
            <a:r>
              <a:rPr sz="1600" b="1" spc="-25" dirty="0">
                <a:latin typeface="Times New Roman"/>
                <a:cs typeface="Times New Roman"/>
              </a:rPr>
              <a:t>D/A </a:t>
            </a:r>
            <a:r>
              <a:rPr sz="1600" b="1" spc="-10" dirty="0">
                <a:latin typeface="Times New Roman"/>
                <a:cs typeface="Times New Roman"/>
              </a:rPr>
              <a:t>Conversion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35313" y="4713957"/>
            <a:ext cx="1421765" cy="516890"/>
          </a:xfrm>
          <a:prstGeom prst="rect">
            <a:avLst/>
          </a:prstGeom>
          <a:solidFill>
            <a:srgbClr val="D0D0D0"/>
          </a:solidFill>
          <a:ln w="2238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3510">
              <a:lnSpc>
                <a:spcPts val="1820"/>
              </a:lnSpc>
            </a:pPr>
            <a:r>
              <a:rPr sz="1600" b="1" spc="-10" dirty="0">
                <a:latin typeface="Times New Roman"/>
                <a:cs typeface="Times New Roman"/>
              </a:rPr>
              <a:t>Actuators/</a:t>
            </a:r>
            <a:endParaRPr sz="1600">
              <a:latin typeface="Times New Roman"/>
              <a:cs typeface="Times New Roman"/>
            </a:endParaRPr>
          </a:p>
          <a:p>
            <a:pPr marL="166370">
              <a:lnSpc>
                <a:spcPct val="100000"/>
              </a:lnSpc>
              <a:spcBef>
                <a:spcPts val="20"/>
              </a:spcBef>
            </a:pPr>
            <a:r>
              <a:rPr sz="1600" b="1" spc="-10" dirty="0">
                <a:latin typeface="Times New Roman"/>
                <a:cs typeface="Times New Roman"/>
              </a:rPr>
              <a:t>indicators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48284" y="4055222"/>
            <a:ext cx="186690" cy="656590"/>
            <a:chOff x="5348284" y="4055222"/>
            <a:chExt cx="186690" cy="656590"/>
          </a:xfrm>
        </p:grpSpPr>
        <p:sp>
          <p:nvSpPr>
            <p:cNvPr id="11" name="object 11"/>
            <p:cNvSpPr/>
            <p:nvPr/>
          </p:nvSpPr>
          <p:spPr>
            <a:xfrm>
              <a:off x="5441771" y="4055222"/>
              <a:ext cx="0" cy="495300"/>
            </a:xfrm>
            <a:custGeom>
              <a:avLst/>
              <a:gdLst/>
              <a:ahLst/>
              <a:cxnLst/>
              <a:rect l="l" t="t" r="r" b="b"/>
              <a:pathLst>
                <a:path h="495300">
                  <a:moveTo>
                    <a:pt x="0" y="0"/>
                  </a:moveTo>
                  <a:lnTo>
                    <a:pt x="0" y="0"/>
                  </a:lnTo>
                  <a:lnTo>
                    <a:pt x="0" y="495192"/>
                  </a:lnTo>
                </a:path>
              </a:pathLst>
            </a:custGeom>
            <a:ln w="223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48284" y="4484449"/>
              <a:ext cx="186690" cy="227329"/>
            </a:xfrm>
            <a:custGeom>
              <a:avLst/>
              <a:gdLst/>
              <a:ahLst/>
              <a:cxnLst/>
              <a:rect l="l" t="t" r="r" b="b"/>
              <a:pathLst>
                <a:path w="186689" h="227329">
                  <a:moveTo>
                    <a:pt x="186174" y="0"/>
                  </a:moveTo>
                  <a:lnTo>
                    <a:pt x="93486" y="53867"/>
                  </a:lnTo>
                  <a:lnTo>
                    <a:pt x="0" y="0"/>
                  </a:lnTo>
                  <a:lnTo>
                    <a:pt x="93486" y="226996"/>
                  </a:lnTo>
                  <a:lnTo>
                    <a:pt x="186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627352" y="3447843"/>
            <a:ext cx="1482090" cy="596265"/>
          </a:xfrm>
          <a:prstGeom prst="rect">
            <a:avLst/>
          </a:prstGeom>
          <a:solidFill>
            <a:srgbClr val="D0D0D0"/>
          </a:solidFill>
          <a:ln w="22381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211454" marR="318135" indent="296545">
              <a:lnSpc>
                <a:spcPct val="101200"/>
              </a:lnSpc>
              <a:spcBef>
                <a:spcPts val="195"/>
              </a:spcBef>
            </a:pPr>
            <a:r>
              <a:rPr sz="1600" b="1" spc="-25" dirty="0">
                <a:latin typeface="Times New Roman"/>
                <a:cs typeface="Times New Roman"/>
              </a:rPr>
              <a:t>A/D </a:t>
            </a:r>
            <a:r>
              <a:rPr sz="1600" b="1" spc="-10" dirty="0">
                <a:latin typeface="Times New Roman"/>
                <a:cs typeface="Times New Roman"/>
              </a:rPr>
              <a:t>conversion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92066" y="4698664"/>
            <a:ext cx="1153160" cy="546735"/>
          </a:xfrm>
          <a:prstGeom prst="rect">
            <a:avLst/>
          </a:prstGeom>
          <a:solidFill>
            <a:srgbClr val="D0D0D0"/>
          </a:solidFill>
          <a:ln w="22382">
            <a:solidFill>
              <a:srgbClr val="000000"/>
            </a:solidFill>
          </a:ln>
        </p:spPr>
        <p:txBody>
          <a:bodyPr vert="horz" wrap="square" lIns="0" tIns="11049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870"/>
              </a:spcBef>
            </a:pPr>
            <a:r>
              <a:rPr sz="1600" b="1" spc="-10" dirty="0">
                <a:latin typeface="Times New Roman"/>
                <a:cs typeface="Times New Roman"/>
              </a:rPr>
              <a:t>Sensors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87352" y="4051798"/>
            <a:ext cx="148590" cy="638810"/>
            <a:chOff x="3287352" y="4051798"/>
            <a:chExt cx="148590" cy="638810"/>
          </a:xfrm>
        </p:grpSpPr>
        <p:sp>
          <p:nvSpPr>
            <p:cNvPr id="16" name="object 16"/>
            <p:cNvSpPr/>
            <p:nvPr/>
          </p:nvSpPr>
          <p:spPr>
            <a:xfrm>
              <a:off x="3361320" y="4180989"/>
              <a:ext cx="0" cy="509270"/>
            </a:xfrm>
            <a:custGeom>
              <a:avLst/>
              <a:gdLst/>
              <a:ahLst/>
              <a:cxnLst/>
              <a:rect l="l" t="t" r="r" b="b"/>
              <a:pathLst>
                <a:path h="509270">
                  <a:moveTo>
                    <a:pt x="0" y="0"/>
                  </a:moveTo>
                  <a:lnTo>
                    <a:pt x="0" y="0"/>
                  </a:lnTo>
                  <a:lnTo>
                    <a:pt x="0" y="509115"/>
                  </a:lnTo>
                </a:path>
              </a:pathLst>
            </a:custGeom>
            <a:ln w="223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87352" y="4051798"/>
              <a:ext cx="148590" cy="182880"/>
            </a:xfrm>
            <a:custGeom>
              <a:avLst/>
              <a:gdLst/>
              <a:ahLst/>
              <a:cxnLst/>
              <a:rect l="l" t="t" r="r" b="b"/>
              <a:pathLst>
                <a:path w="148589" h="182879">
                  <a:moveTo>
                    <a:pt x="73967" y="0"/>
                  </a:moveTo>
                  <a:lnTo>
                    <a:pt x="0" y="182487"/>
                  </a:lnTo>
                  <a:lnTo>
                    <a:pt x="73967" y="138891"/>
                  </a:lnTo>
                  <a:lnTo>
                    <a:pt x="148505" y="182487"/>
                  </a:lnTo>
                  <a:lnTo>
                    <a:pt x="739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663164" y="5990869"/>
            <a:ext cx="518414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dirty="0">
                <a:latin typeface="Times New Roman"/>
                <a:cs typeface="Times New Roman"/>
              </a:rPr>
              <a:t>Figure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1.14</a:t>
            </a:r>
            <a:r>
              <a:rPr sz="1600" b="1" spc="3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Possible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Organization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Embedded</a:t>
            </a:r>
            <a:r>
              <a:rPr sz="1600" b="1" spc="-10" dirty="0">
                <a:latin typeface="Times New Roman"/>
                <a:cs typeface="Times New Roman"/>
              </a:rPr>
              <a:t> System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008810" y="815528"/>
            <a:ext cx="960119" cy="316865"/>
            <a:chOff x="5008810" y="815528"/>
            <a:chExt cx="960119" cy="316865"/>
          </a:xfrm>
        </p:grpSpPr>
        <p:sp>
          <p:nvSpPr>
            <p:cNvPr id="20" name="object 20"/>
            <p:cNvSpPr/>
            <p:nvPr/>
          </p:nvSpPr>
          <p:spPr>
            <a:xfrm>
              <a:off x="5132318" y="873048"/>
              <a:ext cx="712470" cy="201930"/>
            </a:xfrm>
            <a:custGeom>
              <a:avLst/>
              <a:gdLst/>
              <a:ahLst/>
              <a:cxnLst/>
              <a:rect l="l" t="t" r="r" b="b"/>
              <a:pathLst>
                <a:path w="712470" h="201930">
                  <a:moveTo>
                    <a:pt x="712394" y="0"/>
                  </a:moveTo>
                  <a:lnTo>
                    <a:pt x="712394" y="0"/>
                  </a:lnTo>
                  <a:lnTo>
                    <a:pt x="0" y="201432"/>
                  </a:lnTo>
                </a:path>
              </a:pathLst>
            </a:custGeom>
            <a:ln w="223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08804" y="815530"/>
              <a:ext cx="960119" cy="316865"/>
            </a:xfrm>
            <a:custGeom>
              <a:avLst/>
              <a:gdLst/>
              <a:ahLst/>
              <a:cxnLst/>
              <a:rect l="l" t="t" r="r" b="b"/>
              <a:pathLst>
                <a:path w="960120" h="316865">
                  <a:moveTo>
                    <a:pt x="194627" y="316242"/>
                  </a:moveTo>
                  <a:lnTo>
                    <a:pt x="132867" y="256451"/>
                  </a:lnTo>
                  <a:lnTo>
                    <a:pt x="154444" y="173139"/>
                  </a:lnTo>
                  <a:lnTo>
                    <a:pt x="0" y="294106"/>
                  </a:lnTo>
                  <a:lnTo>
                    <a:pt x="194627" y="316242"/>
                  </a:lnTo>
                  <a:close/>
                </a:path>
                <a:path w="960120" h="316865">
                  <a:moveTo>
                    <a:pt x="959980" y="22377"/>
                  </a:moveTo>
                  <a:lnTo>
                    <a:pt x="764794" y="0"/>
                  </a:lnTo>
                  <a:lnTo>
                    <a:pt x="827112" y="60147"/>
                  </a:lnTo>
                  <a:lnTo>
                    <a:pt x="805878" y="143116"/>
                  </a:lnTo>
                  <a:lnTo>
                    <a:pt x="959980" y="223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9060" y="837897"/>
            <a:ext cx="149875" cy="456732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5008810" y="1447101"/>
            <a:ext cx="895350" cy="148590"/>
            <a:chOff x="5008810" y="1447101"/>
            <a:chExt cx="895350" cy="148590"/>
          </a:xfrm>
        </p:grpSpPr>
        <p:sp>
          <p:nvSpPr>
            <p:cNvPr id="24" name="object 24"/>
            <p:cNvSpPr/>
            <p:nvPr/>
          </p:nvSpPr>
          <p:spPr>
            <a:xfrm>
              <a:off x="5137454" y="1520712"/>
              <a:ext cx="637540" cy="0"/>
            </a:xfrm>
            <a:custGeom>
              <a:avLst/>
              <a:gdLst/>
              <a:ahLst/>
              <a:cxnLst/>
              <a:rect l="l" t="t" r="r" b="b"/>
              <a:pathLst>
                <a:path w="637539">
                  <a:moveTo>
                    <a:pt x="637056" y="0"/>
                  </a:moveTo>
                  <a:lnTo>
                    <a:pt x="637056" y="0"/>
                  </a:lnTo>
                  <a:lnTo>
                    <a:pt x="0" y="0"/>
                  </a:lnTo>
                </a:path>
              </a:pathLst>
            </a:custGeom>
            <a:ln w="223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08804" y="1447113"/>
              <a:ext cx="895350" cy="148590"/>
            </a:xfrm>
            <a:custGeom>
              <a:avLst/>
              <a:gdLst/>
              <a:ahLst/>
              <a:cxnLst/>
              <a:rect l="l" t="t" r="r" b="b"/>
              <a:pathLst>
                <a:path w="895350" h="148590">
                  <a:moveTo>
                    <a:pt x="181610" y="0"/>
                  </a:moveTo>
                  <a:lnTo>
                    <a:pt x="0" y="73609"/>
                  </a:lnTo>
                  <a:lnTo>
                    <a:pt x="181610" y="148132"/>
                  </a:lnTo>
                  <a:lnTo>
                    <a:pt x="137998" y="73609"/>
                  </a:lnTo>
                  <a:lnTo>
                    <a:pt x="181610" y="0"/>
                  </a:lnTo>
                  <a:close/>
                </a:path>
                <a:path w="895350" h="148590">
                  <a:moveTo>
                    <a:pt x="894918" y="73609"/>
                  </a:moveTo>
                  <a:lnTo>
                    <a:pt x="712393" y="0"/>
                  </a:lnTo>
                  <a:lnTo>
                    <a:pt x="755992" y="73609"/>
                  </a:lnTo>
                  <a:lnTo>
                    <a:pt x="712393" y="148132"/>
                  </a:lnTo>
                  <a:lnTo>
                    <a:pt x="894918" y="73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3018193" y="1927800"/>
            <a:ext cx="1053465" cy="1508125"/>
            <a:chOff x="3018193" y="1927800"/>
            <a:chExt cx="1053465" cy="1508125"/>
          </a:xfrm>
        </p:grpSpPr>
        <p:sp>
          <p:nvSpPr>
            <p:cNvPr id="27" name="object 27"/>
            <p:cNvSpPr/>
            <p:nvPr/>
          </p:nvSpPr>
          <p:spPr>
            <a:xfrm>
              <a:off x="3127203" y="2001525"/>
              <a:ext cx="537845" cy="340360"/>
            </a:xfrm>
            <a:custGeom>
              <a:avLst/>
              <a:gdLst/>
              <a:ahLst/>
              <a:cxnLst/>
              <a:rect l="l" t="t" r="r" b="b"/>
              <a:pathLst>
                <a:path w="537845" h="340360">
                  <a:moveTo>
                    <a:pt x="0" y="339981"/>
                  </a:moveTo>
                  <a:lnTo>
                    <a:pt x="0" y="339981"/>
                  </a:lnTo>
                  <a:lnTo>
                    <a:pt x="537292" y="0"/>
                  </a:lnTo>
                </a:path>
              </a:pathLst>
            </a:custGeom>
            <a:ln w="223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18193" y="1932139"/>
              <a:ext cx="756285" cy="478790"/>
            </a:xfrm>
            <a:custGeom>
              <a:avLst/>
              <a:gdLst/>
              <a:ahLst/>
              <a:cxnLst/>
              <a:rect l="l" t="t" r="r" b="b"/>
              <a:pathLst>
                <a:path w="756285" h="478789">
                  <a:moveTo>
                    <a:pt x="193814" y="443611"/>
                  </a:moveTo>
                  <a:lnTo>
                    <a:pt x="117563" y="404241"/>
                  </a:lnTo>
                  <a:lnTo>
                    <a:pt x="114134" y="318643"/>
                  </a:lnTo>
                  <a:lnTo>
                    <a:pt x="0" y="478764"/>
                  </a:lnTo>
                  <a:lnTo>
                    <a:pt x="193814" y="443611"/>
                  </a:lnTo>
                  <a:close/>
                </a:path>
                <a:path w="756285" h="478789">
                  <a:moveTo>
                    <a:pt x="756221" y="0"/>
                  </a:moveTo>
                  <a:lnTo>
                    <a:pt x="562394" y="35153"/>
                  </a:lnTo>
                  <a:lnTo>
                    <a:pt x="638644" y="74523"/>
                  </a:lnTo>
                  <a:lnTo>
                    <a:pt x="642073" y="160007"/>
                  </a:lnTo>
                  <a:lnTo>
                    <a:pt x="7562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416910" y="2045121"/>
              <a:ext cx="600075" cy="1274445"/>
            </a:xfrm>
            <a:custGeom>
              <a:avLst/>
              <a:gdLst/>
              <a:ahLst/>
              <a:cxnLst/>
              <a:rect l="l" t="t" r="r" b="b"/>
              <a:pathLst>
                <a:path w="600075" h="1274445">
                  <a:moveTo>
                    <a:pt x="600073" y="0"/>
                  </a:moveTo>
                  <a:lnTo>
                    <a:pt x="600073" y="0"/>
                  </a:lnTo>
                  <a:lnTo>
                    <a:pt x="0" y="1274102"/>
                  </a:lnTo>
                </a:path>
              </a:pathLst>
            </a:custGeom>
            <a:ln w="22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62109" y="1927808"/>
              <a:ext cx="709930" cy="1508125"/>
            </a:xfrm>
            <a:custGeom>
              <a:avLst/>
              <a:gdLst/>
              <a:ahLst/>
              <a:cxnLst/>
              <a:rect l="l" t="t" r="r" b="b"/>
              <a:pathLst>
                <a:path w="709929" h="1508125">
                  <a:moveTo>
                    <a:pt x="144856" y="1375219"/>
                  </a:moveTo>
                  <a:lnTo>
                    <a:pt x="59016" y="1382864"/>
                  </a:lnTo>
                  <a:lnTo>
                    <a:pt x="10274" y="1311757"/>
                  </a:lnTo>
                  <a:lnTo>
                    <a:pt x="0" y="1507832"/>
                  </a:lnTo>
                  <a:lnTo>
                    <a:pt x="144856" y="1375219"/>
                  </a:lnTo>
                  <a:close/>
                </a:path>
                <a:path w="709929" h="1508125">
                  <a:moveTo>
                    <a:pt x="709549" y="0"/>
                  </a:moveTo>
                  <a:lnTo>
                    <a:pt x="564807" y="132956"/>
                  </a:lnTo>
                  <a:lnTo>
                    <a:pt x="650646" y="125882"/>
                  </a:lnTo>
                  <a:lnTo>
                    <a:pt x="699389" y="196062"/>
                  </a:lnTo>
                  <a:lnTo>
                    <a:pt x="7095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4732003" y="1918213"/>
            <a:ext cx="1052830" cy="1508125"/>
            <a:chOff x="4732003" y="1918213"/>
            <a:chExt cx="1052830" cy="1508125"/>
          </a:xfrm>
        </p:grpSpPr>
        <p:sp>
          <p:nvSpPr>
            <p:cNvPr id="32" name="object 32"/>
            <p:cNvSpPr/>
            <p:nvPr/>
          </p:nvSpPr>
          <p:spPr>
            <a:xfrm>
              <a:off x="5118506" y="1999813"/>
              <a:ext cx="556895" cy="343535"/>
            </a:xfrm>
            <a:custGeom>
              <a:avLst/>
              <a:gdLst/>
              <a:ahLst/>
              <a:cxnLst/>
              <a:rect l="l" t="t" r="r" b="b"/>
              <a:pathLst>
                <a:path w="556895" h="343535">
                  <a:moveTo>
                    <a:pt x="556468" y="343405"/>
                  </a:moveTo>
                  <a:lnTo>
                    <a:pt x="556468" y="343405"/>
                  </a:lnTo>
                  <a:lnTo>
                    <a:pt x="0" y="0"/>
                  </a:lnTo>
                </a:path>
              </a:pathLst>
            </a:custGeom>
            <a:ln w="223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008804" y="1932139"/>
              <a:ext cx="775970" cy="478790"/>
            </a:xfrm>
            <a:custGeom>
              <a:avLst/>
              <a:gdLst/>
              <a:ahLst/>
              <a:cxnLst/>
              <a:rect l="l" t="t" r="r" b="b"/>
              <a:pathLst>
                <a:path w="775970" h="478789">
                  <a:moveTo>
                    <a:pt x="193827" y="32524"/>
                  </a:moveTo>
                  <a:lnTo>
                    <a:pt x="0" y="0"/>
                  </a:lnTo>
                  <a:lnTo>
                    <a:pt x="115862" y="159207"/>
                  </a:lnTo>
                  <a:lnTo>
                    <a:pt x="117576" y="72821"/>
                  </a:lnTo>
                  <a:lnTo>
                    <a:pt x="193827" y="32524"/>
                  </a:lnTo>
                  <a:close/>
                </a:path>
                <a:path w="775970" h="478789">
                  <a:moveTo>
                    <a:pt x="775855" y="478764"/>
                  </a:moveTo>
                  <a:lnTo>
                    <a:pt x="660234" y="319557"/>
                  </a:lnTo>
                  <a:lnTo>
                    <a:pt x="657377" y="405955"/>
                  </a:lnTo>
                  <a:lnTo>
                    <a:pt x="582041" y="446239"/>
                  </a:lnTo>
                  <a:lnTo>
                    <a:pt x="775855" y="478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86907" y="2034964"/>
              <a:ext cx="599440" cy="1274445"/>
            </a:xfrm>
            <a:custGeom>
              <a:avLst/>
              <a:gdLst/>
              <a:ahLst/>
              <a:cxnLst/>
              <a:rect l="l" t="t" r="r" b="b"/>
              <a:pathLst>
                <a:path w="599439" h="1274445">
                  <a:moveTo>
                    <a:pt x="0" y="0"/>
                  </a:moveTo>
                  <a:lnTo>
                    <a:pt x="0" y="0"/>
                  </a:lnTo>
                  <a:lnTo>
                    <a:pt x="599045" y="1273988"/>
                  </a:lnTo>
                </a:path>
              </a:pathLst>
            </a:custGeom>
            <a:ln w="22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31995" y="1918220"/>
              <a:ext cx="709295" cy="1508125"/>
            </a:xfrm>
            <a:custGeom>
              <a:avLst/>
              <a:gdLst/>
              <a:ahLst/>
              <a:cxnLst/>
              <a:rect l="l" t="t" r="r" b="b"/>
              <a:pathLst>
                <a:path w="709295" h="1508125">
                  <a:moveTo>
                    <a:pt x="144741" y="132842"/>
                  </a:moveTo>
                  <a:lnTo>
                    <a:pt x="0" y="0"/>
                  </a:lnTo>
                  <a:lnTo>
                    <a:pt x="10160" y="196291"/>
                  </a:lnTo>
                  <a:lnTo>
                    <a:pt x="59131" y="125196"/>
                  </a:lnTo>
                  <a:lnTo>
                    <a:pt x="144741" y="132842"/>
                  </a:lnTo>
                  <a:close/>
                </a:path>
                <a:path w="709295" h="1508125">
                  <a:moveTo>
                    <a:pt x="708977" y="1508061"/>
                  </a:moveTo>
                  <a:lnTo>
                    <a:pt x="699617" y="1311757"/>
                  </a:lnTo>
                  <a:lnTo>
                    <a:pt x="650532" y="1381950"/>
                  </a:lnTo>
                  <a:lnTo>
                    <a:pt x="565035" y="1375219"/>
                  </a:lnTo>
                  <a:lnTo>
                    <a:pt x="708977" y="1508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60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110" dirty="0"/>
              <a:t>The</a:t>
            </a:r>
            <a:r>
              <a:rPr sz="3600" spc="130" dirty="0"/>
              <a:t> </a:t>
            </a:r>
            <a:r>
              <a:rPr sz="3600" spc="55" dirty="0"/>
              <a:t>Internet</a:t>
            </a:r>
            <a:r>
              <a:rPr sz="3600" spc="135" dirty="0"/>
              <a:t> </a:t>
            </a:r>
            <a:r>
              <a:rPr sz="3600" dirty="0"/>
              <a:t>of</a:t>
            </a:r>
            <a:r>
              <a:rPr sz="3600" spc="-30" dirty="0"/>
              <a:t> </a:t>
            </a:r>
            <a:r>
              <a:rPr sz="3600" spc="110" dirty="0"/>
              <a:t>Things</a:t>
            </a:r>
            <a:r>
              <a:rPr sz="3600" spc="114" dirty="0"/>
              <a:t> </a:t>
            </a:r>
            <a:r>
              <a:rPr sz="3600" spc="-10" dirty="0"/>
              <a:t>(IoT)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2437" y="1103122"/>
            <a:ext cx="7436484" cy="52019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73990" indent="-228600">
              <a:lnSpc>
                <a:spcPct val="80000"/>
              </a:lnSpc>
              <a:spcBef>
                <a:spcPts val="48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Term</a:t>
            </a:r>
            <a:r>
              <a:rPr sz="16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16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refers</a:t>
            </a:r>
            <a:r>
              <a:rPr sz="16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6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6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85" dirty="0">
                <a:solidFill>
                  <a:srgbClr val="585858"/>
                </a:solidFill>
                <a:latin typeface="Cambria"/>
                <a:cs typeface="Cambria"/>
              </a:rPr>
              <a:t>expanding</a:t>
            </a:r>
            <a:r>
              <a:rPr sz="16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interconnection</a:t>
            </a:r>
            <a:r>
              <a:rPr sz="16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6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smart</a:t>
            </a:r>
            <a:r>
              <a:rPr sz="16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585858"/>
                </a:solidFill>
                <a:latin typeface="Cambria"/>
                <a:cs typeface="Cambria"/>
              </a:rPr>
              <a:t>devices,</a:t>
            </a:r>
            <a:r>
              <a:rPr sz="1600" spc="-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585858"/>
                </a:solidFill>
                <a:latin typeface="Cambria"/>
                <a:cs typeface="Cambria"/>
              </a:rPr>
              <a:t>ranging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from</a:t>
            </a:r>
            <a:r>
              <a:rPr sz="1600" spc="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65" dirty="0">
                <a:solidFill>
                  <a:srgbClr val="585858"/>
                </a:solidFill>
                <a:latin typeface="Cambria"/>
                <a:cs typeface="Cambria"/>
              </a:rPr>
              <a:t>appliances</a:t>
            </a:r>
            <a:r>
              <a:rPr sz="16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6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tiny</a:t>
            </a:r>
            <a:r>
              <a:rPr sz="16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ambria"/>
                <a:cs typeface="Cambria"/>
              </a:rPr>
              <a:t>sensors</a:t>
            </a:r>
            <a:endParaRPr sz="16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62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16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primarily</a:t>
            </a:r>
            <a:r>
              <a:rPr sz="16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driven</a:t>
            </a:r>
            <a:r>
              <a:rPr sz="16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585858"/>
                </a:solidFill>
                <a:latin typeface="Cambria"/>
                <a:cs typeface="Cambria"/>
              </a:rPr>
              <a:t>by</a:t>
            </a:r>
            <a:r>
              <a:rPr sz="1600" spc="1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85" dirty="0">
                <a:solidFill>
                  <a:srgbClr val="585858"/>
                </a:solidFill>
                <a:latin typeface="Cambria"/>
                <a:cs typeface="Cambria"/>
              </a:rPr>
              <a:t>deeply</a:t>
            </a:r>
            <a:r>
              <a:rPr sz="1600" spc="1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10" dirty="0">
                <a:solidFill>
                  <a:srgbClr val="585858"/>
                </a:solidFill>
                <a:latin typeface="Cambria"/>
                <a:cs typeface="Cambria"/>
              </a:rPr>
              <a:t>embedded</a:t>
            </a:r>
            <a:r>
              <a:rPr sz="1600" spc="1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60" dirty="0">
                <a:solidFill>
                  <a:srgbClr val="585858"/>
                </a:solidFill>
                <a:latin typeface="Cambria"/>
                <a:cs typeface="Cambria"/>
              </a:rPr>
              <a:t>devices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Clr>
                <a:srgbClr val="663366"/>
              </a:buClr>
              <a:buFont typeface="Wingdings"/>
              <a:buChar char=""/>
            </a:pPr>
            <a:endParaRPr sz="1600">
              <a:latin typeface="Cambria"/>
              <a:cs typeface="Cambria"/>
            </a:endParaRPr>
          </a:p>
          <a:p>
            <a:pPr marL="241300" marR="153035" indent="-228600">
              <a:lnSpc>
                <a:spcPct val="80000"/>
              </a:lnSpc>
              <a:spcBef>
                <a:spcPts val="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With</a:t>
            </a:r>
            <a:r>
              <a:rPr sz="16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585858"/>
                </a:solidFill>
                <a:latin typeface="Cambria"/>
                <a:cs typeface="Cambria"/>
              </a:rPr>
              <a:t>reference</a:t>
            </a:r>
            <a:r>
              <a:rPr sz="16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6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6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85" dirty="0">
                <a:solidFill>
                  <a:srgbClr val="585858"/>
                </a:solidFill>
                <a:latin typeface="Cambria"/>
                <a:cs typeface="Cambria"/>
              </a:rPr>
              <a:t>end</a:t>
            </a:r>
            <a:r>
              <a:rPr sz="16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systems</a:t>
            </a:r>
            <a:r>
              <a:rPr sz="1600" spc="1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65" dirty="0">
                <a:solidFill>
                  <a:srgbClr val="585858"/>
                </a:solidFill>
                <a:latin typeface="Cambria"/>
                <a:cs typeface="Cambria"/>
              </a:rPr>
              <a:t>supported,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6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Internet</a:t>
            </a:r>
            <a:r>
              <a:rPr sz="16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has</a:t>
            </a:r>
            <a:r>
              <a:rPr sz="16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90" dirty="0">
                <a:solidFill>
                  <a:srgbClr val="585858"/>
                </a:solidFill>
                <a:latin typeface="Cambria"/>
                <a:cs typeface="Cambria"/>
              </a:rPr>
              <a:t>gone</a:t>
            </a:r>
            <a:r>
              <a:rPr sz="16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ambria"/>
                <a:cs typeface="Cambria"/>
              </a:rPr>
              <a:t>through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roughly</a:t>
            </a:r>
            <a:r>
              <a:rPr sz="16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50" dirty="0">
                <a:solidFill>
                  <a:srgbClr val="585858"/>
                </a:solidFill>
                <a:latin typeface="Cambria"/>
                <a:cs typeface="Cambria"/>
              </a:rPr>
              <a:t>fourGenerations</a:t>
            </a:r>
            <a:r>
              <a:rPr sz="16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6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50" dirty="0">
                <a:solidFill>
                  <a:srgbClr val="585858"/>
                </a:solidFill>
                <a:latin typeface="Cambria"/>
                <a:cs typeface="Cambria"/>
              </a:rPr>
              <a:t>deployment</a:t>
            </a:r>
            <a:r>
              <a:rPr sz="16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culminating</a:t>
            </a:r>
            <a:r>
              <a:rPr sz="16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6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6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-20" dirty="0">
                <a:solidFill>
                  <a:srgbClr val="585858"/>
                </a:solidFill>
                <a:latin typeface="Cambria"/>
                <a:cs typeface="Cambria"/>
              </a:rPr>
              <a:t>IoT:</a:t>
            </a:r>
            <a:endParaRPr sz="16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27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Information</a:t>
            </a:r>
            <a:r>
              <a:rPr sz="14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technology</a:t>
            </a:r>
            <a:r>
              <a:rPr sz="14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585858"/>
                </a:solidFill>
                <a:latin typeface="Cambria"/>
                <a:cs typeface="Cambria"/>
              </a:rPr>
              <a:t>(IT)</a:t>
            </a:r>
            <a:endParaRPr sz="1400">
              <a:latin typeface="Cambria"/>
              <a:cs typeface="Cambria"/>
            </a:endParaRPr>
          </a:p>
          <a:p>
            <a:pPr marL="698500" marR="309245" lvl="2" indent="-228600">
              <a:lnSpc>
                <a:spcPts val="1340"/>
              </a:lnSpc>
              <a:spcBef>
                <a:spcPts val="59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400" spc="105" dirty="0">
                <a:solidFill>
                  <a:srgbClr val="585858"/>
                </a:solidFill>
                <a:latin typeface="Cambria"/>
                <a:cs typeface="Cambria"/>
              </a:rPr>
              <a:t>PCs,</a:t>
            </a:r>
            <a:r>
              <a:rPr sz="1400" spc="-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servers,</a:t>
            </a:r>
            <a:r>
              <a:rPr sz="1400" spc="-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routers,</a:t>
            </a:r>
            <a:r>
              <a:rPr sz="1400" spc="-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firewalls,</a:t>
            </a:r>
            <a:r>
              <a:rPr sz="1400" spc="-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so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on,</a:t>
            </a:r>
            <a:r>
              <a:rPr sz="1400" spc="-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bought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as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IT</a:t>
            </a:r>
            <a:r>
              <a:rPr sz="14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70" dirty="0">
                <a:solidFill>
                  <a:srgbClr val="585858"/>
                </a:solidFill>
                <a:latin typeface="Cambria"/>
                <a:cs typeface="Cambria"/>
              </a:rPr>
              <a:t>devices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80" dirty="0">
                <a:solidFill>
                  <a:srgbClr val="585858"/>
                </a:solidFill>
                <a:latin typeface="Cambria"/>
                <a:cs typeface="Cambria"/>
              </a:rPr>
              <a:t>by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enterprise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585858"/>
                </a:solidFill>
                <a:latin typeface="Cambria"/>
                <a:cs typeface="Cambria"/>
              </a:rPr>
              <a:t>IT </a:t>
            </a:r>
            <a:r>
              <a:rPr sz="1400" spc="80" dirty="0">
                <a:solidFill>
                  <a:srgbClr val="585858"/>
                </a:solidFill>
                <a:latin typeface="Cambria"/>
                <a:cs typeface="Cambria"/>
              </a:rPr>
              <a:t>people</a:t>
            </a:r>
            <a:r>
              <a:rPr sz="14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4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primarily</a:t>
            </a:r>
            <a:r>
              <a:rPr sz="14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using</a:t>
            </a:r>
            <a:r>
              <a:rPr sz="14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wired</a:t>
            </a:r>
            <a:r>
              <a:rPr sz="14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mbria"/>
                <a:cs typeface="Cambria"/>
              </a:rPr>
              <a:t>connectivity</a:t>
            </a:r>
            <a:endParaRPr sz="14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28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Operational</a:t>
            </a:r>
            <a:r>
              <a:rPr sz="1400" spc="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technology</a:t>
            </a:r>
            <a:r>
              <a:rPr sz="1400" spc="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585858"/>
                </a:solidFill>
                <a:latin typeface="Cambria"/>
                <a:cs typeface="Cambria"/>
              </a:rPr>
              <a:t>(OT)</a:t>
            </a:r>
            <a:endParaRPr sz="1400">
              <a:latin typeface="Cambria"/>
              <a:cs typeface="Cambria"/>
            </a:endParaRPr>
          </a:p>
          <a:p>
            <a:pPr marL="698500" marR="128905" lvl="2" indent="-228600">
              <a:lnSpc>
                <a:spcPts val="1340"/>
              </a:lnSpc>
              <a:spcBef>
                <a:spcPts val="59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Machines/appliances</a:t>
            </a:r>
            <a:r>
              <a:rPr sz="1400" spc="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with</a:t>
            </a:r>
            <a:r>
              <a:rPr sz="14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0" dirty="0">
                <a:solidFill>
                  <a:srgbClr val="585858"/>
                </a:solidFill>
                <a:latin typeface="Cambria"/>
                <a:cs typeface="Cambria"/>
              </a:rPr>
              <a:t>embedded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IT</a:t>
            </a:r>
            <a:r>
              <a:rPr sz="14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built</a:t>
            </a:r>
            <a:r>
              <a:rPr sz="14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80" dirty="0">
                <a:solidFill>
                  <a:srgbClr val="585858"/>
                </a:solidFill>
                <a:latin typeface="Cambria"/>
                <a:cs typeface="Cambria"/>
              </a:rPr>
              <a:t>by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non-IT</a:t>
            </a:r>
            <a:r>
              <a:rPr sz="14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companies,</a:t>
            </a:r>
            <a:r>
              <a:rPr sz="1400" spc="-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such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585858"/>
                </a:solidFill>
                <a:latin typeface="Cambria"/>
                <a:cs typeface="Cambria"/>
              </a:rPr>
              <a:t>as 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medical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machinery,</a:t>
            </a:r>
            <a:r>
              <a:rPr sz="1400" spc="-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10" dirty="0">
                <a:solidFill>
                  <a:srgbClr val="585858"/>
                </a:solidFill>
                <a:latin typeface="Cambria"/>
                <a:cs typeface="Cambria"/>
              </a:rPr>
              <a:t>SCADA,</a:t>
            </a:r>
            <a:r>
              <a:rPr sz="1400" spc="-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process</a:t>
            </a:r>
            <a:r>
              <a:rPr sz="14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control,</a:t>
            </a:r>
            <a:r>
              <a:rPr sz="1400" spc="-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kiosks,</a:t>
            </a:r>
            <a:r>
              <a:rPr sz="1400" spc="-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bought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as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appliances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by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enterprise</a:t>
            </a:r>
            <a:r>
              <a:rPr sz="14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90" dirty="0">
                <a:solidFill>
                  <a:srgbClr val="585858"/>
                </a:solidFill>
                <a:latin typeface="Cambria"/>
                <a:cs typeface="Cambria"/>
              </a:rPr>
              <a:t>OT </a:t>
            </a:r>
            <a:r>
              <a:rPr sz="1400" spc="85" dirty="0">
                <a:solidFill>
                  <a:srgbClr val="585858"/>
                </a:solidFill>
                <a:latin typeface="Cambria"/>
                <a:cs typeface="Cambria"/>
              </a:rPr>
              <a:t>people</a:t>
            </a:r>
            <a:r>
              <a:rPr sz="14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4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primarily</a:t>
            </a:r>
            <a:r>
              <a:rPr sz="14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using</a:t>
            </a:r>
            <a:r>
              <a:rPr sz="14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wired</a:t>
            </a:r>
            <a:r>
              <a:rPr sz="14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mbria"/>
                <a:cs typeface="Cambria"/>
              </a:rPr>
              <a:t>connectivity</a:t>
            </a:r>
            <a:endParaRPr sz="14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29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Personal</a:t>
            </a:r>
            <a:r>
              <a:rPr sz="1400" spc="2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technology</a:t>
            </a:r>
            <a:endParaRPr sz="1400">
              <a:latin typeface="Cambria"/>
              <a:cs typeface="Cambria"/>
            </a:endParaRPr>
          </a:p>
          <a:p>
            <a:pPr marL="698500" marR="501015" lvl="2" indent="-228600">
              <a:lnSpc>
                <a:spcPct val="80000"/>
              </a:lnSpc>
              <a:spcBef>
                <a:spcPts val="6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Smartphones,</a:t>
            </a:r>
            <a:r>
              <a:rPr sz="1400" spc="-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tablets,</a:t>
            </a:r>
            <a:r>
              <a:rPr sz="1400" spc="-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eBook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 readers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bought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as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IT</a:t>
            </a:r>
            <a:r>
              <a:rPr sz="14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70" dirty="0">
                <a:solidFill>
                  <a:srgbClr val="585858"/>
                </a:solidFill>
                <a:latin typeface="Cambria"/>
                <a:cs typeface="Cambria"/>
              </a:rPr>
              <a:t>devices </a:t>
            </a:r>
            <a:r>
              <a:rPr sz="1400" spc="80" dirty="0">
                <a:solidFill>
                  <a:srgbClr val="585858"/>
                </a:solidFill>
                <a:latin typeface="Cambria"/>
                <a:cs typeface="Cambria"/>
              </a:rPr>
              <a:t>by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40" dirty="0">
                <a:solidFill>
                  <a:srgbClr val="585858"/>
                </a:solidFill>
                <a:latin typeface="Cambria"/>
                <a:cs typeface="Cambria"/>
              </a:rPr>
              <a:t>consumers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exclusively</a:t>
            </a:r>
            <a:r>
              <a:rPr sz="14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using</a:t>
            </a:r>
            <a:r>
              <a:rPr sz="14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wireless</a:t>
            </a:r>
            <a:r>
              <a:rPr sz="14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connectivity</a:t>
            </a:r>
            <a:r>
              <a:rPr sz="14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4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often</a:t>
            </a:r>
            <a:r>
              <a:rPr sz="14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multiple</a:t>
            </a:r>
            <a:r>
              <a:rPr sz="14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forms</a:t>
            </a:r>
            <a:r>
              <a:rPr sz="14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4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mbria"/>
                <a:cs typeface="Cambria"/>
              </a:rPr>
              <a:t>wireless connectivity</a:t>
            </a:r>
            <a:endParaRPr sz="14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26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Sensor/actuator</a:t>
            </a:r>
            <a:r>
              <a:rPr sz="1400" spc="2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technology</a:t>
            </a:r>
            <a:endParaRPr sz="1400">
              <a:latin typeface="Cambria"/>
              <a:cs typeface="Cambria"/>
            </a:endParaRPr>
          </a:p>
          <a:p>
            <a:pPr marL="698500" marR="5080" lvl="2" indent="-228600">
              <a:lnSpc>
                <a:spcPts val="1340"/>
              </a:lnSpc>
              <a:spcBef>
                <a:spcPts val="59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Single-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purpose</a:t>
            </a:r>
            <a:r>
              <a:rPr sz="1400" spc="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70" dirty="0">
                <a:solidFill>
                  <a:srgbClr val="585858"/>
                </a:solidFill>
                <a:latin typeface="Cambria"/>
                <a:cs typeface="Cambria"/>
              </a:rPr>
              <a:t>devices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bought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80" dirty="0">
                <a:solidFill>
                  <a:srgbClr val="585858"/>
                </a:solidFill>
                <a:latin typeface="Cambria"/>
                <a:cs typeface="Cambria"/>
              </a:rPr>
              <a:t>by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consumers,</a:t>
            </a:r>
            <a:r>
              <a:rPr sz="1400" spc="-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mbria"/>
                <a:cs typeface="Cambria"/>
              </a:rPr>
              <a:t>IT,</a:t>
            </a:r>
            <a:r>
              <a:rPr sz="1400" spc="-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4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90" dirty="0">
                <a:solidFill>
                  <a:srgbClr val="585858"/>
                </a:solidFill>
                <a:latin typeface="Cambria"/>
                <a:cs typeface="Cambria"/>
              </a:rPr>
              <a:t>OT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85" dirty="0">
                <a:solidFill>
                  <a:srgbClr val="585858"/>
                </a:solidFill>
                <a:latin typeface="Cambria"/>
                <a:cs typeface="Cambria"/>
              </a:rPr>
              <a:t>people</a:t>
            </a:r>
            <a:r>
              <a:rPr sz="14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exclusively</a:t>
            </a:r>
            <a:r>
              <a:rPr sz="1400" spc="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45" dirty="0">
                <a:solidFill>
                  <a:srgbClr val="585858"/>
                </a:solidFill>
                <a:latin typeface="Cambria"/>
                <a:cs typeface="Cambria"/>
              </a:rPr>
              <a:t>using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wireless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connectivity,</a:t>
            </a:r>
            <a:r>
              <a:rPr sz="1400" spc="-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generally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4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4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single</a:t>
            </a:r>
            <a:r>
              <a:rPr sz="14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form,</a:t>
            </a:r>
            <a:r>
              <a:rPr sz="1400" spc="-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as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part</a:t>
            </a:r>
            <a:r>
              <a:rPr sz="14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4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larger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mbria"/>
                <a:cs typeface="Cambria"/>
              </a:rPr>
              <a:t>systems</a:t>
            </a:r>
            <a:endParaRPr sz="1400">
              <a:latin typeface="Cambria"/>
              <a:cs typeface="Cambria"/>
            </a:endParaRPr>
          </a:p>
          <a:p>
            <a:pPr lvl="2">
              <a:lnSpc>
                <a:spcPct val="100000"/>
              </a:lnSpc>
              <a:spcBef>
                <a:spcPts val="355"/>
              </a:spcBef>
              <a:buClr>
                <a:srgbClr val="663366"/>
              </a:buClr>
              <a:buFont typeface="Wingdings"/>
              <a:buChar char=""/>
            </a:pPr>
            <a:endParaRPr sz="1400">
              <a:latin typeface="Cambria"/>
              <a:cs typeface="Cambria"/>
            </a:endParaRPr>
          </a:p>
          <a:p>
            <a:pPr marL="241300" marR="59690" indent="-228600">
              <a:lnSpc>
                <a:spcPts val="1540"/>
              </a:lnSpc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It</a:t>
            </a:r>
            <a:r>
              <a:rPr sz="16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16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6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fourth</a:t>
            </a:r>
            <a:r>
              <a:rPr sz="16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generation</a:t>
            </a:r>
            <a:r>
              <a:rPr sz="16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16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16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usually</a:t>
            </a:r>
            <a:r>
              <a:rPr sz="16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thought</a:t>
            </a:r>
            <a:r>
              <a:rPr sz="16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6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as</a:t>
            </a:r>
            <a:r>
              <a:rPr sz="16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6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IoT</a:t>
            </a:r>
            <a:r>
              <a:rPr sz="16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6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it</a:t>
            </a:r>
            <a:r>
              <a:rPr sz="16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16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40" dirty="0">
                <a:solidFill>
                  <a:srgbClr val="585858"/>
                </a:solidFill>
                <a:latin typeface="Cambria"/>
                <a:cs typeface="Cambria"/>
              </a:rPr>
              <a:t>marked </a:t>
            </a:r>
            <a:r>
              <a:rPr sz="1600" spc="85" dirty="0">
                <a:solidFill>
                  <a:srgbClr val="585858"/>
                </a:solidFill>
                <a:latin typeface="Cambria"/>
                <a:cs typeface="Cambria"/>
              </a:rPr>
              <a:t>by</a:t>
            </a:r>
            <a:r>
              <a:rPr sz="16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6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585858"/>
                </a:solidFill>
                <a:latin typeface="Cambria"/>
                <a:cs typeface="Cambria"/>
              </a:rPr>
              <a:t>use</a:t>
            </a:r>
            <a:r>
              <a:rPr sz="16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6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billions</a:t>
            </a:r>
            <a:r>
              <a:rPr sz="16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6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110" dirty="0">
                <a:solidFill>
                  <a:srgbClr val="585858"/>
                </a:solidFill>
                <a:latin typeface="Cambria"/>
                <a:cs typeface="Cambria"/>
              </a:rPr>
              <a:t>embedded</a:t>
            </a:r>
            <a:r>
              <a:rPr sz="16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60" dirty="0">
                <a:solidFill>
                  <a:srgbClr val="585858"/>
                </a:solidFill>
                <a:latin typeface="Cambria"/>
                <a:cs typeface="Cambria"/>
              </a:rPr>
              <a:t>devices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1600200"/>
          </a:xfrm>
          <a:custGeom>
            <a:avLst/>
            <a:gdLst/>
            <a:ahLst/>
            <a:cxnLst/>
            <a:rect l="l" t="t" r="r" b="b"/>
            <a:pathLst>
              <a:path w="685800" h="1600200">
                <a:moveTo>
                  <a:pt x="685800" y="0"/>
                </a:moveTo>
                <a:lnTo>
                  <a:pt x="0" y="0"/>
                </a:lnTo>
                <a:lnTo>
                  <a:pt x="0" y="1600199"/>
                </a:lnTo>
                <a:lnTo>
                  <a:pt x="685800" y="1600199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0413" y="200914"/>
            <a:ext cx="286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540" y="2159000"/>
            <a:ext cx="3307715" cy="292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There</a:t>
            </a:r>
            <a:r>
              <a:rPr sz="18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are</a:t>
            </a:r>
            <a:r>
              <a:rPr sz="18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two</a:t>
            </a:r>
            <a:r>
              <a:rPr sz="18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general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approaches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585858"/>
                </a:solidFill>
                <a:latin typeface="Cambria"/>
                <a:cs typeface="Cambria"/>
              </a:rPr>
              <a:t>developing </a:t>
            </a:r>
            <a:r>
              <a:rPr sz="1800" spc="-25" dirty="0">
                <a:solidFill>
                  <a:srgbClr val="585858"/>
                </a:solidFill>
                <a:latin typeface="Cambria"/>
                <a:cs typeface="Cambria"/>
              </a:rPr>
              <a:t>an </a:t>
            </a:r>
            <a:r>
              <a:rPr sz="1800" spc="125" dirty="0">
                <a:solidFill>
                  <a:srgbClr val="585858"/>
                </a:solidFill>
                <a:latin typeface="Cambria"/>
                <a:cs typeface="Cambria"/>
              </a:rPr>
              <a:t>embedded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operating </a:t>
            </a:r>
            <a:r>
              <a:rPr sz="1800" spc="-10" dirty="0">
                <a:solidFill>
                  <a:srgbClr val="585858"/>
                </a:solidFill>
                <a:latin typeface="Cambria"/>
                <a:cs typeface="Cambria"/>
              </a:rPr>
              <a:t>system 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(OS):</a:t>
            </a:r>
            <a:endParaRPr sz="1800">
              <a:latin typeface="Cambria"/>
              <a:cs typeface="Cambria"/>
            </a:endParaRPr>
          </a:p>
          <a:p>
            <a:pPr marL="469265" marR="73025" lvl="1" indent="-228600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Take</a:t>
            </a:r>
            <a:r>
              <a:rPr sz="18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an</a:t>
            </a:r>
            <a:r>
              <a:rPr sz="18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existing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55" dirty="0">
                <a:solidFill>
                  <a:srgbClr val="585858"/>
                </a:solidFill>
                <a:latin typeface="Cambria"/>
                <a:cs typeface="Cambria"/>
              </a:rPr>
              <a:t>OS</a:t>
            </a:r>
            <a:r>
              <a:rPr sz="18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and 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adapt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it</a:t>
            </a:r>
            <a:r>
              <a:rPr sz="18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for</a:t>
            </a: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8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114" dirty="0">
                <a:solidFill>
                  <a:srgbClr val="585858"/>
                </a:solidFill>
                <a:latin typeface="Cambria"/>
                <a:cs typeface="Cambria"/>
              </a:rPr>
              <a:t>embedded 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application</a:t>
            </a:r>
            <a:endParaRPr sz="1800">
              <a:latin typeface="Cambria"/>
              <a:cs typeface="Cambria"/>
            </a:endParaRPr>
          </a:p>
          <a:p>
            <a:pPr marL="469265" marR="130810" lvl="1" indent="-228600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Design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implement </a:t>
            </a:r>
            <a:r>
              <a:rPr sz="1800" spc="30" dirty="0">
                <a:solidFill>
                  <a:srgbClr val="585858"/>
                </a:solidFill>
                <a:latin typeface="Cambria"/>
                <a:cs typeface="Cambria"/>
              </a:rPr>
              <a:t>an </a:t>
            </a:r>
            <a:r>
              <a:rPr sz="1800" spc="155" dirty="0">
                <a:solidFill>
                  <a:srgbClr val="585858"/>
                </a:solidFill>
                <a:latin typeface="Cambria"/>
                <a:cs typeface="Cambria"/>
              </a:rPr>
              <a:t>OS</a:t>
            </a:r>
            <a:r>
              <a:rPr sz="18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585858"/>
                </a:solidFill>
                <a:latin typeface="Cambria"/>
                <a:cs typeface="Cambria"/>
              </a:rPr>
              <a:t>intended</a:t>
            </a:r>
            <a:r>
              <a:rPr sz="18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585858"/>
                </a:solidFill>
                <a:latin typeface="Cambria"/>
                <a:cs typeface="Cambria"/>
              </a:rPr>
              <a:t>solely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585858"/>
                </a:solidFill>
                <a:latin typeface="Cambria"/>
                <a:cs typeface="Cambria"/>
              </a:rPr>
              <a:t>for </a:t>
            </a:r>
            <a:r>
              <a:rPr sz="1800" spc="125" dirty="0">
                <a:solidFill>
                  <a:srgbClr val="585858"/>
                </a:solidFill>
                <a:latin typeface="Cambria"/>
                <a:cs typeface="Cambria"/>
              </a:rPr>
              <a:t>embedded</a:t>
            </a:r>
            <a:r>
              <a:rPr sz="18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35" dirty="0">
                <a:solidFill>
                  <a:srgbClr val="585858"/>
                </a:solidFill>
                <a:latin typeface="Cambria"/>
                <a:cs typeface="Cambria"/>
              </a:rPr>
              <a:t>use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35602" y="2064889"/>
            <a:ext cx="4009390" cy="43040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Application</a:t>
            </a:r>
            <a:r>
              <a:rPr sz="1800" spc="55" dirty="0">
                <a:solidFill>
                  <a:srgbClr val="585858"/>
                </a:solidFill>
                <a:latin typeface="Cambria"/>
                <a:cs typeface="Cambria"/>
              </a:rPr>
              <a:t> processors</a:t>
            </a:r>
            <a:endParaRPr sz="1800">
              <a:latin typeface="Cambria"/>
              <a:cs typeface="Cambria"/>
            </a:endParaRPr>
          </a:p>
          <a:p>
            <a:pPr marL="469900" marR="238760" lvl="1" indent="-228600">
              <a:lnSpc>
                <a:spcPts val="1440"/>
              </a:lnSpc>
              <a:spcBef>
                <a:spcPts val="605"/>
              </a:spcBef>
              <a:buClr>
                <a:srgbClr val="B86FB8"/>
              </a:buClr>
              <a:buSzPct val="73333"/>
              <a:buFont typeface="Wingdings"/>
              <a:buChar char=""/>
              <a:tabLst>
                <a:tab pos="469900" algn="l"/>
              </a:tabLst>
            </a:pPr>
            <a:r>
              <a:rPr sz="1500" spc="60" dirty="0">
                <a:solidFill>
                  <a:srgbClr val="585858"/>
                </a:solidFill>
                <a:latin typeface="Cambria"/>
                <a:cs typeface="Cambria"/>
              </a:rPr>
              <a:t>Defined</a:t>
            </a:r>
            <a:r>
              <a:rPr sz="1500" spc="1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85" dirty="0">
                <a:solidFill>
                  <a:srgbClr val="585858"/>
                </a:solidFill>
                <a:latin typeface="Cambria"/>
                <a:cs typeface="Cambria"/>
              </a:rPr>
              <a:t>by</a:t>
            </a:r>
            <a:r>
              <a:rPr sz="1500" spc="1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500" spc="1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processor’s</a:t>
            </a:r>
            <a:r>
              <a:rPr sz="1500" spc="2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ability</a:t>
            </a:r>
            <a:r>
              <a:rPr sz="1500" spc="229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-25" dirty="0">
                <a:solidFill>
                  <a:srgbClr val="585858"/>
                </a:solidFill>
                <a:latin typeface="Cambria"/>
                <a:cs typeface="Cambria"/>
              </a:rPr>
              <a:t>to </a:t>
            </a:r>
            <a:r>
              <a:rPr sz="1500" spc="60" dirty="0">
                <a:solidFill>
                  <a:srgbClr val="585858"/>
                </a:solidFill>
                <a:latin typeface="Cambria"/>
                <a:cs typeface="Cambria"/>
              </a:rPr>
              <a:t>execute</a:t>
            </a:r>
            <a:r>
              <a:rPr sz="15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70" dirty="0">
                <a:solidFill>
                  <a:srgbClr val="585858"/>
                </a:solidFill>
                <a:latin typeface="Cambria"/>
                <a:cs typeface="Cambria"/>
              </a:rPr>
              <a:t>complex</a:t>
            </a:r>
            <a:r>
              <a:rPr sz="15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10" dirty="0">
                <a:solidFill>
                  <a:srgbClr val="585858"/>
                </a:solidFill>
                <a:latin typeface="Cambria"/>
                <a:cs typeface="Cambria"/>
              </a:rPr>
              <a:t>operating</a:t>
            </a:r>
            <a:r>
              <a:rPr sz="15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50" dirty="0">
                <a:solidFill>
                  <a:srgbClr val="585858"/>
                </a:solidFill>
                <a:latin typeface="Cambria"/>
                <a:cs typeface="Cambria"/>
              </a:rPr>
              <a:t>systems,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65" dirty="0">
                <a:solidFill>
                  <a:srgbClr val="585858"/>
                </a:solidFill>
                <a:latin typeface="Cambria"/>
                <a:cs typeface="Cambria"/>
              </a:rPr>
              <a:t>,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such</a:t>
            </a:r>
            <a:r>
              <a:rPr sz="1500" spc="1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as</a:t>
            </a:r>
            <a:r>
              <a:rPr sz="15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Linux,</a:t>
            </a:r>
            <a:r>
              <a:rPr sz="1500" spc="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55" dirty="0">
                <a:solidFill>
                  <a:srgbClr val="585858"/>
                </a:solidFill>
                <a:latin typeface="Cambria"/>
                <a:cs typeface="Cambria"/>
              </a:rPr>
              <a:t>Android,</a:t>
            </a:r>
            <a:r>
              <a:rPr sz="1500" spc="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5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5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65" dirty="0">
                <a:solidFill>
                  <a:srgbClr val="585858"/>
                </a:solidFill>
                <a:latin typeface="Cambria"/>
                <a:cs typeface="Cambria"/>
              </a:rPr>
              <a:t>Chrome</a:t>
            </a:r>
            <a:endParaRPr sz="1500">
              <a:latin typeface="Cambria"/>
              <a:cs typeface="Cambria"/>
            </a:endParaRPr>
          </a:p>
          <a:p>
            <a:pPr marL="469900" marR="577215" lvl="1" indent="-228600">
              <a:lnSpc>
                <a:spcPct val="80000"/>
              </a:lnSpc>
              <a:spcBef>
                <a:spcPts val="610"/>
              </a:spcBef>
              <a:buClr>
                <a:srgbClr val="B86FB8"/>
              </a:buClr>
              <a:buSzPct val="73333"/>
              <a:buFont typeface="Wingdings"/>
              <a:buChar char=""/>
              <a:tabLst>
                <a:tab pos="469900" algn="l"/>
              </a:tabLst>
            </a:pPr>
            <a:r>
              <a:rPr sz="1500" spc="10" dirty="0">
                <a:solidFill>
                  <a:srgbClr val="585858"/>
                </a:solidFill>
                <a:latin typeface="Cambria"/>
                <a:cs typeface="Cambria"/>
              </a:rPr>
              <a:t>Thus,</a:t>
            </a:r>
            <a:r>
              <a:rPr sz="1500" spc="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1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500" spc="1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10" dirty="0">
                <a:solidFill>
                  <a:srgbClr val="585858"/>
                </a:solidFill>
                <a:latin typeface="Cambria"/>
                <a:cs typeface="Cambria"/>
              </a:rPr>
              <a:t>application</a:t>
            </a:r>
            <a:r>
              <a:rPr sz="1500" spc="2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45" dirty="0">
                <a:solidFill>
                  <a:srgbClr val="585858"/>
                </a:solidFill>
                <a:latin typeface="Cambria"/>
                <a:cs typeface="Cambria"/>
              </a:rPr>
              <a:t>processor</a:t>
            </a:r>
            <a:r>
              <a:rPr sz="1500" spc="2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25" dirty="0">
                <a:solidFill>
                  <a:srgbClr val="585858"/>
                </a:solidFill>
                <a:latin typeface="Cambria"/>
                <a:cs typeface="Cambria"/>
              </a:rPr>
              <a:t>id </a:t>
            </a:r>
            <a:r>
              <a:rPr sz="1500" spc="60" dirty="0">
                <a:solidFill>
                  <a:srgbClr val="585858"/>
                </a:solidFill>
                <a:latin typeface="Cambria"/>
                <a:cs typeface="Cambria"/>
              </a:rPr>
              <a:t>general-</a:t>
            </a:r>
            <a:r>
              <a:rPr sz="1500" spc="55" dirty="0">
                <a:solidFill>
                  <a:srgbClr val="585858"/>
                </a:solidFill>
                <a:latin typeface="Cambria"/>
                <a:cs typeface="Cambria"/>
              </a:rPr>
              <a:t>purpose</a:t>
            </a:r>
            <a:r>
              <a:rPr sz="15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5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-10" dirty="0">
                <a:solidFill>
                  <a:srgbClr val="585858"/>
                </a:solidFill>
                <a:latin typeface="Cambria"/>
                <a:cs typeface="Cambria"/>
              </a:rPr>
              <a:t>nature</a:t>
            </a:r>
            <a:endParaRPr sz="1500">
              <a:latin typeface="Cambria"/>
              <a:cs typeface="Cambria"/>
            </a:endParaRPr>
          </a:p>
          <a:p>
            <a:pPr marL="469900" marR="165100" lvl="1" indent="-228600">
              <a:lnSpc>
                <a:spcPct val="80000"/>
              </a:lnSpc>
              <a:spcBef>
                <a:spcPts val="600"/>
              </a:spcBef>
              <a:buClr>
                <a:srgbClr val="B86FB8"/>
              </a:buClr>
              <a:buSzPct val="73333"/>
              <a:buFont typeface="Wingdings"/>
              <a:buChar char=""/>
              <a:tabLst>
                <a:tab pos="469900" algn="l"/>
              </a:tabLst>
            </a:pPr>
            <a:r>
              <a:rPr sz="1500" spc="55" dirty="0">
                <a:solidFill>
                  <a:srgbClr val="585858"/>
                </a:solidFill>
                <a:latin typeface="Cambria"/>
                <a:cs typeface="Cambria"/>
              </a:rPr>
              <a:t>An</a:t>
            </a:r>
            <a:r>
              <a:rPr sz="15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70" dirty="0">
                <a:solidFill>
                  <a:srgbClr val="585858"/>
                </a:solidFill>
                <a:latin typeface="Cambria"/>
                <a:cs typeface="Cambria"/>
              </a:rPr>
              <a:t>example</a:t>
            </a:r>
            <a:r>
              <a:rPr sz="15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1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15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1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5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10" dirty="0">
                <a:solidFill>
                  <a:srgbClr val="585858"/>
                </a:solidFill>
                <a:latin typeface="Cambria"/>
                <a:cs typeface="Cambria"/>
              </a:rPr>
              <a:t>smartphone</a:t>
            </a:r>
            <a:r>
              <a:rPr sz="15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10" dirty="0">
                <a:solidFill>
                  <a:srgbClr val="585858"/>
                </a:solidFill>
                <a:latin typeface="Cambria"/>
                <a:cs typeface="Cambria"/>
              </a:rPr>
              <a:t>–</a:t>
            </a:r>
            <a:r>
              <a:rPr sz="15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-25" dirty="0">
                <a:solidFill>
                  <a:srgbClr val="585858"/>
                </a:solidFill>
                <a:latin typeface="Cambria"/>
                <a:cs typeface="Cambria"/>
              </a:rPr>
              <a:t>the </a:t>
            </a:r>
            <a:r>
              <a:rPr sz="1500" spc="100" dirty="0">
                <a:solidFill>
                  <a:srgbClr val="585858"/>
                </a:solidFill>
                <a:latin typeface="Cambria"/>
                <a:cs typeface="Cambria"/>
              </a:rPr>
              <a:t>embedded</a:t>
            </a:r>
            <a:r>
              <a:rPr sz="15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system</a:t>
            </a:r>
            <a:r>
              <a:rPr sz="15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15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80" dirty="0">
                <a:solidFill>
                  <a:srgbClr val="585858"/>
                </a:solidFill>
                <a:latin typeface="Cambria"/>
                <a:cs typeface="Cambria"/>
              </a:rPr>
              <a:t>designed</a:t>
            </a:r>
            <a:r>
              <a:rPr sz="15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-25" dirty="0">
                <a:solidFill>
                  <a:srgbClr val="585858"/>
                </a:solidFill>
                <a:latin typeface="Cambria"/>
                <a:cs typeface="Cambria"/>
              </a:rPr>
              <a:t>to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support</a:t>
            </a:r>
            <a:r>
              <a:rPr sz="1500" spc="2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numerous</a:t>
            </a:r>
            <a:r>
              <a:rPr sz="1500" spc="2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65" dirty="0">
                <a:solidFill>
                  <a:srgbClr val="585858"/>
                </a:solidFill>
                <a:latin typeface="Cambria"/>
                <a:cs typeface="Cambria"/>
              </a:rPr>
              <a:t>apps</a:t>
            </a:r>
            <a:r>
              <a:rPr sz="1500" spc="2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5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500" spc="2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perform</a:t>
            </a:r>
            <a:r>
              <a:rPr sz="1500" spc="229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-10" dirty="0">
                <a:solidFill>
                  <a:srgbClr val="585858"/>
                </a:solidFill>
                <a:latin typeface="Cambria"/>
                <a:cs typeface="Cambria"/>
              </a:rPr>
              <a:t>a </a:t>
            </a:r>
            <a:r>
              <a:rPr sz="1500" spc="50" dirty="0">
                <a:solidFill>
                  <a:srgbClr val="585858"/>
                </a:solidFill>
                <a:latin typeface="Cambria"/>
                <a:cs typeface="Cambria"/>
              </a:rPr>
              <a:t>wide</a:t>
            </a:r>
            <a:r>
              <a:rPr sz="15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variety</a:t>
            </a:r>
            <a:r>
              <a:rPr sz="15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5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-10" dirty="0">
                <a:solidFill>
                  <a:srgbClr val="585858"/>
                </a:solidFill>
                <a:latin typeface="Cambria"/>
                <a:cs typeface="Cambria"/>
              </a:rPr>
              <a:t>functions</a:t>
            </a:r>
            <a:endParaRPr sz="15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56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spc="90" dirty="0">
                <a:solidFill>
                  <a:srgbClr val="585858"/>
                </a:solidFill>
                <a:latin typeface="Cambria"/>
                <a:cs typeface="Cambria"/>
              </a:rPr>
              <a:t>Dedicated</a:t>
            </a:r>
            <a:r>
              <a:rPr sz="18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85858"/>
                </a:solidFill>
                <a:latin typeface="Cambria"/>
                <a:cs typeface="Cambria"/>
              </a:rPr>
              <a:t>processor</a:t>
            </a:r>
            <a:endParaRPr sz="1800">
              <a:latin typeface="Cambria"/>
              <a:cs typeface="Cambria"/>
            </a:endParaRPr>
          </a:p>
          <a:p>
            <a:pPr marL="469900" marR="5080" lvl="1" indent="-228600">
              <a:lnSpc>
                <a:spcPts val="1440"/>
              </a:lnSpc>
              <a:spcBef>
                <a:spcPts val="595"/>
              </a:spcBef>
              <a:buClr>
                <a:srgbClr val="B86FB8"/>
              </a:buClr>
              <a:buSzPct val="73333"/>
              <a:buFont typeface="Wingdings"/>
              <a:buChar char=""/>
              <a:tabLst>
                <a:tab pos="469900" algn="l"/>
              </a:tabLst>
            </a:pP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15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70" dirty="0">
                <a:solidFill>
                  <a:srgbClr val="585858"/>
                </a:solidFill>
                <a:latin typeface="Cambria"/>
                <a:cs typeface="Cambria"/>
              </a:rPr>
              <a:t>dedicated</a:t>
            </a:r>
            <a:r>
              <a:rPr sz="15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500" spc="65" dirty="0">
                <a:solidFill>
                  <a:srgbClr val="585858"/>
                </a:solidFill>
                <a:latin typeface="Cambria"/>
                <a:cs typeface="Cambria"/>
              </a:rPr>
              <a:t> one</a:t>
            </a:r>
            <a:r>
              <a:rPr sz="15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or</a:t>
            </a:r>
            <a:r>
              <a:rPr sz="15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5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5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small</a:t>
            </a:r>
            <a:r>
              <a:rPr sz="15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50" dirty="0">
                <a:solidFill>
                  <a:srgbClr val="585858"/>
                </a:solidFill>
                <a:latin typeface="Cambria"/>
                <a:cs typeface="Cambria"/>
              </a:rPr>
              <a:t>number</a:t>
            </a:r>
            <a:r>
              <a:rPr sz="15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-25" dirty="0">
                <a:solidFill>
                  <a:srgbClr val="585858"/>
                </a:solidFill>
                <a:latin typeface="Cambria"/>
                <a:cs typeface="Cambria"/>
              </a:rPr>
              <a:t>of </a:t>
            </a:r>
            <a:r>
              <a:rPr sz="1500" spc="60" dirty="0">
                <a:solidFill>
                  <a:srgbClr val="585858"/>
                </a:solidFill>
                <a:latin typeface="Cambria"/>
                <a:cs typeface="Cambria"/>
              </a:rPr>
              <a:t>specific</a:t>
            </a:r>
            <a:r>
              <a:rPr sz="1500" spc="1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tasks</a:t>
            </a:r>
            <a:r>
              <a:rPr sz="15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required</a:t>
            </a:r>
            <a:r>
              <a:rPr sz="15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85" dirty="0">
                <a:solidFill>
                  <a:srgbClr val="585858"/>
                </a:solidFill>
                <a:latin typeface="Cambria"/>
                <a:cs typeface="Cambria"/>
              </a:rPr>
              <a:t>by</a:t>
            </a:r>
            <a:r>
              <a:rPr sz="15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5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-20" dirty="0">
                <a:solidFill>
                  <a:srgbClr val="585858"/>
                </a:solidFill>
                <a:latin typeface="Cambria"/>
                <a:cs typeface="Cambria"/>
              </a:rPr>
              <a:t>host </a:t>
            </a:r>
            <a:r>
              <a:rPr sz="1500" spc="65" dirty="0">
                <a:solidFill>
                  <a:srgbClr val="585858"/>
                </a:solidFill>
                <a:latin typeface="Cambria"/>
                <a:cs typeface="Cambria"/>
              </a:rPr>
              <a:t>device</a:t>
            </a:r>
            <a:endParaRPr sz="1500">
              <a:latin typeface="Cambria"/>
              <a:cs typeface="Cambria"/>
            </a:endParaRPr>
          </a:p>
          <a:p>
            <a:pPr marL="469900" marR="51435" lvl="1" indent="-228600">
              <a:lnSpc>
                <a:spcPct val="80000"/>
              </a:lnSpc>
              <a:spcBef>
                <a:spcPts val="610"/>
              </a:spcBef>
              <a:buClr>
                <a:srgbClr val="B86FB8"/>
              </a:buClr>
              <a:buSzPct val="73333"/>
              <a:buFont typeface="Wingdings"/>
              <a:buChar char=""/>
              <a:tabLst>
                <a:tab pos="469900" algn="l"/>
              </a:tabLst>
            </a:pPr>
            <a:r>
              <a:rPr sz="1500" spc="55" dirty="0">
                <a:solidFill>
                  <a:srgbClr val="585858"/>
                </a:solidFill>
                <a:latin typeface="Cambria"/>
                <a:cs typeface="Cambria"/>
              </a:rPr>
              <a:t>Because</a:t>
            </a:r>
            <a:r>
              <a:rPr sz="1500" spc="1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such</a:t>
            </a:r>
            <a:r>
              <a:rPr sz="1500" spc="1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an</a:t>
            </a:r>
            <a:r>
              <a:rPr sz="15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100" dirty="0">
                <a:solidFill>
                  <a:srgbClr val="585858"/>
                </a:solidFill>
                <a:latin typeface="Cambria"/>
                <a:cs typeface="Cambria"/>
              </a:rPr>
              <a:t>embedded</a:t>
            </a:r>
            <a:r>
              <a:rPr sz="15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system</a:t>
            </a:r>
            <a:r>
              <a:rPr sz="15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-25" dirty="0">
                <a:solidFill>
                  <a:srgbClr val="585858"/>
                </a:solidFill>
                <a:latin typeface="Cambria"/>
                <a:cs typeface="Cambria"/>
              </a:rPr>
              <a:t>is </a:t>
            </a:r>
            <a:r>
              <a:rPr sz="1500" spc="70" dirty="0">
                <a:solidFill>
                  <a:srgbClr val="585858"/>
                </a:solidFill>
                <a:latin typeface="Cambria"/>
                <a:cs typeface="Cambria"/>
              </a:rPr>
              <a:t>dedicated</a:t>
            </a:r>
            <a:r>
              <a:rPr sz="15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5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5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5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60" dirty="0">
                <a:solidFill>
                  <a:srgbClr val="585858"/>
                </a:solidFill>
                <a:latin typeface="Cambria"/>
                <a:cs typeface="Cambria"/>
              </a:rPr>
              <a:t>specific</a:t>
            </a:r>
            <a:r>
              <a:rPr sz="15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task</a:t>
            </a:r>
            <a:r>
              <a:rPr sz="15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or</a:t>
            </a:r>
            <a:r>
              <a:rPr sz="15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tasks,</a:t>
            </a:r>
            <a:r>
              <a:rPr sz="1500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-25" dirty="0">
                <a:solidFill>
                  <a:srgbClr val="585858"/>
                </a:solidFill>
                <a:latin typeface="Cambria"/>
                <a:cs typeface="Cambria"/>
              </a:rPr>
              <a:t>the </a:t>
            </a:r>
            <a:r>
              <a:rPr sz="1500" spc="45" dirty="0">
                <a:solidFill>
                  <a:srgbClr val="585858"/>
                </a:solidFill>
                <a:latin typeface="Cambria"/>
                <a:cs typeface="Cambria"/>
              </a:rPr>
              <a:t>processor</a:t>
            </a:r>
            <a:r>
              <a:rPr sz="15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5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5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50" dirty="0">
                <a:solidFill>
                  <a:srgbClr val="585858"/>
                </a:solidFill>
                <a:latin typeface="Cambria"/>
                <a:cs typeface="Cambria"/>
              </a:rPr>
              <a:t>associated</a:t>
            </a:r>
            <a:r>
              <a:rPr sz="15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40" dirty="0">
                <a:solidFill>
                  <a:srgbClr val="585858"/>
                </a:solidFill>
                <a:latin typeface="Cambria"/>
                <a:cs typeface="Cambria"/>
              </a:rPr>
              <a:t>components </a:t>
            </a:r>
            <a:r>
              <a:rPr sz="1500" spc="55" dirty="0">
                <a:solidFill>
                  <a:srgbClr val="585858"/>
                </a:solidFill>
                <a:latin typeface="Cambria"/>
                <a:cs typeface="Cambria"/>
              </a:rPr>
              <a:t>can</a:t>
            </a:r>
            <a:r>
              <a:rPr sz="15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130" dirty="0">
                <a:solidFill>
                  <a:srgbClr val="585858"/>
                </a:solidFill>
                <a:latin typeface="Cambria"/>
                <a:cs typeface="Cambria"/>
              </a:rPr>
              <a:t>be</a:t>
            </a:r>
            <a:r>
              <a:rPr sz="15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75" dirty="0">
                <a:solidFill>
                  <a:srgbClr val="585858"/>
                </a:solidFill>
                <a:latin typeface="Cambria"/>
                <a:cs typeface="Cambria"/>
              </a:rPr>
              <a:t>engineered</a:t>
            </a:r>
            <a:r>
              <a:rPr sz="15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5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55" dirty="0">
                <a:solidFill>
                  <a:srgbClr val="585858"/>
                </a:solidFill>
                <a:latin typeface="Cambria"/>
                <a:cs typeface="Cambria"/>
              </a:rPr>
              <a:t>reduce</a:t>
            </a:r>
            <a:r>
              <a:rPr sz="15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size</a:t>
            </a:r>
            <a:r>
              <a:rPr sz="15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25" dirty="0">
                <a:solidFill>
                  <a:srgbClr val="585858"/>
                </a:solidFill>
                <a:latin typeface="Cambria"/>
                <a:cs typeface="Cambria"/>
              </a:rPr>
              <a:t>and </a:t>
            </a:r>
            <a:r>
              <a:rPr sz="1500" spc="-20" dirty="0">
                <a:solidFill>
                  <a:srgbClr val="585858"/>
                </a:solidFill>
                <a:latin typeface="Cambria"/>
                <a:cs typeface="Cambria"/>
              </a:rPr>
              <a:t>cost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39495" y="332231"/>
            <a:ext cx="3657600" cy="1629410"/>
          </a:xfrm>
          <a:prstGeom prst="rect">
            <a:avLst/>
          </a:prstGeom>
          <a:solidFill>
            <a:srgbClr val="666699"/>
          </a:solidFill>
        </p:spPr>
        <p:txBody>
          <a:bodyPr vert="horz" wrap="square" lIns="0" tIns="132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45"/>
              </a:spcBef>
            </a:pPr>
            <a:endParaRPr sz="1800">
              <a:latin typeface="Times New Roman"/>
              <a:cs typeface="Times New Roman"/>
            </a:endParaRPr>
          </a:p>
          <a:p>
            <a:pPr marL="1288415" marR="1231265" indent="-50800" algn="just">
              <a:lnSpc>
                <a:spcPct val="100000"/>
              </a:lnSpc>
            </a:pPr>
            <a:r>
              <a:rPr sz="1800" spc="110" dirty="0">
                <a:solidFill>
                  <a:srgbClr val="FFFFFF"/>
                </a:solidFill>
              </a:rPr>
              <a:t>Embedded </a:t>
            </a:r>
            <a:r>
              <a:rPr sz="1800" spc="75" dirty="0">
                <a:solidFill>
                  <a:srgbClr val="FFFFFF"/>
                </a:solidFill>
              </a:rPr>
              <a:t>Operating </a:t>
            </a:r>
            <a:r>
              <a:rPr sz="1800" spc="40" dirty="0">
                <a:solidFill>
                  <a:srgbClr val="FFFFFF"/>
                </a:solidFill>
              </a:rPr>
              <a:t>Systems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4355591" y="332231"/>
            <a:ext cx="3657600" cy="1629410"/>
          </a:xfrm>
          <a:prstGeom prst="rect">
            <a:avLst/>
          </a:prstGeom>
          <a:solidFill>
            <a:srgbClr val="A2A2C2"/>
          </a:solidFill>
        </p:spPr>
        <p:txBody>
          <a:bodyPr vert="horz" wrap="square" lIns="0" tIns="132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4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60" dirty="0">
                <a:solidFill>
                  <a:srgbClr val="331833"/>
                </a:solidFill>
                <a:latin typeface="Cambria"/>
                <a:cs typeface="Cambria"/>
              </a:rPr>
              <a:t>Application</a:t>
            </a:r>
            <a:r>
              <a:rPr sz="1800" spc="75" dirty="0">
                <a:solidFill>
                  <a:srgbClr val="331833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331833"/>
                </a:solidFill>
                <a:latin typeface="Cambria"/>
                <a:cs typeface="Cambria"/>
              </a:rPr>
              <a:t>Processors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331833"/>
                </a:solidFill>
                <a:latin typeface="Cambria"/>
                <a:cs typeface="Cambria"/>
              </a:rPr>
              <a:t>versus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90" dirty="0">
                <a:solidFill>
                  <a:srgbClr val="331833"/>
                </a:solidFill>
                <a:latin typeface="Cambria"/>
                <a:cs typeface="Cambria"/>
              </a:rPr>
              <a:t>Dedicated</a:t>
            </a:r>
            <a:r>
              <a:rPr sz="1800" spc="85" dirty="0">
                <a:solidFill>
                  <a:srgbClr val="331833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331833"/>
                </a:solidFill>
                <a:latin typeface="Cambria"/>
                <a:cs typeface="Cambria"/>
              </a:rPr>
              <a:t>Processors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467869" y="128210"/>
            <a:ext cx="4074795" cy="3561715"/>
            <a:chOff x="2467869" y="128210"/>
            <a:chExt cx="4074795" cy="3561715"/>
          </a:xfrm>
        </p:grpSpPr>
        <p:sp>
          <p:nvSpPr>
            <p:cNvPr id="4" name="object 4"/>
            <p:cNvSpPr/>
            <p:nvPr/>
          </p:nvSpPr>
          <p:spPr>
            <a:xfrm>
              <a:off x="2490094" y="146625"/>
              <a:ext cx="4030345" cy="3524885"/>
            </a:xfrm>
            <a:custGeom>
              <a:avLst/>
              <a:gdLst/>
              <a:ahLst/>
              <a:cxnLst/>
              <a:rect l="l" t="t" r="r" b="b"/>
              <a:pathLst>
                <a:path w="4030345" h="3524885">
                  <a:moveTo>
                    <a:pt x="4029928" y="0"/>
                  </a:moveTo>
                  <a:lnTo>
                    <a:pt x="0" y="0"/>
                  </a:lnTo>
                  <a:lnTo>
                    <a:pt x="0" y="3524752"/>
                  </a:lnTo>
                  <a:lnTo>
                    <a:pt x="4029928" y="3524752"/>
                  </a:lnTo>
                  <a:lnTo>
                    <a:pt x="4029928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90094" y="146625"/>
              <a:ext cx="29209" cy="19685"/>
            </a:xfrm>
            <a:custGeom>
              <a:avLst/>
              <a:gdLst/>
              <a:ahLst/>
              <a:cxnLst/>
              <a:rect l="l" t="t" r="r" b="b"/>
              <a:pathLst>
                <a:path w="29210" h="19685">
                  <a:moveTo>
                    <a:pt x="0" y="19275"/>
                  </a:moveTo>
                  <a:lnTo>
                    <a:pt x="0" y="0"/>
                  </a:lnTo>
                  <a:lnTo>
                    <a:pt x="28831" y="0"/>
                  </a:lnTo>
                </a:path>
              </a:pathLst>
            </a:custGeom>
            <a:ln w="33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09539" y="146625"/>
              <a:ext cx="3791585" cy="0"/>
            </a:xfrm>
            <a:custGeom>
              <a:avLst/>
              <a:gdLst/>
              <a:ahLst/>
              <a:cxnLst/>
              <a:rect l="l" t="t" r="r" b="b"/>
              <a:pathLst>
                <a:path w="3791585">
                  <a:moveTo>
                    <a:pt x="0" y="0"/>
                  </a:moveTo>
                  <a:lnTo>
                    <a:pt x="3791039" y="0"/>
                  </a:lnTo>
                </a:path>
              </a:pathLst>
            </a:custGeom>
            <a:ln w="2880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90161" y="146625"/>
              <a:ext cx="30480" cy="19685"/>
            </a:xfrm>
            <a:custGeom>
              <a:avLst/>
              <a:gdLst/>
              <a:ahLst/>
              <a:cxnLst/>
              <a:rect l="l" t="t" r="r" b="b"/>
              <a:pathLst>
                <a:path w="30479" h="19685">
                  <a:moveTo>
                    <a:pt x="0" y="0"/>
                  </a:moveTo>
                  <a:lnTo>
                    <a:pt x="29861" y="0"/>
                  </a:lnTo>
                  <a:lnTo>
                    <a:pt x="29861" y="19275"/>
                  </a:lnTo>
                </a:path>
              </a:pathLst>
            </a:custGeom>
            <a:ln w="333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20022" y="222768"/>
              <a:ext cx="0" cy="3372485"/>
            </a:xfrm>
            <a:custGeom>
              <a:avLst/>
              <a:gdLst/>
              <a:ahLst/>
              <a:cxnLst/>
              <a:rect l="l" t="t" r="r" b="b"/>
              <a:pathLst>
                <a:path h="3372485">
                  <a:moveTo>
                    <a:pt x="0" y="0"/>
                  </a:moveTo>
                  <a:lnTo>
                    <a:pt x="0" y="3372159"/>
                  </a:lnTo>
                </a:path>
              </a:pathLst>
            </a:custGeom>
            <a:ln w="4418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90161" y="3652572"/>
              <a:ext cx="30480" cy="19050"/>
            </a:xfrm>
            <a:custGeom>
              <a:avLst/>
              <a:gdLst/>
              <a:ahLst/>
              <a:cxnLst/>
              <a:rect l="l" t="t" r="r" b="b"/>
              <a:pathLst>
                <a:path w="30479" h="19050">
                  <a:moveTo>
                    <a:pt x="29861" y="0"/>
                  </a:moveTo>
                  <a:lnTo>
                    <a:pt x="29861" y="18805"/>
                  </a:lnTo>
                  <a:lnTo>
                    <a:pt x="0" y="18805"/>
                  </a:lnTo>
                </a:path>
              </a:pathLst>
            </a:custGeom>
            <a:ln w="331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9539" y="3671378"/>
              <a:ext cx="3791585" cy="0"/>
            </a:xfrm>
            <a:custGeom>
              <a:avLst/>
              <a:gdLst/>
              <a:ahLst/>
              <a:cxnLst/>
              <a:rect l="l" t="t" r="r" b="b"/>
              <a:pathLst>
                <a:path w="3791585">
                  <a:moveTo>
                    <a:pt x="0" y="0"/>
                  </a:moveTo>
                  <a:lnTo>
                    <a:pt x="3791039" y="0"/>
                  </a:lnTo>
                </a:path>
              </a:pathLst>
            </a:custGeom>
            <a:ln w="2880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90094" y="3652572"/>
              <a:ext cx="29209" cy="19050"/>
            </a:xfrm>
            <a:custGeom>
              <a:avLst/>
              <a:gdLst/>
              <a:ahLst/>
              <a:cxnLst/>
              <a:rect l="l" t="t" r="r" b="b"/>
              <a:pathLst>
                <a:path w="29210" h="19050">
                  <a:moveTo>
                    <a:pt x="28831" y="18805"/>
                  </a:moveTo>
                  <a:lnTo>
                    <a:pt x="0" y="18805"/>
                  </a:lnTo>
                  <a:lnTo>
                    <a:pt x="0" y="0"/>
                  </a:lnTo>
                </a:path>
              </a:pathLst>
            </a:custGeom>
            <a:ln w="333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90094" y="223535"/>
              <a:ext cx="0" cy="3371850"/>
            </a:xfrm>
            <a:custGeom>
              <a:avLst/>
              <a:gdLst/>
              <a:ahLst/>
              <a:cxnLst/>
              <a:rect l="l" t="t" r="r" b="b"/>
              <a:pathLst>
                <a:path h="3371850">
                  <a:moveTo>
                    <a:pt x="0" y="0"/>
                  </a:moveTo>
                  <a:lnTo>
                    <a:pt x="0" y="3371392"/>
                  </a:lnTo>
                </a:path>
              </a:pathLst>
            </a:custGeom>
            <a:ln w="4418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808122" y="1183187"/>
            <a:ext cx="1060450" cy="415290"/>
          </a:xfrm>
          <a:prstGeom prst="rect">
            <a:avLst/>
          </a:prstGeom>
          <a:solidFill>
            <a:srgbClr val="FDFDFD"/>
          </a:solidFill>
          <a:ln w="21463">
            <a:solidFill>
              <a:srgbClr val="00000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168910" marR="160655" indent="208279">
              <a:lnSpc>
                <a:spcPct val="100000"/>
              </a:lnSpc>
              <a:spcBef>
                <a:spcPts val="585"/>
              </a:spcBef>
            </a:pPr>
            <a:r>
              <a:rPr sz="900" b="1" spc="245" dirty="0">
                <a:latin typeface="Times New Roman"/>
                <a:cs typeface="Times New Roman"/>
              </a:rPr>
              <a:t>A/D </a:t>
            </a:r>
            <a:r>
              <a:rPr sz="900" b="1" spc="204" dirty="0">
                <a:latin typeface="Times New Roman"/>
                <a:cs typeface="Times New Roman"/>
              </a:rPr>
              <a:t>converter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1532" y="1243993"/>
            <a:ext cx="937260" cy="302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5410" marR="5080" indent="-93345">
              <a:lnSpc>
                <a:spcPct val="100000"/>
              </a:lnSpc>
              <a:spcBef>
                <a:spcPts val="105"/>
              </a:spcBef>
            </a:pPr>
            <a:r>
              <a:rPr sz="900" b="1" spc="240" dirty="0">
                <a:latin typeface="Times New Roman"/>
                <a:cs typeface="Times New Roman"/>
              </a:rPr>
              <a:t>Analog</a:t>
            </a:r>
            <a:r>
              <a:rPr sz="900" b="1" spc="105" dirty="0">
                <a:latin typeface="Times New Roman"/>
                <a:cs typeface="Times New Roman"/>
              </a:rPr>
              <a:t> </a:t>
            </a:r>
            <a:r>
              <a:rPr sz="900" b="1" spc="200" dirty="0">
                <a:latin typeface="Times New Roman"/>
                <a:cs typeface="Times New Roman"/>
              </a:rPr>
              <a:t>data </a:t>
            </a:r>
            <a:r>
              <a:rPr sz="900" b="1" spc="185" dirty="0">
                <a:latin typeface="Times New Roman"/>
                <a:cs typeface="Times New Roman"/>
              </a:rPr>
              <a:t>acquisition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75071" y="1234499"/>
            <a:ext cx="869950" cy="302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900" b="1" spc="229" dirty="0">
                <a:latin typeface="Times New Roman"/>
                <a:cs typeface="Times New Roman"/>
              </a:rPr>
              <a:t>Temporary </a:t>
            </a:r>
            <a:r>
              <a:rPr sz="900" b="1" spc="200" dirty="0">
                <a:latin typeface="Times New Roman"/>
                <a:cs typeface="Times New Roman"/>
              </a:rPr>
              <a:t>data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09693" y="353957"/>
            <a:ext cx="1591310" cy="622300"/>
          </a:xfrm>
          <a:prstGeom prst="rect">
            <a:avLst/>
          </a:prstGeom>
          <a:solidFill>
            <a:srgbClr val="B1E1B6"/>
          </a:solidFill>
          <a:ln w="21461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Times New Roman"/>
              <a:cs typeface="Times New Roman"/>
            </a:endParaRPr>
          </a:p>
          <a:p>
            <a:pPr marL="309245">
              <a:lnSpc>
                <a:spcPct val="100000"/>
              </a:lnSpc>
            </a:pPr>
            <a:r>
              <a:rPr sz="1200" b="1" spc="275" dirty="0">
                <a:latin typeface="Times New Roman"/>
                <a:cs typeface="Times New Roman"/>
              </a:rPr>
              <a:t>Processor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77566" y="3272084"/>
            <a:ext cx="652145" cy="347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2085" marR="5080" indent="-160020">
              <a:lnSpc>
                <a:spcPct val="100899"/>
              </a:lnSpc>
              <a:spcBef>
                <a:spcPts val="90"/>
              </a:spcBef>
            </a:pPr>
            <a:r>
              <a:rPr sz="1050" b="1" spc="270" dirty="0">
                <a:latin typeface="Times New Roman"/>
                <a:cs typeface="Times New Roman"/>
              </a:rPr>
              <a:t>System </a:t>
            </a:r>
            <a:r>
              <a:rPr sz="1050" b="1" spc="245" dirty="0">
                <a:latin typeface="Times New Roman"/>
                <a:cs typeface="Times New Roman"/>
              </a:rPr>
              <a:t>bus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41556" y="1183187"/>
            <a:ext cx="1060450" cy="415290"/>
          </a:xfrm>
          <a:prstGeom prst="rect">
            <a:avLst/>
          </a:prstGeom>
          <a:solidFill>
            <a:srgbClr val="FDFDFD"/>
          </a:solidFill>
          <a:ln w="2146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  <a:spcBef>
                <a:spcPts val="5"/>
              </a:spcBef>
            </a:pPr>
            <a:r>
              <a:rPr sz="900" b="1" spc="355" dirty="0">
                <a:latin typeface="Times New Roman"/>
                <a:cs typeface="Times New Roman"/>
              </a:rPr>
              <a:t>RAM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08122" y="1805182"/>
            <a:ext cx="1060450" cy="415290"/>
          </a:xfrm>
          <a:prstGeom prst="rect">
            <a:avLst/>
          </a:prstGeom>
          <a:solidFill>
            <a:srgbClr val="FDFDFD"/>
          </a:solidFill>
          <a:ln w="21464">
            <a:solidFill>
              <a:srgbClr val="00000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168910" marR="160655" indent="213995">
              <a:lnSpc>
                <a:spcPct val="100000"/>
              </a:lnSpc>
              <a:spcBef>
                <a:spcPts val="585"/>
              </a:spcBef>
            </a:pPr>
            <a:r>
              <a:rPr sz="900" b="1" spc="245" dirty="0">
                <a:latin typeface="Times New Roman"/>
                <a:cs typeface="Times New Roman"/>
              </a:rPr>
              <a:t>D/A </a:t>
            </a:r>
            <a:r>
              <a:rPr sz="900" b="1" spc="204" dirty="0">
                <a:latin typeface="Times New Roman"/>
                <a:cs typeface="Times New Roman"/>
              </a:rPr>
              <a:t>converter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41556" y="1805182"/>
            <a:ext cx="1060450" cy="415290"/>
          </a:xfrm>
          <a:prstGeom prst="rect">
            <a:avLst/>
          </a:prstGeom>
          <a:solidFill>
            <a:srgbClr val="FDFDFD"/>
          </a:solidFill>
          <a:ln w="21464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900">
              <a:latin typeface="Times New Roman"/>
              <a:cs typeface="Times New Roman"/>
            </a:endParaRPr>
          </a:p>
          <a:p>
            <a:pPr marL="314325">
              <a:lnSpc>
                <a:spcPct val="100000"/>
              </a:lnSpc>
            </a:pPr>
            <a:r>
              <a:rPr sz="900" b="1" spc="365" dirty="0">
                <a:latin typeface="Times New Roman"/>
                <a:cs typeface="Times New Roman"/>
              </a:rPr>
              <a:t>ROM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08122" y="2427273"/>
            <a:ext cx="1060450" cy="415290"/>
          </a:xfrm>
          <a:prstGeom prst="rect">
            <a:avLst/>
          </a:prstGeom>
          <a:solidFill>
            <a:srgbClr val="FDFDFD"/>
          </a:solidFill>
          <a:ln w="21463">
            <a:solidFill>
              <a:srgbClr val="00000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333375" marR="155575" indent="-173990">
              <a:lnSpc>
                <a:spcPct val="100000"/>
              </a:lnSpc>
              <a:spcBef>
                <a:spcPts val="585"/>
              </a:spcBef>
            </a:pPr>
            <a:r>
              <a:rPr sz="900" b="1" spc="195" dirty="0">
                <a:latin typeface="Times New Roman"/>
                <a:cs typeface="Times New Roman"/>
              </a:rPr>
              <a:t>Serial</a:t>
            </a:r>
            <a:r>
              <a:rPr sz="900" b="1" spc="130" dirty="0">
                <a:latin typeface="Times New Roman"/>
                <a:cs typeface="Times New Roman"/>
              </a:rPr>
              <a:t> </a:t>
            </a:r>
            <a:r>
              <a:rPr sz="900" b="1" spc="204" dirty="0">
                <a:latin typeface="Times New Roman"/>
                <a:cs typeface="Times New Roman"/>
              </a:rPr>
              <a:t>I/O </a:t>
            </a:r>
            <a:r>
              <a:rPr sz="900" b="1" spc="195" dirty="0">
                <a:latin typeface="Times New Roman"/>
                <a:cs typeface="Times New Roman"/>
              </a:rPr>
              <a:t>ports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41556" y="2427273"/>
            <a:ext cx="1060450" cy="415290"/>
          </a:xfrm>
          <a:prstGeom prst="rect">
            <a:avLst/>
          </a:prstGeom>
          <a:solidFill>
            <a:srgbClr val="FDFDFD"/>
          </a:solidFill>
          <a:ln w="2146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 marL="142240">
              <a:lnSpc>
                <a:spcPct val="100000"/>
              </a:lnSpc>
            </a:pPr>
            <a:r>
              <a:rPr sz="900" b="1" spc="335" dirty="0">
                <a:latin typeface="Times New Roman"/>
                <a:cs typeface="Times New Roman"/>
              </a:rPr>
              <a:t>EEPROM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8122" y="3049364"/>
            <a:ext cx="1060450" cy="415290"/>
          </a:xfrm>
          <a:prstGeom prst="rect">
            <a:avLst/>
          </a:prstGeom>
          <a:solidFill>
            <a:srgbClr val="FDFDFD"/>
          </a:solidFill>
          <a:ln w="21463">
            <a:solidFill>
              <a:srgbClr val="00000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333375" marR="84455" indent="-247650">
              <a:lnSpc>
                <a:spcPct val="100000"/>
              </a:lnSpc>
              <a:spcBef>
                <a:spcPts val="585"/>
              </a:spcBef>
            </a:pPr>
            <a:r>
              <a:rPr sz="900" b="1" spc="195" dirty="0">
                <a:latin typeface="Times New Roman"/>
                <a:cs typeface="Times New Roman"/>
              </a:rPr>
              <a:t>Parallel</a:t>
            </a:r>
            <a:r>
              <a:rPr sz="900" b="1" spc="120" dirty="0">
                <a:latin typeface="Times New Roman"/>
                <a:cs typeface="Times New Roman"/>
              </a:rPr>
              <a:t> </a:t>
            </a:r>
            <a:r>
              <a:rPr sz="900" b="1" spc="204" dirty="0">
                <a:latin typeface="Times New Roman"/>
                <a:cs typeface="Times New Roman"/>
              </a:rPr>
              <a:t>I/O </a:t>
            </a:r>
            <a:r>
              <a:rPr sz="900" b="1" spc="195" dirty="0">
                <a:latin typeface="Times New Roman"/>
                <a:cs typeface="Times New Roman"/>
              </a:rPr>
              <a:t>ports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41556" y="3049364"/>
            <a:ext cx="1060450" cy="415290"/>
          </a:xfrm>
          <a:prstGeom prst="rect">
            <a:avLst/>
          </a:prstGeom>
          <a:solidFill>
            <a:srgbClr val="FDFDFD"/>
          </a:solidFill>
          <a:ln w="2146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 marL="230504">
              <a:lnSpc>
                <a:spcPct val="100000"/>
              </a:lnSpc>
            </a:pPr>
            <a:r>
              <a:rPr sz="900" b="1" spc="315" dirty="0">
                <a:latin typeface="Times New Roman"/>
                <a:cs typeface="Times New Roman"/>
              </a:rPr>
              <a:t>TIMER</a:t>
            </a:r>
            <a:endParaRPr sz="900">
              <a:latin typeface="Times New Roman"/>
              <a:cs typeface="Times New Roman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0199" y="1169645"/>
            <a:ext cx="173888" cy="441747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1795937" y="975760"/>
            <a:ext cx="3345815" cy="2501900"/>
            <a:chOff x="1795937" y="975760"/>
            <a:chExt cx="3345815" cy="2501900"/>
          </a:xfrm>
        </p:grpSpPr>
        <p:sp>
          <p:nvSpPr>
            <p:cNvPr id="27" name="object 27"/>
            <p:cNvSpPr/>
            <p:nvPr/>
          </p:nvSpPr>
          <p:spPr>
            <a:xfrm>
              <a:off x="1982896" y="975760"/>
              <a:ext cx="3159125" cy="2281555"/>
            </a:xfrm>
            <a:custGeom>
              <a:avLst/>
              <a:gdLst/>
              <a:ahLst/>
              <a:cxnLst/>
              <a:rect l="l" t="t" r="r" b="b"/>
              <a:pathLst>
                <a:path w="3159125" h="2281554">
                  <a:moveTo>
                    <a:pt x="2522162" y="2280935"/>
                  </a:moveTo>
                  <a:lnTo>
                    <a:pt x="2522162" y="2280935"/>
                  </a:lnTo>
                  <a:lnTo>
                    <a:pt x="2522162" y="0"/>
                  </a:lnTo>
                </a:path>
                <a:path w="3159125" h="2281554">
                  <a:moveTo>
                    <a:pt x="1885664" y="2280935"/>
                  </a:moveTo>
                  <a:lnTo>
                    <a:pt x="1885664" y="2280935"/>
                  </a:lnTo>
                  <a:lnTo>
                    <a:pt x="3158660" y="2280935"/>
                  </a:lnTo>
                </a:path>
                <a:path w="3159125" h="2281554">
                  <a:moveTo>
                    <a:pt x="1885664" y="1658844"/>
                  </a:moveTo>
                  <a:lnTo>
                    <a:pt x="1885664" y="1658844"/>
                  </a:lnTo>
                  <a:lnTo>
                    <a:pt x="3158660" y="1658844"/>
                  </a:lnTo>
                </a:path>
                <a:path w="3159125" h="2281554">
                  <a:moveTo>
                    <a:pt x="1885664" y="1036849"/>
                  </a:moveTo>
                  <a:lnTo>
                    <a:pt x="1885664" y="1036849"/>
                  </a:lnTo>
                  <a:lnTo>
                    <a:pt x="3158660" y="1036849"/>
                  </a:lnTo>
                </a:path>
                <a:path w="3159125" h="2281554">
                  <a:moveTo>
                    <a:pt x="1885664" y="414759"/>
                  </a:moveTo>
                  <a:lnTo>
                    <a:pt x="1885664" y="414759"/>
                  </a:lnTo>
                  <a:lnTo>
                    <a:pt x="3158660" y="414759"/>
                  </a:lnTo>
                </a:path>
                <a:path w="3159125" h="2281554">
                  <a:moveTo>
                    <a:pt x="0" y="414759"/>
                  </a:moveTo>
                  <a:lnTo>
                    <a:pt x="0" y="414759"/>
                  </a:lnTo>
                  <a:lnTo>
                    <a:pt x="686070" y="414759"/>
                  </a:lnTo>
                </a:path>
              </a:pathLst>
            </a:custGeom>
            <a:ln w="238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11598" y="1338830"/>
              <a:ext cx="196850" cy="104775"/>
            </a:xfrm>
            <a:custGeom>
              <a:avLst/>
              <a:gdLst/>
              <a:ahLst/>
              <a:cxnLst/>
              <a:rect l="l" t="t" r="r" b="b"/>
              <a:pathLst>
                <a:path w="196850" h="104775">
                  <a:moveTo>
                    <a:pt x="0" y="0"/>
                  </a:moveTo>
                  <a:lnTo>
                    <a:pt x="46483" y="51689"/>
                  </a:lnTo>
                  <a:lnTo>
                    <a:pt x="0" y="104241"/>
                  </a:lnTo>
                  <a:lnTo>
                    <a:pt x="196524" y="516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23376" y="2012610"/>
              <a:ext cx="685165" cy="0"/>
            </a:xfrm>
            <a:custGeom>
              <a:avLst/>
              <a:gdLst/>
              <a:ahLst/>
              <a:cxnLst/>
              <a:rect l="l" t="t" r="r" b="b"/>
              <a:pathLst>
                <a:path w="685164">
                  <a:moveTo>
                    <a:pt x="0" y="0"/>
                  </a:moveTo>
                  <a:lnTo>
                    <a:pt x="0" y="0"/>
                  </a:lnTo>
                  <a:lnTo>
                    <a:pt x="684746" y="0"/>
                  </a:lnTo>
                </a:path>
              </a:pathLst>
            </a:custGeom>
            <a:ln w="188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82896" y="1960921"/>
              <a:ext cx="196850" cy="104775"/>
            </a:xfrm>
            <a:custGeom>
              <a:avLst/>
              <a:gdLst/>
              <a:ahLst/>
              <a:cxnLst/>
              <a:rect l="l" t="t" r="r" b="b"/>
              <a:pathLst>
                <a:path w="196850" h="104775">
                  <a:moveTo>
                    <a:pt x="196818" y="0"/>
                  </a:moveTo>
                  <a:lnTo>
                    <a:pt x="0" y="51689"/>
                  </a:lnTo>
                  <a:lnTo>
                    <a:pt x="196818" y="104241"/>
                  </a:lnTo>
                  <a:lnTo>
                    <a:pt x="150335" y="51689"/>
                  </a:lnTo>
                  <a:lnTo>
                    <a:pt x="1968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123376" y="2634605"/>
              <a:ext cx="546100" cy="0"/>
            </a:xfrm>
            <a:custGeom>
              <a:avLst/>
              <a:gdLst/>
              <a:ahLst/>
              <a:cxnLst/>
              <a:rect l="l" t="t" r="r" b="b"/>
              <a:pathLst>
                <a:path w="546100">
                  <a:moveTo>
                    <a:pt x="0" y="0"/>
                  </a:moveTo>
                  <a:lnTo>
                    <a:pt x="0" y="0"/>
                  </a:lnTo>
                  <a:lnTo>
                    <a:pt x="545590" y="0"/>
                  </a:lnTo>
                </a:path>
              </a:pathLst>
            </a:custGeom>
            <a:ln w="188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82889" y="2582735"/>
              <a:ext cx="825500" cy="104775"/>
            </a:xfrm>
            <a:custGeom>
              <a:avLst/>
              <a:gdLst/>
              <a:ahLst/>
              <a:cxnLst/>
              <a:rect l="l" t="t" r="r" b="b"/>
              <a:pathLst>
                <a:path w="825500" h="104775">
                  <a:moveTo>
                    <a:pt x="196824" y="0"/>
                  </a:moveTo>
                  <a:lnTo>
                    <a:pt x="0" y="51879"/>
                  </a:lnTo>
                  <a:lnTo>
                    <a:pt x="196824" y="104521"/>
                  </a:lnTo>
                  <a:lnTo>
                    <a:pt x="150342" y="51879"/>
                  </a:lnTo>
                  <a:lnTo>
                    <a:pt x="196824" y="0"/>
                  </a:lnTo>
                  <a:close/>
                </a:path>
                <a:path w="825500" h="104775">
                  <a:moveTo>
                    <a:pt x="825233" y="51879"/>
                  </a:moveTo>
                  <a:lnTo>
                    <a:pt x="628700" y="0"/>
                  </a:lnTo>
                  <a:lnTo>
                    <a:pt x="675182" y="51879"/>
                  </a:lnTo>
                  <a:lnTo>
                    <a:pt x="628700" y="104521"/>
                  </a:lnTo>
                  <a:lnTo>
                    <a:pt x="825233" y="518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23376" y="3256695"/>
              <a:ext cx="546100" cy="0"/>
            </a:xfrm>
            <a:custGeom>
              <a:avLst/>
              <a:gdLst/>
              <a:ahLst/>
              <a:cxnLst/>
              <a:rect l="l" t="t" r="r" b="b"/>
              <a:pathLst>
                <a:path w="546100">
                  <a:moveTo>
                    <a:pt x="0" y="0"/>
                  </a:moveTo>
                  <a:lnTo>
                    <a:pt x="0" y="0"/>
                  </a:lnTo>
                  <a:lnTo>
                    <a:pt x="545590" y="0"/>
                  </a:lnTo>
                </a:path>
              </a:pathLst>
            </a:custGeom>
            <a:ln w="188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82889" y="3204819"/>
              <a:ext cx="825500" cy="104775"/>
            </a:xfrm>
            <a:custGeom>
              <a:avLst/>
              <a:gdLst/>
              <a:ahLst/>
              <a:cxnLst/>
              <a:rect l="l" t="t" r="r" b="b"/>
              <a:pathLst>
                <a:path w="825500" h="104775">
                  <a:moveTo>
                    <a:pt x="196824" y="0"/>
                  </a:moveTo>
                  <a:lnTo>
                    <a:pt x="0" y="51879"/>
                  </a:lnTo>
                  <a:lnTo>
                    <a:pt x="196824" y="104432"/>
                  </a:lnTo>
                  <a:lnTo>
                    <a:pt x="150342" y="51879"/>
                  </a:lnTo>
                  <a:lnTo>
                    <a:pt x="196824" y="0"/>
                  </a:lnTo>
                  <a:close/>
                </a:path>
                <a:path w="825500" h="104775">
                  <a:moveTo>
                    <a:pt x="825233" y="51879"/>
                  </a:moveTo>
                  <a:lnTo>
                    <a:pt x="628700" y="0"/>
                  </a:lnTo>
                  <a:lnTo>
                    <a:pt x="675182" y="51879"/>
                  </a:lnTo>
                  <a:lnTo>
                    <a:pt x="628700" y="104432"/>
                  </a:lnTo>
                  <a:lnTo>
                    <a:pt x="825233" y="518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5937" y="1169659"/>
              <a:ext cx="175186" cy="44172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5937" y="1791653"/>
              <a:ext cx="175187" cy="44181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5937" y="2413744"/>
              <a:ext cx="175186" cy="44172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09466" y="3049364"/>
              <a:ext cx="148590" cy="415290"/>
            </a:xfrm>
            <a:custGeom>
              <a:avLst/>
              <a:gdLst/>
              <a:ahLst/>
              <a:cxnLst/>
              <a:rect l="l" t="t" r="r" b="b"/>
              <a:pathLst>
                <a:path w="148589" h="415289">
                  <a:moveTo>
                    <a:pt x="0" y="207331"/>
                  </a:moveTo>
                  <a:lnTo>
                    <a:pt x="41257" y="205003"/>
                  </a:lnTo>
                  <a:lnTo>
                    <a:pt x="70825" y="198422"/>
                  </a:lnTo>
                  <a:lnTo>
                    <a:pt x="90294" y="188197"/>
                  </a:lnTo>
                  <a:lnTo>
                    <a:pt x="101254" y="174936"/>
                  </a:lnTo>
                  <a:lnTo>
                    <a:pt x="105297" y="159244"/>
                  </a:lnTo>
                  <a:lnTo>
                    <a:pt x="104013" y="141730"/>
                  </a:lnTo>
                  <a:lnTo>
                    <a:pt x="98992" y="123001"/>
                  </a:lnTo>
                  <a:lnTo>
                    <a:pt x="91826" y="103665"/>
                  </a:lnTo>
                  <a:lnTo>
                    <a:pt x="84105" y="84329"/>
                  </a:lnTo>
                  <a:lnTo>
                    <a:pt x="77419" y="65601"/>
                  </a:lnTo>
                  <a:lnTo>
                    <a:pt x="73360" y="48087"/>
                  </a:lnTo>
                  <a:lnTo>
                    <a:pt x="73517" y="32395"/>
                  </a:lnTo>
                  <a:lnTo>
                    <a:pt x="79482" y="19133"/>
                  </a:lnTo>
                  <a:lnTo>
                    <a:pt x="92845" y="8908"/>
                  </a:lnTo>
                  <a:lnTo>
                    <a:pt x="115197" y="2328"/>
                  </a:lnTo>
                  <a:lnTo>
                    <a:pt x="148128" y="0"/>
                  </a:lnTo>
                </a:path>
                <a:path w="148589" h="415289">
                  <a:moveTo>
                    <a:pt x="0" y="207331"/>
                  </a:moveTo>
                  <a:lnTo>
                    <a:pt x="41257" y="209660"/>
                  </a:lnTo>
                  <a:lnTo>
                    <a:pt x="70825" y="216240"/>
                  </a:lnTo>
                  <a:lnTo>
                    <a:pt x="90294" y="226465"/>
                  </a:lnTo>
                  <a:lnTo>
                    <a:pt x="101254" y="239727"/>
                  </a:lnTo>
                  <a:lnTo>
                    <a:pt x="105297" y="255418"/>
                  </a:lnTo>
                  <a:lnTo>
                    <a:pt x="104013" y="272932"/>
                  </a:lnTo>
                  <a:lnTo>
                    <a:pt x="98992" y="291661"/>
                  </a:lnTo>
                  <a:lnTo>
                    <a:pt x="91826" y="310997"/>
                  </a:lnTo>
                  <a:lnTo>
                    <a:pt x="84105" y="330333"/>
                  </a:lnTo>
                  <a:lnTo>
                    <a:pt x="77419" y="349062"/>
                  </a:lnTo>
                  <a:lnTo>
                    <a:pt x="73360" y="366576"/>
                  </a:lnTo>
                  <a:lnTo>
                    <a:pt x="73517" y="382267"/>
                  </a:lnTo>
                  <a:lnTo>
                    <a:pt x="79482" y="395529"/>
                  </a:lnTo>
                  <a:lnTo>
                    <a:pt x="92845" y="405754"/>
                  </a:lnTo>
                  <a:lnTo>
                    <a:pt x="115197" y="412334"/>
                  </a:lnTo>
                  <a:lnTo>
                    <a:pt x="148128" y="414663"/>
                  </a:lnTo>
                </a:path>
              </a:pathLst>
            </a:custGeom>
            <a:ln w="238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875071" y="1856590"/>
            <a:ext cx="697230" cy="302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900" b="1" spc="245" dirty="0">
                <a:latin typeface="Times New Roman"/>
                <a:cs typeface="Times New Roman"/>
              </a:rPr>
              <a:t>Program </a:t>
            </a:r>
            <a:r>
              <a:rPr sz="900" b="1" spc="250" dirty="0">
                <a:latin typeface="Times New Roman"/>
                <a:cs typeface="Times New Roman"/>
              </a:rPr>
              <a:t>and</a:t>
            </a:r>
            <a:r>
              <a:rPr sz="900" b="1" spc="114" dirty="0">
                <a:latin typeface="Times New Roman"/>
                <a:cs typeface="Times New Roman"/>
              </a:rPr>
              <a:t> </a:t>
            </a:r>
            <a:r>
              <a:rPr sz="900" b="1" spc="200" dirty="0">
                <a:latin typeface="Times New Roman"/>
                <a:cs typeface="Times New Roman"/>
              </a:rPr>
              <a:t>data</a:t>
            </a:r>
            <a:endParaRPr sz="900">
              <a:latin typeface="Times New Roman"/>
              <a:cs typeface="Times New Roman"/>
            </a:endParaRPr>
          </a:p>
        </p:txBody>
      </p:sp>
      <p:pic>
        <p:nvPicPr>
          <p:cNvPr id="40" name="object 4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60198" y="1791640"/>
            <a:ext cx="173890" cy="441843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6875071" y="2478585"/>
            <a:ext cx="855344" cy="302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900" b="1" spc="235" dirty="0">
                <a:latin typeface="Times New Roman"/>
                <a:cs typeface="Times New Roman"/>
              </a:rPr>
              <a:t>Permanent </a:t>
            </a:r>
            <a:r>
              <a:rPr sz="900" b="1" spc="200" dirty="0">
                <a:latin typeface="Times New Roman"/>
                <a:cs typeface="Times New Roman"/>
              </a:rPr>
              <a:t>data</a:t>
            </a:r>
            <a:endParaRPr sz="900">
              <a:latin typeface="Times New Roman"/>
              <a:cs typeface="Times New Roman"/>
            </a:endParaRPr>
          </a:p>
        </p:txBody>
      </p:sp>
      <p:pic>
        <p:nvPicPr>
          <p:cNvPr id="42" name="object 4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60199" y="2413731"/>
            <a:ext cx="173888" cy="441747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6875071" y="3100676"/>
            <a:ext cx="717550" cy="302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900" b="1" spc="229" dirty="0">
                <a:latin typeface="Times New Roman"/>
                <a:cs typeface="Times New Roman"/>
              </a:rPr>
              <a:t>Timing </a:t>
            </a:r>
            <a:r>
              <a:rPr sz="900" b="1" spc="195" dirty="0">
                <a:latin typeface="Times New Roman"/>
                <a:cs typeface="Times New Roman"/>
              </a:rPr>
              <a:t>functions</a:t>
            </a:r>
            <a:endParaRPr sz="900">
              <a:latin typeface="Times New Roman"/>
              <a:cs typeface="Times New Roman"/>
            </a:endParaRPr>
          </a:p>
        </p:txBody>
      </p:sp>
      <p:pic>
        <p:nvPicPr>
          <p:cNvPr id="44" name="object 4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60199" y="3035822"/>
            <a:ext cx="173888" cy="441747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737343" y="1866084"/>
            <a:ext cx="982980" cy="302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3815">
              <a:lnSpc>
                <a:spcPct val="100000"/>
              </a:lnSpc>
              <a:spcBef>
                <a:spcPts val="105"/>
              </a:spcBef>
            </a:pPr>
            <a:r>
              <a:rPr sz="900" b="1" spc="240" dirty="0">
                <a:latin typeface="Times New Roman"/>
                <a:cs typeface="Times New Roman"/>
              </a:rPr>
              <a:t>Analog</a:t>
            </a:r>
            <a:r>
              <a:rPr sz="900" b="1" spc="105" dirty="0">
                <a:latin typeface="Times New Roman"/>
                <a:cs typeface="Times New Roman"/>
              </a:rPr>
              <a:t> </a:t>
            </a:r>
            <a:r>
              <a:rPr sz="900" b="1" spc="200" dirty="0">
                <a:latin typeface="Times New Roman"/>
                <a:cs typeface="Times New Roman"/>
              </a:rPr>
              <a:t>data </a:t>
            </a:r>
            <a:r>
              <a:rPr sz="900" b="1" spc="204" dirty="0">
                <a:latin typeface="Times New Roman"/>
                <a:cs typeface="Times New Roman"/>
              </a:rPr>
              <a:t>transmission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750494" y="2487887"/>
            <a:ext cx="972819" cy="302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900" b="1" spc="200" dirty="0">
                <a:latin typeface="Times New Roman"/>
                <a:cs typeface="Times New Roman"/>
              </a:rPr>
              <a:t>Send/receive</a:t>
            </a:r>
            <a:endParaRPr sz="900">
              <a:latin typeface="Times New Roman"/>
              <a:cs typeface="Times New Roman"/>
            </a:endParaRPr>
          </a:p>
          <a:p>
            <a:pPr marR="5715" algn="r">
              <a:lnSpc>
                <a:spcPct val="100000"/>
              </a:lnSpc>
              <a:spcBef>
                <a:spcPts val="10"/>
              </a:spcBef>
            </a:pPr>
            <a:r>
              <a:rPr sz="900" b="1" spc="200" dirty="0">
                <a:latin typeface="Times New Roman"/>
                <a:cs typeface="Times New Roman"/>
              </a:rPr>
              <a:t>data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94372" y="3109978"/>
            <a:ext cx="827405" cy="302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1915" marR="5080" indent="-69850">
              <a:lnSpc>
                <a:spcPct val="100000"/>
              </a:lnSpc>
              <a:spcBef>
                <a:spcPts val="105"/>
              </a:spcBef>
            </a:pPr>
            <a:r>
              <a:rPr sz="900" b="1" spc="204" dirty="0">
                <a:latin typeface="Times New Roman"/>
                <a:cs typeface="Times New Roman"/>
              </a:rPr>
              <a:t>Peripheral </a:t>
            </a:r>
            <a:r>
              <a:rPr sz="900" b="1" spc="185" dirty="0">
                <a:latin typeface="Times New Roman"/>
                <a:cs typeface="Times New Roman"/>
              </a:rPr>
              <a:t>interfaces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0517" y="4001909"/>
            <a:ext cx="8366125" cy="254000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72415" algn="ctr">
              <a:lnSpc>
                <a:spcPct val="100000"/>
              </a:lnSpc>
              <a:spcBef>
                <a:spcPts val="430"/>
              </a:spcBef>
              <a:tabLst>
                <a:tab pos="1676400" algn="l"/>
              </a:tabLst>
            </a:pPr>
            <a:r>
              <a:rPr sz="1350" b="1" spc="335" dirty="0">
                <a:latin typeface="Times New Roman"/>
                <a:cs typeface="Times New Roman"/>
              </a:rPr>
              <a:t>Figure</a:t>
            </a:r>
            <a:r>
              <a:rPr sz="1350" b="1" spc="170" dirty="0">
                <a:latin typeface="Times New Roman"/>
                <a:cs typeface="Times New Roman"/>
              </a:rPr>
              <a:t> </a:t>
            </a:r>
            <a:r>
              <a:rPr sz="1350" b="1" spc="290" dirty="0">
                <a:latin typeface="Times New Roman"/>
                <a:cs typeface="Times New Roman"/>
              </a:rPr>
              <a:t>1.15</a:t>
            </a:r>
            <a:r>
              <a:rPr sz="1350" b="1" dirty="0">
                <a:latin typeface="Times New Roman"/>
                <a:cs typeface="Times New Roman"/>
              </a:rPr>
              <a:t>	</a:t>
            </a:r>
            <a:r>
              <a:rPr sz="1350" b="1" spc="305" dirty="0">
                <a:latin typeface="Times New Roman"/>
                <a:cs typeface="Times New Roman"/>
              </a:rPr>
              <a:t>Typical</a:t>
            </a:r>
            <a:r>
              <a:rPr sz="1350" b="1" spc="190" dirty="0">
                <a:latin typeface="Times New Roman"/>
                <a:cs typeface="Times New Roman"/>
              </a:rPr>
              <a:t> </a:t>
            </a:r>
            <a:r>
              <a:rPr sz="1350" b="1" spc="325" dirty="0">
                <a:latin typeface="Times New Roman"/>
                <a:cs typeface="Times New Roman"/>
              </a:rPr>
              <a:t>Microcontroller</a:t>
            </a:r>
            <a:r>
              <a:rPr sz="1350" b="1" spc="170" dirty="0">
                <a:latin typeface="Times New Roman"/>
                <a:cs typeface="Times New Roman"/>
              </a:rPr>
              <a:t> </a:t>
            </a:r>
            <a:r>
              <a:rPr sz="1350" b="1" spc="375" dirty="0">
                <a:latin typeface="Times New Roman"/>
                <a:cs typeface="Times New Roman"/>
              </a:rPr>
              <a:t>Chip</a:t>
            </a:r>
            <a:r>
              <a:rPr sz="1350" b="1" spc="185" dirty="0">
                <a:latin typeface="Times New Roman"/>
                <a:cs typeface="Times New Roman"/>
              </a:rPr>
              <a:t> </a:t>
            </a:r>
            <a:r>
              <a:rPr sz="1350" b="1" spc="340" dirty="0">
                <a:latin typeface="Times New Roman"/>
                <a:cs typeface="Times New Roman"/>
              </a:rPr>
              <a:t>Elements</a:t>
            </a:r>
            <a:endParaRPr sz="13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Microprocessor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chip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Microcontroller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entire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chip, a </a:t>
            </a:r>
            <a:r>
              <a:rPr sz="2400" spc="-10" dirty="0">
                <a:latin typeface="Times New Roman"/>
                <a:cs typeface="Times New Roman"/>
              </a:rPr>
              <a:t>microprocessor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on-</a:t>
            </a:r>
            <a:r>
              <a:rPr sz="2400" dirty="0">
                <a:latin typeface="Times New Roman"/>
                <a:cs typeface="Times New Roman"/>
              </a:rPr>
              <a:t>chip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memory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I/O.</a:t>
            </a:r>
            <a:endParaRPr sz="2400">
              <a:latin typeface="Times New Roman"/>
              <a:cs typeface="Times New Roman"/>
            </a:endParaRPr>
          </a:p>
          <a:p>
            <a:pPr marL="355600" marR="368935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Billions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microcontroller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embedded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year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myriad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toys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appliances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automobiles.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example,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single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70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 </a:t>
            </a:r>
            <a:r>
              <a:rPr sz="2400" spc="-10" dirty="0">
                <a:latin typeface="Times New Roman"/>
                <a:cs typeface="Times New Roman"/>
              </a:rPr>
              <a:t>microcontrollers.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82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215" dirty="0"/>
              <a:t>Deeply</a:t>
            </a:r>
            <a:r>
              <a:rPr sz="3600" spc="100" dirty="0"/>
              <a:t> </a:t>
            </a:r>
            <a:r>
              <a:rPr sz="3600" spc="245" dirty="0"/>
              <a:t>Embedded</a:t>
            </a:r>
            <a:r>
              <a:rPr sz="3600" spc="90" dirty="0"/>
              <a:t> </a:t>
            </a:r>
            <a:r>
              <a:rPr sz="3600" spc="95" dirty="0"/>
              <a:t>Systems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6303" y="1458849"/>
            <a:ext cx="7325995" cy="4759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Subset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embedded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585858"/>
                </a:solidFill>
                <a:latin typeface="Cambria"/>
                <a:cs typeface="Cambria"/>
              </a:rPr>
              <a:t>systems</a:t>
            </a:r>
            <a:endParaRPr sz="1700">
              <a:latin typeface="Cambria"/>
              <a:cs typeface="Cambria"/>
            </a:endParaRPr>
          </a:p>
          <a:p>
            <a:pPr marL="241300" marR="549910" indent="-228600">
              <a:lnSpc>
                <a:spcPts val="1630"/>
              </a:lnSpc>
              <a:spcBef>
                <a:spcPts val="1989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Has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 a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processor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whose</a:t>
            </a:r>
            <a:r>
              <a:rPr sz="17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behavior</a:t>
            </a:r>
            <a:r>
              <a:rPr sz="17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difficult</a:t>
            </a:r>
            <a:r>
              <a:rPr sz="17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observe</a:t>
            </a:r>
            <a:r>
              <a:rPr sz="17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both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585858"/>
                </a:solidFill>
                <a:latin typeface="Cambria"/>
                <a:cs typeface="Cambria"/>
              </a:rPr>
              <a:t>by</a:t>
            </a:r>
            <a:r>
              <a:rPr sz="17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585858"/>
                </a:solidFill>
                <a:latin typeface="Cambria"/>
                <a:cs typeface="Cambria"/>
              </a:rPr>
              <a:t>the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programmer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35" dirty="0">
                <a:solidFill>
                  <a:srgbClr val="585858"/>
                </a:solidFill>
                <a:latin typeface="Cambria"/>
                <a:cs typeface="Cambria"/>
              </a:rPr>
              <a:t>user</a:t>
            </a:r>
            <a:endParaRPr sz="17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60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Uses</a:t>
            </a:r>
            <a:r>
              <a:rPr sz="17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microcontroller</a:t>
            </a:r>
            <a:r>
              <a:rPr sz="1700" spc="1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rather</a:t>
            </a:r>
            <a:r>
              <a:rPr sz="17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than</a:t>
            </a: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35" dirty="0">
                <a:solidFill>
                  <a:srgbClr val="585858"/>
                </a:solidFill>
                <a:latin typeface="Cambria"/>
                <a:cs typeface="Cambria"/>
              </a:rPr>
              <a:t>microprocessor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Clr>
                <a:srgbClr val="663366"/>
              </a:buClr>
              <a:buFont typeface="Wingdings"/>
              <a:buChar char=""/>
            </a:pPr>
            <a:endParaRPr sz="1700">
              <a:latin typeface="Cambria"/>
              <a:cs typeface="Cambria"/>
            </a:endParaRPr>
          </a:p>
          <a:p>
            <a:pPr marL="241300" marR="248920" indent="-228600">
              <a:lnSpc>
                <a:spcPts val="1630"/>
              </a:lnSpc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not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programmable</a:t>
            </a:r>
            <a:r>
              <a:rPr sz="17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once</a:t>
            </a:r>
            <a:r>
              <a:rPr sz="17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7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program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logic</a:t>
            </a:r>
            <a:r>
              <a:rPr sz="17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for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device</a:t>
            </a:r>
            <a:r>
              <a:rPr sz="17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has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been 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burned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into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ROM</a:t>
            </a:r>
            <a:endParaRPr sz="17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614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Has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no</a:t>
            </a:r>
            <a:r>
              <a:rPr sz="17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interaction</a:t>
            </a:r>
            <a:r>
              <a:rPr sz="17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with</a:t>
            </a:r>
            <a:r>
              <a:rPr sz="17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35" dirty="0">
                <a:solidFill>
                  <a:srgbClr val="585858"/>
                </a:solidFill>
                <a:latin typeface="Cambria"/>
                <a:cs typeface="Cambria"/>
              </a:rPr>
              <a:t>user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Clr>
                <a:srgbClr val="663366"/>
              </a:buClr>
              <a:buFont typeface="Wingdings"/>
              <a:buChar char=""/>
            </a:pPr>
            <a:endParaRPr sz="1700">
              <a:latin typeface="Cambria"/>
              <a:cs typeface="Cambria"/>
            </a:endParaRPr>
          </a:p>
          <a:p>
            <a:pPr marL="241300" marR="800100" indent="-228600">
              <a:lnSpc>
                <a:spcPct val="80000"/>
              </a:lnSpc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Dedicated,</a:t>
            </a:r>
            <a:r>
              <a:rPr sz="1700" spc="-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single-purpose 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devices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detect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something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585858"/>
                </a:solidFill>
                <a:latin typeface="Cambria"/>
                <a:cs typeface="Cambria"/>
              </a:rPr>
              <a:t>the </a:t>
            </a:r>
            <a:r>
              <a:rPr sz="1700" spc="20" dirty="0">
                <a:solidFill>
                  <a:srgbClr val="585858"/>
                </a:solidFill>
                <a:latin typeface="Cambria"/>
                <a:cs typeface="Cambria"/>
              </a:rPr>
              <a:t>environment,</a:t>
            </a:r>
            <a:r>
              <a:rPr sz="1700" spc="-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perform</a:t>
            </a:r>
            <a:r>
              <a:rPr sz="17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basic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level</a:t>
            </a:r>
            <a:r>
              <a:rPr sz="17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2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processing,</a:t>
            </a:r>
            <a:r>
              <a:rPr sz="1700" spc="-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20" dirty="0">
                <a:solidFill>
                  <a:srgbClr val="585858"/>
                </a:solidFill>
                <a:latin typeface="Cambria"/>
                <a:cs typeface="Cambria"/>
              </a:rPr>
              <a:t>then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do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something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with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585858"/>
                </a:solidFill>
                <a:latin typeface="Cambria"/>
                <a:cs typeface="Cambria"/>
              </a:rPr>
              <a:t>results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663366"/>
              </a:buClr>
              <a:buFont typeface="Wingdings"/>
              <a:buChar char=""/>
            </a:pPr>
            <a:endParaRPr sz="1700">
              <a:latin typeface="Cambria"/>
              <a:cs typeface="Cambria"/>
            </a:endParaRPr>
          </a:p>
          <a:p>
            <a:pPr marL="241300" marR="5080" indent="-228600">
              <a:lnSpc>
                <a:spcPct val="80000"/>
              </a:lnSpc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Often</a:t>
            </a:r>
            <a:r>
              <a:rPr sz="17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have</a:t>
            </a:r>
            <a:r>
              <a:rPr sz="17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wireless</a:t>
            </a:r>
            <a:r>
              <a:rPr sz="1700" spc="1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capability</a:t>
            </a:r>
            <a:r>
              <a:rPr sz="17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7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appear</a:t>
            </a:r>
            <a:r>
              <a:rPr sz="17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7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networked</a:t>
            </a:r>
            <a:r>
              <a:rPr sz="17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35" dirty="0">
                <a:solidFill>
                  <a:srgbClr val="585858"/>
                </a:solidFill>
                <a:latin typeface="Cambria"/>
                <a:cs typeface="Cambria"/>
              </a:rPr>
              <a:t>configurations, 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such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as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networks</a:t>
            </a:r>
            <a:r>
              <a:rPr sz="17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sensors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deployed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over</a:t>
            </a:r>
            <a:r>
              <a:rPr sz="17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large</a:t>
            </a:r>
            <a:r>
              <a:rPr sz="17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30" dirty="0">
                <a:solidFill>
                  <a:srgbClr val="585858"/>
                </a:solidFill>
                <a:latin typeface="Cambria"/>
                <a:cs typeface="Cambria"/>
              </a:rPr>
              <a:t>area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663366"/>
              </a:buClr>
              <a:buFont typeface="Wingdings"/>
              <a:buChar char=""/>
            </a:pPr>
            <a:endParaRPr sz="1700">
              <a:latin typeface="Cambria"/>
              <a:cs typeface="Cambria"/>
            </a:endParaRPr>
          </a:p>
          <a:p>
            <a:pPr marL="241300" marR="680085" indent="-228600">
              <a:lnSpc>
                <a:spcPct val="80000"/>
              </a:lnSpc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Typically</a:t>
            </a:r>
            <a:r>
              <a:rPr sz="17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have</a:t>
            </a:r>
            <a:r>
              <a:rPr sz="17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extreme</a:t>
            </a:r>
            <a:r>
              <a:rPr sz="17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585858"/>
                </a:solidFill>
                <a:latin typeface="Cambria"/>
                <a:cs typeface="Cambria"/>
              </a:rPr>
              <a:t>resource</a:t>
            </a: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constraints</a:t>
            </a:r>
            <a:r>
              <a:rPr sz="17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terms</a:t>
            </a:r>
            <a:r>
              <a:rPr sz="17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7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585858"/>
                </a:solidFill>
                <a:latin typeface="Cambria"/>
                <a:cs typeface="Cambria"/>
              </a:rPr>
              <a:t>memory,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processor</a:t>
            </a:r>
            <a:r>
              <a:rPr sz="17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size,</a:t>
            </a:r>
            <a:r>
              <a:rPr sz="1700" spc="-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time,</a:t>
            </a:r>
            <a:r>
              <a:rPr sz="1700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power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585858"/>
                </a:solidFill>
                <a:latin typeface="Cambria"/>
                <a:cs typeface="Cambria"/>
              </a:rPr>
              <a:t>consumption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64793" y="278638"/>
            <a:ext cx="1021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ARM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72795" y="1330452"/>
            <a:ext cx="8244840" cy="5029200"/>
            <a:chOff x="272795" y="1330452"/>
            <a:chExt cx="8244840" cy="5029200"/>
          </a:xfrm>
        </p:grpSpPr>
        <p:pic>
          <p:nvPicPr>
            <p:cNvPr id="5" name="object 5" descr="Partial Circl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795" y="1330452"/>
              <a:ext cx="2578608" cy="5029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6803" y="1368551"/>
              <a:ext cx="2453640" cy="49042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775203" y="1382268"/>
              <a:ext cx="5721350" cy="4904740"/>
            </a:xfrm>
            <a:custGeom>
              <a:avLst/>
              <a:gdLst/>
              <a:ahLst/>
              <a:cxnLst/>
              <a:rect l="l" t="t" r="r" b="b"/>
              <a:pathLst>
                <a:path w="5721350" h="4904740">
                  <a:moveTo>
                    <a:pt x="5721096" y="0"/>
                  </a:moveTo>
                  <a:lnTo>
                    <a:pt x="0" y="0"/>
                  </a:lnTo>
                  <a:lnTo>
                    <a:pt x="0" y="4904232"/>
                  </a:lnTo>
                  <a:lnTo>
                    <a:pt x="5721096" y="4904232"/>
                  </a:lnTo>
                  <a:lnTo>
                    <a:pt x="572109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75203" y="1382268"/>
              <a:ext cx="5721350" cy="4904740"/>
            </a:xfrm>
            <a:custGeom>
              <a:avLst/>
              <a:gdLst/>
              <a:ahLst/>
              <a:cxnLst/>
              <a:rect l="l" t="t" r="r" b="b"/>
              <a:pathLst>
                <a:path w="5721350" h="4904740">
                  <a:moveTo>
                    <a:pt x="0" y="4904232"/>
                  </a:moveTo>
                  <a:lnTo>
                    <a:pt x="5721096" y="4904232"/>
                  </a:lnTo>
                  <a:lnTo>
                    <a:pt x="5721096" y="0"/>
                  </a:lnTo>
                  <a:lnTo>
                    <a:pt x="0" y="0"/>
                  </a:lnTo>
                  <a:lnTo>
                    <a:pt x="0" y="4904232"/>
                  </a:lnTo>
                  <a:close/>
                </a:path>
              </a:pathLst>
            </a:custGeom>
            <a:ln w="12191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 descr="Partial Circle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7908" y="2113788"/>
              <a:ext cx="2063495" cy="40005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915" y="2151888"/>
              <a:ext cx="1938527" cy="387553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90444" y="2153412"/>
              <a:ext cx="5721350" cy="3874135"/>
            </a:xfrm>
            <a:custGeom>
              <a:avLst/>
              <a:gdLst/>
              <a:ahLst/>
              <a:cxnLst/>
              <a:rect l="l" t="t" r="r" b="b"/>
              <a:pathLst>
                <a:path w="5721350" h="3874135">
                  <a:moveTo>
                    <a:pt x="5721096" y="0"/>
                  </a:moveTo>
                  <a:lnTo>
                    <a:pt x="0" y="0"/>
                  </a:lnTo>
                  <a:lnTo>
                    <a:pt x="0" y="3874008"/>
                  </a:lnTo>
                  <a:lnTo>
                    <a:pt x="5721096" y="3874008"/>
                  </a:lnTo>
                  <a:lnTo>
                    <a:pt x="572109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90444" y="2153412"/>
              <a:ext cx="5721350" cy="3874135"/>
            </a:xfrm>
            <a:custGeom>
              <a:avLst/>
              <a:gdLst/>
              <a:ahLst/>
              <a:cxnLst/>
              <a:rect l="l" t="t" r="r" b="b"/>
              <a:pathLst>
                <a:path w="5721350" h="3874135">
                  <a:moveTo>
                    <a:pt x="0" y="3874008"/>
                  </a:moveTo>
                  <a:lnTo>
                    <a:pt x="5721096" y="3874008"/>
                  </a:lnTo>
                  <a:lnTo>
                    <a:pt x="5721096" y="0"/>
                  </a:lnTo>
                  <a:lnTo>
                    <a:pt x="0" y="0"/>
                  </a:lnTo>
                  <a:lnTo>
                    <a:pt x="0" y="3874008"/>
                  </a:lnTo>
                  <a:close/>
                </a:path>
              </a:pathLst>
            </a:custGeom>
            <a:ln w="12191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 descr="Partial Circle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3020" y="2898648"/>
              <a:ext cx="1548383" cy="297027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67028" y="2936748"/>
              <a:ext cx="1423416" cy="284530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90444" y="2938272"/>
              <a:ext cx="5721350" cy="2844165"/>
            </a:xfrm>
            <a:custGeom>
              <a:avLst/>
              <a:gdLst/>
              <a:ahLst/>
              <a:cxnLst/>
              <a:rect l="l" t="t" r="r" b="b"/>
              <a:pathLst>
                <a:path w="5721350" h="2844165">
                  <a:moveTo>
                    <a:pt x="5721096" y="0"/>
                  </a:moveTo>
                  <a:lnTo>
                    <a:pt x="0" y="0"/>
                  </a:lnTo>
                  <a:lnTo>
                    <a:pt x="0" y="2843784"/>
                  </a:lnTo>
                  <a:lnTo>
                    <a:pt x="5721096" y="2843784"/>
                  </a:lnTo>
                  <a:lnTo>
                    <a:pt x="572109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90444" y="2938272"/>
              <a:ext cx="5721350" cy="2844165"/>
            </a:xfrm>
            <a:custGeom>
              <a:avLst/>
              <a:gdLst/>
              <a:ahLst/>
              <a:cxnLst/>
              <a:rect l="l" t="t" r="r" b="b"/>
              <a:pathLst>
                <a:path w="5721350" h="2844165">
                  <a:moveTo>
                    <a:pt x="0" y="2843784"/>
                  </a:moveTo>
                  <a:lnTo>
                    <a:pt x="5721096" y="2843784"/>
                  </a:lnTo>
                  <a:lnTo>
                    <a:pt x="5721096" y="0"/>
                  </a:lnTo>
                  <a:lnTo>
                    <a:pt x="0" y="0"/>
                  </a:lnTo>
                  <a:lnTo>
                    <a:pt x="0" y="2843784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Partial Circle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18131" y="3683508"/>
              <a:ext cx="1033297" cy="19415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82140" y="3721608"/>
              <a:ext cx="908304" cy="181660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790444" y="3723131"/>
              <a:ext cx="5721350" cy="1815464"/>
            </a:xfrm>
            <a:custGeom>
              <a:avLst/>
              <a:gdLst/>
              <a:ahLst/>
              <a:cxnLst/>
              <a:rect l="l" t="t" r="r" b="b"/>
              <a:pathLst>
                <a:path w="5721350" h="1815464">
                  <a:moveTo>
                    <a:pt x="5721096" y="0"/>
                  </a:moveTo>
                  <a:lnTo>
                    <a:pt x="0" y="0"/>
                  </a:lnTo>
                  <a:lnTo>
                    <a:pt x="0" y="1815083"/>
                  </a:lnTo>
                  <a:lnTo>
                    <a:pt x="5721096" y="1815083"/>
                  </a:lnTo>
                  <a:lnTo>
                    <a:pt x="572109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90444" y="3723131"/>
              <a:ext cx="5721350" cy="1815464"/>
            </a:xfrm>
            <a:custGeom>
              <a:avLst/>
              <a:gdLst/>
              <a:ahLst/>
              <a:cxnLst/>
              <a:rect l="l" t="t" r="r" b="b"/>
              <a:pathLst>
                <a:path w="5721350" h="1815464">
                  <a:moveTo>
                    <a:pt x="0" y="1815083"/>
                  </a:moveTo>
                  <a:lnTo>
                    <a:pt x="5721096" y="1815083"/>
                  </a:lnTo>
                  <a:lnTo>
                    <a:pt x="5721096" y="0"/>
                  </a:lnTo>
                  <a:lnTo>
                    <a:pt x="0" y="0"/>
                  </a:lnTo>
                  <a:lnTo>
                    <a:pt x="0" y="1815083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 descr="Partial Circle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33244" y="4468380"/>
              <a:ext cx="518147" cy="91133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97251" y="4506468"/>
              <a:ext cx="393192" cy="78638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790444" y="4507991"/>
              <a:ext cx="5721350" cy="784860"/>
            </a:xfrm>
            <a:custGeom>
              <a:avLst/>
              <a:gdLst/>
              <a:ahLst/>
              <a:cxnLst/>
              <a:rect l="l" t="t" r="r" b="b"/>
              <a:pathLst>
                <a:path w="5721350" h="784860">
                  <a:moveTo>
                    <a:pt x="5721096" y="0"/>
                  </a:moveTo>
                  <a:lnTo>
                    <a:pt x="0" y="0"/>
                  </a:lnTo>
                  <a:lnTo>
                    <a:pt x="0" y="784859"/>
                  </a:lnTo>
                  <a:lnTo>
                    <a:pt x="5721096" y="784859"/>
                  </a:lnTo>
                  <a:lnTo>
                    <a:pt x="572109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90444" y="4507991"/>
              <a:ext cx="5721350" cy="784860"/>
            </a:xfrm>
            <a:custGeom>
              <a:avLst/>
              <a:gdLst/>
              <a:ahLst/>
              <a:cxnLst/>
              <a:rect l="l" t="t" r="r" b="b"/>
              <a:pathLst>
                <a:path w="5721350" h="784860">
                  <a:moveTo>
                    <a:pt x="0" y="784859"/>
                  </a:moveTo>
                  <a:lnTo>
                    <a:pt x="5721096" y="784859"/>
                  </a:lnTo>
                  <a:lnTo>
                    <a:pt x="5721096" y="0"/>
                  </a:lnTo>
                  <a:lnTo>
                    <a:pt x="0" y="0"/>
                  </a:lnTo>
                  <a:lnTo>
                    <a:pt x="0" y="784859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850007" y="1512823"/>
            <a:ext cx="5601970" cy="35020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05410" marR="125730" indent="-1270" algn="ctr">
              <a:lnSpc>
                <a:spcPts val="1689"/>
              </a:lnSpc>
              <a:spcBef>
                <a:spcPts val="340"/>
              </a:spcBef>
            </a:pPr>
            <a:r>
              <a:rPr sz="1600" dirty="0">
                <a:latin typeface="Cambria"/>
                <a:cs typeface="Cambria"/>
              </a:rPr>
              <a:t>Refers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a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processor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architecture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that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has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evolved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from </a:t>
            </a:r>
            <a:r>
              <a:rPr sz="1600" spc="70" dirty="0">
                <a:latin typeface="Cambria"/>
                <a:cs typeface="Cambria"/>
              </a:rPr>
              <a:t>RISC </a:t>
            </a:r>
            <a:r>
              <a:rPr sz="1600" spc="85" dirty="0">
                <a:latin typeface="Cambria"/>
                <a:cs typeface="Cambria"/>
              </a:rPr>
              <a:t>design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principles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and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used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embedded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systems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600">
              <a:latin typeface="Cambria"/>
              <a:cs typeface="Cambria"/>
            </a:endParaRPr>
          </a:p>
          <a:p>
            <a:pPr marL="12065" marR="5080" algn="ctr">
              <a:lnSpc>
                <a:spcPts val="1689"/>
              </a:lnSpc>
            </a:pPr>
            <a:r>
              <a:rPr sz="1600" dirty="0">
                <a:latin typeface="Cambria"/>
                <a:cs typeface="Cambria"/>
              </a:rPr>
              <a:t>Family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RISC-</a:t>
            </a:r>
            <a:r>
              <a:rPr sz="1600" spc="95" dirty="0">
                <a:latin typeface="Cambria"/>
                <a:cs typeface="Cambria"/>
              </a:rPr>
              <a:t>based </a:t>
            </a:r>
            <a:r>
              <a:rPr sz="1600" spc="45" dirty="0">
                <a:latin typeface="Cambria"/>
                <a:cs typeface="Cambria"/>
              </a:rPr>
              <a:t>microprocessors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and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microcontrollers </a:t>
            </a:r>
            <a:r>
              <a:rPr sz="1600" spc="90" dirty="0">
                <a:latin typeface="Cambria"/>
                <a:cs typeface="Cambria"/>
              </a:rPr>
              <a:t>designed </a:t>
            </a:r>
            <a:r>
              <a:rPr sz="1600" spc="85" dirty="0">
                <a:latin typeface="Cambria"/>
                <a:cs typeface="Cambria"/>
              </a:rPr>
              <a:t>by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ARM</a:t>
            </a:r>
            <a:r>
              <a:rPr sz="1600" spc="70" dirty="0">
                <a:latin typeface="Cambria"/>
                <a:cs typeface="Cambria"/>
              </a:rPr>
              <a:t> Holdings,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Cambridge,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England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600">
              <a:latin typeface="Cambria"/>
              <a:cs typeface="Cambria"/>
            </a:endParaRPr>
          </a:p>
          <a:p>
            <a:pPr marL="146685" marR="137795" algn="ctr">
              <a:lnSpc>
                <a:spcPts val="1689"/>
              </a:lnSpc>
              <a:spcBef>
                <a:spcPts val="5"/>
              </a:spcBef>
            </a:pPr>
            <a:r>
              <a:rPr sz="1600" spc="95" dirty="0">
                <a:latin typeface="Cambria"/>
                <a:cs typeface="Cambria"/>
              </a:rPr>
              <a:t>Chips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are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high-</a:t>
            </a:r>
            <a:r>
              <a:rPr sz="1600" spc="95" dirty="0">
                <a:latin typeface="Cambria"/>
                <a:cs typeface="Cambria"/>
              </a:rPr>
              <a:t>speed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processors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that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are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known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their </a:t>
            </a:r>
            <a:r>
              <a:rPr sz="1600" dirty="0">
                <a:latin typeface="Cambria"/>
                <a:cs typeface="Cambria"/>
              </a:rPr>
              <a:t>small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die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size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and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low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power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requirements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600">
              <a:latin typeface="Cambria"/>
              <a:cs typeface="Cambria"/>
            </a:endParaRPr>
          </a:p>
          <a:p>
            <a:pPr marL="184785" marR="176530" indent="635" algn="ctr">
              <a:lnSpc>
                <a:spcPts val="1689"/>
              </a:lnSpc>
            </a:pPr>
            <a:r>
              <a:rPr sz="1600" spc="45" dirty="0">
                <a:latin typeface="Cambria"/>
                <a:cs typeface="Cambria"/>
              </a:rPr>
              <a:t>Probably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most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widely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used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110" dirty="0">
                <a:latin typeface="Cambria"/>
                <a:cs typeface="Cambria"/>
              </a:rPr>
              <a:t>embedded </a:t>
            </a:r>
            <a:r>
              <a:rPr sz="1600" spc="45" dirty="0">
                <a:latin typeface="Cambria"/>
                <a:cs typeface="Cambria"/>
              </a:rPr>
              <a:t>processor </a:t>
            </a:r>
            <a:r>
              <a:rPr sz="1600" dirty="0">
                <a:latin typeface="Cambria"/>
                <a:cs typeface="Cambria"/>
              </a:rPr>
              <a:t>architecture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and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indeed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most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widely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used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processor </a:t>
            </a:r>
            <a:r>
              <a:rPr sz="1600" dirty="0">
                <a:latin typeface="Cambria"/>
                <a:cs typeface="Cambria"/>
              </a:rPr>
              <a:t>architecture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any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kind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world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6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</a:pPr>
            <a:r>
              <a:rPr sz="1600" spc="70" dirty="0">
                <a:latin typeface="Cambria"/>
                <a:cs typeface="Cambria"/>
              </a:rPr>
              <a:t>Acorn RISC</a:t>
            </a:r>
            <a:r>
              <a:rPr sz="1600" spc="60" dirty="0">
                <a:latin typeface="Cambria"/>
                <a:cs typeface="Cambria"/>
              </a:rPr>
              <a:t> Machine/Advanced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RISC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Machine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0413" y="200914"/>
            <a:ext cx="286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050442" y="998982"/>
            <a:ext cx="2960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ARM</a:t>
            </a:r>
            <a:r>
              <a:rPr spc="114" dirty="0"/>
              <a:t> </a:t>
            </a:r>
            <a:r>
              <a:rPr spc="50" dirty="0"/>
              <a:t>Products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28244" y="3604259"/>
            <a:ext cx="2490470" cy="1551940"/>
            <a:chOff x="428244" y="3604259"/>
            <a:chExt cx="2490470" cy="1551940"/>
          </a:xfrm>
        </p:grpSpPr>
        <p:pic>
          <p:nvPicPr>
            <p:cNvPr id="7" name="object 7" descr="L-Shap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244" y="3604259"/>
              <a:ext cx="2490216" cy="1551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872" y="3877309"/>
              <a:ext cx="227736" cy="118491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348" y="3648455"/>
              <a:ext cx="2353056" cy="141350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99872" y="3649979"/>
              <a:ext cx="2352040" cy="1412875"/>
            </a:xfrm>
            <a:custGeom>
              <a:avLst/>
              <a:gdLst/>
              <a:ahLst/>
              <a:cxnLst/>
              <a:rect l="l" t="t" r="r" b="b"/>
              <a:pathLst>
                <a:path w="2352040" h="1412875">
                  <a:moveTo>
                    <a:pt x="2351532" y="0"/>
                  </a:moveTo>
                  <a:lnTo>
                    <a:pt x="2351532" y="227584"/>
                  </a:lnTo>
                  <a:lnTo>
                    <a:pt x="227736" y="227584"/>
                  </a:lnTo>
                  <a:lnTo>
                    <a:pt x="227736" y="1412748"/>
                  </a:lnTo>
                  <a:lnTo>
                    <a:pt x="0" y="1412748"/>
                  </a:lnTo>
                  <a:lnTo>
                    <a:pt x="0" y="0"/>
                  </a:lnTo>
                  <a:lnTo>
                    <a:pt x="2351532" y="0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12088" y="3910965"/>
            <a:ext cx="1450975" cy="10350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 marR="5080">
              <a:lnSpc>
                <a:spcPct val="88000"/>
              </a:lnSpc>
              <a:spcBef>
                <a:spcPts val="445"/>
              </a:spcBef>
            </a:pPr>
            <a:r>
              <a:rPr sz="2400" spc="125" dirty="0">
                <a:latin typeface="Cambria"/>
                <a:cs typeface="Cambria"/>
              </a:rPr>
              <a:t>Cortex-</a:t>
            </a:r>
            <a:r>
              <a:rPr sz="2400" spc="95" dirty="0">
                <a:latin typeface="Cambria"/>
                <a:cs typeface="Cambria"/>
              </a:rPr>
              <a:t>A/Cortex-</a:t>
            </a:r>
            <a:r>
              <a:rPr sz="2400" spc="-25" dirty="0">
                <a:latin typeface="Cambria"/>
                <a:cs typeface="Cambria"/>
              </a:rPr>
              <a:t>A50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83535" y="2961093"/>
            <a:ext cx="539750" cy="539750"/>
            <a:chOff x="2383535" y="2961093"/>
            <a:chExt cx="539750" cy="539750"/>
          </a:xfrm>
        </p:grpSpPr>
        <p:pic>
          <p:nvPicPr>
            <p:cNvPr id="13" name="object 13" descr="Isosceles Triangle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83535" y="2961093"/>
              <a:ext cx="539534" cy="53953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53639" y="3005340"/>
              <a:ext cx="402336" cy="40232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455163" y="3006851"/>
              <a:ext cx="401320" cy="401320"/>
            </a:xfrm>
            <a:custGeom>
              <a:avLst/>
              <a:gdLst/>
              <a:ahLst/>
              <a:cxnLst/>
              <a:rect l="l" t="t" r="r" b="b"/>
              <a:pathLst>
                <a:path w="401319" h="401320">
                  <a:moveTo>
                    <a:pt x="0" y="400812"/>
                  </a:moveTo>
                  <a:lnTo>
                    <a:pt x="400812" y="0"/>
                  </a:lnTo>
                  <a:lnTo>
                    <a:pt x="400812" y="400812"/>
                  </a:lnTo>
                  <a:lnTo>
                    <a:pt x="0" y="400812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026664" y="2961132"/>
            <a:ext cx="2490470" cy="1551940"/>
            <a:chOff x="3026664" y="2961132"/>
            <a:chExt cx="2490470" cy="1551940"/>
          </a:xfrm>
        </p:grpSpPr>
        <p:pic>
          <p:nvPicPr>
            <p:cNvPr id="17" name="object 17" descr="L-Shap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26664" y="2961132"/>
              <a:ext cx="2490216" cy="1551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98292" y="3234690"/>
              <a:ext cx="227710" cy="118491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96768" y="3005328"/>
              <a:ext cx="2353056" cy="141351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098292" y="3006852"/>
              <a:ext cx="2352040" cy="1412875"/>
            </a:xfrm>
            <a:custGeom>
              <a:avLst/>
              <a:gdLst/>
              <a:ahLst/>
              <a:cxnLst/>
              <a:rect l="l" t="t" r="r" b="b"/>
              <a:pathLst>
                <a:path w="2352040" h="1412875">
                  <a:moveTo>
                    <a:pt x="2351532" y="0"/>
                  </a:moveTo>
                  <a:lnTo>
                    <a:pt x="2351532" y="227584"/>
                  </a:lnTo>
                  <a:lnTo>
                    <a:pt x="227710" y="227584"/>
                  </a:lnTo>
                  <a:lnTo>
                    <a:pt x="227710" y="1412748"/>
                  </a:lnTo>
                  <a:lnTo>
                    <a:pt x="0" y="1412748"/>
                  </a:lnTo>
                  <a:lnTo>
                    <a:pt x="0" y="0"/>
                  </a:lnTo>
                  <a:lnTo>
                    <a:pt x="2351532" y="0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411092" y="3267836"/>
            <a:ext cx="1287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25" dirty="0">
                <a:latin typeface="Cambria"/>
                <a:cs typeface="Cambria"/>
              </a:rPr>
              <a:t>Cortex-</a:t>
            </a:r>
            <a:r>
              <a:rPr sz="2400" spc="-50" dirty="0">
                <a:latin typeface="Cambria"/>
                <a:cs typeface="Cambria"/>
              </a:rPr>
              <a:t>R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981955" y="2317965"/>
            <a:ext cx="539750" cy="539750"/>
            <a:chOff x="4981955" y="2317965"/>
            <a:chExt cx="539750" cy="539750"/>
          </a:xfrm>
        </p:grpSpPr>
        <p:pic>
          <p:nvPicPr>
            <p:cNvPr id="23" name="object 23" descr="Isosceles Triangle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81955" y="2317965"/>
              <a:ext cx="539534" cy="53953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52059" y="2362212"/>
              <a:ext cx="402336" cy="40232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053583" y="2363723"/>
              <a:ext cx="401320" cy="401320"/>
            </a:xfrm>
            <a:custGeom>
              <a:avLst/>
              <a:gdLst/>
              <a:ahLst/>
              <a:cxnLst/>
              <a:rect l="l" t="t" r="r" b="b"/>
              <a:pathLst>
                <a:path w="401320" h="401319">
                  <a:moveTo>
                    <a:pt x="0" y="400812"/>
                  </a:moveTo>
                  <a:lnTo>
                    <a:pt x="400812" y="0"/>
                  </a:lnTo>
                  <a:lnTo>
                    <a:pt x="400812" y="400812"/>
                  </a:lnTo>
                  <a:lnTo>
                    <a:pt x="0" y="400812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625084" y="2318004"/>
            <a:ext cx="2490470" cy="1551940"/>
            <a:chOff x="5625084" y="2318004"/>
            <a:chExt cx="2490470" cy="1551940"/>
          </a:xfrm>
        </p:grpSpPr>
        <p:pic>
          <p:nvPicPr>
            <p:cNvPr id="27" name="object 27" descr="L-Shap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5084" y="2318004"/>
              <a:ext cx="2490216" cy="15514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96712" y="2590800"/>
              <a:ext cx="227711" cy="118617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95188" y="2362200"/>
              <a:ext cx="2353056" cy="141351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696712" y="2363724"/>
              <a:ext cx="2352040" cy="1412875"/>
            </a:xfrm>
            <a:custGeom>
              <a:avLst/>
              <a:gdLst/>
              <a:ahLst/>
              <a:cxnLst/>
              <a:rect l="l" t="t" r="r" b="b"/>
              <a:pathLst>
                <a:path w="2352040" h="1412875">
                  <a:moveTo>
                    <a:pt x="2351532" y="0"/>
                  </a:moveTo>
                  <a:lnTo>
                    <a:pt x="2351532" y="227584"/>
                  </a:lnTo>
                  <a:lnTo>
                    <a:pt x="227711" y="227584"/>
                  </a:lnTo>
                  <a:lnTo>
                    <a:pt x="227711" y="1412748"/>
                  </a:lnTo>
                  <a:lnTo>
                    <a:pt x="0" y="1412748"/>
                  </a:lnTo>
                  <a:lnTo>
                    <a:pt x="0" y="0"/>
                  </a:lnTo>
                  <a:lnTo>
                    <a:pt x="2351532" y="0"/>
                  </a:lnTo>
                  <a:close/>
                </a:path>
              </a:pathLst>
            </a:custGeom>
            <a:ln w="12192">
              <a:solidFill>
                <a:srgbClr val="66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010147" y="2507033"/>
            <a:ext cx="1551940" cy="178308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2400" spc="125" dirty="0">
                <a:latin typeface="Cambria"/>
                <a:cs typeface="Cambria"/>
              </a:rPr>
              <a:t>Cortex-</a:t>
            </a:r>
            <a:r>
              <a:rPr sz="2400" spc="85" dirty="0">
                <a:latin typeface="Cambria"/>
                <a:cs typeface="Cambria"/>
              </a:rPr>
              <a:t>M</a:t>
            </a:r>
            <a:endParaRPr sz="2400">
              <a:latin typeface="Cambria"/>
              <a:cs typeface="Cambria"/>
            </a:endParaRPr>
          </a:p>
          <a:p>
            <a:pPr marL="182880" indent="-170180">
              <a:lnSpc>
                <a:spcPct val="100000"/>
              </a:lnSpc>
              <a:spcBef>
                <a:spcPts val="730"/>
              </a:spcBef>
              <a:buChar char="•"/>
              <a:tabLst>
                <a:tab pos="182880" algn="l"/>
              </a:tabLst>
            </a:pPr>
            <a:r>
              <a:rPr sz="1900" spc="95" dirty="0">
                <a:latin typeface="Cambria"/>
                <a:cs typeface="Cambria"/>
              </a:rPr>
              <a:t>Cortex-</a:t>
            </a:r>
            <a:r>
              <a:rPr sz="1900" spc="-25" dirty="0">
                <a:latin typeface="Cambria"/>
                <a:cs typeface="Cambria"/>
              </a:rPr>
              <a:t>M0</a:t>
            </a:r>
            <a:endParaRPr sz="1900">
              <a:latin typeface="Cambria"/>
              <a:cs typeface="Cambria"/>
            </a:endParaRPr>
          </a:p>
          <a:p>
            <a:pPr marL="182880" indent="-170180">
              <a:lnSpc>
                <a:spcPct val="100000"/>
              </a:lnSpc>
              <a:spcBef>
                <a:spcPts val="60"/>
              </a:spcBef>
              <a:buChar char="•"/>
              <a:tabLst>
                <a:tab pos="182880" algn="l"/>
              </a:tabLst>
            </a:pPr>
            <a:r>
              <a:rPr sz="1900" spc="95" dirty="0">
                <a:latin typeface="Cambria"/>
                <a:cs typeface="Cambria"/>
              </a:rPr>
              <a:t>Cortex-</a:t>
            </a:r>
            <a:r>
              <a:rPr sz="1900" spc="70" dirty="0">
                <a:latin typeface="Cambria"/>
                <a:cs typeface="Cambria"/>
              </a:rPr>
              <a:t>M0+</a:t>
            </a:r>
            <a:endParaRPr sz="1900">
              <a:latin typeface="Cambria"/>
              <a:cs typeface="Cambria"/>
            </a:endParaRPr>
          </a:p>
          <a:p>
            <a:pPr marL="182880" indent="-170180">
              <a:lnSpc>
                <a:spcPct val="100000"/>
              </a:lnSpc>
              <a:spcBef>
                <a:spcPts val="60"/>
              </a:spcBef>
              <a:buChar char="•"/>
              <a:tabLst>
                <a:tab pos="182880" algn="l"/>
              </a:tabLst>
            </a:pPr>
            <a:r>
              <a:rPr sz="1900" spc="95" dirty="0">
                <a:latin typeface="Cambria"/>
                <a:cs typeface="Cambria"/>
              </a:rPr>
              <a:t>Cortex-</a:t>
            </a:r>
            <a:r>
              <a:rPr sz="1900" spc="-25" dirty="0">
                <a:latin typeface="Cambria"/>
                <a:cs typeface="Cambria"/>
              </a:rPr>
              <a:t>M3</a:t>
            </a:r>
            <a:endParaRPr sz="1900">
              <a:latin typeface="Cambria"/>
              <a:cs typeface="Cambria"/>
            </a:endParaRPr>
          </a:p>
          <a:p>
            <a:pPr marL="182880" indent="-170180">
              <a:lnSpc>
                <a:spcPct val="100000"/>
              </a:lnSpc>
              <a:spcBef>
                <a:spcPts val="60"/>
              </a:spcBef>
              <a:buChar char="•"/>
              <a:tabLst>
                <a:tab pos="182880" algn="l"/>
              </a:tabLst>
            </a:pPr>
            <a:r>
              <a:rPr sz="1900" spc="95" dirty="0">
                <a:latin typeface="Cambria"/>
                <a:cs typeface="Cambria"/>
              </a:rPr>
              <a:t>Cortex-</a:t>
            </a:r>
            <a:r>
              <a:rPr sz="1900" spc="-25" dirty="0">
                <a:latin typeface="Cambria"/>
                <a:cs typeface="Cambria"/>
              </a:rPr>
              <a:t>M4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75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110" dirty="0"/>
              <a:t>The</a:t>
            </a:r>
            <a:r>
              <a:rPr sz="3600" spc="120" dirty="0"/>
              <a:t> </a:t>
            </a:r>
            <a:r>
              <a:rPr sz="3600" spc="195" dirty="0"/>
              <a:t>Cortex-</a:t>
            </a:r>
            <a:r>
              <a:rPr sz="3600" spc="265" dirty="0"/>
              <a:t>A</a:t>
            </a:r>
            <a:r>
              <a:rPr sz="3600" spc="125" dirty="0"/>
              <a:t> </a:t>
            </a:r>
            <a:r>
              <a:rPr sz="3600" spc="130" dirty="0"/>
              <a:t>and</a:t>
            </a:r>
            <a:r>
              <a:rPr sz="3600" spc="105" dirty="0"/>
              <a:t> </a:t>
            </a:r>
            <a:r>
              <a:rPr sz="3600" spc="195" dirty="0"/>
              <a:t>Cortex-</a:t>
            </a:r>
            <a:r>
              <a:rPr sz="3600" spc="35" dirty="0"/>
              <a:t>A50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6334" y="1092454"/>
            <a:ext cx="7312659" cy="385762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40665" marR="113664" indent="-228600">
              <a:lnSpc>
                <a:spcPct val="80000"/>
              </a:lnSpc>
              <a:spcBef>
                <a:spcPts val="550"/>
              </a:spcBef>
              <a:buClr>
                <a:srgbClr val="663366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Cortex-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Cortex-</a:t>
            </a:r>
            <a:r>
              <a:rPr sz="1900" dirty="0">
                <a:latin typeface="Times New Roman"/>
                <a:cs typeface="Times New Roman"/>
              </a:rPr>
              <a:t>A50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application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processors,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intended</a:t>
            </a:r>
            <a:r>
              <a:rPr sz="1900" spc="-25" dirty="0">
                <a:latin typeface="Times New Roman"/>
                <a:cs typeface="Times New Roman"/>
              </a:rPr>
              <a:t> for </a:t>
            </a:r>
            <a:r>
              <a:rPr sz="1900" dirty="0">
                <a:latin typeface="Times New Roman"/>
                <a:cs typeface="Times New Roman"/>
              </a:rPr>
              <a:t>mobile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devices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such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smartphones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eBook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readers,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well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as </a:t>
            </a:r>
            <a:r>
              <a:rPr sz="1900" dirty="0">
                <a:latin typeface="Times New Roman"/>
                <a:cs typeface="Times New Roman"/>
              </a:rPr>
              <a:t>consumer devices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such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digital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TV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home gateways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(e.g.,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DSL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and </a:t>
            </a:r>
            <a:r>
              <a:rPr sz="1900" dirty="0">
                <a:latin typeface="Times New Roman"/>
                <a:cs typeface="Times New Roman"/>
              </a:rPr>
              <a:t>cable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Internet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modems).</a:t>
            </a:r>
            <a:endParaRPr sz="1900">
              <a:latin typeface="Times New Roman"/>
              <a:cs typeface="Times New Roman"/>
            </a:endParaRPr>
          </a:p>
          <a:p>
            <a:pPr marL="240665" marR="229235" indent="-228600">
              <a:lnSpc>
                <a:spcPct val="80000"/>
              </a:lnSpc>
              <a:spcBef>
                <a:spcPts val="2005"/>
              </a:spcBef>
              <a:buClr>
                <a:srgbClr val="663366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These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processors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run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higher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clock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frequency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(over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1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GHz),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and </a:t>
            </a:r>
            <a:r>
              <a:rPr sz="1900" dirty="0">
                <a:latin typeface="Times New Roman"/>
                <a:cs typeface="Times New Roman"/>
              </a:rPr>
              <a:t>support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memory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management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unit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(MMU),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which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required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for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full </a:t>
            </a:r>
            <a:r>
              <a:rPr sz="1900" dirty="0">
                <a:latin typeface="Times New Roman"/>
                <a:cs typeface="Times New Roman"/>
              </a:rPr>
              <a:t>feature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OSs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such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Linux,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Android,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MS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Windows,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mobile</a:t>
            </a:r>
            <a:r>
              <a:rPr sz="1900" spc="-20" dirty="0">
                <a:latin typeface="Times New Roman"/>
                <a:cs typeface="Times New Roman"/>
              </a:rPr>
              <a:t> OSs.</a:t>
            </a:r>
            <a:endParaRPr sz="1900">
              <a:latin typeface="Times New Roman"/>
              <a:cs typeface="Times New Roman"/>
            </a:endParaRPr>
          </a:p>
          <a:p>
            <a:pPr marL="240665" marR="5080" indent="-228600">
              <a:lnSpc>
                <a:spcPct val="80000"/>
              </a:lnSpc>
              <a:spcBef>
                <a:spcPts val="1989"/>
              </a:spcBef>
              <a:buClr>
                <a:srgbClr val="663366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An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MMU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hardware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module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supports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virtual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memory and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paging </a:t>
            </a:r>
            <a:r>
              <a:rPr sz="1900" dirty="0">
                <a:latin typeface="Times New Roman"/>
                <a:cs typeface="Times New Roman"/>
              </a:rPr>
              <a:t>by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translating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virtual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addresses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into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physical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addresses;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this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topic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is </a:t>
            </a:r>
            <a:r>
              <a:rPr sz="1900" dirty="0">
                <a:latin typeface="Times New Roman"/>
                <a:cs typeface="Times New Roman"/>
              </a:rPr>
              <a:t>explored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Chapter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8.</a:t>
            </a:r>
            <a:endParaRPr sz="1900">
              <a:latin typeface="Times New Roman"/>
              <a:cs typeface="Times New Roman"/>
            </a:endParaRPr>
          </a:p>
          <a:p>
            <a:pPr marL="240665" marR="146050" indent="-228600" algn="just">
              <a:lnSpc>
                <a:spcPct val="80000"/>
              </a:lnSpc>
              <a:spcBef>
                <a:spcPts val="2010"/>
              </a:spcBef>
              <a:buClr>
                <a:srgbClr val="663366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two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architectures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use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both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ARM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Thumb-</a:t>
            </a:r>
            <a:r>
              <a:rPr sz="1900" dirty="0">
                <a:latin typeface="Times New Roman"/>
                <a:cs typeface="Times New Roman"/>
              </a:rPr>
              <a:t>2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instruction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sets;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principal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difference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Cortex-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10" dirty="0">
                <a:latin typeface="Times New Roman"/>
                <a:cs typeface="Times New Roman"/>
              </a:rPr>
              <a:t> 32-</a:t>
            </a:r>
            <a:r>
              <a:rPr sz="1900" dirty="0">
                <a:latin typeface="Times New Roman"/>
                <a:cs typeface="Times New Roman"/>
              </a:rPr>
              <a:t>bit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machine,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the </a:t>
            </a:r>
            <a:r>
              <a:rPr sz="1900" spc="-10" dirty="0">
                <a:latin typeface="Times New Roman"/>
                <a:cs typeface="Times New Roman"/>
              </a:rPr>
              <a:t>Cortex-</a:t>
            </a:r>
            <a:r>
              <a:rPr sz="1900" dirty="0">
                <a:latin typeface="Times New Roman"/>
                <a:cs typeface="Times New Roman"/>
              </a:rPr>
              <a:t>A50 is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64-</a:t>
            </a:r>
            <a:r>
              <a:rPr sz="1900" dirty="0">
                <a:latin typeface="Times New Roman"/>
                <a:cs typeface="Times New Roman"/>
              </a:rPr>
              <a:t>bit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machine.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67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195" dirty="0"/>
              <a:t>Cortex-</a:t>
            </a:r>
            <a:r>
              <a:rPr sz="3600" spc="-50" dirty="0"/>
              <a:t>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0095" y="1109218"/>
            <a:ext cx="7705725" cy="38157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marR="264795" indent="-228600">
              <a:lnSpc>
                <a:spcPts val="1340"/>
              </a:lnSpc>
              <a:spcBef>
                <a:spcPts val="43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4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Cortex-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R</a:t>
            </a:r>
            <a:r>
              <a:rPr sz="14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14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85" dirty="0">
                <a:solidFill>
                  <a:srgbClr val="585858"/>
                </a:solidFill>
                <a:latin typeface="Cambria"/>
                <a:cs typeface="Cambria"/>
              </a:rPr>
              <a:t>designed</a:t>
            </a:r>
            <a:r>
              <a:rPr sz="14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4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support</a:t>
            </a:r>
            <a:r>
              <a:rPr sz="14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real-time</a:t>
            </a:r>
            <a:r>
              <a:rPr sz="14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applications,</a:t>
            </a:r>
            <a:r>
              <a:rPr sz="1400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4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which</a:t>
            </a:r>
            <a:r>
              <a:rPr sz="14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4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timing</a:t>
            </a:r>
            <a:r>
              <a:rPr sz="14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4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mbria"/>
                <a:cs typeface="Cambria"/>
              </a:rPr>
              <a:t>events 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needs</a:t>
            </a:r>
            <a:r>
              <a:rPr sz="14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25" dirty="0">
                <a:solidFill>
                  <a:srgbClr val="585858"/>
                </a:solidFill>
                <a:latin typeface="Cambria"/>
                <a:cs typeface="Cambria"/>
              </a:rPr>
              <a:t>be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controlled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with</a:t>
            </a:r>
            <a:r>
              <a:rPr sz="14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rapid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45" dirty="0">
                <a:solidFill>
                  <a:srgbClr val="585858"/>
                </a:solidFill>
                <a:latin typeface="Cambria"/>
                <a:cs typeface="Cambria"/>
              </a:rPr>
              <a:t>response</a:t>
            </a:r>
            <a:r>
              <a:rPr sz="1400" spc="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events.</a:t>
            </a:r>
            <a:r>
              <a:rPr sz="1400" spc="-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They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 can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run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at</a:t>
            </a:r>
            <a:r>
              <a:rPr sz="14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fairly</a:t>
            </a:r>
            <a:r>
              <a:rPr sz="14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high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clock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frequency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90" dirty="0">
                <a:solidFill>
                  <a:srgbClr val="585858"/>
                </a:solidFill>
                <a:latin typeface="Cambria"/>
                <a:cs typeface="Cambria"/>
              </a:rPr>
              <a:t>(e.g.,</a:t>
            </a:r>
            <a:r>
              <a:rPr sz="1400" spc="-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200MHz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800MHz)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and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have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 very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low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45" dirty="0">
                <a:solidFill>
                  <a:srgbClr val="585858"/>
                </a:solidFill>
                <a:latin typeface="Cambria"/>
                <a:cs typeface="Cambria"/>
              </a:rPr>
              <a:t>response</a:t>
            </a:r>
            <a:r>
              <a:rPr sz="1400" spc="4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mbria"/>
                <a:cs typeface="Cambria"/>
              </a:rPr>
              <a:t>latency.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Clr>
                <a:srgbClr val="663366"/>
              </a:buClr>
              <a:buFont typeface="Wingdings"/>
              <a:buChar char=""/>
            </a:pPr>
            <a:endParaRPr sz="1400">
              <a:latin typeface="Cambria"/>
              <a:cs typeface="Cambria"/>
            </a:endParaRPr>
          </a:p>
          <a:p>
            <a:pPr marL="240665" marR="576580" indent="-228600">
              <a:lnSpc>
                <a:spcPts val="1340"/>
              </a:lnSpc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The 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Cortex-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R</a:t>
            </a:r>
            <a:r>
              <a:rPr sz="1400" spc="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includes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 enhancements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both</a:t>
            </a:r>
            <a:r>
              <a:rPr sz="1400" spc="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4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instruction</a:t>
            </a:r>
            <a:r>
              <a:rPr sz="1400" spc="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set</a:t>
            </a:r>
            <a:r>
              <a:rPr sz="14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400" spc="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400" spc="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40" dirty="0">
                <a:solidFill>
                  <a:srgbClr val="585858"/>
                </a:solidFill>
                <a:latin typeface="Cambria"/>
                <a:cs typeface="Cambria"/>
              </a:rPr>
              <a:t>processor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organization</a:t>
            </a:r>
            <a:r>
              <a:rPr sz="14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400" spc="1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support</a:t>
            </a:r>
            <a:r>
              <a:rPr sz="14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85" dirty="0">
                <a:solidFill>
                  <a:srgbClr val="585858"/>
                </a:solidFill>
                <a:latin typeface="Cambria"/>
                <a:cs typeface="Cambria"/>
              </a:rPr>
              <a:t>deeply</a:t>
            </a:r>
            <a:r>
              <a:rPr sz="1400" spc="1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0" dirty="0">
                <a:solidFill>
                  <a:srgbClr val="585858"/>
                </a:solidFill>
                <a:latin typeface="Cambria"/>
                <a:cs typeface="Cambria"/>
              </a:rPr>
              <a:t>embedded</a:t>
            </a:r>
            <a:r>
              <a:rPr sz="14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real-time</a:t>
            </a:r>
            <a:r>
              <a:rPr sz="1400" spc="2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devices.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Clr>
                <a:srgbClr val="663366"/>
              </a:buClr>
              <a:buFont typeface="Wingdings"/>
              <a:buChar char=""/>
            </a:pPr>
            <a:endParaRPr sz="1400">
              <a:latin typeface="Cambria"/>
              <a:cs typeface="Cambria"/>
            </a:endParaRPr>
          </a:p>
          <a:p>
            <a:pPr marL="240665" marR="213995" indent="-228600">
              <a:lnSpc>
                <a:spcPts val="1340"/>
              </a:lnSpc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Most</a:t>
            </a:r>
            <a:r>
              <a:rPr sz="14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4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these</a:t>
            </a:r>
            <a:r>
              <a:rPr sz="14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processors</a:t>
            </a:r>
            <a:r>
              <a:rPr sz="14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80" dirty="0">
                <a:solidFill>
                  <a:srgbClr val="585858"/>
                </a:solidFill>
                <a:latin typeface="Cambria"/>
                <a:cs typeface="Cambria"/>
              </a:rPr>
              <a:t>do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not</a:t>
            </a:r>
            <a:r>
              <a:rPr sz="14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have</a:t>
            </a:r>
            <a:r>
              <a:rPr sz="14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MMU;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4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limited</a:t>
            </a:r>
            <a:r>
              <a:rPr sz="14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data</a:t>
            </a:r>
            <a:r>
              <a:rPr sz="14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requirements</a:t>
            </a:r>
            <a:r>
              <a:rPr sz="14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4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4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mbria"/>
                <a:cs typeface="Cambria"/>
              </a:rPr>
              <a:t>limited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number</a:t>
            </a:r>
            <a:r>
              <a:rPr sz="14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4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simultaneous</a:t>
            </a:r>
            <a:r>
              <a:rPr sz="14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processes</a:t>
            </a:r>
            <a:r>
              <a:rPr sz="14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eliminates</a:t>
            </a:r>
            <a:r>
              <a:rPr sz="14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4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need</a:t>
            </a:r>
            <a:r>
              <a:rPr sz="14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for</a:t>
            </a:r>
            <a:r>
              <a:rPr sz="14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elaborate</a:t>
            </a:r>
            <a:r>
              <a:rPr sz="14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hardware</a:t>
            </a:r>
            <a:r>
              <a:rPr sz="14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5" dirty="0">
                <a:solidFill>
                  <a:srgbClr val="585858"/>
                </a:solidFill>
                <a:latin typeface="Cambria"/>
                <a:cs typeface="Cambria"/>
              </a:rPr>
              <a:t>and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software</a:t>
            </a:r>
            <a:r>
              <a:rPr sz="1400" spc="1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support</a:t>
            </a:r>
            <a:r>
              <a:rPr sz="14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for</a:t>
            </a:r>
            <a:r>
              <a:rPr sz="1400" spc="2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virtual</a:t>
            </a:r>
            <a:r>
              <a:rPr sz="1400" spc="1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35" dirty="0">
                <a:solidFill>
                  <a:srgbClr val="585858"/>
                </a:solidFill>
                <a:latin typeface="Cambria"/>
                <a:cs typeface="Cambria"/>
              </a:rPr>
              <a:t>memory.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663366"/>
              </a:buClr>
              <a:buFont typeface="Wingdings"/>
              <a:buChar char=""/>
            </a:pPr>
            <a:endParaRPr sz="1400">
              <a:latin typeface="Cambria"/>
              <a:cs typeface="Cambria"/>
            </a:endParaRPr>
          </a:p>
          <a:p>
            <a:pPr marL="240665" marR="5080" indent="-228600">
              <a:lnSpc>
                <a:spcPct val="80000"/>
              </a:lnSpc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4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Cortex-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R</a:t>
            </a:r>
            <a:r>
              <a:rPr sz="14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does</a:t>
            </a:r>
            <a:r>
              <a:rPr sz="14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have</a:t>
            </a:r>
            <a:r>
              <a:rPr sz="14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4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Memory</a:t>
            </a:r>
            <a:r>
              <a:rPr sz="14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Protection</a:t>
            </a:r>
            <a:r>
              <a:rPr sz="14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Unit</a:t>
            </a:r>
            <a:r>
              <a:rPr sz="14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(MPU),</a:t>
            </a:r>
            <a:r>
              <a:rPr sz="1400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80" dirty="0">
                <a:solidFill>
                  <a:srgbClr val="585858"/>
                </a:solidFill>
                <a:latin typeface="Cambria"/>
                <a:cs typeface="Cambria"/>
              </a:rPr>
              <a:t>cache,</a:t>
            </a:r>
            <a:r>
              <a:rPr sz="1400" spc="-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4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other</a:t>
            </a:r>
            <a:r>
              <a:rPr sz="14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memory</a:t>
            </a:r>
            <a:r>
              <a:rPr sz="1400" spc="500" dirty="0">
                <a:solidFill>
                  <a:srgbClr val="585858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features</a:t>
            </a:r>
            <a:r>
              <a:rPr sz="14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85" dirty="0">
                <a:solidFill>
                  <a:srgbClr val="585858"/>
                </a:solidFill>
                <a:latin typeface="Cambria"/>
                <a:cs typeface="Cambria"/>
              </a:rPr>
              <a:t>designed</a:t>
            </a:r>
            <a:r>
              <a:rPr sz="14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for</a:t>
            </a:r>
            <a:r>
              <a:rPr sz="14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industrial</a:t>
            </a:r>
            <a:r>
              <a:rPr sz="14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applications.</a:t>
            </a:r>
            <a:r>
              <a:rPr sz="1400" spc="-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An</a:t>
            </a:r>
            <a:r>
              <a:rPr sz="14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MPU</a:t>
            </a:r>
            <a:r>
              <a:rPr sz="14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14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4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hardware</a:t>
            </a:r>
            <a:r>
              <a:rPr sz="14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module</a:t>
            </a:r>
            <a:r>
              <a:rPr sz="14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14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mbria"/>
                <a:cs typeface="Cambria"/>
              </a:rPr>
              <a:t>prohibits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one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program</a:t>
            </a:r>
            <a:r>
              <a:rPr sz="14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4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memory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from</a:t>
            </a:r>
            <a:r>
              <a:rPr sz="14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accidentally</a:t>
            </a:r>
            <a:r>
              <a:rPr sz="14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80" dirty="0">
                <a:solidFill>
                  <a:srgbClr val="585858"/>
                </a:solidFill>
                <a:latin typeface="Cambria"/>
                <a:cs typeface="Cambria"/>
              </a:rPr>
              <a:t>accessing</a:t>
            </a:r>
            <a:r>
              <a:rPr sz="1400" spc="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memory 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assigned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4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another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mbria"/>
                <a:cs typeface="Cambria"/>
              </a:rPr>
              <a:t>active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program.</a:t>
            </a:r>
            <a:r>
              <a:rPr sz="1400" spc="-1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Using</a:t>
            </a:r>
            <a:r>
              <a:rPr sz="14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various</a:t>
            </a:r>
            <a:r>
              <a:rPr sz="14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methods,</a:t>
            </a:r>
            <a:r>
              <a:rPr sz="1400" spc="-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4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protective</a:t>
            </a:r>
            <a:r>
              <a:rPr sz="14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boundary</a:t>
            </a:r>
            <a:r>
              <a:rPr sz="14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14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created</a:t>
            </a:r>
            <a:r>
              <a:rPr sz="14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around</a:t>
            </a:r>
            <a:r>
              <a:rPr sz="14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4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program,</a:t>
            </a:r>
            <a:r>
              <a:rPr sz="1400" spc="-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5" dirty="0">
                <a:solidFill>
                  <a:srgbClr val="585858"/>
                </a:solidFill>
                <a:latin typeface="Cambria"/>
                <a:cs typeface="Cambria"/>
              </a:rPr>
              <a:t>and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instructions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585858"/>
                </a:solidFill>
                <a:latin typeface="Cambria"/>
                <a:cs typeface="Cambria"/>
              </a:rPr>
              <a:t>within</a:t>
            </a:r>
            <a:r>
              <a:rPr sz="14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program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are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prohibited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from</a:t>
            </a:r>
            <a:r>
              <a:rPr sz="14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referencing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data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outside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2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585858"/>
                </a:solidFill>
                <a:latin typeface="Cambria"/>
                <a:cs typeface="Cambria"/>
              </a:rPr>
              <a:t>that </a:t>
            </a:r>
            <a:r>
              <a:rPr sz="1400" spc="40" dirty="0">
                <a:solidFill>
                  <a:srgbClr val="585858"/>
                </a:solidFill>
                <a:latin typeface="Cambria"/>
                <a:cs typeface="Cambria"/>
              </a:rPr>
              <a:t>boundary.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45"/>
              </a:spcBef>
              <a:buClr>
                <a:srgbClr val="663366"/>
              </a:buClr>
              <a:buFont typeface="Wingdings"/>
              <a:buChar char=""/>
            </a:pPr>
            <a:endParaRPr sz="1400">
              <a:latin typeface="Cambria"/>
              <a:cs typeface="Cambria"/>
            </a:endParaRPr>
          </a:p>
          <a:p>
            <a:pPr marL="240665" marR="563880" indent="-228600">
              <a:lnSpc>
                <a:spcPts val="1340"/>
              </a:lnSpc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Examples</a:t>
            </a:r>
            <a:r>
              <a:rPr sz="14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4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100" dirty="0">
                <a:solidFill>
                  <a:srgbClr val="585858"/>
                </a:solidFill>
                <a:latin typeface="Cambria"/>
                <a:cs typeface="Cambria"/>
              </a:rPr>
              <a:t>embedded</a:t>
            </a:r>
            <a:r>
              <a:rPr sz="14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systems</a:t>
            </a:r>
            <a:r>
              <a:rPr sz="14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14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would</a:t>
            </a:r>
            <a:r>
              <a:rPr sz="14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585858"/>
                </a:solidFill>
                <a:latin typeface="Cambria"/>
                <a:cs typeface="Cambria"/>
              </a:rPr>
              <a:t>use</a:t>
            </a:r>
            <a:r>
              <a:rPr sz="14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4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Cortex-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R</a:t>
            </a:r>
            <a:r>
              <a:rPr sz="14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are</a:t>
            </a:r>
            <a:r>
              <a:rPr sz="14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automotive</a:t>
            </a:r>
            <a:r>
              <a:rPr sz="14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braking systems,</a:t>
            </a:r>
            <a:r>
              <a:rPr sz="1400" spc="-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mass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45" dirty="0">
                <a:solidFill>
                  <a:srgbClr val="585858"/>
                </a:solidFill>
                <a:latin typeface="Cambria"/>
                <a:cs typeface="Cambria"/>
              </a:rPr>
              <a:t>storage</a:t>
            </a:r>
            <a:r>
              <a:rPr sz="14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controllers,</a:t>
            </a:r>
            <a:r>
              <a:rPr sz="1400" spc="-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networking</a:t>
            </a:r>
            <a:r>
              <a:rPr sz="14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4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30" dirty="0">
                <a:solidFill>
                  <a:srgbClr val="585858"/>
                </a:solidFill>
                <a:latin typeface="Cambria"/>
                <a:cs typeface="Cambria"/>
              </a:rPr>
              <a:t>printing</a:t>
            </a:r>
            <a:r>
              <a:rPr sz="14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devices.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311" y="281940"/>
            <a:ext cx="641985" cy="1600200"/>
          </a:xfrm>
          <a:custGeom>
            <a:avLst/>
            <a:gdLst/>
            <a:ahLst/>
            <a:cxnLst/>
            <a:rect l="l" t="t" r="r" b="b"/>
            <a:pathLst>
              <a:path w="641984" h="1600200">
                <a:moveTo>
                  <a:pt x="641603" y="0"/>
                </a:moveTo>
                <a:lnTo>
                  <a:pt x="0" y="0"/>
                </a:lnTo>
                <a:lnTo>
                  <a:pt x="0" y="1600199"/>
                </a:lnTo>
                <a:lnTo>
                  <a:pt x="641603" y="1600199"/>
                </a:lnTo>
                <a:lnTo>
                  <a:pt x="641603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8056" y="28194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40" y="0"/>
                </a:moveTo>
                <a:lnTo>
                  <a:pt x="0" y="0"/>
                </a:lnTo>
                <a:lnTo>
                  <a:pt x="0" y="1600199"/>
                </a:lnTo>
                <a:lnTo>
                  <a:pt x="91440" y="1600199"/>
                </a:lnTo>
                <a:lnTo>
                  <a:pt x="91440" y="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82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195" dirty="0"/>
              <a:t>Cortex-</a:t>
            </a:r>
            <a:r>
              <a:rPr sz="3600" spc="204" dirty="0"/>
              <a:t>M</a:t>
            </a:r>
            <a:r>
              <a:rPr sz="3600" spc="114" dirty="0"/>
              <a:t> </a:t>
            </a:r>
            <a:r>
              <a:rPr sz="3600" spc="130" dirty="0"/>
              <a:t>series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6334" y="1103122"/>
            <a:ext cx="7891780" cy="470789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480"/>
              </a:spcBef>
            </a:pPr>
            <a:r>
              <a:rPr sz="1600" spc="-10" dirty="0">
                <a:latin typeface="Times New Roman"/>
                <a:cs typeface="Times New Roman"/>
              </a:rPr>
              <a:t>Cortex-</a:t>
            </a:r>
            <a:r>
              <a:rPr sz="1600" dirty="0">
                <a:latin typeface="Times New Roman"/>
                <a:cs typeface="Times New Roman"/>
              </a:rPr>
              <a:t>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series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processors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been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developed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primarily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microcontroller </a:t>
            </a:r>
            <a:r>
              <a:rPr sz="1600" spc="-10" dirty="0">
                <a:latin typeface="Times New Roman"/>
                <a:cs typeface="Times New Roman"/>
              </a:rPr>
              <a:t>domain</a:t>
            </a:r>
            <a:r>
              <a:rPr sz="1600" spc="5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where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fast,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highly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deterministic interrupt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management is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coupled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desire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for </a:t>
            </a:r>
            <a:r>
              <a:rPr sz="1600" dirty="0">
                <a:latin typeface="Times New Roman"/>
                <a:cs typeface="Times New Roman"/>
              </a:rPr>
              <a:t>extremely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low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gate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count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lowest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possible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power</a:t>
            </a:r>
            <a:r>
              <a:rPr sz="1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consumption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Cortex-</a:t>
            </a:r>
            <a:r>
              <a:rPr sz="1600" dirty="0">
                <a:latin typeface="Times New Roman"/>
                <a:cs typeface="Times New Roman"/>
              </a:rPr>
              <a:t>R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series,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Cortex-</a:t>
            </a:r>
            <a:r>
              <a:rPr sz="1600" dirty="0">
                <a:latin typeface="Times New Roman"/>
                <a:cs typeface="Times New Roman"/>
              </a:rPr>
              <a:t>M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architecture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MPU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MMU.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market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Cortex-</a:t>
            </a:r>
            <a:r>
              <a:rPr sz="1600" dirty="0">
                <a:latin typeface="Times New Roman"/>
                <a:cs typeface="Times New Roman"/>
              </a:rPr>
              <a:t>M includes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IoT </a:t>
            </a:r>
            <a:r>
              <a:rPr sz="1600" dirty="0">
                <a:latin typeface="Times New Roman"/>
                <a:cs typeface="Times New Roman"/>
              </a:rPr>
              <a:t>devices,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wireless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sensor/actuator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networks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factories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other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enterprises,</a:t>
            </a:r>
            <a:r>
              <a:rPr sz="1600" spc="-10" dirty="0">
                <a:latin typeface="Times New Roman"/>
                <a:cs typeface="Times New Roman"/>
              </a:rPr>
              <a:t> automotive </a:t>
            </a:r>
            <a:r>
              <a:rPr sz="1600" dirty="0">
                <a:latin typeface="Times New Roman"/>
                <a:cs typeface="Times New Roman"/>
              </a:rPr>
              <a:t>body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electronics, 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on.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dirty="0">
                <a:latin typeface="Times New Roman"/>
                <a:cs typeface="Times New Roman"/>
              </a:rPr>
              <a:t>There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currently four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versions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Cortex-</a:t>
            </a:r>
            <a:r>
              <a:rPr sz="1600" dirty="0">
                <a:latin typeface="Times New Roman"/>
                <a:cs typeface="Times New Roman"/>
              </a:rPr>
              <a:t>M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series:</a:t>
            </a:r>
            <a:endParaRPr sz="1600">
              <a:latin typeface="Times New Roman"/>
              <a:cs typeface="Times New Roman"/>
            </a:endParaRPr>
          </a:p>
          <a:p>
            <a:pPr marL="186055" indent="-173355">
              <a:lnSpc>
                <a:spcPct val="100000"/>
              </a:lnSpc>
              <a:spcBef>
                <a:spcPts val="195"/>
              </a:spcBef>
              <a:buFont typeface="Times New Roman"/>
              <a:buChar char="■"/>
              <a:tabLst>
                <a:tab pos="186055" algn="l"/>
              </a:tabLst>
            </a:pPr>
            <a:r>
              <a:rPr sz="1600" spc="-10" dirty="0">
                <a:latin typeface="Times New Roman"/>
                <a:cs typeface="Times New Roman"/>
              </a:rPr>
              <a:t>Cortex-</a:t>
            </a:r>
            <a:r>
              <a:rPr sz="1600" dirty="0">
                <a:latin typeface="Times New Roman"/>
                <a:cs typeface="Times New Roman"/>
              </a:rPr>
              <a:t>M0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  <a:p>
            <a:pPr marL="12700" marR="219075">
              <a:lnSpc>
                <a:spcPts val="1540"/>
              </a:lnSpc>
              <a:spcBef>
                <a:spcPts val="560"/>
              </a:spcBef>
            </a:pPr>
            <a:r>
              <a:rPr sz="1600" dirty="0">
                <a:latin typeface="Times New Roman"/>
                <a:cs typeface="Times New Roman"/>
              </a:rPr>
              <a:t>Designed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8-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16-</a:t>
            </a:r>
            <a:r>
              <a:rPr sz="1600" dirty="0">
                <a:latin typeface="Times New Roman"/>
                <a:cs typeface="Times New Roman"/>
              </a:rPr>
              <a:t>bit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applications,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emphasizes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low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cost,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ultra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low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power,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and </a:t>
            </a:r>
            <a:r>
              <a:rPr sz="1600" spc="-10" dirty="0">
                <a:latin typeface="Times New Roman"/>
                <a:cs typeface="Times New Roman"/>
              </a:rPr>
              <a:t>simplicity.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optimized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small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silicon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size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(starting from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12k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gates)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lowest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cost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chips.</a:t>
            </a:r>
            <a:endParaRPr sz="1600">
              <a:latin typeface="Times New Roman"/>
              <a:cs typeface="Times New Roman"/>
            </a:endParaRPr>
          </a:p>
          <a:p>
            <a:pPr marL="185420" indent="-172720">
              <a:lnSpc>
                <a:spcPct val="100000"/>
              </a:lnSpc>
              <a:spcBef>
                <a:spcPts val="195"/>
              </a:spcBef>
              <a:buFont typeface="Times New Roman"/>
              <a:buChar char="■"/>
              <a:tabLst>
                <a:tab pos="185420" algn="l"/>
              </a:tabLst>
            </a:pPr>
            <a:r>
              <a:rPr sz="1600" spc="-10" dirty="0">
                <a:latin typeface="Times New Roman"/>
                <a:cs typeface="Times New Roman"/>
              </a:rPr>
              <a:t>Cortex-</a:t>
            </a:r>
            <a:r>
              <a:rPr sz="1600" dirty="0">
                <a:latin typeface="Times New Roman"/>
                <a:cs typeface="Times New Roman"/>
              </a:rPr>
              <a:t>M0</a:t>
            </a:r>
            <a:r>
              <a:rPr sz="1600" b="1" dirty="0">
                <a:latin typeface="Times New Roman"/>
                <a:cs typeface="Times New Roman"/>
              </a:rPr>
              <a:t>+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enhanced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version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M0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 energy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efficient.</a:t>
            </a:r>
            <a:endParaRPr sz="1600">
              <a:latin typeface="Times New Roman"/>
              <a:cs typeface="Times New Roman"/>
            </a:endParaRPr>
          </a:p>
          <a:p>
            <a:pPr marL="185420" indent="-172720">
              <a:lnSpc>
                <a:spcPct val="100000"/>
              </a:lnSpc>
              <a:spcBef>
                <a:spcPts val="195"/>
              </a:spcBef>
              <a:buFont typeface="Times New Roman"/>
              <a:buChar char="■"/>
              <a:tabLst>
                <a:tab pos="185420" algn="l"/>
              </a:tabLst>
            </a:pPr>
            <a:r>
              <a:rPr sz="1600" spc="-10" dirty="0">
                <a:latin typeface="Times New Roman"/>
                <a:cs typeface="Times New Roman"/>
              </a:rPr>
              <a:t>Cortex-</a:t>
            </a:r>
            <a:r>
              <a:rPr sz="1600" dirty="0">
                <a:latin typeface="Times New Roman"/>
                <a:cs typeface="Times New Roman"/>
              </a:rPr>
              <a:t>M3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  <a:p>
            <a:pPr marL="12700" marR="603885">
              <a:lnSpc>
                <a:spcPts val="1540"/>
              </a:lnSpc>
              <a:spcBef>
                <a:spcPts val="560"/>
              </a:spcBef>
            </a:pPr>
            <a:r>
              <a:rPr sz="1600" dirty="0">
                <a:latin typeface="Times New Roman"/>
                <a:cs typeface="Times New Roman"/>
              </a:rPr>
              <a:t>Designed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16-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32-</a:t>
            </a:r>
            <a:r>
              <a:rPr sz="1600" dirty="0">
                <a:latin typeface="Times New Roman"/>
                <a:cs typeface="Times New Roman"/>
              </a:rPr>
              <a:t>bit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applications,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emphasizes performance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energy efficiency.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also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comprehensive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debug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trace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600" dirty="0">
                <a:latin typeface="Times New Roman"/>
                <a:cs typeface="Times New Roman"/>
              </a:rPr>
              <a:t>features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enable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software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developers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develop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their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applications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quickly.</a:t>
            </a:r>
            <a:endParaRPr sz="1600">
              <a:latin typeface="Times New Roman"/>
              <a:cs typeface="Times New Roman"/>
            </a:endParaRPr>
          </a:p>
          <a:p>
            <a:pPr marL="186055" indent="-173355">
              <a:lnSpc>
                <a:spcPct val="100000"/>
              </a:lnSpc>
              <a:spcBef>
                <a:spcPts val="190"/>
              </a:spcBef>
              <a:buFont typeface="Times New Roman"/>
              <a:buChar char="■"/>
              <a:tabLst>
                <a:tab pos="186055" algn="l"/>
              </a:tabLst>
            </a:pPr>
            <a:r>
              <a:rPr sz="1600" spc="-10" dirty="0">
                <a:latin typeface="Times New Roman"/>
                <a:cs typeface="Times New Roman"/>
              </a:rPr>
              <a:t>Cortex-</a:t>
            </a:r>
            <a:r>
              <a:rPr sz="1600" dirty="0">
                <a:latin typeface="Times New Roman"/>
                <a:cs typeface="Times New Roman"/>
              </a:rPr>
              <a:t>M4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  <a:p>
            <a:pPr marL="12700" marR="264160">
              <a:lnSpc>
                <a:spcPts val="1540"/>
              </a:lnSpc>
              <a:spcBef>
                <a:spcPts val="560"/>
              </a:spcBef>
            </a:pP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provides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features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Cortex-M3,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additional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instructions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support </a:t>
            </a:r>
            <a:r>
              <a:rPr sz="1600" dirty="0">
                <a:latin typeface="Times New Roman"/>
                <a:cs typeface="Times New Roman"/>
              </a:rPr>
              <a:t>digital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signal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processing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tasks.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27662" y="2917647"/>
            <a:ext cx="6567170" cy="3156585"/>
            <a:chOff x="1027662" y="2917647"/>
            <a:chExt cx="6567170" cy="3156585"/>
          </a:xfrm>
        </p:grpSpPr>
        <p:sp>
          <p:nvSpPr>
            <p:cNvPr id="4" name="object 4"/>
            <p:cNvSpPr/>
            <p:nvPr/>
          </p:nvSpPr>
          <p:spPr>
            <a:xfrm>
              <a:off x="1042902" y="4541403"/>
              <a:ext cx="3173095" cy="1517650"/>
            </a:xfrm>
            <a:custGeom>
              <a:avLst/>
              <a:gdLst/>
              <a:ahLst/>
              <a:cxnLst/>
              <a:rect l="l" t="t" r="r" b="b"/>
              <a:pathLst>
                <a:path w="3173095" h="1517650">
                  <a:moveTo>
                    <a:pt x="2939571" y="0"/>
                  </a:moveTo>
                  <a:lnTo>
                    <a:pt x="233278" y="0"/>
                  </a:lnTo>
                  <a:lnTo>
                    <a:pt x="179885" y="4021"/>
                  </a:lnTo>
                  <a:lnTo>
                    <a:pt x="130820" y="15468"/>
                  </a:lnTo>
                  <a:lnTo>
                    <a:pt x="87501" y="33411"/>
                  </a:lnTo>
                  <a:lnTo>
                    <a:pt x="51343" y="56922"/>
                  </a:lnTo>
                  <a:lnTo>
                    <a:pt x="23763" y="85074"/>
                  </a:lnTo>
                  <a:lnTo>
                    <a:pt x="0" y="151587"/>
                  </a:lnTo>
                  <a:lnTo>
                    <a:pt x="0" y="1365621"/>
                  </a:lnTo>
                  <a:lnTo>
                    <a:pt x="23763" y="1432464"/>
                  </a:lnTo>
                  <a:lnTo>
                    <a:pt x="51343" y="1460642"/>
                  </a:lnTo>
                  <a:lnTo>
                    <a:pt x="87501" y="1484125"/>
                  </a:lnTo>
                  <a:lnTo>
                    <a:pt x="130820" y="1502013"/>
                  </a:lnTo>
                  <a:lnTo>
                    <a:pt x="179885" y="1513405"/>
                  </a:lnTo>
                  <a:lnTo>
                    <a:pt x="233278" y="1517403"/>
                  </a:lnTo>
                  <a:lnTo>
                    <a:pt x="2939571" y="1517403"/>
                  </a:lnTo>
                  <a:lnTo>
                    <a:pt x="2993167" y="1513405"/>
                  </a:lnTo>
                  <a:lnTo>
                    <a:pt x="3042307" y="1502013"/>
                  </a:lnTo>
                  <a:lnTo>
                    <a:pt x="3085610" y="1484125"/>
                  </a:lnTo>
                  <a:lnTo>
                    <a:pt x="3121694" y="1460642"/>
                  </a:lnTo>
                  <a:lnTo>
                    <a:pt x="3149179" y="1432464"/>
                  </a:lnTo>
                  <a:lnTo>
                    <a:pt x="3172824" y="1365621"/>
                  </a:lnTo>
                  <a:lnTo>
                    <a:pt x="3172824" y="151587"/>
                  </a:lnTo>
                  <a:lnTo>
                    <a:pt x="3149179" y="85074"/>
                  </a:lnTo>
                  <a:lnTo>
                    <a:pt x="3121694" y="56922"/>
                  </a:lnTo>
                  <a:lnTo>
                    <a:pt x="3085610" y="33411"/>
                  </a:lnTo>
                  <a:lnTo>
                    <a:pt x="3042307" y="15468"/>
                  </a:lnTo>
                  <a:lnTo>
                    <a:pt x="2993167" y="4021"/>
                  </a:lnTo>
                  <a:lnTo>
                    <a:pt x="293957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2902" y="4541403"/>
              <a:ext cx="3173095" cy="1517650"/>
            </a:xfrm>
            <a:custGeom>
              <a:avLst/>
              <a:gdLst/>
              <a:ahLst/>
              <a:cxnLst/>
              <a:rect l="l" t="t" r="r" b="b"/>
              <a:pathLst>
                <a:path w="3173095" h="1517650">
                  <a:moveTo>
                    <a:pt x="3172824" y="1365621"/>
                  </a:moveTo>
                  <a:lnTo>
                    <a:pt x="3166683" y="1400490"/>
                  </a:lnTo>
                  <a:lnTo>
                    <a:pt x="3149179" y="1432464"/>
                  </a:lnTo>
                  <a:lnTo>
                    <a:pt x="3121694" y="1460642"/>
                  </a:lnTo>
                  <a:lnTo>
                    <a:pt x="3085610" y="1484125"/>
                  </a:lnTo>
                  <a:lnTo>
                    <a:pt x="3042307" y="1502013"/>
                  </a:lnTo>
                  <a:lnTo>
                    <a:pt x="2993167" y="1513405"/>
                  </a:lnTo>
                  <a:lnTo>
                    <a:pt x="2939571" y="1517403"/>
                  </a:lnTo>
                  <a:lnTo>
                    <a:pt x="233278" y="1517403"/>
                  </a:lnTo>
                  <a:lnTo>
                    <a:pt x="179885" y="1513405"/>
                  </a:lnTo>
                  <a:lnTo>
                    <a:pt x="130820" y="1502013"/>
                  </a:lnTo>
                  <a:lnTo>
                    <a:pt x="87501" y="1484125"/>
                  </a:lnTo>
                  <a:lnTo>
                    <a:pt x="51343" y="1460642"/>
                  </a:lnTo>
                  <a:lnTo>
                    <a:pt x="23763" y="1432464"/>
                  </a:lnTo>
                  <a:lnTo>
                    <a:pt x="0" y="1365621"/>
                  </a:lnTo>
                  <a:lnTo>
                    <a:pt x="0" y="151587"/>
                  </a:lnTo>
                  <a:lnTo>
                    <a:pt x="23763" y="85074"/>
                  </a:lnTo>
                  <a:lnTo>
                    <a:pt x="51343" y="56922"/>
                  </a:lnTo>
                  <a:lnTo>
                    <a:pt x="87501" y="33411"/>
                  </a:lnTo>
                  <a:lnTo>
                    <a:pt x="130820" y="15468"/>
                  </a:lnTo>
                  <a:lnTo>
                    <a:pt x="179885" y="4021"/>
                  </a:lnTo>
                  <a:lnTo>
                    <a:pt x="233278" y="0"/>
                  </a:lnTo>
                  <a:lnTo>
                    <a:pt x="2939571" y="0"/>
                  </a:lnTo>
                  <a:lnTo>
                    <a:pt x="2993167" y="4021"/>
                  </a:lnTo>
                  <a:lnTo>
                    <a:pt x="3042307" y="15468"/>
                  </a:lnTo>
                  <a:lnTo>
                    <a:pt x="3085610" y="33411"/>
                  </a:lnTo>
                  <a:lnTo>
                    <a:pt x="3121694" y="56922"/>
                  </a:lnTo>
                  <a:lnTo>
                    <a:pt x="3149179" y="85074"/>
                  </a:lnTo>
                  <a:lnTo>
                    <a:pt x="3172824" y="151587"/>
                  </a:lnTo>
                  <a:lnTo>
                    <a:pt x="3172824" y="1365621"/>
                  </a:lnTo>
                  <a:close/>
                </a:path>
              </a:pathLst>
            </a:custGeom>
            <a:ln w="27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15726" y="2932887"/>
              <a:ext cx="3363595" cy="1609090"/>
            </a:xfrm>
            <a:custGeom>
              <a:avLst/>
              <a:gdLst/>
              <a:ahLst/>
              <a:cxnLst/>
              <a:rect l="l" t="t" r="r" b="b"/>
              <a:pathLst>
                <a:path w="3363595" h="1609089">
                  <a:moveTo>
                    <a:pt x="3116556" y="0"/>
                  </a:moveTo>
                  <a:lnTo>
                    <a:pt x="247750" y="0"/>
                  </a:lnTo>
                  <a:lnTo>
                    <a:pt x="190905" y="4257"/>
                  </a:lnTo>
                  <a:lnTo>
                    <a:pt x="138743" y="16384"/>
                  </a:lnTo>
                  <a:lnTo>
                    <a:pt x="92744" y="35413"/>
                  </a:lnTo>
                  <a:lnTo>
                    <a:pt x="54390" y="60375"/>
                  </a:lnTo>
                  <a:lnTo>
                    <a:pt x="25160" y="90304"/>
                  </a:lnTo>
                  <a:lnTo>
                    <a:pt x="6536" y="124231"/>
                  </a:lnTo>
                  <a:lnTo>
                    <a:pt x="0" y="161188"/>
                  </a:lnTo>
                  <a:lnTo>
                    <a:pt x="0" y="1447748"/>
                  </a:lnTo>
                  <a:lnTo>
                    <a:pt x="25160" y="1518401"/>
                  </a:lnTo>
                  <a:lnTo>
                    <a:pt x="54390" y="1548253"/>
                  </a:lnTo>
                  <a:lnTo>
                    <a:pt x="92744" y="1573162"/>
                  </a:lnTo>
                  <a:lnTo>
                    <a:pt x="138743" y="1592156"/>
                  </a:lnTo>
                  <a:lnTo>
                    <a:pt x="190905" y="1604264"/>
                  </a:lnTo>
                  <a:lnTo>
                    <a:pt x="247750" y="1608515"/>
                  </a:lnTo>
                  <a:lnTo>
                    <a:pt x="3116556" y="1608515"/>
                  </a:lnTo>
                  <a:lnTo>
                    <a:pt x="3173147" y="1604264"/>
                  </a:lnTo>
                  <a:lnTo>
                    <a:pt x="3225100" y="1592156"/>
                  </a:lnTo>
                  <a:lnTo>
                    <a:pt x="3270933" y="1573162"/>
                  </a:lnTo>
                  <a:lnTo>
                    <a:pt x="3309163" y="1548253"/>
                  </a:lnTo>
                  <a:lnTo>
                    <a:pt x="3338306" y="1518401"/>
                  </a:lnTo>
                  <a:lnTo>
                    <a:pt x="3356880" y="1484576"/>
                  </a:lnTo>
                  <a:lnTo>
                    <a:pt x="3363400" y="1447748"/>
                  </a:lnTo>
                  <a:lnTo>
                    <a:pt x="3363400" y="161188"/>
                  </a:lnTo>
                  <a:lnTo>
                    <a:pt x="3338306" y="90304"/>
                  </a:lnTo>
                  <a:lnTo>
                    <a:pt x="3309163" y="60375"/>
                  </a:lnTo>
                  <a:lnTo>
                    <a:pt x="3270933" y="35413"/>
                  </a:lnTo>
                  <a:lnTo>
                    <a:pt x="3225100" y="16384"/>
                  </a:lnTo>
                  <a:lnTo>
                    <a:pt x="3173147" y="4257"/>
                  </a:lnTo>
                  <a:lnTo>
                    <a:pt x="3116556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15726" y="2932887"/>
              <a:ext cx="3363595" cy="1609090"/>
            </a:xfrm>
            <a:custGeom>
              <a:avLst/>
              <a:gdLst/>
              <a:ahLst/>
              <a:cxnLst/>
              <a:rect l="l" t="t" r="r" b="b"/>
              <a:pathLst>
                <a:path w="3363595" h="1609089">
                  <a:moveTo>
                    <a:pt x="3363400" y="1447748"/>
                  </a:moveTo>
                  <a:lnTo>
                    <a:pt x="3356880" y="1484576"/>
                  </a:lnTo>
                  <a:lnTo>
                    <a:pt x="3338306" y="1518401"/>
                  </a:lnTo>
                  <a:lnTo>
                    <a:pt x="3309163" y="1548253"/>
                  </a:lnTo>
                  <a:lnTo>
                    <a:pt x="3270933" y="1573162"/>
                  </a:lnTo>
                  <a:lnTo>
                    <a:pt x="3225100" y="1592156"/>
                  </a:lnTo>
                  <a:lnTo>
                    <a:pt x="3173147" y="1604264"/>
                  </a:lnTo>
                  <a:lnTo>
                    <a:pt x="3116556" y="1608515"/>
                  </a:lnTo>
                  <a:lnTo>
                    <a:pt x="247750" y="1608515"/>
                  </a:lnTo>
                  <a:lnTo>
                    <a:pt x="190905" y="1604264"/>
                  </a:lnTo>
                  <a:lnTo>
                    <a:pt x="138743" y="1592156"/>
                  </a:lnTo>
                  <a:lnTo>
                    <a:pt x="92744" y="1573162"/>
                  </a:lnTo>
                  <a:lnTo>
                    <a:pt x="54390" y="1548253"/>
                  </a:lnTo>
                  <a:lnTo>
                    <a:pt x="25160" y="1518401"/>
                  </a:lnTo>
                  <a:lnTo>
                    <a:pt x="6536" y="1484576"/>
                  </a:lnTo>
                  <a:lnTo>
                    <a:pt x="0" y="1447748"/>
                  </a:lnTo>
                  <a:lnTo>
                    <a:pt x="0" y="161188"/>
                  </a:lnTo>
                  <a:lnTo>
                    <a:pt x="25160" y="90304"/>
                  </a:lnTo>
                  <a:lnTo>
                    <a:pt x="54390" y="60375"/>
                  </a:lnTo>
                  <a:lnTo>
                    <a:pt x="92744" y="35413"/>
                  </a:lnTo>
                  <a:lnTo>
                    <a:pt x="138743" y="16384"/>
                  </a:lnTo>
                  <a:lnTo>
                    <a:pt x="190905" y="4257"/>
                  </a:lnTo>
                  <a:lnTo>
                    <a:pt x="247750" y="0"/>
                  </a:lnTo>
                  <a:lnTo>
                    <a:pt x="3116556" y="0"/>
                  </a:lnTo>
                  <a:lnTo>
                    <a:pt x="3173147" y="4257"/>
                  </a:lnTo>
                  <a:lnTo>
                    <a:pt x="3225100" y="16384"/>
                  </a:lnTo>
                  <a:lnTo>
                    <a:pt x="3270933" y="35413"/>
                  </a:lnTo>
                  <a:lnTo>
                    <a:pt x="3309163" y="60375"/>
                  </a:lnTo>
                  <a:lnTo>
                    <a:pt x="3338306" y="90304"/>
                  </a:lnTo>
                  <a:lnTo>
                    <a:pt x="3356880" y="124231"/>
                  </a:lnTo>
                  <a:lnTo>
                    <a:pt x="3363400" y="161188"/>
                  </a:lnTo>
                  <a:lnTo>
                    <a:pt x="3363400" y="1447748"/>
                  </a:lnTo>
                  <a:close/>
                </a:path>
              </a:pathLst>
            </a:custGeom>
            <a:ln w="27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47799" y="6102337"/>
            <a:ext cx="62890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285" dirty="0">
                <a:latin typeface="Times New Roman"/>
                <a:cs typeface="Times New Roman"/>
              </a:rPr>
              <a:t>Figure</a:t>
            </a:r>
            <a:r>
              <a:rPr sz="1200" b="1" spc="155" dirty="0">
                <a:latin typeface="Times New Roman"/>
                <a:cs typeface="Times New Roman"/>
              </a:rPr>
              <a:t> </a:t>
            </a:r>
            <a:r>
              <a:rPr sz="1200" b="1" spc="270" dirty="0">
                <a:latin typeface="Times New Roman"/>
                <a:cs typeface="Times New Roman"/>
              </a:rPr>
              <a:t>1.16</a:t>
            </a:r>
            <a:r>
              <a:rPr sz="1200" b="1" spc="170" dirty="0">
                <a:latin typeface="Times New Roman"/>
                <a:cs typeface="Times New Roman"/>
              </a:rPr>
              <a:t>  </a:t>
            </a:r>
            <a:r>
              <a:rPr sz="1200" b="1" spc="265" dirty="0">
                <a:latin typeface="Times New Roman"/>
                <a:cs typeface="Times New Roman"/>
              </a:rPr>
              <a:t>Typical</a:t>
            </a:r>
            <a:r>
              <a:rPr sz="1200" b="1" spc="160" dirty="0">
                <a:latin typeface="Times New Roman"/>
                <a:cs typeface="Times New Roman"/>
              </a:rPr>
              <a:t> </a:t>
            </a:r>
            <a:r>
              <a:rPr sz="1200" b="1" spc="280" dirty="0">
                <a:latin typeface="Times New Roman"/>
                <a:cs typeface="Times New Roman"/>
              </a:rPr>
              <a:t>Microcontroller</a:t>
            </a:r>
            <a:r>
              <a:rPr sz="1200" b="1" spc="140" dirty="0">
                <a:latin typeface="Times New Roman"/>
                <a:cs typeface="Times New Roman"/>
              </a:rPr>
              <a:t> </a:t>
            </a:r>
            <a:r>
              <a:rPr sz="1200" b="1" spc="325" dirty="0">
                <a:latin typeface="Times New Roman"/>
                <a:cs typeface="Times New Roman"/>
              </a:rPr>
              <a:t>Chip</a:t>
            </a:r>
            <a:r>
              <a:rPr sz="1200" b="1" spc="155" dirty="0">
                <a:latin typeface="Times New Roman"/>
                <a:cs typeface="Times New Roman"/>
              </a:rPr>
              <a:t> </a:t>
            </a:r>
            <a:r>
              <a:rPr sz="1200" b="1" spc="320" dirty="0">
                <a:latin typeface="Times New Roman"/>
                <a:cs typeface="Times New Roman"/>
              </a:rPr>
              <a:t>Based</a:t>
            </a:r>
            <a:r>
              <a:rPr sz="1200" b="1" spc="155" dirty="0">
                <a:latin typeface="Times New Roman"/>
                <a:cs typeface="Times New Roman"/>
              </a:rPr>
              <a:t> </a:t>
            </a:r>
            <a:r>
              <a:rPr sz="1200" b="1" spc="330" dirty="0">
                <a:latin typeface="Times New Roman"/>
                <a:cs typeface="Times New Roman"/>
              </a:rPr>
              <a:t>on</a:t>
            </a:r>
            <a:r>
              <a:rPr sz="1200" b="1" spc="155" dirty="0">
                <a:latin typeface="Times New Roman"/>
                <a:cs typeface="Times New Roman"/>
              </a:rPr>
              <a:t> </a:t>
            </a:r>
            <a:r>
              <a:rPr sz="1200" b="1" spc="285" dirty="0">
                <a:latin typeface="Times New Roman"/>
                <a:cs typeface="Times New Roman"/>
              </a:rPr>
              <a:t>Cortex-</a:t>
            </a:r>
            <a:r>
              <a:rPr sz="1200" b="1" spc="425" dirty="0">
                <a:latin typeface="Times New Roman"/>
                <a:cs typeface="Times New Roman"/>
              </a:rPr>
              <a:t>M3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2745" y="4357940"/>
            <a:ext cx="149034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b="1" spc="265" dirty="0">
                <a:solidFill>
                  <a:srgbClr val="006A34"/>
                </a:solidFill>
                <a:latin typeface="Times New Roman"/>
                <a:cs typeface="Times New Roman"/>
              </a:rPr>
              <a:t>Cortex-</a:t>
            </a:r>
            <a:r>
              <a:rPr sz="1050" b="1" spc="415" dirty="0">
                <a:solidFill>
                  <a:srgbClr val="006A34"/>
                </a:solidFill>
                <a:latin typeface="Times New Roman"/>
                <a:cs typeface="Times New Roman"/>
              </a:rPr>
              <a:t>M3</a:t>
            </a:r>
            <a:r>
              <a:rPr sz="1050" b="1" spc="160" dirty="0">
                <a:solidFill>
                  <a:srgbClr val="006A34"/>
                </a:solidFill>
                <a:latin typeface="Times New Roman"/>
                <a:cs typeface="Times New Roman"/>
              </a:rPr>
              <a:t> </a:t>
            </a:r>
            <a:r>
              <a:rPr sz="1050" b="1" spc="285" dirty="0">
                <a:solidFill>
                  <a:srgbClr val="006A34"/>
                </a:solidFill>
                <a:latin typeface="Times New Roman"/>
                <a:cs typeface="Times New Roman"/>
              </a:rPr>
              <a:t>Core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18355" y="4538750"/>
            <a:ext cx="1001394" cy="349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695" marR="5080" indent="-87630">
              <a:lnSpc>
                <a:spcPct val="101200"/>
              </a:lnSpc>
              <a:spcBef>
                <a:spcPts val="95"/>
              </a:spcBef>
            </a:pPr>
            <a:r>
              <a:rPr sz="1050" b="1" spc="265" dirty="0">
                <a:solidFill>
                  <a:srgbClr val="006A34"/>
                </a:solidFill>
                <a:latin typeface="Times New Roman"/>
                <a:cs typeface="Times New Roman"/>
              </a:rPr>
              <a:t>Cortex-</a:t>
            </a:r>
            <a:r>
              <a:rPr sz="1050" b="1" spc="390" dirty="0">
                <a:solidFill>
                  <a:srgbClr val="006A34"/>
                </a:solidFill>
                <a:latin typeface="Times New Roman"/>
                <a:cs typeface="Times New Roman"/>
              </a:rPr>
              <a:t>M3 </a:t>
            </a:r>
            <a:r>
              <a:rPr sz="1050" b="1" spc="245" dirty="0">
                <a:solidFill>
                  <a:srgbClr val="006A34"/>
                </a:solidFill>
                <a:latin typeface="Times New Roman"/>
                <a:cs typeface="Times New Roman"/>
              </a:rPr>
              <a:t>Processor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7027" y="4593280"/>
            <a:ext cx="1051560" cy="231140"/>
          </a:xfrm>
          <a:prstGeom prst="rect">
            <a:avLst/>
          </a:prstGeom>
          <a:solidFill>
            <a:srgbClr val="CAEBCC"/>
          </a:solidFill>
          <a:ln w="1345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33655" algn="ctr">
              <a:lnSpc>
                <a:spcPts val="830"/>
              </a:lnSpc>
            </a:pPr>
            <a:r>
              <a:rPr sz="750" spc="265" dirty="0">
                <a:latin typeface="Times New Roman"/>
                <a:cs typeface="Times New Roman"/>
              </a:rPr>
              <a:t>NVIC</a:t>
            </a:r>
            <a:endParaRPr sz="750">
              <a:latin typeface="Times New Roman"/>
              <a:cs typeface="Times New Roman"/>
            </a:endParaRPr>
          </a:p>
          <a:p>
            <a:pPr marR="34925" algn="ctr">
              <a:lnSpc>
                <a:spcPts val="850"/>
              </a:lnSpc>
            </a:pPr>
            <a:r>
              <a:rPr sz="750" spc="165" dirty="0">
                <a:latin typeface="Times New Roman"/>
                <a:cs typeface="Times New Roman"/>
              </a:rPr>
              <a:t>interface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43002" y="4593280"/>
            <a:ext cx="1051560" cy="231140"/>
          </a:xfrm>
          <a:prstGeom prst="rect">
            <a:avLst/>
          </a:prstGeom>
          <a:solidFill>
            <a:srgbClr val="CAEBCC"/>
          </a:solidFill>
          <a:ln w="1345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34925" algn="ctr">
              <a:lnSpc>
                <a:spcPts val="830"/>
              </a:lnSpc>
            </a:pPr>
            <a:r>
              <a:rPr sz="750" spc="295" dirty="0">
                <a:latin typeface="Times New Roman"/>
                <a:cs typeface="Times New Roman"/>
              </a:rPr>
              <a:t>ETM</a:t>
            </a:r>
            <a:endParaRPr sz="750">
              <a:latin typeface="Times New Roman"/>
              <a:cs typeface="Times New Roman"/>
            </a:endParaRPr>
          </a:p>
          <a:p>
            <a:pPr marR="34925" algn="ctr">
              <a:lnSpc>
                <a:spcPts val="850"/>
              </a:lnSpc>
            </a:pPr>
            <a:r>
              <a:rPr sz="750" spc="165" dirty="0">
                <a:latin typeface="Times New Roman"/>
                <a:cs typeface="Times New Roman"/>
              </a:rPr>
              <a:t>interface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6740" y="5071203"/>
            <a:ext cx="891540" cy="231140"/>
          </a:xfrm>
          <a:prstGeom prst="rect">
            <a:avLst/>
          </a:prstGeom>
          <a:solidFill>
            <a:srgbClr val="FDFDFD"/>
          </a:solidFill>
          <a:ln w="13689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225425" marR="132715" indent="-85725">
              <a:lnSpc>
                <a:spcPts val="800"/>
              </a:lnSpc>
              <a:spcBef>
                <a:spcPts val="110"/>
              </a:spcBef>
            </a:pPr>
            <a:r>
              <a:rPr sz="750" spc="215" dirty="0">
                <a:latin typeface="Times New Roman"/>
                <a:cs typeface="Times New Roman"/>
              </a:rPr>
              <a:t>Hardware </a:t>
            </a:r>
            <a:r>
              <a:rPr sz="750" spc="170" dirty="0">
                <a:latin typeface="Times New Roman"/>
                <a:cs typeface="Times New Roman"/>
              </a:rPr>
              <a:t>divider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12914" y="5071203"/>
            <a:ext cx="890905" cy="231140"/>
          </a:xfrm>
          <a:prstGeom prst="rect">
            <a:avLst/>
          </a:prstGeom>
          <a:solidFill>
            <a:srgbClr val="FDFDFD"/>
          </a:solidFill>
          <a:ln w="1369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138430" marR="134620" indent="121285">
              <a:lnSpc>
                <a:spcPts val="800"/>
              </a:lnSpc>
              <a:spcBef>
                <a:spcPts val="40"/>
              </a:spcBef>
            </a:pPr>
            <a:r>
              <a:rPr sz="750" spc="200" dirty="0">
                <a:latin typeface="Times New Roman"/>
                <a:cs typeface="Times New Roman"/>
              </a:rPr>
              <a:t>32-</a:t>
            </a:r>
            <a:r>
              <a:rPr sz="750" spc="130" dirty="0">
                <a:latin typeface="Times New Roman"/>
                <a:cs typeface="Times New Roman"/>
              </a:rPr>
              <a:t>bit </a:t>
            </a:r>
            <a:r>
              <a:rPr sz="750" spc="165" dirty="0">
                <a:latin typeface="Times New Roman"/>
                <a:cs typeface="Times New Roman"/>
              </a:rPr>
              <a:t>multiplier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49367" y="4907488"/>
            <a:ext cx="2209800" cy="480695"/>
          </a:xfrm>
          <a:prstGeom prst="rect">
            <a:avLst/>
          </a:prstGeom>
          <a:solidFill>
            <a:srgbClr val="CAEBCC"/>
          </a:solidFill>
          <a:ln w="13440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644525">
              <a:lnSpc>
                <a:spcPct val="100000"/>
              </a:lnSpc>
              <a:spcBef>
                <a:spcPts val="25"/>
              </a:spcBef>
            </a:pPr>
            <a:r>
              <a:rPr sz="750" spc="200" dirty="0">
                <a:latin typeface="Times New Roman"/>
                <a:cs typeface="Times New Roman"/>
              </a:rPr>
              <a:t>32-</a:t>
            </a:r>
            <a:r>
              <a:rPr sz="750" spc="155" dirty="0">
                <a:latin typeface="Times New Roman"/>
                <a:cs typeface="Times New Roman"/>
              </a:rPr>
              <a:t>bit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spc="295" dirty="0">
                <a:latin typeface="Times New Roman"/>
                <a:cs typeface="Times New Roman"/>
              </a:rPr>
              <a:t>ALU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367" y="5442930"/>
            <a:ext cx="906780" cy="231140"/>
          </a:xfrm>
          <a:prstGeom prst="rect">
            <a:avLst/>
          </a:prstGeom>
          <a:solidFill>
            <a:srgbClr val="CAEBCC"/>
          </a:solidFill>
          <a:ln w="13661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316230" marR="193675" indent="-83185">
              <a:lnSpc>
                <a:spcPts val="800"/>
              </a:lnSpc>
              <a:spcBef>
                <a:spcPts val="85"/>
              </a:spcBef>
            </a:pPr>
            <a:r>
              <a:rPr sz="750" spc="185" dirty="0">
                <a:latin typeface="Times New Roman"/>
                <a:cs typeface="Times New Roman"/>
              </a:rPr>
              <a:t>Control </a:t>
            </a:r>
            <a:r>
              <a:rPr sz="750" spc="170" dirty="0">
                <a:latin typeface="Times New Roman"/>
                <a:cs typeface="Times New Roman"/>
              </a:rPr>
              <a:t>logic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51934" y="5442930"/>
            <a:ext cx="907415" cy="231140"/>
          </a:xfrm>
          <a:prstGeom prst="rect">
            <a:avLst/>
          </a:prstGeom>
          <a:solidFill>
            <a:srgbClr val="CAEBCC"/>
          </a:solidFill>
          <a:ln w="13661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251460" marR="205740" indent="-5080">
              <a:lnSpc>
                <a:spcPts val="800"/>
              </a:lnSpc>
              <a:spcBef>
                <a:spcPts val="85"/>
              </a:spcBef>
            </a:pPr>
            <a:r>
              <a:rPr sz="750" spc="250" dirty="0">
                <a:latin typeface="Times New Roman"/>
                <a:cs typeface="Times New Roman"/>
              </a:rPr>
              <a:t>Thumb </a:t>
            </a:r>
            <a:r>
              <a:rPr sz="750" spc="204" dirty="0">
                <a:latin typeface="Times New Roman"/>
                <a:cs typeface="Times New Roman"/>
              </a:rPr>
              <a:t>decode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9367" y="5738105"/>
            <a:ext cx="906780" cy="231140"/>
          </a:xfrm>
          <a:prstGeom prst="rect">
            <a:avLst/>
          </a:prstGeom>
          <a:solidFill>
            <a:srgbClr val="CAEBCC"/>
          </a:solidFill>
          <a:ln w="13661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200025" marR="95250" indent="-65405">
              <a:lnSpc>
                <a:spcPts val="800"/>
              </a:lnSpc>
              <a:spcBef>
                <a:spcPts val="85"/>
              </a:spcBef>
            </a:pPr>
            <a:r>
              <a:rPr sz="750" spc="165" dirty="0">
                <a:latin typeface="Times New Roman"/>
                <a:cs typeface="Times New Roman"/>
              </a:rPr>
              <a:t>Instruction interface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51934" y="5738105"/>
            <a:ext cx="907415" cy="231140"/>
          </a:xfrm>
          <a:prstGeom prst="rect">
            <a:avLst/>
          </a:prstGeom>
          <a:solidFill>
            <a:srgbClr val="CAEBCC"/>
          </a:solidFill>
          <a:ln w="13661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200025" marR="156845" indent="125095">
              <a:lnSpc>
                <a:spcPts val="800"/>
              </a:lnSpc>
              <a:spcBef>
                <a:spcPts val="85"/>
              </a:spcBef>
            </a:pPr>
            <a:r>
              <a:rPr sz="750" spc="195" dirty="0">
                <a:latin typeface="Times New Roman"/>
                <a:cs typeface="Times New Roman"/>
              </a:rPr>
              <a:t>Data </a:t>
            </a:r>
            <a:r>
              <a:rPr sz="750" spc="165" dirty="0">
                <a:latin typeface="Times New Roman"/>
                <a:cs typeface="Times New Roman"/>
              </a:rPr>
              <a:t>interface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643722" y="4105167"/>
            <a:ext cx="586105" cy="358775"/>
          </a:xfrm>
          <a:custGeom>
            <a:avLst/>
            <a:gdLst/>
            <a:ahLst/>
            <a:cxnLst/>
            <a:rect l="l" t="t" r="r" b="b"/>
            <a:pathLst>
              <a:path w="586104" h="358775">
                <a:moveTo>
                  <a:pt x="586109" y="0"/>
                </a:moveTo>
                <a:lnTo>
                  <a:pt x="0" y="0"/>
                </a:lnTo>
                <a:lnTo>
                  <a:pt x="0" y="358505"/>
                </a:lnTo>
                <a:lnTo>
                  <a:pt x="586109" y="358505"/>
                </a:lnTo>
                <a:lnTo>
                  <a:pt x="586109" y="0"/>
                </a:lnTo>
                <a:close/>
              </a:path>
            </a:pathLst>
          </a:custGeom>
          <a:solidFill>
            <a:srgbClr val="CA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431050" y="3475404"/>
            <a:ext cx="937260" cy="218440"/>
          </a:xfrm>
          <a:prstGeom prst="rect">
            <a:avLst/>
          </a:prstGeom>
          <a:solidFill>
            <a:srgbClr val="CAEBCC"/>
          </a:solidFill>
          <a:ln w="1353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20"/>
              </a:spcBef>
            </a:pPr>
            <a:r>
              <a:rPr sz="750" spc="245" dirty="0">
                <a:latin typeface="Times New Roman"/>
                <a:cs typeface="Times New Roman"/>
              </a:rPr>
              <a:t>Debug</a:t>
            </a:r>
            <a:r>
              <a:rPr sz="750" spc="95" dirty="0">
                <a:latin typeface="Times New Roman"/>
                <a:cs typeface="Times New Roman"/>
              </a:rPr>
              <a:t> </a:t>
            </a:r>
            <a:r>
              <a:rPr sz="750" spc="160" dirty="0">
                <a:latin typeface="Times New Roman"/>
                <a:cs typeface="Times New Roman"/>
              </a:rPr>
              <a:t>logic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43722" y="4105167"/>
            <a:ext cx="586105" cy="358775"/>
          </a:xfrm>
          <a:prstGeom prst="rect">
            <a:avLst/>
          </a:prstGeom>
          <a:ln w="15965">
            <a:solidFill>
              <a:srgbClr val="000000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118110">
              <a:lnSpc>
                <a:spcPts val="850"/>
              </a:lnSpc>
              <a:spcBef>
                <a:spcPts val="439"/>
              </a:spcBef>
            </a:pPr>
            <a:r>
              <a:rPr sz="750" spc="325" dirty="0">
                <a:latin typeface="Times New Roman"/>
                <a:cs typeface="Times New Roman"/>
              </a:rPr>
              <a:t>ARM</a:t>
            </a:r>
            <a:endParaRPr sz="750">
              <a:latin typeface="Times New Roman"/>
              <a:cs typeface="Times New Roman"/>
            </a:endParaRPr>
          </a:p>
          <a:p>
            <a:pPr marL="160655">
              <a:lnSpc>
                <a:spcPts val="850"/>
              </a:lnSpc>
            </a:pPr>
            <a:r>
              <a:rPr sz="750" spc="175" dirty="0">
                <a:latin typeface="Times New Roman"/>
                <a:cs typeface="Times New Roman"/>
              </a:rPr>
              <a:t>core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70958" y="3782790"/>
            <a:ext cx="394970" cy="219075"/>
          </a:xfrm>
          <a:prstGeom prst="rect">
            <a:avLst/>
          </a:prstGeom>
          <a:solidFill>
            <a:srgbClr val="CAEBCC"/>
          </a:solidFill>
          <a:ln w="15632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80"/>
              </a:spcBef>
            </a:pPr>
            <a:r>
              <a:rPr sz="750" spc="285" dirty="0">
                <a:latin typeface="Times New Roman"/>
                <a:cs typeface="Times New Roman"/>
              </a:rPr>
              <a:t>DAP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40986" y="4201341"/>
            <a:ext cx="523875" cy="186690"/>
          </a:xfrm>
          <a:prstGeom prst="rect">
            <a:avLst/>
          </a:prstGeom>
          <a:solidFill>
            <a:srgbClr val="CAEBCC"/>
          </a:solidFill>
          <a:ln w="14330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90"/>
              </a:spcBef>
            </a:pPr>
            <a:r>
              <a:rPr sz="750" spc="265" dirty="0">
                <a:latin typeface="Times New Roman"/>
                <a:cs typeface="Times New Roman"/>
              </a:rPr>
              <a:t>NVIC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02118" y="4201341"/>
            <a:ext cx="391795" cy="186690"/>
          </a:xfrm>
          <a:prstGeom prst="rect">
            <a:avLst/>
          </a:prstGeom>
          <a:solidFill>
            <a:srgbClr val="CAEBCC"/>
          </a:solidFill>
          <a:ln w="15140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90"/>
              </a:spcBef>
            </a:pPr>
            <a:r>
              <a:rPr sz="750" spc="295" dirty="0">
                <a:latin typeface="Times New Roman"/>
                <a:cs typeface="Times New Roman"/>
              </a:rPr>
              <a:t>ETM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39406" y="3778158"/>
            <a:ext cx="1120140" cy="218440"/>
          </a:xfrm>
          <a:prstGeom prst="rect">
            <a:avLst/>
          </a:prstGeom>
          <a:solidFill>
            <a:srgbClr val="CAEBCC"/>
          </a:solidFill>
          <a:ln w="1331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8105" marR="130810" indent="188595">
              <a:lnSpc>
                <a:spcPts val="790"/>
              </a:lnSpc>
            </a:pPr>
            <a:r>
              <a:rPr sz="750" spc="254" dirty="0">
                <a:latin typeface="Times New Roman"/>
                <a:cs typeface="Times New Roman"/>
              </a:rPr>
              <a:t>Memory </a:t>
            </a:r>
            <a:r>
              <a:rPr sz="750" spc="180" dirty="0">
                <a:latin typeface="Times New Roman"/>
                <a:cs typeface="Times New Roman"/>
              </a:rPr>
              <a:t>protection</a:t>
            </a:r>
            <a:r>
              <a:rPr sz="750" spc="135" dirty="0">
                <a:latin typeface="Times New Roman"/>
                <a:cs typeface="Times New Roman"/>
              </a:rPr>
              <a:t> </a:t>
            </a:r>
            <a:r>
              <a:rPr sz="750" spc="155" dirty="0">
                <a:latin typeface="Times New Roman"/>
                <a:cs typeface="Times New Roman"/>
              </a:rPr>
              <a:t>unit</a:t>
            </a:r>
            <a:endParaRPr sz="750">
              <a:latin typeface="Times New Roman"/>
              <a:cs typeface="Times New Roman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4949085" y="3027400"/>
          <a:ext cx="1931035" cy="367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5315"/>
                <a:gridCol w="388620"/>
                <a:gridCol w="927100"/>
              </a:tblGrid>
              <a:tr h="243840">
                <a:tc>
                  <a:txBody>
                    <a:bodyPr/>
                    <a:lstStyle/>
                    <a:p>
                      <a:pPr marL="35560" marR="29845" indent="81280">
                        <a:lnSpc>
                          <a:spcPts val="800"/>
                        </a:lnSpc>
                        <a:spcBef>
                          <a:spcPts val="90"/>
                        </a:spcBef>
                      </a:pPr>
                      <a:r>
                        <a:rPr sz="750" spc="210" dirty="0">
                          <a:latin typeface="Times New Roman"/>
                          <a:cs typeface="Times New Roman"/>
                        </a:rPr>
                        <a:t>ICode </a:t>
                      </a:r>
                      <a:r>
                        <a:rPr sz="750" spc="165" dirty="0">
                          <a:latin typeface="Times New Roman"/>
                          <a:cs typeface="Times New Roman"/>
                        </a:rPr>
                        <a:t>interface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A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830"/>
                        </a:lnSpc>
                      </a:pPr>
                      <a:r>
                        <a:rPr sz="750" spc="330" dirty="0">
                          <a:latin typeface="Times New Roman"/>
                          <a:cs typeface="Times New Roman"/>
                        </a:rPr>
                        <a:t>SRAM</a:t>
                      </a:r>
                      <a:r>
                        <a:rPr sz="75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spc="310" dirty="0">
                          <a:latin typeface="Times New Roman"/>
                          <a:cs typeface="Times New Roman"/>
                        </a:rPr>
                        <a:t>&amp;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750" spc="180" dirty="0">
                          <a:latin typeface="Times New Roman"/>
                          <a:cs typeface="Times New Roman"/>
                        </a:rPr>
                        <a:t>peripheral</a:t>
                      </a:r>
                      <a:r>
                        <a:rPr sz="750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spc="155" dirty="0">
                          <a:latin typeface="Times New Roman"/>
                          <a:cs typeface="Times New Roman"/>
                        </a:rPr>
                        <a:t>I/F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AEBCC"/>
                    </a:solidFill>
                  </a:tcPr>
                </a:tc>
              </a:tr>
              <a:tr h="123825">
                <a:tc gridSpan="3">
                  <a:txBody>
                    <a:bodyPr/>
                    <a:lstStyle/>
                    <a:p>
                      <a:pPr marL="574040">
                        <a:lnSpc>
                          <a:spcPts val="850"/>
                        </a:lnSpc>
                      </a:pPr>
                      <a:r>
                        <a:rPr sz="750" spc="240" dirty="0">
                          <a:latin typeface="Times New Roman"/>
                          <a:cs typeface="Times New Roman"/>
                        </a:rPr>
                        <a:t>Bus</a:t>
                      </a:r>
                      <a:r>
                        <a:rPr sz="75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50" spc="185" dirty="0">
                          <a:latin typeface="Times New Roman"/>
                          <a:cs typeface="Times New Roman"/>
                        </a:rPr>
                        <a:t>matrix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EB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797" y="202766"/>
            <a:ext cx="6179908" cy="2640539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327425" y="292529"/>
            <a:ext cx="541020" cy="145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spc="180" dirty="0">
                <a:latin typeface="Times New Roman"/>
                <a:cs typeface="Times New Roman"/>
              </a:rPr>
              <a:t>Security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19612" y="292529"/>
            <a:ext cx="1128395" cy="145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spc="225" dirty="0">
                <a:latin typeface="Times New Roman"/>
                <a:cs typeface="Times New Roman"/>
              </a:rPr>
              <a:t>Analog</a:t>
            </a:r>
            <a:r>
              <a:rPr sz="750" spc="95" dirty="0">
                <a:latin typeface="Times New Roman"/>
                <a:cs typeface="Times New Roman"/>
              </a:rPr>
              <a:t> </a:t>
            </a:r>
            <a:r>
              <a:rPr sz="750" spc="170" dirty="0">
                <a:latin typeface="Times New Roman"/>
                <a:cs typeface="Times New Roman"/>
              </a:rPr>
              <a:t>Interfaces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57257" y="249664"/>
            <a:ext cx="1139825" cy="145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spc="210" dirty="0">
                <a:latin typeface="Times New Roman"/>
                <a:cs typeface="Times New Roman"/>
              </a:rPr>
              <a:t>Timers</a:t>
            </a:r>
            <a:r>
              <a:rPr sz="750" spc="110" dirty="0">
                <a:latin typeface="Times New Roman"/>
                <a:cs typeface="Times New Roman"/>
              </a:rPr>
              <a:t> </a:t>
            </a:r>
            <a:r>
              <a:rPr sz="750" spc="195" dirty="0">
                <a:latin typeface="Times New Roman"/>
                <a:cs typeface="Times New Roman"/>
              </a:rPr>
              <a:t>&amp;Triggers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82089" y="275012"/>
            <a:ext cx="1096645" cy="145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spc="170" dirty="0">
                <a:latin typeface="Times New Roman"/>
                <a:cs typeface="Times New Roman"/>
              </a:rPr>
              <a:t>Parallel</a:t>
            </a:r>
            <a:r>
              <a:rPr sz="750" spc="120" dirty="0">
                <a:latin typeface="Times New Roman"/>
                <a:cs typeface="Times New Roman"/>
              </a:rPr>
              <a:t> </a:t>
            </a:r>
            <a:r>
              <a:rPr sz="750" spc="204" dirty="0">
                <a:latin typeface="Times New Roman"/>
                <a:cs typeface="Times New Roman"/>
              </a:rPr>
              <a:t>I/O</a:t>
            </a:r>
            <a:r>
              <a:rPr sz="750" spc="125" dirty="0">
                <a:latin typeface="Times New Roman"/>
                <a:cs typeface="Times New Roman"/>
              </a:rPr>
              <a:t> </a:t>
            </a:r>
            <a:r>
              <a:rPr sz="750" spc="165" dirty="0">
                <a:latin typeface="Times New Roman"/>
                <a:cs typeface="Times New Roman"/>
              </a:rPr>
              <a:t>Ports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977072" y="1563543"/>
            <a:ext cx="5176520" cy="133985"/>
          </a:xfrm>
          <a:custGeom>
            <a:avLst/>
            <a:gdLst/>
            <a:ahLst/>
            <a:cxnLst/>
            <a:rect l="l" t="t" r="r" b="b"/>
            <a:pathLst>
              <a:path w="5176520" h="133985">
                <a:moveTo>
                  <a:pt x="0" y="133397"/>
                </a:moveTo>
                <a:lnTo>
                  <a:pt x="5176322" y="133397"/>
                </a:lnTo>
                <a:lnTo>
                  <a:pt x="5176322" y="0"/>
                </a:lnTo>
                <a:lnTo>
                  <a:pt x="0" y="0"/>
                </a:lnTo>
                <a:lnTo>
                  <a:pt x="0" y="133397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169305" y="2611066"/>
            <a:ext cx="1140460" cy="145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spc="220" dirty="0">
                <a:latin typeface="Times New Roman"/>
                <a:cs typeface="Times New Roman"/>
              </a:rPr>
              <a:t>Core</a:t>
            </a:r>
            <a:r>
              <a:rPr sz="750" spc="110" dirty="0">
                <a:latin typeface="Times New Roman"/>
                <a:cs typeface="Times New Roman"/>
              </a:rPr>
              <a:t> </a:t>
            </a:r>
            <a:r>
              <a:rPr sz="750" spc="220" dirty="0">
                <a:latin typeface="Times New Roman"/>
                <a:cs typeface="Times New Roman"/>
              </a:rPr>
              <a:t>and</a:t>
            </a:r>
            <a:r>
              <a:rPr sz="750" spc="100" dirty="0">
                <a:latin typeface="Times New Roman"/>
                <a:cs typeface="Times New Roman"/>
              </a:rPr>
              <a:t> </a:t>
            </a:r>
            <a:r>
              <a:rPr sz="750" spc="245" dirty="0">
                <a:latin typeface="Times New Roman"/>
                <a:cs typeface="Times New Roman"/>
              </a:rPr>
              <a:t>memory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63422" y="2568844"/>
            <a:ext cx="2773680" cy="44640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1563370" algn="l"/>
              </a:tabLst>
            </a:pPr>
            <a:r>
              <a:rPr sz="1125" spc="322" baseline="3703" dirty="0">
                <a:latin typeface="Times New Roman"/>
                <a:cs typeface="Times New Roman"/>
              </a:rPr>
              <a:t>Energy</a:t>
            </a:r>
            <a:r>
              <a:rPr sz="1125" spc="172" baseline="3703" dirty="0">
                <a:latin typeface="Times New Roman"/>
                <a:cs typeface="Times New Roman"/>
              </a:rPr>
              <a:t> </a:t>
            </a:r>
            <a:r>
              <a:rPr sz="1125" spc="330" baseline="3703" dirty="0">
                <a:latin typeface="Times New Roman"/>
                <a:cs typeface="Times New Roman"/>
              </a:rPr>
              <a:t>management</a:t>
            </a:r>
            <a:r>
              <a:rPr sz="1125" baseline="3703" dirty="0">
                <a:latin typeface="Times New Roman"/>
                <a:cs typeface="Times New Roman"/>
              </a:rPr>
              <a:t>	</a:t>
            </a:r>
            <a:r>
              <a:rPr sz="750" spc="215" dirty="0">
                <a:latin typeface="Times New Roman"/>
                <a:cs typeface="Times New Roman"/>
              </a:rPr>
              <a:t>Clock</a:t>
            </a:r>
            <a:r>
              <a:rPr sz="750" spc="114" dirty="0">
                <a:latin typeface="Times New Roman"/>
                <a:cs typeface="Times New Roman"/>
              </a:rPr>
              <a:t> </a:t>
            </a:r>
            <a:r>
              <a:rPr sz="750" spc="220" dirty="0">
                <a:latin typeface="Times New Roman"/>
                <a:cs typeface="Times New Roman"/>
              </a:rPr>
              <a:t>management</a:t>
            </a:r>
            <a:endParaRPr sz="750">
              <a:latin typeface="Times New Roman"/>
              <a:cs typeface="Times New Roman"/>
            </a:endParaRPr>
          </a:p>
          <a:p>
            <a:pPr marL="205740">
              <a:lnSpc>
                <a:spcPct val="100000"/>
              </a:lnSpc>
              <a:spcBef>
                <a:spcPts val="650"/>
              </a:spcBef>
            </a:pPr>
            <a:r>
              <a:rPr sz="1050" b="1" spc="254" dirty="0">
                <a:solidFill>
                  <a:srgbClr val="006A34"/>
                </a:solidFill>
                <a:latin typeface="Times New Roman"/>
                <a:cs typeface="Times New Roman"/>
              </a:rPr>
              <a:t>Microcontroller</a:t>
            </a:r>
            <a:r>
              <a:rPr sz="1050" b="1" spc="180" dirty="0">
                <a:solidFill>
                  <a:srgbClr val="006A34"/>
                </a:solidFill>
                <a:latin typeface="Times New Roman"/>
                <a:cs typeface="Times New Roman"/>
              </a:rPr>
              <a:t> </a:t>
            </a:r>
            <a:r>
              <a:rPr sz="1050" b="1" spc="275" dirty="0">
                <a:solidFill>
                  <a:srgbClr val="006A34"/>
                </a:solidFill>
                <a:latin typeface="Times New Roman"/>
                <a:cs typeface="Times New Roman"/>
              </a:rPr>
              <a:t>Chip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05406" y="2352440"/>
            <a:ext cx="1342390" cy="145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spc="195" dirty="0">
                <a:latin typeface="Times New Roman"/>
                <a:cs typeface="Times New Roman"/>
              </a:rPr>
              <a:t>Cortex-</a:t>
            </a:r>
            <a:r>
              <a:rPr sz="750" spc="325" dirty="0">
                <a:latin typeface="Times New Roman"/>
                <a:cs typeface="Times New Roman"/>
              </a:rPr>
              <a:t>M3</a:t>
            </a:r>
            <a:r>
              <a:rPr sz="750" spc="120" dirty="0">
                <a:latin typeface="Times New Roman"/>
                <a:cs typeface="Times New Roman"/>
              </a:rPr>
              <a:t> </a:t>
            </a:r>
            <a:r>
              <a:rPr sz="750" spc="185" dirty="0">
                <a:latin typeface="Times New Roman"/>
                <a:cs typeface="Times New Roman"/>
              </a:rPr>
              <a:t>processor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26701" y="1828283"/>
            <a:ext cx="559435" cy="77343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0320" marR="15240" indent="1905" algn="ctr">
              <a:lnSpc>
                <a:spcPts val="880"/>
              </a:lnSpc>
              <a:spcBef>
                <a:spcPts val="180"/>
              </a:spcBef>
            </a:pPr>
            <a:r>
              <a:rPr sz="750" spc="190" dirty="0">
                <a:latin typeface="Times New Roman"/>
                <a:cs typeface="Times New Roman"/>
              </a:rPr>
              <a:t>Flash </a:t>
            </a:r>
            <a:r>
              <a:rPr sz="750" spc="245" dirty="0">
                <a:latin typeface="Times New Roman"/>
                <a:cs typeface="Times New Roman"/>
              </a:rPr>
              <a:t>memory </a:t>
            </a:r>
            <a:r>
              <a:rPr sz="750" spc="229" dirty="0">
                <a:latin typeface="Times New Roman"/>
                <a:cs typeface="Times New Roman"/>
              </a:rPr>
              <a:t>64</a:t>
            </a:r>
            <a:r>
              <a:rPr sz="750" spc="95" dirty="0">
                <a:latin typeface="Times New Roman"/>
                <a:cs typeface="Times New Roman"/>
              </a:rPr>
              <a:t> </a:t>
            </a:r>
            <a:r>
              <a:rPr sz="750" spc="240" dirty="0">
                <a:latin typeface="Times New Roman"/>
                <a:cs typeface="Times New Roman"/>
              </a:rPr>
              <a:t>kB</a:t>
            </a:r>
            <a:endParaRPr sz="750">
              <a:latin typeface="Times New Roman"/>
              <a:cs typeface="Times New Roman"/>
            </a:endParaRPr>
          </a:p>
          <a:p>
            <a:pPr marL="12700" marR="5080" algn="ctr">
              <a:lnSpc>
                <a:spcPts val="880"/>
              </a:lnSpc>
              <a:spcBef>
                <a:spcPts val="555"/>
              </a:spcBef>
            </a:pPr>
            <a:r>
              <a:rPr sz="750" spc="254" dirty="0">
                <a:latin typeface="Times New Roman"/>
                <a:cs typeface="Times New Roman"/>
              </a:rPr>
              <a:t>Memory </a:t>
            </a:r>
            <a:r>
              <a:rPr sz="750" spc="185" dirty="0">
                <a:latin typeface="Times New Roman"/>
                <a:cs typeface="Times New Roman"/>
              </a:rPr>
              <a:t>protec-</a:t>
            </a:r>
            <a:r>
              <a:rPr sz="750" spc="175" dirty="0">
                <a:latin typeface="Times New Roman"/>
                <a:cs typeface="Times New Roman"/>
              </a:rPr>
              <a:t>tion</a:t>
            </a:r>
            <a:r>
              <a:rPr sz="750" spc="100" dirty="0">
                <a:latin typeface="Times New Roman"/>
                <a:cs typeface="Times New Roman"/>
              </a:rPr>
              <a:t> </a:t>
            </a:r>
            <a:r>
              <a:rPr sz="750" spc="155" dirty="0">
                <a:latin typeface="Times New Roman"/>
                <a:cs typeface="Times New Roman"/>
              </a:rPr>
              <a:t>unit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10008" y="1828283"/>
            <a:ext cx="495300" cy="3683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880"/>
              </a:lnSpc>
              <a:spcBef>
                <a:spcPts val="180"/>
              </a:spcBef>
            </a:pPr>
            <a:r>
              <a:rPr sz="750" spc="170" dirty="0">
                <a:latin typeface="Times New Roman"/>
                <a:cs typeface="Times New Roman"/>
              </a:rPr>
              <a:t>Voltage </a:t>
            </a:r>
            <a:r>
              <a:rPr sz="750" spc="180" dirty="0">
                <a:latin typeface="Times New Roman"/>
                <a:cs typeface="Times New Roman"/>
              </a:rPr>
              <a:t>regula-</a:t>
            </a:r>
            <a:r>
              <a:rPr sz="750" spc="140" dirty="0">
                <a:latin typeface="Times New Roman"/>
                <a:cs typeface="Times New Roman"/>
              </a:rPr>
              <a:t>tor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02294" y="2301827"/>
            <a:ext cx="510540" cy="25717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0320">
              <a:lnSpc>
                <a:spcPts val="880"/>
              </a:lnSpc>
              <a:spcBef>
                <a:spcPts val="180"/>
              </a:spcBef>
            </a:pPr>
            <a:r>
              <a:rPr sz="750" spc="220" dirty="0">
                <a:latin typeface="Times New Roman"/>
                <a:cs typeface="Times New Roman"/>
              </a:rPr>
              <a:t>Power-</a:t>
            </a:r>
            <a:r>
              <a:rPr sz="750" spc="229" dirty="0">
                <a:latin typeface="Times New Roman"/>
                <a:cs typeface="Times New Roman"/>
              </a:rPr>
              <a:t>on</a:t>
            </a:r>
            <a:r>
              <a:rPr sz="750" spc="95" dirty="0">
                <a:latin typeface="Times New Roman"/>
                <a:cs typeface="Times New Roman"/>
              </a:rPr>
              <a:t> </a:t>
            </a:r>
            <a:r>
              <a:rPr sz="750" spc="165" dirty="0">
                <a:latin typeface="Times New Roman"/>
                <a:cs typeface="Times New Roman"/>
              </a:rPr>
              <a:t>reset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132355" y="1828283"/>
            <a:ext cx="541020" cy="7912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065" marR="5080" indent="-2540" algn="ctr">
              <a:lnSpc>
                <a:spcPts val="880"/>
              </a:lnSpc>
              <a:spcBef>
                <a:spcPts val="180"/>
              </a:spcBef>
            </a:pPr>
            <a:r>
              <a:rPr sz="750" spc="170" dirty="0">
                <a:latin typeface="Times New Roman"/>
                <a:cs typeface="Times New Roman"/>
              </a:rPr>
              <a:t>Voltage </a:t>
            </a:r>
            <a:r>
              <a:rPr sz="750" spc="215" dirty="0">
                <a:latin typeface="Times New Roman"/>
                <a:cs typeface="Times New Roman"/>
              </a:rPr>
              <a:t>compar-</a:t>
            </a:r>
            <a:r>
              <a:rPr sz="750" spc="155" dirty="0">
                <a:latin typeface="Times New Roman"/>
                <a:cs typeface="Times New Roman"/>
              </a:rPr>
              <a:t>ator</a:t>
            </a:r>
            <a:endParaRPr sz="750">
              <a:latin typeface="Times New Roman"/>
              <a:cs typeface="Times New Roman"/>
            </a:endParaRPr>
          </a:p>
          <a:p>
            <a:pPr marL="35560" marR="44450" indent="-19685" algn="just">
              <a:lnSpc>
                <a:spcPts val="880"/>
              </a:lnSpc>
              <a:spcBef>
                <a:spcPts val="690"/>
              </a:spcBef>
            </a:pPr>
            <a:r>
              <a:rPr sz="750" spc="229" dirty="0">
                <a:latin typeface="Times New Roman"/>
                <a:cs typeface="Times New Roman"/>
              </a:rPr>
              <a:t>Brown-</a:t>
            </a:r>
            <a:r>
              <a:rPr sz="750" spc="190" dirty="0">
                <a:latin typeface="Times New Roman"/>
                <a:cs typeface="Times New Roman"/>
              </a:rPr>
              <a:t>out</a:t>
            </a:r>
            <a:r>
              <a:rPr sz="750" spc="105" dirty="0">
                <a:latin typeface="Times New Roman"/>
                <a:cs typeface="Times New Roman"/>
              </a:rPr>
              <a:t> </a:t>
            </a:r>
            <a:r>
              <a:rPr sz="750" spc="170" dirty="0">
                <a:latin typeface="Times New Roman"/>
                <a:cs typeface="Times New Roman"/>
              </a:rPr>
              <a:t>de-</a:t>
            </a:r>
            <a:r>
              <a:rPr sz="750" spc="160" dirty="0">
                <a:latin typeface="Times New Roman"/>
                <a:cs typeface="Times New Roman"/>
              </a:rPr>
              <a:t>tector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830275" y="1798399"/>
            <a:ext cx="686435" cy="412750"/>
            <a:chOff x="2830275" y="1798399"/>
            <a:chExt cx="686435" cy="412750"/>
          </a:xfrm>
        </p:grpSpPr>
        <p:sp>
          <p:nvSpPr>
            <p:cNvPr id="42" name="object 42"/>
            <p:cNvSpPr/>
            <p:nvPr/>
          </p:nvSpPr>
          <p:spPr>
            <a:xfrm>
              <a:off x="2838213" y="1806337"/>
              <a:ext cx="670560" cy="396875"/>
            </a:xfrm>
            <a:custGeom>
              <a:avLst/>
              <a:gdLst/>
              <a:ahLst/>
              <a:cxnLst/>
              <a:rect l="l" t="t" r="r" b="b"/>
              <a:pathLst>
                <a:path w="670560" h="396875">
                  <a:moveTo>
                    <a:pt x="557115" y="0"/>
                  </a:moveTo>
                  <a:lnTo>
                    <a:pt x="113649" y="0"/>
                  </a:lnTo>
                  <a:lnTo>
                    <a:pt x="69734" y="5216"/>
                  </a:lnTo>
                  <a:lnTo>
                    <a:pt x="33573" y="19495"/>
                  </a:lnTo>
                  <a:lnTo>
                    <a:pt x="9038" y="40786"/>
                  </a:lnTo>
                  <a:lnTo>
                    <a:pt x="0" y="67035"/>
                  </a:lnTo>
                  <a:lnTo>
                    <a:pt x="0" y="329451"/>
                  </a:lnTo>
                  <a:lnTo>
                    <a:pt x="9038" y="355318"/>
                  </a:lnTo>
                  <a:lnTo>
                    <a:pt x="33573" y="376590"/>
                  </a:lnTo>
                  <a:lnTo>
                    <a:pt x="69734" y="391009"/>
                  </a:lnTo>
                  <a:lnTo>
                    <a:pt x="113649" y="396318"/>
                  </a:lnTo>
                  <a:lnTo>
                    <a:pt x="557115" y="396318"/>
                  </a:lnTo>
                  <a:lnTo>
                    <a:pt x="600908" y="391009"/>
                  </a:lnTo>
                  <a:lnTo>
                    <a:pt x="636802" y="376590"/>
                  </a:lnTo>
                  <a:lnTo>
                    <a:pt x="661070" y="355318"/>
                  </a:lnTo>
                  <a:lnTo>
                    <a:pt x="669987" y="329451"/>
                  </a:lnTo>
                  <a:lnTo>
                    <a:pt x="669987" y="67035"/>
                  </a:lnTo>
                  <a:lnTo>
                    <a:pt x="661070" y="40786"/>
                  </a:lnTo>
                  <a:lnTo>
                    <a:pt x="636802" y="19495"/>
                  </a:lnTo>
                  <a:lnTo>
                    <a:pt x="600908" y="5216"/>
                  </a:lnTo>
                  <a:lnTo>
                    <a:pt x="557115" y="0"/>
                  </a:lnTo>
                  <a:close/>
                </a:path>
              </a:pathLst>
            </a:custGeom>
            <a:solidFill>
              <a:srgbClr val="CA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838213" y="1806337"/>
              <a:ext cx="670560" cy="396875"/>
            </a:xfrm>
            <a:custGeom>
              <a:avLst/>
              <a:gdLst/>
              <a:ahLst/>
              <a:cxnLst/>
              <a:rect l="l" t="t" r="r" b="b"/>
              <a:pathLst>
                <a:path w="670560" h="396875">
                  <a:moveTo>
                    <a:pt x="669987" y="329451"/>
                  </a:moveTo>
                  <a:lnTo>
                    <a:pt x="661070" y="355318"/>
                  </a:lnTo>
                  <a:lnTo>
                    <a:pt x="636802" y="376590"/>
                  </a:lnTo>
                  <a:lnTo>
                    <a:pt x="600908" y="391009"/>
                  </a:lnTo>
                  <a:lnTo>
                    <a:pt x="557115" y="396318"/>
                  </a:lnTo>
                  <a:lnTo>
                    <a:pt x="113649" y="396318"/>
                  </a:lnTo>
                  <a:lnTo>
                    <a:pt x="69734" y="391009"/>
                  </a:lnTo>
                  <a:lnTo>
                    <a:pt x="33573" y="376590"/>
                  </a:lnTo>
                  <a:lnTo>
                    <a:pt x="9038" y="355318"/>
                  </a:lnTo>
                  <a:lnTo>
                    <a:pt x="0" y="329451"/>
                  </a:lnTo>
                  <a:lnTo>
                    <a:pt x="0" y="67035"/>
                  </a:lnTo>
                  <a:lnTo>
                    <a:pt x="9038" y="40786"/>
                  </a:lnTo>
                  <a:lnTo>
                    <a:pt x="33573" y="19495"/>
                  </a:lnTo>
                  <a:lnTo>
                    <a:pt x="69734" y="5216"/>
                  </a:lnTo>
                  <a:lnTo>
                    <a:pt x="113649" y="0"/>
                  </a:lnTo>
                  <a:lnTo>
                    <a:pt x="557115" y="0"/>
                  </a:lnTo>
                  <a:lnTo>
                    <a:pt x="600908" y="5216"/>
                  </a:lnTo>
                  <a:lnTo>
                    <a:pt x="636802" y="19495"/>
                  </a:lnTo>
                  <a:lnTo>
                    <a:pt x="661070" y="40786"/>
                  </a:lnTo>
                  <a:lnTo>
                    <a:pt x="669987" y="67035"/>
                  </a:lnTo>
                  <a:lnTo>
                    <a:pt x="669987" y="329451"/>
                  </a:lnTo>
                  <a:close/>
                </a:path>
              </a:pathLst>
            </a:custGeom>
            <a:ln w="145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843117" y="1819507"/>
            <a:ext cx="658495" cy="3581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-1905" algn="ctr">
              <a:lnSpc>
                <a:spcPct val="104299"/>
              </a:lnSpc>
              <a:spcBef>
                <a:spcPts val="85"/>
              </a:spcBef>
            </a:pPr>
            <a:r>
              <a:rPr sz="700" spc="200" dirty="0">
                <a:latin typeface="Times New Roman"/>
                <a:cs typeface="Times New Roman"/>
              </a:rPr>
              <a:t>High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120" dirty="0">
                <a:latin typeface="Times New Roman"/>
                <a:cs typeface="Times New Roman"/>
              </a:rPr>
              <a:t>fre-</a:t>
            </a:r>
            <a:r>
              <a:rPr sz="700" spc="190" dirty="0">
                <a:latin typeface="Times New Roman"/>
                <a:cs typeface="Times New Roman"/>
              </a:rPr>
              <a:t>quency</a:t>
            </a:r>
            <a:r>
              <a:rPr sz="700" spc="125" dirty="0">
                <a:latin typeface="Times New Roman"/>
                <a:cs typeface="Times New Roman"/>
              </a:rPr>
              <a:t> </a:t>
            </a:r>
            <a:r>
              <a:rPr sz="700" spc="250" dirty="0">
                <a:latin typeface="Times New Roman"/>
                <a:cs typeface="Times New Roman"/>
              </a:rPr>
              <a:t>RC </a:t>
            </a:r>
            <a:r>
              <a:rPr sz="700" spc="135" dirty="0">
                <a:latin typeface="Times New Roman"/>
                <a:cs typeface="Times New Roman"/>
              </a:rPr>
              <a:t>oscillator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830275" y="1798399"/>
            <a:ext cx="1417955" cy="847725"/>
            <a:chOff x="2830275" y="1798399"/>
            <a:chExt cx="1417955" cy="847725"/>
          </a:xfrm>
        </p:grpSpPr>
        <p:sp>
          <p:nvSpPr>
            <p:cNvPr id="46" name="object 46"/>
            <p:cNvSpPr/>
            <p:nvPr/>
          </p:nvSpPr>
          <p:spPr>
            <a:xfrm>
              <a:off x="3570203" y="1806337"/>
              <a:ext cx="670560" cy="396875"/>
            </a:xfrm>
            <a:custGeom>
              <a:avLst/>
              <a:gdLst/>
              <a:ahLst/>
              <a:cxnLst/>
              <a:rect l="l" t="t" r="r" b="b"/>
              <a:pathLst>
                <a:path w="670560" h="396875">
                  <a:moveTo>
                    <a:pt x="557115" y="0"/>
                  </a:moveTo>
                  <a:lnTo>
                    <a:pt x="113778" y="0"/>
                  </a:lnTo>
                  <a:lnTo>
                    <a:pt x="69406" y="5216"/>
                  </a:lnTo>
                  <a:lnTo>
                    <a:pt x="33250" y="19495"/>
                  </a:lnTo>
                  <a:lnTo>
                    <a:pt x="8913" y="40786"/>
                  </a:lnTo>
                  <a:lnTo>
                    <a:pt x="0" y="67035"/>
                  </a:lnTo>
                  <a:lnTo>
                    <a:pt x="0" y="329451"/>
                  </a:lnTo>
                  <a:lnTo>
                    <a:pt x="8913" y="355318"/>
                  </a:lnTo>
                  <a:lnTo>
                    <a:pt x="33250" y="376590"/>
                  </a:lnTo>
                  <a:lnTo>
                    <a:pt x="69406" y="391009"/>
                  </a:lnTo>
                  <a:lnTo>
                    <a:pt x="113778" y="396318"/>
                  </a:lnTo>
                  <a:lnTo>
                    <a:pt x="557115" y="396318"/>
                  </a:lnTo>
                  <a:lnTo>
                    <a:pt x="600908" y="391009"/>
                  </a:lnTo>
                  <a:lnTo>
                    <a:pt x="636802" y="376590"/>
                  </a:lnTo>
                  <a:lnTo>
                    <a:pt x="661070" y="355318"/>
                  </a:lnTo>
                  <a:lnTo>
                    <a:pt x="669987" y="329451"/>
                  </a:lnTo>
                  <a:lnTo>
                    <a:pt x="669987" y="67035"/>
                  </a:lnTo>
                  <a:lnTo>
                    <a:pt x="661070" y="40786"/>
                  </a:lnTo>
                  <a:lnTo>
                    <a:pt x="636802" y="19495"/>
                  </a:lnTo>
                  <a:lnTo>
                    <a:pt x="600908" y="5216"/>
                  </a:lnTo>
                  <a:lnTo>
                    <a:pt x="557115" y="0"/>
                  </a:lnTo>
                  <a:close/>
                </a:path>
              </a:pathLst>
            </a:custGeom>
            <a:solidFill>
              <a:srgbClr val="CA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70203" y="1806337"/>
              <a:ext cx="670560" cy="396875"/>
            </a:xfrm>
            <a:custGeom>
              <a:avLst/>
              <a:gdLst/>
              <a:ahLst/>
              <a:cxnLst/>
              <a:rect l="l" t="t" r="r" b="b"/>
              <a:pathLst>
                <a:path w="670560" h="396875">
                  <a:moveTo>
                    <a:pt x="669987" y="329451"/>
                  </a:moveTo>
                  <a:lnTo>
                    <a:pt x="661070" y="355318"/>
                  </a:lnTo>
                  <a:lnTo>
                    <a:pt x="636802" y="376590"/>
                  </a:lnTo>
                  <a:lnTo>
                    <a:pt x="600908" y="391009"/>
                  </a:lnTo>
                  <a:lnTo>
                    <a:pt x="557115" y="396318"/>
                  </a:lnTo>
                  <a:lnTo>
                    <a:pt x="113778" y="396318"/>
                  </a:lnTo>
                  <a:lnTo>
                    <a:pt x="69406" y="391009"/>
                  </a:lnTo>
                  <a:lnTo>
                    <a:pt x="33250" y="376590"/>
                  </a:lnTo>
                  <a:lnTo>
                    <a:pt x="8913" y="355318"/>
                  </a:lnTo>
                  <a:lnTo>
                    <a:pt x="0" y="329451"/>
                  </a:lnTo>
                  <a:lnTo>
                    <a:pt x="0" y="67035"/>
                  </a:lnTo>
                  <a:lnTo>
                    <a:pt x="8913" y="40786"/>
                  </a:lnTo>
                  <a:lnTo>
                    <a:pt x="33250" y="19495"/>
                  </a:lnTo>
                  <a:lnTo>
                    <a:pt x="69406" y="5216"/>
                  </a:lnTo>
                  <a:lnTo>
                    <a:pt x="113778" y="0"/>
                  </a:lnTo>
                  <a:lnTo>
                    <a:pt x="557115" y="0"/>
                  </a:lnTo>
                  <a:lnTo>
                    <a:pt x="600908" y="5216"/>
                  </a:lnTo>
                  <a:lnTo>
                    <a:pt x="636802" y="19495"/>
                  </a:lnTo>
                  <a:lnTo>
                    <a:pt x="661070" y="40786"/>
                  </a:lnTo>
                  <a:lnTo>
                    <a:pt x="669987" y="67035"/>
                  </a:lnTo>
                  <a:lnTo>
                    <a:pt x="669987" y="329451"/>
                  </a:lnTo>
                  <a:close/>
                </a:path>
              </a:pathLst>
            </a:custGeom>
            <a:ln w="145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838213" y="2241983"/>
              <a:ext cx="670560" cy="396240"/>
            </a:xfrm>
            <a:custGeom>
              <a:avLst/>
              <a:gdLst/>
              <a:ahLst/>
              <a:cxnLst/>
              <a:rect l="l" t="t" r="r" b="b"/>
              <a:pathLst>
                <a:path w="670560" h="396239">
                  <a:moveTo>
                    <a:pt x="557115" y="0"/>
                  </a:moveTo>
                  <a:lnTo>
                    <a:pt x="113649" y="0"/>
                  </a:lnTo>
                  <a:lnTo>
                    <a:pt x="69734" y="5216"/>
                  </a:lnTo>
                  <a:lnTo>
                    <a:pt x="33573" y="19432"/>
                  </a:lnTo>
                  <a:lnTo>
                    <a:pt x="9038" y="40502"/>
                  </a:lnTo>
                  <a:lnTo>
                    <a:pt x="0" y="66277"/>
                  </a:lnTo>
                  <a:lnTo>
                    <a:pt x="0" y="328608"/>
                  </a:lnTo>
                  <a:lnTo>
                    <a:pt x="9038" y="354906"/>
                  </a:lnTo>
                  <a:lnTo>
                    <a:pt x="33573" y="376222"/>
                  </a:lnTo>
                  <a:lnTo>
                    <a:pt x="69734" y="390511"/>
                  </a:lnTo>
                  <a:lnTo>
                    <a:pt x="113649" y="395728"/>
                  </a:lnTo>
                  <a:lnTo>
                    <a:pt x="557115" y="395728"/>
                  </a:lnTo>
                  <a:lnTo>
                    <a:pt x="600908" y="390511"/>
                  </a:lnTo>
                  <a:lnTo>
                    <a:pt x="636802" y="376222"/>
                  </a:lnTo>
                  <a:lnTo>
                    <a:pt x="661070" y="354906"/>
                  </a:lnTo>
                  <a:lnTo>
                    <a:pt x="669987" y="328608"/>
                  </a:lnTo>
                  <a:lnTo>
                    <a:pt x="669987" y="66277"/>
                  </a:lnTo>
                  <a:lnTo>
                    <a:pt x="661070" y="40502"/>
                  </a:lnTo>
                  <a:lnTo>
                    <a:pt x="636802" y="19432"/>
                  </a:lnTo>
                  <a:lnTo>
                    <a:pt x="600908" y="5216"/>
                  </a:lnTo>
                  <a:lnTo>
                    <a:pt x="557115" y="0"/>
                  </a:lnTo>
                  <a:close/>
                </a:path>
              </a:pathLst>
            </a:custGeom>
            <a:solidFill>
              <a:srgbClr val="CA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838213" y="2241983"/>
              <a:ext cx="670560" cy="396240"/>
            </a:xfrm>
            <a:custGeom>
              <a:avLst/>
              <a:gdLst/>
              <a:ahLst/>
              <a:cxnLst/>
              <a:rect l="l" t="t" r="r" b="b"/>
              <a:pathLst>
                <a:path w="670560" h="396239">
                  <a:moveTo>
                    <a:pt x="669987" y="328608"/>
                  </a:moveTo>
                  <a:lnTo>
                    <a:pt x="661070" y="354906"/>
                  </a:lnTo>
                  <a:lnTo>
                    <a:pt x="636802" y="376222"/>
                  </a:lnTo>
                  <a:lnTo>
                    <a:pt x="600908" y="390511"/>
                  </a:lnTo>
                  <a:lnTo>
                    <a:pt x="557115" y="395728"/>
                  </a:lnTo>
                  <a:lnTo>
                    <a:pt x="113649" y="395728"/>
                  </a:lnTo>
                  <a:lnTo>
                    <a:pt x="69734" y="390511"/>
                  </a:lnTo>
                  <a:lnTo>
                    <a:pt x="33573" y="376222"/>
                  </a:lnTo>
                  <a:lnTo>
                    <a:pt x="9038" y="354906"/>
                  </a:lnTo>
                  <a:lnTo>
                    <a:pt x="0" y="328608"/>
                  </a:lnTo>
                  <a:lnTo>
                    <a:pt x="0" y="66277"/>
                  </a:lnTo>
                  <a:lnTo>
                    <a:pt x="9038" y="40502"/>
                  </a:lnTo>
                  <a:lnTo>
                    <a:pt x="33573" y="19432"/>
                  </a:lnTo>
                  <a:lnTo>
                    <a:pt x="69734" y="5216"/>
                  </a:lnTo>
                  <a:lnTo>
                    <a:pt x="113649" y="0"/>
                  </a:lnTo>
                  <a:lnTo>
                    <a:pt x="557115" y="0"/>
                  </a:lnTo>
                  <a:lnTo>
                    <a:pt x="600908" y="5216"/>
                  </a:lnTo>
                  <a:lnTo>
                    <a:pt x="636802" y="19432"/>
                  </a:lnTo>
                  <a:lnTo>
                    <a:pt x="661070" y="40502"/>
                  </a:lnTo>
                  <a:lnTo>
                    <a:pt x="669987" y="66277"/>
                  </a:lnTo>
                  <a:lnTo>
                    <a:pt x="669987" y="328608"/>
                  </a:lnTo>
                  <a:close/>
                </a:path>
              </a:pathLst>
            </a:custGeom>
            <a:ln w="14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843117" y="2254986"/>
            <a:ext cx="658495" cy="3587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-1905" algn="ctr">
              <a:lnSpc>
                <a:spcPct val="104400"/>
              </a:lnSpc>
              <a:spcBef>
                <a:spcPts val="85"/>
              </a:spcBef>
            </a:pPr>
            <a:r>
              <a:rPr sz="700" spc="250" dirty="0">
                <a:latin typeface="Times New Roman"/>
                <a:cs typeface="Times New Roman"/>
              </a:rPr>
              <a:t>Low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spc="120" dirty="0">
                <a:latin typeface="Times New Roman"/>
                <a:cs typeface="Times New Roman"/>
              </a:rPr>
              <a:t>fre-</a:t>
            </a:r>
            <a:r>
              <a:rPr sz="700" spc="190" dirty="0">
                <a:latin typeface="Times New Roman"/>
                <a:cs typeface="Times New Roman"/>
              </a:rPr>
              <a:t>quency</a:t>
            </a:r>
            <a:r>
              <a:rPr sz="700" spc="125" dirty="0">
                <a:latin typeface="Times New Roman"/>
                <a:cs typeface="Times New Roman"/>
              </a:rPr>
              <a:t> </a:t>
            </a:r>
            <a:r>
              <a:rPr sz="700" spc="250" dirty="0">
                <a:latin typeface="Times New Roman"/>
                <a:cs typeface="Times New Roman"/>
              </a:rPr>
              <a:t>RC </a:t>
            </a:r>
            <a:r>
              <a:rPr sz="700" spc="135" dirty="0">
                <a:latin typeface="Times New Roman"/>
                <a:cs typeface="Times New Roman"/>
              </a:rPr>
              <a:t>oscillator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562266" y="2234046"/>
            <a:ext cx="686435" cy="412115"/>
            <a:chOff x="3562266" y="2234046"/>
            <a:chExt cx="686435" cy="412115"/>
          </a:xfrm>
        </p:grpSpPr>
        <p:sp>
          <p:nvSpPr>
            <p:cNvPr id="52" name="object 52"/>
            <p:cNvSpPr/>
            <p:nvPr/>
          </p:nvSpPr>
          <p:spPr>
            <a:xfrm>
              <a:off x="3570203" y="2241983"/>
              <a:ext cx="670560" cy="396240"/>
            </a:xfrm>
            <a:custGeom>
              <a:avLst/>
              <a:gdLst/>
              <a:ahLst/>
              <a:cxnLst/>
              <a:rect l="l" t="t" r="r" b="b"/>
              <a:pathLst>
                <a:path w="670560" h="396239">
                  <a:moveTo>
                    <a:pt x="557115" y="0"/>
                  </a:moveTo>
                  <a:lnTo>
                    <a:pt x="113778" y="0"/>
                  </a:lnTo>
                  <a:lnTo>
                    <a:pt x="69406" y="5216"/>
                  </a:lnTo>
                  <a:lnTo>
                    <a:pt x="33250" y="19432"/>
                  </a:lnTo>
                  <a:lnTo>
                    <a:pt x="8913" y="40502"/>
                  </a:lnTo>
                  <a:lnTo>
                    <a:pt x="0" y="66277"/>
                  </a:lnTo>
                  <a:lnTo>
                    <a:pt x="0" y="328608"/>
                  </a:lnTo>
                  <a:lnTo>
                    <a:pt x="8913" y="354906"/>
                  </a:lnTo>
                  <a:lnTo>
                    <a:pt x="33250" y="376222"/>
                  </a:lnTo>
                  <a:lnTo>
                    <a:pt x="69406" y="390511"/>
                  </a:lnTo>
                  <a:lnTo>
                    <a:pt x="113778" y="395728"/>
                  </a:lnTo>
                  <a:lnTo>
                    <a:pt x="557115" y="395728"/>
                  </a:lnTo>
                  <a:lnTo>
                    <a:pt x="600908" y="390511"/>
                  </a:lnTo>
                  <a:lnTo>
                    <a:pt x="636802" y="376222"/>
                  </a:lnTo>
                  <a:lnTo>
                    <a:pt x="661070" y="354906"/>
                  </a:lnTo>
                  <a:lnTo>
                    <a:pt x="669987" y="328608"/>
                  </a:lnTo>
                  <a:lnTo>
                    <a:pt x="669987" y="66277"/>
                  </a:lnTo>
                  <a:lnTo>
                    <a:pt x="661070" y="40502"/>
                  </a:lnTo>
                  <a:lnTo>
                    <a:pt x="636802" y="19432"/>
                  </a:lnTo>
                  <a:lnTo>
                    <a:pt x="600908" y="5216"/>
                  </a:lnTo>
                  <a:lnTo>
                    <a:pt x="557115" y="0"/>
                  </a:lnTo>
                  <a:close/>
                </a:path>
              </a:pathLst>
            </a:custGeom>
            <a:solidFill>
              <a:srgbClr val="CA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70203" y="2241983"/>
              <a:ext cx="670560" cy="396240"/>
            </a:xfrm>
            <a:custGeom>
              <a:avLst/>
              <a:gdLst/>
              <a:ahLst/>
              <a:cxnLst/>
              <a:rect l="l" t="t" r="r" b="b"/>
              <a:pathLst>
                <a:path w="670560" h="396239">
                  <a:moveTo>
                    <a:pt x="669987" y="328608"/>
                  </a:moveTo>
                  <a:lnTo>
                    <a:pt x="661070" y="354906"/>
                  </a:lnTo>
                  <a:lnTo>
                    <a:pt x="636802" y="376222"/>
                  </a:lnTo>
                  <a:lnTo>
                    <a:pt x="600908" y="390511"/>
                  </a:lnTo>
                  <a:lnTo>
                    <a:pt x="557115" y="395728"/>
                  </a:lnTo>
                  <a:lnTo>
                    <a:pt x="113778" y="395728"/>
                  </a:lnTo>
                  <a:lnTo>
                    <a:pt x="69406" y="390511"/>
                  </a:lnTo>
                  <a:lnTo>
                    <a:pt x="33250" y="376222"/>
                  </a:lnTo>
                  <a:lnTo>
                    <a:pt x="8913" y="354906"/>
                  </a:lnTo>
                  <a:lnTo>
                    <a:pt x="0" y="328608"/>
                  </a:lnTo>
                  <a:lnTo>
                    <a:pt x="0" y="66277"/>
                  </a:lnTo>
                  <a:lnTo>
                    <a:pt x="8913" y="40502"/>
                  </a:lnTo>
                  <a:lnTo>
                    <a:pt x="33250" y="19432"/>
                  </a:lnTo>
                  <a:lnTo>
                    <a:pt x="69406" y="5216"/>
                  </a:lnTo>
                  <a:lnTo>
                    <a:pt x="113778" y="0"/>
                  </a:lnTo>
                  <a:lnTo>
                    <a:pt x="557115" y="0"/>
                  </a:lnTo>
                  <a:lnTo>
                    <a:pt x="600908" y="5216"/>
                  </a:lnTo>
                  <a:lnTo>
                    <a:pt x="636802" y="19432"/>
                  </a:lnTo>
                  <a:lnTo>
                    <a:pt x="661070" y="40502"/>
                  </a:lnTo>
                  <a:lnTo>
                    <a:pt x="669987" y="66277"/>
                  </a:lnTo>
                  <a:lnTo>
                    <a:pt x="669987" y="328608"/>
                  </a:lnTo>
                  <a:close/>
                </a:path>
              </a:pathLst>
            </a:custGeom>
            <a:ln w="14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617822" y="1819507"/>
            <a:ext cx="570230" cy="3581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>
              <a:lnSpc>
                <a:spcPct val="104299"/>
              </a:lnSpc>
              <a:spcBef>
                <a:spcPts val="85"/>
              </a:spcBef>
            </a:pPr>
            <a:r>
              <a:rPr sz="700" spc="200" dirty="0">
                <a:latin typeface="Times New Roman"/>
                <a:cs typeface="Times New Roman"/>
              </a:rPr>
              <a:t>High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135" dirty="0">
                <a:latin typeface="Times New Roman"/>
                <a:cs typeface="Times New Roman"/>
              </a:rPr>
              <a:t>freq </a:t>
            </a:r>
            <a:r>
              <a:rPr sz="700" spc="140" dirty="0">
                <a:latin typeface="Times New Roman"/>
                <a:cs typeface="Times New Roman"/>
              </a:rPr>
              <a:t>crystal </a:t>
            </a:r>
            <a:r>
              <a:rPr sz="700" spc="135" dirty="0">
                <a:latin typeface="Times New Roman"/>
                <a:cs typeface="Times New Roman"/>
              </a:rPr>
              <a:t>oscillator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627531" y="2254986"/>
            <a:ext cx="551180" cy="3587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270" algn="ctr">
              <a:lnSpc>
                <a:spcPct val="104400"/>
              </a:lnSpc>
              <a:spcBef>
                <a:spcPts val="85"/>
              </a:spcBef>
            </a:pPr>
            <a:r>
              <a:rPr sz="700" spc="250" dirty="0">
                <a:latin typeface="Times New Roman"/>
                <a:cs typeface="Times New Roman"/>
              </a:rPr>
              <a:t>Low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spc="135" dirty="0">
                <a:latin typeface="Times New Roman"/>
                <a:cs typeface="Times New Roman"/>
              </a:rPr>
              <a:t>freq </a:t>
            </a:r>
            <a:r>
              <a:rPr sz="700" spc="140" dirty="0">
                <a:latin typeface="Times New Roman"/>
                <a:cs typeface="Times New Roman"/>
              </a:rPr>
              <a:t>crystal </a:t>
            </a:r>
            <a:r>
              <a:rPr sz="700" spc="135" dirty="0">
                <a:latin typeface="Times New Roman"/>
                <a:cs typeface="Times New Roman"/>
              </a:rPr>
              <a:t>oscillator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133321" y="1828283"/>
            <a:ext cx="541655" cy="3683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1435">
              <a:lnSpc>
                <a:spcPts val="890"/>
              </a:lnSpc>
              <a:spcBef>
                <a:spcPts val="135"/>
              </a:spcBef>
            </a:pPr>
            <a:r>
              <a:rPr sz="750" spc="310" dirty="0">
                <a:latin typeface="Times New Roman"/>
                <a:cs typeface="Times New Roman"/>
              </a:rPr>
              <a:t>SRAM</a:t>
            </a:r>
            <a:endParaRPr sz="750">
              <a:latin typeface="Times New Roman"/>
              <a:cs typeface="Times New Roman"/>
            </a:endParaRPr>
          </a:p>
          <a:p>
            <a:pPr marL="83185" marR="5080" indent="-71120">
              <a:lnSpc>
                <a:spcPts val="880"/>
              </a:lnSpc>
              <a:spcBef>
                <a:spcPts val="35"/>
              </a:spcBef>
            </a:pPr>
            <a:r>
              <a:rPr sz="750" spc="245" dirty="0">
                <a:latin typeface="Times New Roman"/>
                <a:cs typeface="Times New Roman"/>
              </a:rPr>
              <a:t>memory </a:t>
            </a:r>
            <a:r>
              <a:rPr sz="750" spc="229" dirty="0">
                <a:latin typeface="Times New Roman"/>
                <a:cs typeface="Times New Roman"/>
              </a:rPr>
              <a:t>64</a:t>
            </a:r>
            <a:r>
              <a:rPr sz="750" spc="95" dirty="0">
                <a:latin typeface="Times New Roman"/>
                <a:cs typeface="Times New Roman"/>
              </a:rPr>
              <a:t> </a:t>
            </a:r>
            <a:r>
              <a:rPr sz="750" spc="240" dirty="0">
                <a:latin typeface="Times New Roman"/>
                <a:cs typeface="Times New Roman"/>
              </a:rPr>
              <a:t>kB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882009" y="1828283"/>
            <a:ext cx="438150" cy="3683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880"/>
              </a:lnSpc>
              <a:spcBef>
                <a:spcPts val="180"/>
              </a:spcBef>
            </a:pPr>
            <a:r>
              <a:rPr sz="750" spc="235" dirty="0">
                <a:latin typeface="Times New Roman"/>
                <a:cs typeface="Times New Roman"/>
              </a:rPr>
              <a:t>Debug </a:t>
            </a:r>
            <a:r>
              <a:rPr sz="750" spc="160" dirty="0">
                <a:latin typeface="Times New Roman"/>
                <a:cs typeface="Times New Roman"/>
              </a:rPr>
              <a:t>inter-</a:t>
            </a:r>
            <a:r>
              <a:rPr sz="750" spc="170" dirty="0">
                <a:latin typeface="Times New Roman"/>
                <a:cs typeface="Times New Roman"/>
              </a:rPr>
              <a:t>face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529085" y="1828283"/>
            <a:ext cx="513715" cy="3683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ts val="890"/>
              </a:lnSpc>
              <a:spcBef>
                <a:spcPts val="135"/>
              </a:spcBef>
            </a:pPr>
            <a:r>
              <a:rPr sz="750" spc="340" dirty="0">
                <a:latin typeface="Times New Roman"/>
                <a:cs typeface="Times New Roman"/>
              </a:rPr>
              <a:t>DMA</a:t>
            </a:r>
            <a:endParaRPr sz="750">
              <a:latin typeface="Times New Roman"/>
              <a:cs typeface="Times New Roman"/>
            </a:endParaRPr>
          </a:p>
          <a:p>
            <a:pPr marL="12700" marR="5080" algn="ctr">
              <a:lnSpc>
                <a:spcPts val="880"/>
              </a:lnSpc>
              <a:spcBef>
                <a:spcPts val="35"/>
              </a:spcBef>
            </a:pPr>
            <a:r>
              <a:rPr sz="750" spc="175" dirty="0">
                <a:latin typeface="Times New Roman"/>
                <a:cs typeface="Times New Roman"/>
              </a:rPr>
              <a:t>control-</a:t>
            </a:r>
            <a:r>
              <a:rPr sz="750" spc="135" dirty="0">
                <a:latin typeface="Times New Roman"/>
                <a:cs typeface="Times New Roman"/>
              </a:rPr>
              <a:t>ler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363988" y="406473"/>
            <a:ext cx="488950" cy="81978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6195" marR="29845" indent="6350">
              <a:lnSpc>
                <a:spcPts val="880"/>
              </a:lnSpc>
              <a:spcBef>
                <a:spcPts val="180"/>
              </a:spcBef>
            </a:pPr>
            <a:r>
              <a:rPr sz="750" spc="185" dirty="0">
                <a:latin typeface="Times New Roman"/>
                <a:cs typeface="Times New Roman"/>
              </a:rPr>
              <a:t>Periph </a:t>
            </a:r>
            <a:r>
              <a:rPr sz="750" spc="210" dirty="0">
                <a:latin typeface="Times New Roman"/>
                <a:cs typeface="Times New Roman"/>
              </a:rPr>
              <a:t>bus</a:t>
            </a:r>
            <a:r>
              <a:rPr sz="750" spc="114" dirty="0">
                <a:latin typeface="Times New Roman"/>
                <a:cs typeface="Times New Roman"/>
              </a:rPr>
              <a:t> </a:t>
            </a:r>
            <a:r>
              <a:rPr sz="750" spc="130" dirty="0">
                <a:latin typeface="Times New Roman"/>
                <a:cs typeface="Times New Roman"/>
              </a:rPr>
              <a:t>int</a:t>
            </a:r>
            <a:endParaRPr sz="750">
              <a:latin typeface="Times New Roman"/>
              <a:cs typeface="Times New Roman"/>
            </a:endParaRPr>
          </a:p>
          <a:p>
            <a:pPr marL="34925" marR="26670" indent="67945">
              <a:lnSpc>
                <a:spcPts val="880"/>
              </a:lnSpc>
              <a:spcBef>
                <a:spcPts val="320"/>
              </a:spcBef>
            </a:pPr>
            <a:r>
              <a:rPr sz="750" spc="250" dirty="0">
                <a:latin typeface="Times New Roman"/>
                <a:cs typeface="Times New Roman"/>
              </a:rPr>
              <a:t>Low </a:t>
            </a:r>
            <a:r>
              <a:rPr sz="750" spc="190" dirty="0">
                <a:latin typeface="Times New Roman"/>
                <a:cs typeface="Times New Roman"/>
              </a:rPr>
              <a:t>energy</a:t>
            </a:r>
            <a:endParaRPr sz="750">
              <a:latin typeface="Times New Roman"/>
              <a:cs typeface="Times New Roman"/>
            </a:endParaRPr>
          </a:p>
          <a:p>
            <a:pPr marL="12700" marR="5080" indent="64135">
              <a:lnSpc>
                <a:spcPts val="880"/>
              </a:lnSpc>
              <a:spcBef>
                <a:spcPts val="590"/>
              </a:spcBef>
            </a:pPr>
            <a:r>
              <a:rPr sz="750" spc="190" dirty="0">
                <a:latin typeface="Times New Roman"/>
                <a:cs typeface="Times New Roman"/>
              </a:rPr>
              <a:t>Pulse </a:t>
            </a:r>
            <a:r>
              <a:rPr sz="750" spc="185" dirty="0">
                <a:latin typeface="Times New Roman"/>
                <a:cs typeface="Times New Roman"/>
              </a:rPr>
              <a:t>counter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948157" y="406473"/>
            <a:ext cx="509270" cy="81978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3495" marR="13970" indent="1270" algn="ctr">
              <a:lnSpc>
                <a:spcPts val="880"/>
              </a:lnSpc>
              <a:spcBef>
                <a:spcPts val="180"/>
              </a:spcBef>
            </a:pPr>
            <a:r>
              <a:rPr sz="750" spc="190" dirty="0">
                <a:latin typeface="Times New Roman"/>
                <a:cs typeface="Times New Roman"/>
              </a:rPr>
              <a:t>Timer/ </a:t>
            </a:r>
            <a:r>
              <a:rPr sz="750" spc="185" dirty="0">
                <a:latin typeface="Times New Roman"/>
                <a:cs typeface="Times New Roman"/>
              </a:rPr>
              <a:t>counter</a:t>
            </a:r>
            <a:endParaRPr sz="750">
              <a:latin typeface="Times New Roman"/>
              <a:cs typeface="Times New Roman"/>
            </a:endParaRPr>
          </a:p>
          <a:p>
            <a:pPr marL="16510" marR="7620" indent="2540" algn="ctr">
              <a:lnSpc>
                <a:spcPts val="880"/>
              </a:lnSpc>
              <a:spcBef>
                <a:spcPts val="320"/>
              </a:spcBef>
            </a:pPr>
            <a:r>
              <a:rPr sz="750" spc="190" dirty="0">
                <a:latin typeface="Times New Roman"/>
                <a:cs typeface="Times New Roman"/>
              </a:rPr>
              <a:t>Real </a:t>
            </a:r>
            <a:r>
              <a:rPr sz="750" spc="200" dirty="0">
                <a:latin typeface="Times New Roman"/>
                <a:cs typeface="Times New Roman"/>
              </a:rPr>
              <a:t>time</a:t>
            </a:r>
            <a:r>
              <a:rPr sz="750" spc="110" dirty="0">
                <a:latin typeface="Times New Roman"/>
                <a:cs typeface="Times New Roman"/>
              </a:rPr>
              <a:t> </a:t>
            </a:r>
            <a:r>
              <a:rPr sz="750" spc="135" dirty="0">
                <a:latin typeface="Times New Roman"/>
                <a:cs typeface="Times New Roman"/>
              </a:rPr>
              <a:t>ctr</a:t>
            </a:r>
            <a:endParaRPr sz="750">
              <a:latin typeface="Times New Roman"/>
              <a:cs typeface="Times New Roman"/>
            </a:endParaRPr>
          </a:p>
          <a:p>
            <a:pPr marL="12065" marR="5080" indent="3175" algn="ctr">
              <a:lnSpc>
                <a:spcPts val="880"/>
              </a:lnSpc>
              <a:spcBef>
                <a:spcPts val="590"/>
              </a:spcBef>
            </a:pPr>
            <a:r>
              <a:rPr sz="750" spc="204" dirty="0">
                <a:latin typeface="Times New Roman"/>
                <a:cs typeface="Times New Roman"/>
              </a:rPr>
              <a:t>Watch-</a:t>
            </a:r>
            <a:r>
              <a:rPr sz="750" spc="225" dirty="0">
                <a:latin typeface="Times New Roman"/>
                <a:cs typeface="Times New Roman"/>
              </a:rPr>
              <a:t>dog</a:t>
            </a:r>
            <a:r>
              <a:rPr sz="750" spc="105" dirty="0">
                <a:latin typeface="Times New Roman"/>
                <a:cs typeface="Times New Roman"/>
              </a:rPr>
              <a:t> </a:t>
            </a:r>
            <a:r>
              <a:rPr sz="750" spc="185" dirty="0">
                <a:latin typeface="Times New Roman"/>
                <a:cs typeface="Times New Roman"/>
              </a:rPr>
              <a:t>tmr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665779" y="855341"/>
            <a:ext cx="516255" cy="3683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880"/>
              </a:lnSpc>
              <a:spcBef>
                <a:spcPts val="180"/>
              </a:spcBef>
            </a:pPr>
            <a:r>
              <a:rPr sz="750" spc="195" dirty="0">
                <a:latin typeface="Times New Roman"/>
                <a:cs typeface="Times New Roman"/>
              </a:rPr>
              <a:t>General purpose </a:t>
            </a:r>
            <a:r>
              <a:rPr sz="750" spc="180" dirty="0">
                <a:latin typeface="Times New Roman"/>
                <a:cs typeface="Times New Roman"/>
              </a:rPr>
              <a:t>I/O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261855" y="855341"/>
            <a:ext cx="549275" cy="3683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880"/>
              </a:lnSpc>
              <a:spcBef>
                <a:spcPts val="180"/>
              </a:spcBef>
            </a:pPr>
            <a:r>
              <a:rPr sz="750" spc="180" dirty="0">
                <a:latin typeface="Times New Roman"/>
                <a:cs typeface="Times New Roman"/>
              </a:rPr>
              <a:t>External </a:t>
            </a:r>
            <a:r>
              <a:rPr sz="750" spc="165" dirty="0">
                <a:latin typeface="Times New Roman"/>
                <a:cs typeface="Times New Roman"/>
              </a:rPr>
              <a:t>Inter-</a:t>
            </a:r>
            <a:r>
              <a:rPr sz="750" spc="170" dirty="0">
                <a:latin typeface="Times New Roman"/>
                <a:cs typeface="Times New Roman"/>
              </a:rPr>
              <a:t>rupts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026594" y="964653"/>
            <a:ext cx="440690" cy="145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spc="280" dirty="0">
                <a:latin typeface="Times New Roman"/>
                <a:cs typeface="Times New Roman"/>
              </a:rPr>
              <a:t>UART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623577" y="838161"/>
            <a:ext cx="444500" cy="36830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41275">
              <a:lnSpc>
                <a:spcPct val="97400"/>
              </a:lnSpc>
              <a:spcBef>
                <a:spcPts val="160"/>
              </a:spcBef>
            </a:pPr>
            <a:r>
              <a:rPr sz="750" spc="250" dirty="0">
                <a:latin typeface="Times New Roman"/>
                <a:cs typeface="Times New Roman"/>
              </a:rPr>
              <a:t>Low-</a:t>
            </a:r>
            <a:r>
              <a:rPr sz="750" spc="190" dirty="0">
                <a:latin typeface="Times New Roman"/>
                <a:cs typeface="Times New Roman"/>
              </a:rPr>
              <a:t>energy </a:t>
            </a:r>
            <a:r>
              <a:rPr sz="750" spc="275" dirty="0">
                <a:latin typeface="Times New Roman"/>
                <a:cs typeface="Times New Roman"/>
              </a:rPr>
              <a:t>UART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981937" y="275012"/>
            <a:ext cx="1034415" cy="424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spc="175" dirty="0">
                <a:latin typeface="Times New Roman"/>
                <a:cs typeface="Times New Roman"/>
              </a:rPr>
              <a:t>Serial</a:t>
            </a:r>
            <a:r>
              <a:rPr sz="750" spc="120" dirty="0">
                <a:latin typeface="Times New Roman"/>
                <a:cs typeface="Times New Roman"/>
              </a:rPr>
              <a:t> </a:t>
            </a:r>
            <a:r>
              <a:rPr sz="750" spc="170" dirty="0">
                <a:latin typeface="Times New Roman"/>
                <a:cs typeface="Times New Roman"/>
              </a:rPr>
              <a:t>Interfaces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75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tabLst>
                <a:tab pos="703580" algn="l"/>
              </a:tabLst>
            </a:pPr>
            <a:r>
              <a:rPr sz="750" spc="280" dirty="0">
                <a:latin typeface="Times New Roman"/>
                <a:cs typeface="Times New Roman"/>
              </a:rPr>
              <a:t>USART</a:t>
            </a:r>
            <a:r>
              <a:rPr sz="750" dirty="0">
                <a:latin typeface="Times New Roman"/>
                <a:cs typeface="Times New Roman"/>
              </a:rPr>
              <a:t>	</a:t>
            </a:r>
            <a:r>
              <a:rPr sz="750" spc="275" dirty="0">
                <a:latin typeface="Times New Roman"/>
                <a:cs typeface="Times New Roman"/>
              </a:rPr>
              <a:t>USB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741631" y="480498"/>
            <a:ext cx="319405" cy="25717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42545">
              <a:lnSpc>
                <a:spcPts val="880"/>
              </a:lnSpc>
              <a:spcBef>
                <a:spcPts val="180"/>
              </a:spcBef>
            </a:pPr>
            <a:r>
              <a:rPr sz="750" spc="180" dirty="0">
                <a:latin typeface="Times New Roman"/>
                <a:cs typeface="Times New Roman"/>
              </a:rPr>
              <a:t>Pin </a:t>
            </a:r>
            <a:r>
              <a:rPr sz="750" spc="165" dirty="0">
                <a:latin typeface="Times New Roman"/>
                <a:cs typeface="Times New Roman"/>
              </a:rPr>
              <a:t>reset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143613" y="1268725"/>
            <a:ext cx="1058545" cy="43053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900" spc="204" dirty="0">
                <a:latin typeface="Times New Roman"/>
                <a:cs typeface="Times New Roman"/>
              </a:rPr>
              <a:t>Peripheral</a:t>
            </a:r>
            <a:r>
              <a:rPr sz="900" spc="165" dirty="0">
                <a:latin typeface="Times New Roman"/>
                <a:cs typeface="Times New Roman"/>
              </a:rPr>
              <a:t> </a:t>
            </a:r>
            <a:r>
              <a:rPr sz="900" spc="210" dirty="0">
                <a:latin typeface="Times New Roman"/>
                <a:cs typeface="Times New Roman"/>
              </a:rPr>
              <a:t>bus</a:t>
            </a:r>
            <a:endParaRPr sz="900">
              <a:latin typeface="Times New Roman"/>
              <a:cs typeface="Times New Roman"/>
            </a:endParaRPr>
          </a:p>
          <a:p>
            <a:pPr marL="62865" algn="ctr">
              <a:lnSpc>
                <a:spcPct val="100000"/>
              </a:lnSpc>
              <a:spcBef>
                <a:spcPts val="509"/>
              </a:spcBef>
            </a:pPr>
            <a:r>
              <a:rPr sz="900" b="1" spc="225" dirty="0">
                <a:solidFill>
                  <a:srgbClr val="FDFDFD"/>
                </a:solidFill>
                <a:latin typeface="Times New Roman"/>
                <a:cs typeface="Times New Roman"/>
              </a:rPr>
              <a:t>32-</a:t>
            </a:r>
            <a:r>
              <a:rPr sz="900" b="1" spc="235" dirty="0">
                <a:solidFill>
                  <a:srgbClr val="FDFDFD"/>
                </a:solidFill>
                <a:latin typeface="Times New Roman"/>
                <a:cs typeface="Times New Roman"/>
              </a:rPr>
              <a:t>bit</a:t>
            </a:r>
            <a:r>
              <a:rPr sz="900" b="1" spc="25" dirty="0">
                <a:solidFill>
                  <a:srgbClr val="FDFDFD"/>
                </a:solidFill>
                <a:latin typeface="Times New Roman"/>
                <a:cs typeface="Times New Roman"/>
              </a:rPr>
              <a:t> </a:t>
            </a:r>
            <a:r>
              <a:rPr sz="900" b="1" spc="275" dirty="0">
                <a:solidFill>
                  <a:srgbClr val="FDFDFD"/>
                </a:solidFill>
                <a:latin typeface="Times New Roman"/>
                <a:cs typeface="Times New Roman"/>
              </a:rPr>
              <a:t>bus</a:t>
            </a:r>
            <a:endParaRPr sz="900">
              <a:latin typeface="Times New Roman"/>
              <a:cs typeface="Times New Roman"/>
            </a:endParaRPr>
          </a:p>
        </p:txBody>
      </p:sp>
      <p:graphicFrame>
        <p:nvGraphicFramePr>
          <p:cNvPr id="68" name="object 68"/>
          <p:cNvGraphicFramePr>
            <a:graphicFrameLocks noGrp="1"/>
          </p:cNvGraphicFramePr>
          <p:nvPr/>
        </p:nvGraphicFramePr>
        <p:xfrm>
          <a:off x="1386143" y="595621"/>
          <a:ext cx="1718944" cy="447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9910"/>
                <a:gridCol w="647065"/>
                <a:gridCol w="521969"/>
              </a:tblGrid>
              <a:tr h="110489">
                <a:tc>
                  <a:txBody>
                    <a:bodyPr/>
                    <a:lstStyle/>
                    <a:p>
                      <a:pPr marR="116839" algn="ctr">
                        <a:lnSpc>
                          <a:spcPts val="775"/>
                        </a:lnSpc>
                      </a:pPr>
                      <a:r>
                        <a:rPr sz="750" spc="215" dirty="0">
                          <a:latin typeface="Times New Roman"/>
                          <a:cs typeface="Times New Roman"/>
                        </a:rPr>
                        <a:t>Hard-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13030">
                <a:tc>
                  <a:txBody>
                    <a:bodyPr/>
                    <a:lstStyle/>
                    <a:p>
                      <a:pPr marR="116205" algn="ctr">
                        <a:lnSpc>
                          <a:spcPts val="795"/>
                        </a:lnSpc>
                      </a:pPr>
                      <a:r>
                        <a:rPr sz="750" spc="200" dirty="0">
                          <a:latin typeface="Times New Roman"/>
                          <a:cs typeface="Times New Roman"/>
                        </a:rPr>
                        <a:t>ware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ts val="795"/>
                        </a:lnSpc>
                      </a:pPr>
                      <a:r>
                        <a:rPr sz="750" spc="245" dirty="0">
                          <a:latin typeface="Times New Roman"/>
                          <a:cs typeface="Times New Roman"/>
                        </a:rPr>
                        <a:t>A/D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 algn="ctr">
                        <a:lnSpc>
                          <a:spcPts val="795"/>
                        </a:lnSpc>
                      </a:pPr>
                      <a:r>
                        <a:rPr sz="750" spc="245" dirty="0">
                          <a:latin typeface="Times New Roman"/>
                          <a:cs typeface="Times New Roman"/>
                        </a:rPr>
                        <a:t>D/A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13030">
                <a:tc>
                  <a:txBody>
                    <a:bodyPr/>
                    <a:lstStyle/>
                    <a:p>
                      <a:pPr marR="115570" algn="ctr">
                        <a:lnSpc>
                          <a:spcPts val="795"/>
                        </a:lnSpc>
                      </a:pPr>
                      <a:r>
                        <a:rPr sz="750" spc="265" dirty="0">
                          <a:latin typeface="Times New Roman"/>
                          <a:cs typeface="Times New Roman"/>
                        </a:rPr>
                        <a:t>AES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ts val="795"/>
                        </a:lnSpc>
                      </a:pPr>
                      <a:r>
                        <a:rPr sz="750" spc="200" dirty="0">
                          <a:latin typeface="Times New Roman"/>
                          <a:cs typeface="Times New Roman"/>
                        </a:rPr>
                        <a:t>con-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0" algn="ctr">
                        <a:lnSpc>
                          <a:spcPts val="795"/>
                        </a:lnSpc>
                      </a:pPr>
                      <a:r>
                        <a:rPr sz="750" spc="200" dirty="0">
                          <a:latin typeface="Times New Roman"/>
                          <a:cs typeface="Times New Roman"/>
                        </a:rPr>
                        <a:t>con-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104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775"/>
                        </a:lnSpc>
                      </a:pPr>
                      <a:r>
                        <a:rPr sz="750" spc="165" dirty="0">
                          <a:latin typeface="Times New Roman"/>
                          <a:cs typeface="Times New Roman"/>
                        </a:rPr>
                        <a:t>verter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6520" algn="ctr">
                        <a:lnSpc>
                          <a:spcPts val="775"/>
                        </a:lnSpc>
                      </a:pPr>
                      <a:r>
                        <a:rPr sz="750" spc="165" dirty="0">
                          <a:latin typeface="Times New Roman"/>
                          <a:cs typeface="Times New Roman"/>
                        </a:rPr>
                        <a:t>verter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69" name="object 69"/>
          <p:cNvGrpSpPr/>
          <p:nvPr/>
        </p:nvGrpSpPr>
        <p:grpSpPr>
          <a:xfrm>
            <a:off x="1245359" y="1258768"/>
            <a:ext cx="6264275" cy="4758055"/>
            <a:chOff x="1245359" y="1258768"/>
            <a:chExt cx="6264275" cy="4758055"/>
          </a:xfrm>
        </p:grpSpPr>
        <p:sp>
          <p:nvSpPr>
            <p:cNvPr id="70" name="object 70"/>
            <p:cNvSpPr/>
            <p:nvPr/>
          </p:nvSpPr>
          <p:spPr>
            <a:xfrm>
              <a:off x="2209388" y="1681108"/>
              <a:ext cx="1319530" cy="100965"/>
            </a:xfrm>
            <a:custGeom>
              <a:avLst/>
              <a:gdLst/>
              <a:ahLst/>
              <a:cxnLst/>
              <a:rect l="l" t="t" r="r" b="b"/>
              <a:pathLst>
                <a:path w="1319529" h="100964">
                  <a:moveTo>
                    <a:pt x="1319006" y="0"/>
                  </a:moveTo>
                  <a:lnTo>
                    <a:pt x="1319006" y="0"/>
                  </a:lnTo>
                  <a:lnTo>
                    <a:pt x="1319006" y="100553"/>
                  </a:lnTo>
                </a:path>
                <a:path w="1319529" h="100964">
                  <a:moveTo>
                    <a:pt x="0" y="0"/>
                  </a:moveTo>
                  <a:lnTo>
                    <a:pt x="0" y="0"/>
                  </a:lnTo>
                  <a:lnTo>
                    <a:pt x="0" y="100553"/>
                  </a:lnTo>
                </a:path>
              </a:pathLst>
            </a:custGeom>
            <a:ln w="5303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528747" y="1258768"/>
              <a:ext cx="4918075" cy="523240"/>
            </a:xfrm>
            <a:custGeom>
              <a:avLst/>
              <a:gdLst/>
              <a:ahLst/>
              <a:cxnLst/>
              <a:rect l="l" t="t" r="r" b="b"/>
              <a:pathLst>
                <a:path w="4918075" h="523239">
                  <a:moveTo>
                    <a:pt x="0" y="0"/>
                  </a:moveTo>
                  <a:lnTo>
                    <a:pt x="0" y="0"/>
                  </a:lnTo>
                  <a:lnTo>
                    <a:pt x="0" y="100553"/>
                  </a:lnTo>
                </a:path>
                <a:path w="4918075" h="523239">
                  <a:moveTo>
                    <a:pt x="956609" y="0"/>
                  </a:moveTo>
                  <a:lnTo>
                    <a:pt x="956609" y="0"/>
                  </a:lnTo>
                  <a:lnTo>
                    <a:pt x="956609" y="100553"/>
                  </a:lnTo>
                </a:path>
                <a:path w="4918075" h="523239">
                  <a:moveTo>
                    <a:pt x="416192" y="227044"/>
                  </a:moveTo>
                  <a:lnTo>
                    <a:pt x="416192" y="227044"/>
                  </a:lnTo>
                  <a:lnTo>
                    <a:pt x="416192" y="522894"/>
                  </a:lnTo>
                </a:path>
                <a:path w="4918075" h="523239">
                  <a:moveTo>
                    <a:pt x="2227204" y="0"/>
                  </a:moveTo>
                  <a:lnTo>
                    <a:pt x="2227204" y="0"/>
                  </a:lnTo>
                  <a:lnTo>
                    <a:pt x="2227204" y="100553"/>
                  </a:lnTo>
                </a:path>
                <a:path w="4918075" h="523239">
                  <a:moveTo>
                    <a:pt x="3571581" y="0"/>
                  </a:moveTo>
                  <a:lnTo>
                    <a:pt x="3571581" y="0"/>
                  </a:lnTo>
                  <a:lnTo>
                    <a:pt x="3571581" y="100553"/>
                  </a:lnTo>
                </a:path>
                <a:path w="4918075" h="523239">
                  <a:moveTo>
                    <a:pt x="4918028" y="0"/>
                  </a:moveTo>
                  <a:lnTo>
                    <a:pt x="4918028" y="0"/>
                  </a:lnTo>
                  <a:lnTo>
                    <a:pt x="4918028" y="100553"/>
                  </a:lnTo>
                </a:path>
              </a:pathLst>
            </a:custGeom>
            <a:ln w="53039">
              <a:solidFill>
                <a:srgbClr val="ADAD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704826" y="1269042"/>
              <a:ext cx="4935855" cy="513080"/>
            </a:xfrm>
            <a:custGeom>
              <a:avLst/>
              <a:gdLst/>
              <a:ahLst/>
              <a:cxnLst/>
              <a:rect l="l" t="t" r="r" b="b"/>
              <a:pathLst>
                <a:path w="4935855" h="513080">
                  <a:moveTo>
                    <a:pt x="4041025" y="412066"/>
                  </a:moveTo>
                  <a:lnTo>
                    <a:pt x="4041025" y="412066"/>
                  </a:lnTo>
                  <a:lnTo>
                    <a:pt x="4041025" y="512619"/>
                  </a:lnTo>
                </a:path>
                <a:path w="4935855" h="513080">
                  <a:moveTo>
                    <a:pt x="4935335" y="0"/>
                  </a:moveTo>
                  <a:lnTo>
                    <a:pt x="4935335" y="0"/>
                  </a:lnTo>
                  <a:lnTo>
                    <a:pt x="4935335" y="294501"/>
                  </a:lnTo>
                </a:path>
                <a:path w="4935855" h="513080">
                  <a:moveTo>
                    <a:pt x="3607656" y="0"/>
                  </a:moveTo>
                  <a:lnTo>
                    <a:pt x="3607656" y="0"/>
                  </a:lnTo>
                  <a:lnTo>
                    <a:pt x="3607656" y="294501"/>
                  </a:lnTo>
                </a:path>
                <a:path w="4935855" h="513080">
                  <a:moveTo>
                    <a:pt x="2304959" y="0"/>
                  </a:moveTo>
                  <a:lnTo>
                    <a:pt x="2304959" y="0"/>
                  </a:lnTo>
                  <a:lnTo>
                    <a:pt x="2304959" y="294501"/>
                  </a:lnTo>
                </a:path>
                <a:path w="4935855" h="513080">
                  <a:moveTo>
                    <a:pt x="1028281" y="0"/>
                  </a:moveTo>
                  <a:lnTo>
                    <a:pt x="1028281" y="0"/>
                  </a:lnTo>
                  <a:lnTo>
                    <a:pt x="1028281" y="294501"/>
                  </a:lnTo>
                </a:path>
                <a:path w="4935855" h="513080">
                  <a:moveTo>
                    <a:pt x="0" y="0"/>
                  </a:moveTo>
                  <a:lnTo>
                    <a:pt x="0" y="0"/>
                  </a:lnTo>
                  <a:lnTo>
                    <a:pt x="0" y="294501"/>
                  </a:lnTo>
                </a:path>
              </a:pathLst>
            </a:custGeom>
            <a:ln w="5303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253697" y="4108283"/>
              <a:ext cx="4356100" cy="433705"/>
            </a:xfrm>
            <a:custGeom>
              <a:avLst/>
              <a:gdLst/>
              <a:ahLst/>
              <a:cxnLst/>
              <a:rect l="l" t="t" r="r" b="b"/>
              <a:pathLst>
                <a:path w="4356100" h="433704">
                  <a:moveTo>
                    <a:pt x="0" y="433120"/>
                  </a:moveTo>
                  <a:lnTo>
                    <a:pt x="2886" y="433120"/>
                  </a:lnTo>
                  <a:lnTo>
                    <a:pt x="11559" y="432530"/>
                  </a:lnTo>
                  <a:lnTo>
                    <a:pt x="24412" y="431267"/>
                  </a:lnTo>
                  <a:lnTo>
                    <a:pt x="42728" y="429162"/>
                  </a:lnTo>
                  <a:lnTo>
                    <a:pt x="51401" y="428572"/>
                  </a:lnTo>
                </a:path>
                <a:path w="4356100" h="433704">
                  <a:moveTo>
                    <a:pt x="102180" y="423519"/>
                  </a:moveTo>
                  <a:lnTo>
                    <a:pt x="125312" y="420993"/>
                  </a:lnTo>
                  <a:lnTo>
                    <a:pt x="153594" y="418551"/>
                  </a:lnTo>
                </a:path>
                <a:path w="4356100" h="433704">
                  <a:moveTo>
                    <a:pt x="205009" y="413498"/>
                  </a:moveTo>
                  <a:lnTo>
                    <a:pt x="246779" y="409708"/>
                  </a:lnTo>
                  <a:lnTo>
                    <a:pt x="256733" y="408529"/>
                  </a:lnTo>
                </a:path>
                <a:path w="4356100" h="433704">
                  <a:moveTo>
                    <a:pt x="307189" y="403223"/>
                  </a:moveTo>
                  <a:lnTo>
                    <a:pt x="346022" y="399518"/>
                  </a:lnTo>
                  <a:lnTo>
                    <a:pt x="358578" y="398255"/>
                  </a:lnTo>
                </a:path>
                <a:path w="4356100" h="433704">
                  <a:moveTo>
                    <a:pt x="410354" y="393202"/>
                  </a:moveTo>
                  <a:lnTo>
                    <a:pt x="460836" y="388233"/>
                  </a:lnTo>
                  <a:lnTo>
                    <a:pt x="461742" y="388233"/>
                  </a:lnTo>
                </a:path>
                <a:path w="4356100" h="433704">
                  <a:moveTo>
                    <a:pt x="512224" y="383180"/>
                  </a:moveTo>
                  <a:lnTo>
                    <a:pt x="523097" y="382590"/>
                  </a:lnTo>
                  <a:lnTo>
                    <a:pt x="563871" y="377959"/>
                  </a:lnTo>
                </a:path>
                <a:path w="4356100" h="433704">
                  <a:moveTo>
                    <a:pt x="615389" y="372990"/>
                  </a:moveTo>
                  <a:lnTo>
                    <a:pt x="655127" y="369200"/>
                  </a:lnTo>
                  <a:lnTo>
                    <a:pt x="665742" y="367937"/>
                  </a:lnTo>
                </a:path>
                <a:path w="4356100" h="433704">
                  <a:moveTo>
                    <a:pt x="717518" y="362884"/>
                  </a:moveTo>
                  <a:lnTo>
                    <a:pt x="726191" y="362295"/>
                  </a:lnTo>
                  <a:lnTo>
                    <a:pt x="768906" y="357915"/>
                  </a:lnTo>
                </a:path>
                <a:path w="4356100" h="433704">
                  <a:moveTo>
                    <a:pt x="820294" y="352862"/>
                  </a:moveTo>
                  <a:lnTo>
                    <a:pt x="820294" y="352862"/>
                  </a:lnTo>
                  <a:lnTo>
                    <a:pt x="871165" y="347641"/>
                  </a:lnTo>
                </a:path>
                <a:path w="4356100" h="433704">
                  <a:moveTo>
                    <a:pt x="922553" y="342672"/>
                  </a:moveTo>
                  <a:lnTo>
                    <a:pt x="952713" y="339472"/>
                  </a:lnTo>
                  <a:lnTo>
                    <a:pt x="973941" y="337619"/>
                  </a:lnTo>
                </a:path>
                <a:path w="4356100" h="433704">
                  <a:moveTo>
                    <a:pt x="1024682" y="332566"/>
                  </a:moveTo>
                  <a:lnTo>
                    <a:pt x="1033355" y="331387"/>
                  </a:lnTo>
                  <a:lnTo>
                    <a:pt x="1076070" y="327598"/>
                  </a:lnTo>
                </a:path>
                <a:path w="4356100" h="433704">
                  <a:moveTo>
                    <a:pt x="1127588" y="322376"/>
                  </a:moveTo>
                  <a:lnTo>
                    <a:pt x="1127588" y="322376"/>
                  </a:lnTo>
                  <a:lnTo>
                    <a:pt x="1179235" y="316734"/>
                  </a:lnTo>
                </a:path>
                <a:path w="4356100" h="433704">
                  <a:moveTo>
                    <a:pt x="1229717" y="311681"/>
                  </a:moveTo>
                  <a:lnTo>
                    <a:pt x="1229717" y="311681"/>
                  </a:lnTo>
                  <a:lnTo>
                    <a:pt x="1281105" y="306712"/>
                  </a:lnTo>
                </a:path>
                <a:path w="4356100" h="433704">
                  <a:moveTo>
                    <a:pt x="1332882" y="301659"/>
                  </a:moveTo>
                  <a:lnTo>
                    <a:pt x="1371714" y="297701"/>
                  </a:lnTo>
                  <a:lnTo>
                    <a:pt x="1384270" y="296438"/>
                  </a:lnTo>
                </a:path>
                <a:path w="4356100" h="433704">
                  <a:moveTo>
                    <a:pt x="1434752" y="291385"/>
                  </a:moveTo>
                  <a:lnTo>
                    <a:pt x="1460122" y="288943"/>
                  </a:lnTo>
                  <a:lnTo>
                    <a:pt x="1486528" y="286416"/>
                  </a:lnTo>
                </a:path>
                <a:path w="4356100" h="433704">
                  <a:moveTo>
                    <a:pt x="1537917" y="281363"/>
                  </a:moveTo>
                  <a:lnTo>
                    <a:pt x="1549437" y="280100"/>
                  </a:lnTo>
                  <a:lnTo>
                    <a:pt x="1588269" y="276395"/>
                  </a:lnTo>
                </a:path>
                <a:path w="4356100" h="433704">
                  <a:moveTo>
                    <a:pt x="1640046" y="271173"/>
                  </a:moveTo>
                  <a:lnTo>
                    <a:pt x="1641081" y="271173"/>
                  </a:lnTo>
                  <a:lnTo>
                    <a:pt x="1691434" y="266120"/>
                  </a:lnTo>
                </a:path>
                <a:path w="4356100" h="433704">
                  <a:moveTo>
                    <a:pt x="1742952" y="261068"/>
                  </a:moveTo>
                  <a:lnTo>
                    <a:pt x="1742952" y="261068"/>
                  </a:lnTo>
                  <a:lnTo>
                    <a:pt x="1793692" y="256099"/>
                  </a:lnTo>
                </a:path>
                <a:path w="4356100" h="433704">
                  <a:moveTo>
                    <a:pt x="1845081" y="251046"/>
                  </a:moveTo>
                  <a:lnTo>
                    <a:pt x="1845081" y="251046"/>
                  </a:lnTo>
                  <a:lnTo>
                    <a:pt x="1896469" y="245235"/>
                  </a:lnTo>
                </a:path>
                <a:path w="4356100" h="433704">
                  <a:moveTo>
                    <a:pt x="1947210" y="240182"/>
                  </a:moveTo>
                  <a:lnTo>
                    <a:pt x="1947210" y="240182"/>
                  </a:lnTo>
                  <a:lnTo>
                    <a:pt x="1998727" y="235213"/>
                  </a:lnTo>
                </a:path>
                <a:path w="4356100" h="433704">
                  <a:moveTo>
                    <a:pt x="2050116" y="230160"/>
                  </a:moveTo>
                  <a:lnTo>
                    <a:pt x="2050116" y="230160"/>
                  </a:lnTo>
                  <a:lnTo>
                    <a:pt x="2101763" y="225108"/>
                  </a:lnTo>
                </a:path>
                <a:path w="4356100" h="433704">
                  <a:moveTo>
                    <a:pt x="2152245" y="219886"/>
                  </a:moveTo>
                  <a:lnTo>
                    <a:pt x="2198844" y="215507"/>
                  </a:lnTo>
                  <a:lnTo>
                    <a:pt x="2203633" y="214917"/>
                  </a:lnTo>
                </a:path>
                <a:path w="4356100" h="433704">
                  <a:moveTo>
                    <a:pt x="2255409" y="209865"/>
                  </a:moveTo>
                  <a:lnTo>
                    <a:pt x="2293336" y="206159"/>
                  </a:lnTo>
                  <a:lnTo>
                    <a:pt x="2305891" y="204896"/>
                  </a:lnTo>
                </a:path>
                <a:path w="4356100" h="433704">
                  <a:moveTo>
                    <a:pt x="2357280" y="199843"/>
                  </a:moveTo>
                  <a:lnTo>
                    <a:pt x="2386533" y="196727"/>
                  </a:lnTo>
                  <a:lnTo>
                    <a:pt x="2409056" y="194622"/>
                  </a:lnTo>
                </a:path>
                <a:path w="4356100" h="433704">
                  <a:moveTo>
                    <a:pt x="2460444" y="189569"/>
                  </a:moveTo>
                  <a:lnTo>
                    <a:pt x="2479731" y="187126"/>
                  </a:lnTo>
                  <a:lnTo>
                    <a:pt x="2510926" y="183926"/>
                  </a:lnTo>
                </a:path>
                <a:path w="4356100" h="433704">
                  <a:moveTo>
                    <a:pt x="2562573" y="178957"/>
                  </a:moveTo>
                  <a:lnTo>
                    <a:pt x="2573188" y="178284"/>
                  </a:lnTo>
                  <a:lnTo>
                    <a:pt x="2613962" y="173904"/>
                  </a:lnTo>
                </a:path>
                <a:path w="4356100" h="433704">
                  <a:moveTo>
                    <a:pt x="2664444" y="168683"/>
                  </a:moveTo>
                  <a:lnTo>
                    <a:pt x="2665479" y="168683"/>
                  </a:lnTo>
                  <a:lnTo>
                    <a:pt x="2716220" y="163714"/>
                  </a:lnTo>
                </a:path>
                <a:path w="4356100" h="433704">
                  <a:moveTo>
                    <a:pt x="2767608" y="158661"/>
                  </a:moveTo>
                  <a:lnTo>
                    <a:pt x="2767608" y="158661"/>
                  </a:lnTo>
                  <a:lnTo>
                    <a:pt x="2818996" y="153609"/>
                  </a:lnTo>
                </a:path>
                <a:path w="4356100" h="433704">
                  <a:moveTo>
                    <a:pt x="2869867" y="148640"/>
                  </a:moveTo>
                  <a:lnTo>
                    <a:pt x="2869867" y="148640"/>
                  </a:lnTo>
                  <a:lnTo>
                    <a:pt x="2921255" y="143587"/>
                  </a:lnTo>
                </a:path>
                <a:path w="4356100" h="433704">
                  <a:moveTo>
                    <a:pt x="2972643" y="138366"/>
                  </a:moveTo>
                  <a:lnTo>
                    <a:pt x="2972643" y="138366"/>
                  </a:lnTo>
                  <a:lnTo>
                    <a:pt x="3023384" y="133397"/>
                  </a:lnTo>
                </a:path>
                <a:path w="4356100" h="433704">
                  <a:moveTo>
                    <a:pt x="3074772" y="127754"/>
                  </a:moveTo>
                  <a:lnTo>
                    <a:pt x="3112699" y="123965"/>
                  </a:lnTo>
                  <a:lnTo>
                    <a:pt x="3126160" y="122701"/>
                  </a:lnTo>
                </a:path>
                <a:path w="4356100" h="433704">
                  <a:moveTo>
                    <a:pt x="3177937" y="117649"/>
                  </a:moveTo>
                  <a:lnTo>
                    <a:pt x="3198259" y="115627"/>
                  </a:lnTo>
                  <a:lnTo>
                    <a:pt x="3228419" y="112427"/>
                  </a:lnTo>
                </a:path>
                <a:path w="4356100" h="433704">
                  <a:moveTo>
                    <a:pt x="3279807" y="107458"/>
                  </a:moveTo>
                  <a:lnTo>
                    <a:pt x="3281749" y="107458"/>
                  </a:lnTo>
                  <a:lnTo>
                    <a:pt x="3331584" y="102406"/>
                  </a:lnTo>
                </a:path>
                <a:path w="4356100" h="433704">
                  <a:moveTo>
                    <a:pt x="3382066" y="97437"/>
                  </a:moveTo>
                  <a:lnTo>
                    <a:pt x="3382066" y="97437"/>
                  </a:lnTo>
                  <a:lnTo>
                    <a:pt x="3433454" y="92384"/>
                  </a:lnTo>
                </a:path>
                <a:path w="4356100" h="433704">
                  <a:moveTo>
                    <a:pt x="3485101" y="87163"/>
                  </a:moveTo>
                  <a:lnTo>
                    <a:pt x="3522121" y="83373"/>
                  </a:lnTo>
                  <a:lnTo>
                    <a:pt x="3536619" y="82110"/>
                  </a:lnTo>
                </a:path>
                <a:path w="4356100" h="433704">
                  <a:moveTo>
                    <a:pt x="3586971" y="77141"/>
                  </a:moveTo>
                  <a:lnTo>
                    <a:pt x="3596938" y="75878"/>
                  </a:lnTo>
                  <a:lnTo>
                    <a:pt x="3638748" y="71498"/>
                  </a:lnTo>
                </a:path>
                <a:path w="4356100" h="433704">
                  <a:moveTo>
                    <a:pt x="3690136" y="66446"/>
                  </a:moveTo>
                  <a:lnTo>
                    <a:pt x="3740618" y="61224"/>
                  </a:lnTo>
                </a:path>
                <a:path w="4356100" h="433704">
                  <a:moveTo>
                    <a:pt x="3792394" y="56255"/>
                  </a:moveTo>
                  <a:lnTo>
                    <a:pt x="3808704" y="54992"/>
                  </a:lnTo>
                  <a:lnTo>
                    <a:pt x="3843783" y="51203"/>
                  </a:lnTo>
                </a:path>
                <a:path w="4356100" h="433704">
                  <a:moveTo>
                    <a:pt x="3895171" y="46150"/>
                  </a:moveTo>
                  <a:lnTo>
                    <a:pt x="3935039" y="42444"/>
                  </a:lnTo>
                  <a:lnTo>
                    <a:pt x="3945912" y="41181"/>
                  </a:lnTo>
                </a:path>
                <a:path w="4356100" h="433704">
                  <a:moveTo>
                    <a:pt x="3997300" y="35960"/>
                  </a:moveTo>
                  <a:lnTo>
                    <a:pt x="4047782" y="30907"/>
                  </a:lnTo>
                  <a:lnTo>
                    <a:pt x="4048818" y="30907"/>
                  </a:lnTo>
                </a:path>
                <a:path w="4356100" h="433704">
                  <a:moveTo>
                    <a:pt x="4100465" y="25938"/>
                  </a:moveTo>
                  <a:lnTo>
                    <a:pt x="4148099" y="20885"/>
                  </a:lnTo>
                  <a:lnTo>
                    <a:pt x="4150947" y="20295"/>
                  </a:lnTo>
                </a:path>
                <a:path w="4356100" h="433704">
                  <a:moveTo>
                    <a:pt x="4202335" y="15243"/>
                  </a:moveTo>
                  <a:lnTo>
                    <a:pt x="4231589" y="12716"/>
                  </a:lnTo>
                  <a:lnTo>
                    <a:pt x="4254111" y="10021"/>
                  </a:lnTo>
                </a:path>
                <a:path w="4356100" h="433704">
                  <a:moveTo>
                    <a:pt x="4304593" y="4968"/>
                  </a:moveTo>
                  <a:lnTo>
                    <a:pt x="4326728" y="3115"/>
                  </a:lnTo>
                  <a:lnTo>
                    <a:pt x="4349251" y="589"/>
                  </a:lnTo>
                  <a:lnTo>
                    <a:pt x="4355982" y="0"/>
                  </a:lnTo>
                </a:path>
              </a:pathLst>
            </a:custGeom>
            <a:ln w="209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2059" y="2881232"/>
              <a:ext cx="136973" cy="86624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4488847" y="2553075"/>
              <a:ext cx="590550" cy="316865"/>
            </a:xfrm>
            <a:custGeom>
              <a:avLst/>
              <a:gdLst/>
              <a:ahLst/>
              <a:cxnLst/>
              <a:rect l="l" t="t" r="r" b="b"/>
              <a:pathLst>
                <a:path w="590550" h="316864">
                  <a:moveTo>
                    <a:pt x="0" y="316734"/>
                  </a:moveTo>
                  <a:lnTo>
                    <a:pt x="9708" y="311681"/>
                  </a:lnTo>
                  <a:lnTo>
                    <a:pt x="39867" y="295175"/>
                  </a:lnTo>
                </a:path>
                <a:path w="590550" h="316864">
                  <a:moveTo>
                    <a:pt x="79735" y="273616"/>
                  </a:moveTo>
                  <a:lnTo>
                    <a:pt x="116626" y="253404"/>
                  </a:lnTo>
                  <a:lnTo>
                    <a:pt x="119603" y="252141"/>
                  </a:lnTo>
                </a:path>
                <a:path w="590550" h="316864">
                  <a:moveTo>
                    <a:pt x="159342" y="230582"/>
                  </a:moveTo>
                  <a:lnTo>
                    <a:pt x="193385" y="212391"/>
                  </a:lnTo>
                  <a:lnTo>
                    <a:pt x="199210" y="209275"/>
                  </a:lnTo>
                </a:path>
                <a:path w="590550" h="316864">
                  <a:moveTo>
                    <a:pt x="239984" y="187716"/>
                  </a:moveTo>
                  <a:lnTo>
                    <a:pt x="271179" y="170620"/>
                  </a:lnTo>
                  <a:lnTo>
                    <a:pt x="279851" y="166157"/>
                  </a:lnTo>
                </a:path>
                <a:path w="590550" h="316864">
                  <a:moveTo>
                    <a:pt x="319719" y="144682"/>
                  </a:moveTo>
                  <a:lnTo>
                    <a:pt x="347031" y="130197"/>
                  </a:lnTo>
                  <a:lnTo>
                    <a:pt x="359587" y="123123"/>
                  </a:lnTo>
                </a:path>
                <a:path w="590550" h="316864">
                  <a:moveTo>
                    <a:pt x="399455" y="101563"/>
                  </a:moveTo>
                  <a:lnTo>
                    <a:pt x="417059" y="92215"/>
                  </a:lnTo>
                  <a:lnTo>
                    <a:pt x="439582" y="80257"/>
                  </a:lnTo>
                </a:path>
                <a:path w="590550" h="316864">
                  <a:moveTo>
                    <a:pt x="480356" y="58698"/>
                  </a:moveTo>
                  <a:lnTo>
                    <a:pt x="506374" y="44718"/>
                  </a:lnTo>
                  <a:lnTo>
                    <a:pt x="520224" y="37223"/>
                  </a:lnTo>
                </a:path>
                <a:path w="590550" h="316864">
                  <a:moveTo>
                    <a:pt x="560092" y="16337"/>
                  </a:moveTo>
                  <a:lnTo>
                    <a:pt x="567858" y="11874"/>
                  </a:lnTo>
                  <a:lnTo>
                    <a:pt x="580285" y="5642"/>
                  </a:lnTo>
                  <a:lnTo>
                    <a:pt x="588051" y="1263"/>
                  </a:lnTo>
                  <a:lnTo>
                    <a:pt x="589993" y="0"/>
                  </a:lnTo>
                </a:path>
              </a:pathLst>
            </a:custGeom>
            <a:ln w="209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00309" y="2587781"/>
              <a:ext cx="409163" cy="380768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4160455" y="4463672"/>
              <a:ext cx="2069464" cy="1542415"/>
            </a:xfrm>
            <a:custGeom>
              <a:avLst/>
              <a:gdLst/>
              <a:ahLst/>
              <a:cxnLst/>
              <a:rect l="l" t="t" r="r" b="b"/>
              <a:pathLst>
                <a:path w="2069464" h="1542414">
                  <a:moveTo>
                    <a:pt x="0" y="1542027"/>
                  </a:moveTo>
                  <a:lnTo>
                    <a:pt x="2847" y="1539939"/>
                  </a:lnTo>
                  <a:lnTo>
                    <a:pt x="10614" y="1534920"/>
                  </a:lnTo>
                  <a:lnTo>
                    <a:pt x="22134" y="1526767"/>
                  </a:lnTo>
                  <a:lnTo>
                    <a:pt x="34690" y="1517361"/>
                  </a:lnTo>
                </a:path>
                <a:path w="2069464" h="1542414">
                  <a:moveTo>
                    <a:pt x="69768" y="1492062"/>
                  </a:moveTo>
                  <a:lnTo>
                    <a:pt x="81677" y="1483076"/>
                  </a:lnTo>
                  <a:lnTo>
                    <a:pt x="103811" y="1466764"/>
                  </a:lnTo>
                </a:path>
                <a:path w="2069464" h="1542414">
                  <a:moveTo>
                    <a:pt x="137854" y="1441474"/>
                  </a:moveTo>
                  <a:lnTo>
                    <a:pt x="139796" y="1440219"/>
                  </a:lnTo>
                  <a:lnTo>
                    <a:pt x="172933" y="1416176"/>
                  </a:lnTo>
                </a:path>
                <a:path w="2069464" h="1542414">
                  <a:moveTo>
                    <a:pt x="206976" y="1390877"/>
                  </a:moveTo>
                  <a:lnTo>
                    <a:pt x="210730" y="1387745"/>
                  </a:lnTo>
                  <a:lnTo>
                    <a:pt x="241019" y="1365579"/>
                  </a:lnTo>
                </a:path>
                <a:path w="2069464" h="1542414">
                  <a:moveTo>
                    <a:pt x="275062" y="1340289"/>
                  </a:moveTo>
                  <a:lnTo>
                    <a:pt x="293313" y="1326309"/>
                  </a:lnTo>
                  <a:lnTo>
                    <a:pt x="309105" y="1315024"/>
                  </a:lnTo>
                </a:path>
                <a:path w="2069464" h="1542414">
                  <a:moveTo>
                    <a:pt x="344184" y="1289676"/>
                  </a:moveTo>
                  <a:lnTo>
                    <a:pt x="344184" y="1289676"/>
                  </a:lnTo>
                  <a:lnTo>
                    <a:pt x="377838" y="1264411"/>
                  </a:lnTo>
                </a:path>
                <a:path w="2069464" h="1542414">
                  <a:moveTo>
                    <a:pt x="411881" y="1239062"/>
                  </a:moveTo>
                  <a:lnTo>
                    <a:pt x="436346" y="1220703"/>
                  </a:lnTo>
                  <a:lnTo>
                    <a:pt x="446054" y="1213797"/>
                  </a:lnTo>
                </a:path>
                <a:path w="2069464" h="1542414">
                  <a:moveTo>
                    <a:pt x="480097" y="1187859"/>
                  </a:moveTo>
                  <a:lnTo>
                    <a:pt x="487734" y="1182217"/>
                  </a:lnTo>
                  <a:lnTo>
                    <a:pt x="514140" y="1162594"/>
                  </a:lnTo>
                </a:path>
                <a:path w="2069464" h="1542414">
                  <a:moveTo>
                    <a:pt x="548183" y="1137246"/>
                  </a:moveTo>
                  <a:lnTo>
                    <a:pt x="548183" y="1137246"/>
                  </a:lnTo>
                  <a:lnTo>
                    <a:pt x="582226" y="1111981"/>
                  </a:lnTo>
                </a:path>
                <a:path w="2069464" h="1542414">
                  <a:moveTo>
                    <a:pt x="616269" y="1086716"/>
                  </a:moveTo>
                  <a:lnTo>
                    <a:pt x="616269" y="1086716"/>
                  </a:lnTo>
                  <a:lnTo>
                    <a:pt x="650053" y="1060778"/>
                  </a:lnTo>
                </a:path>
                <a:path w="2069464" h="1542414">
                  <a:moveTo>
                    <a:pt x="684096" y="1035513"/>
                  </a:moveTo>
                  <a:lnTo>
                    <a:pt x="709467" y="1017323"/>
                  </a:lnTo>
                  <a:lnTo>
                    <a:pt x="718139" y="1010164"/>
                  </a:lnTo>
                </a:path>
                <a:path w="2069464" h="1542414">
                  <a:moveTo>
                    <a:pt x="752182" y="984900"/>
                  </a:moveTo>
                  <a:lnTo>
                    <a:pt x="767974" y="973615"/>
                  </a:lnTo>
                  <a:lnTo>
                    <a:pt x="787261" y="959551"/>
                  </a:lnTo>
                </a:path>
                <a:path w="2069464" h="1542414">
                  <a:moveTo>
                    <a:pt x="821304" y="933697"/>
                  </a:moveTo>
                  <a:lnTo>
                    <a:pt x="827129" y="929233"/>
                  </a:lnTo>
                  <a:lnTo>
                    <a:pt x="855347" y="908348"/>
                  </a:lnTo>
                </a:path>
                <a:path w="2069464" h="1542414">
                  <a:moveTo>
                    <a:pt x="889390" y="883083"/>
                  </a:moveTo>
                  <a:lnTo>
                    <a:pt x="889390" y="883083"/>
                  </a:lnTo>
                  <a:lnTo>
                    <a:pt x="923563" y="857734"/>
                  </a:lnTo>
                </a:path>
                <a:path w="2069464" h="1542414">
                  <a:moveTo>
                    <a:pt x="957217" y="832470"/>
                  </a:moveTo>
                  <a:lnTo>
                    <a:pt x="957217" y="832470"/>
                  </a:lnTo>
                  <a:lnTo>
                    <a:pt x="991260" y="806531"/>
                  </a:lnTo>
                </a:path>
                <a:path w="2069464" h="1542414">
                  <a:moveTo>
                    <a:pt x="1025303" y="781267"/>
                  </a:moveTo>
                  <a:lnTo>
                    <a:pt x="1025303" y="781267"/>
                  </a:lnTo>
                  <a:lnTo>
                    <a:pt x="1059476" y="756170"/>
                  </a:lnTo>
                </a:path>
                <a:path w="2069464" h="1542414">
                  <a:moveTo>
                    <a:pt x="1093519" y="730906"/>
                  </a:moveTo>
                  <a:lnTo>
                    <a:pt x="1093519" y="730906"/>
                  </a:lnTo>
                  <a:lnTo>
                    <a:pt x="1127562" y="704967"/>
                  </a:lnTo>
                </a:path>
                <a:path w="2069464" h="1542414">
                  <a:moveTo>
                    <a:pt x="1161605" y="679619"/>
                  </a:moveTo>
                  <a:lnTo>
                    <a:pt x="1189564" y="658733"/>
                  </a:lnTo>
                  <a:lnTo>
                    <a:pt x="1195648" y="654354"/>
                  </a:lnTo>
                </a:path>
                <a:path w="2069464" h="1542414">
                  <a:moveTo>
                    <a:pt x="1229691" y="629089"/>
                  </a:moveTo>
                  <a:lnTo>
                    <a:pt x="1250013" y="613762"/>
                  </a:lnTo>
                  <a:lnTo>
                    <a:pt x="1263475" y="603151"/>
                  </a:lnTo>
                </a:path>
                <a:path w="2069464" h="1542414">
                  <a:moveTo>
                    <a:pt x="1297518" y="577802"/>
                  </a:moveTo>
                  <a:lnTo>
                    <a:pt x="1308521" y="569465"/>
                  </a:lnTo>
                  <a:lnTo>
                    <a:pt x="1331561" y="552537"/>
                  </a:lnTo>
                </a:path>
                <a:path w="2069464" h="1542414">
                  <a:moveTo>
                    <a:pt x="1365604" y="527273"/>
                  </a:moveTo>
                  <a:lnTo>
                    <a:pt x="1366640" y="526009"/>
                  </a:lnTo>
                  <a:lnTo>
                    <a:pt x="1399777" y="501334"/>
                  </a:lnTo>
                </a:path>
                <a:path w="2069464" h="1542414">
                  <a:moveTo>
                    <a:pt x="1433820" y="476070"/>
                  </a:moveTo>
                  <a:lnTo>
                    <a:pt x="1433820" y="476070"/>
                  </a:lnTo>
                  <a:lnTo>
                    <a:pt x="1467863" y="450721"/>
                  </a:lnTo>
                </a:path>
                <a:path w="2069464" h="1542414">
                  <a:moveTo>
                    <a:pt x="1501906" y="425456"/>
                  </a:moveTo>
                  <a:lnTo>
                    <a:pt x="1534655" y="400107"/>
                  </a:lnTo>
                  <a:lnTo>
                    <a:pt x="1535690" y="399518"/>
                  </a:lnTo>
                </a:path>
                <a:path w="2069464" h="1542414">
                  <a:moveTo>
                    <a:pt x="1569733" y="374253"/>
                  </a:moveTo>
                  <a:lnTo>
                    <a:pt x="1588373" y="360189"/>
                  </a:lnTo>
                  <a:lnTo>
                    <a:pt x="1603776" y="348904"/>
                  </a:lnTo>
                </a:path>
                <a:path w="2069464" h="1542414">
                  <a:moveTo>
                    <a:pt x="1637819" y="323640"/>
                  </a:moveTo>
                  <a:lnTo>
                    <a:pt x="1639761" y="321703"/>
                  </a:lnTo>
                  <a:lnTo>
                    <a:pt x="1671862" y="297701"/>
                  </a:lnTo>
                </a:path>
                <a:path w="2069464" h="1542414">
                  <a:moveTo>
                    <a:pt x="1705905" y="272437"/>
                  </a:moveTo>
                  <a:lnTo>
                    <a:pt x="1736195" y="249614"/>
                  </a:lnTo>
                  <a:lnTo>
                    <a:pt x="1739948" y="247088"/>
                  </a:lnTo>
                </a:path>
                <a:path w="2069464" h="1542414">
                  <a:moveTo>
                    <a:pt x="1774121" y="221823"/>
                  </a:moveTo>
                  <a:lnTo>
                    <a:pt x="1780852" y="216181"/>
                  </a:lnTo>
                  <a:lnTo>
                    <a:pt x="1808164" y="195885"/>
                  </a:lnTo>
                </a:path>
                <a:path w="2069464" h="1542414">
                  <a:moveTo>
                    <a:pt x="1840913" y="170620"/>
                  </a:moveTo>
                  <a:lnTo>
                    <a:pt x="1862400" y="154872"/>
                  </a:lnTo>
                  <a:lnTo>
                    <a:pt x="1874956" y="145271"/>
                  </a:lnTo>
                </a:path>
                <a:path w="2069464" h="1542414">
                  <a:moveTo>
                    <a:pt x="1908999" y="120007"/>
                  </a:moveTo>
                  <a:lnTo>
                    <a:pt x="1933463" y="102406"/>
                  </a:lnTo>
                  <a:lnTo>
                    <a:pt x="1943042" y="94068"/>
                  </a:lnTo>
                </a:path>
                <a:path w="2069464" h="1542414">
                  <a:moveTo>
                    <a:pt x="1977085" y="68804"/>
                  </a:moveTo>
                  <a:lnTo>
                    <a:pt x="1990676" y="59371"/>
                  </a:lnTo>
                  <a:lnTo>
                    <a:pt x="2011257" y="43455"/>
                  </a:lnTo>
                </a:path>
                <a:path w="2069464" h="1542414">
                  <a:moveTo>
                    <a:pt x="2045300" y="17601"/>
                  </a:moveTo>
                  <a:lnTo>
                    <a:pt x="2049184" y="15664"/>
                  </a:lnTo>
                  <a:lnTo>
                    <a:pt x="2059668" y="6905"/>
                  </a:lnTo>
                  <a:lnTo>
                    <a:pt x="2066529" y="1852"/>
                  </a:lnTo>
                  <a:lnTo>
                    <a:pt x="2069376" y="0"/>
                  </a:lnTo>
                </a:path>
              </a:pathLst>
            </a:custGeom>
            <a:ln w="209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494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68056" y="281940"/>
            <a:ext cx="784860" cy="1600200"/>
            <a:chOff x="8068056" y="281940"/>
            <a:chExt cx="784860" cy="1600200"/>
          </a:xfrm>
        </p:grpSpPr>
        <p:sp>
          <p:nvSpPr>
            <p:cNvPr id="3" name="object 3"/>
            <p:cNvSpPr/>
            <p:nvPr/>
          </p:nvSpPr>
          <p:spPr>
            <a:xfrm>
              <a:off x="8211312" y="281940"/>
              <a:ext cx="641985" cy="1600200"/>
            </a:xfrm>
            <a:custGeom>
              <a:avLst/>
              <a:gdLst/>
              <a:ahLst/>
              <a:cxnLst/>
              <a:rect l="l" t="t" r="r" b="b"/>
              <a:pathLst>
                <a:path w="641984" h="1600200">
                  <a:moveTo>
                    <a:pt x="641603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641603" y="1600199"/>
                  </a:lnTo>
                  <a:lnTo>
                    <a:pt x="641603" y="0"/>
                  </a:lnTo>
                  <a:close/>
                </a:path>
              </a:pathLst>
            </a:custGeom>
            <a:solidFill>
              <a:srgbClr val="66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68056" y="281940"/>
              <a:ext cx="91440" cy="1600200"/>
            </a:xfrm>
            <a:custGeom>
              <a:avLst/>
              <a:gdLst/>
              <a:ahLst/>
              <a:cxnLst/>
              <a:rect l="l" t="t" r="r" b="b"/>
              <a:pathLst>
                <a:path w="91440" h="1600200">
                  <a:moveTo>
                    <a:pt x="91440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91440" y="1600199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97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229" dirty="0"/>
              <a:t>Cloud</a:t>
            </a:r>
            <a:r>
              <a:rPr sz="3600" spc="110" dirty="0"/>
              <a:t> </a:t>
            </a:r>
            <a:r>
              <a:rPr sz="3600" spc="170" dirty="0"/>
              <a:t>Computing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2808" y="1380870"/>
            <a:ext cx="7273290" cy="4396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NIST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defines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cloud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computing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585858"/>
                </a:solidFill>
                <a:latin typeface="Cambria"/>
                <a:cs typeface="Cambria"/>
              </a:rPr>
              <a:t>as:</a:t>
            </a:r>
            <a:endParaRPr sz="2000">
              <a:latin typeface="Cambria"/>
              <a:cs typeface="Cambria"/>
            </a:endParaRPr>
          </a:p>
          <a:p>
            <a:pPr marL="927100" marR="887094" algn="just">
              <a:lnSpc>
                <a:spcPct val="100000"/>
              </a:lnSpc>
              <a:spcBef>
                <a:spcPts val="2000"/>
              </a:spcBef>
            </a:pPr>
            <a:r>
              <a:rPr sz="2000" spc="215" dirty="0">
                <a:solidFill>
                  <a:srgbClr val="585858"/>
                </a:solidFill>
                <a:latin typeface="Cambria"/>
                <a:cs typeface="Cambria"/>
              </a:rPr>
              <a:t>“A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model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for</a:t>
            </a:r>
            <a:r>
              <a:rPr sz="20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enabling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ubiquitous,</a:t>
            </a:r>
            <a:r>
              <a:rPr sz="2000" spc="-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585858"/>
                </a:solidFill>
                <a:latin typeface="Cambria"/>
                <a:cs typeface="Cambria"/>
              </a:rPr>
              <a:t>convenient, </a:t>
            </a:r>
            <a:r>
              <a:rPr sz="2000" spc="50" dirty="0">
                <a:solidFill>
                  <a:srgbClr val="585858"/>
                </a:solidFill>
                <a:latin typeface="Cambria"/>
                <a:cs typeface="Cambria"/>
              </a:rPr>
              <a:t>on-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demand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network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access</a:t>
            </a:r>
            <a:r>
              <a:rPr sz="20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shared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pool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585858"/>
                </a:solidFill>
                <a:latin typeface="Cambria"/>
                <a:cs typeface="Cambria"/>
              </a:rPr>
              <a:t>of 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configurable</a:t>
            </a:r>
            <a:r>
              <a:rPr sz="2000" spc="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computing</a:t>
            </a:r>
            <a:r>
              <a:rPr sz="20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585858"/>
                </a:solidFill>
                <a:latin typeface="Cambria"/>
                <a:cs typeface="Cambria"/>
              </a:rPr>
              <a:t>resources</a:t>
            </a:r>
            <a:r>
              <a:rPr sz="2000" spc="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20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can</a:t>
            </a:r>
            <a:r>
              <a:rPr sz="20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be 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rapidly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provisioned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released</a:t>
            </a:r>
            <a:r>
              <a:rPr sz="2000" spc="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with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585858"/>
                </a:solidFill>
                <a:latin typeface="Cambria"/>
                <a:cs typeface="Cambria"/>
              </a:rPr>
              <a:t>minimal</a:t>
            </a:r>
            <a:endParaRPr sz="2000">
              <a:latin typeface="Cambria"/>
              <a:cs typeface="Cambria"/>
            </a:endParaRPr>
          </a:p>
          <a:p>
            <a:pPr marL="927100" algn="just">
              <a:lnSpc>
                <a:spcPct val="100000"/>
              </a:lnSpc>
              <a:spcBef>
                <a:spcPts val="5"/>
              </a:spcBef>
            </a:pP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management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effort</a:t>
            </a:r>
            <a:r>
              <a:rPr sz="20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or</a:t>
            </a:r>
            <a:r>
              <a:rPr sz="20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service</a:t>
            </a:r>
            <a:r>
              <a:rPr sz="20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provider</a:t>
            </a:r>
            <a:r>
              <a:rPr sz="20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585858"/>
                </a:solidFill>
                <a:latin typeface="Cambria"/>
                <a:cs typeface="Cambria"/>
              </a:rPr>
              <a:t>interaction.”</a:t>
            </a:r>
            <a:endParaRPr sz="2000">
              <a:latin typeface="Cambria"/>
              <a:cs typeface="Cambria"/>
            </a:endParaRPr>
          </a:p>
          <a:p>
            <a:pPr marL="240029" marR="850265" indent="-227965">
              <a:lnSpc>
                <a:spcPct val="100000"/>
              </a:lnSpc>
              <a:spcBef>
                <a:spcPts val="199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You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get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economies</a:t>
            </a:r>
            <a:r>
              <a:rPr sz="20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scale,</a:t>
            </a:r>
            <a:r>
              <a:rPr sz="2000" spc="-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professional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mbria"/>
                <a:cs typeface="Cambria"/>
              </a:rPr>
              <a:t>network 	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management,</a:t>
            </a:r>
            <a:r>
              <a:rPr sz="2000" spc="-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20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professional</a:t>
            </a:r>
            <a:r>
              <a:rPr sz="2000" spc="65" dirty="0">
                <a:solidFill>
                  <a:srgbClr val="585858"/>
                </a:solidFill>
                <a:latin typeface="Cambria"/>
                <a:cs typeface="Cambria"/>
              </a:rPr>
              <a:t> security</a:t>
            </a:r>
            <a:r>
              <a:rPr sz="2000" spc="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management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6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individual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or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company</a:t>
            </a:r>
            <a:r>
              <a:rPr sz="20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only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needs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pay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for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585858"/>
                </a:solidFill>
                <a:latin typeface="Cambria"/>
                <a:cs typeface="Cambria"/>
              </a:rPr>
              <a:t>storage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capacity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20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services</a:t>
            </a:r>
            <a:r>
              <a:rPr sz="20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they</a:t>
            </a:r>
            <a:r>
              <a:rPr sz="20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585858"/>
                </a:solidFill>
                <a:latin typeface="Cambria"/>
                <a:cs typeface="Cambria"/>
              </a:rPr>
              <a:t>need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0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130" dirty="0">
                <a:solidFill>
                  <a:srgbClr val="585858"/>
                </a:solidFill>
                <a:latin typeface="Cambria"/>
                <a:cs typeface="Cambria"/>
              </a:rPr>
              <a:t>Cloud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provider</a:t>
            </a:r>
            <a:r>
              <a:rPr sz="20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585858"/>
                </a:solidFill>
                <a:latin typeface="Cambria"/>
                <a:cs typeface="Cambria"/>
              </a:rPr>
              <a:t>takes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585858"/>
                </a:solidFill>
                <a:latin typeface="Cambria"/>
                <a:cs typeface="Cambria"/>
              </a:rPr>
              <a:t>care</a:t>
            </a:r>
            <a:r>
              <a:rPr sz="20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20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585858"/>
                </a:solidFill>
                <a:latin typeface="Cambria"/>
                <a:cs typeface="Cambria"/>
              </a:rPr>
              <a:t>security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8019" y="18288"/>
            <a:ext cx="2117598" cy="216941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02437" y="278638"/>
            <a:ext cx="38785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9" dirty="0"/>
              <a:t>Cloud</a:t>
            </a:r>
            <a:r>
              <a:rPr spc="110" dirty="0"/>
              <a:t> </a:t>
            </a:r>
            <a:r>
              <a:rPr spc="85" dirty="0"/>
              <a:t>Networking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2437" y="1098550"/>
            <a:ext cx="7368540" cy="5213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ts val="1835"/>
              </a:lnSpc>
              <a:spcBef>
                <a:spcPts val="105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Refers</a:t>
            </a: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7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0000"/>
                </a:solidFill>
                <a:latin typeface="Cambria"/>
                <a:cs typeface="Cambria"/>
              </a:rPr>
              <a:t>networks</a:t>
            </a:r>
            <a:r>
              <a:rPr sz="1700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700" spc="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0000"/>
                </a:solidFill>
                <a:latin typeface="Cambria"/>
                <a:cs typeface="Cambria"/>
              </a:rPr>
              <a:t>network</a:t>
            </a:r>
            <a:r>
              <a:rPr sz="1700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FF0000"/>
                </a:solidFill>
                <a:latin typeface="Cambria"/>
                <a:cs typeface="Cambria"/>
              </a:rPr>
              <a:t>management</a:t>
            </a:r>
            <a:r>
              <a:rPr sz="1700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0000"/>
                </a:solidFill>
                <a:latin typeface="Cambria"/>
                <a:cs typeface="Cambria"/>
              </a:rPr>
              <a:t>functionality</a:t>
            </a:r>
            <a:r>
              <a:rPr sz="1700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1700" spc="1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20" dirty="0">
                <a:solidFill>
                  <a:srgbClr val="585858"/>
                </a:solidFill>
                <a:latin typeface="Cambria"/>
                <a:cs typeface="Cambria"/>
              </a:rPr>
              <a:t>must</a:t>
            </a:r>
            <a:endParaRPr sz="1700">
              <a:latin typeface="Cambria"/>
              <a:cs typeface="Cambria"/>
            </a:endParaRPr>
          </a:p>
          <a:p>
            <a:pPr marL="241300">
              <a:lnSpc>
                <a:spcPts val="1835"/>
              </a:lnSpc>
            </a:pPr>
            <a:r>
              <a:rPr sz="1700" spc="155" dirty="0">
                <a:solidFill>
                  <a:srgbClr val="585858"/>
                </a:solidFill>
                <a:latin typeface="Cambria"/>
                <a:cs typeface="Cambria"/>
              </a:rPr>
              <a:t>be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in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place</a:t>
            </a:r>
            <a:r>
              <a:rPr sz="17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FF0000"/>
                </a:solidFill>
                <a:latin typeface="Cambria"/>
                <a:cs typeface="Cambria"/>
              </a:rPr>
              <a:t>enable</a:t>
            </a:r>
            <a:r>
              <a:rPr sz="1700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cloud 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computing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700">
              <a:latin typeface="Cambria"/>
              <a:cs typeface="Cambria"/>
            </a:endParaRPr>
          </a:p>
          <a:p>
            <a:pPr marL="241300" marR="474980" indent="-228600">
              <a:lnSpc>
                <a:spcPts val="1630"/>
              </a:lnSpc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One</a:t>
            </a:r>
            <a:r>
              <a:rPr sz="17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example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is</a:t>
            </a:r>
            <a:r>
              <a:rPr sz="17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7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provisioning</a:t>
            </a:r>
            <a:r>
              <a:rPr sz="1700" spc="1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 high-performance</a:t>
            </a:r>
            <a:r>
              <a:rPr sz="1700" spc="1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and/or</a:t>
            </a:r>
            <a:r>
              <a:rPr sz="17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585858"/>
                </a:solidFill>
                <a:latin typeface="Cambria"/>
                <a:cs typeface="Cambria"/>
              </a:rPr>
              <a:t>high-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reliability</a:t>
            </a:r>
            <a:r>
              <a:rPr sz="1700" spc="3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networking</a:t>
            </a:r>
            <a:r>
              <a:rPr sz="1700" spc="2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between</a:t>
            </a:r>
            <a:r>
              <a:rPr sz="1700" spc="2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700" spc="2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provider</a:t>
            </a:r>
            <a:r>
              <a:rPr sz="1700" spc="2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700" spc="2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subscriber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663366"/>
              </a:buClr>
              <a:buFont typeface="Wingdings"/>
              <a:buChar char=""/>
            </a:pPr>
            <a:endParaRPr sz="1700">
              <a:latin typeface="Cambria"/>
              <a:cs typeface="Cambria"/>
            </a:endParaRPr>
          </a:p>
          <a:p>
            <a:pPr marL="241300" marR="54610" indent="-228600">
              <a:lnSpc>
                <a:spcPct val="80000"/>
              </a:lnSpc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collection</a:t>
            </a:r>
            <a:r>
              <a:rPr sz="1700" spc="16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7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network</a:t>
            </a:r>
            <a:r>
              <a:rPr sz="1700" spc="1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capabilities</a:t>
            </a:r>
            <a:r>
              <a:rPr sz="17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required</a:t>
            </a:r>
            <a:r>
              <a:rPr sz="17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7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access</a:t>
            </a:r>
            <a:r>
              <a:rPr sz="17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cloud,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including</a:t>
            </a: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making</a:t>
            </a:r>
            <a:r>
              <a:rPr sz="17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use</a:t>
            </a:r>
            <a:r>
              <a:rPr sz="17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7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specialized</a:t>
            </a:r>
            <a:r>
              <a:rPr sz="17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services</a:t>
            </a:r>
            <a:r>
              <a:rPr sz="17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over</a:t>
            </a:r>
            <a:r>
              <a:rPr sz="17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7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Internet,</a:t>
            </a:r>
            <a:r>
              <a:rPr sz="1700" spc="-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40" dirty="0">
                <a:solidFill>
                  <a:srgbClr val="585858"/>
                </a:solidFill>
                <a:latin typeface="Cambria"/>
                <a:cs typeface="Cambria"/>
              </a:rPr>
              <a:t>linking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enterprise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data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center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cloud,</a:t>
            </a:r>
            <a:r>
              <a:rPr sz="1700" spc="-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using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firewalls</a:t>
            </a: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other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585858"/>
                </a:solidFill>
                <a:latin typeface="Cambria"/>
                <a:cs typeface="Cambria"/>
              </a:rPr>
              <a:t>network 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security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devices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at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585858"/>
                </a:solidFill>
                <a:latin typeface="Cambria"/>
                <a:cs typeface="Cambria"/>
              </a:rPr>
              <a:t>critical</a:t>
            </a:r>
            <a:r>
              <a:rPr sz="17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points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enforce</a:t>
            </a:r>
            <a:r>
              <a:rPr sz="17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access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security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policies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663366"/>
              </a:buClr>
              <a:buFont typeface="Wingdings"/>
              <a:buChar char=""/>
            </a:pP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3100" spc="190" dirty="0">
                <a:solidFill>
                  <a:srgbClr val="663366"/>
                </a:solidFill>
                <a:latin typeface="Cambria"/>
                <a:cs typeface="Cambria"/>
              </a:rPr>
              <a:t>Cloud</a:t>
            </a:r>
            <a:r>
              <a:rPr sz="3100" spc="114" dirty="0">
                <a:solidFill>
                  <a:srgbClr val="663366"/>
                </a:solidFill>
                <a:latin typeface="Cambria"/>
                <a:cs typeface="Cambria"/>
              </a:rPr>
              <a:t> </a:t>
            </a:r>
            <a:r>
              <a:rPr sz="3100" spc="95" dirty="0">
                <a:solidFill>
                  <a:srgbClr val="663366"/>
                </a:solidFill>
                <a:latin typeface="Cambria"/>
                <a:cs typeface="Cambria"/>
              </a:rPr>
              <a:t>Storage</a:t>
            </a:r>
            <a:endParaRPr sz="31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639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Subset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cloud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585858"/>
                </a:solidFill>
                <a:latin typeface="Cambria"/>
                <a:cs typeface="Cambria"/>
              </a:rPr>
              <a:t>computing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Clr>
                <a:srgbClr val="663366"/>
              </a:buClr>
              <a:buFont typeface="Wingdings"/>
              <a:buChar char=""/>
            </a:pPr>
            <a:endParaRPr sz="1700">
              <a:latin typeface="Cambria"/>
              <a:cs typeface="Cambria"/>
            </a:endParaRPr>
          </a:p>
          <a:p>
            <a:pPr marL="241300" marR="910590" indent="-228600">
              <a:lnSpc>
                <a:spcPts val="1630"/>
              </a:lnSpc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Consists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FF0000"/>
                </a:solidFill>
                <a:latin typeface="Cambria"/>
                <a:cs typeface="Cambria"/>
              </a:rPr>
              <a:t>database</a:t>
            </a:r>
            <a:r>
              <a:rPr sz="1700" spc="55" dirty="0">
                <a:solidFill>
                  <a:srgbClr val="FF0000"/>
                </a:solidFill>
                <a:latin typeface="Cambria"/>
                <a:cs typeface="Cambria"/>
              </a:rPr>
              <a:t> storage</a:t>
            </a:r>
            <a:r>
              <a:rPr sz="17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FF0000"/>
                </a:solidFill>
                <a:latin typeface="Cambria"/>
                <a:cs typeface="Cambria"/>
              </a:rPr>
              <a:t>database</a:t>
            </a:r>
            <a:r>
              <a:rPr sz="17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FF0000"/>
                </a:solidFill>
                <a:latin typeface="Cambria"/>
                <a:cs typeface="Cambria"/>
              </a:rPr>
              <a:t>applications</a:t>
            </a:r>
            <a:r>
              <a:rPr sz="17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585858"/>
                </a:solidFill>
                <a:latin typeface="Cambria"/>
                <a:cs typeface="Cambria"/>
              </a:rPr>
              <a:t>hosted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remotely</a:t>
            </a:r>
            <a:r>
              <a:rPr sz="1700" spc="2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on</a:t>
            </a:r>
            <a:r>
              <a:rPr sz="1700" spc="1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cloud</a:t>
            </a:r>
            <a:r>
              <a:rPr sz="1700" spc="2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servers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663366"/>
              </a:buClr>
              <a:buFont typeface="Wingdings"/>
              <a:buChar char=""/>
            </a:pPr>
            <a:endParaRPr sz="1700">
              <a:latin typeface="Cambria"/>
              <a:cs typeface="Cambria"/>
            </a:endParaRPr>
          </a:p>
          <a:p>
            <a:pPr marL="241300" marR="5080" indent="-228600">
              <a:lnSpc>
                <a:spcPct val="80000"/>
              </a:lnSpc>
              <a:spcBef>
                <a:spcPts val="5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Enables</a:t>
            </a: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small</a:t>
            </a: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businesses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7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individual</a:t>
            </a:r>
            <a:r>
              <a:rPr sz="1700" spc="1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users</a:t>
            </a:r>
            <a:r>
              <a:rPr sz="1700" spc="114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7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take</a:t>
            </a: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advantage</a:t>
            </a:r>
            <a:r>
              <a:rPr sz="1700" spc="1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700" spc="1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35" dirty="0">
                <a:solidFill>
                  <a:srgbClr val="585858"/>
                </a:solidFill>
                <a:latin typeface="Cambria"/>
                <a:cs typeface="Cambria"/>
              </a:rPr>
              <a:t>data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storage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that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scales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with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their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585858"/>
                </a:solidFill>
                <a:latin typeface="Cambria"/>
                <a:cs typeface="Cambria"/>
              </a:rPr>
              <a:t>needs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and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take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advantage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585858"/>
                </a:solidFill>
                <a:latin typeface="Cambria"/>
                <a:cs typeface="Cambria"/>
              </a:rPr>
              <a:t>variety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585858"/>
                </a:solidFill>
                <a:latin typeface="Cambria"/>
                <a:cs typeface="Cambria"/>
              </a:rPr>
              <a:t>of 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database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 applications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without</a:t>
            </a:r>
            <a:r>
              <a:rPr sz="1700" spc="10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having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to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585858"/>
                </a:solidFill>
                <a:latin typeface="Cambria"/>
                <a:cs typeface="Cambria"/>
              </a:rPr>
              <a:t>buy,</a:t>
            </a:r>
            <a:r>
              <a:rPr sz="1700" spc="-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585858"/>
                </a:solidFill>
                <a:latin typeface="Cambria"/>
                <a:cs typeface="Cambria"/>
              </a:rPr>
              <a:t>maintain,</a:t>
            </a:r>
            <a:r>
              <a:rPr sz="1700" spc="-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manage</a:t>
            </a:r>
            <a:r>
              <a:rPr sz="17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585858"/>
                </a:solidFill>
                <a:latin typeface="Cambria"/>
                <a:cs typeface="Cambria"/>
              </a:rPr>
              <a:t>the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storage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40" dirty="0">
                <a:solidFill>
                  <a:srgbClr val="585858"/>
                </a:solidFill>
                <a:latin typeface="Cambria"/>
                <a:cs typeface="Cambria"/>
              </a:rPr>
              <a:t>assets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303530"/>
          </a:xfrm>
          <a:custGeom>
            <a:avLst/>
            <a:gdLst/>
            <a:ahLst/>
            <a:cxnLst/>
            <a:rect l="l" t="t" r="r" b="b"/>
            <a:pathLst>
              <a:path w="685800" h="303530">
                <a:moveTo>
                  <a:pt x="685800" y="0"/>
                </a:moveTo>
                <a:lnTo>
                  <a:pt x="0" y="0"/>
                </a:lnTo>
                <a:lnTo>
                  <a:pt x="0" y="303276"/>
                </a:lnTo>
                <a:lnTo>
                  <a:pt x="685800" y="303276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22133" y="6220409"/>
            <a:ext cx="607060" cy="176530"/>
          </a:xfrm>
          <a:custGeom>
            <a:avLst/>
            <a:gdLst/>
            <a:ahLst/>
            <a:cxnLst/>
            <a:rect l="l" t="t" r="r" b="b"/>
            <a:pathLst>
              <a:path w="607060" h="176529">
                <a:moveTo>
                  <a:pt x="123659" y="2451"/>
                </a:moveTo>
                <a:lnTo>
                  <a:pt x="0" y="2451"/>
                </a:lnTo>
                <a:lnTo>
                  <a:pt x="0" y="8204"/>
                </a:lnTo>
                <a:lnTo>
                  <a:pt x="6362" y="8204"/>
                </a:lnTo>
                <a:lnTo>
                  <a:pt x="10922" y="9017"/>
                </a:lnTo>
                <a:lnTo>
                  <a:pt x="13652" y="9842"/>
                </a:lnTo>
                <a:lnTo>
                  <a:pt x="17284" y="12306"/>
                </a:lnTo>
                <a:lnTo>
                  <a:pt x="20015" y="16408"/>
                </a:lnTo>
                <a:lnTo>
                  <a:pt x="20015" y="122275"/>
                </a:lnTo>
                <a:lnTo>
                  <a:pt x="17284" y="126377"/>
                </a:lnTo>
                <a:lnTo>
                  <a:pt x="13652" y="128028"/>
                </a:lnTo>
                <a:lnTo>
                  <a:pt x="10922" y="129667"/>
                </a:lnTo>
                <a:lnTo>
                  <a:pt x="6362" y="130492"/>
                </a:lnTo>
                <a:lnTo>
                  <a:pt x="0" y="130492"/>
                </a:lnTo>
                <a:lnTo>
                  <a:pt x="0" y="135407"/>
                </a:lnTo>
                <a:lnTo>
                  <a:pt x="78193" y="135407"/>
                </a:lnTo>
                <a:lnTo>
                  <a:pt x="78193" y="130492"/>
                </a:lnTo>
                <a:lnTo>
                  <a:pt x="70015" y="130492"/>
                </a:lnTo>
                <a:lnTo>
                  <a:pt x="64566" y="129667"/>
                </a:lnTo>
                <a:lnTo>
                  <a:pt x="60921" y="128028"/>
                </a:lnTo>
                <a:lnTo>
                  <a:pt x="56388" y="126377"/>
                </a:lnTo>
                <a:lnTo>
                  <a:pt x="54546" y="123101"/>
                </a:lnTo>
                <a:lnTo>
                  <a:pt x="54546" y="70573"/>
                </a:lnTo>
                <a:lnTo>
                  <a:pt x="62738" y="71031"/>
                </a:lnTo>
                <a:lnTo>
                  <a:pt x="88201" y="101752"/>
                </a:lnTo>
                <a:lnTo>
                  <a:pt x="93649" y="101752"/>
                </a:lnTo>
                <a:lnTo>
                  <a:pt x="93649" y="35280"/>
                </a:lnTo>
                <a:lnTo>
                  <a:pt x="88201" y="35280"/>
                </a:lnTo>
                <a:lnTo>
                  <a:pt x="85471" y="45123"/>
                </a:lnTo>
                <a:lnTo>
                  <a:pt x="82740" y="52527"/>
                </a:lnTo>
                <a:lnTo>
                  <a:pt x="78193" y="57442"/>
                </a:lnTo>
                <a:lnTo>
                  <a:pt x="74561" y="62369"/>
                </a:lnTo>
                <a:lnTo>
                  <a:pt x="66382" y="64008"/>
                </a:lnTo>
                <a:lnTo>
                  <a:pt x="54546" y="64008"/>
                </a:lnTo>
                <a:lnTo>
                  <a:pt x="54546" y="15582"/>
                </a:lnTo>
                <a:lnTo>
                  <a:pt x="55460" y="13119"/>
                </a:lnTo>
                <a:lnTo>
                  <a:pt x="59105" y="9842"/>
                </a:lnTo>
                <a:lnTo>
                  <a:pt x="69113" y="9842"/>
                </a:lnTo>
                <a:lnTo>
                  <a:pt x="109004" y="20853"/>
                </a:lnTo>
                <a:lnTo>
                  <a:pt x="118211" y="42659"/>
                </a:lnTo>
                <a:lnTo>
                  <a:pt x="123659" y="42659"/>
                </a:lnTo>
                <a:lnTo>
                  <a:pt x="123659" y="2451"/>
                </a:lnTo>
                <a:close/>
              </a:path>
              <a:path w="607060" h="176529">
                <a:moveTo>
                  <a:pt x="176390" y="10655"/>
                </a:moveTo>
                <a:lnTo>
                  <a:pt x="175488" y="7378"/>
                </a:lnTo>
                <a:lnTo>
                  <a:pt x="171856" y="4102"/>
                </a:lnTo>
                <a:lnTo>
                  <a:pt x="168211" y="1638"/>
                </a:lnTo>
                <a:lnTo>
                  <a:pt x="164579" y="0"/>
                </a:lnTo>
                <a:lnTo>
                  <a:pt x="155486" y="0"/>
                </a:lnTo>
                <a:lnTo>
                  <a:pt x="151841" y="1638"/>
                </a:lnTo>
                <a:lnTo>
                  <a:pt x="148209" y="4102"/>
                </a:lnTo>
                <a:lnTo>
                  <a:pt x="144564" y="7378"/>
                </a:lnTo>
                <a:lnTo>
                  <a:pt x="142748" y="10655"/>
                </a:lnTo>
                <a:lnTo>
                  <a:pt x="142748" y="19685"/>
                </a:lnTo>
                <a:lnTo>
                  <a:pt x="144564" y="22974"/>
                </a:lnTo>
                <a:lnTo>
                  <a:pt x="148209" y="26250"/>
                </a:lnTo>
                <a:lnTo>
                  <a:pt x="151841" y="28714"/>
                </a:lnTo>
                <a:lnTo>
                  <a:pt x="155486" y="30353"/>
                </a:lnTo>
                <a:lnTo>
                  <a:pt x="164579" y="30353"/>
                </a:lnTo>
                <a:lnTo>
                  <a:pt x="168211" y="28714"/>
                </a:lnTo>
                <a:lnTo>
                  <a:pt x="171856" y="26250"/>
                </a:lnTo>
                <a:lnTo>
                  <a:pt x="175488" y="22974"/>
                </a:lnTo>
                <a:lnTo>
                  <a:pt x="176390" y="19685"/>
                </a:lnTo>
                <a:lnTo>
                  <a:pt x="176390" y="10655"/>
                </a:lnTo>
                <a:close/>
              </a:path>
              <a:path w="607060" h="176529">
                <a:moveTo>
                  <a:pt x="185483" y="130492"/>
                </a:moveTo>
                <a:lnTo>
                  <a:pt x="175488" y="123926"/>
                </a:lnTo>
                <a:lnTo>
                  <a:pt x="175488" y="45123"/>
                </a:lnTo>
                <a:lnTo>
                  <a:pt x="133654" y="45123"/>
                </a:lnTo>
                <a:lnTo>
                  <a:pt x="133654" y="50063"/>
                </a:lnTo>
                <a:lnTo>
                  <a:pt x="138201" y="50876"/>
                </a:lnTo>
                <a:lnTo>
                  <a:pt x="140931" y="51701"/>
                </a:lnTo>
                <a:lnTo>
                  <a:pt x="143662" y="54165"/>
                </a:lnTo>
                <a:lnTo>
                  <a:pt x="144564" y="57442"/>
                </a:lnTo>
                <a:lnTo>
                  <a:pt x="144564" y="123101"/>
                </a:lnTo>
                <a:lnTo>
                  <a:pt x="143662" y="126377"/>
                </a:lnTo>
                <a:lnTo>
                  <a:pt x="140017" y="129667"/>
                </a:lnTo>
                <a:lnTo>
                  <a:pt x="137299" y="130492"/>
                </a:lnTo>
                <a:lnTo>
                  <a:pt x="133654" y="130492"/>
                </a:lnTo>
                <a:lnTo>
                  <a:pt x="133654" y="135407"/>
                </a:lnTo>
                <a:lnTo>
                  <a:pt x="185483" y="135407"/>
                </a:lnTo>
                <a:lnTo>
                  <a:pt x="185483" y="130492"/>
                </a:lnTo>
                <a:close/>
              </a:path>
              <a:path w="607060" h="176529">
                <a:moveTo>
                  <a:pt x="294589" y="46761"/>
                </a:moveTo>
                <a:lnTo>
                  <a:pt x="265506" y="46761"/>
                </a:lnTo>
                <a:lnTo>
                  <a:pt x="263690" y="45948"/>
                </a:lnTo>
                <a:lnTo>
                  <a:pt x="260045" y="45123"/>
                </a:lnTo>
                <a:lnTo>
                  <a:pt x="256413" y="44475"/>
                </a:lnTo>
                <a:lnTo>
                  <a:pt x="256413" y="82880"/>
                </a:lnTo>
                <a:lnTo>
                  <a:pt x="255498" y="88620"/>
                </a:lnTo>
                <a:lnTo>
                  <a:pt x="252768" y="93548"/>
                </a:lnTo>
                <a:lnTo>
                  <a:pt x="250952" y="97650"/>
                </a:lnTo>
                <a:lnTo>
                  <a:pt x="247307" y="100114"/>
                </a:lnTo>
                <a:lnTo>
                  <a:pt x="235496" y="100114"/>
                </a:lnTo>
                <a:lnTo>
                  <a:pt x="231863" y="96837"/>
                </a:lnTo>
                <a:lnTo>
                  <a:pt x="230035" y="91084"/>
                </a:lnTo>
                <a:lnTo>
                  <a:pt x="228219" y="87807"/>
                </a:lnTo>
                <a:lnTo>
                  <a:pt x="227317" y="82067"/>
                </a:lnTo>
                <a:lnTo>
                  <a:pt x="227431" y="65646"/>
                </a:lnTo>
                <a:lnTo>
                  <a:pt x="228219" y="59905"/>
                </a:lnTo>
                <a:lnTo>
                  <a:pt x="230035" y="55803"/>
                </a:lnTo>
                <a:lnTo>
                  <a:pt x="231863" y="50876"/>
                </a:lnTo>
                <a:lnTo>
                  <a:pt x="236397" y="49237"/>
                </a:lnTo>
                <a:lnTo>
                  <a:pt x="247307" y="49237"/>
                </a:lnTo>
                <a:lnTo>
                  <a:pt x="250952" y="50876"/>
                </a:lnTo>
                <a:lnTo>
                  <a:pt x="252768" y="54978"/>
                </a:lnTo>
                <a:lnTo>
                  <a:pt x="255498" y="59080"/>
                </a:lnTo>
                <a:lnTo>
                  <a:pt x="256298" y="64833"/>
                </a:lnTo>
                <a:lnTo>
                  <a:pt x="256413" y="82880"/>
                </a:lnTo>
                <a:lnTo>
                  <a:pt x="256413" y="44475"/>
                </a:lnTo>
                <a:lnTo>
                  <a:pt x="255498" y="44310"/>
                </a:lnTo>
                <a:lnTo>
                  <a:pt x="251853" y="43484"/>
                </a:lnTo>
                <a:lnTo>
                  <a:pt x="247307" y="42659"/>
                </a:lnTo>
                <a:lnTo>
                  <a:pt x="241858" y="42659"/>
                </a:lnTo>
                <a:lnTo>
                  <a:pt x="232156" y="43268"/>
                </a:lnTo>
                <a:lnTo>
                  <a:pt x="223062" y="45123"/>
                </a:lnTo>
                <a:lnTo>
                  <a:pt x="223304" y="45123"/>
                </a:lnTo>
                <a:lnTo>
                  <a:pt x="216166" y="47866"/>
                </a:lnTo>
                <a:lnTo>
                  <a:pt x="210045" y="51701"/>
                </a:lnTo>
                <a:lnTo>
                  <a:pt x="201853" y="57442"/>
                </a:lnTo>
                <a:lnTo>
                  <a:pt x="198208" y="64833"/>
                </a:lnTo>
                <a:lnTo>
                  <a:pt x="198208" y="80416"/>
                </a:lnTo>
                <a:lnTo>
                  <a:pt x="200025" y="86982"/>
                </a:lnTo>
                <a:lnTo>
                  <a:pt x="209130" y="96837"/>
                </a:lnTo>
                <a:lnTo>
                  <a:pt x="215493" y="100939"/>
                </a:lnTo>
                <a:lnTo>
                  <a:pt x="222770" y="103441"/>
                </a:lnTo>
                <a:lnTo>
                  <a:pt x="222770" y="104216"/>
                </a:lnTo>
                <a:lnTo>
                  <a:pt x="217309" y="105854"/>
                </a:lnTo>
                <a:lnTo>
                  <a:pt x="206400" y="112433"/>
                </a:lnTo>
                <a:lnTo>
                  <a:pt x="201853" y="116535"/>
                </a:lnTo>
                <a:lnTo>
                  <a:pt x="199123" y="121462"/>
                </a:lnTo>
                <a:lnTo>
                  <a:pt x="199123" y="131305"/>
                </a:lnTo>
                <a:lnTo>
                  <a:pt x="200025" y="135407"/>
                </a:lnTo>
                <a:lnTo>
                  <a:pt x="203669" y="137871"/>
                </a:lnTo>
                <a:lnTo>
                  <a:pt x="205498" y="139509"/>
                </a:lnTo>
                <a:lnTo>
                  <a:pt x="209130" y="141147"/>
                </a:lnTo>
                <a:lnTo>
                  <a:pt x="212763" y="141973"/>
                </a:lnTo>
                <a:lnTo>
                  <a:pt x="212763" y="143611"/>
                </a:lnTo>
                <a:lnTo>
                  <a:pt x="206400" y="144437"/>
                </a:lnTo>
                <a:lnTo>
                  <a:pt x="201853" y="146075"/>
                </a:lnTo>
                <a:lnTo>
                  <a:pt x="200025" y="149364"/>
                </a:lnTo>
                <a:lnTo>
                  <a:pt x="197307" y="152641"/>
                </a:lnTo>
                <a:lnTo>
                  <a:pt x="195491" y="155105"/>
                </a:lnTo>
                <a:lnTo>
                  <a:pt x="195491" y="164960"/>
                </a:lnTo>
                <a:lnTo>
                  <a:pt x="201853" y="170700"/>
                </a:lnTo>
                <a:lnTo>
                  <a:pt x="213677" y="173164"/>
                </a:lnTo>
                <a:lnTo>
                  <a:pt x="219456" y="174713"/>
                </a:lnTo>
                <a:lnTo>
                  <a:pt x="225831" y="175729"/>
                </a:lnTo>
                <a:lnTo>
                  <a:pt x="232727" y="176288"/>
                </a:lnTo>
                <a:lnTo>
                  <a:pt x="240042" y="176453"/>
                </a:lnTo>
                <a:lnTo>
                  <a:pt x="249085" y="176149"/>
                </a:lnTo>
                <a:lnTo>
                  <a:pt x="288912" y="162293"/>
                </a:lnTo>
                <a:lnTo>
                  <a:pt x="294589" y="146075"/>
                </a:lnTo>
                <a:lnTo>
                  <a:pt x="293611" y="139509"/>
                </a:lnTo>
                <a:lnTo>
                  <a:pt x="293585" y="139293"/>
                </a:lnTo>
                <a:lnTo>
                  <a:pt x="290614" y="133667"/>
                </a:lnTo>
                <a:lnTo>
                  <a:pt x="285775" y="129108"/>
                </a:lnTo>
                <a:lnTo>
                  <a:pt x="279133" y="125564"/>
                </a:lnTo>
                <a:lnTo>
                  <a:pt x="277317" y="124752"/>
                </a:lnTo>
                <a:lnTo>
                  <a:pt x="277317" y="152641"/>
                </a:lnTo>
                <a:lnTo>
                  <a:pt x="277317" y="161671"/>
                </a:lnTo>
                <a:lnTo>
                  <a:pt x="272770" y="165785"/>
                </a:lnTo>
                <a:lnTo>
                  <a:pt x="262775" y="168249"/>
                </a:lnTo>
                <a:lnTo>
                  <a:pt x="257327" y="169062"/>
                </a:lnTo>
                <a:lnTo>
                  <a:pt x="250952" y="169887"/>
                </a:lnTo>
                <a:lnTo>
                  <a:pt x="233680" y="169887"/>
                </a:lnTo>
                <a:lnTo>
                  <a:pt x="226402" y="168249"/>
                </a:lnTo>
                <a:lnTo>
                  <a:pt x="221856" y="166598"/>
                </a:lnTo>
                <a:lnTo>
                  <a:pt x="217309" y="164134"/>
                </a:lnTo>
                <a:lnTo>
                  <a:pt x="214591" y="160845"/>
                </a:lnTo>
                <a:lnTo>
                  <a:pt x="214591" y="154279"/>
                </a:lnTo>
                <a:lnTo>
                  <a:pt x="215493" y="151815"/>
                </a:lnTo>
                <a:lnTo>
                  <a:pt x="217309" y="150177"/>
                </a:lnTo>
                <a:lnTo>
                  <a:pt x="218224" y="148539"/>
                </a:lnTo>
                <a:lnTo>
                  <a:pt x="220040" y="147713"/>
                </a:lnTo>
                <a:lnTo>
                  <a:pt x="222770" y="146075"/>
                </a:lnTo>
                <a:lnTo>
                  <a:pt x="265506" y="146075"/>
                </a:lnTo>
                <a:lnTo>
                  <a:pt x="270954" y="146900"/>
                </a:lnTo>
                <a:lnTo>
                  <a:pt x="276415" y="150177"/>
                </a:lnTo>
                <a:lnTo>
                  <a:pt x="277317" y="152641"/>
                </a:lnTo>
                <a:lnTo>
                  <a:pt x="277317" y="124752"/>
                </a:lnTo>
                <a:lnTo>
                  <a:pt x="273685" y="123101"/>
                </a:lnTo>
                <a:lnTo>
                  <a:pt x="267322" y="122275"/>
                </a:lnTo>
                <a:lnTo>
                  <a:pt x="236397" y="122275"/>
                </a:lnTo>
                <a:lnTo>
                  <a:pt x="233680" y="121462"/>
                </a:lnTo>
                <a:lnTo>
                  <a:pt x="228219" y="121462"/>
                </a:lnTo>
                <a:lnTo>
                  <a:pt x="224586" y="119824"/>
                </a:lnTo>
                <a:lnTo>
                  <a:pt x="223672" y="118173"/>
                </a:lnTo>
                <a:lnTo>
                  <a:pt x="222770" y="117360"/>
                </a:lnTo>
                <a:lnTo>
                  <a:pt x="222770" y="112433"/>
                </a:lnTo>
                <a:lnTo>
                  <a:pt x="224586" y="110782"/>
                </a:lnTo>
                <a:lnTo>
                  <a:pt x="226402" y="108318"/>
                </a:lnTo>
                <a:lnTo>
                  <a:pt x="229133" y="106680"/>
                </a:lnTo>
                <a:lnTo>
                  <a:pt x="230949" y="105854"/>
                </a:lnTo>
                <a:lnTo>
                  <a:pt x="240944" y="105854"/>
                </a:lnTo>
                <a:lnTo>
                  <a:pt x="248119" y="105562"/>
                </a:lnTo>
                <a:lnTo>
                  <a:pt x="284314" y="85598"/>
                </a:lnTo>
                <a:lnTo>
                  <a:pt x="285496" y="77139"/>
                </a:lnTo>
                <a:lnTo>
                  <a:pt x="285496" y="73037"/>
                </a:lnTo>
                <a:lnTo>
                  <a:pt x="283679" y="66471"/>
                </a:lnTo>
                <a:lnTo>
                  <a:pt x="281863" y="62369"/>
                </a:lnTo>
                <a:lnTo>
                  <a:pt x="276415" y="57442"/>
                </a:lnTo>
                <a:lnTo>
                  <a:pt x="294589" y="57442"/>
                </a:lnTo>
                <a:lnTo>
                  <a:pt x="294589" y="49237"/>
                </a:lnTo>
                <a:lnTo>
                  <a:pt x="294589" y="46761"/>
                </a:lnTo>
                <a:close/>
              </a:path>
              <a:path w="607060" h="176529">
                <a:moveTo>
                  <a:pt x="416433" y="127203"/>
                </a:moveTo>
                <a:lnTo>
                  <a:pt x="411886" y="126377"/>
                </a:lnTo>
                <a:lnTo>
                  <a:pt x="408254" y="125564"/>
                </a:lnTo>
                <a:lnTo>
                  <a:pt x="404622" y="122275"/>
                </a:lnTo>
                <a:lnTo>
                  <a:pt x="403707" y="119824"/>
                </a:lnTo>
                <a:lnTo>
                  <a:pt x="403707" y="45123"/>
                </a:lnTo>
                <a:lnTo>
                  <a:pt x="360972" y="45123"/>
                </a:lnTo>
                <a:lnTo>
                  <a:pt x="360972" y="50063"/>
                </a:lnTo>
                <a:lnTo>
                  <a:pt x="366433" y="50063"/>
                </a:lnTo>
                <a:lnTo>
                  <a:pt x="370065" y="50876"/>
                </a:lnTo>
                <a:lnTo>
                  <a:pt x="373697" y="54165"/>
                </a:lnTo>
                <a:lnTo>
                  <a:pt x="374611" y="57442"/>
                </a:lnTo>
                <a:lnTo>
                  <a:pt x="374611" y="116535"/>
                </a:lnTo>
                <a:lnTo>
                  <a:pt x="370967" y="118999"/>
                </a:lnTo>
                <a:lnTo>
                  <a:pt x="369150" y="121462"/>
                </a:lnTo>
                <a:lnTo>
                  <a:pt x="360070" y="125564"/>
                </a:lnTo>
                <a:lnTo>
                  <a:pt x="351866" y="125564"/>
                </a:lnTo>
                <a:lnTo>
                  <a:pt x="348234" y="123926"/>
                </a:lnTo>
                <a:lnTo>
                  <a:pt x="345503" y="120637"/>
                </a:lnTo>
                <a:lnTo>
                  <a:pt x="344601" y="118173"/>
                </a:lnTo>
                <a:lnTo>
                  <a:pt x="344601" y="45123"/>
                </a:lnTo>
                <a:lnTo>
                  <a:pt x="303695" y="45123"/>
                </a:lnTo>
                <a:lnTo>
                  <a:pt x="303695" y="50063"/>
                </a:lnTo>
                <a:lnTo>
                  <a:pt x="310972" y="51701"/>
                </a:lnTo>
                <a:lnTo>
                  <a:pt x="311873" y="53340"/>
                </a:lnTo>
                <a:lnTo>
                  <a:pt x="313690" y="54165"/>
                </a:lnTo>
                <a:lnTo>
                  <a:pt x="314604" y="57442"/>
                </a:lnTo>
                <a:lnTo>
                  <a:pt x="314604" y="120637"/>
                </a:lnTo>
                <a:lnTo>
                  <a:pt x="317334" y="128028"/>
                </a:lnTo>
                <a:lnTo>
                  <a:pt x="323697" y="132130"/>
                </a:lnTo>
                <a:lnTo>
                  <a:pt x="329145" y="136232"/>
                </a:lnTo>
                <a:lnTo>
                  <a:pt x="335508" y="137871"/>
                </a:lnTo>
                <a:lnTo>
                  <a:pt x="349148" y="137871"/>
                </a:lnTo>
                <a:lnTo>
                  <a:pt x="355523" y="137045"/>
                </a:lnTo>
                <a:lnTo>
                  <a:pt x="361886" y="133769"/>
                </a:lnTo>
                <a:lnTo>
                  <a:pt x="364604" y="132130"/>
                </a:lnTo>
                <a:lnTo>
                  <a:pt x="369150" y="129667"/>
                </a:lnTo>
                <a:lnTo>
                  <a:pt x="374611" y="125564"/>
                </a:lnTo>
                <a:lnTo>
                  <a:pt x="374611" y="137871"/>
                </a:lnTo>
                <a:lnTo>
                  <a:pt x="381876" y="136232"/>
                </a:lnTo>
                <a:lnTo>
                  <a:pt x="387337" y="134594"/>
                </a:lnTo>
                <a:lnTo>
                  <a:pt x="390969" y="133769"/>
                </a:lnTo>
                <a:lnTo>
                  <a:pt x="394563" y="133616"/>
                </a:lnTo>
                <a:lnTo>
                  <a:pt x="399948" y="133159"/>
                </a:lnTo>
                <a:lnTo>
                  <a:pt x="407212" y="132384"/>
                </a:lnTo>
                <a:lnTo>
                  <a:pt x="416433" y="131305"/>
                </a:lnTo>
                <a:lnTo>
                  <a:pt x="416433" y="127203"/>
                </a:lnTo>
                <a:close/>
              </a:path>
              <a:path w="607060" h="176529">
                <a:moveTo>
                  <a:pt x="512749" y="53340"/>
                </a:moveTo>
                <a:lnTo>
                  <a:pt x="510933" y="49237"/>
                </a:lnTo>
                <a:lnTo>
                  <a:pt x="508266" y="46761"/>
                </a:lnTo>
                <a:lnTo>
                  <a:pt x="504634" y="44310"/>
                </a:lnTo>
                <a:lnTo>
                  <a:pt x="500075" y="42659"/>
                </a:lnTo>
                <a:lnTo>
                  <a:pt x="490080" y="42659"/>
                </a:lnTo>
                <a:lnTo>
                  <a:pt x="484619" y="44310"/>
                </a:lnTo>
                <a:lnTo>
                  <a:pt x="475538" y="50876"/>
                </a:lnTo>
                <a:lnTo>
                  <a:pt x="470992" y="54978"/>
                </a:lnTo>
                <a:lnTo>
                  <a:pt x="466445" y="60731"/>
                </a:lnTo>
                <a:lnTo>
                  <a:pt x="466445" y="45123"/>
                </a:lnTo>
                <a:lnTo>
                  <a:pt x="425526" y="45123"/>
                </a:lnTo>
                <a:lnTo>
                  <a:pt x="425526" y="50063"/>
                </a:lnTo>
                <a:lnTo>
                  <a:pt x="430072" y="50063"/>
                </a:lnTo>
                <a:lnTo>
                  <a:pt x="432803" y="51701"/>
                </a:lnTo>
                <a:lnTo>
                  <a:pt x="434619" y="52527"/>
                </a:lnTo>
                <a:lnTo>
                  <a:pt x="435521" y="54165"/>
                </a:lnTo>
                <a:lnTo>
                  <a:pt x="436435" y="57442"/>
                </a:lnTo>
                <a:lnTo>
                  <a:pt x="436435" y="123926"/>
                </a:lnTo>
                <a:lnTo>
                  <a:pt x="435521" y="126377"/>
                </a:lnTo>
                <a:lnTo>
                  <a:pt x="431888" y="129667"/>
                </a:lnTo>
                <a:lnTo>
                  <a:pt x="429158" y="130492"/>
                </a:lnTo>
                <a:lnTo>
                  <a:pt x="425526" y="130492"/>
                </a:lnTo>
                <a:lnTo>
                  <a:pt x="425526" y="135407"/>
                </a:lnTo>
                <a:lnTo>
                  <a:pt x="482803" y="135407"/>
                </a:lnTo>
                <a:lnTo>
                  <a:pt x="482803" y="130492"/>
                </a:lnTo>
                <a:lnTo>
                  <a:pt x="476440" y="130492"/>
                </a:lnTo>
                <a:lnTo>
                  <a:pt x="472808" y="128841"/>
                </a:lnTo>
                <a:lnTo>
                  <a:pt x="470992" y="127203"/>
                </a:lnTo>
                <a:lnTo>
                  <a:pt x="468261" y="125564"/>
                </a:lnTo>
                <a:lnTo>
                  <a:pt x="467347" y="121462"/>
                </a:lnTo>
                <a:lnTo>
                  <a:pt x="467347" y="72212"/>
                </a:lnTo>
                <a:lnTo>
                  <a:pt x="469176" y="67297"/>
                </a:lnTo>
                <a:lnTo>
                  <a:pt x="471893" y="64008"/>
                </a:lnTo>
                <a:lnTo>
                  <a:pt x="474624" y="61544"/>
                </a:lnTo>
                <a:lnTo>
                  <a:pt x="477354" y="59905"/>
                </a:lnTo>
                <a:lnTo>
                  <a:pt x="481901" y="59905"/>
                </a:lnTo>
                <a:lnTo>
                  <a:pt x="484619" y="61544"/>
                </a:lnTo>
                <a:lnTo>
                  <a:pt x="487349" y="65646"/>
                </a:lnTo>
                <a:lnTo>
                  <a:pt x="490982" y="68935"/>
                </a:lnTo>
                <a:lnTo>
                  <a:pt x="494626" y="71399"/>
                </a:lnTo>
                <a:lnTo>
                  <a:pt x="503669" y="71399"/>
                </a:lnTo>
                <a:lnTo>
                  <a:pt x="507301" y="69748"/>
                </a:lnTo>
                <a:lnTo>
                  <a:pt x="509117" y="67297"/>
                </a:lnTo>
                <a:lnTo>
                  <a:pt x="511911" y="64833"/>
                </a:lnTo>
                <a:lnTo>
                  <a:pt x="512749" y="61544"/>
                </a:lnTo>
                <a:lnTo>
                  <a:pt x="512749" y="53340"/>
                </a:lnTo>
                <a:close/>
              </a:path>
              <a:path w="607060" h="176529">
                <a:moveTo>
                  <a:pt x="606437" y="114071"/>
                </a:moveTo>
                <a:lnTo>
                  <a:pt x="600989" y="110782"/>
                </a:lnTo>
                <a:lnTo>
                  <a:pt x="597357" y="114896"/>
                </a:lnTo>
                <a:lnTo>
                  <a:pt x="593712" y="118173"/>
                </a:lnTo>
                <a:lnTo>
                  <a:pt x="591045" y="119824"/>
                </a:lnTo>
                <a:lnTo>
                  <a:pt x="586447" y="122275"/>
                </a:lnTo>
                <a:lnTo>
                  <a:pt x="581964" y="123926"/>
                </a:lnTo>
                <a:lnTo>
                  <a:pt x="576503" y="123926"/>
                </a:lnTo>
                <a:lnTo>
                  <a:pt x="550087" y="95186"/>
                </a:lnTo>
                <a:lnTo>
                  <a:pt x="550087" y="86982"/>
                </a:lnTo>
                <a:lnTo>
                  <a:pt x="605599" y="86982"/>
                </a:lnTo>
                <a:lnTo>
                  <a:pt x="605599" y="85344"/>
                </a:lnTo>
                <a:lnTo>
                  <a:pt x="604621" y="82880"/>
                </a:lnTo>
                <a:lnTo>
                  <a:pt x="604621" y="80416"/>
                </a:lnTo>
                <a:lnTo>
                  <a:pt x="604621" y="79603"/>
                </a:lnTo>
                <a:lnTo>
                  <a:pt x="587844" y="49237"/>
                </a:lnTo>
                <a:lnTo>
                  <a:pt x="578319" y="44310"/>
                </a:lnTo>
                <a:lnTo>
                  <a:pt x="578319" y="68110"/>
                </a:lnTo>
                <a:lnTo>
                  <a:pt x="578319" y="80416"/>
                </a:lnTo>
                <a:lnTo>
                  <a:pt x="549236" y="80416"/>
                </a:lnTo>
                <a:lnTo>
                  <a:pt x="549236" y="69748"/>
                </a:lnTo>
                <a:lnTo>
                  <a:pt x="551053" y="62369"/>
                </a:lnTo>
                <a:lnTo>
                  <a:pt x="552869" y="56629"/>
                </a:lnTo>
                <a:lnTo>
                  <a:pt x="554685" y="51701"/>
                </a:lnTo>
                <a:lnTo>
                  <a:pt x="559168" y="49237"/>
                </a:lnTo>
                <a:lnTo>
                  <a:pt x="570077" y="49237"/>
                </a:lnTo>
                <a:lnTo>
                  <a:pt x="573722" y="50876"/>
                </a:lnTo>
                <a:lnTo>
                  <a:pt x="577354" y="60731"/>
                </a:lnTo>
                <a:lnTo>
                  <a:pt x="578319" y="68110"/>
                </a:lnTo>
                <a:lnTo>
                  <a:pt x="578319" y="44310"/>
                </a:lnTo>
                <a:lnTo>
                  <a:pt x="571906" y="42659"/>
                </a:lnTo>
                <a:lnTo>
                  <a:pt x="564629" y="42659"/>
                </a:lnTo>
                <a:lnTo>
                  <a:pt x="526846" y="62230"/>
                </a:lnTo>
                <a:lnTo>
                  <a:pt x="519176" y="90271"/>
                </a:lnTo>
                <a:lnTo>
                  <a:pt x="520026" y="101803"/>
                </a:lnTo>
                <a:lnTo>
                  <a:pt x="547839" y="135305"/>
                </a:lnTo>
                <a:lnTo>
                  <a:pt x="562813" y="137871"/>
                </a:lnTo>
                <a:lnTo>
                  <a:pt x="571055" y="137871"/>
                </a:lnTo>
                <a:lnTo>
                  <a:pt x="597877" y="123926"/>
                </a:lnTo>
                <a:lnTo>
                  <a:pt x="600964" y="120853"/>
                </a:lnTo>
                <a:lnTo>
                  <a:pt x="606437" y="1140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002273" y="6221217"/>
            <a:ext cx="361950" cy="137160"/>
            <a:chOff x="2002273" y="6221217"/>
            <a:chExt cx="361950" cy="1371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2273" y="6221217"/>
              <a:ext cx="81810" cy="1345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4142" y="6221217"/>
              <a:ext cx="250038" cy="13705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70474" y="6220397"/>
            <a:ext cx="4656193" cy="17645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917897" y="652095"/>
            <a:ext cx="1145540" cy="326390"/>
            <a:chOff x="2917897" y="652095"/>
            <a:chExt cx="1145540" cy="326390"/>
          </a:xfrm>
        </p:grpSpPr>
        <p:sp>
          <p:nvSpPr>
            <p:cNvPr id="9" name="object 9"/>
            <p:cNvSpPr/>
            <p:nvPr/>
          </p:nvSpPr>
          <p:spPr>
            <a:xfrm>
              <a:off x="2923282" y="657480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4">
                  <a:moveTo>
                    <a:pt x="1047422" y="0"/>
                  </a:moveTo>
                  <a:lnTo>
                    <a:pt x="87264" y="0"/>
                  </a:lnTo>
                  <a:lnTo>
                    <a:pt x="53330" y="6202"/>
                  </a:lnTo>
                  <a:lnTo>
                    <a:pt x="25588" y="23112"/>
                  </a:lnTo>
                  <a:lnTo>
                    <a:pt x="6868" y="48187"/>
                  </a:lnTo>
                  <a:lnTo>
                    <a:pt x="0" y="78883"/>
                  </a:lnTo>
                  <a:lnTo>
                    <a:pt x="0" y="236433"/>
                  </a:lnTo>
                  <a:lnTo>
                    <a:pt x="6868" y="267065"/>
                  </a:lnTo>
                  <a:lnTo>
                    <a:pt x="25588" y="292108"/>
                  </a:lnTo>
                  <a:lnTo>
                    <a:pt x="53330" y="309007"/>
                  </a:lnTo>
                  <a:lnTo>
                    <a:pt x="87264" y="315207"/>
                  </a:lnTo>
                  <a:lnTo>
                    <a:pt x="1047422" y="315207"/>
                  </a:lnTo>
                  <a:lnTo>
                    <a:pt x="1081407" y="309007"/>
                  </a:lnTo>
                  <a:lnTo>
                    <a:pt x="1109144" y="292108"/>
                  </a:lnTo>
                  <a:lnTo>
                    <a:pt x="1127835" y="267065"/>
                  </a:lnTo>
                  <a:lnTo>
                    <a:pt x="1134687" y="236433"/>
                  </a:lnTo>
                  <a:lnTo>
                    <a:pt x="1134687" y="78883"/>
                  </a:lnTo>
                  <a:lnTo>
                    <a:pt x="1127835" y="48187"/>
                  </a:lnTo>
                  <a:lnTo>
                    <a:pt x="1109144" y="23112"/>
                  </a:lnTo>
                  <a:lnTo>
                    <a:pt x="1081407" y="6202"/>
                  </a:lnTo>
                  <a:lnTo>
                    <a:pt x="1047422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23282" y="657480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4">
                  <a:moveTo>
                    <a:pt x="1134687" y="236433"/>
                  </a:moveTo>
                  <a:lnTo>
                    <a:pt x="1127835" y="267065"/>
                  </a:lnTo>
                  <a:lnTo>
                    <a:pt x="1109144" y="292108"/>
                  </a:lnTo>
                  <a:lnTo>
                    <a:pt x="1081407" y="309007"/>
                  </a:lnTo>
                  <a:lnTo>
                    <a:pt x="1047422" y="315207"/>
                  </a:lnTo>
                  <a:lnTo>
                    <a:pt x="87264" y="315207"/>
                  </a:lnTo>
                  <a:lnTo>
                    <a:pt x="53330" y="309007"/>
                  </a:lnTo>
                  <a:lnTo>
                    <a:pt x="25588" y="292108"/>
                  </a:lnTo>
                  <a:lnTo>
                    <a:pt x="6868" y="267065"/>
                  </a:lnTo>
                  <a:lnTo>
                    <a:pt x="0" y="236433"/>
                  </a:lnTo>
                  <a:lnTo>
                    <a:pt x="0" y="78883"/>
                  </a:lnTo>
                  <a:lnTo>
                    <a:pt x="6868" y="48187"/>
                  </a:lnTo>
                  <a:lnTo>
                    <a:pt x="25588" y="23112"/>
                  </a:lnTo>
                  <a:lnTo>
                    <a:pt x="53330" y="6202"/>
                  </a:lnTo>
                  <a:lnTo>
                    <a:pt x="87264" y="0"/>
                  </a:lnTo>
                  <a:lnTo>
                    <a:pt x="1047422" y="0"/>
                  </a:lnTo>
                  <a:lnTo>
                    <a:pt x="1081407" y="6202"/>
                  </a:lnTo>
                  <a:lnTo>
                    <a:pt x="1109144" y="23112"/>
                  </a:lnTo>
                  <a:lnTo>
                    <a:pt x="1127835" y="48187"/>
                  </a:lnTo>
                  <a:lnTo>
                    <a:pt x="1134687" y="78883"/>
                  </a:lnTo>
                  <a:lnTo>
                    <a:pt x="1134687" y="236433"/>
                  </a:lnTo>
                  <a:close/>
                </a:path>
              </a:pathLst>
            </a:custGeom>
            <a:ln w="10752">
              <a:solidFill>
                <a:srgbClr val="08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3333" y="751900"/>
              <a:ext cx="309184" cy="1214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363353" y="751903"/>
              <a:ext cx="534035" cy="97155"/>
            </a:xfrm>
            <a:custGeom>
              <a:avLst/>
              <a:gdLst/>
              <a:ahLst/>
              <a:cxnLst/>
              <a:rect l="l" t="t" r="r" b="b"/>
              <a:pathLst>
                <a:path w="534035" h="97155">
                  <a:moveTo>
                    <a:pt x="20002" y="24625"/>
                  </a:moveTo>
                  <a:lnTo>
                    <a:pt x="0" y="24625"/>
                  </a:lnTo>
                  <a:lnTo>
                    <a:pt x="0" y="94424"/>
                  </a:lnTo>
                  <a:lnTo>
                    <a:pt x="20002" y="94424"/>
                  </a:lnTo>
                  <a:lnTo>
                    <a:pt x="20002" y="24625"/>
                  </a:lnTo>
                  <a:close/>
                </a:path>
                <a:path w="534035" h="97155">
                  <a:moveTo>
                    <a:pt x="20002" y="0"/>
                  </a:moveTo>
                  <a:lnTo>
                    <a:pt x="0" y="0"/>
                  </a:lnTo>
                  <a:lnTo>
                    <a:pt x="0" y="16408"/>
                  </a:lnTo>
                  <a:lnTo>
                    <a:pt x="20002" y="16408"/>
                  </a:lnTo>
                  <a:lnTo>
                    <a:pt x="20002" y="0"/>
                  </a:lnTo>
                  <a:close/>
                </a:path>
                <a:path w="534035" h="97155">
                  <a:moveTo>
                    <a:pt x="106413" y="50114"/>
                  </a:moveTo>
                  <a:lnTo>
                    <a:pt x="105524" y="40271"/>
                  </a:lnTo>
                  <a:lnTo>
                    <a:pt x="105448" y="39395"/>
                  </a:lnTo>
                  <a:lnTo>
                    <a:pt x="105029" y="38620"/>
                  </a:lnTo>
                  <a:lnTo>
                    <a:pt x="101815" y="32829"/>
                  </a:lnTo>
                  <a:lnTo>
                    <a:pt x="95516" y="28778"/>
                  </a:lnTo>
                  <a:lnTo>
                    <a:pt x="89090" y="25501"/>
                  </a:lnTo>
                  <a:lnTo>
                    <a:pt x="81813" y="22974"/>
                  </a:lnTo>
                  <a:lnTo>
                    <a:pt x="71882" y="22974"/>
                  </a:lnTo>
                  <a:lnTo>
                    <a:pt x="37757" y="44932"/>
                  </a:lnTo>
                  <a:lnTo>
                    <a:pt x="35521" y="60731"/>
                  </a:lnTo>
                  <a:lnTo>
                    <a:pt x="36029" y="68427"/>
                  </a:lnTo>
                  <a:lnTo>
                    <a:pt x="63017" y="96215"/>
                  </a:lnTo>
                  <a:lnTo>
                    <a:pt x="71882" y="96824"/>
                  </a:lnTo>
                  <a:lnTo>
                    <a:pt x="80200" y="96075"/>
                  </a:lnTo>
                  <a:lnTo>
                    <a:pt x="87515" y="93776"/>
                  </a:lnTo>
                  <a:lnTo>
                    <a:pt x="93827" y="89954"/>
                  </a:lnTo>
                  <a:lnTo>
                    <a:pt x="99148" y="84582"/>
                  </a:lnTo>
                  <a:lnTo>
                    <a:pt x="102133" y="81292"/>
                  </a:lnTo>
                  <a:lnTo>
                    <a:pt x="103632" y="79654"/>
                  </a:lnTo>
                  <a:lnTo>
                    <a:pt x="105448" y="74726"/>
                  </a:lnTo>
                  <a:lnTo>
                    <a:pt x="106413" y="68935"/>
                  </a:lnTo>
                  <a:lnTo>
                    <a:pt x="85445" y="68935"/>
                  </a:lnTo>
                  <a:lnTo>
                    <a:pt x="85445" y="73088"/>
                  </a:lnTo>
                  <a:lnTo>
                    <a:pt x="83629" y="75501"/>
                  </a:lnTo>
                  <a:lnTo>
                    <a:pt x="81813" y="78016"/>
                  </a:lnTo>
                  <a:lnTo>
                    <a:pt x="79997" y="80416"/>
                  </a:lnTo>
                  <a:lnTo>
                    <a:pt x="76365" y="81292"/>
                  </a:lnTo>
                  <a:lnTo>
                    <a:pt x="65455" y="81292"/>
                  </a:lnTo>
                  <a:lnTo>
                    <a:pt x="60972" y="78778"/>
                  </a:lnTo>
                  <a:lnTo>
                    <a:pt x="58178" y="73088"/>
                  </a:lnTo>
                  <a:lnTo>
                    <a:pt x="57327" y="69811"/>
                  </a:lnTo>
                  <a:lnTo>
                    <a:pt x="56362" y="65646"/>
                  </a:lnTo>
                  <a:lnTo>
                    <a:pt x="56362" y="55041"/>
                  </a:lnTo>
                  <a:lnTo>
                    <a:pt x="57327" y="50876"/>
                  </a:lnTo>
                  <a:lnTo>
                    <a:pt x="58178" y="47599"/>
                  </a:lnTo>
                  <a:lnTo>
                    <a:pt x="60972" y="41910"/>
                  </a:lnTo>
                  <a:lnTo>
                    <a:pt x="65455" y="38620"/>
                  </a:lnTo>
                  <a:lnTo>
                    <a:pt x="77330" y="38620"/>
                  </a:lnTo>
                  <a:lnTo>
                    <a:pt x="80962" y="40271"/>
                  </a:lnTo>
                  <a:lnTo>
                    <a:pt x="82791" y="42672"/>
                  </a:lnTo>
                  <a:lnTo>
                    <a:pt x="84607" y="45186"/>
                  </a:lnTo>
                  <a:lnTo>
                    <a:pt x="85445" y="46824"/>
                  </a:lnTo>
                  <a:lnTo>
                    <a:pt x="85445" y="50114"/>
                  </a:lnTo>
                  <a:lnTo>
                    <a:pt x="106413" y="50114"/>
                  </a:lnTo>
                  <a:close/>
                </a:path>
                <a:path w="534035" h="97155">
                  <a:moveTo>
                    <a:pt x="187261" y="91909"/>
                  </a:moveTo>
                  <a:lnTo>
                    <a:pt x="183629" y="88620"/>
                  </a:lnTo>
                  <a:lnTo>
                    <a:pt x="183629" y="86220"/>
                  </a:lnTo>
                  <a:lnTo>
                    <a:pt x="183629" y="82931"/>
                  </a:lnTo>
                  <a:lnTo>
                    <a:pt x="183629" y="81292"/>
                  </a:lnTo>
                  <a:lnTo>
                    <a:pt x="182778" y="78778"/>
                  </a:lnTo>
                  <a:lnTo>
                    <a:pt x="182778" y="60731"/>
                  </a:lnTo>
                  <a:lnTo>
                    <a:pt x="182778" y="37744"/>
                  </a:lnTo>
                  <a:lnTo>
                    <a:pt x="182778" y="36106"/>
                  </a:lnTo>
                  <a:lnTo>
                    <a:pt x="179984" y="30416"/>
                  </a:lnTo>
                  <a:lnTo>
                    <a:pt x="173685" y="27901"/>
                  </a:lnTo>
                  <a:lnTo>
                    <a:pt x="167259" y="24625"/>
                  </a:lnTo>
                  <a:lnTo>
                    <a:pt x="159143" y="22974"/>
                  </a:lnTo>
                  <a:lnTo>
                    <a:pt x="150901" y="22974"/>
                  </a:lnTo>
                  <a:lnTo>
                    <a:pt x="142036" y="23583"/>
                  </a:lnTo>
                  <a:lnTo>
                    <a:pt x="118173" y="41033"/>
                  </a:lnTo>
                  <a:lnTo>
                    <a:pt x="118173" y="47599"/>
                  </a:lnTo>
                  <a:lnTo>
                    <a:pt x="137325" y="47599"/>
                  </a:lnTo>
                  <a:lnTo>
                    <a:pt x="138176" y="44310"/>
                  </a:lnTo>
                  <a:lnTo>
                    <a:pt x="139141" y="42672"/>
                  </a:lnTo>
                  <a:lnTo>
                    <a:pt x="139992" y="41033"/>
                  </a:lnTo>
                  <a:lnTo>
                    <a:pt x="141808" y="38620"/>
                  </a:lnTo>
                  <a:lnTo>
                    <a:pt x="145440" y="37744"/>
                  </a:lnTo>
                  <a:lnTo>
                    <a:pt x="154533" y="37744"/>
                  </a:lnTo>
                  <a:lnTo>
                    <a:pt x="157327" y="38620"/>
                  </a:lnTo>
                  <a:lnTo>
                    <a:pt x="159994" y="39395"/>
                  </a:lnTo>
                  <a:lnTo>
                    <a:pt x="161810" y="40271"/>
                  </a:lnTo>
                  <a:lnTo>
                    <a:pt x="162775" y="42672"/>
                  </a:lnTo>
                  <a:lnTo>
                    <a:pt x="162775" y="47599"/>
                  </a:lnTo>
                  <a:lnTo>
                    <a:pt x="162775" y="60731"/>
                  </a:lnTo>
                  <a:lnTo>
                    <a:pt x="162775" y="73088"/>
                  </a:lnTo>
                  <a:lnTo>
                    <a:pt x="160959" y="77139"/>
                  </a:lnTo>
                  <a:lnTo>
                    <a:pt x="157327" y="79654"/>
                  </a:lnTo>
                  <a:lnTo>
                    <a:pt x="153682" y="82054"/>
                  </a:lnTo>
                  <a:lnTo>
                    <a:pt x="150050" y="82931"/>
                  </a:lnTo>
                  <a:lnTo>
                    <a:pt x="139992" y="82931"/>
                  </a:lnTo>
                  <a:lnTo>
                    <a:pt x="136359" y="79654"/>
                  </a:lnTo>
                  <a:lnTo>
                    <a:pt x="135509" y="77139"/>
                  </a:lnTo>
                  <a:lnTo>
                    <a:pt x="135509" y="70573"/>
                  </a:lnTo>
                  <a:lnTo>
                    <a:pt x="137325" y="68160"/>
                  </a:lnTo>
                  <a:lnTo>
                    <a:pt x="139992" y="66522"/>
                  </a:lnTo>
                  <a:lnTo>
                    <a:pt x="141808" y="65646"/>
                  </a:lnTo>
                  <a:lnTo>
                    <a:pt x="145440" y="64884"/>
                  </a:lnTo>
                  <a:lnTo>
                    <a:pt x="149085" y="64008"/>
                  </a:lnTo>
                  <a:lnTo>
                    <a:pt x="153682" y="63246"/>
                  </a:lnTo>
                  <a:lnTo>
                    <a:pt x="156349" y="63246"/>
                  </a:lnTo>
                  <a:lnTo>
                    <a:pt x="158178" y="62369"/>
                  </a:lnTo>
                  <a:lnTo>
                    <a:pt x="159143" y="62369"/>
                  </a:lnTo>
                  <a:lnTo>
                    <a:pt x="160959" y="61595"/>
                  </a:lnTo>
                  <a:lnTo>
                    <a:pt x="161810" y="61595"/>
                  </a:lnTo>
                  <a:lnTo>
                    <a:pt x="162775" y="60731"/>
                  </a:lnTo>
                  <a:lnTo>
                    <a:pt x="162775" y="47599"/>
                  </a:lnTo>
                  <a:lnTo>
                    <a:pt x="161810" y="49237"/>
                  </a:lnTo>
                  <a:lnTo>
                    <a:pt x="159143" y="50114"/>
                  </a:lnTo>
                  <a:lnTo>
                    <a:pt x="157327" y="50876"/>
                  </a:lnTo>
                  <a:lnTo>
                    <a:pt x="154533" y="51752"/>
                  </a:lnTo>
                  <a:lnTo>
                    <a:pt x="150901" y="51752"/>
                  </a:lnTo>
                  <a:lnTo>
                    <a:pt x="143624" y="52514"/>
                  </a:lnTo>
                  <a:lnTo>
                    <a:pt x="136359" y="53390"/>
                  </a:lnTo>
                  <a:lnTo>
                    <a:pt x="130048" y="55041"/>
                  </a:lnTo>
                  <a:lnTo>
                    <a:pt x="126415" y="57442"/>
                  </a:lnTo>
                  <a:lnTo>
                    <a:pt x="119151" y="60731"/>
                  </a:lnTo>
                  <a:lnTo>
                    <a:pt x="115506" y="67284"/>
                  </a:lnTo>
                  <a:lnTo>
                    <a:pt x="115506" y="82054"/>
                  </a:lnTo>
                  <a:lnTo>
                    <a:pt x="117322" y="87858"/>
                  </a:lnTo>
                  <a:lnTo>
                    <a:pt x="121818" y="91135"/>
                  </a:lnTo>
                  <a:lnTo>
                    <a:pt x="126415" y="94424"/>
                  </a:lnTo>
                  <a:lnTo>
                    <a:pt x="132715" y="96062"/>
                  </a:lnTo>
                  <a:lnTo>
                    <a:pt x="144602" y="96062"/>
                  </a:lnTo>
                  <a:lnTo>
                    <a:pt x="150050" y="95186"/>
                  </a:lnTo>
                  <a:lnTo>
                    <a:pt x="154533" y="92786"/>
                  </a:lnTo>
                  <a:lnTo>
                    <a:pt x="158178" y="91135"/>
                  </a:lnTo>
                  <a:lnTo>
                    <a:pt x="163626" y="86220"/>
                  </a:lnTo>
                  <a:lnTo>
                    <a:pt x="163626" y="87858"/>
                  </a:lnTo>
                  <a:lnTo>
                    <a:pt x="164592" y="89496"/>
                  </a:lnTo>
                  <a:lnTo>
                    <a:pt x="164592" y="92786"/>
                  </a:lnTo>
                  <a:lnTo>
                    <a:pt x="165442" y="94424"/>
                  </a:lnTo>
                  <a:lnTo>
                    <a:pt x="187261" y="94424"/>
                  </a:lnTo>
                  <a:lnTo>
                    <a:pt x="187261" y="91909"/>
                  </a:lnTo>
                  <a:close/>
                </a:path>
                <a:path w="534035" h="97155">
                  <a:moveTo>
                    <a:pt x="236474" y="25501"/>
                  </a:moveTo>
                  <a:lnTo>
                    <a:pt x="224586" y="25501"/>
                  </a:lnTo>
                  <a:lnTo>
                    <a:pt x="224586" y="5803"/>
                  </a:lnTo>
                  <a:lnTo>
                    <a:pt x="204597" y="5803"/>
                  </a:lnTo>
                  <a:lnTo>
                    <a:pt x="204597" y="25501"/>
                  </a:lnTo>
                  <a:lnTo>
                    <a:pt x="193687" y="25501"/>
                  </a:lnTo>
                  <a:lnTo>
                    <a:pt x="193687" y="38620"/>
                  </a:lnTo>
                  <a:lnTo>
                    <a:pt x="204597" y="38620"/>
                  </a:lnTo>
                  <a:lnTo>
                    <a:pt x="204597" y="85344"/>
                  </a:lnTo>
                  <a:lnTo>
                    <a:pt x="205435" y="88620"/>
                  </a:lnTo>
                  <a:lnTo>
                    <a:pt x="208229" y="91135"/>
                  </a:lnTo>
                  <a:lnTo>
                    <a:pt x="210896" y="94424"/>
                  </a:lnTo>
                  <a:lnTo>
                    <a:pt x="217322" y="95186"/>
                  </a:lnTo>
                  <a:lnTo>
                    <a:pt x="236474" y="95186"/>
                  </a:lnTo>
                  <a:lnTo>
                    <a:pt x="236474" y="81292"/>
                  </a:lnTo>
                  <a:lnTo>
                    <a:pt x="226402" y="81292"/>
                  </a:lnTo>
                  <a:lnTo>
                    <a:pt x="225564" y="80416"/>
                  </a:lnTo>
                  <a:lnTo>
                    <a:pt x="224586" y="79654"/>
                  </a:lnTo>
                  <a:lnTo>
                    <a:pt x="224586" y="38620"/>
                  </a:lnTo>
                  <a:lnTo>
                    <a:pt x="236474" y="38620"/>
                  </a:lnTo>
                  <a:lnTo>
                    <a:pt x="236474" y="25501"/>
                  </a:lnTo>
                  <a:close/>
                </a:path>
                <a:path w="534035" h="97155">
                  <a:moveTo>
                    <a:pt x="271005" y="24625"/>
                  </a:moveTo>
                  <a:lnTo>
                    <a:pt x="250037" y="24625"/>
                  </a:lnTo>
                  <a:lnTo>
                    <a:pt x="250037" y="94424"/>
                  </a:lnTo>
                  <a:lnTo>
                    <a:pt x="271005" y="94424"/>
                  </a:lnTo>
                  <a:lnTo>
                    <a:pt x="271005" y="24625"/>
                  </a:lnTo>
                  <a:close/>
                </a:path>
                <a:path w="534035" h="97155">
                  <a:moveTo>
                    <a:pt x="271005" y="0"/>
                  </a:moveTo>
                  <a:lnTo>
                    <a:pt x="250037" y="0"/>
                  </a:lnTo>
                  <a:lnTo>
                    <a:pt x="250037" y="16408"/>
                  </a:lnTo>
                  <a:lnTo>
                    <a:pt x="271005" y="16408"/>
                  </a:lnTo>
                  <a:lnTo>
                    <a:pt x="271005" y="0"/>
                  </a:lnTo>
                  <a:close/>
                </a:path>
                <a:path w="534035" h="97155">
                  <a:moveTo>
                    <a:pt x="364578" y="59956"/>
                  </a:moveTo>
                  <a:lnTo>
                    <a:pt x="343725" y="25908"/>
                  </a:lnTo>
                  <a:lnTo>
                    <a:pt x="343725" y="66522"/>
                  </a:lnTo>
                  <a:lnTo>
                    <a:pt x="341909" y="72212"/>
                  </a:lnTo>
                  <a:lnTo>
                    <a:pt x="338277" y="75501"/>
                  </a:lnTo>
                  <a:lnTo>
                    <a:pt x="335495" y="79654"/>
                  </a:lnTo>
                  <a:lnTo>
                    <a:pt x="331000" y="81292"/>
                  </a:lnTo>
                  <a:lnTo>
                    <a:pt x="319125" y="81292"/>
                  </a:lnTo>
                  <a:lnTo>
                    <a:pt x="314642" y="79654"/>
                  </a:lnTo>
                  <a:lnTo>
                    <a:pt x="311010" y="75501"/>
                  </a:lnTo>
                  <a:lnTo>
                    <a:pt x="308216" y="72212"/>
                  </a:lnTo>
                  <a:lnTo>
                    <a:pt x="306400" y="66522"/>
                  </a:lnTo>
                  <a:lnTo>
                    <a:pt x="306463" y="52362"/>
                  </a:lnTo>
                  <a:lnTo>
                    <a:pt x="308216" y="47599"/>
                  </a:lnTo>
                  <a:lnTo>
                    <a:pt x="311010" y="43548"/>
                  </a:lnTo>
                  <a:lnTo>
                    <a:pt x="314642" y="39395"/>
                  </a:lnTo>
                  <a:lnTo>
                    <a:pt x="319125" y="37744"/>
                  </a:lnTo>
                  <a:lnTo>
                    <a:pt x="331000" y="37744"/>
                  </a:lnTo>
                  <a:lnTo>
                    <a:pt x="335495" y="39395"/>
                  </a:lnTo>
                  <a:lnTo>
                    <a:pt x="338277" y="43548"/>
                  </a:lnTo>
                  <a:lnTo>
                    <a:pt x="341909" y="47599"/>
                  </a:lnTo>
                  <a:lnTo>
                    <a:pt x="343674" y="52362"/>
                  </a:lnTo>
                  <a:lnTo>
                    <a:pt x="343725" y="66522"/>
                  </a:lnTo>
                  <a:lnTo>
                    <a:pt x="343725" y="25908"/>
                  </a:lnTo>
                  <a:lnTo>
                    <a:pt x="342341" y="25171"/>
                  </a:lnTo>
                  <a:lnTo>
                    <a:pt x="334149" y="22961"/>
                  </a:lnTo>
                  <a:lnTo>
                    <a:pt x="324586" y="22212"/>
                  </a:lnTo>
                  <a:lnTo>
                    <a:pt x="315569" y="22961"/>
                  </a:lnTo>
                  <a:lnTo>
                    <a:pt x="286219" y="52362"/>
                  </a:lnTo>
                  <a:lnTo>
                    <a:pt x="285559" y="59956"/>
                  </a:lnTo>
                  <a:lnTo>
                    <a:pt x="286156" y="66522"/>
                  </a:lnTo>
                  <a:lnTo>
                    <a:pt x="315569" y="96100"/>
                  </a:lnTo>
                  <a:lnTo>
                    <a:pt x="324586" y="96824"/>
                  </a:lnTo>
                  <a:lnTo>
                    <a:pt x="334149" y="96100"/>
                  </a:lnTo>
                  <a:lnTo>
                    <a:pt x="342341" y="93980"/>
                  </a:lnTo>
                  <a:lnTo>
                    <a:pt x="349161" y="90639"/>
                  </a:lnTo>
                  <a:lnTo>
                    <a:pt x="354634" y="86220"/>
                  </a:lnTo>
                  <a:lnTo>
                    <a:pt x="358178" y="81292"/>
                  </a:lnTo>
                  <a:lnTo>
                    <a:pt x="358851" y="80365"/>
                  </a:lnTo>
                  <a:lnTo>
                    <a:pt x="361975" y="73990"/>
                  </a:lnTo>
                  <a:lnTo>
                    <a:pt x="363905" y="67170"/>
                  </a:lnTo>
                  <a:lnTo>
                    <a:pt x="364578" y="59956"/>
                  </a:lnTo>
                  <a:close/>
                </a:path>
                <a:path w="534035" h="97155">
                  <a:moveTo>
                    <a:pt x="449173" y="38620"/>
                  </a:moveTo>
                  <a:lnTo>
                    <a:pt x="447598" y="35344"/>
                  </a:lnTo>
                  <a:lnTo>
                    <a:pt x="446392" y="32829"/>
                  </a:lnTo>
                  <a:lnTo>
                    <a:pt x="441909" y="28778"/>
                  </a:lnTo>
                  <a:lnTo>
                    <a:pt x="436448" y="24625"/>
                  </a:lnTo>
                  <a:lnTo>
                    <a:pt x="430022" y="22974"/>
                  </a:lnTo>
                  <a:lnTo>
                    <a:pt x="415480" y="22974"/>
                  </a:lnTo>
                  <a:lnTo>
                    <a:pt x="410032" y="24625"/>
                  </a:lnTo>
                  <a:lnTo>
                    <a:pt x="406387" y="27139"/>
                  </a:lnTo>
                  <a:lnTo>
                    <a:pt x="403720" y="28778"/>
                  </a:lnTo>
                  <a:lnTo>
                    <a:pt x="401904" y="31178"/>
                  </a:lnTo>
                  <a:lnTo>
                    <a:pt x="399122" y="35344"/>
                  </a:lnTo>
                  <a:lnTo>
                    <a:pt x="399122" y="24625"/>
                  </a:lnTo>
                  <a:lnTo>
                    <a:pt x="379120" y="24625"/>
                  </a:lnTo>
                  <a:lnTo>
                    <a:pt x="379120" y="94424"/>
                  </a:lnTo>
                  <a:lnTo>
                    <a:pt x="399122" y="94424"/>
                  </a:lnTo>
                  <a:lnTo>
                    <a:pt x="399122" y="52514"/>
                  </a:lnTo>
                  <a:lnTo>
                    <a:pt x="400088" y="49237"/>
                  </a:lnTo>
                  <a:lnTo>
                    <a:pt x="401904" y="45961"/>
                  </a:lnTo>
                  <a:lnTo>
                    <a:pt x="403720" y="41033"/>
                  </a:lnTo>
                  <a:lnTo>
                    <a:pt x="409181" y="38620"/>
                  </a:lnTo>
                  <a:lnTo>
                    <a:pt x="420941" y="38620"/>
                  </a:lnTo>
                  <a:lnTo>
                    <a:pt x="424573" y="40271"/>
                  </a:lnTo>
                  <a:lnTo>
                    <a:pt x="426389" y="43548"/>
                  </a:lnTo>
                  <a:lnTo>
                    <a:pt x="428205" y="45186"/>
                  </a:lnTo>
                  <a:lnTo>
                    <a:pt x="428205" y="94424"/>
                  </a:lnTo>
                  <a:lnTo>
                    <a:pt x="449173" y="94424"/>
                  </a:lnTo>
                  <a:lnTo>
                    <a:pt x="449173" y="38620"/>
                  </a:lnTo>
                  <a:close/>
                </a:path>
                <a:path w="534035" h="97155">
                  <a:moveTo>
                    <a:pt x="533781" y="68160"/>
                  </a:moveTo>
                  <a:lnTo>
                    <a:pt x="531952" y="64008"/>
                  </a:lnTo>
                  <a:lnTo>
                    <a:pt x="527354" y="59956"/>
                  </a:lnTo>
                  <a:lnTo>
                    <a:pt x="523709" y="56680"/>
                  </a:lnTo>
                  <a:lnTo>
                    <a:pt x="517410" y="54165"/>
                  </a:lnTo>
                  <a:lnTo>
                    <a:pt x="510146" y="52514"/>
                  </a:lnTo>
                  <a:lnTo>
                    <a:pt x="497420" y="50114"/>
                  </a:lnTo>
                  <a:lnTo>
                    <a:pt x="490994" y="48475"/>
                  </a:lnTo>
                  <a:lnTo>
                    <a:pt x="489178" y="47599"/>
                  </a:lnTo>
                  <a:lnTo>
                    <a:pt x="486511" y="46824"/>
                  </a:lnTo>
                  <a:lnTo>
                    <a:pt x="485533" y="45186"/>
                  </a:lnTo>
                  <a:lnTo>
                    <a:pt x="485533" y="41033"/>
                  </a:lnTo>
                  <a:lnTo>
                    <a:pt x="486511" y="39395"/>
                  </a:lnTo>
                  <a:lnTo>
                    <a:pt x="488327" y="38620"/>
                  </a:lnTo>
                  <a:lnTo>
                    <a:pt x="490143" y="36982"/>
                  </a:lnTo>
                  <a:lnTo>
                    <a:pt x="503720" y="36982"/>
                  </a:lnTo>
                  <a:lnTo>
                    <a:pt x="507352" y="37744"/>
                  </a:lnTo>
                  <a:lnTo>
                    <a:pt x="509168" y="40271"/>
                  </a:lnTo>
                  <a:lnTo>
                    <a:pt x="510146" y="41910"/>
                  </a:lnTo>
                  <a:lnTo>
                    <a:pt x="510984" y="43548"/>
                  </a:lnTo>
                  <a:lnTo>
                    <a:pt x="511962" y="45961"/>
                  </a:lnTo>
                  <a:lnTo>
                    <a:pt x="531952" y="45961"/>
                  </a:lnTo>
                  <a:lnTo>
                    <a:pt x="531482" y="41910"/>
                  </a:lnTo>
                  <a:lnTo>
                    <a:pt x="531380" y="41033"/>
                  </a:lnTo>
                  <a:lnTo>
                    <a:pt x="531279" y="40271"/>
                  </a:lnTo>
                  <a:lnTo>
                    <a:pt x="531177" y="39395"/>
                  </a:lnTo>
                  <a:lnTo>
                    <a:pt x="531088" y="38620"/>
                  </a:lnTo>
                  <a:lnTo>
                    <a:pt x="530987" y="37744"/>
                  </a:lnTo>
                  <a:lnTo>
                    <a:pt x="530567" y="36982"/>
                  </a:lnTo>
                  <a:lnTo>
                    <a:pt x="527354" y="31178"/>
                  </a:lnTo>
                  <a:lnTo>
                    <a:pt x="521055" y="27901"/>
                  </a:lnTo>
                  <a:lnTo>
                    <a:pt x="515594" y="24625"/>
                  </a:lnTo>
                  <a:lnTo>
                    <a:pt x="507352" y="22974"/>
                  </a:lnTo>
                  <a:lnTo>
                    <a:pt x="487349" y="22974"/>
                  </a:lnTo>
                  <a:lnTo>
                    <a:pt x="480085" y="25501"/>
                  </a:lnTo>
                  <a:lnTo>
                    <a:pt x="474624" y="29540"/>
                  </a:lnTo>
                  <a:lnTo>
                    <a:pt x="468325" y="34467"/>
                  </a:lnTo>
                  <a:lnTo>
                    <a:pt x="465543" y="40271"/>
                  </a:lnTo>
                  <a:lnTo>
                    <a:pt x="465543" y="51752"/>
                  </a:lnTo>
                  <a:lnTo>
                    <a:pt x="501904" y="68935"/>
                  </a:lnTo>
                  <a:lnTo>
                    <a:pt x="508317" y="70573"/>
                  </a:lnTo>
                  <a:lnTo>
                    <a:pt x="510984" y="71450"/>
                  </a:lnTo>
                  <a:lnTo>
                    <a:pt x="512813" y="72212"/>
                  </a:lnTo>
                  <a:lnTo>
                    <a:pt x="513778" y="73850"/>
                  </a:lnTo>
                  <a:lnTo>
                    <a:pt x="513778" y="78016"/>
                  </a:lnTo>
                  <a:lnTo>
                    <a:pt x="510146" y="81292"/>
                  </a:lnTo>
                  <a:lnTo>
                    <a:pt x="507352" y="82054"/>
                  </a:lnTo>
                  <a:lnTo>
                    <a:pt x="504685" y="82931"/>
                  </a:lnTo>
                  <a:lnTo>
                    <a:pt x="493776" y="82931"/>
                  </a:lnTo>
                  <a:lnTo>
                    <a:pt x="489178" y="81292"/>
                  </a:lnTo>
                  <a:lnTo>
                    <a:pt x="486511" y="78778"/>
                  </a:lnTo>
                  <a:lnTo>
                    <a:pt x="485533" y="78016"/>
                  </a:lnTo>
                  <a:lnTo>
                    <a:pt x="484682" y="75501"/>
                  </a:lnTo>
                  <a:lnTo>
                    <a:pt x="483717" y="72212"/>
                  </a:lnTo>
                  <a:lnTo>
                    <a:pt x="463715" y="72212"/>
                  </a:lnTo>
                  <a:lnTo>
                    <a:pt x="463715" y="79654"/>
                  </a:lnTo>
                  <a:lnTo>
                    <a:pt x="466509" y="85344"/>
                  </a:lnTo>
                  <a:lnTo>
                    <a:pt x="471957" y="89496"/>
                  </a:lnTo>
                  <a:lnTo>
                    <a:pt x="477088" y="92722"/>
                  </a:lnTo>
                  <a:lnTo>
                    <a:pt x="483438" y="95110"/>
                  </a:lnTo>
                  <a:lnTo>
                    <a:pt x="483704" y="95110"/>
                  </a:lnTo>
                  <a:lnTo>
                    <a:pt x="490550" y="96393"/>
                  </a:lnTo>
                  <a:lnTo>
                    <a:pt x="499237" y="96824"/>
                  </a:lnTo>
                  <a:lnTo>
                    <a:pt x="507415" y="96393"/>
                  </a:lnTo>
                  <a:lnTo>
                    <a:pt x="514426" y="95110"/>
                  </a:lnTo>
                  <a:lnTo>
                    <a:pt x="520420" y="93040"/>
                  </a:lnTo>
                  <a:lnTo>
                    <a:pt x="525538" y="90271"/>
                  </a:lnTo>
                  <a:lnTo>
                    <a:pt x="530987" y="85344"/>
                  </a:lnTo>
                  <a:lnTo>
                    <a:pt x="532345" y="82931"/>
                  </a:lnTo>
                  <a:lnTo>
                    <a:pt x="533781" y="80416"/>
                  </a:lnTo>
                  <a:lnTo>
                    <a:pt x="533781" y="68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07777" y="174110"/>
            <a:ext cx="1321216" cy="11323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53349" y="355511"/>
            <a:ext cx="1222921" cy="143654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195763" y="174110"/>
            <a:ext cx="843280" cy="113664"/>
            <a:chOff x="1195763" y="174110"/>
            <a:chExt cx="843280" cy="113664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95763" y="174749"/>
              <a:ext cx="344599" cy="1125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2179" y="174110"/>
              <a:ext cx="476454" cy="113238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2108688" y="174986"/>
            <a:ext cx="26034" cy="110489"/>
          </a:xfrm>
          <a:custGeom>
            <a:avLst/>
            <a:gdLst/>
            <a:ahLst/>
            <a:cxnLst/>
            <a:rect l="l" t="t" r="r" b="b"/>
            <a:pathLst>
              <a:path w="26035" h="110489">
                <a:moveTo>
                  <a:pt x="25452" y="109956"/>
                </a:moveTo>
                <a:lnTo>
                  <a:pt x="0" y="109956"/>
                </a:lnTo>
                <a:lnTo>
                  <a:pt x="0" y="0"/>
                </a:lnTo>
                <a:lnTo>
                  <a:pt x="25452" y="0"/>
                </a:lnTo>
                <a:lnTo>
                  <a:pt x="25452" y="109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147709" y="174751"/>
            <a:ext cx="99695" cy="109855"/>
          </a:xfrm>
          <a:custGeom>
            <a:avLst/>
            <a:gdLst/>
            <a:ahLst/>
            <a:cxnLst/>
            <a:rect l="l" t="t" r="r" b="b"/>
            <a:pathLst>
              <a:path w="99694" h="109854">
                <a:moveTo>
                  <a:pt x="99136" y="0"/>
                </a:moveTo>
                <a:lnTo>
                  <a:pt x="0" y="0"/>
                </a:lnTo>
                <a:lnTo>
                  <a:pt x="0" y="20485"/>
                </a:lnTo>
                <a:lnTo>
                  <a:pt x="37325" y="20485"/>
                </a:lnTo>
                <a:lnTo>
                  <a:pt x="37325" y="109664"/>
                </a:lnTo>
                <a:lnTo>
                  <a:pt x="62776" y="109664"/>
                </a:lnTo>
                <a:lnTo>
                  <a:pt x="62776" y="20485"/>
                </a:lnTo>
                <a:lnTo>
                  <a:pt x="99136" y="20485"/>
                </a:lnTo>
                <a:lnTo>
                  <a:pt x="991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39407" y="357918"/>
            <a:ext cx="961999" cy="113347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4692701" y="174116"/>
            <a:ext cx="664210" cy="113664"/>
          </a:xfrm>
          <a:custGeom>
            <a:avLst/>
            <a:gdLst/>
            <a:ahLst/>
            <a:cxnLst/>
            <a:rect l="l" t="t" r="r" b="b"/>
            <a:pathLst>
              <a:path w="664210" h="113664">
                <a:moveTo>
                  <a:pt x="92710" y="35344"/>
                </a:moveTo>
                <a:lnTo>
                  <a:pt x="92036" y="27190"/>
                </a:lnTo>
                <a:lnTo>
                  <a:pt x="89992" y="20040"/>
                </a:lnTo>
                <a:lnTo>
                  <a:pt x="89789" y="19697"/>
                </a:lnTo>
                <a:lnTo>
                  <a:pt x="86575" y="13970"/>
                </a:lnTo>
                <a:lnTo>
                  <a:pt x="81800" y="9080"/>
                </a:lnTo>
                <a:lnTo>
                  <a:pt x="75984" y="5346"/>
                </a:lnTo>
                <a:lnTo>
                  <a:pt x="69303" y="2806"/>
                </a:lnTo>
                <a:lnTo>
                  <a:pt x="68110" y="2590"/>
                </a:lnTo>
                <a:lnTo>
                  <a:pt x="68110" y="30416"/>
                </a:lnTo>
                <a:lnTo>
                  <a:pt x="68110" y="41033"/>
                </a:lnTo>
                <a:lnTo>
                  <a:pt x="66294" y="45948"/>
                </a:lnTo>
                <a:lnTo>
                  <a:pt x="62649" y="48463"/>
                </a:lnTo>
                <a:lnTo>
                  <a:pt x="59994" y="50876"/>
                </a:lnTo>
                <a:lnTo>
                  <a:pt x="54533" y="52514"/>
                </a:lnTo>
                <a:lnTo>
                  <a:pt x="25450" y="52514"/>
                </a:lnTo>
                <a:lnTo>
                  <a:pt x="25450" y="19697"/>
                </a:lnTo>
                <a:lnTo>
                  <a:pt x="54533" y="19697"/>
                </a:lnTo>
                <a:lnTo>
                  <a:pt x="59994" y="21336"/>
                </a:lnTo>
                <a:lnTo>
                  <a:pt x="62649" y="23850"/>
                </a:lnTo>
                <a:lnTo>
                  <a:pt x="66294" y="26263"/>
                </a:lnTo>
                <a:lnTo>
                  <a:pt x="68110" y="30416"/>
                </a:lnTo>
                <a:lnTo>
                  <a:pt x="68110" y="2590"/>
                </a:lnTo>
                <a:lnTo>
                  <a:pt x="61607" y="1346"/>
                </a:lnTo>
                <a:lnTo>
                  <a:pt x="52717" y="876"/>
                </a:lnTo>
                <a:lnTo>
                  <a:pt x="0" y="876"/>
                </a:lnTo>
                <a:lnTo>
                  <a:pt x="0" y="110832"/>
                </a:lnTo>
                <a:lnTo>
                  <a:pt x="25450" y="110832"/>
                </a:lnTo>
                <a:lnTo>
                  <a:pt x="25450" y="71450"/>
                </a:lnTo>
                <a:lnTo>
                  <a:pt x="50901" y="71450"/>
                </a:lnTo>
                <a:lnTo>
                  <a:pt x="89725" y="52514"/>
                </a:lnTo>
                <a:lnTo>
                  <a:pt x="89992" y="52031"/>
                </a:lnTo>
                <a:lnTo>
                  <a:pt x="92036" y="44424"/>
                </a:lnTo>
                <a:lnTo>
                  <a:pt x="92710" y="35344"/>
                </a:lnTo>
                <a:close/>
              </a:path>
              <a:path w="664210" h="113664">
                <a:moveTo>
                  <a:pt x="134531" y="876"/>
                </a:moveTo>
                <a:lnTo>
                  <a:pt x="110896" y="876"/>
                </a:lnTo>
                <a:lnTo>
                  <a:pt x="110896" y="110832"/>
                </a:lnTo>
                <a:lnTo>
                  <a:pt x="134531" y="110832"/>
                </a:lnTo>
                <a:lnTo>
                  <a:pt x="134531" y="876"/>
                </a:lnTo>
                <a:close/>
              </a:path>
              <a:path w="664210" h="113664">
                <a:moveTo>
                  <a:pt x="236334" y="107543"/>
                </a:moveTo>
                <a:lnTo>
                  <a:pt x="234518" y="106680"/>
                </a:lnTo>
                <a:lnTo>
                  <a:pt x="231851" y="104267"/>
                </a:lnTo>
                <a:lnTo>
                  <a:pt x="231851" y="101752"/>
                </a:lnTo>
                <a:lnTo>
                  <a:pt x="231546" y="100990"/>
                </a:lnTo>
                <a:lnTo>
                  <a:pt x="230886" y="99339"/>
                </a:lnTo>
                <a:lnTo>
                  <a:pt x="230886" y="97701"/>
                </a:lnTo>
                <a:lnTo>
                  <a:pt x="230886" y="71450"/>
                </a:lnTo>
                <a:lnTo>
                  <a:pt x="230886" y="44310"/>
                </a:lnTo>
                <a:lnTo>
                  <a:pt x="230886" y="42672"/>
                </a:lnTo>
                <a:lnTo>
                  <a:pt x="227241" y="36106"/>
                </a:lnTo>
                <a:lnTo>
                  <a:pt x="193675" y="27139"/>
                </a:lnTo>
                <a:lnTo>
                  <a:pt x="182905" y="27863"/>
                </a:lnTo>
                <a:lnTo>
                  <a:pt x="154520" y="55803"/>
                </a:lnTo>
                <a:lnTo>
                  <a:pt x="177317" y="55803"/>
                </a:lnTo>
                <a:lnTo>
                  <a:pt x="178155" y="52514"/>
                </a:lnTo>
                <a:lnTo>
                  <a:pt x="179133" y="50114"/>
                </a:lnTo>
                <a:lnTo>
                  <a:pt x="180949" y="48463"/>
                </a:lnTo>
                <a:lnTo>
                  <a:pt x="182765" y="45948"/>
                </a:lnTo>
                <a:lnTo>
                  <a:pt x="187248" y="44310"/>
                </a:lnTo>
                <a:lnTo>
                  <a:pt x="197307" y="44310"/>
                </a:lnTo>
                <a:lnTo>
                  <a:pt x="200952" y="45186"/>
                </a:lnTo>
                <a:lnTo>
                  <a:pt x="203606" y="46824"/>
                </a:lnTo>
                <a:lnTo>
                  <a:pt x="206400" y="47586"/>
                </a:lnTo>
                <a:lnTo>
                  <a:pt x="207251" y="50114"/>
                </a:lnTo>
                <a:lnTo>
                  <a:pt x="207251" y="55803"/>
                </a:lnTo>
                <a:lnTo>
                  <a:pt x="207251" y="71450"/>
                </a:lnTo>
                <a:lnTo>
                  <a:pt x="207251" y="86220"/>
                </a:lnTo>
                <a:lnTo>
                  <a:pt x="205435" y="91135"/>
                </a:lnTo>
                <a:lnTo>
                  <a:pt x="196342" y="96062"/>
                </a:lnTo>
                <a:lnTo>
                  <a:pt x="191858" y="97701"/>
                </a:lnTo>
                <a:lnTo>
                  <a:pt x="183616" y="97701"/>
                </a:lnTo>
                <a:lnTo>
                  <a:pt x="180949" y="96824"/>
                </a:lnTo>
                <a:lnTo>
                  <a:pt x="179133" y="95186"/>
                </a:lnTo>
                <a:lnTo>
                  <a:pt x="176339" y="93548"/>
                </a:lnTo>
                <a:lnTo>
                  <a:pt x="175488" y="91135"/>
                </a:lnTo>
                <a:lnTo>
                  <a:pt x="175488" y="83693"/>
                </a:lnTo>
                <a:lnTo>
                  <a:pt x="177317" y="80416"/>
                </a:lnTo>
                <a:lnTo>
                  <a:pt x="180949" y="78778"/>
                </a:lnTo>
                <a:lnTo>
                  <a:pt x="182765" y="77139"/>
                </a:lnTo>
                <a:lnTo>
                  <a:pt x="186397" y="76365"/>
                </a:lnTo>
                <a:lnTo>
                  <a:pt x="191858" y="75488"/>
                </a:lnTo>
                <a:lnTo>
                  <a:pt x="196342" y="74726"/>
                </a:lnTo>
                <a:lnTo>
                  <a:pt x="199123" y="73850"/>
                </a:lnTo>
                <a:lnTo>
                  <a:pt x="201790" y="73850"/>
                </a:lnTo>
                <a:lnTo>
                  <a:pt x="202768" y="73088"/>
                </a:lnTo>
                <a:lnTo>
                  <a:pt x="204584" y="72212"/>
                </a:lnTo>
                <a:lnTo>
                  <a:pt x="206400" y="72212"/>
                </a:lnTo>
                <a:lnTo>
                  <a:pt x="207251" y="71450"/>
                </a:lnTo>
                <a:lnTo>
                  <a:pt x="207251" y="55803"/>
                </a:lnTo>
                <a:lnTo>
                  <a:pt x="206400" y="58318"/>
                </a:lnTo>
                <a:lnTo>
                  <a:pt x="202768" y="59080"/>
                </a:lnTo>
                <a:lnTo>
                  <a:pt x="200952" y="59956"/>
                </a:lnTo>
                <a:lnTo>
                  <a:pt x="197307" y="60718"/>
                </a:lnTo>
                <a:lnTo>
                  <a:pt x="193675" y="61595"/>
                </a:lnTo>
                <a:lnTo>
                  <a:pt x="176339" y="63233"/>
                </a:lnTo>
                <a:lnTo>
                  <a:pt x="169075" y="64884"/>
                </a:lnTo>
                <a:lnTo>
                  <a:pt x="164592" y="67284"/>
                </a:lnTo>
                <a:lnTo>
                  <a:pt x="156349" y="71450"/>
                </a:lnTo>
                <a:lnTo>
                  <a:pt x="151853" y="78778"/>
                </a:lnTo>
                <a:lnTo>
                  <a:pt x="151853" y="96824"/>
                </a:lnTo>
                <a:lnTo>
                  <a:pt x="154520" y="102628"/>
                </a:lnTo>
                <a:lnTo>
                  <a:pt x="159981" y="106680"/>
                </a:lnTo>
                <a:lnTo>
                  <a:pt x="165430" y="110832"/>
                </a:lnTo>
                <a:lnTo>
                  <a:pt x="171856" y="113233"/>
                </a:lnTo>
                <a:lnTo>
                  <a:pt x="186397" y="113233"/>
                </a:lnTo>
                <a:lnTo>
                  <a:pt x="208216" y="100990"/>
                </a:lnTo>
                <a:lnTo>
                  <a:pt x="208216" y="102628"/>
                </a:lnTo>
                <a:lnTo>
                  <a:pt x="209067" y="104267"/>
                </a:lnTo>
                <a:lnTo>
                  <a:pt x="209067" y="107543"/>
                </a:lnTo>
                <a:lnTo>
                  <a:pt x="210032" y="109194"/>
                </a:lnTo>
                <a:lnTo>
                  <a:pt x="210883" y="110832"/>
                </a:lnTo>
                <a:lnTo>
                  <a:pt x="236334" y="110832"/>
                </a:lnTo>
                <a:lnTo>
                  <a:pt x="236334" y="107543"/>
                </a:lnTo>
                <a:close/>
              </a:path>
              <a:path w="664210" h="113664">
                <a:moveTo>
                  <a:pt x="293662" y="30416"/>
                </a:moveTo>
                <a:lnTo>
                  <a:pt x="279120" y="30416"/>
                </a:lnTo>
                <a:lnTo>
                  <a:pt x="279120" y="7442"/>
                </a:lnTo>
                <a:lnTo>
                  <a:pt x="255485" y="7442"/>
                </a:lnTo>
                <a:lnTo>
                  <a:pt x="255485" y="30416"/>
                </a:lnTo>
                <a:lnTo>
                  <a:pt x="242760" y="30416"/>
                </a:lnTo>
                <a:lnTo>
                  <a:pt x="242760" y="45186"/>
                </a:lnTo>
                <a:lnTo>
                  <a:pt x="255485" y="45186"/>
                </a:lnTo>
                <a:lnTo>
                  <a:pt x="255485" y="100114"/>
                </a:lnTo>
                <a:lnTo>
                  <a:pt x="257302" y="104267"/>
                </a:lnTo>
                <a:lnTo>
                  <a:pt x="263601" y="109956"/>
                </a:lnTo>
                <a:lnTo>
                  <a:pt x="270878" y="112471"/>
                </a:lnTo>
                <a:lnTo>
                  <a:pt x="282752" y="111594"/>
                </a:lnTo>
                <a:lnTo>
                  <a:pt x="293662" y="111594"/>
                </a:lnTo>
                <a:lnTo>
                  <a:pt x="293662" y="95186"/>
                </a:lnTo>
                <a:lnTo>
                  <a:pt x="290029" y="95186"/>
                </a:lnTo>
                <a:lnTo>
                  <a:pt x="290029" y="96062"/>
                </a:lnTo>
                <a:lnTo>
                  <a:pt x="283603" y="96062"/>
                </a:lnTo>
                <a:lnTo>
                  <a:pt x="280936" y="95186"/>
                </a:lnTo>
                <a:lnTo>
                  <a:pt x="279120" y="93548"/>
                </a:lnTo>
                <a:lnTo>
                  <a:pt x="279120" y="45186"/>
                </a:lnTo>
                <a:lnTo>
                  <a:pt x="293662" y="45186"/>
                </a:lnTo>
                <a:lnTo>
                  <a:pt x="293662" y="30416"/>
                </a:lnTo>
                <a:close/>
              </a:path>
              <a:path w="664210" h="113664">
                <a:moveTo>
                  <a:pt x="351840" y="30416"/>
                </a:moveTo>
                <a:lnTo>
                  <a:pt x="336334" y="30416"/>
                </a:lnTo>
                <a:lnTo>
                  <a:pt x="336334" y="20574"/>
                </a:lnTo>
                <a:lnTo>
                  <a:pt x="338150" y="18923"/>
                </a:lnTo>
                <a:lnTo>
                  <a:pt x="339115" y="17284"/>
                </a:lnTo>
                <a:lnTo>
                  <a:pt x="350875" y="17284"/>
                </a:lnTo>
                <a:lnTo>
                  <a:pt x="350875" y="0"/>
                </a:lnTo>
                <a:lnTo>
                  <a:pt x="341782" y="0"/>
                </a:lnTo>
                <a:lnTo>
                  <a:pt x="329057" y="0"/>
                </a:lnTo>
                <a:lnTo>
                  <a:pt x="320941" y="1638"/>
                </a:lnTo>
                <a:lnTo>
                  <a:pt x="317296" y="6565"/>
                </a:lnTo>
                <a:lnTo>
                  <a:pt x="313664" y="9842"/>
                </a:lnTo>
                <a:lnTo>
                  <a:pt x="312699" y="16408"/>
                </a:lnTo>
                <a:lnTo>
                  <a:pt x="312699" y="30416"/>
                </a:lnTo>
                <a:lnTo>
                  <a:pt x="299123" y="30416"/>
                </a:lnTo>
                <a:lnTo>
                  <a:pt x="299123" y="45186"/>
                </a:lnTo>
                <a:lnTo>
                  <a:pt x="312699" y="45186"/>
                </a:lnTo>
                <a:lnTo>
                  <a:pt x="312699" y="110832"/>
                </a:lnTo>
                <a:lnTo>
                  <a:pt x="336334" y="110832"/>
                </a:lnTo>
                <a:lnTo>
                  <a:pt x="336334" y="45186"/>
                </a:lnTo>
                <a:lnTo>
                  <a:pt x="351840" y="45186"/>
                </a:lnTo>
                <a:lnTo>
                  <a:pt x="351840" y="30416"/>
                </a:lnTo>
                <a:close/>
              </a:path>
              <a:path w="664210" h="113664">
                <a:moveTo>
                  <a:pt x="451827" y="69799"/>
                </a:moveTo>
                <a:lnTo>
                  <a:pt x="451205" y="62369"/>
                </a:lnTo>
                <a:lnTo>
                  <a:pt x="451142" y="61480"/>
                </a:lnTo>
                <a:lnTo>
                  <a:pt x="448995" y="53695"/>
                </a:lnTo>
                <a:lnTo>
                  <a:pt x="445338" y="46355"/>
                </a:lnTo>
                <a:lnTo>
                  <a:pt x="443788" y="44310"/>
                </a:lnTo>
                <a:lnTo>
                  <a:pt x="440080" y="39382"/>
                </a:lnTo>
                <a:lnTo>
                  <a:pt x="433781" y="34010"/>
                </a:lnTo>
                <a:lnTo>
                  <a:pt x="427355" y="30911"/>
                </a:lnTo>
                <a:lnTo>
                  <a:pt x="427355" y="62369"/>
                </a:lnTo>
                <a:lnTo>
                  <a:pt x="427355" y="78003"/>
                </a:lnTo>
                <a:lnTo>
                  <a:pt x="425526" y="84569"/>
                </a:lnTo>
                <a:lnTo>
                  <a:pt x="421894" y="88620"/>
                </a:lnTo>
                <a:lnTo>
                  <a:pt x="418261" y="93548"/>
                </a:lnTo>
                <a:lnTo>
                  <a:pt x="412800" y="96062"/>
                </a:lnTo>
                <a:lnTo>
                  <a:pt x="399110" y="96062"/>
                </a:lnTo>
                <a:lnTo>
                  <a:pt x="393661" y="93548"/>
                </a:lnTo>
                <a:lnTo>
                  <a:pt x="390017" y="88620"/>
                </a:lnTo>
                <a:lnTo>
                  <a:pt x="386384" y="84569"/>
                </a:lnTo>
                <a:lnTo>
                  <a:pt x="384568" y="78003"/>
                </a:lnTo>
                <a:lnTo>
                  <a:pt x="384568" y="62369"/>
                </a:lnTo>
                <a:lnTo>
                  <a:pt x="386384" y="55803"/>
                </a:lnTo>
                <a:lnTo>
                  <a:pt x="390017" y="51752"/>
                </a:lnTo>
                <a:lnTo>
                  <a:pt x="393661" y="46824"/>
                </a:lnTo>
                <a:lnTo>
                  <a:pt x="399110" y="44310"/>
                </a:lnTo>
                <a:lnTo>
                  <a:pt x="412800" y="44310"/>
                </a:lnTo>
                <a:lnTo>
                  <a:pt x="418261" y="46824"/>
                </a:lnTo>
                <a:lnTo>
                  <a:pt x="421894" y="51752"/>
                </a:lnTo>
                <a:lnTo>
                  <a:pt x="425526" y="55803"/>
                </a:lnTo>
                <a:lnTo>
                  <a:pt x="427355" y="62369"/>
                </a:lnTo>
                <a:lnTo>
                  <a:pt x="427355" y="30911"/>
                </a:lnTo>
                <a:lnTo>
                  <a:pt x="425856" y="30187"/>
                </a:lnTo>
                <a:lnTo>
                  <a:pt x="416407" y="27889"/>
                </a:lnTo>
                <a:lnTo>
                  <a:pt x="405536" y="27139"/>
                </a:lnTo>
                <a:lnTo>
                  <a:pt x="394728" y="27889"/>
                </a:lnTo>
                <a:lnTo>
                  <a:pt x="362686" y="53695"/>
                </a:lnTo>
                <a:lnTo>
                  <a:pt x="359956" y="69799"/>
                </a:lnTo>
                <a:lnTo>
                  <a:pt x="360603" y="78003"/>
                </a:lnTo>
                <a:lnTo>
                  <a:pt x="360641" y="78562"/>
                </a:lnTo>
                <a:lnTo>
                  <a:pt x="385470" y="110185"/>
                </a:lnTo>
                <a:lnTo>
                  <a:pt x="405536" y="113233"/>
                </a:lnTo>
                <a:lnTo>
                  <a:pt x="416407" y="112483"/>
                </a:lnTo>
                <a:lnTo>
                  <a:pt x="425856" y="110185"/>
                </a:lnTo>
                <a:lnTo>
                  <a:pt x="433781" y="106362"/>
                </a:lnTo>
                <a:lnTo>
                  <a:pt x="440080" y="100990"/>
                </a:lnTo>
                <a:lnTo>
                  <a:pt x="443788" y="96062"/>
                </a:lnTo>
                <a:lnTo>
                  <a:pt x="445338" y="94005"/>
                </a:lnTo>
                <a:lnTo>
                  <a:pt x="448995" y="86588"/>
                </a:lnTo>
                <a:lnTo>
                  <a:pt x="451142" y="78562"/>
                </a:lnTo>
                <a:lnTo>
                  <a:pt x="451827" y="69799"/>
                </a:lnTo>
                <a:close/>
              </a:path>
              <a:path w="664210" h="113664">
                <a:moveTo>
                  <a:pt x="520915" y="27901"/>
                </a:moveTo>
                <a:lnTo>
                  <a:pt x="520065" y="27901"/>
                </a:lnTo>
                <a:lnTo>
                  <a:pt x="519099" y="27139"/>
                </a:lnTo>
                <a:lnTo>
                  <a:pt x="510984" y="27139"/>
                </a:lnTo>
                <a:lnTo>
                  <a:pt x="505523" y="28778"/>
                </a:lnTo>
                <a:lnTo>
                  <a:pt x="500913" y="32054"/>
                </a:lnTo>
                <a:lnTo>
                  <a:pt x="494614" y="37744"/>
                </a:lnTo>
                <a:lnTo>
                  <a:pt x="490982" y="43548"/>
                </a:lnTo>
                <a:lnTo>
                  <a:pt x="490982" y="29540"/>
                </a:lnTo>
                <a:lnTo>
                  <a:pt x="469163" y="29540"/>
                </a:lnTo>
                <a:lnTo>
                  <a:pt x="469163" y="110832"/>
                </a:lnTo>
                <a:lnTo>
                  <a:pt x="492798" y="110832"/>
                </a:lnTo>
                <a:lnTo>
                  <a:pt x="492798" y="65646"/>
                </a:lnTo>
                <a:lnTo>
                  <a:pt x="493649" y="60718"/>
                </a:lnTo>
                <a:lnTo>
                  <a:pt x="495465" y="57442"/>
                </a:lnTo>
                <a:lnTo>
                  <a:pt x="498259" y="51752"/>
                </a:lnTo>
                <a:lnTo>
                  <a:pt x="504558" y="49237"/>
                </a:lnTo>
                <a:lnTo>
                  <a:pt x="520915" y="49237"/>
                </a:lnTo>
                <a:lnTo>
                  <a:pt x="520915" y="43548"/>
                </a:lnTo>
                <a:lnTo>
                  <a:pt x="520915" y="27901"/>
                </a:lnTo>
                <a:close/>
              </a:path>
              <a:path w="664210" h="113664">
                <a:moveTo>
                  <a:pt x="663689" y="50114"/>
                </a:moveTo>
                <a:lnTo>
                  <a:pt x="662851" y="47586"/>
                </a:lnTo>
                <a:lnTo>
                  <a:pt x="661873" y="43548"/>
                </a:lnTo>
                <a:lnTo>
                  <a:pt x="660057" y="39382"/>
                </a:lnTo>
                <a:lnTo>
                  <a:pt x="658241" y="36982"/>
                </a:lnTo>
                <a:lnTo>
                  <a:pt x="654608" y="33693"/>
                </a:lnTo>
                <a:lnTo>
                  <a:pt x="650963" y="31178"/>
                </a:lnTo>
                <a:lnTo>
                  <a:pt x="643699" y="27901"/>
                </a:lnTo>
                <a:lnTo>
                  <a:pt x="635571" y="27901"/>
                </a:lnTo>
                <a:lnTo>
                  <a:pt x="630123" y="27901"/>
                </a:lnTo>
                <a:lnTo>
                  <a:pt x="624662" y="28778"/>
                </a:lnTo>
                <a:lnTo>
                  <a:pt x="619086" y="31178"/>
                </a:lnTo>
                <a:lnTo>
                  <a:pt x="614603" y="32816"/>
                </a:lnTo>
                <a:lnTo>
                  <a:pt x="610971" y="36982"/>
                </a:lnTo>
                <a:lnTo>
                  <a:pt x="608177" y="41033"/>
                </a:lnTo>
                <a:lnTo>
                  <a:pt x="606361" y="37744"/>
                </a:lnTo>
                <a:lnTo>
                  <a:pt x="603694" y="34467"/>
                </a:lnTo>
                <a:lnTo>
                  <a:pt x="595452" y="28778"/>
                </a:lnTo>
                <a:lnTo>
                  <a:pt x="590003" y="27901"/>
                </a:lnTo>
                <a:lnTo>
                  <a:pt x="576427" y="27901"/>
                </a:lnTo>
                <a:lnTo>
                  <a:pt x="570001" y="29540"/>
                </a:lnTo>
                <a:lnTo>
                  <a:pt x="565518" y="32054"/>
                </a:lnTo>
                <a:lnTo>
                  <a:pt x="560070" y="36982"/>
                </a:lnTo>
                <a:lnTo>
                  <a:pt x="557276" y="41033"/>
                </a:lnTo>
                <a:lnTo>
                  <a:pt x="557276" y="29540"/>
                </a:lnTo>
                <a:lnTo>
                  <a:pt x="534619" y="29540"/>
                </a:lnTo>
                <a:lnTo>
                  <a:pt x="534619" y="110832"/>
                </a:lnTo>
                <a:lnTo>
                  <a:pt x="558253" y="110832"/>
                </a:lnTo>
                <a:lnTo>
                  <a:pt x="558253" y="57442"/>
                </a:lnTo>
                <a:lnTo>
                  <a:pt x="559092" y="54152"/>
                </a:lnTo>
                <a:lnTo>
                  <a:pt x="560070" y="51752"/>
                </a:lnTo>
                <a:lnTo>
                  <a:pt x="562737" y="47586"/>
                </a:lnTo>
                <a:lnTo>
                  <a:pt x="567334" y="45948"/>
                </a:lnTo>
                <a:lnTo>
                  <a:pt x="580059" y="45948"/>
                </a:lnTo>
                <a:lnTo>
                  <a:pt x="583704" y="47586"/>
                </a:lnTo>
                <a:lnTo>
                  <a:pt x="585520" y="51752"/>
                </a:lnTo>
                <a:lnTo>
                  <a:pt x="587336" y="57442"/>
                </a:lnTo>
                <a:lnTo>
                  <a:pt x="587336" y="110832"/>
                </a:lnTo>
                <a:lnTo>
                  <a:pt x="610971" y="110832"/>
                </a:lnTo>
                <a:lnTo>
                  <a:pt x="610971" y="58318"/>
                </a:lnTo>
                <a:lnTo>
                  <a:pt x="612787" y="52514"/>
                </a:lnTo>
                <a:lnTo>
                  <a:pt x="615454" y="48463"/>
                </a:lnTo>
                <a:lnTo>
                  <a:pt x="620064" y="45948"/>
                </a:lnTo>
                <a:lnTo>
                  <a:pt x="631939" y="45948"/>
                </a:lnTo>
                <a:lnTo>
                  <a:pt x="635571" y="47586"/>
                </a:lnTo>
                <a:lnTo>
                  <a:pt x="638238" y="50876"/>
                </a:lnTo>
                <a:lnTo>
                  <a:pt x="639216" y="53390"/>
                </a:lnTo>
                <a:lnTo>
                  <a:pt x="639216" y="110832"/>
                </a:lnTo>
                <a:lnTo>
                  <a:pt x="663689" y="110832"/>
                </a:lnTo>
                <a:lnTo>
                  <a:pt x="663689" y="501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420030" y="201244"/>
            <a:ext cx="176469" cy="8610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655524" y="201244"/>
            <a:ext cx="84598" cy="8610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637190" y="355511"/>
            <a:ext cx="1147413" cy="14365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417517" y="171703"/>
            <a:ext cx="1081964" cy="11564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382975" y="355511"/>
            <a:ext cx="1147413" cy="143654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2653245" y="965248"/>
            <a:ext cx="135890" cy="1125855"/>
            <a:chOff x="2653245" y="965248"/>
            <a:chExt cx="135890" cy="1125855"/>
          </a:xfrm>
        </p:grpSpPr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53245" y="1236145"/>
              <a:ext cx="135503" cy="85437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653245" y="965250"/>
              <a:ext cx="107314" cy="257810"/>
            </a:xfrm>
            <a:custGeom>
              <a:avLst/>
              <a:gdLst/>
              <a:ahLst/>
              <a:cxnLst/>
              <a:rect l="l" t="t" r="r" b="b"/>
              <a:pathLst>
                <a:path w="107314" h="257809">
                  <a:moveTo>
                    <a:pt x="18173" y="202742"/>
                  </a:moveTo>
                  <a:lnTo>
                    <a:pt x="0" y="202742"/>
                  </a:lnTo>
                  <a:lnTo>
                    <a:pt x="0" y="220789"/>
                  </a:lnTo>
                  <a:lnTo>
                    <a:pt x="18173" y="220789"/>
                  </a:lnTo>
                  <a:lnTo>
                    <a:pt x="18173" y="202742"/>
                  </a:lnTo>
                  <a:close/>
                </a:path>
                <a:path w="107314" h="257809">
                  <a:moveTo>
                    <a:pt x="104584" y="239725"/>
                  </a:moveTo>
                  <a:lnTo>
                    <a:pt x="0" y="239725"/>
                  </a:lnTo>
                  <a:lnTo>
                    <a:pt x="0" y="257771"/>
                  </a:lnTo>
                  <a:lnTo>
                    <a:pt x="104584" y="257771"/>
                  </a:lnTo>
                  <a:lnTo>
                    <a:pt x="104584" y="239725"/>
                  </a:lnTo>
                  <a:close/>
                </a:path>
                <a:path w="107314" h="257809">
                  <a:moveTo>
                    <a:pt x="104584" y="202742"/>
                  </a:moveTo>
                  <a:lnTo>
                    <a:pt x="27266" y="202742"/>
                  </a:lnTo>
                  <a:lnTo>
                    <a:pt x="27266" y="220789"/>
                  </a:lnTo>
                  <a:lnTo>
                    <a:pt x="104584" y="220789"/>
                  </a:lnTo>
                  <a:lnTo>
                    <a:pt x="104584" y="202742"/>
                  </a:lnTo>
                  <a:close/>
                </a:path>
                <a:path w="107314" h="257809">
                  <a:moveTo>
                    <a:pt x="104584" y="48475"/>
                  </a:moveTo>
                  <a:lnTo>
                    <a:pt x="42773" y="48475"/>
                  </a:lnTo>
                  <a:lnTo>
                    <a:pt x="36360" y="50990"/>
                  </a:lnTo>
                  <a:lnTo>
                    <a:pt x="31864" y="55905"/>
                  </a:lnTo>
                  <a:lnTo>
                    <a:pt x="27266" y="59956"/>
                  </a:lnTo>
                  <a:lnTo>
                    <a:pt x="25450" y="66522"/>
                  </a:lnTo>
                  <a:lnTo>
                    <a:pt x="25450" y="78892"/>
                  </a:lnTo>
                  <a:lnTo>
                    <a:pt x="27266" y="83807"/>
                  </a:lnTo>
                  <a:lnTo>
                    <a:pt x="30048" y="87858"/>
                  </a:lnTo>
                  <a:lnTo>
                    <a:pt x="31864" y="89496"/>
                  </a:lnTo>
                  <a:lnTo>
                    <a:pt x="34531" y="92011"/>
                  </a:lnTo>
                  <a:lnTo>
                    <a:pt x="39141" y="94424"/>
                  </a:lnTo>
                  <a:lnTo>
                    <a:pt x="27266" y="94424"/>
                  </a:lnTo>
                  <a:lnTo>
                    <a:pt x="27266" y="111709"/>
                  </a:lnTo>
                  <a:lnTo>
                    <a:pt x="104584" y="111709"/>
                  </a:lnTo>
                  <a:lnTo>
                    <a:pt x="104584" y="93662"/>
                  </a:lnTo>
                  <a:lnTo>
                    <a:pt x="58166" y="93662"/>
                  </a:lnTo>
                  <a:lnTo>
                    <a:pt x="53682" y="92786"/>
                  </a:lnTo>
                  <a:lnTo>
                    <a:pt x="50901" y="92011"/>
                  </a:lnTo>
                  <a:lnTo>
                    <a:pt x="45440" y="89496"/>
                  </a:lnTo>
                  <a:lnTo>
                    <a:pt x="41808" y="85458"/>
                  </a:lnTo>
                  <a:lnTo>
                    <a:pt x="41808" y="73964"/>
                  </a:lnTo>
                  <a:lnTo>
                    <a:pt x="44589" y="70688"/>
                  </a:lnTo>
                  <a:lnTo>
                    <a:pt x="48234" y="69037"/>
                  </a:lnTo>
                  <a:lnTo>
                    <a:pt x="50050" y="68160"/>
                  </a:lnTo>
                  <a:lnTo>
                    <a:pt x="53682" y="67398"/>
                  </a:lnTo>
                  <a:lnTo>
                    <a:pt x="104584" y="67398"/>
                  </a:lnTo>
                  <a:lnTo>
                    <a:pt x="104584" y="48475"/>
                  </a:lnTo>
                  <a:close/>
                </a:path>
                <a:path w="107314" h="257809">
                  <a:moveTo>
                    <a:pt x="105435" y="0"/>
                  </a:moveTo>
                  <a:lnTo>
                    <a:pt x="90043" y="0"/>
                  </a:lnTo>
                  <a:lnTo>
                    <a:pt x="90043" y="9080"/>
                  </a:lnTo>
                  <a:lnTo>
                    <a:pt x="89077" y="9855"/>
                  </a:lnTo>
                  <a:lnTo>
                    <a:pt x="88226" y="10731"/>
                  </a:lnTo>
                  <a:lnTo>
                    <a:pt x="42773" y="10731"/>
                  </a:lnTo>
                  <a:lnTo>
                    <a:pt x="42773" y="0"/>
                  </a:lnTo>
                  <a:lnTo>
                    <a:pt x="28232" y="0"/>
                  </a:lnTo>
                  <a:lnTo>
                    <a:pt x="28232" y="10731"/>
                  </a:lnTo>
                  <a:lnTo>
                    <a:pt x="6413" y="10731"/>
                  </a:lnTo>
                  <a:lnTo>
                    <a:pt x="6413" y="28778"/>
                  </a:lnTo>
                  <a:lnTo>
                    <a:pt x="28232" y="28778"/>
                  </a:lnTo>
                  <a:lnTo>
                    <a:pt x="28232" y="38620"/>
                  </a:lnTo>
                  <a:lnTo>
                    <a:pt x="42773" y="38620"/>
                  </a:lnTo>
                  <a:lnTo>
                    <a:pt x="42773" y="28778"/>
                  </a:lnTo>
                  <a:lnTo>
                    <a:pt x="94526" y="28778"/>
                  </a:lnTo>
                  <a:lnTo>
                    <a:pt x="98171" y="28016"/>
                  </a:lnTo>
                  <a:lnTo>
                    <a:pt x="103619" y="23088"/>
                  </a:lnTo>
                  <a:lnTo>
                    <a:pt x="105435" y="17284"/>
                  </a:lnTo>
                  <a:lnTo>
                    <a:pt x="105435" y="0"/>
                  </a:lnTo>
                  <a:close/>
                </a:path>
                <a:path w="107314" h="257809">
                  <a:moveTo>
                    <a:pt x="107251" y="156781"/>
                  </a:moveTo>
                  <a:lnTo>
                    <a:pt x="106540" y="150228"/>
                  </a:lnTo>
                  <a:lnTo>
                    <a:pt x="106438" y="149275"/>
                  </a:lnTo>
                  <a:lnTo>
                    <a:pt x="104101" y="142671"/>
                  </a:lnTo>
                  <a:lnTo>
                    <a:pt x="100482" y="137096"/>
                  </a:lnTo>
                  <a:lnTo>
                    <a:pt x="95504" y="132168"/>
                  </a:lnTo>
                  <a:lnTo>
                    <a:pt x="90893" y="128117"/>
                  </a:lnTo>
                  <a:lnTo>
                    <a:pt x="86410" y="125603"/>
                  </a:lnTo>
                  <a:lnTo>
                    <a:pt x="81800" y="125603"/>
                  </a:lnTo>
                  <a:lnTo>
                    <a:pt x="81800" y="143662"/>
                  </a:lnTo>
                  <a:lnTo>
                    <a:pt x="83616" y="145300"/>
                  </a:lnTo>
                  <a:lnTo>
                    <a:pt x="85445" y="146177"/>
                  </a:lnTo>
                  <a:lnTo>
                    <a:pt x="87261" y="146939"/>
                  </a:lnTo>
                  <a:lnTo>
                    <a:pt x="89077" y="149453"/>
                  </a:lnTo>
                  <a:lnTo>
                    <a:pt x="90893" y="152742"/>
                  </a:lnTo>
                  <a:lnTo>
                    <a:pt x="90893" y="160070"/>
                  </a:lnTo>
                  <a:lnTo>
                    <a:pt x="90043" y="163347"/>
                  </a:lnTo>
                  <a:lnTo>
                    <a:pt x="87261" y="165862"/>
                  </a:lnTo>
                  <a:lnTo>
                    <a:pt x="84594" y="169913"/>
                  </a:lnTo>
                  <a:lnTo>
                    <a:pt x="79133" y="171551"/>
                  </a:lnTo>
                  <a:lnTo>
                    <a:pt x="71869" y="172427"/>
                  </a:lnTo>
                  <a:lnTo>
                    <a:pt x="71869" y="171551"/>
                  </a:lnTo>
                  <a:lnTo>
                    <a:pt x="71869" y="143662"/>
                  </a:lnTo>
                  <a:lnTo>
                    <a:pt x="71869" y="124841"/>
                  </a:lnTo>
                  <a:lnTo>
                    <a:pt x="58166" y="124841"/>
                  </a:lnTo>
                  <a:lnTo>
                    <a:pt x="58166" y="143662"/>
                  </a:lnTo>
                  <a:lnTo>
                    <a:pt x="58166" y="171551"/>
                  </a:lnTo>
                  <a:lnTo>
                    <a:pt x="52717" y="170789"/>
                  </a:lnTo>
                  <a:lnTo>
                    <a:pt x="49085" y="169913"/>
                  </a:lnTo>
                  <a:lnTo>
                    <a:pt x="43624" y="164998"/>
                  </a:lnTo>
                  <a:lnTo>
                    <a:pt x="41808" y="161709"/>
                  </a:lnTo>
                  <a:lnTo>
                    <a:pt x="41808" y="153504"/>
                  </a:lnTo>
                  <a:lnTo>
                    <a:pt x="43624" y="150228"/>
                  </a:lnTo>
                  <a:lnTo>
                    <a:pt x="46418" y="147815"/>
                  </a:lnTo>
                  <a:lnTo>
                    <a:pt x="49085" y="145300"/>
                  </a:lnTo>
                  <a:lnTo>
                    <a:pt x="52717" y="143662"/>
                  </a:lnTo>
                  <a:lnTo>
                    <a:pt x="58166" y="143662"/>
                  </a:lnTo>
                  <a:lnTo>
                    <a:pt x="58166" y="124841"/>
                  </a:lnTo>
                  <a:lnTo>
                    <a:pt x="56349" y="124841"/>
                  </a:lnTo>
                  <a:lnTo>
                    <a:pt x="50050" y="125603"/>
                  </a:lnTo>
                  <a:lnTo>
                    <a:pt x="44589" y="127241"/>
                  </a:lnTo>
                  <a:lnTo>
                    <a:pt x="39992" y="130530"/>
                  </a:lnTo>
                  <a:lnTo>
                    <a:pt x="35509" y="133045"/>
                  </a:lnTo>
                  <a:lnTo>
                    <a:pt x="30899" y="137096"/>
                  </a:lnTo>
                  <a:lnTo>
                    <a:pt x="29083" y="142011"/>
                  </a:lnTo>
                  <a:lnTo>
                    <a:pt x="26416" y="146177"/>
                  </a:lnTo>
                  <a:lnTo>
                    <a:pt x="25450" y="151866"/>
                  </a:lnTo>
                  <a:lnTo>
                    <a:pt x="25450" y="157657"/>
                  </a:lnTo>
                  <a:lnTo>
                    <a:pt x="26009" y="163347"/>
                  </a:lnTo>
                  <a:lnTo>
                    <a:pt x="26123" y="164604"/>
                  </a:lnTo>
                  <a:lnTo>
                    <a:pt x="57251" y="189877"/>
                  </a:lnTo>
                  <a:lnTo>
                    <a:pt x="66408" y="190487"/>
                  </a:lnTo>
                  <a:lnTo>
                    <a:pt x="76060" y="189877"/>
                  </a:lnTo>
                  <a:lnTo>
                    <a:pt x="76365" y="189877"/>
                  </a:lnTo>
                  <a:lnTo>
                    <a:pt x="104000" y="172427"/>
                  </a:lnTo>
                  <a:lnTo>
                    <a:pt x="107251" y="165862"/>
                  </a:lnTo>
                  <a:lnTo>
                    <a:pt x="107251" y="1567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0" name="object 3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917897" y="1046077"/>
            <a:ext cx="1145456" cy="325977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2917897" y="1440059"/>
            <a:ext cx="1145540" cy="326390"/>
            <a:chOff x="2917897" y="1440059"/>
            <a:chExt cx="1145540" cy="326390"/>
          </a:xfrm>
        </p:grpSpPr>
        <p:sp>
          <p:nvSpPr>
            <p:cNvPr id="32" name="object 32"/>
            <p:cNvSpPr/>
            <p:nvPr/>
          </p:nvSpPr>
          <p:spPr>
            <a:xfrm>
              <a:off x="2923282" y="1445444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4">
                  <a:moveTo>
                    <a:pt x="1047422" y="0"/>
                  </a:moveTo>
                  <a:lnTo>
                    <a:pt x="87264" y="0"/>
                  </a:lnTo>
                  <a:lnTo>
                    <a:pt x="53330" y="6185"/>
                  </a:lnTo>
                  <a:lnTo>
                    <a:pt x="25588" y="23057"/>
                  </a:lnTo>
                  <a:lnTo>
                    <a:pt x="6868" y="48095"/>
                  </a:lnTo>
                  <a:lnTo>
                    <a:pt x="0" y="78774"/>
                  </a:lnTo>
                  <a:lnTo>
                    <a:pt x="0" y="236323"/>
                  </a:lnTo>
                  <a:lnTo>
                    <a:pt x="6868" y="267002"/>
                  </a:lnTo>
                  <a:lnTo>
                    <a:pt x="25588" y="292040"/>
                  </a:lnTo>
                  <a:lnTo>
                    <a:pt x="53330" y="308913"/>
                  </a:lnTo>
                  <a:lnTo>
                    <a:pt x="87264" y="315098"/>
                  </a:lnTo>
                  <a:lnTo>
                    <a:pt x="1047422" y="315098"/>
                  </a:lnTo>
                  <a:lnTo>
                    <a:pt x="1081407" y="308913"/>
                  </a:lnTo>
                  <a:lnTo>
                    <a:pt x="1109144" y="292040"/>
                  </a:lnTo>
                  <a:lnTo>
                    <a:pt x="1127835" y="267002"/>
                  </a:lnTo>
                  <a:lnTo>
                    <a:pt x="1134687" y="236323"/>
                  </a:lnTo>
                  <a:lnTo>
                    <a:pt x="1134687" y="78774"/>
                  </a:lnTo>
                  <a:lnTo>
                    <a:pt x="1127835" y="48095"/>
                  </a:lnTo>
                  <a:lnTo>
                    <a:pt x="1109144" y="23057"/>
                  </a:lnTo>
                  <a:lnTo>
                    <a:pt x="1081407" y="6185"/>
                  </a:lnTo>
                  <a:lnTo>
                    <a:pt x="1047422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23282" y="1445444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4">
                  <a:moveTo>
                    <a:pt x="1134687" y="236323"/>
                  </a:moveTo>
                  <a:lnTo>
                    <a:pt x="1127835" y="267002"/>
                  </a:lnTo>
                  <a:lnTo>
                    <a:pt x="1109144" y="292040"/>
                  </a:lnTo>
                  <a:lnTo>
                    <a:pt x="1081407" y="308913"/>
                  </a:lnTo>
                  <a:lnTo>
                    <a:pt x="1047422" y="315098"/>
                  </a:lnTo>
                  <a:lnTo>
                    <a:pt x="87264" y="315098"/>
                  </a:lnTo>
                  <a:lnTo>
                    <a:pt x="53330" y="308913"/>
                  </a:lnTo>
                  <a:lnTo>
                    <a:pt x="25588" y="292040"/>
                  </a:lnTo>
                  <a:lnTo>
                    <a:pt x="6868" y="267002"/>
                  </a:lnTo>
                  <a:lnTo>
                    <a:pt x="0" y="236323"/>
                  </a:lnTo>
                  <a:lnTo>
                    <a:pt x="0" y="78774"/>
                  </a:lnTo>
                  <a:lnTo>
                    <a:pt x="6868" y="48095"/>
                  </a:lnTo>
                  <a:lnTo>
                    <a:pt x="25588" y="23057"/>
                  </a:lnTo>
                  <a:lnTo>
                    <a:pt x="53330" y="6185"/>
                  </a:lnTo>
                  <a:lnTo>
                    <a:pt x="87264" y="0"/>
                  </a:lnTo>
                  <a:lnTo>
                    <a:pt x="1047422" y="0"/>
                  </a:lnTo>
                  <a:lnTo>
                    <a:pt x="1081407" y="6185"/>
                  </a:lnTo>
                  <a:lnTo>
                    <a:pt x="1109144" y="23057"/>
                  </a:lnTo>
                  <a:lnTo>
                    <a:pt x="1127835" y="48095"/>
                  </a:lnTo>
                  <a:lnTo>
                    <a:pt x="1134687" y="78774"/>
                  </a:lnTo>
                  <a:lnTo>
                    <a:pt x="1134687" y="236323"/>
                  </a:lnTo>
                  <a:close/>
                </a:path>
              </a:pathLst>
            </a:custGeom>
            <a:ln w="10752">
              <a:solidFill>
                <a:srgbClr val="08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16962" y="1538114"/>
              <a:ext cx="436446" cy="12319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573406" y="1539755"/>
              <a:ext cx="242766" cy="96936"/>
            </a:xfrm>
            <a:prstGeom prst="rect">
              <a:avLst/>
            </a:prstGeom>
          </p:spPr>
        </p:pic>
      </p:grpSp>
      <p:pic>
        <p:nvPicPr>
          <p:cNvPr id="36" name="object 3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917897" y="1833932"/>
            <a:ext cx="1145456" cy="325977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917897" y="2227914"/>
            <a:ext cx="1145456" cy="32597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917897" y="2621896"/>
            <a:ext cx="1145456" cy="325867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917897" y="3015879"/>
            <a:ext cx="1145456" cy="325867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917897" y="3409751"/>
            <a:ext cx="1145456" cy="325977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2917897" y="3803734"/>
            <a:ext cx="1145540" cy="326390"/>
            <a:chOff x="2917897" y="3803734"/>
            <a:chExt cx="1145540" cy="326390"/>
          </a:xfrm>
        </p:grpSpPr>
        <p:sp>
          <p:nvSpPr>
            <p:cNvPr id="42" name="object 42"/>
            <p:cNvSpPr/>
            <p:nvPr/>
          </p:nvSpPr>
          <p:spPr>
            <a:xfrm>
              <a:off x="2923282" y="3809118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5">
                  <a:moveTo>
                    <a:pt x="1047422" y="0"/>
                  </a:moveTo>
                  <a:lnTo>
                    <a:pt x="87264" y="0"/>
                  </a:lnTo>
                  <a:lnTo>
                    <a:pt x="53330" y="6185"/>
                  </a:lnTo>
                  <a:lnTo>
                    <a:pt x="25588" y="23057"/>
                  </a:lnTo>
                  <a:lnTo>
                    <a:pt x="6868" y="48095"/>
                  </a:lnTo>
                  <a:lnTo>
                    <a:pt x="0" y="78774"/>
                  </a:lnTo>
                  <a:lnTo>
                    <a:pt x="0" y="236323"/>
                  </a:lnTo>
                  <a:lnTo>
                    <a:pt x="6868" y="267002"/>
                  </a:lnTo>
                  <a:lnTo>
                    <a:pt x="25588" y="292040"/>
                  </a:lnTo>
                  <a:lnTo>
                    <a:pt x="53330" y="308913"/>
                  </a:lnTo>
                  <a:lnTo>
                    <a:pt x="87264" y="315098"/>
                  </a:lnTo>
                  <a:lnTo>
                    <a:pt x="1047422" y="315098"/>
                  </a:lnTo>
                  <a:lnTo>
                    <a:pt x="1081407" y="308913"/>
                  </a:lnTo>
                  <a:lnTo>
                    <a:pt x="1109144" y="292040"/>
                  </a:lnTo>
                  <a:lnTo>
                    <a:pt x="1127835" y="267002"/>
                  </a:lnTo>
                  <a:lnTo>
                    <a:pt x="1134687" y="236323"/>
                  </a:lnTo>
                  <a:lnTo>
                    <a:pt x="1134687" y="78774"/>
                  </a:lnTo>
                  <a:lnTo>
                    <a:pt x="1127835" y="48095"/>
                  </a:lnTo>
                  <a:lnTo>
                    <a:pt x="1109144" y="23057"/>
                  </a:lnTo>
                  <a:lnTo>
                    <a:pt x="1081407" y="6185"/>
                  </a:lnTo>
                  <a:lnTo>
                    <a:pt x="1047422" y="0"/>
                  </a:lnTo>
                  <a:close/>
                </a:path>
              </a:pathLst>
            </a:custGeom>
            <a:solidFill>
              <a:srgbClr val="CA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923282" y="3809118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5">
                  <a:moveTo>
                    <a:pt x="1134687" y="236323"/>
                  </a:moveTo>
                  <a:lnTo>
                    <a:pt x="1127835" y="267002"/>
                  </a:lnTo>
                  <a:lnTo>
                    <a:pt x="1109144" y="292040"/>
                  </a:lnTo>
                  <a:lnTo>
                    <a:pt x="1081407" y="308913"/>
                  </a:lnTo>
                  <a:lnTo>
                    <a:pt x="1047422" y="315098"/>
                  </a:lnTo>
                  <a:lnTo>
                    <a:pt x="87264" y="315098"/>
                  </a:lnTo>
                  <a:lnTo>
                    <a:pt x="53330" y="308913"/>
                  </a:lnTo>
                  <a:lnTo>
                    <a:pt x="25588" y="292040"/>
                  </a:lnTo>
                  <a:lnTo>
                    <a:pt x="6868" y="267002"/>
                  </a:lnTo>
                  <a:lnTo>
                    <a:pt x="0" y="236323"/>
                  </a:lnTo>
                  <a:lnTo>
                    <a:pt x="0" y="78774"/>
                  </a:lnTo>
                  <a:lnTo>
                    <a:pt x="6868" y="48095"/>
                  </a:lnTo>
                  <a:lnTo>
                    <a:pt x="25588" y="23057"/>
                  </a:lnTo>
                  <a:lnTo>
                    <a:pt x="53330" y="6185"/>
                  </a:lnTo>
                  <a:lnTo>
                    <a:pt x="87264" y="0"/>
                  </a:lnTo>
                  <a:lnTo>
                    <a:pt x="1047422" y="0"/>
                  </a:lnTo>
                  <a:lnTo>
                    <a:pt x="1081407" y="6185"/>
                  </a:lnTo>
                  <a:lnTo>
                    <a:pt x="1109144" y="23057"/>
                  </a:lnTo>
                  <a:lnTo>
                    <a:pt x="1127835" y="48095"/>
                  </a:lnTo>
                  <a:lnTo>
                    <a:pt x="1134687" y="78774"/>
                  </a:lnTo>
                  <a:lnTo>
                    <a:pt x="1134687" y="236323"/>
                  </a:lnTo>
                  <a:close/>
                </a:path>
              </a:pathLst>
            </a:custGeom>
            <a:ln w="10752">
              <a:solidFill>
                <a:srgbClr val="08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01555" y="3901033"/>
              <a:ext cx="531495" cy="125095"/>
            </a:xfrm>
            <a:custGeom>
              <a:avLst/>
              <a:gdLst/>
              <a:ahLst/>
              <a:cxnLst/>
              <a:rect l="l" t="t" r="r" b="b"/>
              <a:pathLst>
                <a:path w="531495" h="125095">
                  <a:moveTo>
                    <a:pt x="85445" y="60718"/>
                  </a:moveTo>
                  <a:lnTo>
                    <a:pt x="58178" y="43535"/>
                  </a:lnTo>
                  <a:lnTo>
                    <a:pt x="40843" y="39382"/>
                  </a:lnTo>
                  <a:lnTo>
                    <a:pt x="33566" y="37744"/>
                  </a:lnTo>
                  <a:lnTo>
                    <a:pt x="29083" y="36969"/>
                  </a:lnTo>
                  <a:lnTo>
                    <a:pt x="27266" y="35331"/>
                  </a:lnTo>
                  <a:lnTo>
                    <a:pt x="23634" y="33693"/>
                  </a:lnTo>
                  <a:lnTo>
                    <a:pt x="21818" y="31178"/>
                  </a:lnTo>
                  <a:lnTo>
                    <a:pt x="21818" y="24612"/>
                  </a:lnTo>
                  <a:lnTo>
                    <a:pt x="23634" y="21336"/>
                  </a:lnTo>
                  <a:lnTo>
                    <a:pt x="27266" y="19685"/>
                  </a:lnTo>
                  <a:lnTo>
                    <a:pt x="29933" y="17284"/>
                  </a:lnTo>
                  <a:lnTo>
                    <a:pt x="34544" y="16408"/>
                  </a:lnTo>
                  <a:lnTo>
                    <a:pt x="45453" y="16408"/>
                  </a:lnTo>
                  <a:lnTo>
                    <a:pt x="49936" y="17284"/>
                  </a:lnTo>
                  <a:lnTo>
                    <a:pt x="52717" y="18923"/>
                  </a:lnTo>
                  <a:lnTo>
                    <a:pt x="58178" y="21336"/>
                  </a:lnTo>
                  <a:lnTo>
                    <a:pt x="60845" y="25488"/>
                  </a:lnTo>
                  <a:lnTo>
                    <a:pt x="60845" y="30416"/>
                  </a:lnTo>
                  <a:lnTo>
                    <a:pt x="81813" y="30416"/>
                  </a:lnTo>
                  <a:lnTo>
                    <a:pt x="81813" y="20561"/>
                  </a:lnTo>
                  <a:lnTo>
                    <a:pt x="79235" y="16408"/>
                  </a:lnTo>
                  <a:lnTo>
                    <a:pt x="77203" y="13119"/>
                  </a:lnTo>
                  <a:lnTo>
                    <a:pt x="41808" y="0"/>
                  </a:lnTo>
                  <a:lnTo>
                    <a:pt x="32766" y="482"/>
                  </a:lnTo>
                  <a:lnTo>
                    <a:pt x="1816" y="21336"/>
                  </a:lnTo>
                  <a:lnTo>
                    <a:pt x="1816" y="38620"/>
                  </a:lnTo>
                  <a:lnTo>
                    <a:pt x="34544" y="56667"/>
                  </a:lnTo>
                  <a:lnTo>
                    <a:pt x="52717" y="60718"/>
                  </a:lnTo>
                  <a:lnTo>
                    <a:pt x="57200" y="61595"/>
                  </a:lnTo>
                  <a:lnTo>
                    <a:pt x="59994" y="63233"/>
                  </a:lnTo>
                  <a:lnTo>
                    <a:pt x="62661" y="64871"/>
                  </a:lnTo>
                  <a:lnTo>
                    <a:pt x="64477" y="67284"/>
                  </a:lnTo>
                  <a:lnTo>
                    <a:pt x="64477" y="76365"/>
                  </a:lnTo>
                  <a:lnTo>
                    <a:pt x="61810" y="79641"/>
                  </a:lnTo>
                  <a:lnTo>
                    <a:pt x="55384" y="81280"/>
                  </a:lnTo>
                  <a:lnTo>
                    <a:pt x="51752" y="82931"/>
                  </a:lnTo>
                  <a:lnTo>
                    <a:pt x="34544" y="82931"/>
                  </a:lnTo>
                  <a:lnTo>
                    <a:pt x="28117" y="81280"/>
                  </a:lnTo>
                  <a:lnTo>
                    <a:pt x="24485" y="77127"/>
                  </a:lnTo>
                  <a:lnTo>
                    <a:pt x="22669" y="75488"/>
                  </a:lnTo>
                  <a:lnTo>
                    <a:pt x="21818" y="72199"/>
                  </a:lnTo>
                  <a:lnTo>
                    <a:pt x="20840" y="67284"/>
                  </a:lnTo>
                  <a:lnTo>
                    <a:pt x="0" y="67284"/>
                  </a:lnTo>
                  <a:lnTo>
                    <a:pt x="25654" y="97078"/>
                  </a:lnTo>
                  <a:lnTo>
                    <a:pt x="43637" y="99339"/>
                  </a:lnTo>
                  <a:lnTo>
                    <a:pt x="52946" y="98755"/>
                  </a:lnTo>
                  <a:lnTo>
                    <a:pt x="53098" y="98755"/>
                  </a:lnTo>
                  <a:lnTo>
                    <a:pt x="60934" y="97078"/>
                  </a:lnTo>
                  <a:lnTo>
                    <a:pt x="61175" y="97078"/>
                  </a:lnTo>
                  <a:lnTo>
                    <a:pt x="68554" y="94119"/>
                  </a:lnTo>
                  <a:lnTo>
                    <a:pt x="74536" y="90258"/>
                  </a:lnTo>
                  <a:lnTo>
                    <a:pt x="81813" y="85331"/>
                  </a:lnTo>
                  <a:lnTo>
                    <a:pt x="83007" y="82931"/>
                  </a:lnTo>
                  <a:lnTo>
                    <a:pt x="85445" y="78003"/>
                  </a:lnTo>
                  <a:lnTo>
                    <a:pt x="85445" y="60718"/>
                  </a:lnTo>
                  <a:close/>
                </a:path>
                <a:path w="531495" h="125095">
                  <a:moveTo>
                    <a:pt x="135496" y="27889"/>
                  </a:moveTo>
                  <a:lnTo>
                    <a:pt x="123621" y="27889"/>
                  </a:lnTo>
                  <a:lnTo>
                    <a:pt x="123621" y="8204"/>
                  </a:lnTo>
                  <a:lnTo>
                    <a:pt x="103632" y="8204"/>
                  </a:lnTo>
                  <a:lnTo>
                    <a:pt x="103632" y="27889"/>
                  </a:lnTo>
                  <a:lnTo>
                    <a:pt x="92722" y="27889"/>
                  </a:lnTo>
                  <a:lnTo>
                    <a:pt x="92722" y="41021"/>
                  </a:lnTo>
                  <a:lnTo>
                    <a:pt x="103632" y="41021"/>
                  </a:lnTo>
                  <a:lnTo>
                    <a:pt x="103632" y="87845"/>
                  </a:lnTo>
                  <a:lnTo>
                    <a:pt x="104470" y="91135"/>
                  </a:lnTo>
                  <a:lnTo>
                    <a:pt x="106286" y="93535"/>
                  </a:lnTo>
                  <a:lnTo>
                    <a:pt x="109931" y="96824"/>
                  </a:lnTo>
                  <a:lnTo>
                    <a:pt x="116357" y="97701"/>
                  </a:lnTo>
                  <a:lnTo>
                    <a:pt x="135496" y="97701"/>
                  </a:lnTo>
                  <a:lnTo>
                    <a:pt x="135496" y="83693"/>
                  </a:lnTo>
                  <a:lnTo>
                    <a:pt x="125437" y="83693"/>
                  </a:lnTo>
                  <a:lnTo>
                    <a:pt x="124472" y="82931"/>
                  </a:lnTo>
                  <a:lnTo>
                    <a:pt x="123621" y="82054"/>
                  </a:lnTo>
                  <a:lnTo>
                    <a:pt x="123621" y="41021"/>
                  </a:lnTo>
                  <a:lnTo>
                    <a:pt x="135496" y="41021"/>
                  </a:lnTo>
                  <a:lnTo>
                    <a:pt x="135496" y="27889"/>
                  </a:lnTo>
                  <a:close/>
                </a:path>
                <a:path w="531495" h="125095">
                  <a:moveTo>
                    <a:pt x="222770" y="62357"/>
                  </a:moveTo>
                  <a:lnTo>
                    <a:pt x="222250" y="55029"/>
                  </a:lnTo>
                  <a:lnTo>
                    <a:pt x="222237" y="54825"/>
                  </a:lnTo>
                  <a:lnTo>
                    <a:pt x="220586" y="48044"/>
                  </a:lnTo>
                  <a:lnTo>
                    <a:pt x="201803" y="28016"/>
                  </a:lnTo>
                  <a:lnTo>
                    <a:pt x="201803" y="68922"/>
                  </a:lnTo>
                  <a:lnTo>
                    <a:pt x="199986" y="74726"/>
                  </a:lnTo>
                  <a:lnTo>
                    <a:pt x="197319" y="78003"/>
                  </a:lnTo>
                  <a:lnTo>
                    <a:pt x="193675" y="82054"/>
                  </a:lnTo>
                  <a:lnTo>
                    <a:pt x="189077" y="83693"/>
                  </a:lnTo>
                  <a:lnTo>
                    <a:pt x="177317" y="83693"/>
                  </a:lnTo>
                  <a:lnTo>
                    <a:pt x="172707" y="82054"/>
                  </a:lnTo>
                  <a:lnTo>
                    <a:pt x="170040" y="78003"/>
                  </a:lnTo>
                  <a:lnTo>
                    <a:pt x="166408" y="74726"/>
                  </a:lnTo>
                  <a:lnTo>
                    <a:pt x="165544" y="69583"/>
                  </a:lnTo>
                  <a:lnTo>
                    <a:pt x="165481" y="54825"/>
                  </a:lnTo>
                  <a:lnTo>
                    <a:pt x="166408" y="50101"/>
                  </a:lnTo>
                  <a:lnTo>
                    <a:pt x="170040" y="45948"/>
                  </a:lnTo>
                  <a:lnTo>
                    <a:pt x="172707" y="41897"/>
                  </a:lnTo>
                  <a:lnTo>
                    <a:pt x="177317" y="40259"/>
                  </a:lnTo>
                  <a:lnTo>
                    <a:pt x="189077" y="40259"/>
                  </a:lnTo>
                  <a:lnTo>
                    <a:pt x="201803" y="68922"/>
                  </a:lnTo>
                  <a:lnTo>
                    <a:pt x="201803" y="28016"/>
                  </a:lnTo>
                  <a:lnTo>
                    <a:pt x="201053" y="27609"/>
                  </a:lnTo>
                  <a:lnTo>
                    <a:pt x="193065" y="25374"/>
                  </a:lnTo>
                  <a:lnTo>
                    <a:pt x="183616" y="24612"/>
                  </a:lnTo>
                  <a:lnTo>
                    <a:pt x="174231" y="25374"/>
                  </a:lnTo>
                  <a:lnTo>
                    <a:pt x="145110" y="54825"/>
                  </a:lnTo>
                  <a:lnTo>
                    <a:pt x="144589" y="62357"/>
                  </a:lnTo>
                  <a:lnTo>
                    <a:pt x="145059" y="68922"/>
                  </a:lnTo>
                  <a:lnTo>
                    <a:pt x="174231" y="98590"/>
                  </a:lnTo>
                  <a:lnTo>
                    <a:pt x="183616" y="99339"/>
                  </a:lnTo>
                  <a:lnTo>
                    <a:pt x="193065" y="98590"/>
                  </a:lnTo>
                  <a:lnTo>
                    <a:pt x="222237" y="69583"/>
                  </a:lnTo>
                  <a:lnTo>
                    <a:pt x="222770" y="62357"/>
                  </a:lnTo>
                  <a:close/>
                </a:path>
                <a:path w="531495" h="125095">
                  <a:moveTo>
                    <a:pt x="282765" y="25488"/>
                  </a:moveTo>
                  <a:lnTo>
                    <a:pt x="279971" y="25488"/>
                  </a:lnTo>
                  <a:lnTo>
                    <a:pt x="273672" y="25488"/>
                  </a:lnTo>
                  <a:lnTo>
                    <a:pt x="269062" y="27127"/>
                  </a:lnTo>
                  <a:lnTo>
                    <a:pt x="262763" y="31178"/>
                  </a:lnTo>
                  <a:lnTo>
                    <a:pt x="259981" y="34455"/>
                  </a:lnTo>
                  <a:lnTo>
                    <a:pt x="257314" y="39382"/>
                  </a:lnTo>
                  <a:lnTo>
                    <a:pt x="257314" y="27127"/>
                  </a:lnTo>
                  <a:lnTo>
                    <a:pt x="237312" y="27127"/>
                  </a:lnTo>
                  <a:lnTo>
                    <a:pt x="237312" y="96824"/>
                  </a:lnTo>
                  <a:lnTo>
                    <a:pt x="258152" y="96824"/>
                  </a:lnTo>
                  <a:lnTo>
                    <a:pt x="258152" y="58305"/>
                  </a:lnTo>
                  <a:lnTo>
                    <a:pt x="259981" y="50876"/>
                  </a:lnTo>
                  <a:lnTo>
                    <a:pt x="262763" y="46824"/>
                  </a:lnTo>
                  <a:lnTo>
                    <a:pt x="268211" y="44310"/>
                  </a:lnTo>
                  <a:lnTo>
                    <a:pt x="282765" y="44310"/>
                  </a:lnTo>
                  <a:lnTo>
                    <a:pt x="282765" y="25488"/>
                  </a:lnTo>
                  <a:close/>
                </a:path>
                <a:path w="531495" h="125095">
                  <a:moveTo>
                    <a:pt x="360934" y="94411"/>
                  </a:moveTo>
                  <a:lnTo>
                    <a:pt x="357301" y="91135"/>
                  </a:lnTo>
                  <a:lnTo>
                    <a:pt x="357301" y="88620"/>
                  </a:lnTo>
                  <a:lnTo>
                    <a:pt x="357301" y="85331"/>
                  </a:lnTo>
                  <a:lnTo>
                    <a:pt x="357301" y="63233"/>
                  </a:lnTo>
                  <a:lnTo>
                    <a:pt x="357301" y="40259"/>
                  </a:lnTo>
                  <a:lnTo>
                    <a:pt x="357301" y="38620"/>
                  </a:lnTo>
                  <a:lnTo>
                    <a:pt x="353669" y="32816"/>
                  </a:lnTo>
                  <a:lnTo>
                    <a:pt x="347243" y="30416"/>
                  </a:lnTo>
                  <a:lnTo>
                    <a:pt x="340944" y="27127"/>
                  </a:lnTo>
                  <a:lnTo>
                    <a:pt x="333667" y="25488"/>
                  </a:lnTo>
                  <a:lnTo>
                    <a:pt x="324573" y="25488"/>
                  </a:lnTo>
                  <a:lnTo>
                    <a:pt x="315709" y="26085"/>
                  </a:lnTo>
                  <a:lnTo>
                    <a:pt x="291846" y="43535"/>
                  </a:lnTo>
                  <a:lnTo>
                    <a:pt x="291846" y="50101"/>
                  </a:lnTo>
                  <a:lnTo>
                    <a:pt x="310883" y="50101"/>
                  </a:lnTo>
                  <a:lnTo>
                    <a:pt x="311848" y="46824"/>
                  </a:lnTo>
                  <a:lnTo>
                    <a:pt x="312699" y="45186"/>
                  </a:lnTo>
                  <a:lnTo>
                    <a:pt x="313664" y="43535"/>
                  </a:lnTo>
                  <a:lnTo>
                    <a:pt x="316331" y="41021"/>
                  </a:lnTo>
                  <a:lnTo>
                    <a:pt x="319125" y="40259"/>
                  </a:lnTo>
                  <a:lnTo>
                    <a:pt x="328206" y="40259"/>
                  </a:lnTo>
                  <a:lnTo>
                    <a:pt x="331851" y="41021"/>
                  </a:lnTo>
                  <a:lnTo>
                    <a:pt x="333667" y="41897"/>
                  </a:lnTo>
                  <a:lnTo>
                    <a:pt x="335483" y="42659"/>
                  </a:lnTo>
                  <a:lnTo>
                    <a:pt x="337299" y="45186"/>
                  </a:lnTo>
                  <a:lnTo>
                    <a:pt x="337299" y="50101"/>
                  </a:lnTo>
                  <a:lnTo>
                    <a:pt x="337299" y="63233"/>
                  </a:lnTo>
                  <a:lnTo>
                    <a:pt x="337299" y="69799"/>
                  </a:lnTo>
                  <a:lnTo>
                    <a:pt x="336334" y="75488"/>
                  </a:lnTo>
                  <a:lnTo>
                    <a:pt x="334518" y="79641"/>
                  </a:lnTo>
                  <a:lnTo>
                    <a:pt x="330873" y="82054"/>
                  </a:lnTo>
                  <a:lnTo>
                    <a:pt x="327240" y="84569"/>
                  </a:lnTo>
                  <a:lnTo>
                    <a:pt x="323608" y="85331"/>
                  </a:lnTo>
                  <a:lnTo>
                    <a:pt x="314515" y="85331"/>
                  </a:lnTo>
                  <a:lnTo>
                    <a:pt x="312699" y="83693"/>
                  </a:lnTo>
                  <a:lnTo>
                    <a:pt x="310032" y="82054"/>
                  </a:lnTo>
                  <a:lnTo>
                    <a:pt x="309067" y="79641"/>
                  </a:lnTo>
                  <a:lnTo>
                    <a:pt x="309067" y="73075"/>
                  </a:lnTo>
                  <a:lnTo>
                    <a:pt x="323608" y="66509"/>
                  </a:lnTo>
                  <a:lnTo>
                    <a:pt x="328206" y="65646"/>
                  </a:lnTo>
                  <a:lnTo>
                    <a:pt x="330034" y="65646"/>
                  </a:lnTo>
                  <a:lnTo>
                    <a:pt x="331851" y="64871"/>
                  </a:lnTo>
                  <a:lnTo>
                    <a:pt x="332701" y="64871"/>
                  </a:lnTo>
                  <a:lnTo>
                    <a:pt x="334518" y="63995"/>
                  </a:lnTo>
                  <a:lnTo>
                    <a:pt x="335483" y="63995"/>
                  </a:lnTo>
                  <a:lnTo>
                    <a:pt x="337299" y="63233"/>
                  </a:lnTo>
                  <a:lnTo>
                    <a:pt x="337299" y="50101"/>
                  </a:lnTo>
                  <a:lnTo>
                    <a:pt x="335483" y="51739"/>
                  </a:lnTo>
                  <a:lnTo>
                    <a:pt x="332701" y="52514"/>
                  </a:lnTo>
                  <a:lnTo>
                    <a:pt x="330873" y="53390"/>
                  </a:lnTo>
                  <a:lnTo>
                    <a:pt x="328206" y="54152"/>
                  </a:lnTo>
                  <a:lnTo>
                    <a:pt x="324573" y="54152"/>
                  </a:lnTo>
                  <a:lnTo>
                    <a:pt x="318147" y="55029"/>
                  </a:lnTo>
                  <a:lnTo>
                    <a:pt x="310032" y="55791"/>
                  </a:lnTo>
                  <a:lnTo>
                    <a:pt x="304584" y="57429"/>
                  </a:lnTo>
                  <a:lnTo>
                    <a:pt x="299974" y="59956"/>
                  </a:lnTo>
                  <a:lnTo>
                    <a:pt x="292696" y="63233"/>
                  </a:lnTo>
                  <a:lnTo>
                    <a:pt x="289064" y="69799"/>
                  </a:lnTo>
                  <a:lnTo>
                    <a:pt x="289064" y="84569"/>
                  </a:lnTo>
                  <a:lnTo>
                    <a:pt x="291846" y="90258"/>
                  </a:lnTo>
                  <a:lnTo>
                    <a:pt x="296341" y="93535"/>
                  </a:lnTo>
                  <a:lnTo>
                    <a:pt x="300939" y="96824"/>
                  </a:lnTo>
                  <a:lnTo>
                    <a:pt x="306400" y="98463"/>
                  </a:lnTo>
                  <a:lnTo>
                    <a:pt x="319125" y="98463"/>
                  </a:lnTo>
                  <a:lnTo>
                    <a:pt x="323608" y="97701"/>
                  </a:lnTo>
                  <a:lnTo>
                    <a:pt x="328206" y="95186"/>
                  </a:lnTo>
                  <a:lnTo>
                    <a:pt x="331851" y="93535"/>
                  </a:lnTo>
                  <a:lnTo>
                    <a:pt x="337299" y="88620"/>
                  </a:lnTo>
                  <a:lnTo>
                    <a:pt x="338150" y="90258"/>
                  </a:lnTo>
                  <a:lnTo>
                    <a:pt x="338150" y="94411"/>
                  </a:lnTo>
                  <a:lnTo>
                    <a:pt x="339115" y="95186"/>
                  </a:lnTo>
                  <a:lnTo>
                    <a:pt x="339115" y="96824"/>
                  </a:lnTo>
                  <a:lnTo>
                    <a:pt x="360934" y="96824"/>
                  </a:lnTo>
                  <a:lnTo>
                    <a:pt x="360934" y="94411"/>
                  </a:lnTo>
                  <a:close/>
                </a:path>
                <a:path w="531495" h="125095">
                  <a:moveTo>
                    <a:pt x="444563" y="27127"/>
                  </a:moveTo>
                  <a:lnTo>
                    <a:pt x="425538" y="27127"/>
                  </a:lnTo>
                  <a:lnTo>
                    <a:pt x="425538" y="36969"/>
                  </a:lnTo>
                  <a:lnTo>
                    <a:pt x="425538" y="68922"/>
                  </a:lnTo>
                  <a:lnTo>
                    <a:pt x="423722" y="73850"/>
                  </a:lnTo>
                  <a:lnTo>
                    <a:pt x="420077" y="77127"/>
                  </a:lnTo>
                  <a:lnTo>
                    <a:pt x="417296" y="80416"/>
                  </a:lnTo>
                  <a:lnTo>
                    <a:pt x="412813" y="82054"/>
                  </a:lnTo>
                  <a:lnTo>
                    <a:pt x="400939" y="82054"/>
                  </a:lnTo>
                  <a:lnTo>
                    <a:pt x="396443" y="78765"/>
                  </a:lnTo>
                  <a:lnTo>
                    <a:pt x="393661" y="73075"/>
                  </a:lnTo>
                  <a:lnTo>
                    <a:pt x="391922" y="69938"/>
                  </a:lnTo>
                  <a:lnTo>
                    <a:pt x="391845" y="53390"/>
                  </a:lnTo>
                  <a:lnTo>
                    <a:pt x="393661" y="50101"/>
                  </a:lnTo>
                  <a:lnTo>
                    <a:pt x="396443" y="44310"/>
                  </a:lnTo>
                  <a:lnTo>
                    <a:pt x="400939" y="41897"/>
                  </a:lnTo>
                  <a:lnTo>
                    <a:pt x="413664" y="41897"/>
                  </a:lnTo>
                  <a:lnTo>
                    <a:pt x="425538" y="68922"/>
                  </a:lnTo>
                  <a:lnTo>
                    <a:pt x="425538" y="36969"/>
                  </a:lnTo>
                  <a:lnTo>
                    <a:pt x="407352" y="25488"/>
                  </a:lnTo>
                  <a:lnTo>
                    <a:pt x="403720" y="25488"/>
                  </a:lnTo>
                  <a:lnTo>
                    <a:pt x="372948" y="48044"/>
                  </a:lnTo>
                  <a:lnTo>
                    <a:pt x="370878" y="62357"/>
                  </a:lnTo>
                  <a:lnTo>
                    <a:pt x="371322" y="68922"/>
                  </a:lnTo>
                  <a:lnTo>
                    <a:pt x="403720" y="96824"/>
                  </a:lnTo>
                  <a:lnTo>
                    <a:pt x="410019" y="96824"/>
                  </a:lnTo>
                  <a:lnTo>
                    <a:pt x="414629" y="96062"/>
                  </a:lnTo>
                  <a:lnTo>
                    <a:pt x="419112" y="92773"/>
                  </a:lnTo>
                  <a:lnTo>
                    <a:pt x="422744" y="89496"/>
                  </a:lnTo>
                  <a:lnTo>
                    <a:pt x="424561" y="86207"/>
                  </a:lnTo>
                  <a:lnTo>
                    <a:pt x="424561" y="101739"/>
                  </a:lnTo>
                  <a:lnTo>
                    <a:pt x="422744" y="105029"/>
                  </a:lnTo>
                  <a:lnTo>
                    <a:pt x="420077" y="109181"/>
                  </a:lnTo>
                  <a:lnTo>
                    <a:pt x="415480" y="111594"/>
                  </a:lnTo>
                  <a:lnTo>
                    <a:pt x="402755" y="111594"/>
                  </a:lnTo>
                  <a:lnTo>
                    <a:pt x="399110" y="110832"/>
                  </a:lnTo>
                  <a:lnTo>
                    <a:pt x="397294" y="109181"/>
                  </a:lnTo>
                  <a:lnTo>
                    <a:pt x="395478" y="108305"/>
                  </a:lnTo>
                  <a:lnTo>
                    <a:pt x="394627" y="106667"/>
                  </a:lnTo>
                  <a:lnTo>
                    <a:pt x="394627" y="104267"/>
                  </a:lnTo>
                  <a:lnTo>
                    <a:pt x="372694" y="104267"/>
                  </a:lnTo>
                  <a:lnTo>
                    <a:pt x="372694" y="110832"/>
                  </a:lnTo>
                  <a:lnTo>
                    <a:pt x="376326" y="116509"/>
                  </a:lnTo>
                  <a:lnTo>
                    <a:pt x="389178" y="123075"/>
                  </a:lnTo>
                  <a:lnTo>
                    <a:pt x="397294" y="124726"/>
                  </a:lnTo>
                  <a:lnTo>
                    <a:pt x="407352" y="124726"/>
                  </a:lnTo>
                  <a:lnTo>
                    <a:pt x="443712" y="109181"/>
                  </a:lnTo>
                  <a:lnTo>
                    <a:pt x="444563" y="101739"/>
                  </a:lnTo>
                  <a:lnTo>
                    <a:pt x="444563" y="86207"/>
                  </a:lnTo>
                  <a:lnTo>
                    <a:pt x="444563" y="82054"/>
                  </a:lnTo>
                  <a:lnTo>
                    <a:pt x="444563" y="41897"/>
                  </a:lnTo>
                  <a:lnTo>
                    <a:pt x="444563" y="36969"/>
                  </a:lnTo>
                  <a:lnTo>
                    <a:pt x="444563" y="27127"/>
                  </a:lnTo>
                  <a:close/>
                </a:path>
                <a:path w="531495" h="125095">
                  <a:moveTo>
                    <a:pt x="530987" y="56667"/>
                  </a:moveTo>
                  <a:lnTo>
                    <a:pt x="530491" y="55029"/>
                  </a:lnTo>
                  <a:lnTo>
                    <a:pt x="530009" y="53390"/>
                  </a:lnTo>
                  <a:lnTo>
                    <a:pt x="529158" y="47586"/>
                  </a:lnTo>
                  <a:lnTo>
                    <a:pt x="527342" y="42659"/>
                  </a:lnTo>
                  <a:lnTo>
                    <a:pt x="525741" y="40347"/>
                  </a:lnTo>
                  <a:lnTo>
                    <a:pt x="524560" y="38620"/>
                  </a:lnTo>
                  <a:lnTo>
                    <a:pt x="520928" y="34455"/>
                  </a:lnTo>
                  <a:lnTo>
                    <a:pt x="517283" y="31178"/>
                  </a:lnTo>
                  <a:lnTo>
                    <a:pt x="511835" y="28765"/>
                  </a:lnTo>
                  <a:lnTo>
                    <a:pt x="510019" y="27940"/>
                  </a:lnTo>
                  <a:lnTo>
                    <a:pt x="510019" y="50101"/>
                  </a:lnTo>
                  <a:lnTo>
                    <a:pt x="510019" y="55029"/>
                  </a:lnTo>
                  <a:lnTo>
                    <a:pt x="479107" y="55029"/>
                  </a:lnTo>
                  <a:lnTo>
                    <a:pt x="480072" y="50876"/>
                  </a:lnTo>
                  <a:lnTo>
                    <a:pt x="480923" y="46824"/>
                  </a:lnTo>
                  <a:lnTo>
                    <a:pt x="486384" y="41897"/>
                  </a:lnTo>
                  <a:lnTo>
                    <a:pt x="489826" y="40347"/>
                  </a:lnTo>
                  <a:lnTo>
                    <a:pt x="499287" y="40347"/>
                  </a:lnTo>
                  <a:lnTo>
                    <a:pt x="502742" y="41897"/>
                  </a:lnTo>
                  <a:lnTo>
                    <a:pt x="505523" y="44310"/>
                  </a:lnTo>
                  <a:lnTo>
                    <a:pt x="508190" y="46824"/>
                  </a:lnTo>
                  <a:lnTo>
                    <a:pt x="510019" y="50101"/>
                  </a:lnTo>
                  <a:lnTo>
                    <a:pt x="510019" y="27940"/>
                  </a:lnTo>
                  <a:lnTo>
                    <a:pt x="506374" y="26250"/>
                  </a:lnTo>
                  <a:lnTo>
                    <a:pt x="500926" y="25488"/>
                  </a:lnTo>
                  <a:lnTo>
                    <a:pt x="494626" y="25488"/>
                  </a:lnTo>
                  <a:lnTo>
                    <a:pt x="460870" y="46672"/>
                  </a:lnTo>
                  <a:lnTo>
                    <a:pt x="458266" y="62357"/>
                  </a:lnTo>
                  <a:lnTo>
                    <a:pt x="458939" y="71450"/>
                  </a:lnTo>
                  <a:lnTo>
                    <a:pt x="488315" y="98729"/>
                  </a:lnTo>
                  <a:lnTo>
                    <a:pt x="495465" y="99339"/>
                  </a:lnTo>
                  <a:lnTo>
                    <a:pt x="503516" y="98729"/>
                  </a:lnTo>
                  <a:lnTo>
                    <a:pt x="503758" y="98729"/>
                  </a:lnTo>
                  <a:lnTo>
                    <a:pt x="511200" y="96761"/>
                  </a:lnTo>
                  <a:lnTo>
                    <a:pt x="517486" y="93433"/>
                  </a:lnTo>
                  <a:lnTo>
                    <a:pt x="522744" y="88620"/>
                  </a:lnTo>
                  <a:lnTo>
                    <a:pt x="527342" y="84569"/>
                  </a:lnTo>
                  <a:lnTo>
                    <a:pt x="530009" y="80416"/>
                  </a:lnTo>
                  <a:lnTo>
                    <a:pt x="530009" y="76365"/>
                  </a:lnTo>
                  <a:lnTo>
                    <a:pt x="510019" y="76365"/>
                  </a:lnTo>
                  <a:lnTo>
                    <a:pt x="508190" y="78003"/>
                  </a:lnTo>
                  <a:lnTo>
                    <a:pt x="507352" y="79641"/>
                  </a:lnTo>
                  <a:lnTo>
                    <a:pt x="503707" y="82931"/>
                  </a:lnTo>
                  <a:lnTo>
                    <a:pt x="500075" y="84569"/>
                  </a:lnTo>
                  <a:lnTo>
                    <a:pt x="491832" y="84569"/>
                  </a:lnTo>
                  <a:lnTo>
                    <a:pt x="488200" y="83693"/>
                  </a:lnTo>
                  <a:lnTo>
                    <a:pt x="485533" y="81280"/>
                  </a:lnTo>
                  <a:lnTo>
                    <a:pt x="480923" y="78765"/>
                  </a:lnTo>
                  <a:lnTo>
                    <a:pt x="479107" y="73850"/>
                  </a:lnTo>
                  <a:lnTo>
                    <a:pt x="478256" y="67284"/>
                  </a:lnTo>
                  <a:lnTo>
                    <a:pt x="530987" y="67284"/>
                  </a:lnTo>
                  <a:lnTo>
                    <a:pt x="530987" y="566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2917897" y="4197716"/>
            <a:ext cx="1145540" cy="326390"/>
            <a:chOff x="2917897" y="4197716"/>
            <a:chExt cx="1145540" cy="326390"/>
          </a:xfrm>
        </p:grpSpPr>
        <p:sp>
          <p:nvSpPr>
            <p:cNvPr id="46" name="object 46"/>
            <p:cNvSpPr/>
            <p:nvPr/>
          </p:nvSpPr>
          <p:spPr>
            <a:xfrm>
              <a:off x="2923282" y="4203100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5">
                  <a:moveTo>
                    <a:pt x="1047422" y="0"/>
                  </a:moveTo>
                  <a:lnTo>
                    <a:pt x="87264" y="0"/>
                  </a:lnTo>
                  <a:lnTo>
                    <a:pt x="53330" y="6185"/>
                  </a:lnTo>
                  <a:lnTo>
                    <a:pt x="25588" y="23057"/>
                  </a:lnTo>
                  <a:lnTo>
                    <a:pt x="6868" y="48095"/>
                  </a:lnTo>
                  <a:lnTo>
                    <a:pt x="0" y="78774"/>
                  </a:lnTo>
                  <a:lnTo>
                    <a:pt x="0" y="236323"/>
                  </a:lnTo>
                  <a:lnTo>
                    <a:pt x="6868" y="267002"/>
                  </a:lnTo>
                  <a:lnTo>
                    <a:pt x="25588" y="292040"/>
                  </a:lnTo>
                  <a:lnTo>
                    <a:pt x="53330" y="308913"/>
                  </a:lnTo>
                  <a:lnTo>
                    <a:pt x="87264" y="315098"/>
                  </a:lnTo>
                  <a:lnTo>
                    <a:pt x="1047422" y="315098"/>
                  </a:lnTo>
                  <a:lnTo>
                    <a:pt x="1081407" y="308913"/>
                  </a:lnTo>
                  <a:lnTo>
                    <a:pt x="1109144" y="292040"/>
                  </a:lnTo>
                  <a:lnTo>
                    <a:pt x="1127835" y="267002"/>
                  </a:lnTo>
                  <a:lnTo>
                    <a:pt x="1134687" y="236323"/>
                  </a:lnTo>
                  <a:lnTo>
                    <a:pt x="1134687" y="78774"/>
                  </a:lnTo>
                  <a:lnTo>
                    <a:pt x="1127835" y="48095"/>
                  </a:lnTo>
                  <a:lnTo>
                    <a:pt x="1109144" y="23057"/>
                  </a:lnTo>
                  <a:lnTo>
                    <a:pt x="1081407" y="6185"/>
                  </a:lnTo>
                  <a:lnTo>
                    <a:pt x="1047422" y="0"/>
                  </a:lnTo>
                  <a:close/>
                </a:path>
              </a:pathLst>
            </a:custGeom>
            <a:solidFill>
              <a:srgbClr val="CA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923282" y="4203100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5">
                  <a:moveTo>
                    <a:pt x="1134687" y="236323"/>
                  </a:moveTo>
                  <a:lnTo>
                    <a:pt x="1127835" y="267002"/>
                  </a:lnTo>
                  <a:lnTo>
                    <a:pt x="1109144" y="292040"/>
                  </a:lnTo>
                  <a:lnTo>
                    <a:pt x="1081407" y="308913"/>
                  </a:lnTo>
                  <a:lnTo>
                    <a:pt x="1047422" y="315098"/>
                  </a:lnTo>
                  <a:lnTo>
                    <a:pt x="87264" y="315098"/>
                  </a:lnTo>
                  <a:lnTo>
                    <a:pt x="53330" y="308913"/>
                  </a:lnTo>
                  <a:lnTo>
                    <a:pt x="25588" y="292040"/>
                  </a:lnTo>
                  <a:lnTo>
                    <a:pt x="6868" y="267002"/>
                  </a:lnTo>
                  <a:lnTo>
                    <a:pt x="0" y="236323"/>
                  </a:lnTo>
                  <a:lnTo>
                    <a:pt x="0" y="78774"/>
                  </a:lnTo>
                  <a:lnTo>
                    <a:pt x="6868" y="48095"/>
                  </a:lnTo>
                  <a:lnTo>
                    <a:pt x="25588" y="23057"/>
                  </a:lnTo>
                  <a:lnTo>
                    <a:pt x="53330" y="6185"/>
                  </a:lnTo>
                  <a:lnTo>
                    <a:pt x="87264" y="0"/>
                  </a:lnTo>
                  <a:lnTo>
                    <a:pt x="1047422" y="0"/>
                  </a:lnTo>
                  <a:lnTo>
                    <a:pt x="1081407" y="6185"/>
                  </a:lnTo>
                  <a:lnTo>
                    <a:pt x="1109144" y="23057"/>
                  </a:lnTo>
                  <a:lnTo>
                    <a:pt x="1127835" y="48095"/>
                  </a:lnTo>
                  <a:lnTo>
                    <a:pt x="1134687" y="78774"/>
                  </a:lnTo>
                  <a:lnTo>
                    <a:pt x="1134687" y="236323"/>
                  </a:lnTo>
                  <a:close/>
                </a:path>
              </a:pathLst>
            </a:custGeom>
            <a:ln w="10752">
              <a:solidFill>
                <a:srgbClr val="08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081439" y="4297413"/>
              <a:ext cx="593090" cy="97155"/>
            </a:xfrm>
            <a:custGeom>
              <a:avLst/>
              <a:gdLst/>
              <a:ahLst/>
              <a:cxnLst/>
              <a:rect l="l" t="t" r="r" b="b"/>
              <a:pathLst>
                <a:path w="593089" h="97154">
                  <a:moveTo>
                    <a:pt x="84607" y="0"/>
                  </a:moveTo>
                  <a:lnTo>
                    <a:pt x="63754" y="0"/>
                  </a:lnTo>
                  <a:lnTo>
                    <a:pt x="63754" y="65646"/>
                  </a:lnTo>
                  <a:lnTo>
                    <a:pt x="40195" y="27901"/>
                  </a:lnTo>
                  <a:lnTo>
                    <a:pt x="22796" y="0"/>
                  </a:lnTo>
                  <a:lnTo>
                    <a:pt x="0" y="0"/>
                  </a:lnTo>
                  <a:lnTo>
                    <a:pt x="0" y="94424"/>
                  </a:lnTo>
                  <a:lnTo>
                    <a:pt x="20129" y="94424"/>
                  </a:lnTo>
                  <a:lnTo>
                    <a:pt x="20129" y="27901"/>
                  </a:lnTo>
                  <a:lnTo>
                    <a:pt x="62788" y="94424"/>
                  </a:lnTo>
                  <a:lnTo>
                    <a:pt x="84607" y="94424"/>
                  </a:lnTo>
                  <a:lnTo>
                    <a:pt x="84607" y="65646"/>
                  </a:lnTo>
                  <a:lnTo>
                    <a:pt x="84607" y="0"/>
                  </a:lnTo>
                  <a:close/>
                </a:path>
                <a:path w="593089" h="97154">
                  <a:moveTo>
                    <a:pt x="170053" y="50876"/>
                  </a:moveTo>
                  <a:lnTo>
                    <a:pt x="169202" y="45186"/>
                  </a:lnTo>
                  <a:lnTo>
                    <a:pt x="166408" y="40271"/>
                  </a:lnTo>
                  <a:lnTo>
                    <a:pt x="164896" y="37896"/>
                  </a:lnTo>
                  <a:lnTo>
                    <a:pt x="164795" y="37757"/>
                  </a:lnTo>
                  <a:lnTo>
                    <a:pt x="163753" y="36106"/>
                  </a:lnTo>
                  <a:lnTo>
                    <a:pt x="160108" y="32067"/>
                  </a:lnTo>
                  <a:lnTo>
                    <a:pt x="156476" y="28778"/>
                  </a:lnTo>
                  <a:lnTo>
                    <a:pt x="151015" y="26263"/>
                  </a:lnTo>
                  <a:lnTo>
                    <a:pt x="149199" y="25463"/>
                  </a:lnTo>
                  <a:lnTo>
                    <a:pt x="149199" y="47599"/>
                  </a:lnTo>
                  <a:lnTo>
                    <a:pt x="149199" y="52527"/>
                  </a:lnTo>
                  <a:lnTo>
                    <a:pt x="118300" y="52527"/>
                  </a:lnTo>
                  <a:lnTo>
                    <a:pt x="119151" y="48475"/>
                  </a:lnTo>
                  <a:lnTo>
                    <a:pt x="120116" y="44310"/>
                  </a:lnTo>
                  <a:lnTo>
                    <a:pt x="125564" y="39395"/>
                  </a:lnTo>
                  <a:lnTo>
                    <a:pt x="129209" y="37757"/>
                  </a:lnTo>
                  <a:lnTo>
                    <a:pt x="138290" y="37757"/>
                  </a:lnTo>
                  <a:lnTo>
                    <a:pt x="141935" y="39395"/>
                  </a:lnTo>
                  <a:lnTo>
                    <a:pt x="144602" y="41910"/>
                  </a:lnTo>
                  <a:lnTo>
                    <a:pt x="147383" y="44310"/>
                  </a:lnTo>
                  <a:lnTo>
                    <a:pt x="149199" y="47599"/>
                  </a:lnTo>
                  <a:lnTo>
                    <a:pt x="149199" y="25463"/>
                  </a:lnTo>
                  <a:lnTo>
                    <a:pt x="145567" y="23850"/>
                  </a:lnTo>
                  <a:lnTo>
                    <a:pt x="140119" y="22987"/>
                  </a:lnTo>
                  <a:lnTo>
                    <a:pt x="133692" y="22987"/>
                  </a:lnTo>
                  <a:lnTo>
                    <a:pt x="99936" y="44310"/>
                  </a:lnTo>
                  <a:lnTo>
                    <a:pt x="97332" y="59956"/>
                  </a:lnTo>
                  <a:lnTo>
                    <a:pt x="98005" y="69049"/>
                  </a:lnTo>
                  <a:lnTo>
                    <a:pt x="127444" y="96227"/>
                  </a:lnTo>
                  <a:lnTo>
                    <a:pt x="134658" y="96837"/>
                  </a:lnTo>
                  <a:lnTo>
                    <a:pt x="142633" y="96227"/>
                  </a:lnTo>
                  <a:lnTo>
                    <a:pt x="142875" y="96227"/>
                  </a:lnTo>
                  <a:lnTo>
                    <a:pt x="169202" y="78016"/>
                  </a:lnTo>
                  <a:lnTo>
                    <a:pt x="169202" y="73850"/>
                  </a:lnTo>
                  <a:lnTo>
                    <a:pt x="149199" y="73850"/>
                  </a:lnTo>
                  <a:lnTo>
                    <a:pt x="147383" y="75501"/>
                  </a:lnTo>
                  <a:lnTo>
                    <a:pt x="146418" y="77139"/>
                  </a:lnTo>
                  <a:lnTo>
                    <a:pt x="142786" y="80416"/>
                  </a:lnTo>
                  <a:lnTo>
                    <a:pt x="139141" y="82067"/>
                  </a:lnTo>
                  <a:lnTo>
                    <a:pt x="131025" y="82067"/>
                  </a:lnTo>
                  <a:lnTo>
                    <a:pt x="127393" y="81292"/>
                  </a:lnTo>
                  <a:lnTo>
                    <a:pt x="124599" y="78778"/>
                  </a:lnTo>
                  <a:lnTo>
                    <a:pt x="120116" y="76377"/>
                  </a:lnTo>
                  <a:lnTo>
                    <a:pt x="118300" y="71450"/>
                  </a:lnTo>
                  <a:lnTo>
                    <a:pt x="117322" y="64884"/>
                  </a:lnTo>
                  <a:lnTo>
                    <a:pt x="170053" y="64884"/>
                  </a:lnTo>
                  <a:lnTo>
                    <a:pt x="170053" y="52527"/>
                  </a:lnTo>
                  <a:lnTo>
                    <a:pt x="170053" y="50876"/>
                  </a:lnTo>
                  <a:close/>
                </a:path>
                <a:path w="593089" h="97154">
                  <a:moveTo>
                    <a:pt x="219138" y="25501"/>
                  </a:moveTo>
                  <a:lnTo>
                    <a:pt x="207378" y="25501"/>
                  </a:lnTo>
                  <a:lnTo>
                    <a:pt x="207378" y="5803"/>
                  </a:lnTo>
                  <a:lnTo>
                    <a:pt x="187388" y="5803"/>
                  </a:lnTo>
                  <a:lnTo>
                    <a:pt x="187388" y="25501"/>
                  </a:lnTo>
                  <a:lnTo>
                    <a:pt x="176479" y="25501"/>
                  </a:lnTo>
                  <a:lnTo>
                    <a:pt x="176479" y="38620"/>
                  </a:lnTo>
                  <a:lnTo>
                    <a:pt x="187388" y="38620"/>
                  </a:lnTo>
                  <a:lnTo>
                    <a:pt x="187388" y="85344"/>
                  </a:lnTo>
                  <a:lnTo>
                    <a:pt x="188226" y="88620"/>
                  </a:lnTo>
                  <a:lnTo>
                    <a:pt x="191020" y="91147"/>
                  </a:lnTo>
                  <a:lnTo>
                    <a:pt x="193687" y="94424"/>
                  </a:lnTo>
                  <a:lnTo>
                    <a:pt x="200113" y="95186"/>
                  </a:lnTo>
                  <a:lnTo>
                    <a:pt x="219138" y="95186"/>
                  </a:lnTo>
                  <a:lnTo>
                    <a:pt x="219138" y="81292"/>
                  </a:lnTo>
                  <a:lnTo>
                    <a:pt x="209194" y="81292"/>
                  </a:lnTo>
                  <a:lnTo>
                    <a:pt x="207378" y="79654"/>
                  </a:lnTo>
                  <a:lnTo>
                    <a:pt x="207378" y="38620"/>
                  </a:lnTo>
                  <a:lnTo>
                    <a:pt x="219138" y="38620"/>
                  </a:lnTo>
                  <a:lnTo>
                    <a:pt x="219138" y="25501"/>
                  </a:lnTo>
                  <a:close/>
                </a:path>
                <a:path w="593089" h="97154">
                  <a:moveTo>
                    <a:pt x="333794" y="24625"/>
                  </a:moveTo>
                  <a:lnTo>
                    <a:pt x="312826" y="24625"/>
                  </a:lnTo>
                  <a:lnTo>
                    <a:pt x="301066" y="74726"/>
                  </a:lnTo>
                  <a:lnTo>
                    <a:pt x="289191" y="24625"/>
                  </a:lnTo>
                  <a:lnTo>
                    <a:pt x="269189" y="24625"/>
                  </a:lnTo>
                  <a:lnTo>
                    <a:pt x="258279" y="74726"/>
                  </a:lnTo>
                  <a:lnTo>
                    <a:pt x="245554" y="24625"/>
                  </a:lnTo>
                  <a:lnTo>
                    <a:pt x="224586" y="24625"/>
                  </a:lnTo>
                  <a:lnTo>
                    <a:pt x="245554" y="94424"/>
                  </a:lnTo>
                  <a:lnTo>
                    <a:pt x="266522" y="94424"/>
                  </a:lnTo>
                  <a:lnTo>
                    <a:pt x="279247" y="43548"/>
                  </a:lnTo>
                  <a:lnTo>
                    <a:pt x="291007" y="94424"/>
                  </a:lnTo>
                  <a:lnTo>
                    <a:pt x="311975" y="94424"/>
                  </a:lnTo>
                  <a:lnTo>
                    <a:pt x="333794" y="24625"/>
                  </a:lnTo>
                  <a:close/>
                </a:path>
                <a:path w="593089" h="97154">
                  <a:moveTo>
                    <a:pt x="420090" y="59956"/>
                  </a:moveTo>
                  <a:lnTo>
                    <a:pt x="419430" y="52527"/>
                  </a:lnTo>
                  <a:lnTo>
                    <a:pt x="419417" y="52362"/>
                  </a:lnTo>
                  <a:lnTo>
                    <a:pt x="417487" y="45554"/>
                  </a:lnTo>
                  <a:lnTo>
                    <a:pt x="414362" y="39395"/>
                  </a:lnTo>
                  <a:lnTo>
                    <a:pt x="413143" y="37757"/>
                  </a:lnTo>
                  <a:lnTo>
                    <a:pt x="410146" y="33705"/>
                  </a:lnTo>
                  <a:lnTo>
                    <a:pt x="404672" y="28765"/>
                  </a:lnTo>
                  <a:lnTo>
                    <a:pt x="399237" y="25908"/>
                  </a:lnTo>
                  <a:lnTo>
                    <a:pt x="399237" y="66522"/>
                  </a:lnTo>
                  <a:lnTo>
                    <a:pt x="397421" y="72212"/>
                  </a:lnTo>
                  <a:lnTo>
                    <a:pt x="393788" y="75501"/>
                  </a:lnTo>
                  <a:lnTo>
                    <a:pt x="390994" y="79654"/>
                  </a:lnTo>
                  <a:lnTo>
                    <a:pt x="386511" y="81292"/>
                  </a:lnTo>
                  <a:lnTo>
                    <a:pt x="374637" y="81292"/>
                  </a:lnTo>
                  <a:lnTo>
                    <a:pt x="370154" y="79654"/>
                  </a:lnTo>
                  <a:lnTo>
                    <a:pt x="366522" y="75501"/>
                  </a:lnTo>
                  <a:lnTo>
                    <a:pt x="363728" y="72212"/>
                  </a:lnTo>
                  <a:lnTo>
                    <a:pt x="361911" y="66522"/>
                  </a:lnTo>
                  <a:lnTo>
                    <a:pt x="361975" y="52362"/>
                  </a:lnTo>
                  <a:lnTo>
                    <a:pt x="363728" y="47599"/>
                  </a:lnTo>
                  <a:lnTo>
                    <a:pt x="366522" y="43548"/>
                  </a:lnTo>
                  <a:lnTo>
                    <a:pt x="370154" y="39395"/>
                  </a:lnTo>
                  <a:lnTo>
                    <a:pt x="374637" y="37757"/>
                  </a:lnTo>
                  <a:lnTo>
                    <a:pt x="386511" y="37757"/>
                  </a:lnTo>
                  <a:lnTo>
                    <a:pt x="390994" y="39395"/>
                  </a:lnTo>
                  <a:lnTo>
                    <a:pt x="393788" y="43548"/>
                  </a:lnTo>
                  <a:lnTo>
                    <a:pt x="397421" y="47599"/>
                  </a:lnTo>
                  <a:lnTo>
                    <a:pt x="399186" y="52362"/>
                  </a:lnTo>
                  <a:lnTo>
                    <a:pt x="399237" y="66522"/>
                  </a:lnTo>
                  <a:lnTo>
                    <a:pt x="399237" y="25908"/>
                  </a:lnTo>
                  <a:lnTo>
                    <a:pt x="397852" y="25171"/>
                  </a:lnTo>
                  <a:lnTo>
                    <a:pt x="389661" y="22961"/>
                  </a:lnTo>
                  <a:lnTo>
                    <a:pt x="380098" y="22212"/>
                  </a:lnTo>
                  <a:lnTo>
                    <a:pt x="371081" y="22961"/>
                  </a:lnTo>
                  <a:lnTo>
                    <a:pt x="341731" y="52362"/>
                  </a:lnTo>
                  <a:lnTo>
                    <a:pt x="341071" y="59956"/>
                  </a:lnTo>
                  <a:lnTo>
                    <a:pt x="341668" y="66522"/>
                  </a:lnTo>
                  <a:lnTo>
                    <a:pt x="371081" y="96100"/>
                  </a:lnTo>
                  <a:lnTo>
                    <a:pt x="380098" y="96837"/>
                  </a:lnTo>
                  <a:lnTo>
                    <a:pt x="389661" y="96100"/>
                  </a:lnTo>
                  <a:lnTo>
                    <a:pt x="397852" y="93992"/>
                  </a:lnTo>
                  <a:lnTo>
                    <a:pt x="404672" y="90652"/>
                  </a:lnTo>
                  <a:lnTo>
                    <a:pt x="410146" y="86220"/>
                  </a:lnTo>
                  <a:lnTo>
                    <a:pt x="413689" y="81292"/>
                  </a:lnTo>
                  <a:lnTo>
                    <a:pt x="414362" y="80365"/>
                  </a:lnTo>
                  <a:lnTo>
                    <a:pt x="417487" y="73990"/>
                  </a:lnTo>
                  <a:lnTo>
                    <a:pt x="419417" y="67170"/>
                  </a:lnTo>
                  <a:lnTo>
                    <a:pt x="420090" y="59956"/>
                  </a:lnTo>
                  <a:close/>
                </a:path>
                <a:path w="593089" h="97154">
                  <a:moveTo>
                    <a:pt x="479234" y="22974"/>
                  </a:moveTo>
                  <a:lnTo>
                    <a:pt x="476453" y="22974"/>
                  </a:lnTo>
                  <a:lnTo>
                    <a:pt x="470992" y="22974"/>
                  </a:lnTo>
                  <a:lnTo>
                    <a:pt x="465543" y="24625"/>
                  </a:lnTo>
                  <a:lnTo>
                    <a:pt x="461899" y="27139"/>
                  </a:lnTo>
                  <a:lnTo>
                    <a:pt x="459232" y="28778"/>
                  </a:lnTo>
                  <a:lnTo>
                    <a:pt x="456450" y="32067"/>
                  </a:lnTo>
                  <a:lnTo>
                    <a:pt x="453783" y="36982"/>
                  </a:lnTo>
                  <a:lnTo>
                    <a:pt x="453783" y="24625"/>
                  </a:lnTo>
                  <a:lnTo>
                    <a:pt x="434632" y="24625"/>
                  </a:lnTo>
                  <a:lnTo>
                    <a:pt x="434632" y="94424"/>
                  </a:lnTo>
                  <a:lnTo>
                    <a:pt x="454634" y="94424"/>
                  </a:lnTo>
                  <a:lnTo>
                    <a:pt x="454634" y="55803"/>
                  </a:lnTo>
                  <a:lnTo>
                    <a:pt x="455599" y="51752"/>
                  </a:lnTo>
                  <a:lnTo>
                    <a:pt x="457415" y="48475"/>
                  </a:lnTo>
                  <a:lnTo>
                    <a:pt x="460082" y="44310"/>
                  </a:lnTo>
                  <a:lnTo>
                    <a:pt x="465543" y="41910"/>
                  </a:lnTo>
                  <a:lnTo>
                    <a:pt x="479234" y="41910"/>
                  </a:lnTo>
                  <a:lnTo>
                    <a:pt x="479234" y="22974"/>
                  </a:lnTo>
                  <a:close/>
                </a:path>
                <a:path w="593089" h="97154">
                  <a:moveTo>
                    <a:pt x="562013" y="94424"/>
                  </a:moveTo>
                  <a:lnTo>
                    <a:pt x="533781" y="51752"/>
                  </a:lnTo>
                  <a:lnTo>
                    <a:pt x="561047" y="25501"/>
                  </a:lnTo>
                  <a:lnTo>
                    <a:pt x="536562" y="25501"/>
                  </a:lnTo>
                  <a:lnTo>
                    <a:pt x="511111" y="50876"/>
                  </a:lnTo>
                  <a:lnTo>
                    <a:pt x="511111" y="876"/>
                  </a:lnTo>
                  <a:lnTo>
                    <a:pt x="490994" y="876"/>
                  </a:lnTo>
                  <a:lnTo>
                    <a:pt x="490994" y="94424"/>
                  </a:lnTo>
                  <a:lnTo>
                    <a:pt x="511111" y="94424"/>
                  </a:lnTo>
                  <a:lnTo>
                    <a:pt x="511111" y="72212"/>
                  </a:lnTo>
                  <a:lnTo>
                    <a:pt x="519226" y="64884"/>
                  </a:lnTo>
                  <a:lnTo>
                    <a:pt x="537413" y="94424"/>
                  </a:lnTo>
                  <a:lnTo>
                    <a:pt x="562013" y="94424"/>
                  </a:lnTo>
                  <a:close/>
                </a:path>
                <a:path w="593089" h="97154">
                  <a:moveTo>
                    <a:pt x="592924" y="24625"/>
                  </a:moveTo>
                  <a:lnTo>
                    <a:pt x="572922" y="24625"/>
                  </a:lnTo>
                  <a:lnTo>
                    <a:pt x="572922" y="94424"/>
                  </a:lnTo>
                  <a:lnTo>
                    <a:pt x="592924" y="94424"/>
                  </a:lnTo>
                  <a:lnTo>
                    <a:pt x="592924" y="24625"/>
                  </a:lnTo>
                  <a:close/>
                </a:path>
                <a:path w="593089" h="97154">
                  <a:moveTo>
                    <a:pt x="592924" y="0"/>
                  </a:moveTo>
                  <a:lnTo>
                    <a:pt x="572922" y="0"/>
                  </a:lnTo>
                  <a:lnTo>
                    <a:pt x="572922" y="16421"/>
                  </a:lnTo>
                  <a:lnTo>
                    <a:pt x="592924" y="16421"/>
                  </a:lnTo>
                  <a:lnTo>
                    <a:pt x="5929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694365" y="4320387"/>
              <a:ext cx="158167" cy="99343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1172186" y="652095"/>
            <a:ext cx="1145540" cy="326390"/>
            <a:chOff x="1172186" y="652095"/>
            <a:chExt cx="1145540" cy="326390"/>
          </a:xfrm>
        </p:grpSpPr>
        <p:sp>
          <p:nvSpPr>
            <p:cNvPr id="51" name="object 51"/>
            <p:cNvSpPr/>
            <p:nvPr/>
          </p:nvSpPr>
          <p:spPr>
            <a:xfrm>
              <a:off x="1177570" y="657480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4">
                  <a:moveTo>
                    <a:pt x="1047470" y="0"/>
                  </a:moveTo>
                  <a:lnTo>
                    <a:pt x="87289" y="0"/>
                  </a:lnTo>
                  <a:lnTo>
                    <a:pt x="53320" y="6202"/>
                  </a:lnTo>
                  <a:lnTo>
                    <a:pt x="25573" y="23112"/>
                  </a:lnTo>
                  <a:lnTo>
                    <a:pt x="6862" y="48187"/>
                  </a:lnTo>
                  <a:lnTo>
                    <a:pt x="0" y="78883"/>
                  </a:lnTo>
                  <a:lnTo>
                    <a:pt x="0" y="236433"/>
                  </a:lnTo>
                  <a:lnTo>
                    <a:pt x="6862" y="267065"/>
                  </a:lnTo>
                  <a:lnTo>
                    <a:pt x="25573" y="292108"/>
                  </a:lnTo>
                  <a:lnTo>
                    <a:pt x="53320" y="309007"/>
                  </a:lnTo>
                  <a:lnTo>
                    <a:pt x="87289" y="315207"/>
                  </a:lnTo>
                  <a:lnTo>
                    <a:pt x="1047470" y="315207"/>
                  </a:lnTo>
                  <a:lnTo>
                    <a:pt x="1081405" y="309007"/>
                  </a:lnTo>
                  <a:lnTo>
                    <a:pt x="1109147" y="292108"/>
                  </a:lnTo>
                  <a:lnTo>
                    <a:pt x="1127867" y="267065"/>
                  </a:lnTo>
                  <a:lnTo>
                    <a:pt x="1134735" y="236433"/>
                  </a:lnTo>
                  <a:lnTo>
                    <a:pt x="1134735" y="78883"/>
                  </a:lnTo>
                  <a:lnTo>
                    <a:pt x="1127867" y="48187"/>
                  </a:lnTo>
                  <a:lnTo>
                    <a:pt x="1109147" y="23112"/>
                  </a:lnTo>
                  <a:lnTo>
                    <a:pt x="1081405" y="6202"/>
                  </a:lnTo>
                  <a:lnTo>
                    <a:pt x="10474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177570" y="657480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4">
                  <a:moveTo>
                    <a:pt x="1134735" y="236433"/>
                  </a:moveTo>
                  <a:lnTo>
                    <a:pt x="1127867" y="267065"/>
                  </a:lnTo>
                  <a:lnTo>
                    <a:pt x="1109147" y="292108"/>
                  </a:lnTo>
                  <a:lnTo>
                    <a:pt x="1081405" y="309007"/>
                  </a:lnTo>
                  <a:lnTo>
                    <a:pt x="1047470" y="315207"/>
                  </a:lnTo>
                  <a:lnTo>
                    <a:pt x="87289" y="315207"/>
                  </a:lnTo>
                  <a:lnTo>
                    <a:pt x="53320" y="309007"/>
                  </a:lnTo>
                  <a:lnTo>
                    <a:pt x="25573" y="292108"/>
                  </a:lnTo>
                  <a:lnTo>
                    <a:pt x="6862" y="267065"/>
                  </a:lnTo>
                  <a:lnTo>
                    <a:pt x="0" y="236433"/>
                  </a:lnTo>
                  <a:lnTo>
                    <a:pt x="0" y="78883"/>
                  </a:lnTo>
                  <a:lnTo>
                    <a:pt x="6862" y="48187"/>
                  </a:lnTo>
                  <a:lnTo>
                    <a:pt x="25573" y="23112"/>
                  </a:lnTo>
                  <a:lnTo>
                    <a:pt x="53320" y="6202"/>
                  </a:lnTo>
                  <a:lnTo>
                    <a:pt x="87289" y="0"/>
                  </a:lnTo>
                  <a:lnTo>
                    <a:pt x="1047470" y="0"/>
                  </a:lnTo>
                  <a:lnTo>
                    <a:pt x="1081405" y="6202"/>
                  </a:lnTo>
                  <a:lnTo>
                    <a:pt x="1109147" y="23112"/>
                  </a:lnTo>
                  <a:lnTo>
                    <a:pt x="1127867" y="48187"/>
                  </a:lnTo>
                  <a:lnTo>
                    <a:pt x="1134735" y="78883"/>
                  </a:lnTo>
                  <a:lnTo>
                    <a:pt x="1134735" y="236433"/>
                  </a:lnTo>
                  <a:close/>
                </a:path>
              </a:pathLst>
            </a:custGeom>
            <a:ln w="10752">
              <a:solidFill>
                <a:srgbClr val="08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87597" y="751900"/>
              <a:ext cx="309136" cy="121444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617637" y="751903"/>
              <a:ext cx="534035" cy="97155"/>
            </a:xfrm>
            <a:custGeom>
              <a:avLst/>
              <a:gdLst/>
              <a:ahLst/>
              <a:cxnLst/>
              <a:rect l="l" t="t" r="r" b="b"/>
              <a:pathLst>
                <a:path w="534035" h="97155">
                  <a:moveTo>
                    <a:pt x="20002" y="24625"/>
                  </a:moveTo>
                  <a:lnTo>
                    <a:pt x="0" y="24625"/>
                  </a:lnTo>
                  <a:lnTo>
                    <a:pt x="0" y="94424"/>
                  </a:lnTo>
                  <a:lnTo>
                    <a:pt x="20002" y="94424"/>
                  </a:lnTo>
                  <a:lnTo>
                    <a:pt x="20002" y="24625"/>
                  </a:lnTo>
                  <a:close/>
                </a:path>
                <a:path w="534035" h="97155">
                  <a:moveTo>
                    <a:pt x="20002" y="0"/>
                  </a:moveTo>
                  <a:lnTo>
                    <a:pt x="0" y="0"/>
                  </a:lnTo>
                  <a:lnTo>
                    <a:pt x="0" y="16408"/>
                  </a:lnTo>
                  <a:lnTo>
                    <a:pt x="20002" y="16408"/>
                  </a:lnTo>
                  <a:lnTo>
                    <a:pt x="20002" y="0"/>
                  </a:lnTo>
                  <a:close/>
                </a:path>
                <a:path w="534035" h="97155">
                  <a:moveTo>
                    <a:pt x="106375" y="50114"/>
                  </a:moveTo>
                  <a:lnTo>
                    <a:pt x="81838" y="22974"/>
                  </a:lnTo>
                  <a:lnTo>
                    <a:pt x="71831" y="22974"/>
                  </a:lnTo>
                  <a:lnTo>
                    <a:pt x="37731" y="44932"/>
                  </a:lnTo>
                  <a:lnTo>
                    <a:pt x="35458" y="60731"/>
                  </a:lnTo>
                  <a:lnTo>
                    <a:pt x="35991" y="68427"/>
                  </a:lnTo>
                  <a:lnTo>
                    <a:pt x="62966" y="96215"/>
                  </a:lnTo>
                  <a:lnTo>
                    <a:pt x="71831" y="96824"/>
                  </a:lnTo>
                  <a:lnTo>
                    <a:pt x="80187" y="96075"/>
                  </a:lnTo>
                  <a:lnTo>
                    <a:pt x="106375" y="68935"/>
                  </a:lnTo>
                  <a:lnTo>
                    <a:pt x="85471" y="68935"/>
                  </a:lnTo>
                  <a:lnTo>
                    <a:pt x="85471" y="73088"/>
                  </a:lnTo>
                  <a:lnTo>
                    <a:pt x="83654" y="75501"/>
                  </a:lnTo>
                  <a:lnTo>
                    <a:pt x="81838" y="78016"/>
                  </a:lnTo>
                  <a:lnTo>
                    <a:pt x="80010" y="80416"/>
                  </a:lnTo>
                  <a:lnTo>
                    <a:pt x="76377" y="81292"/>
                  </a:lnTo>
                  <a:lnTo>
                    <a:pt x="65468" y="81292"/>
                  </a:lnTo>
                  <a:lnTo>
                    <a:pt x="60921" y="78778"/>
                  </a:lnTo>
                  <a:lnTo>
                    <a:pt x="58204" y="73088"/>
                  </a:lnTo>
                  <a:lnTo>
                    <a:pt x="57277" y="69811"/>
                  </a:lnTo>
                  <a:lnTo>
                    <a:pt x="56362" y="65646"/>
                  </a:lnTo>
                  <a:lnTo>
                    <a:pt x="56362" y="55041"/>
                  </a:lnTo>
                  <a:lnTo>
                    <a:pt x="57277" y="50876"/>
                  </a:lnTo>
                  <a:lnTo>
                    <a:pt x="58204" y="47599"/>
                  </a:lnTo>
                  <a:lnTo>
                    <a:pt x="60921" y="41910"/>
                  </a:lnTo>
                  <a:lnTo>
                    <a:pt x="65468" y="38620"/>
                  </a:lnTo>
                  <a:lnTo>
                    <a:pt x="77292" y="38620"/>
                  </a:lnTo>
                  <a:lnTo>
                    <a:pt x="80924" y="40271"/>
                  </a:lnTo>
                  <a:lnTo>
                    <a:pt x="82740" y="42672"/>
                  </a:lnTo>
                  <a:lnTo>
                    <a:pt x="84556" y="45186"/>
                  </a:lnTo>
                  <a:lnTo>
                    <a:pt x="85471" y="46824"/>
                  </a:lnTo>
                  <a:lnTo>
                    <a:pt x="85471" y="50114"/>
                  </a:lnTo>
                  <a:lnTo>
                    <a:pt x="106375" y="50114"/>
                  </a:lnTo>
                  <a:close/>
                </a:path>
                <a:path w="534035" h="97155">
                  <a:moveTo>
                    <a:pt x="187299" y="91909"/>
                  </a:moveTo>
                  <a:lnTo>
                    <a:pt x="186397" y="91135"/>
                  </a:lnTo>
                  <a:lnTo>
                    <a:pt x="185483" y="90271"/>
                  </a:lnTo>
                  <a:lnTo>
                    <a:pt x="184569" y="89496"/>
                  </a:lnTo>
                  <a:lnTo>
                    <a:pt x="183667" y="88620"/>
                  </a:lnTo>
                  <a:lnTo>
                    <a:pt x="183667" y="86220"/>
                  </a:lnTo>
                  <a:lnTo>
                    <a:pt x="183667" y="82931"/>
                  </a:lnTo>
                  <a:lnTo>
                    <a:pt x="183667" y="60731"/>
                  </a:lnTo>
                  <a:lnTo>
                    <a:pt x="183667" y="37744"/>
                  </a:lnTo>
                  <a:lnTo>
                    <a:pt x="183667" y="36106"/>
                  </a:lnTo>
                  <a:lnTo>
                    <a:pt x="180035" y="30416"/>
                  </a:lnTo>
                  <a:lnTo>
                    <a:pt x="173672" y="27901"/>
                  </a:lnTo>
                  <a:lnTo>
                    <a:pt x="167309" y="24625"/>
                  </a:lnTo>
                  <a:lnTo>
                    <a:pt x="159118" y="22974"/>
                  </a:lnTo>
                  <a:lnTo>
                    <a:pt x="150926" y="22974"/>
                  </a:lnTo>
                  <a:lnTo>
                    <a:pt x="142062" y="23583"/>
                  </a:lnTo>
                  <a:lnTo>
                    <a:pt x="118198" y="41033"/>
                  </a:lnTo>
                  <a:lnTo>
                    <a:pt x="118198" y="47599"/>
                  </a:lnTo>
                  <a:lnTo>
                    <a:pt x="137299" y="47599"/>
                  </a:lnTo>
                  <a:lnTo>
                    <a:pt x="138201" y="44310"/>
                  </a:lnTo>
                  <a:lnTo>
                    <a:pt x="140017" y="41033"/>
                  </a:lnTo>
                  <a:lnTo>
                    <a:pt x="141833" y="38620"/>
                  </a:lnTo>
                  <a:lnTo>
                    <a:pt x="145478" y="37744"/>
                  </a:lnTo>
                  <a:lnTo>
                    <a:pt x="154571" y="37744"/>
                  </a:lnTo>
                  <a:lnTo>
                    <a:pt x="157302" y="38620"/>
                  </a:lnTo>
                  <a:lnTo>
                    <a:pt x="160032" y="39395"/>
                  </a:lnTo>
                  <a:lnTo>
                    <a:pt x="161848" y="40271"/>
                  </a:lnTo>
                  <a:lnTo>
                    <a:pt x="162763" y="42672"/>
                  </a:lnTo>
                  <a:lnTo>
                    <a:pt x="162763" y="47599"/>
                  </a:lnTo>
                  <a:lnTo>
                    <a:pt x="162763" y="60731"/>
                  </a:lnTo>
                  <a:lnTo>
                    <a:pt x="162763" y="73088"/>
                  </a:lnTo>
                  <a:lnTo>
                    <a:pt x="160934" y="77139"/>
                  </a:lnTo>
                  <a:lnTo>
                    <a:pt x="157302" y="79654"/>
                  </a:lnTo>
                  <a:lnTo>
                    <a:pt x="153657" y="82054"/>
                  </a:lnTo>
                  <a:lnTo>
                    <a:pt x="150025" y="82931"/>
                  </a:lnTo>
                  <a:lnTo>
                    <a:pt x="140017" y="82931"/>
                  </a:lnTo>
                  <a:lnTo>
                    <a:pt x="136385" y="79654"/>
                  </a:lnTo>
                  <a:lnTo>
                    <a:pt x="135470" y="77139"/>
                  </a:lnTo>
                  <a:lnTo>
                    <a:pt x="135470" y="70573"/>
                  </a:lnTo>
                  <a:lnTo>
                    <a:pt x="137299" y="68160"/>
                  </a:lnTo>
                  <a:lnTo>
                    <a:pt x="140017" y="66522"/>
                  </a:lnTo>
                  <a:lnTo>
                    <a:pt x="141833" y="65646"/>
                  </a:lnTo>
                  <a:lnTo>
                    <a:pt x="145478" y="64884"/>
                  </a:lnTo>
                  <a:lnTo>
                    <a:pt x="149110" y="64008"/>
                  </a:lnTo>
                  <a:lnTo>
                    <a:pt x="153657" y="63246"/>
                  </a:lnTo>
                  <a:lnTo>
                    <a:pt x="156387" y="63246"/>
                  </a:lnTo>
                  <a:lnTo>
                    <a:pt x="158216" y="62369"/>
                  </a:lnTo>
                  <a:lnTo>
                    <a:pt x="159118" y="62369"/>
                  </a:lnTo>
                  <a:lnTo>
                    <a:pt x="160934" y="61595"/>
                  </a:lnTo>
                  <a:lnTo>
                    <a:pt x="161848" y="61595"/>
                  </a:lnTo>
                  <a:lnTo>
                    <a:pt x="162763" y="60731"/>
                  </a:lnTo>
                  <a:lnTo>
                    <a:pt x="162763" y="47599"/>
                  </a:lnTo>
                  <a:lnTo>
                    <a:pt x="161848" y="49237"/>
                  </a:lnTo>
                  <a:lnTo>
                    <a:pt x="159118" y="50114"/>
                  </a:lnTo>
                  <a:lnTo>
                    <a:pt x="157302" y="50876"/>
                  </a:lnTo>
                  <a:lnTo>
                    <a:pt x="154571" y="51752"/>
                  </a:lnTo>
                  <a:lnTo>
                    <a:pt x="150926" y="51752"/>
                  </a:lnTo>
                  <a:lnTo>
                    <a:pt x="143662" y="52514"/>
                  </a:lnTo>
                  <a:lnTo>
                    <a:pt x="136385" y="53390"/>
                  </a:lnTo>
                  <a:lnTo>
                    <a:pt x="130022" y="55041"/>
                  </a:lnTo>
                  <a:lnTo>
                    <a:pt x="126390" y="57442"/>
                  </a:lnTo>
                  <a:lnTo>
                    <a:pt x="119113" y="60731"/>
                  </a:lnTo>
                  <a:lnTo>
                    <a:pt x="115481" y="67284"/>
                  </a:lnTo>
                  <a:lnTo>
                    <a:pt x="115481" y="82054"/>
                  </a:lnTo>
                  <a:lnTo>
                    <a:pt x="117297" y="87858"/>
                  </a:lnTo>
                  <a:lnTo>
                    <a:pt x="126390" y="94424"/>
                  </a:lnTo>
                  <a:lnTo>
                    <a:pt x="132753" y="96062"/>
                  </a:lnTo>
                  <a:lnTo>
                    <a:pt x="144564" y="96062"/>
                  </a:lnTo>
                  <a:lnTo>
                    <a:pt x="150025" y="95186"/>
                  </a:lnTo>
                  <a:lnTo>
                    <a:pt x="154571" y="92786"/>
                  </a:lnTo>
                  <a:lnTo>
                    <a:pt x="158216" y="91135"/>
                  </a:lnTo>
                  <a:lnTo>
                    <a:pt x="160934" y="88620"/>
                  </a:lnTo>
                  <a:lnTo>
                    <a:pt x="163664" y="86220"/>
                  </a:lnTo>
                  <a:lnTo>
                    <a:pt x="163664" y="87858"/>
                  </a:lnTo>
                  <a:lnTo>
                    <a:pt x="164579" y="89496"/>
                  </a:lnTo>
                  <a:lnTo>
                    <a:pt x="164579" y="92786"/>
                  </a:lnTo>
                  <a:lnTo>
                    <a:pt x="165481" y="94424"/>
                  </a:lnTo>
                  <a:lnTo>
                    <a:pt x="187299" y="94424"/>
                  </a:lnTo>
                  <a:lnTo>
                    <a:pt x="187299" y="91909"/>
                  </a:lnTo>
                  <a:close/>
                </a:path>
                <a:path w="534035" h="97155">
                  <a:moveTo>
                    <a:pt x="236397" y="25501"/>
                  </a:moveTo>
                  <a:lnTo>
                    <a:pt x="224523" y="25501"/>
                  </a:lnTo>
                  <a:lnTo>
                    <a:pt x="224523" y="5803"/>
                  </a:lnTo>
                  <a:lnTo>
                    <a:pt x="204571" y="5803"/>
                  </a:lnTo>
                  <a:lnTo>
                    <a:pt x="204571" y="25501"/>
                  </a:lnTo>
                  <a:lnTo>
                    <a:pt x="193662" y="25501"/>
                  </a:lnTo>
                  <a:lnTo>
                    <a:pt x="193662" y="38620"/>
                  </a:lnTo>
                  <a:lnTo>
                    <a:pt x="204571" y="38620"/>
                  </a:lnTo>
                  <a:lnTo>
                    <a:pt x="204571" y="85344"/>
                  </a:lnTo>
                  <a:lnTo>
                    <a:pt x="205486" y="88620"/>
                  </a:lnTo>
                  <a:lnTo>
                    <a:pt x="208165" y="91135"/>
                  </a:lnTo>
                  <a:lnTo>
                    <a:pt x="210947" y="94424"/>
                  </a:lnTo>
                  <a:lnTo>
                    <a:pt x="217246" y="95186"/>
                  </a:lnTo>
                  <a:lnTo>
                    <a:pt x="236397" y="95186"/>
                  </a:lnTo>
                  <a:lnTo>
                    <a:pt x="236397" y="81292"/>
                  </a:lnTo>
                  <a:lnTo>
                    <a:pt x="226339" y="81292"/>
                  </a:lnTo>
                  <a:lnTo>
                    <a:pt x="225488" y="80416"/>
                  </a:lnTo>
                  <a:lnTo>
                    <a:pt x="224523" y="79654"/>
                  </a:lnTo>
                  <a:lnTo>
                    <a:pt x="224523" y="38620"/>
                  </a:lnTo>
                  <a:lnTo>
                    <a:pt x="236397" y="38620"/>
                  </a:lnTo>
                  <a:lnTo>
                    <a:pt x="236397" y="25501"/>
                  </a:lnTo>
                  <a:close/>
                </a:path>
                <a:path w="534035" h="97155">
                  <a:moveTo>
                    <a:pt x="270941" y="24625"/>
                  </a:moveTo>
                  <a:lnTo>
                    <a:pt x="250101" y="24625"/>
                  </a:lnTo>
                  <a:lnTo>
                    <a:pt x="250101" y="94424"/>
                  </a:lnTo>
                  <a:lnTo>
                    <a:pt x="270941" y="94424"/>
                  </a:lnTo>
                  <a:lnTo>
                    <a:pt x="270941" y="24625"/>
                  </a:lnTo>
                  <a:close/>
                </a:path>
                <a:path w="534035" h="97155">
                  <a:moveTo>
                    <a:pt x="270941" y="0"/>
                  </a:moveTo>
                  <a:lnTo>
                    <a:pt x="250101" y="0"/>
                  </a:lnTo>
                  <a:lnTo>
                    <a:pt x="250101" y="16408"/>
                  </a:lnTo>
                  <a:lnTo>
                    <a:pt x="270941" y="16408"/>
                  </a:lnTo>
                  <a:lnTo>
                    <a:pt x="270941" y="0"/>
                  </a:lnTo>
                  <a:close/>
                </a:path>
                <a:path w="534035" h="97155">
                  <a:moveTo>
                    <a:pt x="364629" y="59956"/>
                  </a:moveTo>
                  <a:lnTo>
                    <a:pt x="363982" y="52514"/>
                  </a:lnTo>
                  <a:lnTo>
                    <a:pt x="363969" y="52362"/>
                  </a:lnTo>
                  <a:lnTo>
                    <a:pt x="362013" y="45554"/>
                  </a:lnTo>
                  <a:lnTo>
                    <a:pt x="343662" y="25882"/>
                  </a:lnTo>
                  <a:lnTo>
                    <a:pt x="343662" y="66522"/>
                  </a:lnTo>
                  <a:lnTo>
                    <a:pt x="341845" y="72212"/>
                  </a:lnTo>
                  <a:lnTo>
                    <a:pt x="338213" y="75501"/>
                  </a:lnTo>
                  <a:lnTo>
                    <a:pt x="335546" y="79654"/>
                  </a:lnTo>
                  <a:lnTo>
                    <a:pt x="330936" y="81292"/>
                  </a:lnTo>
                  <a:lnTo>
                    <a:pt x="319176" y="81292"/>
                  </a:lnTo>
                  <a:lnTo>
                    <a:pt x="314579" y="79654"/>
                  </a:lnTo>
                  <a:lnTo>
                    <a:pt x="310934" y="75501"/>
                  </a:lnTo>
                  <a:lnTo>
                    <a:pt x="308267" y="72212"/>
                  </a:lnTo>
                  <a:lnTo>
                    <a:pt x="306451" y="66522"/>
                  </a:lnTo>
                  <a:lnTo>
                    <a:pt x="306514" y="52362"/>
                  </a:lnTo>
                  <a:lnTo>
                    <a:pt x="308267" y="47599"/>
                  </a:lnTo>
                  <a:lnTo>
                    <a:pt x="310934" y="43548"/>
                  </a:lnTo>
                  <a:lnTo>
                    <a:pt x="314579" y="39395"/>
                  </a:lnTo>
                  <a:lnTo>
                    <a:pt x="319176" y="37744"/>
                  </a:lnTo>
                  <a:lnTo>
                    <a:pt x="330936" y="37744"/>
                  </a:lnTo>
                  <a:lnTo>
                    <a:pt x="335546" y="39395"/>
                  </a:lnTo>
                  <a:lnTo>
                    <a:pt x="338213" y="43548"/>
                  </a:lnTo>
                  <a:lnTo>
                    <a:pt x="341845" y="47599"/>
                  </a:lnTo>
                  <a:lnTo>
                    <a:pt x="343611" y="52362"/>
                  </a:lnTo>
                  <a:lnTo>
                    <a:pt x="343662" y="66522"/>
                  </a:lnTo>
                  <a:lnTo>
                    <a:pt x="343662" y="25882"/>
                  </a:lnTo>
                  <a:lnTo>
                    <a:pt x="342328" y="25171"/>
                  </a:lnTo>
                  <a:lnTo>
                    <a:pt x="334149" y="22961"/>
                  </a:lnTo>
                  <a:lnTo>
                    <a:pt x="324637" y="22212"/>
                  </a:lnTo>
                  <a:lnTo>
                    <a:pt x="315607" y="22961"/>
                  </a:lnTo>
                  <a:lnTo>
                    <a:pt x="286156" y="52362"/>
                  </a:lnTo>
                  <a:lnTo>
                    <a:pt x="285483" y="59956"/>
                  </a:lnTo>
                  <a:lnTo>
                    <a:pt x="286092" y="66522"/>
                  </a:lnTo>
                  <a:lnTo>
                    <a:pt x="315607" y="96100"/>
                  </a:lnTo>
                  <a:lnTo>
                    <a:pt x="324637" y="96824"/>
                  </a:lnTo>
                  <a:lnTo>
                    <a:pt x="334149" y="96100"/>
                  </a:lnTo>
                  <a:lnTo>
                    <a:pt x="342328" y="93980"/>
                  </a:lnTo>
                  <a:lnTo>
                    <a:pt x="349148" y="90639"/>
                  </a:lnTo>
                  <a:lnTo>
                    <a:pt x="354571" y="86220"/>
                  </a:lnTo>
                  <a:lnTo>
                    <a:pt x="358165" y="81292"/>
                  </a:lnTo>
                  <a:lnTo>
                    <a:pt x="358851" y="80365"/>
                  </a:lnTo>
                  <a:lnTo>
                    <a:pt x="362013" y="73990"/>
                  </a:lnTo>
                  <a:lnTo>
                    <a:pt x="363969" y="67170"/>
                  </a:lnTo>
                  <a:lnTo>
                    <a:pt x="364629" y="59956"/>
                  </a:lnTo>
                  <a:close/>
                </a:path>
                <a:path w="534035" h="97155">
                  <a:moveTo>
                    <a:pt x="449110" y="38620"/>
                  </a:moveTo>
                  <a:lnTo>
                    <a:pt x="447598" y="35344"/>
                  </a:lnTo>
                  <a:lnTo>
                    <a:pt x="446443" y="32829"/>
                  </a:lnTo>
                  <a:lnTo>
                    <a:pt x="441833" y="28778"/>
                  </a:lnTo>
                  <a:lnTo>
                    <a:pt x="436384" y="24625"/>
                  </a:lnTo>
                  <a:lnTo>
                    <a:pt x="430085" y="22974"/>
                  </a:lnTo>
                  <a:lnTo>
                    <a:pt x="415531" y="22974"/>
                  </a:lnTo>
                  <a:lnTo>
                    <a:pt x="410083" y="24625"/>
                  </a:lnTo>
                  <a:lnTo>
                    <a:pt x="406450" y="27139"/>
                  </a:lnTo>
                  <a:lnTo>
                    <a:pt x="403656" y="28778"/>
                  </a:lnTo>
                  <a:lnTo>
                    <a:pt x="401840" y="31178"/>
                  </a:lnTo>
                  <a:lnTo>
                    <a:pt x="399173" y="35344"/>
                  </a:lnTo>
                  <a:lnTo>
                    <a:pt x="399173" y="24625"/>
                  </a:lnTo>
                  <a:lnTo>
                    <a:pt x="379171" y="24625"/>
                  </a:lnTo>
                  <a:lnTo>
                    <a:pt x="379171" y="94424"/>
                  </a:lnTo>
                  <a:lnTo>
                    <a:pt x="399173" y="94424"/>
                  </a:lnTo>
                  <a:lnTo>
                    <a:pt x="399173" y="52514"/>
                  </a:lnTo>
                  <a:lnTo>
                    <a:pt x="400024" y="49237"/>
                  </a:lnTo>
                  <a:lnTo>
                    <a:pt x="401840" y="45961"/>
                  </a:lnTo>
                  <a:lnTo>
                    <a:pt x="403656" y="41033"/>
                  </a:lnTo>
                  <a:lnTo>
                    <a:pt x="409117" y="38620"/>
                  </a:lnTo>
                  <a:lnTo>
                    <a:pt x="420992" y="38620"/>
                  </a:lnTo>
                  <a:lnTo>
                    <a:pt x="424624" y="40271"/>
                  </a:lnTo>
                  <a:lnTo>
                    <a:pt x="426440" y="43548"/>
                  </a:lnTo>
                  <a:lnTo>
                    <a:pt x="428256" y="45186"/>
                  </a:lnTo>
                  <a:lnTo>
                    <a:pt x="428256" y="94424"/>
                  </a:lnTo>
                  <a:lnTo>
                    <a:pt x="449110" y="94424"/>
                  </a:lnTo>
                  <a:lnTo>
                    <a:pt x="449110" y="38620"/>
                  </a:lnTo>
                  <a:close/>
                </a:path>
                <a:path w="534035" h="97155">
                  <a:moveTo>
                    <a:pt x="533704" y="68160"/>
                  </a:moveTo>
                  <a:lnTo>
                    <a:pt x="497344" y="50114"/>
                  </a:lnTo>
                  <a:lnTo>
                    <a:pt x="491045" y="48475"/>
                  </a:lnTo>
                  <a:lnTo>
                    <a:pt x="489229" y="47599"/>
                  </a:lnTo>
                  <a:lnTo>
                    <a:pt x="486435" y="46824"/>
                  </a:lnTo>
                  <a:lnTo>
                    <a:pt x="485584" y="45186"/>
                  </a:lnTo>
                  <a:lnTo>
                    <a:pt x="485584" y="41033"/>
                  </a:lnTo>
                  <a:lnTo>
                    <a:pt x="486435" y="39395"/>
                  </a:lnTo>
                  <a:lnTo>
                    <a:pt x="488251" y="38620"/>
                  </a:lnTo>
                  <a:lnTo>
                    <a:pt x="490080" y="36982"/>
                  </a:lnTo>
                  <a:lnTo>
                    <a:pt x="503770" y="36982"/>
                  </a:lnTo>
                  <a:lnTo>
                    <a:pt x="507403" y="37744"/>
                  </a:lnTo>
                  <a:lnTo>
                    <a:pt x="509219" y="40271"/>
                  </a:lnTo>
                  <a:lnTo>
                    <a:pt x="510070" y="41910"/>
                  </a:lnTo>
                  <a:lnTo>
                    <a:pt x="511048" y="43548"/>
                  </a:lnTo>
                  <a:lnTo>
                    <a:pt x="511886" y="45961"/>
                  </a:lnTo>
                  <a:lnTo>
                    <a:pt x="531888" y="45961"/>
                  </a:lnTo>
                  <a:lnTo>
                    <a:pt x="531469" y="41910"/>
                  </a:lnTo>
                  <a:lnTo>
                    <a:pt x="531380" y="41033"/>
                  </a:lnTo>
                  <a:lnTo>
                    <a:pt x="531304" y="40271"/>
                  </a:lnTo>
                  <a:lnTo>
                    <a:pt x="531215" y="39395"/>
                  </a:lnTo>
                  <a:lnTo>
                    <a:pt x="531126" y="38620"/>
                  </a:lnTo>
                  <a:lnTo>
                    <a:pt x="531037" y="37744"/>
                  </a:lnTo>
                  <a:lnTo>
                    <a:pt x="530618" y="36982"/>
                  </a:lnTo>
                  <a:lnTo>
                    <a:pt x="527405" y="31178"/>
                  </a:lnTo>
                  <a:lnTo>
                    <a:pt x="520979" y="27901"/>
                  </a:lnTo>
                  <a:lnTo>
                    <a:pt x="515531" y="24625"/>
                  </a:lnTo>
                  <a:lnTo>
                    <a:pt x="507403" y="22974"/>
                  </a:lnTo>
                  <a:lnTo>
                    <a:pt x="487413" y="22974"/>
                  </a:lnTo>
                  <a:lnTo>
                    <a:pt x="480136" y="25501"/>
                  </a:lnTo>
                  <a:lnTo>
                    <a:pt x="474560" y="29540"/>
                  </a:lnTo>
                  <a:lnTo>
                    <a:pt x="468261" y="34467"/>
                  </a:lnTo>
                  <a:lnTo>
                    <a:pt x="465467" y="40271"/>
                  </a:lnTo>
                  <a:lnTo>
                    <a:pt x="465467" y="51752"/>
                  </a:lnTo>
                  <a:lnTo>
                    <a:pt x="501954" y="68935"/>
                  </a:lnTo>
                  <a:lnTo>
                    <a:pt x="508254" y="70573"/>
                  </a:lnTo>
                  <a:lnTo>
                    <a:pt x="511048" y="71450"/>
                  </a:lnTo>
                  <a:lnTo>
                    <a:pt x="512864" y="72212"/>
                  </a:lnTo>
                  <a:lnTo>
                    <a:pt x="513715" y="73850"/>
                  </a:lnTo>
                  <a:lnTo>
                    <a:pt x="513715" y="78016"/>
                  </a:lnTo>
                  <a:lnTo>
                    <a:pt x="510070" y="81292"/>
                  </a:lnTo>
                  <a:lnTo>
                    <a:pt x="507403" y="82054"/>
                  </a:lnTo>
                  <a:lnTo>
                    <a:pt x="504621" y="82931"/>
                  </a:lnTo>
                  <a:lnTo>
                    <a:pt x="493712" y="82931"/>
                  </a:lnTo>
                  <a:lnTo>
                    <a:pt x="489229" y="81292"/>
                  </a:lnTo>
                  <a:lnTo>
                    <a:pt x="485584" y="78016"/>
                  </a:lnTo>
                  <a:lnTo>
                    <a:pt x="484619" y="75501"/>
                  </a:lnTo>
                  <a:lnTo>
                    <a:pt x="483768" y="72212"/>
                  </a:lnTo>
                  <a:lnTo>
                    <a:pt x="463651" y="72212"/>
                  </a:lnTo>
                  <a:lnTo>
                    <a:pt x="463651" y="79654"/>
                  </a:lnTo>
                  <a:lnTo>
                    <a:pt x="466445" y="85344"/>
                  </a:lnTo>
                  <a:lnTo>
                    <a:pt x="471893" y="89496"/>
                  </a:lnTo>
                  <a:lnTo>
                    <a:pt x="477024" y="92722"/>
                  </a:lnTo>
                  <a:lnTo>
                    <a:pt x="483374" y="95110"/>
                  </a:lnTo>
                  <a:lnTo>
                    <a:pt x="483628" y="95110"/>
                  </a:lnTo>
                  <a:lnTo>
                    <a:pt x="490486" y="96393"/>
                  </a:lnTo>
                  <a:lnTo>
                    <a:pt x="499160" y="96824"/>
                  </a:lnTo>
                  <a:lnTo>
                    <a:pt x="507403" y="96393"/>
                  </a:lnTo>
                  <a:lnTo>
                    <a:pt x="514426" y="95110"/>
                  </a:lnTo>
                  <a:lnTo>
                    <a:pt x="533704" y="80416"/>
                  </a:lnTo>
                  <a:lnTo>
                    <a:pt x="533704" y="68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object 5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72186" y="1046077"/>
            <a:ext cx="1145505" cy="325977"/>
          </a:xfrm>
          <a:prstGeom prst="rect">
            <a:avLst/>
          </a:prstGeom>
        </p:spPr>
      </p:pic>
      <p:grpSp>
        <p:nvGrpSpPr>
          <p:cNvPr id="56" name="object 56"/>
          <p:cNvGrpSpPr/>
          <p:nvPr/>
        </p:nvGrpSpPr>
        <p:grpSpPr>
          <a:xfrm>
            <a:off x="1172186" y="1440059"/>
            <a:ext cx="1145540" cy="326390"/>
            <a:chOff x="1172186" y="1440059"/>
            <a:chExt cx="1145540" cy="326390"/>
          </a:xfrm>
        </p:grpSpPr>
        <p:sp>
          <p:nvSpPr>
            <p:cNvPr id="57" name="object 57"/>
            <p:cNvSpPr/>
            <p:nvPr/>
          </p:nvSpPr>
          <p:spPr>
            <a:xfrm>
              <a:off x="1177570" y="1445444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4">
                  <a:moveTo>
                    <a:pt x="1047470" y="0"/>
                  </a:moveTo>
                  <a:lnTo>
                    <a:pt x="87289" y="0"/>
                  </a:lnTo>
                  <a:lnTo>
                    <a:pt x="53320" y="6185"/>
                  </a:lnTo>
                  <a:lnTo>
                    <a:pt x="25573" y="23057"/>
                  </a:lnTo>
                  <a:lnTo>
                    <a:pt x="6862" y="48095"/>
                  </a:lnTo>
                  <a:lnTo>
                    <a:pt x="0" y="78774"/>
                  </a:lnTo>
                  <a:lnTo>
                    <a:pt x="0" y="236323"/>
                  </a:lnTo>
                  <a:lnTo>
                    <a:pt x="6862" y="267002"/>
                  </a:lnTo>
                  <a:lnTo>
                    <a:pt x="25573" y="292040"/>
                  </a:lnTo>
                  <a:lnTo>
                    <a:pt x="53320" y="308913"/>
                  </a:lnTo>
                  <a:lnTo>
                    <a:pt x="87289" y="315098"/>
                  </a:lnTo>
                  <a:lnTo>
                    <a:pt x="1047470" y="315098"/>
                  </a:lnTo>
                  <a:lnTo>
                    <a:pt x="1081405" y="308913"/>
                  </a:lnTo>
                  <a:lnTo>
                    <a:pt x="1109147" y="292040"/>
                  </a:lnTo>
                  <a:lnTo>
                    <a:pt x="1127867" y="267002"/>
                  </a:lnTo>
                  <a:lnTo>
                    <a:pt x="1134735" y="236323"/>
                  </a:lnTo>
                  <a:lnTo>
                    <a:pt x="1134735" y="78774"/>
                  </a:lnTo>
                  <a:lnTo>
                    <a:pt x="1127867" y="48095"/>
                  </a:lnTo>
                  <a:lnTo>
                    <a:pt x="1109147" y="23057"/>
                  </a:lnTo>
                  <a:lnTo>
                    <a:pt x="1081405" y="6185"/>
                  </a:lnTo>
                  <a:lnTo>
                    <a:pt x="10474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177570" y="1445444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4">
                  <a:moveTo>
                    <a:pt x="1134735" y="236323"/>
                  </a:moveTo>
                  <a:lnTo>
                    <a:pt x="1127867" y="267002"/>
                  </a:lnTo>
                  <a:lnTo>
                    <a:pt x="1109147" y="292040"/>
                  </a:lnTo>
                  <a:lnTo>
                    <a:pt x="1081405" y="308913"/>
                  </a:lnTo>
                  <a:lnTo>
                    <a:pt x="1047470" y="315098"/>
                  </a:lnTo>
                  <a:lnTo>
                    <a:pt x="87289" y="315098"/>
                  </a:lnTo>
                  <a:lnTo>
                    <a:pt x="53320" y="308913"/>
                  </a:lnTo>
                  <a:lnTo>
                    <a:pt x="25573" y="292040"/>
                  </a:lnTo>
                  <a:lnTo>
                    <a:pt x="6862" y="267002"/>
                  </a:lnTo>
                  <a:lnTo>
                    <a:pt x="0" y="236323"/>
                  </a:lnTo>
                  <a:lnTo>
                    <a:pt x="0" y="78774"/>
                  </a:lnTo>
                  <a:lnTo>
                    <a:pt x="6862" y="48095"/>
                  </a:lnTo>
                  <a:lnTo>
                    <a:pt x="25573" y="23057"/>
                  </a:lnTo>
                  <a:lnTo>
                    <a:pt x="53320" y="6185"/>
                  </a:lnTo>
                  <a:lnTo>
                    <a:pt x="87289" y="0"/>
                  </a:lnTo>
                  <a:lnTo>
                    <a:pt x="1047470" y="0"/>
                  </a:lnTo>
                  <a:lnTo>
                    <a:pt x="1081405" y="6185"/>
                  </a:lnTo>
                  <a:lnTo>
                    <a:pt x="1109147" y="23057"/>
                  </a:lnTo>
                  <a:lnTo>
                    <a:pt x="1127867" y="48095"/>
                  </a:lnTo>
                  <a:lnTo>
                    <a:pt x="1134735" y="78774"/>
                  </a:lnTo>
                  <a:lnTo>
                    <a:pt x="1134735" y="236323"/>
                  </a:lnTo>
                  <a:close/>
                </a:path>
              </a:pathLst>
            </a:custGeom>
            <a:ln w="10752">
              <a:solidFill>
                <a:srgbClr val="08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71238" y="1538114"/>
              <a:ext cx="436434" cy="12319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27622" y="1539755"/>
              <a:ext cx="242766" cy="96936"/>
            </a:xfrm>
            <a:prstGeom prst="rect">
              <a:avLst/>
            </a:prstGeom>
          </p:spPr>
        </p:pic>
      </p:grpSp>
      <p:pic>
        <p:nvPicPr>
          <p:cNvPr id="61" name="object 6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72186" y="1833932"/>
            <a:ext cx="1145505" cy="325977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172186" y="2227914"/>
            <a:ext cx="1145505" cy="325977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172186" y="2621896"/>
            <a:ext cx="1145505" cy="325867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172186" y="3015879"/>
            <a:ext cx="1145505" cy="325867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172186" y="3409751"/>
            <a:ext cx="1145505" cy="325977"/>
          </a:xfrm>
          <a:prstGeom prst="rect">
            <a:avLst/>
          </a:prstGeom>
        </p:spPr>
      </p:pic>
      <p:grpSp>
        <p:nvGrpSpPr>
          <p:cNvPr id="66" name="object 66"/>
          <p:cNvGrpSpPr/>
          <p:nvPr/>
        </p:nvGrpSpPr>
        <p:grpSpPr>
          <a:xfrm>
            <a:off x="1172186" y="3803734"/>
            <a:ext cx="1145540" cy="326390"/>
            <a:chOff x="1172186" y="3803734"/>
            <a:chExt cx="1145540" cy="326390"/>
          </a:xfrm>
        </p:grpSpPr>
        <p:sp>
          <p:nvSpPr>
            <p:cNvPr id="67" name="object 67"/>
            <p:cNvSpPr/>
            <p:nvPr/>
          </p:nvSpPr>
          <p:spPr>
            <a:xfrm>
              <a:off x="1177570" y="3809118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5">
                  <a:moveTo>
                    <a:pt x="1047470" y="0"/>
                  </a:moveTo>
                  <a:lnTo>
                    <a:pt x="87289" y="0"/>
                  </a:lnTo>
                  <a:lnTo>
                    <a:pt x="53320" y="6185"/>
                  </a:lnTo>
                  <a:lnTo>
                    <a:pt x="25573" y="23057"/>
                  </a:lnTo>
                  <a:lnTo>
                    <a:pt x="6862" y="48095"/>
                  </a:lnTo>
                  <a:lnTo>
                    <a:pt x="0" y="78774"/>
                  </a:lnTo>
                  <a:lnTo>
                    <a:pt x="0" y="236323"/>
                  </a:lnTo>
                  <a:lnTo>
                    <a:pt x="6862" y="267002"/>
                  </a:lnTo>
                  <a:lnTo>
                    <a:pt x="25573" y="292040"/>
                  </a:lnTo>
                  <a:lnTo>
                    <a:pt x="53320" y="308913"/>
                  </a:lnTo>
                  <a:lnTo>
                    <a:pt x="87289" y="315098"/>
                  </a:lnTo>
                  <a:lnTo>
                    <a:pt x="1047470" y="315098"/>
                  </a:lnTo>
                  <a:lnTo>
                    <a:pt x="1081405" y="308913"/>
                  </a:lnTo>
                  <a:lnTo>
                    <a:pt x="1109147" y="292040"/>
                  </a:lnTo>
                  <a:lnTo>
                    <a:pt x="1127867" y="267002"/>
                  </a:lnTo>
                  <a:lnTo>
                    <a:pt x="1134735" y="236323"/>
                  </a:lnTo>
                  <a:lnTo>
                    <a:pt x="1134735" y="78774"/>
                  </a:lnTo>
                  <a:lnTo>
                    <a:pt x="1127867" y="48095"/>
                  </a:lnTo>
                  <a:lnTo>
                    <a:pt x="1109147" y="23057"/>
                  </a:lnTo>
                  <a:lnTo>
                    <a:pt x="1081405" y="6185"/>
                  </a:lnTo>
                  <a:lnTo>
                    <a:pt x="10474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177570" y="3809118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5">
                  <a:moveTo>
                    <a:pt x="1134735" y="236323"/>
                  </a:moveTo>
                  <a:lnTo>
                    <a:pt x="1127867" y="267002"/>
                  </a:lnTo>
                  <a:lnTo>
                    <a:pt x="1109147" y="292040"/>
                  </a:lnTo>
                  <a:lnTo>
                    <a:pt x="1081405" y="308913"/>
                  </a:lnTo>
                  <a:lnTo>
                    <a:pt x="1047470" y="315098"/>
                  </a:lnTo>
                  <a:lnTo>
                    <a:pt x="87289" y="315098"/>
                  </a:lnTo>
                  <a:lnTo>
                    <a:pt x="53320" y="308913"/>
                  </a:lnTo>
                  <a:lnTo>
                    <a:pt x="25573" y="292040"/>
                  </a:lnTo>
                  <a:lnTo>
                    <a:pt x="6862" y="267002"/>
                  </a:lnTo>
                  <a:lnTo>
                    <a:pt x="0" y="236323"/>
                  </a:lnTo>
                  <a:lnTo>
                    <a:pt x="0" y="78774"/>
                  </a:lnTo>
                  <a:lnTo>
                    <a:pt x="6862" y="48095"/>
                  </a:lnTo>
                  <a:lnTo>
                    <a:pt x="25573" y="23057"/>
                  </a:lnTo>
                  <a:lnTo>
                    <a:pt x="53320" y="6185"/>
                  </a:lnTo>
                  <a:lnTo>
                    <a:pt x="87289" y="0"/>
                  </a:lnTo>
                  <a:lnTo>
                    <a:pt x="1047470" y="0"/>
                  </a:lnTo>
                  <a:lnTo>
                    <a:pt x="1081405" y="6185"/>
                  </a:lnTo>
                  <a:lnTo>
                    <a:pt x="1109147" y="23057"/>
                  </a:lnTo>
                  <a:lnTo>
                    <a:pt x="1127867" y="48095"/>
                  </a:lnTo>
                  <a:lnTo>
                    <a:pt x="1134735" y="78774"/>
                  </a:lnTo>
                  <a:lnTo>
                    <a:pt x="1134735" y="236323"/>
                  </a:lnTo>
                  <a:close/>
                </a:path>
              </a:pathLst>
            </a:custGeom>
            <a:ln w="10752">
              <a:solidFill>
                <a:srgbClr val="08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455788" y="3901033"/>
              <a:ext cx="531495" cy="125095"/>
            </a:xfrm>
            <a:custGeom>
              <a:avLst/>
              <a:gdLst/>
              <a:ahLst/>
              <a:cxnLst/>
              <a:rect l="l" t="t" r="r" b="b"/>
              <a:pathLst>
                <a:path w="531494" h="125095">
                  <a:moveTo>
                    <a:pt x="85471" y="60718"/>
                  </a:moveTo>
                  <a:lnTo>
                    <a:pt x="58191" y="43535"/>
                  </a:lnTo>
                  <a:lnTo>
                    <a:pt x="40919" y="39382"/>
                  </a:lnTo>
                  <a:lnTo>
                    <a:pt x="33655" y="37744"/>
                  </a:lnTo>
                  <a:lnTo>
                    <a:pt x="29108" y="36969"/>
                  </a:lnTo>
                  <a:lnTo>
                    <a:pt x="27292" y="35331"/>
                  </a:lnTo>
                  <a:lnTo>
                    <a:pt x="23647" y="33693"/>
                  </a:lnTo>
                  <a:lnTo>
                    <a:pt x="21831" y="31178"/>
                  </a:lnTo>
                  <a:lnTo>
                    <a:pt x="21831" y="24612"/>
                  </a:lnTo>
                  <a:lnTo>
                    <a:pt x="23647" y="21336"/>
                  </a:lnTo>
                  <a:lnTo>
                    <a:pt x="27292" y="19685"/>
                  </a:lnTo>
                  <a:lnTo>
                    <a:pt x="30010" y="17284"/>
                  </a:lnTo>
                  <a:lnTo>
                    <a:pt x="34556" y="16408"/>
                  </a:lnTo>
                  <a:lnTo>
                    <a:pt x="45466" y="16408"/>
                  </a:lnTo>
                  <a:lnTo>
                    <a:pt x="50012" y="17284"/>
                  </a:lnTo>
                  <a:lnTo>
                    <a:pt x="52743" y="18923"/>
                  </a:lnTo>
                  <a:lnTo>
                    <a:pt x="58191" y="21336"/>
                  </a:lnTo>
                  <a:lnTo>
                    <a:pt x="60921" y="25488"/>
                  </a:lnTo>
                  <a:lnTo>
                    <a:pt x="60921" y="30416"/>
                  </a:lnTo>
                  <a:lnTo>
                    <a:pt x="81838" y="30416"/>
                  </a:lnTo>
                  <a:lnTo>
                    <a:pt x="81838" y="20561"/>
                  </a:lnTo>
                  <a:lnTo>
                    <a:pt x="79298" y="16408"/>
                  </a:lnTo>
                  <a:lnTo>
                    <a:pt x="77292" y="13119"/>
                  </a:lnTo>
                  <a:lnTo>
                    <a:pt x="41833" y="0"/>
                  </a:lnTo>
                  <a:lnTo>
                    <a:pt x="32791" y="482"/>
                  </a:lnTo>
                  <a:lnTo>
                    <a:pt x="1828" y="21336"/>
                  </a:lnTo>
                  <a:lnTo>
                    <a:pt x="1828" y="38620"/>
                  </a:lnTo>
                  <a:lnTo>
                    <a:pt x="34556" y="56667"/>
                  </a:lnTo>
                  <a:lnTo>
                    <a:pt x="52743" y="60718"/>
                  </a:lnTo>
                  <a:lnTo>
                    <a:pt x="57289" y="61595"/>
                  </a:lnTo>
                  <a:lnTo>
                    <a:pt x="62738" y="64871"/>
                  </a:lnTo>
                  <a:lnTo>
                    <a:pt x="64554" y="67284"/>
                  </a:lnTo>
                  <a:lnTo>
                    <a:pt x="64554" y="76365"/>
                  </a:lnTo>
                  <a:lnTo>
                    <a:pt x="61836" y="79641"/>
                  </a:lnTo>
                  <a:lnTo>
                    <a:pt x="55473" y="81280"/>
                  </a:lnTo>
                  <a:lnTo>
                    <a:pt x="51828" y="82931"/>
                  </a:lnTo>
                  <a:lnTo>
                    <a:pt x="34556" y="82931"/>
                  </a:lnTo>
                  <a:lnTo>
                    <a:pt x="28194" y="81280"/>
                  </a:lnTo>
                  <a:lnTo>
                    <a:pt x="24561" y="77127"/>
                  </a:lnTo>
                  <a:lnTo>
                    <a:pt x="22745" y="75488"/>
                  </a:lnTo>
                  <a:lnTo>
                    <a:pt x="21831" y="72199"/>
                  </a:lnTo>
                  <a:lnTo>
                    <a:pt x="20916" y="67284"/>
                  </a:lnTo>
                  <a:lnTo>
                    <a:pt x="0" y="67284"/>
                  </a:lnTo>
                  <a:lnTo>
                    <a:pt x="25692" y="97078"/>
                  </a:lnTo>
                  <a:lnTo>
                    <a:pt x="43649" y="99339"/>
                  </a:lnTo>
                  <a:lnTo>
                    <a:pt x="52997" y="98755"/>
                  </a:lnTo>
                  <a:lnTo>
                    <a:pt x="53149" y="98755"/>
                  </a:lnTo>
                  <a:lnTo>
                    <a:pt x="60972" y="97078"/>
                  </a:lnTo>
                  <a:lnTo>
                    <a:pt x="61214" y="97078"/>
                  </a:lnTo>
                  <a:lnTo>
                    <a:pt x="68580" y="94119"/>
                  </a:lnTo>
                  <a:lnTo>
                    <a:pt x="74574" y="90258"/>
                  </a:lnTo>
                  <a:lnTo>
                    <a:pt x="81838" y="85331"/>
                  </a:lnTo>
                  <a:lnTo>
                    <a:pt x="83032" y="82931"/>
                  </a:lnTo>
                  <a:lnTo>
                    <a:pt x="85471" y="78003"/>
                  </a:lnTo>
                  <a:lnTo>
                    <a:pt x="85471" y="60718"/>
                  </a:lnTo>
                  <a:close/>
                </a:path>
                <a:path w="531494" h="125095">
                  <a:moveTo>
                    <a:pt x="135483" y="27889"/>
                  </a:moveTo>
                  <a:lnTo>
                    <a:pt x="123672" y="27889"/>
                  </a:lnTo>
                  <a:lnTo>
                    <a:pt x="123672" y="8204"/>
                  </a:lnTo>
                  <a:lnTo>
                    <a:pt x="103657" y="8204"/>
                  </a:lnTo>
                  <a:lnTo>
                    <a:pt x="103657" y="27889"/>
                  </a:lnTo>
                  <a:lnTo>
                    <a:pt x="92748" y="27889"/>
                  </a:lnTo>
                  <a:lnTo>
                    <a:pt x="92748" y="41021"/>
                  </a:lnTo>
                  <a:lnTo>
                    <a:pt x="103657" y="41021"/>
                  </a:lnTo>
                  <a:lnTo>
                    <a:pt x="103657" y="87845"/>
                  </a:lnTo>
                  <a:lnTo>
                    <a:pt x="104571" y="91135"/>
                  </a:lnTo>
                  <a:lnTo>
                    <a:pt x="106387" y="93535"/>
                  </a:lnTo>
                  <a:lnTo>
                    <a:pt x="110020" y="96824"/>
                  </a:lnTo>
                  <a:lnTo>
                    <a:pt x="116382" y="97701"/>
                  </a:lnTo>
                  <a:lnTo>
                    <a:pt x="135483" y="97701"/>
                  </a:lnTo>
                  <a:lnTo>
                    <a:pt x="135483" y="83693"/>
                  </a:lnTo>
                  <a:lnTo>
                    <a:pt x="125488" y="83693"/>
                  </a:lnTo>
                  <a:lnTo>
                    <a:pt x="124574" y="82931"/>
                  </a:lnTo>
                  <a:lnTo>
                    <a:pt x="123672" y="82054"/>
                  </a:lnTo>
                  <a:lnTo>
                    <a:pt x="123672" y="41021"/>
                  </a:lnTo>
                  <a:lnTo>
                    <a:pt x="135483" y="41021"/>
                  </a:lnTo>
                  <a:lnTo>
                    <a:pt x="135483" y="27889"/>
                  </a:lnTo>
                  <a:close/>
                </a:path>
                <a:path w="531494" h="125095">
                  <a:moveTo>
                    <a:pt x="222770" y="62357"/>
                  </a:moveTo>
                  <a:lnTo>
                    <a:pt x="222262" y="55029"/>
                  </a:lnTo>
                  <a:lnTo>
                    <a:pt x="222250" y="54825"/>
                  </a:lnTo>
                  <a:lnTo>
                    <a:pt x="220611" y="48044"/>
                  </a:lnTo>
                  <a:lnTo>
                    <a:pt x="201853" y="28041"/>
                  </a:lnTo>
                  <a:lnTo>
                    <a:pt x="201853" y="68922"/>
                  </a:lnTo>
                  <a:lnTo>
                    <a:pt x="200037" y="74726"/>
                  </a:lnTo>
                  <a:lnTo>
                    <a:pt x="197307" y="78003"/>
                  </a:lnTo>
                  <a:lnTo>
                    <a:pt x="193675" y="82054"/>
                  </a:lnTo>
                  <a:lnTo>
                    <a:pt x="189128" y="83693"/>
                  </a:lnTo>
                  <a:lnTo>
                    <a:pt x="177317" y="83693"/>
                  </a:lnTo>
                  <a:lnTo>
                    <a:pt x="172770" y="82054"/>
                  </a:lnTo>
                  <a:lnTo>
                    <a:pt x="170040" y="78003"/>
                  </a:lnTo>
                  <a:lnTo>
                    <a:pt x="166395" y="74726"/>
                  </a:lnTo>
                  <a:lnTo>
                    <a:pt x="165582" y="69583"/>
                  </a:lnTo>
                  <a:lnTo>
                    <a:pt x="165519" y="54825"/>
                  </a:lnTo>
                  <a:lnTo>
                    <a:pt x="166395" y="50101"/>
                  </a:lnTo>
                  <a:lnTo>
                    <a:pt x="170040" y="45948"/>
                  </a:lnTo>
                  <a:lnTo>
                    <a:pt x="172770" y="41897"/>
                  </a:lnTo>
                  <a:lnTo>
                    <a:pt x="177317" y="40259"/>
                  </a:lnTo>
                  <a:lnTo>
                    <a:pt x="189128" y="40259"/>
                  </a:lnTo>
                  <a:lnTo>
                    <a:pt x="201853" y="68922"/>
                  </a:lnTo>
                  <a:lnTo>
                    <a:pt x="201853" y="28041"/>
                  </a:lnTo>
                  <a:lnTo>
                    <a:pt x="201053" y="27609"/>
                  </a:lnTo>
                  <a:lnTo>
                    <a:pt x="193090" y="25374"/>
                  </a:lnTo>
                  <a:lnTo>
                    <a:pt x="183680" y="24612"/>
                  </a:lnTo>
                  <a:lnTo>
                    <a:pt x="174256" y="25374"/>
                  </a:lnTo>
                  <a:lnTo>
                    <a:pt x="145097" y="54825"/>
                  </a:lnTo>
                  <a:lnTo>
                    <a:pt x="144576" y="62357"/>
                  </a:lnTo>
                  <a:lnTo>
                    <a:pt x="145046" y="68922"/>
                  </a:lnTo>
                  <a:lnTo>
                    <a:pt x="174256" y="98590"/>
                  </a:lnTo>
                  <a:lnTo>
                    <a:pt x="183680" y="99339"/>
                  </a:lnTo>
                  <a:lnTo>
                    <a:pt x="193090" y="98590"/>
                  </a:lnTo>
                  <a:lnTo>
                    <a:pt x="222250" y="69583"/>
                  </a:lnTo>
                  <a:lnTo>
                    <a:pt x="222770" y="62357"/>
                  </a:lnTo>
                  <a:close/>
                </a:path>
                <a:path w="531494" h="125095">
                  <a:moveTo>
                    <a:pt x="282778" y="25488"/>
                  </a:moveTo>
                  <a:lnTo>
                    <a:pt x="280047" y="25488"/>
                  </a:lnTo>
                  <a:lnTo>
                    <a:pt x="273685" y="25488"/>
                  </a:lnTo>
                  <a:lnTo>
                    <a:pt x="269151" y="27127"/>
                  </a:lnTo>
                  <a:lnTo>
                    <a:pt x="265493" y="29540"/>
                  </a:lnTo>
                  <a:lnTo>
                    <a:pt x="262775" y="31178"/>
                  </a:lnTo>
                  <a:lnTo>
                    <a:pt x="260045" y="34455"/>
                  </a:lnTo>
                  <a:lnTo>
                    <a:pt x="257314" y="39382"/>
                  </a:lnTo>
                  <a:lnTo>
                    <a:pt x="257314" y="27127"/>
                  </a:lnTo>
                  <a:lnTo>
                    <a:pt x="237312" y="27127"/>
                  </a:lnTo>
                  <a:lnTo>
                    <a:pt x="237312" y="96824"/>
                  </a:lnTo>
                  <a:lnTo>
                    <a:pt x="258229" y="96824"/>
                  </a:lnTo>
                  <a:lnTo>
                    <a:pt x="258229" y="58305"/>
                  </a:lnTo>
                  <a:lnTo>
                    <a:pt x="259130" y="54152"/>
                  </a:lnTo>
                  <a:lnTo>
                    <a:pt x="260045" y="50876"/>
                  </a:lnTo>
                  <a:lnTo>
                    <a:pt x="262775" y="46824"/>
                  </a:lnTo>
                  <a:lnTo>
                    <a:pt x="268224" y="44310"/>
                  </a:lnTo>
                  <a:lnTo>
                    <a:pt x="282778" y="44310"/>
                  </a:lnTo>
                  <a:lnTo>
                    <a:pt x="282778" y="25488"/>
                  </a:lnTo>
                  <a:close/>
                </a:path>
                <a:path w="531494" h="125095">
                  <a:moveTo>
                    <a:pt x="360972" y="94411"/>
                  </a:moveTo>
                  <a:lnTo>
                    <a:pt x="360057" y="93535"/>
                  </a:lnTo>
                  <a:lnTo>
                    <a:pt x="359156" y="92773"/>
                  </a:lnTo>
                  <a:lnTo>
                    <a:pt x="358241" y="91897"/>
                  </a:lnTo>
                  <a:lnTo>
                    <a:pt x="357327" y="91135"/>
                  </a:lnTo>
                  <a:lnTo>
                    <a:pt x="357327" y="88620"/>
                  </a:lnTo>
                  <a:lnTo>
                    <a:pt x="357327" y="85331"/>
                  </a:lnTo>
                  <a:lnTo>
                    <a:pt x="357327" y="63233"/>
                  </a:lnTo>
                  <a:lnTo>
                    <a:pt x="357327" y="40259"/>
                  </a:lnTo>
                  <a:lnTo>
                    <a:pt x="357327" y="38620"/>
                  </a:lnTo>
                  <a:lnTo>
                    <a:pt x="353695" y="32816"/>
                  </a:lnTo>
                  <a:lnTo>
                    <a:pt x="347332" y="30416"/>
                  </a:lnTo>
                  <a:lnTo>
                    <a:pt x="340969" y="27127"/>
                  </a:lnTo>
                  <a:lnTo>
                    <a:pt x="333692" y="25488"/>
                  </a:lnTo>
                  <a:lnTo>
                    <a:pt x="324612" y="25488"/>
                  </a:lnTo>
                  <a:lnTo>
                    <a:pt x="315734" y="26085"/>
                  </a:lnTo>
                  <a:lnTo>
                    <a:pt x="291871" y="43535"/>
                  </a:lnTo>
                  <a:lnTo>
                    <a:pt x="291871" y="50101"/>
                  </a:lnTo>
                  <a:lnTo>
                    <a:pt x="310959" y="50101"/>
                  </a:lnTo>
                  <a:lnTo>
                    <a:pt x="311873" y="46824"/>
                  </a:lnTo>
                  <a:lnTo>
                    <a:pt x="313690" y="43535"/>
                  </a:lnTo>
                  <a:lnTo>
                    <a:pt x="316420" y="41021"/>
                  </a:lnTo>
                  <a:lnTo>
                    <a:pt x="319151" y="40259"/>
                  </a:lnTo>
                  <a:lnTo>
                    <a:pt x="328244" y="40259"/>
                  </a:lnTo>
                  <a:lnTo>
                    <a:pt x="331876" y="41021"/>
                  </a:lnTo>
                  <a:lnTo>
                    <a:pt x="333692" y="41897"/>
                  </a:lnTo>
                  <a:lnTo>
                    <a:pt x="335521" y="42659"/>
                  </a:lnTo>
                  <a:lnTo>
                    <a:pt x="337337" y="45186"/>
                  </a:lnTo>
                  <a:lnTo>
                    <a:pt x="337337" y="50101"/>
                  </a:lnTo>
                  <a:lnTo>
                    <a:pt x="337337" y="63233"/>
                  </a:lnTo>
                  <a:lnTo>
                    <a:pt x="337210" y="70561"/>
                  </a:lnTo>
                  <a:lnTo>
                    <a:pt x="336423" y="75488"/>
                  </a:lnTo>
                  <a:lnTo>
                    <a:pt x="334606" y="79641"/>
                  </a:lnTo>
                  <a:lnTo>
                    <a:pt x="330974" y="82054"/>
                  </a:lnTo>
                  <a:lnTo>
                    <a:pt x="327329" y="84569"/>
                  </a:lnTo>
                  <a:lnTo>
                    <a:pt x="323697" y="85331"/>
                  </a:lnTo>
                  <a:lnTo>
                    <a:pt x="314591" y="85331"/>
                  </a:lnTo>
                  <a:lnTo>
                    <a:pt x="312775" y="83693"/>
                  </a:lnTo>
                  <a:lnTo>
                    <a:pt x="310045" y="82054"/>
                  </a:lnTo>
                  <a:lnTo>
                    <a:pt x="309143" y="79641"/>
                  </a:lnTo>
                  <a:lnTo>
                    <a:pt x="309143" y="73075"/>
                  </a:lnTo>
                  <a:lnTo>
                    <a:pt x="323697" y="66509"/>
                  </a:lnTo>
                  <a:lnTo>
                    <a:pt x="328244" y="65646"/>
                  </a:lnTo>
                  <a:lnTo>
                    <a:pt x="330060" y="65646"/>
                  </a:lnTo>
                  <a:lnTo>
                    <a:pt x="331876" y="64871"/>
                  </a:lnTo>
                  <a:lnTo>
                    <a:pt x="332790" y="64871"/>
                  </a:lnTo>
                  <a:lnTo>
                    <a:pt x="334606" y="63995"/>
                  </a:lnTo>
                  <a:lnTo>
                    <a:pt x="335521" y="63995"/>
                  </a:lnTo>
                  <a:lnTo>
                    <a:pt x="337337" y="63233"/>
                  </a:lnTo>
                  <a:lnTo>
                    <a:pt x="337337" y="50101"/>
                  </a:lnTo>
                  <a:lnTo>
                    <a:pt x="335521" y="51739"/>
                  </a:lnTo>
                  <a:lnTo>
                    <a:pt x="332790" y="52514"/>
                  </a:lnTo>
                  <a:lnTo>
                    <a:pt x="330974" y="53390"/>
                  </a:lnTo>
                  <a:lnTo>
                    <a:pt x="328244" y="54152"/>
                  </a:lnTo>
                  <a:lnTo>
                    <a:pt x="324612" y="54152"/>
                  </a:lnTo>
                  <a:lnTo>
                    <a:pt x="318236" y="55029"/>
                  </a:lnTo>
                  <a:lnTo>
                    <a:pt x="310045" y="55791"/>
                  </a:lnTo>
                  <a:lnTo>
                    <a:pt x="304596" y="57429"/>
                  </a:lnTo>
                  <a:lnTo>
                    <a:pt x="300050" y="59956"/>
                  </a:lnTo>
                  <a:lnTo>
                    <a:pt x="292785" y="63233"/>
                  </a:lnTo>
                  <a:lnTo>
                    <a:pt x="289140" y="69799"/>
                  </a:lnTo>
                  <a:lnTo>
                    <a:pt x="289140" y="84569"/>
                  </a:lnTo>
                  <a:lnTo>
                    <a:pt x="291871" y="90258"/>
                  </a:lnTo>
                  <a:lnTo>
                    <a:pt x="300964" y="96824"/>
                  </a:lnTo>
                  <a:lnTo>
                    <a:pt x="306412" y="98463"/>
                  </a:lnTo>
                  <a:lnTo>
                    <a:pt x="319151" y="98463"/>
                  </a:lnTo>
                  <a:lnTo>
                    <a:pt x="323697" y="97701"/>
                  </a:lnTo>
                  <a:lnTo>
                    <a:pt x="328244" y="95186"/>
                  </a:lnTo>
                  <a:lnTo>
                    <a:pt x="331876" y="93535"/>
                  </a:lnTo>
                  <a:lnTo>
                    <a:pt x="334606" y="91135"/>
                  </a:lnTo>
                  <a:lnTo>
                    <a:pt x="337337" y="88620"/>
                  </a:lnTo>
                  <a:lnTo>
                    <a:pt x="338239" y="90258"/>
                  </a:lnTo>
                  <a:lnTo>
                    <a:pt x="338239" y="94411"/>
                  </a:lnTo>
                  <a:lnTo>
                    <a:pt x="339153" y="95186"/>
                  </a:lnTo>
                  <a:lnTo>
                    <a:pt x="339153" y="96824"/>
                  </a:lnTo>
                  <a:lnTo>
                    <a:pt x="360972" y="96824"/>
                  </a:lnTo>
                  <a:lnTo>
                    <a:pt x="360972" y="94411"/>
                  </a:lnTo>
                  <a:close/>
                </a:path>
                <a:path w="531494" h="125095">
                  <a:moveTo>
                    <a:pt x="444665" y="27127"/>
                  </a:moveTo>
                  <a:lnTo>
                    <a:pt x="425513" y="27127"/>
                  </a:lnTo>
                  <a:lnTo>
                    <a:pt x="425513" y="36969"/>
                  </a:lnTo>
                  <a:lnTo>
                    <a:pt x="425513" y="68922"/>
                  </a:lnTo>
                  <a:lnTo>
                    <a:pt x="423697" y="73850"/>
                  </a:lnTo>
                  <a:lnTo>
                    <a:pt x="420065" y="77127"/>
                  </a:lnTo>
                  <a:lnTo>
                    <a:pt x="417398" y="80416"/>
                  </a:lnTo>
                  <a:lnTo>
                    <a:pt x="412788" y="82054"/>
                  </a:lnTo>
                  <a:lnTo>
                    <a:pt x="401040" y="82054"/>
                  </a:lnTo>
                  <a:lnTo>
                    <a:pt x="396430" y="78765"/>
                  </a:lnTo>
                  <a:lnTo>
                    <a:pt x="393763" y="73075"/>
                  </a:lnTo>
                  <a:lnTo>
                    <a:pt x="391909" y="69938"/>
                  </a:lnTo>
                  <a:lnTo>
                    <a:pt x="391820" y="53390"/>
                  </a:lnTo>
                  <a:lnTo>
                    <a:pt x="393763" y="50101"/>
                  </a:lnTo>
                  <a:lnTo>
                    <a:pt x="396430" y="44310"/>
                  </a:lnTo>
                  <a:lnTo>
                    <a:pt x="401040" y="41897"/>
                  </a:lnTo>
                  <a:lnTo>
                    <a:pt x="413766" y="41897"/>
                  </a:lnTo>
                  <a:lnTo>
                    <a:pt x="425513" y="68922"/>
                  </a:lnTo>
                  <a:lnTo>
                    <a:pt x="425513" y="36969"/>
                  </a:lnTo>
                  <a:lnTo>
                    <a:pt x="407339" y="25488"/>
                  </a:lnTo>
                  <a:lnTo>
                    <a:pt x="403707" y="25488"/>
                  </a:lnTo>
                  <a:lnTo>
                    <a:pt x="372999" y="48044"/>
                  </a:lnTo>
                  <a:lnTo>
                    <a:pt x="370979" y="62357"/>
                  </a:lnTo>
                  <a:lnTo>
                    <a:pt x="371411" y="68922"/>
                  </a:lnTo>
                  <a:lnTo>
                    <a:pt x="371475" y="69938"/>
                  </a:lnTo>
                  <a:lnTo>
                    <a:pt x="403707" y="96824"/>
                  </a:lnTo>
                  <a:lnTo>
                    <a:pt x="410121" y="96824"/>
                  </a:lnTo>
                  <a:lnTo>
                    <a:pt x="414616" y="96062"/>
                  </a:lnTo>
                  <a:lnTo>
                    <a:pt x="419214" y="92773"/>
                  </a:lnTo>
                  <a:lnTo>
                    <a:pt x="422859" y="89496"/>
                  </a:lnTo>
                  <a:lnTo>
                    <a:pt x="424675" y="86207"/>
                  </a:lnTo>
                  <a:lnTo>
                    <a:pt x="424675" y="101739"/>
                  </a:lnTo>
                  <a:lnTo>
                    <a:pt x="422859" y="105029"/>
                  </a:lnTo>
                  <a:lnTo>
                    <a:pt x="420065" y="109181"/>
                  </a:lnTo>
                  <a:lnTo>
                    <a:pt x="415582" y="111594"/>
                  </a:lnTo>
                  <a:lnTo>
                    <a:pt x="402856" y="111594"/>
                  </a:lnTo>
                  <a:lnTo>
                    <a:pt x="399224" y="110832"/>
                  </a:lnTo>
                  <a:lnTo>
                    <a:pt x="397395" y="109181"/>
                  </a:lnTo>
                  <a:lnTo>
                    <a:pt x="395579" y="108305"/>
                  </a:lnTo>
                  <a:lnTo>
                    <a:pt x="394614" y="106667"/>
                  </a:lnTo>
                  <a:lnTo>
                    <a:pt x="394614" y="104267"/>
                  </a:lnTo>
                  <a:lnTo>
                    <a:pt x="372795" y="104267"/>
                  </a:lnTo>
                  <a:lnTo>
                    <a:pt x="372795" y="110832"/>
                  </a:lnTo>
                  <a:lnTo>
                    <a:pt x="376428" y="116509"/>
                  </a:lnTo>
                  <a:lnTo>
                    <a:pt x="389153" y="123075"/>
                  </a:lnTo>
                  <a:lnTo>
                    <a:pt x="397395" y="124726"/>
                  </a:lnTo>
                  <a:lnTo>
                    <a:pt x="407339" y="124726"/>
                  </a:lnTo>
                  <a:lnTo>
                    <a:pt x="443699" y="109181"/>
                  </a:lnTo>
                  <a:lnTo>
                    <a:pt x="444665" y="101739"/>
                  </a:lnTo>
                  <a:lnTo>
                    <a:pt x="444665" y="86207"/>
                  </a:lnTo>
                  <a:lnTo>
                    <a:pt x="444665" y="82054"/>
                  </a:lnTo>
                  <a:lnTo>
                    <a:pt x="444665" y="41897"/>
                  </a:lnTo>
                  <a:lnTo>
                    <a:pt x="444665" y="36969"/>
                  </a:lnTo>
                  <a:lnTo>
                    <a:pt x="444665" y="27127"/>
                  </a:lnTo>
                  <a:close/>
                </a:path>
                <a:path w="531494" h="125095">
                  <a:moveTo>
                    <a:pt x="530961" y="56667"/>
                  </a:moveTo>
                  <a:lnTo>
                    <a:pt x="530542" y="55029"/>
                  </a:lnTo>
                  <a:lnTo>
                    <a:pt x="530110" y="53390"/>
                  </a:lnTo>
                  <a:lnTo>
                    <a:pt x="529145" y="47586"/>
                  </a:lnTo>
                  <a:lnTo>
                    <a:pt x="527329" y="42659"/>
                  </a:lnTo>
                  <a:lnTo>
                    <a:pt x="525792" y="40347"/>
                  </a:lnTo>
                  <a:lnTo>
                    <a:pt x="524662" y="38620"/>
                  </a:lnTo>
                  <a:lnTo>
                    <a:pt x="521030" y="34455"/>
                  </a:lnTo>
                  <a:lnTo>
                    <a:pt x="517385" y="31178"/>
                  </a:lnTo>
                  <a:lnTo>
                    <a:pt x="511937" y="28765"/>
                  </a:lnTo>
                  <a:lnTo>
                    <a:pt x="510120" y="27940"/>
                  </a:lnTo>
                  <a:lnTo>
                    <a:pt x="510120" y="50101"/>
                  </a:lnTo>
                  <a:lnTo>
                    <a:pt x="510120" y="55029"/>
                  </a:lnTo>
                  <a:lnTo>
                    <a:pt x="479209" y="55029"/>
                  </a:lnTo>
                  <a:lnTo>
                    <a:pt x="489940" y="40347"/>
                  </a:lnTo>
                  <a:lnTo>
                    <a:pt x="499402" y="40347"/>
                  </a:lnTo>
                  <a:lnTo>
                    <a:pt x="502843" y="41897"/>
                  </a:lnTo>
                  <a:lnTo>
                    <a:pt x="508304" y="46824"/>
                  </a:lnTo>
                  <a:lnTo>
                    <a:pt x="510120" y="50101"/>
                  </a:lnTo>
                  <a:lnTo>
                    <a:pt x="510120" y="27940"/>
                  </a:lnTo>
                  <a:lnTo>
                    <a:pt x="506476" y="26250"/>
                  </a:lnTo>
                  <a:lnTo>
                    <a:pt x="501027" y="25488"/>
                  </a:lnTo>
                  <a:lnTo>
                    <a:pt x="494601" y="25488"/>
                  </a:lnTo>
                  <a:lnTo>
                    <a:pt x="460870" y="46672"/>
                  </a:lnTo>
                  <a:lnTo>
                    <a:pt x="458241" y="62357"/>
                  </a:lnTo>
                  <a:lnTo>
                    <a:pt x="458927" y="71450"/>
                  </a:lnTo>
                  <a:lnTo>
                    <a:pt x="488365" y="98729"/>
                  </a:lnTo>
                  <a:lnTo>
                    <a:pt x="495579" y="99339"/>
                  </a:lnTo>
                  <a:lnTo>
                    <a:pt x="503555" y="98729"/>
                  </a:lnTo>
                  <a:lnTo>
                    <a:pt x="503796" y="98729"/>
                  </a:lnTo>
                  <a:lnTo>
                    <a:pt x="511213" y="96761"/>
                  </a:lnTo>
                  <a:lnTo>
                    <a:pt x="517525" y="93433"/>
                  </a:lnTo>
                  <a:lnTo>
                    <a:pt x="527329" y="84569"/>
                  </a:lnTo>
                  <a:lnTo>
                    <a:pt x="530110" y="80416"/>
                  </a:lnTo>
                  <a:lnTo>
                    <a:pt x="530110" y="76365"/>
                  </a:lnTo>
                  <a:lnTo>
                    <a:pt x="510120" y="76365"/>
                  </a:lnTo>
                  <a:lnTo>
                    <a:pt x="508304" y="78003"/>
                  </a:lnTo>
                  <a:lnTo>
                    <a:pt x="507326" y="79641"/>
                  </a:lnTo>
                  <a:lnTo>
                    <a:pt x="503694" y="82931"/>
                  </a:lnTo>
                  <a:lnTo>
                    <a:pt x="500062" y="84569"/>
                  </a:lnTo>
                  <a:lnTo>
                    <a:pt x="491934" y="84569"/>
                  </a:lnTo>
                  <a:lnTo>
                    <a:pt x="488302" y="83693"/>
                  </a:lnTo>
                  <a:lnTo>
                    <a:pt x="485508" y="81280"/>
                  </a:lnTo>
                  <a:lnTo>
                    <a:pt x="481025" y="78765"/>
                  </a:lnTo>
                  <a:lnTo>
                    <a:pt x="479209" y="73850"/>
                  </a:lnTo>
                  <a:lnTo>
                    <a:pt x="478243" y="67284"/>
                  </a:lnTo>
                  <a:lnTo>
                    <a:pt x="530961" y="67284"/>
                  </a:lnTo>
                  <a:lnTo>
                    <a:pt x="530961" y="566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0" name="object 70"/>
          <p:cNvGrpSpPr/>
          <p:nvPr/>
        </p:nvGrpSpPr>
        <p:grpSpPr>
          <a:xfrm>
            <a:off x="1172186" y="4197716"/>
            <a:ext cx="1145540" cy="326390"/>
            <a:chOff x="1172186" y="4197716"/>
            <a:chExt cx="1145540" cy="326390"/>
          </a:xfrm>
        </p:grpSpPr>
        <p:sp>
          <p:nvSpPr>
            <p:cNvPr id="71" name="object 71"/>
            <p:cNvSpPr/>
            <p:nvPr/>
          </p:nvSpPr>
          <p:spPr>
            <a:xfrm>
              <a:off x="1177570" y="4203100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5">
                  <a:moveTo>
                    <a:pt x="1047470" y="0"/>
                  </a:moveTo>
                  <a:lnTo>
                    <a:pt x="87289" y="0"/>
                  </a:lnTo>
                  <a:lnTo>
                    <a:pt x="53320" y="6185"/>
                  </a:lnTo>
                  <a:lnTo>
                    <a:pt x="25573" y="23057"/>
                  </a:lnTo>
                  <a:lnTo>
                    <a:pt x="6862" y="48095"/>
                  </a:lnTo>
                  <a:lnTo>
                    <a:pt x="0" y="78774"/>
                  </a:lnTo>
                  <a:lnTo>
                    <a:pt x="0" y="236323"/>
                  </a:lnTo>
                  <a:lnTo>
                    <a:pt x="6862" y="267002"/>
                  </a:lnTo>
                  <a:lnTo>
                    <a:pt x="25573" y="292040"/>
                  </a:lnTo>
                  <a:lnTo>
                    <a:pt x="53320" y="308913"/>
                  </a:lnTo>
                  <a:lnTo>
                    <a:pt x="87289" y="315098"/>
                  </a:lnTo>
                  <a:lnTo>
                    <a:pt x="1047470" y="315098"/>
                  </a:lnTo>
                  <a:lnTo>
                    <a:pt x="1081405" y="308913"/>
                  </a:lnTo>
                  <a:lnTo>
                    <a:pt x="1109147" y="292040"/>
                  </a:lnTo>
                  <a:lnTo>
                    <a:pt x="1127867" y="267002"/>
                  </a:lnTo>
                  <a:lnTo>
                    <a:pt x="1134735" y="236323"/>
                  </a:lnTo>
                  <a:lnTo>
                    <a:pt x="1134735" y="78774"/>
                  </a:lnTo>
                  <a:lnTo>
                    <a:pt x="1127867" y="48095"/>
                  </a:lnTo>
                  <a:lnTo>
                    <a:pt x="1109147" y="23057"/>
                  </a:lnTo>
                  <a:lnTo>
                    <a:pt x="1081405" y="6185"/>
                  </a:lnTo>
                  <a:lnTo>
                    <a:pt x="10474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177570" y="4203100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5">
                  <a:moveTo>
                    <a:pt x="1134735" y="236323"/>
                  </a:moveTo>
                  <a:lnTo>
                    <a:pt x="1127867" y="267002"/>
                  </a:lnTo>
                  <a:lnTo>
                    <a:pt x="1109147" y="292040"/>
                  </a:lnTo>
                  <a:lnTo>
                    <a:pt x="1081405" y="308913"/>
                  </a:lnTo>
                  <a:lnTo>
                    <a:pt x="1047470" y="315098"/>
                  </a:lnTo>
                  <a:lnTo>
                    <a:pt x="87289" y="315098"/>
                  </a:lnTo>
                  <a:lnTo>
                    <a:pt x="53320" y="308913"/>
                  </a:lnTo>
                  <a:lnTo>
                    <a:pt x="25573" y="292040"/>
                  </a:lnTo>
                  <a:lnTo>
                    <a:pt x="6862" y="267002"/>
                  </a:lnTo>
                  <a:lnTo>
                    <a:pt x="0" y="236323"/>
                  </a:lnTo>
                  <a:lnTo>
                    <a:pt x="0" y="78774"/>
                  </a:lnTo>
                  <a:lnTo>
                    <a:pt x="6862" y="48095"/>
                  </a:lnTo>
                  <a:lnTo>
                    <a:pt x="25573" y="23057"/>
                  </a:lnTo>
                  <a:lnTo>
                    <a:pt x="53320" y="6185"/>
                  </a:lnTo>
                  <a:lnTo>
                    <a:pt x="87289" y="0"/>
                  </a:lnTo>
                  <a:lnTo>
                    <a:pt x="1047470" y="0"/>
                  </a:lnTo>
                  <a:lnTo>
                    <a:pt x="1081405" y="6185"/>
                  </a:lnTo>
                  <a:lnTo>
                    <a:pt x="1109147" y="23057"/>
                  </a:lnTo>
                  <a:lnTo>
                    <a:pt x="1127867" y="48095"/>
                  </a:lnTo>
                  <a:lnTo>
                    <a:pt x="1134735" y="78774"/>
                  </a:lnTo>
                  <a:lnTo>
                    <a:pt x="1134735" y="236323"/>
                  </a:lnTo>
                  <a:close/>
                </a:path>
              </a:pathLst>
            </a:custGeom>
            <a:ln w="10752">
              <a:solidFill>
                <a:srgbClr val="08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335786" y="4297413"/>
              <a:ext cx="593090" cy="97155"/>
            </a:xfrm>
            <a:custGeom>
              <a:avLst/>
              <a:gdLst/>
              <a:ahLst/>
              <a:cxnLst/>
              <a:rect l="l" t="t" r="r" b="b"/>
              <a:pathLst>
                <a:path w="593089" h="97154">
                  <a:moveTo>
                    <a:pt x="84543" y="0"/>
                  </a:moveTo>
                  <a:lnTo>
                    <a:pt x="63639" y="0"/>
                  </a:lnTo>
                  <a:lnTo>
                    <a:pt x="63639" y="65646"/>
                  </a:lnTo>
                  <a:lnTo>
                    <a:pt x="40106" y="27901"/>
                  </a:lnTo>
                  <a:lnTo>
                    <a:pt x="22720" y="0"/>
                  </a:lnTo>
                  <a:lnTo>
                    <a:pt x="0" y="0"/>
                  </a:lnTo>
                  <a:lnTo>
                    <a:pt x="0" y="94424"/>
                  </a:lnTo>
                  <a:lnTo>
                    <a:pt x="19989" y="94424"/>
                  </a:lnTo>
                  <a:lnTo>
                    <a:pt x="19989" y="27901"/>
                  </a:lnTo>
                  <a:lnTo>
                    <a:pt x="62725" y="94424"/>
                  </a:lnTo>
                  <a:lnTo>
                    <a:pt x="84543" y="94424"/>
                  </a:lnTo>
                  <a:lnTo>
                    <a:pt x="84543" y="65646"/>
                  </a:lnTo>
                  <a:lnTo>
                    <a:pt x="84543" y="0"/>
                  </a:lnTo>
                  <a:close/>
                </a:path>
                <a:path w="593089" h="97154">
                  <a:moveTo>
                    <a:pt x="170014" y="50876"/>
                  </a:moveTo>
                  <a:lnTo>
                    <a:pt x="169113" y="45186"/>
                  </a:lnTo>
                  <a:lnTo>
                    <a:pt x="166382" y="40271"/>
                  </a:lnTo>
                  <a:lnTo>
                    <a:pt x="164820" y="37896"/>
                  </a:lnTo>
                  <a:lnTo>
                    <a:pt x="164731" y="37757"/>
                  </a:lnTo>
                  <a:lnTo>
                    <a:pt x="149110" y="25463"/>
                  </a:lnTo>
                  <a:lnTo>
                    <a:pt x="149110" y="47599"/>
                  </a:lnTo>
                  <a:lnTo>
                    <a:pt x="149110" y="52527"/>
                  </a:lnTo>
                  <a:lnTo>
                    <a:pt x="118186" y="52527"/>
                  </a:lnTo>
                  <a:lnTo>
                    <a:pt x="120002" y="44310"/>
                  </a:lnTo>
                  <a:lnTo>
                    <a:pt x="122732" y="41910"/>
                  </a:lnTo>
                  <a:lnTo>
                    <a:pt x="125463" y="39395"/>
                  </a:lnTo>
                  <a:lnTo>
                    <a:pt x="129095" y="37757"/>
                  </a:lnTo>
                  <a:lnTo>
                    <a:pt x="138188" y="37757"/>
                  </a:lnTo>
                  <a:lnTo>
                    <a:pt x="141833" y="39395"/>
                  </a:lnTo>
                  <a:lnTo>
                    <a:pt x="144564" y="41910"/>
                  </a:lnTo>
                  <a:lnTo>
                    <a:pt x="147294" y="44310"/>
                  </a:lnTo>
                  <a:lnTo>
                    <a:pt x="149110" y="47599"/>
                  </a:lnTo>
                  <a:lnTo>
                    <a:pt x="149110" y="25463"/>
                  </a:lnTo>
                  <a:lnTo>
                    <a:pt x="145478" y="23850"/>
                  </a:lnTo>
                  <a:lnTo>
                    <a:pt x="140004" y="22987"/>
                  </a:lnTo>
                  <a:lnTo>
                    <a:pt x="133642" y="22987"/>
                  </a:lnTo>
                  <a:lnTo>
                    <a:pt x="103162" y="37757"/>
                  </a:lnTo>
                  <a:lnTo>
                    <a:pt x="103035" y="37896"/>
                  </a:lnTo>
                  <a:lnTo>
                    <a:pt x="99885" y="44310"/>
                  </a:lnTo>
                  <a:lnTo>
                    <a:pt x="97955" y="51689"/>
                  </a:lnTo>
                  <a:lnTo>
                    <a:pt x="97282" y="59956"/>
                  </a:lnTo>
                  <a:lnTo>
                    <a:pt x="97967" y="69049"/>
                  </a:lnTo>
                  <a:lnTo>
                    <a:pt x="127368" y="96227"/>
                  </a:lnTo>
                  <a:lnTo>
                    <a:pt x="134556" y="96837"/>
                  </a:lnTo>
                  <a:lnTo>
                    <a:pt x="142570" y="96227"/>
                  </a:lnTo>
                  <a:lnTo>
                    <a:pt x="142811" y="96227"/>
                  </a:lnTo>
                  <a:lnTo>
                    <a:pt x="169113" y="78016"/>
                  </a:lnTo>
                  <a:lnTo>
                    <a:pt x="169113" y="73850"/>
                  </a:lnTo>
                  <a:lnTo>
                    <a:pt x="149110" y="73850"/>
                  </a:lnTo>
                  <a:lnTo>
                    <a:pt x="147294" y="75501"/>
                  </a:lnTo>
                  <a:lnTo>
                    <a:pt x="146380" y="77139"/>
                  </a:lnTo>
                  <a:lnTo>
                    <a:pt x="142748" y="80416"/>
                  </a:lnTo>
                  <a:lnTo>
                    <a:pt x="139103" y="82067"/>
                  </a:lnTo>
                  <a:lnTo>
                    <a:pt x="130911" y="82067"/>
                  </a:lnTo>
                  <a:lnTo>
                    <a:pt x="127279" y="81292"/>
                  </a:lnTo>
                  <a:lnTo>
                    <a:pt x="124548" y="78778"/>
                  </a:lnTo>
                  <a:lnTo>
                    <a:pt x="120002" y="76377"/>
                  </a:lnTo>
                  <a:lnTo>
                    <a:pt x="118186" y="71450"/>
                  </a:lnTo>
                  <a:lnTo>
                    <a:pt x="117284" y="64884"/>
                  </a:lnTo>
                  <a:lnTo>
                    <a:pt x="170014" y="64884"/>
                  </a:lnTo>
                  <a:lnTo>
                    <a:pt x="170014" y="52527"/>
                  </a:lnTo>
                  <a:lnTo>
                    <a:pt x="170014" y="50876"/>
                  </a:lnTo>
                  <a:close/>
                </a:path>
                <a:path w="593089" h="97154">
                  <a:moveTo>
                    <a:pt x="219113" y="25501"/>
                  </a:moveTo>
                  <a:lnTo>
                    <a:pt x="207302" y="25501"/>
                  </a:lnTo>
                  <a:lnTo>
                    <a:pt x="207302" y="5803"/>
                  </a:lnTo>
                  <a:lnTo>
                    <a:pt x="187286" y="5803"/>
                  </a:lnTo>
                  <a:lnTo>
                    <a:pt x="187286" y="25501"/>
                  </a:lnTo>
                  <a:lnTo>
                    <a:pt x="176377" y="25501"/>
                  </a:lnTo>
                  <a:lnTo>
                    <a:pt x="176377" y="38620"/>
                  </a:lnTo>
                  <a:lnTo>
                    <a:pt x="187286" y="38620"/>
                  </a:lnTo>
                  <a:lnTo>
                    <a:pt x="187286" y="85344"/>
                  </a:lnTo>
                  <a:lnTo>
                    <a:pt x="188201" y="88620"/>
                  </a:lnTo>
                  <a:lnTo>
                    <a:pt x="190919" y="91147"/>
                  </a:lnTo>
                  <a:lnTo>
                    <a:pt x="193662" y="94424"/>
                  </a:lnTo>
                  <a:lnTo>
                    <a:pt x="200025" y="95186"/>
                  </a:lnTo>
                  <a:lnTo>
                    <a:pt x="219113" y="95186"/>
                  </a:lnTo>
                  <a:lnTo>
                    <a:pt x="219113" y="81292"/>
                  </a:lnTo>
                  <a:lnTo>
                    <a:pt x="209118" y="81292"/>
                  </a:lnTo>
                  <a:lnTo>
                    <a:pt x="208203" y="80416"/>
                  </a:lnTo>
                  <a:lnTo>
                    <a:pt x="207302" y="79654"/>
                  </a:lnTo>
                  <a:lnTo>
                    <a:pt x="207302" y="38620"/>
                  </a:lnTo>
                  <a:lnTo>
                    <a:pt x="219113" y="38620"/>
                  </a:lnTo>
                  <a:lnTo>
                    <a:pt x="219113" y="25501"/>
                  </a:lnTo>
                  <a:close/>
                </a:path>
                <a:path w="593089" h="97154">
                  <a:moveTo>
                    <a:pt x="333679" y="24625"/>
                  </a:moveTo>
                  <a:lnTo>
                    <a:pt x="312762" y="24625"/>
                  </a:lnTo>
                  <a:lnTo>
                    <a:pt x="300951" y="74726"/>
                  </a:lnTo>
                  <a:lnTo>
                    <a:pt x="289115" y="24625"/>
                  </a:lnTo>
                  <a:lnTo>
                    <a:pt x="269125" y="24625"/>
                  </a:lnTo>
                  <a:lnTo>
                    <a:pt x="258216" y="74726"/>
                  </a:lnTo>
                  <a:lnTo>
                    <a:pt x="245491" y="24625"/>
                  </a:lnTo>
                  <a:lnTo>
                    <a:pt x="224574" y="24625"/>
                  </a:lnTo>
                  <a:lnTo>
                    <a:pt x="245491" y="94424"/>
                  </a:lnTo>
                  <a:lnTo>
                    <a:pt x="266395" y="94424"/>
                  </a:lnTo>
                  <a:lnTo>
                    <a:pt x="279120" y="43548"/>
                  </a:lnTo>
                  <a:lnTo>
                    <a:pt x="290957" y="94424"/>
                  </a:lnTo>
                  <a:lnTo>
                    <a:pt x="311861" y="94424"/>
                  </a:lnTo>
                  <a:lnTo>
                    <a:pt x="333679" y="24625"/>
                  </a:lnTo>
                  <a:close/>
                </a:path>
                <a:path w="593089" h="97154">
                  <a:moveTo>
                    <a:pt x="420052" y="59956"/>
                  </a:moveTo>
                  <a:lnTo>
                    <a:pt x="419404" y="52527"/>
                  </a:lnTo>
                  <a:lnTo>
                    <a:pt x="419392" y="52362"/>
                  </a:lnTo>
                  <a:lnTo>
                    <a:pt x="417436" y="45554"/>
                  </a:lnTo>
                  <a:lnTo>
                    <a:pt x="399148" y="25895"/>
                  </a:lnTo>
                  <a:lnTo>
                    <a:pt x="399148" y="66522"/>
                  </a:lnTo>
                  <a:lnTo>
                    <a:pt x="397332" y="72212"/>
                  </a:lnTo>
                  <a:lnTo>
                    <a:pt x="393687" y="75501"/>
                  </a:lnTo>
                  <a:lnTo>
                    <a:pt x="390969" y="79654"/>
                  </a:lnTo>
                  <a:lnTo>
                    <a:pt x="386410" y="81292"/>
                  </a:lnTo>
                  <a:lnTo>
                    <a:pt x="374586" y="81292"/>
                  </a:lnTo>
                  <a:lnTo>
                    <a:pt x="370052" y="79654"/>
                  </a:lnTo>
                  <a:lnTo>
                    <a:pt x="366407" y="75501"/>
                  </a:lnTo>
                  <a:lnTo>
                    <a:pt x="363689" y="72212"/>
                  </a:lnTo>
                  <a:lnTo>
                    <a:pt x="361861" y="66522"/>
                  </a:lnTo>
                  <a:lnTo>
                    <a:pt x="361924" y="52362"/>
                  </a:lnTo>
                  <a:lnTo>
                    <a:pt x="363689" y="47599"/>
                  </a:lnTo>
                  <a:lnTo>
                    <a:pt x="366407" y="43548"/>
                  </a:lnTo>
                  <a:lnTo>
                    <a:pt x="370052" y="39395"/>
                  </a:lnTo>
                  <a:lnTo>
                    <a:pt x="374586" y="37757"/>
                  </a:lnTo>
                  <a:lnTo>
                    <a:pt x="386410" y="37757"/>
                  </a:lnTo>
                  <a:lnTo>
                    <a:pt x="390969" y="39395"/>
                  </a:lnTo>
                  <a:lnTo>
                    <a:pt x="393687" y="43548"/>
                  </a:lnTo>
                  <a:lnTo>
                    <a:pt x="397332" y="47599"/>
                  </a:lnTo>
                  <a:lnTo>
                    <a:pt x="399084" y="52362"/>
                  </a:lnTo>
                  <a:lnTo>
                    <a:pt x="399148" y="66522"/>
                  </a:lnTo>
                  <a:lnTo>
                    <a:pt x="399148" y="25895"/>
                  </a:lnTo>
                  <a:lnTo>
                    <a:pt x="397776" y="25171"/>
                  </a:lnTo>
                  <a:lnTo>
                    <a:pt x="389597" y="22961"/>
                  </a:lnTo>
                  <a:lnTo>
                    <a:pt x="380047" y="22212"/>
                  </a:lnTo>
                  <a:lnTo>
                    <a:pt x="371030" y="22961"/>
                  </a:lnTo>
                  <a:lnTo>
                    <a:pt x="341630" y="52362"/>
                  </a:lnTo>
                  <a:lnTo>
                    <a:pt x="340956" y="59956"/>
                  </a:lnTo>
                  <a:lnTo>
                    <a:pt x="341566" y="66522"/>
                  </a:lnTo>
                  <a:lnTo>
                    <a:pt x="371030" y="96100"/>
                  </a:lnTo>
                  <a:lnTo>
                    <a:pt x="380047" y="96837"/>
                  </a:lnTo>
                  <a:lnTo>
                    <a:pt x="389597" y="96100"/>
                  </a:lnTo>
                  <a:lnTo>
                    <a:pt x="397776" y="93992"/>
                  </a:lnTo>
                  <a:lnTo>
                    <a:pt x="404596" y="90652"/>
                  </a:lnTo>
                  <a:lnTo>
                    <a:pt x="410057" y="86220"/>
                  </a:lnTo>
                  <a:lnTo>
                    <a:pt x="413626" y="81292"/>
                  </a:lnTo>
                  <a:lnTo>
                    <a:pt x="414299" y="80365"/>
                  </a:lnTo>
                  <a:lnTo>
                    <a:pt x="417436" y="73990"/>
                  </a:lnTo>
                  <a:lnTo>
                    <a:pt x="419392" y="67170"/>
                  </a:lnTo>
                  <a:lnTo>
                    <a:pt x="420052" y="59956"/>
                  </a:lnTo>
                  <a:close/>
                </a:path>
                <a:path w="593089" h="97154">
                  <a:moveTo>
                    <a:pt x="479158" y="22974"/>
                  </a:moveTo>
                  <a:lnTo>
                    <a:pt x="476427" y="22974"/>
                  </a:lnTo>
                  <a:lnTo>
                    <a:pt x="470966" y="22974"/>
                  </a:lnTo>
                  <a:lnTo>
                    <a:pt x="465518" y="24625"/>
                  </a:lnTo>
                  <a:lnTo>
                    <a:pt x="461886" y="27139"/>
                  </a:lnTo>
                  <a:lnTo>
                    <a:pt x="459155" y="28778"/>
                  </a:lnTo>
                  <a:lnTo>
                    <a:pt x="456425" y="32067"/>
                  </a:lnTo>
                  <a:lnTo>
                    <a:pt x="453694" y="36982"/>
                  </a:lnTo>
                  <a:lnTo>
                    <a:pt x="453694" y="24625"/>
                  </a:lnTo>
                  <a:lnTo>
                    <a:pt x="434594" y="24625"/>
                  </a:lnTo>
                  <a:lnTo>
                    <a:pt x="434594" y="94424"/>
                  </a:lnTo>
                  <a:lnTo>
                    <a:pt x="454609" y="94424"/>
                  </a:lnTo>
                  <a:lnTo>
                    <a:pt x="454609" y="55803"/>
                  </a:lnTo>
                  <a:lnTo>
                    <a:pt x="455523" y="51752"/>
                  </a:lnTo>
                  <a:lnTo>
                    <a:pt x="457339" y="48475"/>
                  </a:lnTo>
                  <a:lnTo>
                    <a:pt x="460057" y="44310"/>
                  </a:lnTo>
                  <a:lnTo>
                    <a:pt x="465518" y="41910"/>
                  </a:lnTo>
                  <a:lnTo>
                    <a:pt x="479158" y="41910"/>
                  </a:lnTo>
                  <a:lnTo>
                    <a:pt x="479158" y="22974"/>
                  </a:lnTo>
                  <a:close/>
                </a:path>
                <a:path w="593089" h="97154">
                  <a:moveTo>
                    <a:pt x="561886" y="94424"/>
                  </a:moveTo>
                  <a:lnTo>
                    <a:pt x="533768" y="51752"/>
                  </a:lnTo>
                  <a:lnTo>
                    <a:pt x="561035" y="25501"/>
                  </a:lnTo>
                  <a:lnTo>
                    <a:pt x="536435" y="25501"/>
                  </a:lnTo>
                  <a:lnTo>
                    <a:pt x="510984" y="50876"/>
                  </a:lnTo>
                  <a:lnTo>
                    <a:pt x="510984" y="876"/>
                  </a:lnTo>
                  <a:lnTo>
                    <a:pt x="490982" y="876"/>
                  </a:lnTo>
                  <a:lnTo>
                    <a:pt x="490982" y="94424"/>
                  </a:lnTo>
                  <a:lnTo>
                    <a:pt x="510984" y="94424"/>
                  </a:lnTo>
                  <a:lnTo>
                    <a:pt x="510984" y="72212"/>
                  </a:lnTo>
                  <a:lnTo>
                    <a:pt x="519226" y="64884"/>
                  </a:lnTo>
                  <a:lnTo>
                    <a:pt x="537400" y="94424"/>
                  </a:lnTo>
                  <a:lnTo>
                    <a:pt x="561886" y="94424"/>
                  </a:lnTo>
                  <a:close/>
                </a:path>
                <a:path w="593089" h="97154">
                  <a:moveTo>
                    <a:pt x="592785" y="24625"/>
                  </a:moveTo>
                  <a:lnTo>
                    <a:pt x="572795" y="24625"/>
                  </a:lnTo>
                  <a:lnTo>
                    <a:pt x="572795" y="94424"/>
                  </a:lnTo>
                  <a:lnTo>
                    <a:pt x="592785" y="94424"/>
                  </a:lnTo>
                  <a:lnTo>
                    <a:pt x="592785" y="24625"/>
                  </a:lnTo>
                  <a:close/>
                </a:path>
                <a:path w="593089" h="97154">
                  <a:moveTo>
                    <a:pt x="592785" y="0"/>
                  </a:moveTo>
                  <a:lnTo>
                    <a:pt x="572795" y="0"/>
                  </a:lnTo>
                  <a:lnTo>
                    <a:pt x="572795" y="16421"/>
                  </a:lnTo>
                  <a:lnTo>
                    <a:pt x="592785" y="16421"/>
                  </a:lnTo>
                  <a:lnTo>
                    <a:pt x="5927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948581" y="4320387"/>
              <a:ext cx="158288" cy="99343"/>
            </a:xfrm>
            <a:prstGeom prst="rect">
              <a:avLst/>
            </a:prstGeom>
          </p:spPr>
        </p:pic>
      </p:grpSp>
      <p:pic>
        <p:nvPicPr>
          <p:cNvPr id="75" name="object 75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013912" y="4744785"/>
            <a:ext cx="1295606" cy="569474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425638" y="4744331"/>
            <a:ext cx="1302914" cy="569928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496718" y="5590845"/>
            <a:ext cx="1868464" cy="279923"/>
          </a:xfrm>
          <a:prstGeom prst="rect">
            <a:avLst/>
          </a:prstGeom>
        </p:spPr>
      </p:pic>
      <p:sp>
        <p:nvSpPr>
          <p:cNvPr id="78" name="object 78"/>
          <p:cNvSpPr/>
          <p:nvPr/>
        </p:nvSpPr>
        <p:spPr>
          <a:xfrm>
            <a:off x="2759659" y="657491"/>
            <a:ext cx="118745" cy="1891030"/>
          </a:xfrm>
          <a:custGeom>
            <a:avLst/>
            <a:gdLst/>
            <a:ahLst/>
            <a:cxnLst/>
            <a:rect l="l" t="t" r="r" b="b"/>
            <a:pathLst>
              <a:path w="118744" h="1891030">
                <a:moveTo>
                  <a:pt x="118160" y="0"/>
                </a:moveTo>
                <a:lnTo>
                  <a:pt x="0" y="0"/>
                </a:lnTo>
                <a:lnTo>
                  <a:pt x="0" y="16408"/>
                </a:lnTo>
                <a:lnTo>
                  <a:pt x="49936" y="16408"/>
                </a:lnTo>
                <a:lnTo>
                  <a:pt x="49936" y="1874608"/>
                </a:lnTo>
                <a:lnTo>
                  <a:pt x="0" y="1874608"/>
                </a:lnTo>
                <a:lnTo>
                  <a:pt x="0" y="1891017"/>
                </a:lnTo>
                <a:lnTo>
                  <a:pt x="118160" y="1891017"/>
                </a:lnTo>
                <a:lnTo>
                  <a:pt x="118160" y="1874608"/>
                </a:lnTo>
                <a:lnTo>
                  <a:pt x="68110" y="1874608"/>
                </a:lnTo>
                <a:lnTo>
                  <a:pt x="68110" y="16408"/>
                </a:lnTo>
                <a:lnTo>
                  <a:pt x="118160" y="16408"/>
                </a:lnTo>
                <a:lnTo>
                  <a:pt x="118160" y="0"/>
                </a:lnTo>
                <a:close/>
              </a:path>
            </a:pathLst>
          </a:custGeom>
          <a:solidFill>
            <a:srgbClr val="080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9" name="object 79"/>
          <p:cNvGrpSpPr/>
          <p:nvPr/>
        </p:nvGrpSpPr>
        <p:grpSpPr>
          <a:xfrm>
            <a:off x="2650634" y="2627281"/>
            <a:ext cx="227329" cy="1891030"/>
            <a:chOff x="2650634" y="2627281"/>
            <a:chExt cx="227329" cy="1891030"/>
          </a:xfrm>
        </p:grpSpPr>
        <p:pic>
          <p:nvPicPr>
            <p:cNvPr id="80" name="object 8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650634" y="2971920"/>
              <a:ext cx="138114" cy="1050546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2759659" y="2627286"/>
              <a:ext cx="118745" cy="1891030"/>
            </a:xfrm>
            <a:custGeom>
              <a:avLst/>
              <a:gdLst/>
              <a:ahLst/>
              <a:cxnLst/>
              <a:rect l="l" t="t" r="r" b="b"/>
              <a:pathLst>
                <a:path w="118744" h="1891029">
                  <a:moveTo>
                    <a:pt x="118160" y="0"/>
                  </a:moveTo>
                  <a:lnTo>
                    <a:pt x="0" y="0"/>
                  </a:lnTo>
                  <a:lnTo>
                    <a:pt x="0" y="16408"/>
                  </a:lnTo>
                  <a:lnTo>
                    <a:pt x="49936" y="16408"/>
                  </a:lnTo>
                  <a:lnTo>
                    <a:pt x="49936" y="1874507"/>
                  </a:lnTo>
                  <a:lnTo>
                    <a:pt x="0" y="1874507"/>
                  </a:lnTo>
                  <a:lnTo>
                    <a:pt x="0" y="1890915"/>
                  </a:lnTo>
                  <a:lnTo>
                    <a:pt x="118160" y="1890915"/>
                  </a:lnTo>
                  <a:lnTo>
                    <a:pt x="118160" y="1874507"/>
                  </a:lnTo>
                  <a:lnTo>
                    <a:pt x="68110" y="1874507"/>
                  </a:lnTo>
                  <a:lnTo>
                    <a:pt x="68110" y="16408"/>
                  </a:lnTo>
                  <a:lnTo>
                    <a:pt x="118160" y="16408"/>
                  </a:lnTo>
                  <a:lnTo>
                    <a:pt x="118160" y="0"/>
                  </a:lnTo>
                  <a:close/>
                </a:path>
              </a:pathLst>
            </a:custGeom>
            <a:solidFill>
              <a:srgbClr val="08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" name="object 82"/>
          <p:cNvGrpSpPr/>
          <p:nvPr/>
        </p:nvGrpSpPr>
        <p:grpSpPr>
          <a:xfrm>
            <a:off x="4663682" y="652095"/>
            <a:ext cx="1145540" cy="326390"/>
            <a:chOff x="4663682" y="652095"/>
            <a:chExt cx="1145540" cy="326390"/>
          </a:xfrm>
        </p:grpSpPr>
        <p:sp>
          <p:nvSpPr>
            <p:cNvPr id="83" name="object 83"/>
            <p:cNvSpPr/>
            <p:nvPr/>
          </p:nvSpPr>
          <p:spPr>
            <a:xfrm>
              <a:off x="4669067" y="657480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4">
                  <a:moveTo>
                    <a:pt x="1047422" y="0"/>
                  </a:moveTo>
                  <a:lnTo>
                    <a:pt x="87264" y="0"/>
                  </a:lnTo>
                  <a:lnTo>
                    <a:pt x="53279" y="6202"/>
                  </a:lnTo>
                  <a:lnTo>
                    <a:pt x="25543" y="23112"/>
                  </a:lnTo>
                  <a:lnTo>
                    <a:pt x="6851" y="48187"/>
                  </a:lnTo>
                  <a:lnTo>
                    <a:pt x="0" y="78883"/>
                  </a:lnTo>
                  <a:lnTo>
                    <a:pt x="0" y="236433"/>
                  </a:lnTo>
                  <a:lnTo>
                    <a:pt x="6851" y="267065"/>
                  </a:lnTo>
                  <a:lnTo>
                    <a:pt x="25543" y="292108"/>
                  </a:lnTo>
                  <a:lnTo>
                    <a:pt x="53279" y="309007"/>
                  </a:lnTo>
                  <a:lnTo>
                    <a:pt x="87264" y="315207"/>
                  </a:lnTo>
                  <a:lnTo>
                    <a:pt x="1047422" y="315207"/>
                  </a:lnTo>
                  <a:lnTo>
                    <a:pt x="1081356" y="309007"/>
                  </a:lnTo>
                  <a:lnTo>
                    <a:pt x="1109098" y="292108"/>
                  </a:lnTo>
                  <a:lnTo>
                    <a:pt x="1127818" y="267065"/>
                  </a:lnTo>
                  <a:lnTo>
                    <a:pt x="1134687" y="236433"/>
                  </a:lnTo>
                  <a:lnTo>
                    <a:pt x="1134687" y="78883"/>
                  </a:lnTo>
                  <a:lnTo>
                    <a:pt x="1127818" y="48187"/>
                  </a:lnTo>
                  <a:lnTo>
                    <a:pt x="1109098" y="23112"/>
                  </a:lnTo>
                  <a:lnTo>
                    <a:pt x="1081356" y="6202"/>
                  </a:lnTo>
                  <a:lnTo>
                    <a:pt x="1047422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669067" y="657480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4">
                  <a:moveTo>
                    <a:pt x="1134687" y="236433"/>
                  </a:moveTo>
                  <a:lnTo>
                    <a:pt x="1127818" y="267065"/>
                  </a:lnTo>
                  <a:lnTo>
                    <a:pt x="1109098" y="292108"/>
                  </a:lnTo>
                  <a:lnTo>
                    <a:pt x="1081356" y="309007"/>
                  </a:lnTo>
                  <a:lnTo>
                    <a:pt x="1047422" y="315207"/>
                  </a:lnTo>
                  <a:lnTo>
                    <a:pt x="87264" y="315207"/>
                  </a:lnTo>
                  <a:lnTo>
                    <a:pt x="53279" y="309007"/>
                  </a:lnTo>
                  <a:lnTo>
                    <a:pt x="25543" y="292108"/>
                  </a:lnTo>
                  <a:lnTo>
                    <a:pt x="6851" y="267065"/>
                  </a:lnTo>
                  <a:lnTo>
                    <a:pt x="0" y="236433"/>
                  </a:lnTo>
                  <a:lnTo>
                    <a:pt x="0" y="78883"/>
                  </a:lnTo>
                  <a:lnTo>
                    <a:pt x="6851" y="48187"/>
                  </a:lnTo>
                  <a:lnTo>
                    <a:pt x="25543" y="23112"/>
                  </a:lnTo>
                  <a:lnTo>
                    <a:pt x="53279" y="6202"/>
                  </a:lnTo>
                  <a:lnTo>
                    <a:pt x="87264" y="0"/>
                  </a:lnTo>
                  <a:lnTo>
                    <a:pt x="1047422" y="0"/>
                  </a:lnTo>
                  <a:lnTo>
                    <a:pt x="1081356" y="6202"/>
                  </a:lnTo>
                  <a:lnTo>
                    <a:pt x="1109098" y="23112"/>
                  </a:lnTo>
                  <a:lnTo>
                    <a:pt x="1127818" y="48187"/>
                  </a:lnTo>
                  <a:lnTo>
                    <a:pt x="1134687" y="78883"/>
                  </a:lnTo>
                  <a:lnTo>
                    <a:pt x="1134687" y="236433"/>
                  </a:lnTo>
                  <a:close/>
                </a:path>
              </a:pathLst>
            </a:custGeom>
            <a:ln w="10752">
              <a:solidFill>
                <a:srgbClr val="08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778996" y="751900"/>
              <a:ext cx="309184" cy="121444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5109146" y="751903"/>
              <a:ext cx="534035" cy="97155"/>
            </a:xfrm>
            <a:custGeom>
              <a:avLst/>
              <a:gdLst/>
              <a:ahLst/>
              <a:cxnLst/>
              <a:rect l="l" t="t" r="r" b="b"/>
              <a:pathLst>
                <a:path w="534035" h="97155">
                  <a:moveTo>
                    <a:pt x="19989" y="24625"/>
                  </a:moveTo>
                  <a:lnTo>
                    <a:pt x="0" y="24625"/>
                  </a:lnTo>
                  <a:lnTo>
                    <a:pt x="0" y="94424"/>
                  </a:lnTo>
                  <a:lnTo>
                    <a:pt x="19989" y="94424"/>
                  </a:lnTo>
                  <a:lnTo>
                    <a:pt x="19989" y="24625"/>
                  </a:lnTo>
                  <a:close/>
                </a:path>
                <a:path w="534035" h="97155">
                  <a:moveTo>
                    <a:pt x="19989" y="0"/>
                  </a:moveTo>
                  <a:lnTo>
                    <a:pt x="0" y="0"/>
                  </a:lnTo>
                  <a:lnTo>
                    <a:pt x="0" y="16408"/>
                  </a:lnTo>
                  <a:lnTo>
                    <a:pt x="19989" y="16408"/>
                  </a:lnTo>
                  <a:lnTo>
                    <a:pt x="19989" y="0"/>
                  </a:lnTo>
                  <a:close/>
                </a:path>
                <a:path w="534035" h="97155">
                  <a:moveTo>
                    <a:pt x="106286" y="50114"/>
                  </a:moveTo>
                  <a:lnTo>
                    <a:pt x="81813" y="22974"/>
                  </a:lnTo>
                  <a:lnTo>
                    <a:pt x="71742" y="22974"/>
                  </a:lnTo>
                  <a:lnTo>
                    <a:pt x="37693" y="44932"/>
                  </a:lnTo>
                  <a:lnTo>
                    <a:pt x="35382" y="60731"/>
                  </a:lnTo>
                  <a:lnTo>
                    <a:pt x="35915" y="68427"/>
                  </a:lnTo>
                  <a:lnTo>
                    <a:pt x="62890" y="96215"/>
                  </a:lnTo>
                  <a:lnTo>
                    <a:pt x="71742" y="96824"/>
                  </a:lnTo>
                  <a:lnTo>
                    <a:pt x="80137" y="96075"/>
                  </a:lnTo>
                  <a:lnTo>
                    <a:pt x="87477" y="93776"/>
                  </a:lnTo>
                  <a:lnTo>
                    <a:pt x="93764" y="89954"/>
                  </a:lnTo>
                  <a:lnTo>
                    <a:pt x="99021" y="84582"/>
                  </a:lnTo>
                  <a:lnTo>
                    <a:pt x="102082" y="81292"/>
                  </a:lnTo>
                  <a:lnTo>
                    <a:pt x="103619" y="79654"/>
                  </a:lnTo>
                  <a:lnTo>
                    <a:pt x="105435" y="74726"/>
                  </a:lnTo>
                  <a:lnTo>
                    <a:pt x="106286" y="68935"/>
                  </a:lnTo>
                  <a:lnTo>
                    <a:pt x="85445" y="68935"/>
                  </a:lnTo>
                  <a:lnTo>
                    <a:pt x="85445" y="73088"/>
                  </a:lnTo>
                  <a:lnTo>
                    <a:pt x="83629" y="75501"/>
                  </a:lnTo>
                  <a:lnTo>
                    <a:pt x="81813" y="78016"/>
                  </a:lnTo>
                  <a:lnTo>
                    <a:pt x="79984" y="80416"/>
                  </a:lnTo>
                  <a:lnTo>
                    <a:pt x="76352" y="81292"/>
                  </a:lnTo>
                  <a:lnTo>
                    <a:pt x="65443" y="81292"/>
                  </a:lnTo>
                  <a:lnTo>
                    <a:pt x="60845" y="78778"/>
                  </a:lnTo>
                  <a:lnTo>
                    <a:pt x="58178" y="73088"/>
                  </a:lnTo>
                  <a:lnTo>
                    <a:pt x="57200" y="69811"/>
                  </a:lnTo>
                  <a:lnTo>
                    <a:pt x="56349" y="65646"/>
                  </a:lnTo>
                  <a:lnTo>
                    <a:pt x="56349" y="55041"/>
                  </a:lnTo>
                  <a:lnTo>
                    <a:pt x="57200" y="50876"/>
                  </a:lnTo>
                  <a:lnTo>
                    <a:pt x="58178" y="47599"/>
                  </a:lnTo>
                  <a:lnTo>
                    <a:pt x="60845" y="41910"/>
                  </a:lnTo>
                  <a:lnTo>
                    <a:pt x="65443" y="38620"/>
                  </a:lnTo>
                  <a:lnTo>
                    <a:pt x="77203" y="38620"/>
                  </a:lnTo>
                  <a:lnTo>
                    <a:pt x="80835" y="40271"/>
                  </a:lnTo>
                  <a:lnTo>
                    <a:pt x="82651" y="42672"/>
                  </a:lnTo>
                  <a:lnTo>
                    <a:pt x="84467" y="45186"/>
                  </a:lnTo>
                  <a:lnTo>
                    <a:pt x="85445" y="46824"/>
                  </a:lnTo>
                  <a:lnTo>
                    <a:pt x="85445" y="50114"/>
                  </a:lnTo>
                  <a:lnTo>
                    <a:pt x="106286" y="50114"/>
                  </a:lnTo>
                  <a:close/>
                </a:path>
                <a:path w="534035" h="97155">
                  <a:moveTo>
                    <a:pt x="187248" y="91909"/>
                  </a:moveTo>
                  <a:lnTo>
                    <a:pt x="186283" y="91135"/>
                  </a:lnTo>
                  <a:lnTo>
                    <a:pt x="185432" y="90271"/>
                  </a:lnTo>
                  <a:lnTo>
                    <a:pt x="184467" y="89496"/>
                  </a:lnTo>
                  <a:lnTo>
                    <a:pt x="183616" y="88620"/>
                  </a:lnTo>
                  <a:lnTo>
                    <a:pt x="183616" y="86220"/>
                  </a:lnTo>
                  <a:lnTo>
                    <a:pt x="183616" y="82931"/>
                  </a:lnTo>
                  <a:lnTo>
                    <a:pt x="183616" y="81292"/>
                  </a:lnTo>
                  <a:lnTo>
                    <a:pt x="182651" y="78778"/>
                  </a:lnTo>
                  <a:lnTo>
                    <a:pt x="182651" y="60731"/>
                  </a:lnTo>
                  <a:lnTo>
                    <a:pt x="182651" y="37744"/>
                  </a:lnTo>
                  <a:lnTo>
                    <a:pt x="182651" y="36106"/>
                  </a:lnTo>
                  <a:lnTo>
                    <a:pt x="179984" y="30416"/>
                  </a:lnTo>
                  <a:lnTo>
                    <a:pt x="173558" y="27901"/>
                  </a:lnTo>
                  <a:lnTo>
                    <a:pt x="167259" y="24625"/>
                  </a:lnTo>
                  <a:lnTo>
                    <a:pt x="159016" y="22974"/>
                  </a:lnTo>
                  <a:lnTo>
                    <a:pt x="150888" y="22974"/>
                  </a:lnTo>
                  <a:lnTo>
                    <a:pt x="142024" y="23583"/>
                  </a:lnTo>
                  <a:lnTo>
                    <a:pt x="118173" y="41033"/>
                  </a:lnTo>
                  <a:lnTo>
                    <a:pt x="118173" y="47599"/>
                  </a:lnTo>
                  <a:lnTo>
                    <a:pt x="137198" y="47599"/>
                  </a:lnTo>
                  <a:lnTo>
                    <a:pt x="138163" y="44310"/>
                  </a:lnTo>
                  <a:lnTo>
                    <a:pt x="139014" y="42672"/>
                  </a:lnTo>
                  <a:lnTo>
                    <a:pt x="139979" y="41033"/>
                  </a:lnTo>
                  <a:lnTo>
                    <a:pt x="141808" y="38620"/>
                  </a:lnTo>
                  <a:lnTo>
                    <a:pt x="145440" y="37744"/>
                  </a:lnTo>
                  <a:lnTo>
                    <a:pt x="154533" y="37744"/>
                  </a:lnTo>
                  <a:lnTo>
                    <a:pt x="157200" y="38620"/>
                  </a:lnTo>
                  <a:lnTo>
                    <a:pt x="159981" y="39395"/>
                  </a:lnTo>
                  <a:lnTo>
                    <a:pt x="161798" y="40271"/>
                  </a:lnTo>
                  <a:lnTo>
                    <a:pt x="162648" y="42672"/>
                  </a:lnTo>
                  <a:lnTo>
                    <a:pt x="162648" y="47599"/>
                  </a:lnTo>
                  <a:lnTo>
                    <a:pt x="162648" y="60731"/>
                  </a:lnTo>
                  <a:lnTo>
                    <a:pt x="162648" y="73088"/>
                  </a:lnTo>
                  <a:lnTo>
                    <a:pt x="160832" y="77139"/>
                  </a:lnTo>
                  <a:lnTo>
                    <a:pt x="157200" y="79654"/>
                  </a:lnTo>
                  <a:lnTo>
                    <a:pt x="153555" y="82054"/>
                  </a:lnTo>
                  <a:lnTo>
                    <a:pt x="149923" y="82931"/>
                  </a:lnTo>
                  <a:lnTo>
                    <a:pt x="139979" y="82931"/>
                  </a:lnTo>
                  <a:lnTo>
                    <a:pt x="136347" y="79654"/>
                  </a:lnTo>
                  <a:lnTo>
                    <a:pt x="135382" y="77139"/>
                  </a:lnTo>
                  <a:lnTo>
                    <a:pt x="135382" y="70573"/>
                  </a:lnTo>
                  <a:lnTo>
                    <a:pt x="137198" y="68160"/>
                  </a:lnTo>
                  <a:lnTo>
                    <a:pt x="139979" y="66522"/>
                  </a:lnTo>
                  <a:lnTo>
                    <a:pt x="141808" y="65646"/>
                  </a:lnTo>
                  <a:lnTo>
                    <a:pt x="145440" y="64884"/>
                  </a:lnTo>
                  <a:lnTo>
                    <a:pt x="149072" y="64008"/>
                  </a:lnTo>
                  <a:lnTo>
                    <a:pt x="153555" y="63246"/>
                  </a:lnTo>
                  <a:lnTo>
                    <a:pt x="156349" y="63246"/>
                  </a:lnTo>
                  <a:lnTo>
                    <a:pt x="158165" y="62369"/>
                  </a:lnTo>
                  <a:lnTo>
                    <a:pt x="159016" y="62369"/>
                  </a:lnTo>
                  <a:lnTo>
                    <a:pt x="160832" y="61595"/>
                  </a:lnTo>
                  <a:lnTo>
                    <a:pt x="161798" y="61595"/>
                  </a:lnTo>
                  <a:lnTo>
                    <a:pt x="162648" y="60731"/>
                  </a:lnTo>
                  <a:lnTo>
                    <a:pt x="162648" y="47599"/>
                  </a:lnTo>
                  <a:lnTo>
                    <a:pt x="161798" y="49237"/>
                  </a:lnTo>
                  <a:lnTo>
                    <a:pt x="159016" y="50114"/>
                  </a:lnTo>
                  <a:lnTo>
                    <a:pt x="157200" y="50876"/>
                  </a:lnTo>
                  <a:lnTo>
                    <a:pt x="154533" y="51752"/>
                  </a:lnTo>
                  <a:lnTo>
                    <a:pt x="150888" y="51752"/>
                  </a:lnTo>
                  <a:lnTo>
                    <a:pt x="143624" y="52514"/>
                  </a:lnTo>
                  <a:lnTo>
                    <a:pt x="136347" y="53390"/>
                  </a:lnTo>
                  <a:lnTo>
                    <a:pt x="129921" y="55041"/>
                  </a:lnTo>
                  <a:lnTo>
                    <a:pt x="126288" y="57442"/>
                  </a:lnTo>
                  <a:lnTo>
                    <a:pt x="119011" y="60731"/>
                  </a:lnTo>
                  <a:lnTo>
                    <a:pt x="115379" y="67284"/>
                  </a:lnTo>
                  <a:lnTo>
                    <a:pt x="115379" y="82054"/>
                  </a:lnTo>
                  <a:lnTo>
                    <a:pt x="117195" y="87858"/>
                  </a:lnTo>
                  <a:lnTo>
                    <a:pt x="121805" y="91135"/>
                  </a:lnTo>
                  <a:lnTo>
                    <a:pt x="126288" y="94424"/>
                  </a:lnTo>
                  <a:lnTo>
                    <a:pt x="132715" y="96062"/>
                  </a:lnTo>
                  <a:lnTo>
                    <a:pt x="144462" y="96062"/>
                  </a:lnTo>
                  <a:lnTo>
                    <a:pt x="149923" y="95186"/>
                  </a:lnTo>
                  <a:lnTo>
                    <a:pt x="154533" y="92786"/>
                  </a:lnTo>
                  <a:lnTo>
                    <a:pt x="158165" y="91135"/>
                  </a:lnTo>
                  <a:lnTo>
                    <a:pt x="160832" y="88620"/>
                  </a:lnTo>
                  <a:lnTo>
                    <a:pt x="163614" y="86220"/>
                  </a:lnTo>
                  <a:lnTo>
                    <a:pt x="163614" y="87858"/>
                  </a:lnTo>
                  <a:lnTo>
                    <a:pt x="164465" y="89496"/>
                  </a:lnTo>
                  <a:lnTo>
                    <a:pt x="164465" y="92786"/>
                  </a:lnTo>
                  <a:lnTo>
                    <a:pt x="165430" y="94424"/>
                  </a:lnTo>
                  <a:lnTo>
                    <a:pt x="187248" y="94424"/>
                  </a:lnTo>
                  <a:lnTo>
                    <a:pt x="187248" y="91909"/>
                  </a:lnTo>
                  <a:close/>
                </a:path>
                <a:path w="534035" h="97155">
                  <a:moveTo>
                    <a:pt x="236334" y="25501"/>
                  </a:moveTo>
                  <a:lnTo>
                    <a:pt x="224586" y="25501"/>
                  </a:lnTo>
                  <a:lnTo>
                    <a:pt x="224586" y="5803"/>
                  </a:lnTo>
                  <a:lnTo>
                    <a:pt x="204584" y="5803"/>
                  </a:lnTo>
                  <a:lnTo>
                    <a:pt x="204584" y="25501"/>
                  </a:lnTo>
                  <a:lnTo>
                    <a:pt x="193560" y="25501"/>
                  </a:lnTo>
                  <a:lnTo>
                    <a:pt x="193560" y="38620"/>
                  </a:lnTo>
                  <a:lnTo>
                    <a:pt x="204584" y="38620"/>
                  </a:lnTo>
                  <a:lnTo>
                    <a:pt x="204584" y="85344"/>
                  </a:lnTo>
                  <a:lnTo>
                    <a:pt x="205435" y="88620"/>
                  </a:lnTo>
                  <a:lnTo>
                    <a:pt x="208216" y="91135"/>
                  </a:lnTo>
                  <a:lnTo>
                    <a:pt x="210883" y="94424"/>
                  </a:lnTo>
                  <a:lnTo>
                    <a:pt x="217309" y="95186"/>
                  </a:lnTo>
                  <a:lnTo>
                    <a:pt x="236334" y="95186"/>
                  </a:lnTo>
                  <a:lnTo>
                    <a:pt x="236334" y="81292"/>
                  </a:lnTo>
                  <a:lnTo>
                    <a:pt x="226402" y="81292"/>
                  </a:lnTo>
                  <a:lnTo>
                    <a:pt x="224586" y="79654"/>
                  </a:lnTo>
                  <a:lnTo>
                    <a:pt x="224586" y="38620"/>
                  </a:lnTo>
                  <a:lnTo>
                    <a:pt x="236334" y="38620"/>
                  </a:lnTo>
                  <a:lnTo>
                    <a:pt x="236334" y="25501"/>
                  </a:lnTo>
                  <a:close/>
                </a:path>
                <a:path w="534035" h="97155">
                  <a:moveTo>
                    <a:pt x="270878" y="24625"/>
                  </a:moveTo>
                  <a:lnTo>
                    <a:pt x="250037" y="24625"/>
                  </a:lnTo>
                  <a:lnTo>
                    <a:pt x="250037" y="94424"/>
                  </a:lnTo>
                  <a:lnTo>
                    <a:pt x="270878" y="94424"/>
                  </a:lnTo>
                  <a:lnTo>
                    <a:pt x="270878" y="24625"/>
                  </a:lnTo>
                  <a:close/>
                </a:path>
                <a:path w="534035" h="97155">
                  <a:moveTo>
                    <a:pt x="270878" y="0"/>
                  </a:moveTo>
                  <a:lnTo>
                    <a:pt x="250037" y="0"/>
                  </a:lnTo>
                  <a:lnTo>
                    <a:pt x="250037" y="16408"/>
                  </a:lnTo>
                  <a:lnTo>
                    <a:pt x="270878" y="16408"/>
                  </a:lnTo>
                  <a:lnTo>
                    <a:pt x="270878" y="0"/>
                  </a:lnTo>
                  <a:close/>
                </a:path>
                <a:path w="534035" h="97155">
                  <a:moveTo>
                    <a:pt x="364566" y="59956"/>
                  </a:moveTo>
                  <a:lnTo>
                    <a:pt x="363918" y="52514"/>
                  </a:lnTo>
                  <a:lnTo>
                    <a:pt x="363905" y="52362"/>
                  </a:lnTo>
                  <a:lnTo>
                    <a:pt x="361950" y="45554"/>
                  </a:lnTo>
                  <a:lnTo>
                    <a:pt x="343598" y="25882"/>
                  </a:lnTo>
                  <a:lnTo>
                    <a:pt x="343598" y="66522"/>
                  </a:lnTo>
                  <a:lnTo>
                    <a:pt x="341782" y="72212"/>
                  </a:lnTo>
                  <a:lnTo>
                    <a:pt x="338150" y="75501"/>
                  </a:lnTo>
                  <a:lnTo>
                    <a:pt x="335483" y="79654"/>
                  </a:lnTo>
                  <a:lnTo>
                    <a:pt x="330873" y="81292"/>
                  </a:lnTo>
                  <a:lnTo>
                    <a:pt x="319125" y="81292"/>
                  </a:lnTo>
                  <a:lnTo>
                    <a:pt x="314515" y="79654"/>
                  </a:lnTo>
                  <a:lnTo>
                    <a:pt x="310883" y="75501"/>
                  </a:lnTo>
                  <a:lnTo>
                    <a:pt x="308216" y="72212"/>
                  </a:lnTo>
                  <a:lnTo>
                    <a:pt x="306387" y="66522"/>
                  </a:lnTo>
                  <a:lnTo>
                    <a:pt x="306451" y="52362"/>
                  </a:lnTo>
                  <a:lnTo>
                    <a:pt x="308216" y="47599"/>
                  </a:lnTo>
                  <a:lnTo>
                    <a:pt x="310883" y="43548"/>
                  </a:lnTo>
                  <a:lnTo>
                    <a:pt x="314515" y="39395"/>
                  </a:lnTo>
                  <a:lnTo>
                    <a:pt x="319125" y="37744"/>
                  </a:lnTo>
                  <a:lnTo>
                    <a:pt x="330873" y="37744"/>
                  </a:lnTo>
                  <a:lnTo>
                    <a:pt x="335483" y="39395"/>
                  </a:lnTo>
                  <a:lnTo>
                    <a:pt x="338150" y="43548"/>
                  </a:lnTo>
                  <a:lnTo>
                    <a:pt x="341782" y="47599"/>
                  </a:lnTo>
                  <a:lnTo>
                    <a:pt x="343547" y="52362"/>
                  </a:lnTo>
                  <a:lnTo>
                    <a:pt x="343598" y="66522"/>
                  </a:lnTo>
                  <a:lnTo>
                    <a:pt x="343598" y="25882"/>
                  </a:lnTo>
                  <a:lnTo>
                    <a:pt x="342265" y="25171"/>
                  </a:lnTo>
                  <a:lnTo>
                    <a:pt x="334086" y="22961"/>
                  </a:lnTo>
                  <a:lnTo>
                    <a:pt x="324573" y="22212"/>
                  </a:lnTo>
                  <a:lnTo>
                    <a:pt x="315544" y="22961"/>
                  </a:lnTo>
                  <a:lnTo>
                    <a:pt x="286092" y="52362"/>
                  </a:lnTo>
                  <a:lnTo>
                    <a:pt x="285419" y="59956"/>
                  </a:lnTo>
                  <a:lnTo>
                    <a:pt x="286029" y="66522"/>
                  </a:lnTo>
                  <a:lnTo>
                    <a:pt x="315544" y="96100"/>
                  </a:lnTo>
                  <a:lnTo>
                    <a:pt x="324573" y="96824"/>
                  </a:lnTo>
                  <a:lnTo>
                    <a:pt x="334086" y="96100"/>
                  </a:lnTo>
                  <a:lnTo>
                    <a:pt x="363905" y="67170"/>
                  </a:lnTo>
                  <a:lnTo>
                    <a:pt x="364566" y="59956"/>
                  </a:lnTo>
                  <a:close/>
                </a:path>
                <a:path w="534035" h="97155">
                  <a:moveTo>
                    <a:pt x="449046" y="38620"/>
                  </a:moveTo>
                  <a:lnTo>
                    <a:pt x="447535" y="35344"/>
                  </a:lnTo>
                  <a:lnTo>
                    <a:pt x="446379" y="32829"/>
                  </a:lnTo>
                  <a:lnTo>
                    <a:pt x="441769" y="28778"/>
                  </a:lnTo>
                  <a:lnTo>
                    <a:pt x="436321" y="24625"/>
                  </a:lnTo>
                  <a:lnTo>
                    <a:pt x="430022" y="22974"/>
                  </a:lnTo>
                  <a:lnTo>
                    <a:pt x="415480" y="22974"/>
                  </a:lnTo>
                  <a:lnTo>
                    <a:pt x="410019" y="24625"/>
                  </a:lnTo>
                  <a:lnTo>
                    <a:pt x="406387" y="27139"/>
                  </a:lnTo>
                  <a:lnTo>
                    <a:pt x="403593" y="28778"/>
                  </a:lnTo>
                  <a:lnTo>
                    <a:pt x="401777" y="31178"/>
                  </a:lnTo>
                  <a:lnTo>
                    <a:pt x="399110" y="35344"/>
                  </a:lnTo>
                  <a:lnTo>
                    <a:pt x="399110" y="24625"/>
                  </a:lnTo>
                  <a:lnTo>
                    <a:pt x="379120" y="24625"/>
                  </a:lnTo>
                  <a:lnTo>
                    <a:pt x="379120" y="94424"/>
                  </a:lnTo>
                  <a:lnTo>
                    <a:pt x="399110" y="94424"/>
                  </a:lnTo>
                  <a:lnTo>
                    <a:pt x="399110" y="52514"/>
                  </a:lnTo>
                  <a:lnTo>
                    <a:pt x="399961" y="49237"/>
                  </a:lnTo>
                  <a:lnTo>
                    <a:pt x="401777" y="45961"/>
                  </a:lnTo>
                  <a:lnTo>
                    <a:pt x="403593" y="41033"/>
                  </a:lnTo>
                  <a:lnTo>
                    <a:pt x="409054" y="38620"/>
                  </a:lnTo>
                  <a:lnTo>
                    <a:pt x="420928" y="38620"/>
                  </a:lnTo>
                  <a:lnTo>
                    <a:pt x="424561" y="40271"/>
                  </a:lnTo>
                  <a:lnTo>
                    <a:pt x="426377" y="43548"/>
                  </a:lnTo>
                  <a:lnTo>
                    <a:pt x="428205" y="45186"/>
                  </a:lnTo>
                  <a:lnTo>
                    <a:pt x="428205" y="94424"/>
                  </a:lnTo>
                  <a:lnTo>
                    <a:pt x="449046" y="94424"/>
                  </a:lnTo>
                  <a:lnTo>
                    <a:pt x="449046" y="38620"/>
                  </a:lnTo>
                  <a:close/>
                </a:path>
                <a:path w="534035" h="97155">
                  <a:moveTo>
                    <a:pt x="533641" y="68160"/>
                  </a:moveTo>
                  <a:lnTo>
                    <a:pt x="497281" y="50114"/>
                  </a:lnTo>
                  <a:lnTo>
                    <a:pt x="490982" y="48475"/>
                  </a:lnTo>
                  <a:lnTo>
                    <a:pt x="489165" y="47599"/>
                  </a:lnTo>
                  <a:lnTo>
                    <a:pt x="486371" y="46824"/>
                  </a:lnTo>
                  <a:lnTo>
                    <a:pt x="485533" y="45186"/>
                  </a:lnTo>
                  <a:lnTo>
                    <a:pt x="485533" y="41033"/>
                  </a:lnTo>
                  <a:lnTo>
                    <a:pt x="486371" y="39395"/>
                  </a:lnTo>
                  <a:lnTo>
                    <a:pt x="488200" y="38620"/>
                  </a:lnTo>
                  <a:lnTo>
                    <a:pt x="490016" y="36982"/>
                  </a:lnTo>
                  <a:lnTo>
                    <a:pt x="503707" y="36982"/>
                  </a:lnTo>
                  <a:lnTo>
                    <a:pt x="507339" y="37744"/>
                  </a:lnTo>
                  <a:lnTo>
                    <a:pt x="509168" y="40271"/>
                  </a:lnTo>
                  <a:lnTo>
                    <a:pt x="510006" y="41910"/>
                  </a:lnTo>
                  <a:lnTo>
                    <a:pt x="510984" y="43548"/>
                  </a:lnTo>
                  <a:lnTo>
                    <a:pt x="511835" y="45961"/>
                  </a:lnTo>
                  <a:lnTo>
                    <a:pt x="531825" y="45961"/>
                  </a:lnTo>
                  <a:lnTo>
                    <a:pt x="531406" y="41910"/>
                  </a:lnTo>
                  <a:lnTo>
                    <a:pt x="531317" y="41033"/>
                  </a:lnTo>
                  <a:lnTo>
                    <a:pt x="531241" y="40271"/>
                  </a:lnTo>
                  <a:lnTo>
                    <a:pt x="531152" y="39395"/>
                  </a:lnTo>
                  <a:lnTo>
                    <a:pt x="531075" y="38620"/>
                  </a:lnTo>
                  <a:lnTo>
                    <a:pt x="530974" y="37744"/>
                  </a:lnTo>
                  <a:lnTo>
                    <a:pt x="530555" y="36982"/>
                  </a:lnTo>
                  <a:lnTo>
                    <a:pt x="527342" y="31178"/>
                  </a:lnTo>
                  <a:lnTo>
                    <a:pt x="520915" y="27901"/>
                  </a:lnTo>
                  <a:lnTo>
                    <a:pt x="515467" y="24625"/>
                  </a:lnTo>
                  <a:lnTo>
                    <a:pt x="507339" y="22974"/>
                  </a:lnTo>
                  <a:lnTo>
                    <a:pt x="487349" y="22974"/>
                  </a:lnTo>
                  <a:lnTo>
                    <a:pt x="480072" y="25501"/>
                  </a:lnTo>
                  <a:lnTo>
                    <a:pt x="474624" y="29540"/>
                  </a:lnTo>
                  <a:lnTo>
                    <a:pt x="468198" y="34467"/>
                  </a:lnTo>
                  <a:lnTo>
                    <a:pt x="465531" y="40271"/>
                  </a:lnTo>
                  <a:lnTo>
                    <a:pt x="465531" y="51752"/>
                  </a:lnTo>
                  <a:lnTo>
                    <a:pt x="501891" y="68935"/>
                  </a:lnTo>
                  <a:lnTo>
                    <a:pt x="508190" y="70573"/>
                  </a:lnTo>
                  <a:lnTo>
                    <a:pt x="510984" y="71450"/>
                  </a:lnTo>
                  <a:lnTo>
                    <a:pt x="512800" y="72212"/>
                  </a:lnTo>
                  <a:lnTo>
                    <a:pt x="513651" y="73850"/>
                  </a:lnTo>
                  <a:lnTo>
                    <a:pt x="513651" y="78016"/>
                  </a:lnTo>
                  <a:lnTo>
                    <a:pt x="510006" y="81292"/>
                  </a:lnTo>
                  <a:lnTo>
                    <a:pt x="507339" y="82054"/>
                  </a:lnTo>
                  <a:lnTo>
                    <a:pt x="504558" y="82931"/>
                  </a:lnTo>
                  <a:lnTo>
                    <a:pt x="493649" y="82931"/>
                  </a:lnTo>
                  <a:lnTo>
                    <a:pt x="489165" y="81292"/>
                  </a:lnTo>
                  <a:lnTo>
                    <a:pt x="485533" y="78016"/>
                  </a:lnTo>
                  <a:lnTo>
                    <a:pt x="484555" y="75501"/>
                  </a:lnTo>
                  <a:lnTo>
                    <a:pt x="483704" y="72212"/>
                  </a:lnTo>
                  <a:lnTo>
                    <a:pt x="463715" y="72212"/>
                  </a:lnTo>
                  <a:lnTo>
                    <a:pt x="463715" y="79654"/>
                  </a:lnTo>
                  <a:lnTo>
                    <a:pt x="466382" y="85344"/>
                  </a:lnTo>
                  <a:lnTo>
                    <a:pt x="471830" y="89496"/>
                  </a:lnTo>
                  <a:lnTo>
                    <a:pt x="477012" y="92722"/>
                  </a:lnTo>
                  <a:lnTo>
                    <a:pt x="483362" y="95110"/>
                  </a:lnTo>
                  <a:lnTo>
                    <a:pt x="483616" y="95110"/>
                  </a:lnTo>
                  <a:lnTo>
                    <a:pt x="490435" y="96393"/>
                  </a:lnTo>
                  <a:lnTo>
                    <a:pt x="499110" y="96824"/>
                  </a:lnTo>
                  <a:lnTo>
                    <a:pt x="507339" y="96393"/>
                  </a:lnTo>
                  <a:lnTo>
                    <a:pt x="514362" y="95110"/>
                  </a:lnTo>
                  <a:lnTo>
                    <a:pt x="533641" y="80416"/>
                  </a:lnTo>
                  <a:lnTo>
                    <a:pt x="533641" y="68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7" name="object 87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4187170" y="539318"/>
            <a:ext cx="309063" cy="550765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4663682" y="1046077"/>
            <a:ext cx="1145456" cy="325977"/>
          </a:xfrm>
          <a:prstGeom prst="rect">
            <a:avLst/>
          </a:prstGeom>
        </p:spPr>
      </p:pic>
      <p:grpSp>
        <p:nvGrpSpPr>
          <p:cNvPr id="89" name="object 89"/>
          <p:cNvGrpSpPr/>
          <p:nvPr/>
        </p:nvGrpSpPr>
        <p:grpSpPr>
          <a:xfrm>
            <a:off x="4663682" y="1440059"/>
            <a:ext cx="1145540" cy="326390"/>
            <a:chOff x="4663682" y="1440059"/>
            <a:chExt cx="1145540" cy="326390"/>
          </a:xfrm>
        </p:grpSpPr>
        <p:sp>
          <p:nvSpPr>
            <p:cNvPr id="90" name="object 90"/>
            <p:cNvSpPr/>
            <p:nvPr/>
          </p:nvSpPr>
          <p:spPr>
            <a:xfrm>
              <a:off x="4669067" y="1445444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4">
                  <a:moveTo>
                    <a:pt x="1047422" y="0"/>
                  </a:moveTo>
                  <a:lnTo>
                    <a:pt x="87264" y="0"/>
                  </a:lnTo>
                  <a:lnTo>
                    <a:pt x="53279" y="6185"/>
                  </a:lnTo>
                  <a:lnTo>
                    <a:pt x="25543" y="23057"/>
                  </a:lnTo>
                  <a:lnTo>
                    <a:pt x="6851" y="48095"/>
                  </a:lnTo>
                  <a:lnTo>
                    <a:pt x="0" y="78774"/>
                  </a:lnTo>
                  <a:lnTo>
                    <a:pt x="0" y="236323"/>
                  </a:lnTo>
                  <a:lnTo>
                    <a:pt x="6851" y="267002"/>
                  </a:lnTo>
                  <a:lnTo>
                    <a:pt x="25543" y="292040"/>
                  </a:lnTo>
                  <a:lnTo>
                    <a:pt x="53279" y="308913"/>
                  </a:lnTo>
                  <a:lnTo>
                    <a:pt x="87264" y="315098"/>
                  </a:lnTo>
                  <a:lnTo>
                    <a:pt x="1047422" y="315098"/>
                  </a:lnTo>
                  <a:lnTo>
                    <a:pt x="1081356" y="308913"/>
                  </a:lnTo>
                  <a:lnTo>
                    <a:pt x="1109098" y="292040"/>
                  </a:lnTo>
                  <a:lnTo>
                    <a:pt x="1127818" y="267002"/>
                  </a:lnTo>
                  <a:lnTo>
                    <a:pt x="1134687" y="236323"/>
                  </a:lnTo>
                  <a:lnTo>
                    <a:pt x="1134687" y="78774"/>
                  </a:lnTo>
                  <a:lnTo>
                    <a:pt x="1127818" y="48095"/>
                  </a:lnTo>
                  <a:lnTo>
                    <a:pt x="1109098" y="23057"/>
                  </a:lnTo>
                  <a:lnTo>
                    <a:pt x="1081356" y="6185"/>
                  </a:lnTo>
                  <a:lnTo>
                    <a:pt x="1047422" y="0"/>
                  </a:lnTo>
                  <a:close/>
                </a:path>
              </a:pathLst>
            </a:custGeom>
            <a:solidFill>
              <a:srgbClr val="CA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669067" y="1445444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4">
                  <a:moveTo>
                    <a:pt x="1134687" y="236323"/>
                  </a:moveTo>
                  <a:lnTo>
                    <a:pt x="1127818" y="267002"/>
                  </a:lnTo>
                  <a:lnTo>
                    <a:pt x="1109098" y="292040"/>
                  </a:lnTo>
                  <a:lnTo>
                    <a:pt x="1081356" y="308913"/>
                  </a:lnTo>
                  <a:lnTo>
                    <a:pt x="1047422" y="315098"/>
                  </a:lnTo>
                  <a:lnTo>
                    <a:pt x="87264" y="315098"/>
                  </a:lnTo>
                  <a:lnTo>
                    <a:pt x="53279" y="308913"/>
                  </a:lnTo>
                  <a:lnTo>
                    <a:pt x="25543" y="292040"/>
                  </a:lnTo>
                  <a:lnTo>
                    <a:pt x="6851" y="267002"/>
                  </a:lnTo>
                  <a:lnTo>
                    <a:pt x="0" y="236323"/>
                  </a:lnTo>
                  <a:lnTo>
                    <a:pt x="0" y="78774"/>
                  </a:lnTo>
                  <a:lnTo>
                    <a:pt x="6851" y="48095"/>
                  </a:lnTo>
                  <a:lnTo>
                    <a:pt x="25543" y="23057"/>
                  </a:lnTo>
                  <a:lnTo>
                    <a:pt x="53279" y="6185"/>
                  </a:lnTo>
                  <a:lnTo>
                    <a:pt x="87264" y="0"/>
                  </a:lnTo>
                  <a:lnTo>
                    <a:pt x="1047422" y="0"/>
                  </a:lnTo>
                  <a:lnTo>
                    <a:pt x="1081356" y="6185"/>
                  </a:lnTo>
                  <a:lnTo>
                    <a:pt x="1109098" y="23057"/>
                  </a:lnTo>
                  <a:lnTo>
                    <a:pt x="1127818" y="48095"/>
                  </a:lnTo>
                  <a:lnTo>
                    <a:pt x="1134687" y="78774"/>
                  </a:lnTo>
                  <a:lnTo>
                    <a:pt x="1134687" y="236323"/>
                  </a:lnTo>
                  <a:close/>
                </a:path>
              </a:pathLst>
            </a:custGeom>
            <a:ln w="10752">
              <a:solidFill>
                <a:srgbClr val="08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862746" y="1538114"/>
              <a:ext cx="436324" cy="123194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319191" y="1539755"/>
              <a:ext cx="242766" cy="96936"/>
            </a:xfrm>
            <a:prstGeom prst="rect">
              <a:avLst/>
            </a:prstGeom>
          </p:spPr>
        </p:pic>
      </p:grpSp>
      <p:pic>
        <p:nvPicPr>
          <p:cNvPr id="94" name="object 94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4663682" y="1833932"/>
            <a:ext cx="1145456" cy="325977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663682" y="2227914"/>
            <a:ext cx="1145456" cy="325977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663682" y="2621896"/>
            <a:ext cx="1145456" cy="325867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4663682" y="3015879"/>
            <a:ext cx="1145456" cy="325867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4663682" y="3409751"/>
            <a:ext cx="1145456" cy="325977"/>
          </a:xfrm>
          <a:prstGeom prst="rect">
            <a:avLst/>
          </a:prstGeom>
        </p:spPr>
      </p:pic>
      <p:grpSp>
        <p:nvGrpSpPr>
          <p:cNvPr id="99" name="object 99"/>
          <p:cNvGrpSpPr/>
          <p:nvPr/>
        </p:nvGrpSpPr>
        <p:grpSpPr>
          <a:xfrm>
            <a:off x="4663682" y="3803734"/>
            <a:ext cx="1145540" cy="326390"/>
            <a:chOff x="4663682" y="3803734"/>
            <a:chExt cx="1145540" cy="326390"/>
          </a:xfrm>
        </p:grpSpPr>
        <p:sp>
          <p:nvSpPr>
            <p:cNvPr id="100" name="object 100"/>
            <p:cNvSpPr/>
            <p:nvPr/>
          </p:nvSpPr>
          <p:spPr>
            <a:xfrm>
              <a:off x="4669067" y="3809118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5">
                  <a:moveTo>
                    <a:pt x="1047422" y="0"/>
                  </a:moveTo>
                  <a:lnTo>
                    <a:pt x="87264" y="0"/>
                  </a:lnTo>
                  <a:lnTo>
                    <a:pt x="53279" y="6185"/>
                  </a:lnTo>
                  <a:lnTo>
                    <a:pt x="25543" y="23057"/>
                  </a:lnTo>
                  <a:lnTo>
                    <a:pt x="6851" y="48095"/>
                  </a:lnTo>
                  <a:lnTo>
                    <a:pt x="0" y="78774"/>
                  </a:lnTo>
                  <a:lnTo>
                    <a:pt x="0" y="236323"/>
                  </a:lnTo>
                  <a:lnTo>
                    <a:pt x="6851" y="267002"/>
                  </a:lnTo>
                  <a:lnTo>
                    <a:pt x="25543" y="292040"/>
                  </a:lnTo>
                  <a:lnTo>
                    <a:pt x="53279" y="308913"/>
                  </a:lnTo>
                  <a:lnTo>
                    <a:pt x="87264" y="315098"/>
                  </a:lnTo>
                  <a:lnTo>
                    <a:pt x="1047422" y="315098"/>
                  </a:lnTo>
                  <a:lnTo>
                    <a:pt x="1081356" y="308913"/>
                  </a:lnTo>
                  <a:lnTo>
                    <a:pt x="1109098" y="292040"/>
                  </a:lnTo>
                  <a:lnTo>
                    <a:pt x="1127818" y="267002"/>
                  </a:lnTo>
                  <a:lnTo>
                    <a:pt x="1134687" y="236323"/>
                  </a:lnTo>
                  <a:lnTo>
                    <a:pt x="1134687" y="78774"/>
                  </a:lnTo>
                  <a:lnTo>
                    <a:pt x="1127818" y="48095"/>
                  </a:lnTo>
                  <a:lnTo>
                    <a:pt x="1109098" y="23057"/>
                  </a:lnTo>
                  <a:lnTo>
                    <a:pt x="1081356" y="6185"/>
                  </a:lnTo>
                  <a:lnTo>
                    <a:pt x="1047422" y="0"/>
                  </a:lnTo>
                  <a:close/>
                </a:path>
              </a:pathLst>
            </a:custGeom>
            <a:solidFill>
              <a:srgbClr val="CA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669067" y="3809118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5">
                  <a:moveTo>
                    <a:pt x="1134687" y="236323"/>
                  </a:moveTo>
                  <a:lnTo>
                    <a:pt x="1127818" y="267002"/>
                  </a:lnTo>
                  <a:lnTo>
                    <a:pt x="1109098" y="292040"/>
                  </a:lnTo>
                  <a:lnTo>
                    <a:pt x="1081356" y="308913"/>
                  </a:lnTo>
                  <a:lnTo>
                    <a:pt x="1047422" y="315098"/>
                  </a:lnTo>
                  <a:lnTo>
                    <a:pt x="87264" y="315098"/>
                  </a:lnTo>
                  <a:lnTo>
                    <a:pt x="53279" y="308913"/>
                  </a:lnTo>
                  <a:lnTo>
                    <a:pt x="25543" y="292040"/>
                  </a:lnTo>
                  <a:lnTo>
                    <a:pt x="6851" y="267002"/>
                  </a:lnTo>
                  <a:lnTo>
                    <a:pt x="0" y="236323"/>
                  </a:lnTo>
                  <a:lnTo>
                    <a:pt x="0" y="78774"/>
                  </a:lnTo>
                  <a:lnTo>
                    <a:pt x="6851" y="48095"/>
                  </a:lnTo>
                  <a:lnTo>
                    <a:pt x="25543" y="23057"/>
                  </a:lnTo>
                  <a:lnTo>
                    <a:pt x="53279" y="6185"/>
                  </a:lnTo>
                  <a:lnTo>
                    <a:pt x="87264" y="0"/>
                  </a:lnTo>
                  <a:lnTo>
                    <a:pt x="1047422" y="0"/>
                  </a:lnTo>
                  <a:lnTo>
                    <a:pt x="1081356" y="6185"/>
                  </a:lnTo>
                  <a:lnTo>
                    <a:pt x="1109098" y="23057"/>
                  </a:lnTo>
                  <a:lnTo>
                    <a:pt x="1127818" y="48095"/>
                  </a:lnTo>
                  <a:lnTo>
                    <a:pt x="1134687" y="78774"/>
                  </a:lnTo>
                  <a:lnTo>
                    <a:pt x="1134687" y="236323"/>
                  </a:lnTo>
                  <a:close/>
                </a:path>
              </a:pathLst>
            </a:custGeom>
            <a:ln w="10752">
              <a:solidFill>
                <a:srgbClr val="08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947221" y="3901033"/>
              <a:ext cx="531495" cy="125095"/>
            </a:xfrm>
            <a:custGeom>
              <a:avLst/>
              <a:gdLst/>
              <a:ahLst/>
              <a:cxnLst/>
              <a:rect l="l" t="t" r="r" b="b"/>
              <a:pathLst>
                <a:path w="531495" h="125095">
                  <a:moveTo>
                    <a:pt x="85445" y="60718"/>
                  </a:moveTo>
                  <a:lnTo>
                    <a:pt x="58178" y="43535"/>
                  </a:lnTo>
                  <a:lnTo>
                    <a:pt x="40957" y="39382"/>
                  </a:lnTo>
                  <a:lnTo>
                    <a:pt x="33693" y="37744"/>
                  </a:lnTo>
                  <a:lnTo>
                    <a:pt x="29083" y="36969"/>
                  </a:lnTo>
                  <a:lnTo>
                    <a:pt x="27266" y="35331"/>
                  </a:lnTo>
                  <a:lnTo>
                    <a:pt x="23634" y="33693"/>
                  </a:lnTo>
                  <a:lnTo>
                    <a:pt x="21818" y="31178"/>
                  </a:lnTo>
                  <a:lnTo>
                    <a:pt x="21818" y="24612"/>
                  </a:lnTo>
                  <a:lnTo>
                    <a:pt x="23634" y="21336"/>
                  </a:lnTo>
                  <a:lnTo>
                    <a:pt x="27266" y="19685"/>
                  </a:lnTo>
                  <a:lnTo>
                    <a:pt x="30048" y="17284"/>
                  </a:lnTo>
                  <a:lnTo>
                    <a:pt x="34544" y="16408"/>
                  </a:lnTo>
                  <a:lnTo>
                    <a:pt x="45453" y="16408"/>
                  </a:lnTo>
                  <a:lnTo>
                    <a:pt x="50050" y="17284"/>
                  </a:lnTo>
                  <a:lnTo>
                    <a:pt x="52717" y="18923"/>
                  </a:lnTo>
                  <a:lnTo>
                    <a:pt x="58178" y="21336"/>
                  </a:lnTo>
                  <a:lnTo>
                    <a:pt x="60960" y="25488"/>
                  </a:lnTo>
                  <a:lnTo>
                    <a:pt x="60960" y="30416"/>
                  </a:lnTo>
                  <a:lnTo>
                    <a:pt x="81813" y="30416"/>
                  </a:lnTo>
                  <a:lnTo>
                    <a:pt x="81813" y="20561"/>
                  </a:lnTo>
                  <a:lnTo>
                    <a:pt x="79298" y="16408"/>
                  </a:lnTo>
                  <a:lnTo>
                    <a:pt x="77317" y="13119"/>
                  </a:lnTo>
                  <a:lnTo>
                    <a:pt x="41808" y="0"/>
                  </a:lnTo>
                  <a:lnTo>
                    <a:pt x="32791" y="482"/>
                  </a:lnTo>
                  <a:lnTo>
                    <a:pt x="1816" y="21336"/>
                  </a:lnTo>
                  <a:lnTo>
                    <a:pt x="1816" y="38620"/>
                  </a:lnTo>
                  <a:lnTo>
                    <a:pt x="34544" y="56667"/>
                  </a:lnTo>
                  <a:lnTo>
                    <a:pt x="52717" y="60718"/>
                  </a:lnTo>
                  <a:lnTo>
                    <a:pt x="57327" y="61595"/>
                  </a:lnTo>
                  <a:lnTo>
                    <a:pt x="59994" y="63233"/>
                  </a:lnTo>
                  <a:lnTo>
                    <a:pt x="62776" y="64871"/>
                  </a:lnTo>
                  <a:lnTo>
                    <a:pt x="64592" y="67284"/>
                  </a:lnTo>
                  <a:lnTo>
                    <a:pt x="64592" y="76365"/>
                  </a:lnTo>
                  <a:lnTo>
                    <a:pt x="61810" y="79641"/>
                  </a:lnTo>
                  <a:lnTo>
                    <a:pt x="55511" y="81280"/>
                  </a:lnTo>
                  <a:lnTo>
                    <a:pt x="51866" y="82931"/>
                  </a:lnTo>
                  <a:lnTo>
                    <a:pt x="34544" y="82931"/>
                  </a:lnTo>
                  <a:lnTo>
                    <a:pt x="28232" y="81280"/>
                  </a:lnTo>
                  <a:lnTo>
                    <a:pt x="24599" y="77127"/>
                  </a:lnTo>
                  <a:lnTo>
                    <a:pt x="22783" y="75488"/>
                  </a:lnTo>
                  <a:lnTo>
                    <a:pt x="21818" y="72199"/>
                  </a:lnTo>
                  <a:lnTo>
                    <a:pt x="20967" y="67284"/>
                  </a:lnTo>
                  <a:lnTo>
                    <a:pt x="0" y="67284"/>
                  </a:lnTo>
                  <a:lnTo>
                    <a:pt x="25704" y="97078"/>
                  </a:lnTo>
                  <a:lnTo>
                    <a:pt x="43624" y="99339"/>
                  </a:lnTo>
                  <a:lnTo>
                    <a:pt x="52997" y="98755"/>
                  </a:lnTo>
                  <a:lnTo>
                    <a:pt x="53149" y="98755"/>
                  </a:lnTo>
                  <a:lnTo>
                    <a:pt x="60972" y="97078"/>
                  </a:lnTo>
                  <a:lnTo>
                    <a:pt x="61214" y="97078"/>
                  </a:lnTo>
                  <a:lnTo>
                    <a:pt x="68567" y="94119"/>
                  </a:lnTo>
                  <a:lnTo>
                    <a:pt x="74536" y="90258"/>
                  </a:lnTo>
                  <a:lnTo>
                    <a:pt x="81813" y="85331"/>
                  </a:lnTo>
                  <a:lnTo>
                    <a:pt x="83007" y="82931"/>
                  </a:lnTo>
                  <a:lnTo>
                    <a:pt x="85445" y="78003"/>
                  </a:lnTo>
                  <a:lnTo>
                    <a:pt x="85445" y="60718"/>
                  </a:lnTo>
                  <a:close/>
                </a:path>
                <a:path w="531495" h="125095">
                  <a:moveTo>
                    <a:pt x="135496" y="27889"/>
                  </a:moveTo>
                  <a:lnTo>
                    <a:pt x="123748" y="27889"/>
                  </a:lnTo>
                  <a:lnTo>
                    <a:pt x="123748" y="8204"/>
                  </a:lnTo>
                  <a:lnTo>
                    <a:pt x="103619" y="8204"/>
                  </a:lnTo>
                  <a:lnTo>
                    <a:pt x="103619" y="27889"/>
                  </a:lnTo>
                  <a:lnTo>
                    <a:pt x="92710" y="27889"/>
                  </a:lnTo>
                  <a:lnTo>
                    <a:pt x="92710" y="41021"/>
                  </a:lnTo>
                  <a:lnTo>
                    <a:pt x="103619" y="41021"/>
                  </a:lnTo>
                  <a:lnTo>
                    <a:pt x="103619" y="87845"/>
                  </a:lnTo>
                  <a:lnTo>
                    <a:pt x="104597" y="91135"/>
                  </a:lnTo>
                  <a:lnTo>
                    <a:pt x="106413" y="93535"/>
                  </a:lnTo>
                  <a:lnTo>
                    <a:pt x="110045" y="96824"/>
                  </a:lnTo>
                  <a:lnTo>
                    <a:pt x="116344" y="97701"/>
                  </a:lnTo>
                  <a:lnTo>
                    <a:pt x="135496" y="97701"/>
                  </a:lnTo>
                  <a:lnTo>
                    <a:pt x="135496" y="83693"/>
                  </a:lnTo>
                  <a:lnTo>
                    <a:pt x="125564" y="83693"/>
                  </a:lnTo>
                  <a:lnTo>
                    <a:pt x="124587" y="82931"/>
                  </a:lnTo>
                  <a:lnTo>
                    <a:pt x="123748" y="82054"/>
                  </a:lnTo>
                  <a:lnTo>
                    <a:pt x="123748" y="41021"/>
                  </a:lnTo>
                  <a:lnTo>
                    <a:pt x="135496" y="41021"/>
                  </a:lnTo>
                  <a:lnTo>
                    <a:pt x="135496" y="27889"/>
                  </a:lnTo>
                  <a:close/>
                </a:path>
                <a:path w="531495" h="125095">
                  <a:moveTo>
                    <a:pt x="222770" y="62357"/>
                  </a:moveTo>
                  <a:lnTo>
                    <a:pt x="222262" y="55029"/>
                  </a:lnTo>
                  <a:lnTo>
                    <a:pt x="222250" y="54825"/>
                  </a:lnTo>
                  <a:lnTo>
                    <a:pt x="220624" y="48044"/>
                  </a:lnTo>
                  <a:lnTo>
                    <a:pt x="201917" y="28067"/>
                  </a:lnTo>
                  <a:lnTo>
                    <a:pt x="201917" y="68922"/>
                  </a:lnTo>
                  <a:lnTo>
                    <a:pt x="200101" y="74726"/>
                  </a:lnTo>
                  <a:lnTo>
                    <a:pt x="197307" y="78003"/>
                  </a:lnTo>
                  <a:lnTo>
                    <a:pt x="193675" y="82054"/>
                  </a:lnTo>
                  <a:lnTo>
                    <a:pt x="189191" y="83693"/>
                  </a:lnTo>
                  <a:lnTo>
                    <a:pt x="177317" y="83693"/>
                  </a:lnTo>
                  <a:lnTo>
                    <a:pt x="172834" y="82054"/>
                  </a:lnTo>
                  <a:lnTo>
                    <a:pt x="170040" y="78003"/>
                  </a:lnTo>
                  <a:lnTo>
                    <a:pt x="166408" y="74726"/>
                  </a:lnTo>
                  <a:lnTo>
                    <a:pt x="165658" y="69583"/>
                  </a:lnTo>
                  <a:lnTo>
                    <a:pt x="165595" y="54825"/>
                  </a:lnTo>
                  <a:lnTo>
                    <a:pt x="166408" y="50101"/>
                  </a:lnTo>
                  <a:lnTo>
                    <a:pt x="170040" y="45948"/>
                  </a:lnTo>
                  <a:lnTo>
                    <a:pt x="172834" y="41897"/>
                  </a:lnTo>
                  <a:lnTo>
                    <a:pt x="177317" y="40259"/>
                  </a:lnTo>
                  <a:lnTo>
                    <a:pt x="189191" y="40259"/>
                  </a:lnTo>
                  <a:lnTo>
                    <a:pt x="201917" y="68922"/>
                  </a:lnTo>
                  <a:lnTo>
                    <a:pt x="201917" y="28067"/>
                  </a:lnTo>
                  <a:lnTo>
                    <a:pt x="201066" y="27609"/>
                  </a:lnTo>
                  <a:lnTo>
                    <a:pt x="193116" y="25374"/>
                  </a:lnTo>
                  <a:lnTo>
                    <a:pt x="183743" y="24612"/>
                  </a:lnTo>
                  <a:lnTo>
                    <a:pt x="174282" y="25374"/>
                  </a:lnTo>
                  <a:lnTo>
                    <a:pt x="145122" y="54825"/>
                  </a:lnTo>
                  <a:lnTo>
                    <a:pt x="144589" y="62357"/>
                  </a:lnTo>
                  <a:lnTo>
                    <a:pt x="145072" y="68922"/>
                  </a:lnTo>
                  <a:lnTo>
                    <a:pt x="174282" y="98590"/>
                  </a:lnTo>
                  <a:lnTo>
                    <a:pt x="183743" y="99339"/>
                  </a:lnTo>
                  <a:lnTo>
                    <a:pt x="193116" y="98590"/>
                  </a:lnTo>
                  <a:lnTo>
                    <a:pt x="201066" y="96443"/>
                  </a:lnTo>
                  <a:lnTo>
                    <a:pt x="207835" y="93065"/>
                  </a:lnTo>
                  <a:lnTo>
                    <a:pt x="213677" y="88620"/>
                  </a:lnTo>
                  <a:lnTo>
                    <a:pt x="217170" y="83693"/>
                  </a:lnTo>
                  <a:lnTo>
                    <a:pt x="217805" y="82804"/>
                  </a:lnTo>
                  <a:lnTo>
                    <a:pt x="220624" y="76428"/>
                  </a:lnTo>
                  <a:lnTo>
                    <a:pt x="222250" y="69583"/>
                  </a:lnTo>
                  <a:lnTo>
                    <a:pt x="222770" y="62357"/>
                  </a:lnTo>
                  <a:close/>
                </a:path>
                <a:path w="531495" h="125095">
                  <a:moveTo>
                    <a:pt x="282765" y="25488"/>
                  </a:moveTo>
                  <a:lnTo>
                    <a:pt x="280098" y="25488"/>
                  </a:lnTo>
                  <a:lnTo>
                    <a:pt x="273672" y="25488"/>
                  </a:lnTo>
                  <a:lnTo>
                    <a:pt x="269189" y="27127"/>
                  </a:lnTo>
                  <a:lnTo>
                    <a:pt x="265544" y="29540"/>
                  </a:lnTo>
                  <a:lnTo>
                    <a:pt x="262763" y="31178"/>
                  </a:lnTo>
                  <a:lnTo>
                    <a:pt x="260096" y="34455"/>
                  </a:lnTo>
                  <a:lnTo>
                    <a:pt x="257302" y="39382"/>
                  </a:lnTo>
                  <a:lnTo>
                    <a:pt x="257302" y="27127"/>
                  </a:lnTo>
                  <a:lnTo>
                    <a:pt x="237312" y="27127"/>
                  </a:lnTo>
                  <a:lnTo>
                    <a:pt x="237312" y="96824"/>
                  </a:lnTo>
                  <a:lnTo>
                    <a:pt x="258279" y="96824"/>
                  </a:lnTo>
                  <a:lnTo>
                    <a:pt x="258279" y="58305"/>
                  </a:lnTo>
                  <a:lnTo>
                    <a:pt x="259130" y="54152"/>
                  </a:lnTo>
                  <a:lnTo>
                    <a:pt x="260096" y="50876"/>
                  </a:lnTo>
                  <a:lnTo>
                    <a:pt x="262763" y="46824"/>
                  </a:lnTo>
                  <a:lnTo>
                    <a:pt x="268211" y="44310"/>
                  </a:lnTo>
                  <a:lnTo>
                    <a:pt x="282765" y="44310"/>
                  </a:lnTo>
                  <a:lnTo>
                    <a:pt x="282765" y="25488"/>
                  </a:lnTo>
                  <a:close/>
                </a:path>
                <a:path w="531495" h="125095">
                  <a:moveTo>
                    <a:pt x="360934" y="94411"/>
                  </a:moveTo>
                  <a:lnTo>
                    <a:pt x="360083" y="93535"/>
                  </a:lnTo>
                  <a:lnTo>
                    <a:pt x="359117" y="92773"/>
                  </a:lnTo>
                  <a:lnTo>
                    <a:pt x="358267" y="91897"/>
                  </a:lnTo>
                  <a:lnTo>
                    <a:pt x="357301" y="91135"/>
                  </a:lnTo>
                  <a:lnTo>
                    <a:pt x="357301" y="88620"/>
                  </a:lnTo>
                  <a:lnTo>
                    <a:pt x="357301" y="85331"/>
                  </a:lnTo>
                  <a:lnTo>
                    <a:pt x="357301" y="63233"/>
                  </a:lnTo>
                  <a:lnTo>
                    <a:pt x="357301" y="40259"/>
                  </a:lnTo>
                  <a:lnTo>
                    <a:pt x="357301" y="38620"/>
                  </a:lnTo>
                  <a:lnTo>
                    <a:pt x="353656" y="32816"/>
                  </a:lnTo>
                  <a:lnTo>
                    <a:pt x="347357" y="30416"/>
                  </a:lnTo>
                  <a:lnTo>
                    <a:pt x="340931" y="27127"/>
                  </a:lnTo>
                  <a:lnTo>
                    <a:pt x="333667" y="25488"/>
                  </a:lnTo>
                  <a:lnTo>
                    <a:pt x="324573" y="25488"/>
                  </a:lnTo>
                  <a:lnTo>
                    <a:pt x="315709" y="26085"/>
                  </a:lnTo>
                  <a:lnTo>
                    <a:pt x="291846" y="43535"/>
                  </a:lnTo>
                  <a:lnTo>
                    <a:pt x="291846" y="50101"/>
                  </a:lnTo>
                  <a:lnTo>
                    <a:pt x="310997" y="50101"/>
                  </a:lnTo>
                  <a:lnTo>
                    <a:pt x="311848" y="46824"/>
                  </a:lnTo>
                  <a:lnTo>
                    <a:pt x="312813" y="45186"/>
                  </a:lnTo>
                  <a:lnTo>
                    <a:pt x="313664" y="43535"/>
                  </a:lnTo>
                  <a:lnTo>
                    <a:pt x="316458" y="41021"/>
                  </a:lnTo>
                  <a:lnTo>
                    <a:pt x="319125" y="40259"/>
                  </a:lnTo>
                  <a:lnTo>
                    <a:pt x="328206" y="40259"/>
                  </a:lnTo>
                  <a:lnTo>
                    <a:pt x="331851" y="41021"/>
                  </a:lnTo>
                  <a:lnTo>
                    <a:pt x="333667" y="41897"/>
                  </a:lnTo>
                  <a:lnTo>
                    <a:pt x="335483" y="42659"/>
                  </a:lnTo>
                  <a:lnTo>
                    <a:pt x="337299" y="45186"/>
                  </a:lnTo>
                  <a:lnTo>
                    <a:pt x="337299" y="50101"/>
                  </a:lnTo>
                  <a:lnTo>
                    <a:pt x="337299" y="63233"/>
                  </a:lnTo>
                  <a:lnTo>
                    <a:pt x="337185" y="70561"/>
                  </a:lnTo>
                  <a:lnTo>
                    <a:pt x="336448" y="75488"/>
                  </a:lnTo>
                  <a:lnTo>
                    <a:pt x="334632" y="79641"/>
                  </a:lnTo>
                  <a:lnTo>
                    <a:pt x="331000" y="82054"/>
                  </a:lnTo>
                  <a:lnTo>
                    <a:pt x="327355" y="84569"/>
                  </a:lnTo>
                  <a:lnTo>
                    <a:pt x="323723" y="85331"/>
                  </a:lnTo>
                  <a:lnTo>
                    <a:pt x="314629" y="85331"/>
                  </a:lnTo>
                  <a:lnTo>
                    <a:pt x="312813" y="83693"/>
                  </a:lnTo>
                  <a:lnTo>
                    <a:pt x="310032" y="82054"/>
                  </a:lnTo>
                  <a:lnTo>
                    <a:pt x="309181" y="79641"/>
                  </a:lnTo>
                  <a:lnTo>
                    <a:pt x="309181" y="73075"/>
                  </a:lnTo>
                  <a:lnTo>
                    <a:pt x="323723" y="66509"/>
                  </a:lnTo>
                  <a:lnTo>
                    <a:pt x="328206" y="65646"/>
                  </a:lnTo>
                  <a:lnTo>
                    <a:pt x="330022" y="65646"/>
                  </a:lnTo>
                  <a:lnTo>
                    <a:pt x="331851" y="64871"/>
                  </a:lnTo>
                  <a:lnTo>
                    <a:pt x="332816" y="64871"/>
                  </a:lnTo>
                  <a:lnTo>
                    <a:pt x="334632" y="63995"/>
                  </a:lnTo>
                  <a:lnTo>
                    <a:pt x="335483" y="63995"/>
                  </a:lnTo>
                  <a:lnTo>
                    <a:pt x="337299" y="63233"/>
                  </a:lnTo>
                  <a:lnTo>
                    <a:pt x="337299" y="50101"/>
                  </a:lnTo>
                  <a:lnTo>
                    <a:pt x="335483" y="51739"/>
                  </a:lnTo>
                  <a:lnTo>
                    <a:pt x="332816" y="52514"/>
                  </a:lnTo>
                  <a:lnTo>
                    <a:pt x="331000" y="53390"/>
                  </a:lnTo>
                  <a:lnTo>
                    <a:pt x="328206" y="54152"/>
                  </a:lnTo>
                  <a:lnTo>
                    <a:pt x="324573" y="54152"/>
                  </a:lnTo>
                  <a:lnTo>
                    <a:pt x="318274" y="55029"/>
                  </a:lnTo>
                  <a:lnTo>
                    <a:pt x="310032" y="55791"/>
                  </a:lnTo>
                  <a:lnTo>
                    <a:pt x="304571" y="57429"/>
                  </a:lnTo>
                  <a:lnTo>
                    <a:pt x="300088" y="59956"/>
                  </a:lnTo>
                  <a:lnTo>
                    <a:pt x="292823" y="63233"/>
                  </a:lnTo>
                  <a:lnTo>
                    <a:pt x="289179" y="69799"/>
                  </a:lnTo>
                  <a:lnTo>
                    <a:pt x="289179" y="84569"/>
                  </a:lnTo>
                  <a:lnTo>
                    <a:pt x="291846" y="90258"/>
                  </a:lnTo>
                  <a:lnTo>
                    <a:pt x="296456" y="93535"/>
                  </a:lnTo>
                  <a:lnTo>
                    <a:pt x="300939" y="96824"/>
                  </a:lnTo>
                  <a:lnTo>
                    <a:pt x="306387" y="98463"/>
                  </a:lnTo>
                  <a:lnTo>
                    <a:pt x="319125" y="98463"/>
                  </a:lnTo>
                  <a:lnTo>
                    <a:pt x="323723" y="97701"/>
                  </a:lnTo>
                  <a:lnTo>
                    <a:pt x="328206" y="95186"/>
                  </a:lnTo>
                  <a:lnTo>
                    <a:pt x="331851" y="93535"/>
                  </a:lnTo>
                  <a:lnTo>
                    <a:pt x="334632" y="91135"/>
                  </a:lnTo>
                  <a:lnTo>
                    <a:pt x="337299" y="88620"/>
                  </a:lnTo>
                  <a:lnTo>
                    <a:pt x="338264" y="90258"/>
                  </a:lnTo>
                  <a:lnTo>
                    <a:pt x="338264" y="94411"/>
                  </a:lnTo>
                  <a:lnTo>
                    <a:pt x="339115" y="95186"/>
                  </a:lnTo>
                  <a:lnTo>
                    <a:pt x="339115" y="96824"/>
                  </a:lnTo>
                  <a:lnTo>
                    <a:pt x="360934" y="96824"/>
                  </a:lnTo>
                  <a:lnTo>
                    <a:pt x="360934" y="94411"/>
                  </a:lnTo>
                  <a:close/>
                </a:path>
                <a:path w="531495" h="125095">
                  <a:moveTo>
                    <a:pt x="444690" y="27127"/>
                  </a:moveTo>
                  <a:lnTo>
                    <a:pt x="425538" y="27127"/>
                  </a:lnTo>
                  <a:lnTo>
                    <a:pt x="425538" y="36969"/>
                  </a:lnTo>
                  <a:lnTo>
                    <a:pt x="425538" y="68922"/>
                  </a:lnTo>
                  <a:lnTo>
                    <a:pt x="423710" y="73850"/>
                  </a:lnTo>
                  <a:lnTo>
                    <a:pt x="420077" y="77127"/>
                  </a:lnTo>
                  <a:lnTo>
                    <a:pt x="417410" y="80416"/>
                  </a:lnTo>
                  <a:lnTo>
                    <a:pt x="412813" y="82054"/>
                  </a:lnTo>
                  <a:lnTo>
                    <a:pt x="401053" y="82054"/>
                  </a:lnTo>
                  <a:lnTo>
                    <a:pt x="396443" y="78765"/>
                  </a:lnTo>
                  <a:lnTo>
                    <a:pt x="393776" y="73075"/>
                  </a:lnTo>
                  <a:lnTo>
                    <a:pt x="392036" y="69938"/>
                  </a:lnTo>
                  <a:lnTo>
                    <a:pt x="391960" y="53390"/>
                  </a:lnTo>
                  <a:lnTo>
                    <a:pt x="393776" y="50101"/>
                  </a:lnTo>
                  <a:lnTo>
                    <a:pt x="396443" y="44310"/>
                  </a:lnTo>
                  <a:lnTo>
                    <a:pt x="401053" y="41897"/>
                  </a:lnTo>
                  <a:lnTo>
                    <a:pt x="413778" y="41897"/>
                  </a:lnTo>
                  <a:lnTo>
                    <a:pt x="425538" y="68922"/>
                  </a:lnTo>
                  <a:lnTo>
                    <a:pt x="425538" y="36969"/>
                  </a:lnTo>
                  <a:lnTo>
                    <a:pt x="407352" y="25488"/>
                  </a:lnTo>
                  <a:lnTo>
                    <a:pt x="403720" y="25488"/>
                  </a:lnTo>
                  <a:lnTo>
                    <a:pt x="371513" y="54825"/>
                  </a:lnTo>
                  <a:lnTo>
                    <a:pt x="370992" y="62357"/>
                  </a:lnTo>
                  <a:lnTo>
                    <a:pt x="371449" y="68922"/>
                  </a:lnTo>
                  <a:lnTo>
                    <a:pt x="371513" y="69938"/>
                  </a:lnTo>
                  <a:lnTo>
                    <a:pt x="403720" y="96824"/>
                  </a:lnTo>
                  <a:lnTo>
                    <a:pt x="410146" y="96824"/>
                  </a:lnTo>
                  <a:lnTo>
                    <a:pt x="414629" y="96062"/>
                  </a:lnTo>
                  <a:lnTo>
                    <a:pt x="419227" y="92773"/>
                  </a:lnTo>
                  <a:lnTo>
                    <a:pt x="422871" y="89496"/>
                  </a:lnTo>
                  <a:lnTo>
                    <a:pt x="424688" y="86207"/>
                  </a:lnTo>
                  <a:lnTo>
                    <a:pt x="424688" y="101739"/>
                  </a:lnTo>
                  <a:lnTo>
                    <a:pt x="422871" y="105029"/>
                  </a:lnTo>
                  <a:lnTo>
                    <a:pt x="420077" y="109181"/>
                  </a:lnTo>
                  <a:lnTo>
                    <a:pt x="415594" y="111594"/>
                  </a:lnTo>
                  <a:lnTo>
                    <a:pt x="402869" y="111594"/>
                  </a:lnTo>
                  <a:lnTo>
                    <a:pt x="399237" y="110832"/>
                  </a:lnTo>
                  <a:lnTo>
                    <a:pt x="397421" y="109181"/>
                  </a:lnTo>
                  <a:lnTo>
                    <a:pt x="395592" y="108305"/>
                  </a:lnTo>
                  <a:lnTo>
                    <a:pt x="394627" y="106667"/>
                  </a:lnTo>
                  <a:lnTo>
                    <a:pt x="394627" y="104267"/>
                  </a:lnTo>
                  <a:lnTo>
                    <a:pt x="372808" y="104267"/>
                  </a:lnTo>
                  <a:lnTo>
                    <a:pt x="372808" y="110832"/>
                  </a:lnTo>
                  <a:lnTo>
                    <a:pt x="376453" y="116509"/>
                  </a:lnTo>
                  <a:lnTo>
                    <a:pt x="389178" y="123075"/>
                  </a:lnTo>
                  <a:lnTo>
                    <a:pt x="397421" y="124726"/>
                  </a:lnTo>
                  <a:lnTo>
                    <a:pt x="407352" y="124726"/>
                  </a:lnTo>
                  <a:lnTo>
                    <a:pt x="443712" y="109181"/>
                  </a:lnTo>
                  <a:lnTo>
                    <a:pt x="444690" y="101739"/>
                  </a:lnTo>
                  <a:lnTo>
                    <a:pt x="444690" y="86207"/>
                  </a:lnTo>
                  <a:lnTo>
                    <a:pt x="444690" y="82054"/>
                  </a:lnTo>
                  <a:lnTo>
                    <a:pt x="444690" y="41897"/>
                  </a:lnTo>
                  <a:lnTo>
                    <a:pt x="444690" y="36969"/>
                  </a:lnTo>
                  <a:lnTo>
                    <a:pt x="444690" y="27127"/>
                  </a:lnTo>
                  <a:close/>
                </a:path>
                <a:path w="531495" h="125095">
                  <a:moveTo>
                    <a:pt x="530974" y="56667"/>
                  </a:moveTo>
                  <a:lnTo>
                    <a:pt x="530555" y="55029"/>
                  </a:lnTo>
                  <a:lnTo>
                    <a:pt x="530136" y="53390"/>
                  </a:lnTo>
                  <a:lnTo>
                    <a:pt x="529158" y="47586"/>
                  </a:lnTo>
                  <a:lnTo>
                    <a:pt x="511949" y="28765"/>
                  </a:lnTo>
                  <a:lnTo>
                    <a:pt x="510133" y="27927"/>
                  </a:lnTo>
                  <a:lnTo>
                    <a:pt x="510133" y="50101"/>
                  </a:lnTo>
                  <a:lnTo>
                    <a:pt x="510133" y="55029"/>
                  </a:lnTo>
                  <a:lnTo>
                    <a:pt x="479221" y="55029"/>
                  </a:lnTo>
                  <a:lnTo>
                    <a:pt x="489953" y="40347"/>
                  </a:lnTo>
                  <a:lnTo>
                    <a:pt x="499414" y="40347"/>
                  </a:lnTo>
                  <a:lnTo>
                    <a:pt x="502856" y="41897"/>
                  </a:lnTo>
                  <a:lnTo>
                    <a:pt x="508317" y="46824"/>
                  </a:lnTo>
                  <a:lnTo>
                    <a:pt x="510133" y="50101"/>
                  </a:lnTo>
                  <a:lnTo>
                    <a:pt x="510133" y="27927"/>
                  </a:lnTo>
                  <a:lnTo>
                    <a:pt x="506501" y="26250"/>
                  </a:lnTo>
                  <a:lnTo>
                    <a:pt x="501040" y="25488"/>
                  </a:lnTo>
                  <a:lnTo>
                    <a:pt x="494614" y="25488"/>
                  </a:lnTo>
                  <a:lnTo>
                    <a:pt x="460883" y="46672"/>
                  </a:lnTo>
                  <a:lnTo>
                    <a:pt x="458254" y="62357"/>
                  </a:lnTo>
                  <a:lnTo>
                    <a:pt x="458939" y="71450"/>
                  </a:lnTo>
                  <a:lnTo>
                    <a:pt x="488378" y="98729"/>
                  </a:lnTo>
                  <a:lnTo>
                    <a:pt x="495592" y="99339"/>
                  </a:lnTo>
                  <a:lnTo>
                    <a:pt x="503567" y="98729"/>
                  </a:lnTo>
                  <a:lnTo>
                    <a:pt x="503809" y="98729"/>
                  </a:lnTo>
                  <a:lnTo>
                    <a:pt x="511225" y="96761"/>
                  </a:lnTo>
                  <a:lnTo>
                    <a:pt x="517537" y="93433"/>
                  </a:lnTo>
                  <a:lnTo>
                    <a:pt x="527342" y="84569"/>
                  </a:lnTo>
                  <a:lnTo>
                    <a:pt x="530136" y="80416"/>
                  </a:lnTo>
                  <a:lnTo>
                    <a:pt x="530136" y="76365"/>
                  </a:lnTo>
                  <a:lnTo>
                    <a:pt x="510133" y="76365"/>
                  </a:lnTo>
                  <a:lnTo>
                    <a:pt x="508317" y="78003"/>
                  </a:lnTo>
                  <a:lnTo>
                    <a:pt x="507339" y="79641"/>
                  </a:lnTo>
                  <a:lnTo>
                    <a:pt x="503707" y="82931"/>
                  </a:lnTo>
                  <a:lnTo>
                    <a:pt x="500075" y="84569"/>
                  </a:lnTo>
                  <a:lnTo>
                    <a:pt x="491947" y="84569"/>
                  </a:lnTo>
                  <a:lnTo>
                    <a:pt x="488315" y="83693"/>
                  </a:lnTo>
                  <a:lnTo>
                    <a:pt x="485533" y="81280"/>
                  </a:lnTo>
                  <a:lnTo>
                    <a:pt x="481050" y="78765"/>
                  </a:lnTo>
                  <a:lnTo>
                    <a:pt x="479221" y="73850"/>
                  </a:lnTo>
                  <a:lnTo>
                    <a:pt x="478256" y="67284"/>
                  </a:lnTo>
                  <a:lnTo>
                    <a:pt x="530974" y="67284"/>
                  </a:lnTo>
                  <a:lnTo>
                    <a:pt x="530974" y="566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3" name="object 103"/>
          <p:cNvGrpSpPr/>
          <p:nvPr/>
        </p:nvGrpSpPr>
        <p:grpSpPr>
          <a:xfrm>
            <a:off x="4663682" y="4197716"/>
            <a:ext cx="1145540" cy="326390"/>
            <a:chOff x="4663682" y="4197716"/>
            <a:chExt cx="1145540" cy="326390"/>
          </a:xfrm>
        </p:grpSpPr>
        <p:sp>
          <p:nvSpPr>
            <p:cNvPr id="104" name="object 104"/>
            <p:cNvSpPr/>
            <p:nvPr/>
          </p:nvSpPr>
          <p:spPr>
            <a:xfrm>
              <a:off x="4669067" y="4203100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5">
                  <a:moveTo>
                    <a:pt x="1047422" y="0"/>
                  </a:moveTo>
                  <a:lnTo>
                    <a:pt x="87264" y="0"/>
                  </a:lnTo>
                  <a:lnTo>
                    <a:pt x="53279" y="6185"/>
                  </a:lnTo>
                  <a:lnTo>
                    <a:pt x="25543" y="23057"/>
                  </a:lnTo>
                  <a:lnTo>
                    <a:pt x="6851" y="48095"/>
                  </a:lnTo>
                  <a:lnTo>
                    <a:pt x="0" y="78774"/>
                  </a:lnTo>
                  <a:lnTo>
                    <a:pt x="0" y="236323"/>
                  </a:lnTo>
                  <a:lnTo>
                    <a:pt x="6851" y="267002"/>
                  </a:lnTo>
                  <a:lnTo>
                    <a:pt x="25543" y="292040"/>
                  </a:lnTo>
                  <a:lnTo>
                    <a:pt x="53279" y="308913"/>
                  </a:lnTo>
                  <a:lnTo>
                    <a:pt x="87264" y="315098"/>
                  </a:lnTo>
                  <a:lnTo>
                    <a:pt x="1047422" y="315098"/>
                  </a:lnTo>
                  <a:lnTo>
                    <a:pt x="1081356" y="308913"/>
                  </a:lnTo>
                  <a:lnTo>
                    <a:pt x="1109098" y="292040"/>
                  </a:lnTo>
                  <a:lnTo>
                    <a:pt x="1127818" y="267002"/>
                  </a:lnTo>
                  <a:lnTo>
                    <a:pt x="1134687" y="236323"/>
                  </a:lnTo>
                  <a:lnTo>
                    <a:pt x="1134687" y="78774"/>
                  </a:lnTo>
                  <a:lnTo>
                    <a:pt x="1127818" y="48095"/>
                  </a:lnTo>
                  <a:lnTo>
                    <a:pt x="1109098" y="23057"/>
                  </a:lnTo>
                  <a:lnTo>
                    <a:pt x="1081356" y="6185"/>
                  </a:lnTo>
                  <a:lnTo>
                    <a:pt x="1047422" y="0"/>
                  </a:lnTo>
                  <a:close/>
                </a:path>
              </a:pathLst>
            </a:custGeom>
            <a:solidFill>
              <a:srgbClr val="CA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669067" y="4203100"/>
              <a:ext cx="1134745" cy="315595"/>
            </a:xfrm>
            <a:custGeom>
              <a:avLst/>
              <a:gdLst/>
              <a:ahLst/>
              <a:cxnLst/>
              <a:rect l="l" t="t" r="r" b="b"/>
              <a:pathLst>
                <a:path w="1134745" h="315595">
                  <a:moveTo>
                    <a:pt x="1134687" y="236323"/>
                  </a:moveTo>
                  <a:lnTo>
                    <a:pt x="1127818" y="267002"/>
                  </a:lnTo>
                  <a:lnTo>
                    <a:pt x="1109098" y="292040"/>
                  </a:lnTo>
                  <a:lnTo>
                    <a:pt x="1081356" y="308913"/>
                  </a:lnTo>
                  <a:lnTo>
                    <a:pt x="1047422" y="315098"/>
                  </a:lnTo>
                  <a:lnTo>
                    <a:pt x="87264" y="315098"/>
                  </a:lnTo>
                  <a:lnTo>
                    <a:pt x="53279" y="308913"/>
                  </a:lnTo>
                  <a:lnTo>
                    <a:pt x="25543" y="292040"/>
                  </a:lnTo>
                  <a:lnTo>
                    <a:pt x="6851" y="267002"/>
                  </a:lnTo>
                  <a:lnTo>
                    <a:pt x="0" y="236323"/>
                  </a:lnTo>
                  <a:lnTo>
                    <a:pt x="0" y="78774"/>
                  </a:lnTo>
                  <a:lnTo>
                    <a:pt x="6851" y="48095"/>
                  </a:lnTo>
                  <a:lnTo>
                    <a:pt x="25543" y="23057"/>
                  </a:lnTo>
                  <a:lnTo>
                    <a:pt x="53279" y="6185"/>
                  </a:lnTo>
                  <a:lnTo>
                    <a:pt x="87264" y="0"/>
                  </a:lnTo>
                  <a:lnTo>
                    <a:pt x="1047422" y="0"/>
                  </a:lnTo>
                  <a:lnTo>
                    <a:pt x="1081356" y="6185"/>
                  </a:lnTo>
                  <a:lnTo>
                    <a:pt x="1109098" y="23057"/>
                  </a:lnTo>
                  <a:lnTo>
                    <a:pt x="1127818" y="48095"/>
                  </a:lnTo>
                  <a:lnTo>
                    <a:pt x="1134687" y="78774"/>
                  </a:lnTo>
                  <a:lnTo>
                    <a:pt x="1134687" y="236323"/>
                  </a:lnTo>
                  <a:close/>
                </a:path>
              </a:pathLst>
            </a:custGeom>
            <a:ln w="10752">
              <a:solidFill>
                <a:srgbClr val="08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827232" y="4297413"/>
              <a:ext cx="593090" cy="97155"/>
            </a:xfrm>
            <a:custGeom>
              <a:avLst/>
              <a:gdLst/>
              <a:ahLst/>
              <a:cxnLst/>
              <a:rect l="l" t="t" r="r" b="b"/>
              <a:pathLst>
                <a:path w="593089" h="97154">
                  <a:moveTo>
                    <a:pt x="84594" y="0"/>
                  </a:moveTo>
                  <a:lnTo>
                    <a:pt x="63627" y="0"/>
                  </a:lnTo>
                  <a:lnTo>
                    <a:pt x="63627" y="65646"/>
                  </a:lnTo>
                  <a:lnTo>
                    <a:pt x="40144" y="27901"/>
                  </a:lnTo>
                  <a:lnTo>
                    <a:pt x="22783" y="0"/>
                  </a:lnTo>
                  <a:lnTo>
                    <a:pt x="0" y="0"/>
                  </a:lnTo>
                  <a:lnTo>
                    <a:pt x="0" y="94424"/>
                  </a:lnTo>
                  <a:lnTo>
                    <a:pt x="19989" y="94424"/>
                  </a:lnTo>
                  <a:lnTo>
                    <a:pt x="19989" y="27901"/>
                  </a:lnTo>
                  <a:lnTo>
                    <a:pt x="62776" y="94424"/>
                  </a:lnTo>
                  <a:lnTo>
                    <a:pt x="84594" y="94424"/>
                  </a:lnTo>
                  <a:lnTo>
                    <a:pt x="84594" y="65646"/>
                  </a:lnTo>
                  <a:lnTo>
                    <a:pt x="84594" y="0"/>
                  </a:lnTo>
                  <a:close/>
                </a:path>
                <a:path w="593089" h="97154">
                  <a:moveTo>
                    <a:pt x="170040" y="50876"/>
                  </a:moveTo>
                  <a:lnTo>
                    <a:pt x="169075" y="45186"/>
                  </a:lnTo>
                  <a:lnTo>
                    <a:pt x="166408" y="40271"/>
                  </a:lnTo>
                  <a:lnTo>
                    <a:pt x="164820" y="37896"/>
                  </a:lnTo>
                  <a:lnTo>
                    <a:pt x="164719" y="37757"/>
                  </a:lnTo>
                  <a:lnTo>
                    <a:pt x="163614" y="36106"/>
                  </a:lnTo>
                  <a:lnTo>
                    <a:pt x="159981" y="32067"/>
                  </a:lnTo>
                  <a:lnTo>
                    <a:pt x="156349" y="28778"/>
                  </a:lnTo>
                  <a:lnTo>
                    <a:pt x="150888" y="26263"/>
                  </a:lnTo>
                  <a:lnTo>
                    <a:pt x="149072" y="25463"/>
                  </a:lnTo>
                  <a:lnTo>
                    <a:pt x="149072" y="47599"/>
                  </a:lnTo>
                  <a:lnTo>
                    <a:pt x="149072" y="52527"/>
                  </a:lnTo>
                  <a:lnTo>
                    <a:pt x="118173" y="52527"/>
                  </a:lnTo>
                  <a:lnTo>
                    <a:pt x="119138" y="48475"/>
                  </a:lnTo>
                  <a:lnTo>
                    <a:pt x="119989" y="44310"/>
                  </a:lnTo>
                  <a:lnTo>
                    <a:pt x="122770" y="41910"/>
                  </a:lnTo>
                  <a:lnTo>
                    <a:pt x="125437" y="39395"/>
                  </a:lnTo>
                  <a:lnTo>
                    <a:pt x="129070" y="37757"/>
                  </a:lnTo>
                  <a:lnTo>
                    <a:pt x="138163" y="37757"/>
                  </a:lnTo>
                  <a:lnTo>
                    <a:pt x="141808" y="39395"/>
                  </a:lnTo>
                  <a:lnTo>
                    <a:pt x="147256" y="44310"/>
                  </a:lnTo>
                  <a:lnTo>
                    <a:pt x="149072" y="47599"/>
                  </a:lnTo>
                  <a:lnTo>
                    <a:pt x="149072" y="25463"/>
                  </a:lnTo>
                  <a:lnTo>
                    <a:pt x="145440" y="23850"/>
                  </a:lnTo>
                  <a:lnTo>
                    <a:pt x="139979" y="22987"/>
                  </a:lnTo>
                  <a:lnTo>
                    <a:pt x="133680" y="22987"/>
                  </a:lnTo>
                  <a:lnTo>
                    <a:pt x="103174" y="37757"/>
                  </a:lnTo>
                  <a:lnTo>
                    <a:pt x="103047" y="37896"/>
                  </a:lnTo>
                  <a:lnTo>
                    <a:pt x="99910" y="44310"/>
                  </a:lnTo>
                  <a:lnTo>
                    <a:pt x="97993" y="51689"/>
                  </a:lnTo>
                  <a:lnTo>
                    <a:pt x="97320" y="59956"/>
                  </a:lnTo>
                  <a:lnTo>
                    <a:pt x="98005" y="69049"/>
                  </a:lnTo>
                  <a:lnTo>
                    <a:pt x="127368" y="96227"/>
                  </a:lnTo>
                  <a:lnTo>
                    <a:pt x="134531" y="96837"/>
                  </a:lnTo>
                  <a:lnTo>
                    <a:pt x="142570" y="96227"/>
                  </a:lnTo>
                  <a:lnTo>
                    <a:pt x="142824" y="96227"/>
                  </a:lnTo>
                  <a:lnTo>
                    <a:pt x="150253" y="94272"/>
                  </a:lnTo>
                  <a:lnTo>
                    <a:pt x="156552" y="90970"/>
                  </a:lnTo>
                  <a:lnTo>
                    <a:pt x="166408" y="82067"/>
                  </a:lnTo>
                  <a:lnTo>
                    <a:pt x="169075" y="78016"/>
                  </a:lnTo>
                  <a:lnTo>
                    <a:pt x="169075" y="73850"/>
                  </a:lnTo>
                  <a:lnTo>
                    <a:pt x="149072" y="73850"/>
                  </a:lnTo>
                  <a:lnTo>
                    <a:pt x="147256" y="75501"/>
                  </a:lnTo>
                  <a:lnTo>
                    <a:pt x="146405" y="77139"/>
                  </a:lnTo>
                  <a:lnTo>
                    <a:pt x="142773" y="80416"/>
                  </a:lnTo>
                  <a:lnTo>
                    <a:pt x="139141" y="82067"/>
                  </a:lnTo>
                  <a:lnTo>
                    <a:pt x="130898" y="82067"/>
                  </a:lnTo>
                  <a:lnTo>
                    <a:pt x="127254" y="81292"/>
                  </a:lnTo>
                  <a:lnTo>
                    <a:pt x="124587" y="78778"/>
                  </a:lnTo>
                  <a:lnTo>
                    <a:pt x="119989" y="76377"/>
                  </a:lnTo>
                  <a:lnTo>
                    <a:pt x="118173" y="71450"/>
                  </a:lnTo>
                  <a:lnTo>
                    <a:pt x="117322" y="64884"/>
                  </a:lnTo>
                  <a:lnTo>
                    <a:pt x="170040" y="64884"/>
                  </a:lnTo>
                  <a:lnTo>
                    <a:pt x="170040" y="52527"/>
                  </a:lnTo>
                  <a:lnTo>
                    <a:pt x="170040" y="50876"/>
                  </a:lnTo>
                  <a:close/>
                </a:path>
                <a:path w="593089" h="97154">
                  <a:moveTo>
                    <a:pt x="219125" y="25501"/>
                  </a:moveTo>
                  <a:lnTo>
                    <a:pt x="207251" y="25501"/>
                  </a:lnTo>
                  <a:lnTo>
                    <a:pt x="207251" y="5803"/>
                  </a:lnTo>
                  <a:lnTo>
                    <a:pt x="187248" y="5803"/>
                  </a:lnTo>
                  <a:lnTo>
                    <a:pt x="187248" y="25501"/>
                  </a:lnTo>
                  <a:lnTo>
                    <a:pt x="176339" y="25501"/>
                  </a:lnTo>
                  <a:lnTo>
                    <a:pt x="176339" y="38620"/>
                  </a:lnTo>
                  <a:lnTo>
                    <a:pt x="187248" y="38620"/>
                  </a:lnTo>
                  <a:lnTo>
                    <a:pt x="187248" y="85344"/>
                  </a:lnTo>
                  <a:lnTo>
                    <a:pt x="188226" y="88620"/>
                  </a:lnTo>
                  <a:lnTo>
                    <a:pt x="190893" y="91147"/>
                  </a:lnTo>
                  <a:lnTo>
                    <a:pt x="193675" y="94424"/>
                  </a:lnTo>
                  <a:lnTo>
                    <a:pt x="199974" y="95186"/>
                  </a:lnTo>
                  <a:lnTo>
                    <a:pt x="219125" y="95186"/>
                  </a:lnTo>
                  <a:lnTo>
                    <a:pt x="219125" y="81292"/>
                  </a:lnTo>
                  <a:lnTo>
                    <a:pt x="209067" y="81292"/>
                  </a:lnTo>
                  <a:lnTo>
                    <a:pt x="208216" y="80416"/>
                  </a:lnTo>
                  <a:lnTo>
                    <a:pt x="207251" y="79654"/>
                  </a:lnTo>
                  <a:lnTo>
                    <a:pt x="207251" y="38620"/>
                  </a:lnTo>
                  <a:lnTo>
                    <a:pt x="219125" y="38620"/>
                  </a:lnTo>
                  <a:lnTo>
                    <a:pt x="219125" y="25501"/>
                  </a:lnTo>
                  <a:close/>
                </a:path>
                <a:path w="593089" h="97154">
                  <a:moveTo>
                    <a:pt x="333667" y="24625"/>
                  </a:moveTo>
                  <a:lnTo>
                    <a:pt x="312813" y="24625"/>
                  </a:lnTo>
                  <a:lnTo>
                    <a:pt x="300939" y="74726"/>
                  </a:lnTo>
                  <a:lnTo>
                    <a:pt x="289179" y="24625"/>
                  </a:lnTo>
                  <a:lnTo>
                    <a:pt x="269189" y="24625"/>
                  </a:lnTo>
                  <a:lnTo>
                    <a:pt x="258279" y="74726"/>
                  </a:lnTo>
                  <a:lnTo>
                    <a:pt x="245554" y="24625"/>
                  </a:lnTo>
                  <a:lnTo>
                    <a:pt x="224586" y="24625"/>
                  </a:lnTo>
                  <a:lnTo>
                    <a:pt x="245554" y="94424"/>
                  </a:lnTo>
                  <a:lnTo>
                    <a:pt x="266395" y="94424"/>
                  </a:lnTo>
                  <a:lnTo>
                    <a:pt x="279120" y="43548"/>
                  </a:lnTo>
                  <a:lnTo>
                    <a:pt x="290995" y="94424"/>
                  </a:lnTo>
                  <a:lnTo>
                    <a:pt x="311848" y="94424"/>
                  </a:lnTo>
                  <a:lnTo>
                    <a:pt x="333667" y="24625"/>
                  </a:lnTo>
                  <a:close/>
                </a:path>
                <a:path w="593089" h="97154">
                  <a:moveTo>
                    <a:pt x="420077" y="59956"/>
                  </a:moveTo>
                  <a:lnTo>
                    <a:pt x="419430" y="52527"/>
                  </a:lnTo>
                  <a:lnTo>
                    <a:pt x="419417" y="52362"/>
                  </a:lnTo>
                  <a:lnTo>
                    <a:pt x="417461" y="45554"/>
                  </a:lnTo>
                  <a:lnTo>
                    <a:pt x="399110" y="25882"/>
                  </a:lnTo>
                  <a:lnTo>
                    <a:pt x="399110" y="66522"/>
                  </a:lnTo>
                  <a:lnTo>
                    <a:pt x="397294" y="72212"/>
                  </a:lnTo>
                  <a:lnTo>
                    <a:pt x="393661" y="75501"/>
                  </a:lnTo>
                  <a:lnTo>
                    <a:pt x="390994" y="79654"/>
                  </a:lnTo>
                  <a:lnTo>
                    <a:pt x="386384" y="81292"/>
                  </a:lnTo>
                  <a:lnTo>
                    <a:pt x="374624" y="81292"/>
                  </a:lnTo>
                  <a:lnTo>
                    <a:pt x="370027" y="79654"/>
                  </a:lnTo>
                  <a:lnTo>
                    <a:pt x="366382" y="75501"/>
                  </a:lnTo>
                  <a:lnTo>
                    <a:pt x="363728" y="72212"/>
                  </a:lnTo>
                  <a:lnTo>
                    <a:pt x="361899" y="66522"/>
                  </a:lnTo>
                  <a:lnTo>
                    <a:pt x="361962" y="52362"/>
                  </a:lnTo>
                  <a:lnTo>
                    <a:pt x="363728" y="47599"/>
                  </a:lnTo>
                  <a:lnTo>
                    <a:pt x="366382" y="43548"/>
                  </a:lnTo>
                  <a:lnTo>
                    <a:pt x="370027" y="39395"/>
                  </a:lnTo>
                  <a:lnTo>
                    <a:pt x="374624" y="37757"/>
                  </a:lnTo>
                  <a:lnTo>
                    <a:pt x="386384" y="37757"/>
                  </a:lnTo>
                  <a:lnTo>
                    <a:pt x="390994" y="39395"/>
                  </a:lnTo>
                  <a:lnTo>
                    <a:pt x="393661" y="43548"/>
                  </a:lnTo>
                  <a:lnTo>
                    <a:pt x="397294" y="47599"/>
                  </a:lnTo>
                  <a:lnTo>
                    <a:pt x="399059" y="52362"/>
                  </a:lnTo>
                  <a:lnTo>
                    <a:pt x="399110" y="66522"/>
                  </a:lnTo>
                  <a:lnTo>
                    <a:pt x="399110" y="25882"/>
                  </a:lnTo>
                  <a:lnTo>
                    <a:pt x="397776" y="25171"/>
                  </a:lnTo>
                  <a:lnTo>
                    <a:pt x="389597" y="22961"/>
                  </a:lnTo>
                  <a:lnTo>
                    <a:pt x="380085" y="22212"/>
                  </a:lnTo>
                  <a:lnTo>
                    <a:pt x="371055" y="22961"/>
                  </a:lnTo>
                  <a:lnTo>
                    <a:pt x="341604" y="52362"/>
                  </a:lnTo>
                  <a:lnTo>
                    <a:pt x="340931" y="59956"/>
                  </a:lnTo>
                  <a:lnTo>
                    <a:pt x="341541" y="66522"/>
                  </a:lnTo>
                  <a:lnTo>
                    <a:pt x="371055" y="96100"/>
                  </a:lnTo>
                  <a:lnTo>
                    <a:pt x="380085" y="96837"/>
                  </a:lnTo>
                  <a:lnTo>
                    <a:pt x="389597" y="96100"/>
                  </a:lnTo>
                  <a:lnTo>
                    <a:pt x="419417" y="67170"/>
                  </a:lnTo>
                  <a:lnTo>
                    <a:pt x="420077" y="59956"/>
                  </a:lnTo>
                  <a:close/>
                </a:path>
                <a:path w="593089" h="97154">
                  <a:moveTo>
                    <a:pt x="479107" y="22974"/>
                  </a:moveTo>
                  <a:lnTo>
                    <a:pt x="476440" y="22974"/>
                  </a:lnTo>
                  <a:lnTo>
                    <a:pt x="470979" y="22974"/>
                  </a:lnTo>
                  <a:lnTo>
                    <a:pt x="465531" y="24625"/>
                  </a:lnTo>
                  <a:lnTo>
                    <a:pt x="461899" y="27139"/>
                  </a:lnTo>
                  <a:lnTo>
                    <a:pt x="459105" y="28778"/>
                  </a:lnTo>
                  <a:lnTo>
                    <a:pt x="456438" y="32067"/>
                  </a:lnTo>
                  <a:lnTo>
                    <a:pt x="453656" y="36982"/>
                  </a:lnTo>
                  <a:lnTo>
                    <a:pt x="453656" y="24625"/>
                  </a:lnTo>
                  <a:lnTo>
                    <a:pt x="434619" y="24625"/>
                  </a:lnTo>
                  <a:lnTo>
                    <a:pt x="434619" y="94424"/>
                  </a:lnTo>
                  <a:lnTo>
                    <a:pt x="454621" y="94424"/>
                  </a:lnTo>
                  <a:lnTo>
                    <a:pt x="454621" y="55803"/>
                  </a:lnTo>
                  <a:lnTo>
                    <a:pt x="455472" y="51752"/>
                  </a:lnTo>
                  <a:lnTo>
                    <a:pt x="457288" y="48475"/>
                  </a:lnTo>
                  <a:lnTo>
                    <a:pt x="460082" y="44310"/>
                  </a:lnTo>
                  <a:lnTo>
                    <a:pt x="465531" y="41910"/>
                  </a:lnTo>
                  <a:lnTo>
                    <a:pt x="479107" y="41910"/>
                  </a:lnTo>
                  <a:lnTo>
                    <a:pt x="479107" y="22974"/>
                  </a:lnTo>
                  <a:close/>
                </a:path>
                <a:path w="593089" h="97154">
                  <a:moveTo>
                    <a:pt x="561886" y="94424"/>
                  </a:moveTo>
                  <a:lnTo>
                    <a:pt x="533768" y="51752"/>
                  </a:lnTo>
                  <a:lnTo>
                    <a:pt x="561035" y="25501"/>
                  </a:lnTo>
                  <a:lnTo>
                    <a:pt x="536435" y="25501"/>
                  </a:lnTo>
                  <a:lnTo>
                    <a:pt x="510984" y="50876"/>
                  </a:lnTo>
                  <a:lnTo>
                    <a:pt x="510984" y="876"/>
                  </a:lnTo>
                  <a:lnTo>
                    <a:pt x="490982" y="876"/>
                  </a:lnTo>
                  <a:lnTo>
                    <a:pt x="490982" y="94424"/>
                  </a:lnTo>
                  <a:lnTo>
                    <a:pt x="510984" y="94424"/>
                  </a:lnTo>
                  <a:lnTo>
                    <a:pt x="510984" y="72212"/>
                  </a:lnTo>
                  <a:lnTo>
                    <a:pt x="519226" y="64884"/>
                  </a:lnTo>
                  <a:lnTo>
                    <a:pt x="537400" y="94424"/>
                  </a:lnTo>
                  <a:lnTo>
                    <a:pt x="561886" y="94424"/>
                  </a:lnTo>
                  <a:close/>
                </a:path>
                <a:path w="593089" h="97154">
                  <a:moveTo>
                    <a:pt x="592797" y="24625"/>
                  </a:moveTo>
                  <a:lnTo>
                    <a:pt x="572795" y="24625"/>
                  </a:lnTo>
                  <a:lnTo>
                    <a:pt x="572795" y="94424"/>
                  </a:lnTo>
                  <a:lnTo>
                    <a:pt x="592797" y="94424"/>
                  </a:lnTo>
                  <a:lnTo>
                    <a:pt x="592797" y="24625"/>
                  </a:lnTo>
                  <a:close/>
                </a:path>
                <a:path w="593089" h="97154">
                  <a:moveTo>
                    <a:pt x="592797" y="0"/>
                  </a:moveTo>
                  <a:lnTo>
                    <a:pt x="572795" y="0"/>
                  </a:lnTo>
                  <a:lnTo>
                    <a:pt x="572795" y="16421"/>
                  </a:lnTo>
                  <a:lnTo>
                    <a:pt x="592797" y="16421"/>
                  </a:lnTo>
                  <a:lnTo>
                    <a:pt x="5927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440028" y="4320387"/>
              <a:ext cx="158288" cy="99343"/>
            </a:xfrm>
            <a:prstGeom prst="rect">
              <a:avLst/>
            </a:prstGeom>
          </p:spPr>
        </p:pic>
      </p:grpSp>
      <p:sp>
        <p:nvSpPr>
          <p:cNvPr id="108" name="object 108"/>
          <p:cNvSpPr/>
          <p:nvPr/>
        </p:nvSpPr>
        <p:spPr>
          <a:xfrm>
            <a:off x="4505312" y="657491"/>
            <a:ext cx="118745" cy="315595"/>
          </a:xfrm>
          <a:custGeom>
            <a:avLst/>
            <a:gdLst/>
            <a:ahLst/>
            <a:cxnLst/>
            <a:rect l="l" t="t" r="r" b="b"/>
            <a:pathLst>
              <a:path w="118745" h="315594">
                <a:moveTo>
                  <a:pt x="118300" y="0"/>
                </a:moveTo>
                <a:lnTo>
                  <a:pt x="0" y="0"/>
                </a:lnTo>
                <a:lnTo>
                  <a:pt x="0" y="16408"/>
                </a:lnTo>
                <a:lnTo>
                  <a:pt x="50063" y="16408"/>
                </a:lnTo>
                <a:lnTo>
                  <a:pt x="50063" y="298792"/>
                </a:lnTo>
                <a:lnTo>
                  <a:pt x="0" y="298792"/>
                </a:lnTo>
                <a:lnTo>
                  <a:pt x="0" y="315201"/>
                </a:lnTo>
                <a:lnTo>
                  <a:pt x="118300" y="315201"/>
                </a:lnTo>
                <a:lnTo>
                  <a:pt x="118300" y="298792"/>
                </a:lnTo>
                <a:lnTo>
                  <a:pt x="68249" y="298792"/>
                </a:lnTo>
                <a:lnTo>
                  <a:pt x="68249" y="16408"/>
                </a:lnTo>
                <a:lnTo>
                  <a:pt x="118300" y="16408"/>
                </a:lnTo>
                <a:lnTo>
                  <a:pt x="118300" y="0"/>
                </a:lnTo>
                <a:close/>
              </a:path>
            </a:pathLst>
          </a:custGeom>
          <a:solidFill>
            <a:srgbClr val="080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9" name="object 109"/>
          <p:cNvGrpSpPr/>
          <p:nvPr/>
        </p:nvGrpSpPr>
        <p:grpSpPr>
          <a:xfrm>
            <a:off x="4396299" y="1051462"/>
            <a:ext cx="227329" cy="3467100"/>
            <a:chOff x="4396299" y="1051462"/>
            <a:chExt cx="227329" cy="3467100"/>
          </a:xfrm>
        </p:grpSpPr>
        <p:pic>
          <p:nvPicPr>
            <p:cNvPr id="110" name="object 11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396299" y="2232533"/>
              <a:ext cx="138112" cy="1050436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4505312" y="1051470"/>
              <a:ext cx="118745" cy="3467100"/>
            </a:xfrm>
            <a:custGeom>
              <a:avLst/>
              <a:gdLst/>
              <a:ahLst/>
              <a:cxnLst/>
              <a:rect l="l" t="t" r="r" b="b"/>
              <a:pathLst>
                <a:path w="118745" h="3467100">
                  <a:moveTo>
                    <a:pt x="118300" y="0"/>
                  </a:moveTo>
                  <a:lnTo>
                    <a:pt x="0" y="0"/>
                  </a:lnTo>
                  <a:lnTo>
                    <a:pt x="0" y="16408"/>
                  </a:lnTo>
                  <a:lnTo>
                    <a:pt x="50063" y="16408"/>
                  </a:lnTo>
                  <a:lnTo>
                    <a:pt x="50063" y="3450323"/>
                  </a:lnTo>
                  <a:lnTo>
                    <a:pt x="0" y="3450323"/>
                  </a:lnTo>
                  <a:lnTo>
                    <a:pt x="0" y="3466731"/>
                  </a:lnTo>
                  <a:lnTo>
                    <a:pt x="118300" y="3466731"/>
                  </a:lnTo>
                  <a:lnTo>
                    <a:pt x="118300" y="3450323"/>
                  </a:lnTo>
                  <a:lnTo>
                    <a:pt x="68249" y="3450323"/>
                  </a:lnTo>
                  <a:lnTo>
                    <a:pt x="68249" y="16408"/>
                  </a:lnTo>
                  <a:lnTo>
                    <a:pt x="118300" y="16408"/>
                  </a:lnTo>
                  <a:lnTo>
                    <a:pt x="118300" y="0"/>
                  </a:lnTo>
                  <a:close/>
                </a:path>
              </a:pathLst>
            </a:custGeom>
            <a:solidFill>
              <a:srgbClr val="08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2" name="object 112"/>
          <p:cNvGrpSpPr/>
          <p:nvPr/>
        </p:nvGrpSpPr>
        <p:grpSpPr>
          <a:xfrm>
            <a:off x="6409345" y="652095"/>
            <a:ext cx="1146175" cy="326390"/>
            <a:chOff x="6409345" y="652095"/>
            <a:chExt cx="1146175" cy="326390"/>
          </a:xfrm>
        </p:grpSpPr>
        <p:sp>
          <p:nvSpPr>
            <p:cNvPr id="113" name="object 113"/>
            <p:cNvSpPr/>
            <p:nvPr/>
          </p:nvSpPr>
          <p:spPr>
            <a:xfrm>
              <a:off x="6414730" y="657480"/>
              <a:ext cx="1135380" cy="315595"/>
            </a:xfrm>
            <a:custGeom>
              <a:avLst/>
              <a:gdLst/>
              <a:ahLst/>
              <a:cxnLst/>
              <a:rect l="l" t="t" r="r" b="b"/>
              <a:pathLst>
                <a:path w="1135379" h="315594">
                  <a:moveTo>
                    <a:pt x="1047422" y="0"/>
                  </a:moveTo>
                  <a:lnTo>
                    <a:pt x="87264" y="0"/>
                  </a:lnTo>
                  <a:lnTo>
                    <a:pt x="53330" y="6202"/>
                  </a:lnTo>
                  <a:lnTo>
                    <a:pt x="25588" y="23112"/>
                  </a:lnTo>
                  <a:lnTo>
                    <a:pt x="6868" y="48187"/>
                  </a:lnTo>
                  <a:lnTo>
                    <a:pt x="0" y="78883"/>
                  </a:lnTo>
                  <a:lnTo>
                    <a:pt x="0" y="236433"/>
                  </a:lnTo>
                  <a:lnTo>
                    <a:pt x="6868" y="267065"/>
                  </a:lnTo>
                  <a:lnTo>
                    <a:pt x="25588" y="292108"/>
                  </a:lnTo>
                  <a:lnTo>
                    <a:pt x="53330" y="309007"/>
                  </a:lnTo>
                  <a:lnTo>
                    <a:pt x="87264" y="315207"/>
                  </a:lnTo>
                  <a:lnTo>
                    <a:pt x="1047422" y="315207"/>
                  </a:lnTo>
                  <a:lnTo>
                    <a:pt x="1081426" y="309007"/>
                  </a:lnTo>
                  <a:lnTo>
                    <a:pt x="1109204" y="292108"/>
                  </a:lnTo>
                  <a:lnTo>
                    <a:pt x="1127937" y="267065"/>
                  </a:lnTo>
                  <a:lnTo>
                    <a:pt x="1134808" y="236433"/>
                  </a:lnTo>
                  <a:lnTo>
                    <a:pt x="1134808" y="78883"/>
                  </a:lnTo>
                  <a:lnTo>
                    <a:pt x="1127937" y="48187"/>
                  </a:lnTo>
                  <a:lnTo>
                    <a:pt x="1109204" y="23112"/>
                  </a:lnTo>
                  <a:lnTo>
                    <a:pt x="1081426" y="6202"/>
                  </a:lnTo>
                  <a:lnTo>
                    <a:pt x="1047422" y="0"/>
                  </a:lnTo>
                  <a:close/>
                </a:path>
              </a:pathLst>
            </a:custGeom>
            <a:solidFill>
              <a:srgbClr val="CA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414730" y="657480"/>
              <a:ext cx="1135380" cy="315595"/>
            </a:xfrm>
            <a:custGeom>
              <a:avLst/>
              <a:gdLst/>
              <a:ahLst/>
              <a:cxnLst/>
              <a:rect l="l" t="t" r="r" b="b"/>
              <a:pathLst>
                <a:path w="1135379" h="315594">
                  <a:moveTo>
                    <a:pt x="1134808" y="236433"/>
                  </a:moveTo>
                  <a:lnTo>
                    <a:pt x="1127937" y="267065"/>
                  </a:lnTo>
                  <a:lnTo>
                    <a:pt x="1109204" y="292108"/>
                  </a:lnTo>
                  <a:lnTo>
                    <a:pt x="1081426" y="309007"/>
                  </a:lnTo>
                  <a:lnTo>
                    <a:pt x="1047422" y="315207"/>
                  </a:lnTo>
                  <a:lnTo>
                    <a:pt x="87264" y="315207"/>
                  </a:lnTo>
                  <a:lnTo>
                    <a:pt x="53330" y="309007"/>
                  </a:lnTo>
                  <a:lnTo>
                    <a:pt x="25588" y="292108"/>
                  </a:lnTo>
                  <a:lnTo>
                    <a:pt x="6868" y="267065"/>
                  </a:lnTo>
                  <a:lnTo>
                    <a:pt x="0" y="236433"/>
                  </a:lnTo>
                  <a:lnTo>
                    <a:pt x="0" y="78883"/>
                  </a:lnTo>
                  <a:lnTo>
                    <a:pt x="6868" y="48187"/>
                  </a:lnTo>
                  <a:lnTo>
                    <a:pt x="25588" y="23112"/>
                  </a:lnTo>
                  <a:lnTo>
                    <a:pt x="53330" y="6202"/>
                  </a:lnTo>
                  <a:lnTo>
                    <a:pt x="87264" y="0"/>
                  </a:lnTo>
                  <a:lnTo>
                    <a:pt x="1047422" y="0"/>
                  </a:lnTo>
                  <a:lnTo>
                    <a:pt x="1081426" y="6202"/>
                  </a:lnTo>
                  <a:lnTo>
                    <a:pt x="1109204" y="23112"/>
                  </a:lnTo>
                  <a:lnTo>
                    <a:pt x="1127937" y="48187"/>
                  </a:lnTo>
                  <a:lnTo>
                    <a:pt x="1134808" y="78883"/>
                  </a:lnTo>
                  <a:lnTo>
                    <a:pt x="1134808" y="236433"/>
                  </a:lnTo>
                  <a:close/>
                </a:path>
              </a:pathLst>
            </a:custGeom>
            <a:ln w="10752">
              <a:solidFill>
                <a:srgbClr val="08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524781" y="751900"/>
              <a:ext cx="309184" cy="121444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6854812" y="751903"/>
              <a:ext cx="534035" cy="97155"/>
            </a:xfrm>
            <a:custGeom>
              <a:avLst/>
              <a:gdLst/>
              <a:ahLst/>
              <a:cxnLst/>
              <a:rect l="l" t="t" r="r" b="b"/>
              <a:pathLst>
                <a:path w="534034" h="97155">
                  <a:moveTo>
                    <a:pt x="19989" y="24625"/>
                  </a:moveTo>
                  <a:lnTo>
                    <a:pt x="0" y="24625"/>
                  </a:lnTo>
                  <a:lnTo>
                    <a:pt x="0" y="94424"/>
                  </a:lnTo>
                  <a:lnTo>
                    <a:pt x="19989" y="94424"/>
                  </a:lnTo>
                  <a:lnTo>
                    <a:pt x="19989" y="24625"/>
                  </a:lnTo>
                  <a:close/>
                </a:path>
                <a:path w="534034" h="97155">
                  <a:moveTo>
                    <a:pt x="19989" y="0"/>
                  </a:moveTo>
                  <a:lnTo>
                    <a:pt x="0" y="0"/>
                  </a:lnTo>
                  <a:lnTo>
                    <a:pt x="0" y="16408"/>
                  </a:lnTo>
                  <a:lnTo>
                    <a:pt x="19989" y="16408"/>
                  </a:lnTo>
                  <a:lnTo>
                    <a:pt x="19989" y="0"/>
                  </a:lnTo>
                  <a:close/>
                </a:path>
                <a:path w="534034" h="97155">
                  <a:moveTo>
                    <a:pt x="106413" y="50114"/>
                  </a:moveTo>
                  <a:lnTo>
                    <a:pt x="81800" y="22974"/>
                  </a:lnTo>
                  <a:lnTo>
                    <a:pt x="71869" y="22974"/>
                  </a:lnTo>
                  <a:lnTo>
                    <a:pt x="37744" y="44932"/>
                  </a:lnTo>
                  <a:lnTo>
                    <a:pt x="35509" y="60731"/>
                  </a:lnTo>
                  <a:lnTo>
                    <a:pt x="36017" y="68427"/>
                  </a:lnTo>
                  <a:lnTo>
                    <a:pt x="63004" y="96215"/>
                  </a:lnTo>
                  <a:lnTo>
                    <a:pt x="71869" y="96824"/>
                  </a:lnTo>
                  <a:lnTo>
                    <a:pt x="80187" y="96075"/>
                  </a:lnTo>
                  <a:lnTo>
                    <a:pt x="87503" y="93776"/>
                  </a:lnTo>
                  <a:lnTo>
                    <a:pt x="93814" y="89954"/>
                  </a:lnTo>
                  <a:lnTo>
                    <a:pt x="99136" y="84582"/>
                  </a:lnTo>
                  <a:lnTo>
                    <a:pt x="102120" y="81292"/>
                  </a:lnTo>
                  <a:lnTo>
                    <a:pt x="103619" y="79654"/>
                  </a:lnTo>
                  <a:lnTo>
                    <a:pt x="105435" y="74726"/>
                  </a:lnTo>
                  <a:lnTo>
                    <a:pt x="106413" y="68935"/>
                  </a:lnTo>
                  <a:lnTo>
                    <a:pt x="85445" y="68935"/>
                  </a:lnTo>
                  <a:lnTo>
                    <a:pt x="85445" y="73088"/>
                  </a:lnTo>
                  <a:lnTo>
                    <a:pt x="83616" y="75501"/>
                  </a:lnTo>
                  <a:lnTo>
                    <a:pt x="81800" y="78016"/>
                  </a:lnTo>
                  <a:lnTo>
                    <a:pt x="79984" y="80416"/>
                  </a:lnTo>
                  <a:lnTo>
                    <a:pt x="76352" y="81292"/>
                  </a:lnTo>
                  <a:lnTo>
                    <a:pt x="65443" y="81292"/>
                  </a:lnTo>
                  <a:lnTo>
                    <a:pt x="60960" y="78778"/>
                  </a:lnTo>
                  <a:lnTo>
                    <a:pt x="58166" y="73088"/>
                  </a:lnTo>
                  <a:lnTo>
                    <a:pt x="57327" y="69811"/>
                  </a:lnTo>
                  <a:lnTo>
                    <a:pt x="56349" y="65646"/>
                  </a:lnTo>
                  <a:lnTo>
                    <a:pt x="56349" y="55041"/>
                  </a:lnTo>
                  <a:lnTo>
                    <a:pt x="57327" y="50876"/>
                  </a:lnTo>
                  <a:lnTo>
                    <a:pt x="58166" y="47599"/>
                  </a:lnTo>
                  <a:lnTo>
                    <a:pt x="60960" y="41910"/>
                  </a:lnTo>
                  <a:lnTo>
                    <a:pt x="65443" y="38620"/>
                  </a:lnTo>
                  <a:lnTo>
                    <a:pt x="77317" y="38620"/>
                  </a:lnTo>
                  <a:lnTo>
                    <a:pt x="80962" y="40271"/>
                  </a:lnTo>
                  <a:lnTo>
                    <a:pt x="82778" y="42672"/>
                  </a:lnTo>
                  <a:lnTo>
                    <a:pt x="84594" y="45186"/>
                  </a:lnTo>
                  <a:lnTo>
                    <a:pt x="85445" y="46824"/>
                  </a:lnTo>
                  <a:lnTo>
                    <a:pt x="85445" y="50114"/>
                  </a:lnTo>
                  <a:lnTo>
                    <a:pt x="106413" y="50114"/>
                  </a:lnTo>
                  <a:close/>
                </a:path>
                <a:path w="534034" h="97155">
                  <a:moveTo>
                    <a:pt x="187248" y="91909"/>
                  </a:moveTo>
                  <a:lnTo>
                    <a:pt x="183616" y="88620"/>
                  </a:lnTo>
                  <a:lnTo>
                    <a:pt x="183616" y="86220"/>
                  </a:lnTo>
                  <a:lnTo>
                    <a:pt x="183616" y="82931"/>
                  </a:lnTo>
                  <a:lnTo>
                    <a:pt x="183616" y="81292"/>
                  </a:lnTo>
                  <a:lnTo>
                    <a:pt x="182765" y="78778"/>
                  </a:lnTo>
                  <a:lnTo>
                    <a:pt x="182765" y="60731"/>
                  </a:lnTo>
                  <a:lnTo>
                    <a:pt x="182765" y="37744"/>
                  </a:lnTo>
                  <a:lnTo>
                    <a:pt x="182765" y="36106"/>
                  </a:lnTo>
                  <a:lnTo>
                    <a:pt x="179984" y="30416"/>
                  </a:lnTo>
                  <a:lnTo>
                    <a:pt x="173672" y="27901"/>
                  </a:lnTo>
                  <a:lnTo>
                    <a:pt x="167246" y="24625"/>
                  </a:lnTo>
                  <a:lnTo>
                    <a:pt x="159131" y="22974"/>
                  </a:lnTo>
                  <a:lnTo>
                    <a:pt x="150888" y="22974"/>
                  </a:lnTo>
                  <a:lnTo>
                    <a:pt x="142024" y="23583"/>
                  </a:lnTo>
                  <a:lnTo>
                    <a:pt x="118160" y="41033"/>
                  </a:lnTo>
                  <a:lnTo>
                    <a:pt x="118160" y="47599"/>
                  </a:lnTo>
                  <a:lnTo>
                    <a:pt x="137312" y="47599"/>
                  </a:lnTo>
                  <a:lnTo>
                    <a:pt x="138163" y="44310"/>
                  </a:lnTo>
                  <a:lnTo>
                    <a:pt x="139128" y="42672"/>
                  </a:lnTo>
                  <a:lnTo>
                    <a:pt x="139979" y="41033"/>
                  </a:lnTo>
                  <a:lnTo>
                    <a:pt x="141795" y="38620"/>
                  </a:lnTo>
                  <a:lnTo>
                    <a:pt x="145440" y="37744"/>
                  </a:lnTo>
                  <a:lnTo>
                    <a:pt x="154520" y="37744"/>
                  </a:lnTo>
                  <a:lnTo>
                    <a:pt x="157314" y="38620"/>
                  </a:lnTo>
                  <a:lnTo>
                    <a:pt x="159981" y="39395"/>
                  </a:lnTo>
                  <a:lnTo>
                    <a:pt x="161798" y="40271"/>
                  </a:lnTo>
                  <a:lnTo>
                    <a:pt x="162763" y="42672"/>
                  </a:lnTo>
                  <a:lnTo>
                    <a:pt x="162763" y="47599"/>
                  </a:lnTo>
                  <a:lnTo>
                    <a:pt x="162763" y="60731"/>
                  </a:lnTo>
                  <a:lnTo>
                    <a:pt x="162763" y="73088"/>
                  </a:lnTo>
                  <a:lnTo>
                    <a:pt x="160947" y="77139"/>
                  </a:lnTo>
                  <a:lnTo>
                    <a:pt x="157314" y="79654"/>
                  </a:lnTo>
                  <a:lnTo>
                    <a:pt x="153682" y="82054"/>
                  </a:lnTo>
                  <a:lnTo>
                    <a:pt x="150037" y="82931"/>
                  </a:lnTo>
                  <a:lnTo>
                    <a:pt x="139979" y="82931"/>
                  </a:lnTo>
                  <a:lnTo>
                    <a:pt x="136347" y="79654"/>
                  </a:lnTo>
                  <a:lnTo>
                    <a:pt x="135496" y="77139"/>
                  </a:lnTo>
                  <a:lnTo>
                    <a:pt x="135496" y="70573"/>
                  </a:lnTo>
                  <a:lnTo>
                    <a:pt x="137312" y="68160"/>
                  </a:lnTo>
                  <a:lnTo>
                    <a:pt x="139979" y="66522"/>
                  </a:lnTo>
                  <a:lnTo>
                    <a:pt x="141795" y="65646"/>
                  </a:lnTo>
                  <a:lnTo>
                    <a:pt x="145440" y="64884"/>
                  </a:lnTo>
                  <a:lnTo>
                    <a:pt x="149072" y="64008"/>
                  </a:lnTo>
                  <a:lnTo>
                    <a:pt x="153682" y="63246"/>
                  </a:lnTo>
                  <a:lnTo>
                    <a:pt x="156349" y="63246"/>
                  </a:lnTo>
                  <a:lnTo>
                    <a:pt x="158165" y="62369"/>
                  </a:lnTo>
                  <a:lnTo>
                    <a:pt x="159131" y="62369"/>
                  </a:lnTo>
                  <a:lnTo>
                    <a:pt x="160947" y="61595"/>
                  </a:lnTo>
                  <a:lnTo>
                    <a:pt x="161798" y="61595"/>
                  </a:lnTo>
                  <a:lnTo>
                    <a:pt x="162763" y="60731"/>
                  </a:lnTo>
                  <a:lnTo>
                    <a:pt x="162763" y="47599"/>
                  </a:lnTo>
                  <a:lnTo>
                    <a:pt x="161798" y="49237"/>
                  </a:lnTo>
                  <a:lnTo>
                    <a:pt x="159131" y="50114"/>
                  </a:lnTo>
                  <a:lnTo>
                    <a:pt x="157314" y="50876"/>
                  </a:lnTo>
                  <a:lnTo>
                    <a:pt x="154520" y="51752"/>
                  </a:lnTo>
                  <a:lnTo>
                    <a:pt x="150888" y="51752"/>
                  </a:lnTo>
                  <a:lnTo>
                    <a:pt x="143611" y="52514"/>
                  </a:lnTo>
                  <a:lnTo>
                    <a:pt x="136347" y="53390"/>
                  </a:lnTo>
                  <a:lnTo>
                    <a:pt x="130048" y="55041"/>
                  </a:lnTo>
                  <a:lnTo>
                    <a:pt x="126403" y="57442"/>
                  </a:lnTo>
                  <a:lnTo>
                    <a:pt x="119138" y="60731"/>
                  </a:lnTo>
                  <a:lnTo>
                    <a:pt x="115493" y="67284"/>
                  </a:lnTo>
                  <a:lnTo>
                    <a:pt x="115493" y="82054"/>
                  </a:lnTo>
                  <a:lnTo>
                    <a:pt x="117322" y="87858"/>
                  </a:lnTo>
                  <a:lnTo>
                    <a:pt x="121805" y="91135"/>
                  </a:lnTo>
                  <a:lnTo>
                    <a:pt x="126403" y="94424"/>
                  </a:lnTo>
                  <a:lnTo>
                    <a:pt x="132715" y="96062"/>
                  </a:lnTo>
                  <a:lnTo>
                    <a:pt x="144589" y="96062"/>
                  </a:lnTo>
                  <a:lnTo>
                    <a:pt x="150037" y="95186"/>
                  </a:lnTo>
                  <a:lnTo>
                    <a:pt x="154520" y="92786"/>
                  </a:lnTo>
                  <a:lnTo>
                    <a:pt x="158165" y="91135"/>
                  </a:lnTo>
                  <a:lnTo>
                    <a:pt x="163614" y="86220"/>
                  </a:lnTo>
                  <a:lnTo>
                    <a:pt x="163614" y="87858"/>
                  </a:lnTo>
                  <a:lnTo>
                    <a:pt x="164579" y="89496"/>
                  </a:lnTo>
                  <a:lnTo>
                    <a:pt x="164579" y="92786"/>
                  </a:lnTo>
                  <a:lnTo>
                    <a:pt x="165430" y="94424"/>
                  </a:lnTo>
                  <a:lnTo>
                    <a:pt x="187248" y="94424"/>
                  </a:lnTo>
                  <a:lnTo>
                    <a:pt x="187248" y="91909"/>
                  </a:lnTo>
                  <a:close/>
                </a:path>
                <a:path w="534034" h="97155">
                  <a:moveTo>
                    <a:pt x="236461" y="25501"/>
                  </a:moveTo>
                  <a:lnTo>
                    <a:pt x="224574" y="25501"/>
                  </a:lnTo>
                  <a:lnTo>
                    <a:pt x="224574" y="5803"/>
                  </a:lnTo>
                  <a:lnTo>
                    <a:pt x="204584" y="5803"/>
                  </a:lnTo>
                  <a:lnTo>
                    <a:pt x="204584" y="25501"/>
                  </a:lnTo>
                  <a:lnTo>
                    <a:pt x="193675" y="25501"/>
                  </a:lnTo>
                  <a:lnTo>
                    <a:pt x="193675" y="38620"/>
                  </a:lnTo>
                  <a:lnTo>
                    <a:pt x="204584" y="38620"/>
                  </a:lnTo>
                  <a:lnTo>
                    <a:pt x="204584" y="85344"/>
                  </a:lnTo>
                  <a:lnTo>
                    <a:pt x="205549" y="88620"/>
                  </a:lnTo>
                  <a:lnTo>
                    <a:pt x="208216" y="91135"/>
                  </a:lnTo>
                  <a:lnTo>
                    <a:pt x="211010" y="94424"/>
                  </a:lnTo>
                  <a:lnTo>
                    <a:pt x="217309" y="95186"/>
                  </a:lnTo>
                  <a:lnTo>
                    <a:pt x="236461" y="95186"/>
                  </a:lnTo>
                  <a:lnTo>
                    <a:pt x="236461" y="81292"/>
                  </a:lnTo>
                  <a:lnTo>
                    <a:pt x="226402" y="81292"/>
                  </a:lnTo>
                  <a:lnTo>
                    <a:pt x="225552" y="80416"/>
                  </a:lnTo>
                  <a:lnTo>
                    <a:pt x="224574" y="79654"/>
                  </a:lnTo>
                  <a:lnTo>
                    <a:pt x="224574" y="38620"/>
                  </a:lnTo>
                  <a:lnTo>
                    <a:pt x="236461" y="38620"/>
                  </a:lnTo>
                  <a:lnTo>
                    <a:pt x="236461" y="25501"/>
                  </a:lnTo>
                  <a:close/>
                </a:path>
                <a:path w="534034" h="97155">
                  <a:moveTo>
                    <a:pt x="271005" y="24625"/>
                  </a:moveTo>
                  <a:lnTo>
                    <a:pt x="250037" y="24625"/>
                  </a:lnTo>
                  <a:lnTo>
                    <a:pt x="250037" y="94424"/>
                  </a:lnTo>
                  <a:lnTo>
                    <a:pt x="271005" y="94424"/>
                  </a:lnTo>
                  <a:lnTo>
                    <a:pt x="271005" y="24625"/>
                  </a:lnTo>
                  <a:close/>
                </a:path>
                <a:path w="534034" h="97155">
                  <a:moveTo>
                    <a:pt x="271005" y="0"/>
                  </a:moveTo>
                  <a:lnTo>
                    <a:pt x="250037" y="0"/>
                  </a:lnTo>
                  <a:lnTo>
                    <a:pt x="250037" y="16408"/>
                  </a:lnTo>
                  <a:lnTo>
                    <a:pt x="271005" y="16408"/>
                  </a:lnTo>
                  <a:lnTo>
                    <a:pt x="271005" y="0"/>
                  </a:lnTo>
                  <a:close/>
                </a:path>
                <a:path w="534034" h="97155">
                  <a:moveTo>
                    <a:pt x="364566" y="59956"/>
                  </a:moveTo>
                  <a:lnTo>
                    <a:pt x="363918" y="52514"/>
                  </a:lnTo>
                  <a:lnTo>
                    <a:pt x="363905" y="52362"/>
                  </a:lnTo>
                  <a:lnTo>
                    <a:pt x="361962" y="45554"/>
                  </a:lnTo>
                  <a:lnTo>
                    <a:pt x="343725" y="25908"/>
                  </a:lnTo>
                  <a:lnTo>
                    <a:pt x="343725" y="66522"/>
                  </a:lnTo>
                  <a:lnTo>
                    <a:pt x="341909" y="72212"/>
                  </a:lnTo>
                  <a:lnTo>
                    <a:pt x="338264" y="75501"/>
                  </a:lnTo>
                  <a:lnTo>
                    <a:pt x="335483" y="79654"/>
                  </a:lnTo>
                  <a:lnTo>
                    <a:pt x="331000" y="81292"/>
                  </a:lnTo>
                  <a:lnTo>
                    <a:pt x="319112" y="81292"/>
                  </a:lnTo>
                  <a:lnTo>
                    <a:pt x="314629" y="79654"/>
                  </a:lnTo>
                  <a:lnTo>
                    <a:pt x="310997" y="75501"/>
                  </a:lnTo>
                  <a:lnTo>
                    <a:pt x="308203" y="72212"/>
                  </a:lnTo>
                  <a:lnTo>
                    <a:pt x="306387" y="66522"/>
                  </a:lnTo>
                  <a:lnTo>
                    <a:pt x="306451" y="52362"/>
                  </a:lnTo>
                  <a:lnTo>
                    <a:pt x="308203" y="47599"/>
                  </a:lnTo>
                  <a:lnTo>
                    <a:pt x="310997" y="43548"/>
                  </a:lnTo>
                  <a:lnTo>
                    <a:pt x="314629" y="39395"/>
                  </a:lnTo>
                  <a:lnTo>
                    <a:pt x="319112" y="37744"/>
                  </a:lnTo>
                  <a:lnTo>
                    <a:pt x="331000" y="37744"/>
                  </a:lnTo>
                  <a:lnTo>
                    <a:pt x="335483" y="39395"/>
                  </a:lnTo>
                  <a:lnTo>
                    <a:pt x="338264" y="43548"/>
                  </a:lnTo>
                  <a:lnTo>
                    <a:pt x="341909" y="47599"/>
                  </a:lnTo>
                  <a:lnTo>
                    <a:pt x="343662" y="52362"/>
                  </a:lnTo>
                  <a:lnTo>
                    <a:pt x="343725" y="66522"/>
                  </a:lnTo>
                  <a:lnTo>
                    <a:pt x="343725" y="25908"/>
                  </a:lnTo>
                  <a:lnTo>
                    <a:pt x="342328" y="25171"/>
                  </a:lnTo>
                  <a:lnTo>
                    <a:pt x="334137" y="22961"/>
                  </a:lnTo>
                  <a:lnTo>
                    <a:pt x="324573" y="22212"/>
                  </a:lnTo>
                  <a:lnTo>
                    <a:pt x="315556" y="22961"/>
                  </a:lnTo>
                  <a:lnTo>
                    <a:pt x="286207" y="52362"/>
                  </a:lnTo>
                  <a:lnTo>
                    <a:pt x="285546" y="59956"/>
                  </a:lnTo>
                  <a:lnTo>
                    <a:pt x="286156" y="66522"/>
                  </a:lnTo>
                  <a:lnTo>
                    <a:pt x="286207" y="67170"/>
                  </a:lnTo>
                  <a:lnTo>
                    <a:pt x="315556" y="96100"/>
                  </a:lnTo>
                  <a:lnTo>
                    <a:pt x="324573" y="96824"/>
                  </a:lnTo>
                  <a:lnTo>
                    <a:pt x="334137" y="96100"/>
                  </a:lnTo>
                  <a:lnTo>
                    <a:pt x="342328" y="93980"/>
                  </a:lnTo>
                  <a:lnTo>
                    <a:pt x="349148" y="90639"/>
                  </a:lnTo>
                  <a:lnTo>
                    <a:pt x="354634" y="86220"/>
                  </a:lnTo>
                  <a:lnTo>
                    <a:pt x="358165" y="81292"/>
                  </a:lnTo>
                  <a:lnTo>
                    <a:pt x="358838" y="80365"/>
                  </a:lnTo>
                  <a:lnTo>
                    <a:pt x="361962" y="73990"/>
                  </a:lnTo>
                  <a:lnTo>
                    <a:pt x="363905" y="67170"/>
                  </a:lnTo>
                  <a:lnTo>
                    <a:pt x="364566" y="59956"/>
                  </a:lnTo>
                  <a:close/>
                </a:path>
                <a:path w="534034" h="97155">
                  <a:moveTo>
                    <a:pt x="449160" y="38620"/>
                  </a:moveTo>
                  <a:lnTo>
                    <a:pt x="430022" y="22974"/>
                  </a:lnTo>
                  <a:lnTo>
                    <a:pt x="415467" y="22974"/>
                  </a:lnTo>
                  <a:lnTo>
                    <a:pt x="410019" y="24625"/>
                  </a:lnTo>
                  <a:lnTo>
                    <a:pt x="406387" y="27139"/>
                  </a:lnTo>
                  <a:lnTo>
                    <a:pt x="403720" y="28778"/>
                  </a:lnTo>
                  <a:lnTo>
                    <a:pt x="401891" y="31178"/>
                  </a:lnTo>
                  <a:lnTo>
                    <a:pt x="399110" y="35344"/>
                  </a:lnTo>
                  <a:lnTo>
                    <a:pt x="399110" y="24625"/>
                  </a:lnTo>
                  <a:lnTo>
                    <a:pt x="379107" y="24625"/>
                  </a:lnTo>
                  <a:lnTo>
                    <a:pt x="379107" y="94424"/>
                  </a:lnTo>
                  <a:lnTo>
                    <a:pt x="399110" y="94424"/>
                  </a:lnTo>
                  <a:lnTo>
                    <a:pt x="399110" y="52514"/>
                  </a:lnTo>
                  <a:lnTo>
                    <a:pt x="400075" y="49237"/>
                  </a:lnTo>
                  <a:lnTo>
                    <a:pt x="401891" y="45961"/>
                  </a:lnTo>
                  <a:lnTo>
                    <a:pt x="403720" y="41033"/>
                  </a:lnTo>
                  <a:lnTo>
                    <a:pt x="409168" y="38620"/>
                  </a:lnTo>
                  <a:lnTo>
                    <a:pt x="420928" y="38620"/>
                  </a:lnTo>
                  <a:lnTo>
                    <a:pt x="424561" y="40271"/>
                  </a:lnTo>
                  <a:lnTo>
                    <a:pt x="426377" y="43548"/>
                  </a:lnTo>
                  <a:lnTo>
                    <a:pt x="428193" y="45186"/>
                  </a:lnTo>
                  <a:lnTo>
                    <a:pt x="428193" y="94424"/>
                  </a:lnTo>
                  <a:lnTo>
                    <a:pt x="449160" y="94424"/>
                  </a:lnTo>
                  <a:lnTo>
                    <a:pt x="449160" y="38620"/>
                  </a:lnTo>
                  <a:close/>
                </a:path>
                <a:path w="534034" h="97155">
                  <a:moveTo>
                    <a:pt x="533768" y="68160"/>
                  </a:moveTo>
                  <a:lnTo>
                    <a:pt x="531952" y="64008"/>
                  </a:lnTo>
                  <a:lnTo>
                    <a:pt x="527342" y="59956"/>
                  </a:lnTo>
                  <a:lnTo>
                    <a:pt x="523709" y="56680"/>
                  </a:lnTo>
                  <a:lnTo>
                    <a:pt x="517398" y="54165"/>
                  </a:lnTo>
                  <a:lnTo>
                    <a:pt x="510133" y="52514"/>
                  </a:lnTo>
                  <a:lnTo>
                    <a:pt x="497408" y="50114"/>
                  </a:lnTo>
                  <a:lnTo>
                    <a:pt x="490982" y="48475"/>
                  </a:lnTo>
                  <a:lnTo>
                    <a:pt x="489165" y="47599"/>
                  </a:lnTo>
                  <a:lnTo>
                    <a:pt x="486498" y="46824"/>
                  </a:lnTo>
                  <a:lnTo>
                    <a:pt x="485521" y="45186"/>
                  </a:lnTo>
                  <a:lnTo>
                    <a:pt x="485521" y="41033"/>
                  </a:lnTo>
                  <a:lnTo>
                    <a:pt x="486498" y="39395"/>
                  </a:lnTo>
                  <a:lnTo>
                    <a:pt x="488315" y="38620"/>
                  </a:lnTo>
                  <a:lnTo>
                    <a:pt x="490131" y="36982"/>
                  </a:lnTo>
                  <a:lnTo>
                    <a:pt x="503707" y="36982"/>
                  </a:lnTo>
                  <a:lnTo>
                    <a:pt x="507339" y="37744"/>
                  </a:lnTo>
                  <a:lnTo>
                    <a:pt x="509155" y="40271"/>
                  </a:lnTo>
                  <a:lnTo>
                    <a:pt x="510133" y="41910"/>
                  </a:lnTo>
                  <a:lnTo>
                    <a:pt x="510984" y="43548"/>
                  </a:lnTo>
                  <a:lnTo>
                    <a:pt x="511949" y="45961"/>
                  </a:lnTo>
                  <a:lnTo>
                    <a:pt x="531952" y="45961"/>
                  </a:lnTo>
                  <a:lnTo>
                    <a:pt x="531469" y="41910"/>
                  </a:lnTo>
                  <a:lnTo>
                    <a:pt x="531368" y="41033"/>
                  </a:lnTo>
                  <a:lnTo>
                    <a:pt x="531279" y="40271"/>
                  </a:lnTo>
                  <a:lnTo>
                    <a:pt x="531177" y="39395"/>
                  </a:lnTo>
                  <a:lnTo>
                    <a:pt x="531075" y="38620"/>
                  </a:lnTo>
                  <a:lnTo>
                    <a:pt x="530974" y="37744"/>
                  </a:lnTo>
                  <a:lnTo>
                    <a:pt x="530555" y="36982"/>
                  </a:lnTo>
                  <a:lnTo>
                    <a:pt x="527342" y="31178"/>
                  </a:lnTo>
                  <a:lnTo>
                    <a:pt x="521042" y="27901"/>
                  </a:lnTo>
                  <a:lnTo>
                    <a:pt x="515581" y="24625"/>
                  </a:lnTo>
                  <a:lnTo>
                    <a:pt x="507339" y="22974"/>
                  </a:lnTo>
                  <a:lnTo>
                    <a:pt x="487349" y="22974"/>
                  </a:lnTo>
                  <a:lnTo>
                    <a:pt x="480072" y="25501"/>
                  </a:lnTo>
                  <a:lnTo>
                    <a:pt x="474624" y="29540"/>
                  </a:lnTo>
                  <a:lnTo>
                    <a:pt x="468312" y="34467"/>
                  </a:lnTo>
                  <a:lnTo>
                    <a:pt x="465531" y="40271"/>
                  </a:lnTo>
                  <a:lnTo>
                    <a:pt x="465531" y="51752"/>
                  </a:lnTo>
                  <a:lnTo>
                    <a:pt x="501891" y="68935"/>
                  </a:lnTo>
                  <a:lnTo>
                    <a:pt x="508317" y="70573"/>
                  </a:lnTo>
                  <a:lnTo>
                    <a:pt x="510984" y="71450"/>
                  </a:lnTo>
                  <a:lnTo>
                    <a:pt x="512800" y="72212"/>
                  </a:lnTo>
                  <a:lnTo>
                    <a:pt x="513765" y="73850"/>
                  </a:lnTo>
                  <a:lnTo>
                    <a:pt x="513765" y="78016"/>
                  </a:lnTo>
                  <a:lnTo>
                    <a:pt x="510133" y="81292"/>
                  </a:lnTo>
                  <a:lnTo>
                    <a:pt x="507339" y="82054"/>
                  </a:lnTo>
                  <a:lnTo>
                    <a:pt x="504672" y="82931"/>
                  </a:lnTo>
                  <a:lnTo>
                    <a:pt x="493763" y="82931"/>
                  </a:lnTo>
                  <a:lnTo>
                    <a:pt x="489165" y="81292"/>
                  </a:lnTo>
                  <a:lnTo>
                    <a:pt x="486498" y="78778"/>
                  </a:lnTo>
                  <a:lnTo>
                    <a:pt x="485521" y="78016"/>
                  </a:lnTo>
                  <a:lnTo>
                    <a:pt x="484682" y="75501"/>
                  </a:lnTo>
                  <a:lnTo>
                    <a:pt x="483704" y="72212"/>
                  </a:lnTo>
                  <a:lnTo>
                    <a:pt x="463715" y="72212"/>
                  </a:lnTo>
                  <a:lnTo>
                    <a:pt x="463715" y="79654"/>
                  </a:lnTo>
                  <a:lnTo>
                    <a:pt x="466496" y="85344"/>
                  </a:lnTo>
                  <a:lnTo>
                    <a:pt x="471957" y="89496"/>
                  </a:lnTo>
                  <a:lnTo>
                    <a:pt x="477088" y="92722"/>
                  </a:lnTo>
                  <a:lnTo>
                    <a:pt x="483438" y="95110"/>
                  </a:lnTo>
                  <a:lnTo>
                    <a:pt x="483692" y="95110"/>
                  </a:lnTo>
                  <a:lnTo>
                    <a:pt x="490537" y="96393"/>
                  </a:lnTo>
                  <a:lnTo>
                    <a:pt x="499224" y="96824"/>
                  </a:lnTo>
                  <a:lnTo>
                    <a:pt x="507403" y="96393"/>
                  </a:lnTo>
                  <a:lnTo>
                    <a:pt x="514413" y="95110"/>
                  </a:lnTo>
                  <a:lnTo>
                    <a:pt x="533768" y="80416"/>
                  </a:lnTo>
                  <a:lnTo>
                    <a:pt x="533768" y="68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7" name="object 117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6409345" y="1046077"/>
            <a:ext cx="1145577" cy="325977"/>
          </a:xfrm>
          <a:prstGeom prst="rect">
            <a:avLst/>
          </a:prstGeom>
        </p:spPr>
      </p:pic>
      <p:grpSp>
        <p:nvGrpSpPr>
          <p:cNvPr id="118" name="object 118"/>
          <p:cNvGrpSpPr/>
          <p:nvPr/>
        </p:nvGrpSpPr>
        <p:grpSpPr>
          <a:xfrm>
            <a:off x="6409345" y="1440059"/>
            <a:ext cx="1146175" cy="326390"/>
            <a:chOff x="6409345" y="1440059"/>
            <a:chExt cx="1146175" cy="326390"/>
          </a:xfrm>
        </p:grpSpPr>
        <p:sp>
          <p:nvSpPr>
            <p:cNvPr id="119" name="object 119"/>
            <p:cNvSpPr/>
            <p:nvPr/>
          </p:nvSpPr>
          <p:spPr>
            <a:xfrm>
              <a:off x="6414730" y="1445444"/>
              <a:ext cx="1135380" cy="315595"/>
            </a:xfrm>
            <a:custGeom>
              <a:avLst/>
              <a:gdLst/>
              <a:ahLst/>
              <a:cxnLst/>
              <a:rect l="l" t="t" r="r" b="b"/>
              <a:pathLst>
                <a:path w="1135379" h="315594">
                  <a:moveTo>
                    <a:pt x="1047422" y="0"/>
                  </a:moveTo>
                  <a:lnTo>
                    <a:pt x="87264" y="0"/>
                  </a:lnTo>
                  <a:lnTo>
                    <a:pt x="53330" y="6185"/>
                  </a:lnTo>
                  <a:lnTo>
                    <a:pt x="25588" y="23057"/>
                  </a:lnTo>
                  <a:lnTo>
                    <a:pt x="6868" y="48095"/>
                  </a:lnTo>
                  <a:lnTo>
                    <a:pt x="0" y="78774"/>
                  </a:lnTo>
                  <a:lnTo>
                    <a:pt x="0" y="236323"/>
                  </a:lnTo>
                  <a:lnTo>
                    <a:pt x="6868" y="267002"/>
                  </a:lnTo>
                  <a:lnTo>
                    <a:pt x="25588" y="292040"/>
                  </a:lnTo>
                  <a:lnTo>
                    <a:pt x="53330" y="308913"/>
                  </a:lnTo>
                  <a:lnTo>
                    <a:pt x="87264" y="315098"/>
                  </a:lnTo>
                  <a:lnTo>
                    <a:pt x="1047422" y="315098"/>
                  </a:lnTo>
                  <a:lnTo>
                    <a:pt x="1081426" y="308913"/>
                  </a:lnTo>
                  <a:lnTo>
                    <a:pt x="1109204" y="292040"/>
                  </a:lnTo>
                  <a:lnTo>
                    <a:pt x="1127937" y="267002"/>
                  </a:lnTo>
                  <a:lnTo>
                    <a:pt x="1134808" y="236323"/>
                  </a:lnTo>
                  <a:lnTo>
                    <a:pt x="1134808" y="78774"/>
                  </a:lnTo>
                  <a:lnTo>
                    <a:pt x="1127937" y="48095"/>
                  </a:lnTo>
                  <a:lnTo>
                    <a:pt x="1109204" y="23057"/>
                  </a:lnTo>
                  <a:lnTo>
                    <a:pt x="1081426" y="6185"/>
                  </a:lnTo>
                  <a:lnTo>
                    <a:pt x="1047422" y="0"/>
                  </a:lnTo>
                  <a:close/>
                </a:path>
              </a:pathLst>
            </a:custGeom>
            <a:solidFill>
              <a:srgbClr val="CA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414730" y="1445444"/>
              <a:ext cx="1135380" cy="315595"/>
            </a:xfrm>
            <a:custGeom>
              <a:avLst/>
              <a:gdLst/>
              <a:ahLst/>
              <a:cxnLst/>
              <a:rect l="l" t="t" r="r" b="b"/>
              <a:pathLst>
                <a:path w="1135379" h="315594">
                  <a:moveTo>
                    <a:pt x="1134808" y="236323"/>
                  </a:moveTo>
                  <a:lnTo>
                    <a:pt x="1127937" y="267002"/>
                  </a:lnTo>
                  <a:lnTo>
                    <a:pt x="1109204" y="292040"/>
                  </a:lnTo>
                  <a:lnTo>
                    <a:pt x="1081426" y="308913"/>
                  </a:lnTo>
                  <a:lnTo>
                    <a:pt x="1047422" y="315098"/>
                  </a:lnTo>
                  <a:lnTo>
                    <a:pt x="87264" y="315098"/>
                  </a:lnTo>
                  <a:lnTo>
                    <a:pt x="53330" y="308913"/>
                  </a:lnTo>
                  <a:lnTo>
                    <a:pt x="25588" y="292040"/>
                  </a:lnTo>
                  <a:lnTo>
                    <a:pt x="6868" y="267002"/>
                  </a:lnTo>
                  <a:lnTo>
                    <a:pt x="0" y="236323"/>
                  </a:lnTo>
                  <a:lnTo>
                    <a:pt x="0" y="78774"/>
                  </a:lnTo>
                  <a:lnTo>
                    <a:pt x="6868" y="48095"/>
                  </a:lnTo>
                  <a:lnTo>
                    <a:pt x="25588" y="23057"/>
                  </a:lnTo>
                  <a:lnTo>
                    <a:pt x="53330" y="6185"/>
                  </a:lnTo>
                  <a:lnTo>
                    <a:pt x="87264" y="0"/>
                  </a:lnTo>
                  <a:lnTo>
                    <a:pt x="1047422" y="0"/>
                  </a:lnTo>
                  <a:lnTo>
                    <a:pt x="1081426" y="6185"/>
                  </a:lnTo>
                  <a:lnTo>
                    <a:pt x="1109204" y="23057"/>
                  </a:lnTo>
                  <a:lnTo>
                    <a:pt x="1127937" y="48095"/>
                  </a:lnTo>
                  <a:lnTo>
                    <a:pt x="1134808" y="78774"/>
                  </a:lnTo>
                  <a:lnTo>
                    <a:pt x="1134808" y="236323"/>
                  </a:lnTo>
                  <a:close/>
                </a:path>
              </a:pathLst>
            </a:custGeom>
            <a:ln w="10752">
              <a:solidFill>
                <a:srgbClr val="08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608410" y="1538114"/>
              <a:ext cx="436446" cy="123194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064854" y="1539755"/>
              <a:ext cx="242766" cy="96936"/>
            </a:xfrm>
            <a:prstGeom prst="rect">
              <a:avLst/>
            </a:prstGeom>
          </p:spPr>
        </p:pic>
      </p:grpSp>
      <p:pic>
        <p:nvPicPr>
          <p:cNvPr id="123" name="object 123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6409345" y="1833932"/>
            <a:ext cx="1145577" cy="325977"/>
          </a:xfrm>
          <a:prstGeom prst="rect">
            <a:avLst/>
          </a:prstGeom>
        </p:spPr>
      </p:pic>
      <p:pic>
        <p:nvPicPr>
          <p:cNvPr id="124" name="object 124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6409345" y="2227914"/>
            <a:ext cx="1145577" cy="325977"/>
          </a:xfrm>
          <a:prstGeom prst="rect">
            <a:avLst/>
          </a:prstGeom>
        </p:spPr>
      </p:pic>
      <p:pic>
        <p:nvPicPr>
          <p:cNvPr id="125" name="object 125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6409345" y="2621896"/>
            <a:ext cx="1145577" cy="325867"/>
          </a:xfrm>
          <a:prstGeom prst="rect">
            <a:avLst/>
          </a:prstGeom>
        </p:spPr>
      </p:pic>
      <p:pic>
        <p:nvPicPr>
          <p:cNvPr id="126" name="object 126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6409345" y="3015879"/>
            <a:ext cx="1145577" cy="325867"/>
          </a:xfrm>
          <a:prstGeom prst="rect">
            <a:avLst/>
          </a:prstGeom>
        </p:spPr>
      </p:pic>
      <p:pic>
        <p:nvPicPr>
          <p:cNvPr id="127" name="object 127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6409345" y="3409751"/>
            <a:ext cx="1145577" cy="325977"/>
          </a:xfrm>
          <a:prstGeom prst="rect">
            <a:avLst/>
          </a:prstGeom>
        </p:spPr>
      </p:pic>
      <p:grpSp>
        <p:nvGrpSpPr>
          <p:cNvPr id="128" name="object 128"/>
          <p:cNvGrpSpPr/>
          <p:nvPr/>
        </p:nvGrpSpPr>
        <p:grpSpPr>
          <a:xfrm>
            <a:off x="6409345" y="3803734"/>
            <a:ext cx="1146175" cy="326390"/>
            <a:chOff x="6409345" y="3803734"/>
            <a:chExt cx="1146175" cy="326390"/>
          </a:xfrm>
        </p:grpSpPr>
        <p:sp>
          <p:nvSpPr>
            <p:cNvPr id="129" name="object 129"/>
            <p:cNvSpPr/>
            <p:nvPr/>
          </p:nvSpPr>
          <p:spPr>
            <a:xfrm>
              <a:off x="6414730" y="3809118"/>
              <a:ext cx="1135380" cy="315595"/>
            </a:xfrm>
            <a:custGeom>
              <a:avLst/>
              <a:gdLst/>
              <a:ahLst/>
              <a:cxnLst/>
              <a:rect l="l" t="t" r="r" b="b"/>
              <a:pathLst>
                <a:path w="1135379" h="315595">
                  <a:moveTo>
                    <a:pt x="1047422" y="0"/>
                  </a:moveTo>
                  <a:lnTo>
                    <a:pt x="87264" y="0"/>
                  </a:lnTo>
                  <a:lnTo>
                    <a:pt x="53330" y="6185"/>
                  </a:lnTo>
                  <a:lnTo>
                    <a:pt x="25588" y="23057"/>
                  </a:lnTo>
                  <a:lnTo>
                    <a:pt x="6868" y="48095"/>
                  </a:lnTo>
                  <a:lnTo>
                    <a:pt x="0" y="78774"/>
                  </a:lnTo>
                  <a:lnTo>
                    <a:pt x="0" y="236323"/>
                  </a:lnTo>
                  <a:lnTo>
                    <a:pt x="6868" y="267002"/>
                  </a:lnTo>
                  <a:lnTo>
                    <a:pt x="25588" y="292040"/>
                  </a:lnTo>
                  <a:lnTo>
                    <a:pt x="53330" y="308913"/>
                  </a:lnTo>
                  <a:lnTo>
                    <a:pt x="87264" y="315098"/>
                  </a:lnTo>
                  <a:lnTo>
                    <a:pt x="1047422" y="315098"/>
                  </a:lnTo>
                  <a:lnTo>
                    <a:pt x="1081426" y="308913"/>
                  </a:lnTo>
                  <a:lnTo>
                    <a:pt x="1109204" y="292040"/>
                  </a:lnTo>
                  <a:lnTo>
                    <a:pt x="1127937" y="267002"/>
                  </a:lnTo>
                  <a:lnTo>
                    <a:pt x="1134808" y="236323"/>
                  </a:lnTo>
                  <a:lnTo>
                    <a:pt x="1134808" y="78774"/>
                  </a:lnTo>
                  <a:lnTo>
                    <a:pt x="1127937" y="48095"/>
                  </a:lnTo>
                  <a:lnTo>
                    <a:pt x="1109204" y="23057"/>
                  </a:lnTo>
                  <a:lnTo>
                    <a:pt x="1081426" y="6185"/>
                  </a:lnTo>
                  <a:lnTo>
                    <a:pt x="1047422" y="0"/>
                  </a:lnTo>
                  <a:close/>
                </a:path>
              </a:pathLst>
            </a:custGeom>
            <a:solidFill>
              <a:srgbClr val="CA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414730" y="3809118"/>
              <a:ext cx="1135380" cy="315595"/>
            </a:xfrm>
            <a:custGeom>
              <a:avLst/>
              <a:gdLst/>
              <a:ahLst/>
              <a:cxnLst/>
              <a:rect l="l" t="t" r="r" b="b"/>
              <a:pathLst>
                <a:path w="1135379" h="315595">
                  <a:moveTo>
                    <a:pt x="1134808" y="236323"/>
                  </a:moveTo>
                  <a:lnTo>
                    <a:pt x="1127937" y="267002"/>
                  </a:lnTo>
                  <a:lnTo>
                    <a:pt x="1109204" y="292040"/>
                  </a:lnTo>
                  <a:lnTo>
                    <a:pt x="1081426" y="308913"/>
                  </a:lnTo>
                  <a:lnTo>
                    <a:pt x="1047422" y="315098"/>
                  </a:lnTo>
                  <a:lnTo>
                    <a:pt x="87264" y="315098"/>
                  </a:lnTo>
                  <a:lnTo>
                    <a:pt x="53330" y="308913"/>
                  </a:lnTo>
                  <a:lnTo>
                    <a:pt x="25588" y="292040"/>
                  </a:lnTo>
                  <a:lnTo>
                    <a:pt x="6868" y="267002"/>
                  </a:lnTo>
                  <a:lnTo>
                    <a:pt x="0" y="236323"/>
                  </a:lnTo>
                  <a:lnTo>
                    <a:pt x="0" y="78774"/>
                  </a:lnTo>
                  <a:lnTo>
                    <a:pt x="6868" y="48095"/>
                  </a:lnTo>
                  <a:lnTo>
                    <a:pt x="25588" y="23057"/>
                  </a:lnTo>
                  <a:lnTo>
                    <a:pt x="53330" y="6185"/>
                  </a:lnTo>
                  <a:lnTo>
                    <a:pt x="87264" y="0"/>
                  </a:lnTo>
                  <a:lnTo>
                    <a:pt x="1047422" y="0"/>
                  </a:lnTo>
                  <a:lnTo>
                    <a:pt x="1081426" y="6185"/>
                  </a:lnTo>
                  <a:lnTo>
                    <a:pt x="1109204" y="23057"/>
                  </a:lnTo>
                  <a:lnTo>
                    <a:pt x="1127937" y="48095"/>
                  </a:lnTo>
                  <a:lnTo>
                    <a:pt x="1134808" y="78774"/>
                  </a:lnTo>
                  <a:lnTo>
                    <a:pt x="1134808" y="236323"/>
                  </a:lnTo>
                  <a:close/>
                </a:path>
              </a:pathLst>
            </a:custGeom>
            <a:ln w="10752">
              <a:solidFill>
                <a:srgbClr val="08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693002" y="3901033"/>
              <a:ext cx="531495" cy="125095"/>
            </a:xfrm>
            <a:custGeom>
              <a:avLst/>
              <a:gdLst/>
              <a:ahLst/>
              <a:cxnLst/>
              <a:rect l="l" t="t" r="r" b="b"/>
              <a:pathLst>
                <a:path w="531495" h="125095">
                  <a:moveTo>
                    <a:pt x="85445" y="60718"/>
                  </a:moveTo>
                  <a:lnTo>
                    <a:pt x="58178" y="43535"/>
                  </a:lnTo>
                  <a:lnTo>
                    <a:pt x="40843" y="39382"/>
                  </a:lnTo>
                  <a:lnTo>
                    <a:pt x="33578" y="37744"/>
                  </a:lnTo>
                  <a:lnTo>
                    <a:pt x="29083" y="36969"/>
                  </a:lnTo>
                  <a:lnTo>
                    <a:pt x="27266" y="35331"/>
                  </a:lnTo>
                  <a:lnTo>
                    <a:pt x="23634" y="33693"/>
                  </a:lnTo>
                  <a:lnTo>
                    <a:pt x="21818" y="31178"/>
                  </a:lnTo>
                  <a:lnTo>
                    <a:pt x="21818" y="24612"/>
                  </a:lnTo>
                  <a:lnTo>
                    <a:pt x="23634" y="21336"/>
                  </a:lnTo>
                  <a:lnTo>
                    <a:pt x="27266" y="19685"/>
                  </a:lnTo>
                  <a:lnTo>
                    <a:pt x="29933" y="17284"/>
                  </a:lnTo>
                  <a:lnTo>
                    <a:pt x="34544" y="16408"/>
                  </a:lnTo>
                  <a:lnTo>
                    <a:pt x="45453" y="16408"/>
                  </a:lnTo>
                  <a:lnTo>
                    <a:pt x="49936" y="17284"/>
                  </a:lnTo>
                  <a:lnTo>
                    <a:pt x="52717" y="18923"/>
                  </a:lnTo>
                  <a:lnTo>
                    <a:pt x="58178" y="21336"/>
                  </a:lnTo>
                  <a:lnTo>
                    <a:pt x="60845" y="25488"/>
                  </a:lnTo>
                  <a:lnTo>
                    <a:pt x="60845" y="30416"/>
                  </a:lnTo>
                  <a:lnTo>
                    <a:pt x="81813" y="30416"/>
                  </a:lnTo>
                  <a:lnTo>
                    <a:pt x="81813" y="20561"/>
                  </a:lnTo>
                  <a:lnTo>
                    <a:pt x="79235" y="16408"/>
                  </a:lnTo>
                  <a:lnTo>
                    <a:pt x="77203" y="13119"/>
                  </a:lnTo>
                  <a:lnTo>
                    <a:pt x="41821" y="0"/>
                  </a:lnTo>
                  <a:lnTo>
                    <a:pt x="32778" y="482"/>
                  </a:lnTo>
                  <a:lnTo>
                    <a:pt x="1816" y="21336"/>
                  </a:lnTo>
                  <a:lnTo>
                    <a:pt x="1816" y="38620"/>
                  </a:lnTo>
                  <a:lnTo>
                    <a:pt x="34544" y="56667"/>
                  </a:lnTo>
                  <a:lnTo>
                    <a:pt x="52717" y="60718"/>
                  </a:lnTo>
                  <a:lnTo>
                    <a:pt x="57213" y="61595"/>
                  </a:lnTo>
                  <a:lnTo>
                    <a:pt x="59994" y="63233"/>
                  </a:lnTo>
                  <a:lnTo>
                    <a:pt x="62661" y="64871"/>
                  </a:lnTo>
                  <a:lnTo>
                    <a:pt x="64477" y="67284"/>
                  </a:lnTo>
                  <a:lnTo>
                    <a:pt x="64477" y="76365"/>
                  </a:lnTo>
                  <a:lnTo>
                    <a:pt x="61810" y="79641"/>
                  </a:lnTo>
                  <a:lnTo>
                    <a:pt x="55384" y="81280"/>
                  </a:lnTo>
                  <a:lnTo>
                    <a:pt x="51752" y="82931"/>
                  </a:lnTo>
                  <a:lnTo>
                    <a:pt x="34544" y="82931"/>
                  </a:lnTo>
                  <a:lnTo>
                    <a:pt x="28117" y="81280"/>
                  </a:lnTo>
                  <a:lnTo>
                    <a:pt x="24485" y="77127"/>
                  </a:lnTo>
                  <a:lnTo>
                    <a:pt x="22669" y="75488"/>
                  </a:lnTo>
                  <a:lnTo>
                    <a:pt x="21818" y="72199"/>
                  </a:lnTo>
                  <a:lnTo>
                    <a:pt x="20853" y="67284"/>
                  </a:lnTo>
                  <a:lnTo>
                    <a:pt x="0" y="67284"/>
                  </a:lnTo>
                  <a:lnTo>
                    <a:pt x="25654" y="97078"/>
                  </a:lnTo>
                  <a:lnTo>
                    <a:pt x="43637" y="99339"/>
                  </a:lnTo>
                  <a:lnTo>
                    <a:pt x="52946" y="98755"/>
                  </a:lnTo>
                  <a:lnTo>
                    <a:pt x="53098" y="98755"/>
                  </a:lnTo>
                  <a:lnTo>
                    <a:pt x="60934" y="97078"/>
                  </a:lnTo>
                  <a:lnTo>
                    <a:pt x="61175" y="97078"/>
                  </a:lnTo>
                  <a:lnTo>
                    <a:pt x="68554" y="94119"/>
                  </a:lnTo>
                  <a:lnTo>
                    <a:pt x="74536" y="90258"/>
                  </a:lnTo>
                  <a:lnTo>
                    <a:pt x="81813" y="85331"/>
                  </a:lnTo>
                  <a:lnTo>
                    <a:pt x="83007" y="82931"/>
                  </a:lnTo>
                  <a:lnTo>
                    <a:pt x="85445" y="78003"/>
                  </a:lnTo>
                  <a:lnTo>
                    <a:pt x="85445" y="60718"/>
                  </a:lnTo>
                  <a:close/>
                </a:path>
                <a:path w="531495" h="125095">
                  <a:moveTo>
                    <a:pt x="135509" y="27889"/>
                  </a:moveTo>
                  <a:lnTo>
                    <a:pt x="123621" y="27889"/>
                  </a:lnTo>
                  <a:lnTo>
                    <a:pt x="123621" y="8204"/>
                  </a:lnTo>
                  <a:lnTo>
                    <a:pt x="103632" y="8204"/>
                  </a:lnTo>
                  <a:lnTo>
                    <a:pt x="103632" y="27889"/>
                  </a:lnTo>
                  <a:lnTo>
                    <a:pt x="92722" y="27889"/>
                  </a:lnTo>
                  <a:lnTo>
                    <a:pt x="92722" y="41021"/>
                  </a:lnTo>
                  <a:lnTo>
                    <a:pt x="103632" y="41021"/>
                  </a:lnTo>
                  <a:lnTo>
                    <a:pt x="103632" y="87845"/>
                  </a:lnTo>
                  <a:lnTo>
                    <a:pt x="104597" y="91135"/>
                  </a:lnTo>
                  <a:lnTo>
                    <a:pt x="106413" y="93535"/>
                  </a:lnTo>
                  <a:lnTo>
                    <a:pt x="110045" y="96824"/>
                  </a:lnTo>
                  <a:lnTo>
                    <a:pt x="116357" y="97701"/>
                  </a:lnTo>
                  <a:lnTo>
                    <a:pt x="135509" y="97701"/>
                  </a:lnTo>
                  <a:lnTo>
                    <a:pt x="135509" y="83693"/>
                  </a:lnTo>
                  <a:lnTo>
                    <a:pt x="125450" y="83693"/>
                  </a:lnTo>
                  <a:lnTo>
                    <a:pt x="123621" y="82054"/>
                  </a:lnTo>
                  <a:lnTo>
                    <a:pt x="123621" y="41021"/>
                  </a:lnTo>
                  <a:lnTo>
                    <a:pt x="135509" y="41021"/>
                  </a:lnTo>
                  <a:lnTo>
                    <a:pt x="135509" y="27889"/>
                  </a:lnTo>
                  <a:close/>
                </a:path>
                <a:path w="531495" h="125095">
                  <a:moveTo>
                    <a:pt x="222770" y="62357"/>
                  </a:moveTo>
                  <a:lnTo>
                    <a:pt x="222250" y="55029"/>
                  </a:lnTo>
                  <a:lnTo>
                    <a:pt x="222237" y="54825"/>
                  </a:lnTo>
                  <a:lnTo>
                    <a:pt x="220586" y="48044"/>
                  </a:lnTo>
                  <a:lnTo>
                    <a:pt x="201803" y="28016"/>
                  </a:lnTo>
                  <a:lnTo>
                    <a:pt x="201803" y="68922"/>
                  </a:lnTo>
                  <a:lnTo>
                    <a:pt x="199986" y="74726"/>
                  </a:lnTo>
                  <a:lnTo>
                    <a:pt x="197319" y="78003"/>
                  </a:lnTo>
                  <a:lnTo>
                    <a:pt x="193675" y="82054"/>
                  </a:lnTo>
                  <a:lnTo>
                    <a:pt x="189077" y="83693"/>
                  </a:lnTo>
                  <a:lnTo>
                    <a:pt x="177317" y="83693"/>
                  </a:lnTo>
                  <a:lnTo>
                    <a:pt x="172707" y="82054"/>
                  </a:lnTo>
                  <a:lnTo>
                    <a:pt x="170040" y="78003"/>
                  </a:lnTo>
                  <a:lnTo>
                    <a:pt x="166408" y="74726"/>
                  </a:lnTo>
                  <a:lnTo>
                    <a:pt x="165557" y="69583"/>
                  </a:lnTo>
                  <a:lnTo>
                    <a:pt x="165481" y="54825"/>
                  </a:lnTo>
                  <a:lnTo>
                    <a:pt x="166408" y="50101"/>
                  </a:lnTo>
                  <a:lnTo>
                    <a:pt x="170040" y="45948"/>
                  </a:lnTo>
                  <a:lnTo>
                    <a:pt x="172707" y="41897"/>
                  </a:lnTo>
                  <a:lnTo>
                    <a:pt x="177317" y="40259"/>
                  </a:lnTo>
                  <a:lnTo>
                    <a:pt x="189077" y="40259"/>
                  </a:lnTo>
                  <a:lnTo>
                    <a:pt x="201803" y="68922"/>
                  </a:lnTo>
                  <a:lnTo>
                    <a:pt x="201803" y="28016"/>
                  </a:lnTo>
                  <a:lnTo>
                    <a:pt x="201053" y="27609"/>
                  </a:lnTo>
                  <a:lnTo>
                    <a:pt x="193078" y="25374"/>
                  </a:lnTo>
                  <a:lnTo>
                    <a:pt x="183616" y="24612"/>
                  </a:lnTo>
                  <a:lnTo>
                    <a:pt x="174244" y="25374"/>
                  </a:lnTo>
                  <a:lnTo>
                    <a:pt x="145110" y="54825"/>
                  </a:lnTo>
                  <a:lnTo>
                    <a:pt x="144589" y="62357"/>
                  </a:lnTo>
                  <a:lnTo>
                    <a:pt x="145059" y="68922"/>
                  </a:lnTo>
                  <a:lnTo>
                    <a:pt x="174244" y="98590"/>
                  </a:lnTo>
                  <a:lnTo>
                    <a:pt x="183616" y="99339"/>
                  </a:lnTo>
                  <a:lnTo>
                    <a:pt x="193078" y="98590"/>
                  </a:lnTo>
                  <a:lnTo>
                    <a:pt x="222237" y="69583"/>
                  </a:lnTo>
                  <a:lnTo>
                    <a:pt x="222770" y="62357"/>
                  </a:lnTo>
                  <a:close/>
                </a:path>
                <a:path w="531495" h="125095">
                  <a:moveTo>
                    <a:pt x="282765" y="25488"/>
                  </a:moveTo>
                  <a:lnTo>
                    <a:pt x="279971" y="25488"/>
                  </a:lnTo>
                  <a:lnTo>
                    <a:pt x="273672" y="25488"/>
                  </a:lnTo>
                  <a:lnTo>
                    <a:pt x="269062" y="27127"/>
                  </a:lnTo>
                  <a:lnTo>
                    <a:pt x="262763" y="31178"/>
                  </a:lnTo>
                  <a:lnTo>
                    <a:pt x="259981" y="34455"/>
                  </a:lnTo>
                  <a:lnTo>
                    <a:pt x="257314" y="39382"/>
                  </a:lnTo>
                  <a:lnTo>
                    <a:pt x="257314" y="27127"/>
                  </a:lnTo>
                  <a:lnTo>
                    <a:pt x="237312" y="27127"/>
                  </a:lnTo>
                  <a:lnTo>
                    <a:pt x="237312" y="96824"/>
                  </a:lnTo>
                  <a:lnTo>
                    <a:pt x="258165" y="96824"/>
                  </a:lnTo>
                  <a:lnTo>
                    <a:pt x="258165" y="58305"/>
                  </a:lnTo>
                  <a:lnTo>
                    <a:pt x="259981" y="50876"/>
                  </a:lnTo>
                  <a:lnTo>
                    <a:pt x="262763" y="46824"/>
                  </a:lnTo>
                  <a:lnTo>
                    <a:pt x="268224" y="44310"/>
                  </a:lnTo>
                  <a:lnTo>
                    <a:pt x="282765" y="44310"/>
                  </a:lnTo>
                  <a:lnTo>
                    <a:pt x="282765" y="25488"/>
                  </a:lnTo>
                  <a:close/>
                </a:path>
                <a:path w="531495" h="125095">
                  <a:moveTo>
                    <a:pt x="360934" y="94411"/>
                  </a:moveTo>
                  <a:lnTo>
                    <a:pt x="360095" y="93535"/>
                  </a:lnTo>
                  <a:lnTo>
                    <a:pt x="359117" y="92773"/>
                  </a:lnTo>
                  <a:lnTo>
                    <a:pt x="358267" y="91897"/>
                  </a:lnTo>
                  <a:lnTo>
                    <a:pt x="357301" y="91135"/>
                  </a:lnTo>
                  <a:lnTo>
                    <a:pt x="357301" y="88620"/>
                  </a:lnTo>
                  <a:lnTo>
                    <a:pt x="357301" y="85331"/>
                  </a:lnTo>
                  <a:lnTo>
                    <a:pt x="357301" y="63233"/>
                  </a:lnTo>
                  <a:lnTo>
                    <a:pt x="357301" y="40259"/>
                  </a:lnTo>
                  <a:lnTo>
                    <a:pt x="357301" y="38620"/>
                  </a:lnTo>
                  <a:lnTo>
                    <a:pt x="353669" y="32816"/>
                  </a:lnTo>
                  <a:lnTo>
                    <a:pt x="347243" y="30416"/>
                  </a:lnTo>
                  <a:lnTo>
                    <a:pt x="340944" y="27127"/>
                  </a:lnTo>
                  <a:lnTo>
                    <a:pt x="333667" y="25488"/>
                  </a:lnTo>
                  <a:lnTo>
                    <a:pt x="324573" y="25488"/>
                  </a:lnTo>
                  <a:lnTo>
                    <a:pt x="315709" y="26085"/>
                  </a:lnTo>
                  <a:lnTo>
                    <a:pt x="291858" y="43535"/>
                  </a:lnTo>
                  <a:lnTo>
                    <a:pt x="291858" y="50101"/>
                  </a:lnTo>
                  <a:lnTo>
                    <a:pt x="310883" y="50101"/>
                  </a:lnTo>
                  <a:lnTo>
                    <a:pt x="311848" y="46824"/>
                  </a:lnTo>
                  <a:lnTo>
                    <a:pt x="312699" y="45186"/>
                  </a:lnTo>
                  <a:lnTo>
                    <a:pt x="313664" y="43535"/>
                  </a:lnTo>
                  <a:lnTo>
                    <a:pt x="316331" y="41021"/>
                  </a:lnTo>
                  <a:lnTo>
                    <a:pt x="319125" y="40259"/>
                  </a:lnTo>
                  <a:lnTo>
                    <a:pt x="328218" y="40259"/>
                  </a:lnTo>
                  <a:lnTo>
                    <a:pt x="331851" y="41021"/>
                  </a:lnTo>
                  <a:lnTo>
                    <a:pt x="333667" y="41897"/>
                  </a:lnTo>
                  <a:lnTo>
                    <a:pt x="335483" y="42659"/>
                  </a:lnTo>
                  <a:lnTo>
                    <a:pt x="337299" y="45186"/>
                  </a:lnTo>
                  <a:lnTo>
                    <a:pt x="337299" y="50101"/>
                  </a:lnTo>
                  <a:lnTo>
                    <a:pt x="337299" y="63233"/>
                  </a:lnTo>
                  <a:lnTo>
                    <a:pt x="337299" y="69799"/>
                  </a:lnTo>
                  <a:lnTo>
                    <a:pt x="336334" y="75488"/>
                  </a:lnTo>
                  <a:lnTo>
                    <a:pt x="334518" y="79641"/>
                  </a:lnTo>
                  <a:lnTo>
                    <a:pt x="330885" y="82054"/>
                  </a:lnTo>
                  <a:lnTo>
                    <a:pt x="327240" y="84569"/>
                  </a:lnTo>
                  <a:lnTo>
                    <a:pt x="323608" y="85331"/>
                  </a:lnTo>
                  <a:lnTo>
                    <a:pt x="314515" y="85331"/>
                  </a:lnTo>
                  <a:lnTo>
                    <a:pt x="312699" y="83693"/>
                  </a:lnTo>
                  <a:lnTo>
                    <a:pt x="310032" y="82054"/>
                  </a:lnTo>
                  <a:lnTo>
                    <a:pt x="309067" y="79641"/>
                  </a:lnTo>
                  <a:lnTo>
                    <a:pt x="309067" y="73075"/>
                  </a:lnTo>
                  <a:lnTo>
                    <a:pt x="323608" y="66509"/>
                  </a:lnTo>
                  <a:lnTo>
                    <a:pt x="328218" y="65646"/>
                  </a:lnTo>
                  <a:lnTo>
                    <a:pt x="330034" y="65646"/>
                  </a:lnTo>
                  <a:lnTo>
                    <a:pt x="331851" y="64871"/>
                  </a:lnTo>
                  <a:lnTo>
                    <a:pt x="332701" y="64871"/>
                  </a:lnTo>
                  <a:lnTo>
                    <a:pt x="334518" y="63995"/>
                  </a:lnTo>
                  <a:lnTo>
                    <a:pt x="335483" y="63995"/>
                  </a:lnTo>
                  <a:lnTo>
                    <a:pt x="337299" y="63233"/>
                  </a:lnTo>
                  <a:lnTo>
                    <a:pt x="337299" y="50101"/>
                  </a:lnTo>
                  <a:lnTo>
                    <a:pt x="335483" y="51739"/>
                  </a:lnTo>
                  <a:lnTo>
                    <a:pt x="332701" y="52514"/>
                  </a:lnTo>
                  <a:lnTo>
                    <a:pt x="330885" y="53390"/>
                  </a:lnTo>
                  <a:lnTo>
                    <a:pt x="328218" y="54152"/>
                  </a:lnTo>
                  <a:lnTo>
                    <a:pt x="324573" y="54152"/>
                  </a:lnTo>
                  <a:lnTo>
                    <a:pt x="318160" y="55029"/>
                  </a:lnTo>
                  <a:lnTo>
                    <a:pt x="310032" y="55791"/>
                  </a:lnTo>
                  <a:lnTo>
                    <a:pt x="304584" y="57429"/>
                  </a:lnTo>
                  <a:lnTo>
                    <a:pt x="299974" y="59956"/>
                  </a:lnTo>
                  <a:lnTo>
                    <a:pt x="292696" y="63233"/>
                  </a:lnTo>
                  <a:lnTo>
                    <a:pt x="289064" y="69799"/>
                  </a:lnTo>
                  <a:lnTo>
                    <a:pt x="289064" y="84569"/>
                  </a:lnTo>
                  <a:lnTo>
                    <a:pt x="291858" y="90258"/>
                  </a:lnTo>
                  <a:lnTo>
                    <a:pt x="296341" y="93535"/>
                  </a:lnTo>
                  <a:lnTo>
                    <a:pt x="300939" y="96824"/>
                  </a:lnTo>
                  <a:lnTo>
                    <a:pt x="306400" y="98463"/>
                  </a:lnTo>
                  <a:lnTo>
                    <a:pt x="319125" y="98463"/>
                  </a:lnTo>
                  <a:lnTo>
                    <a:pt x="323608" y="97701"/>
                  </a:lnTo>
                  <a:lnTo>
                    <a:pt x="328218" y="95186"/>
                  </a:lnTo>
                  <a:lnTo>
                    <a:pt x="331851" y="93535"/>
                  </a:lnTo>
                  <a:lnTo>
                    <a:pt x="337299" y="88620"/>
                  </a:lnTo>
                  <a:lnTo>
                    <a:pt x="338150" y="90258"/>
                  </a:lnTo>
                  <a:lnTo>
                    <a:pt x="338150" y="94411"/>
                  </a:lnTo>
                  <a:lnTo>
                    <a:pt x="339128" y="95186"/>
                  </a:lnTo>
                  <a:lnTo>
                    <a:pt x="339128" y="96824"/>
                  </a:lnTo>
                  <a:lnTo>
                    <a:pt x="360934" y="96824"/>
                  </a:lnTo>
                  <a:lnTo>
                    <a:pt x="360934" y="94411"/>
                  </a:lnTo>
                  <a:close/>
                </a:path>
                <a:path w="531495" h="125095">
                  <a:moveTo>
                    <a:pt x="444563" y="27127"/>
                  </a:moveTo>
                  <a:lnTo>
                    <a:pt x="425538" y="27127"/>
                  </a:lnTo>
                  <a:lnTo>
                    <a:pt x="425538" y="36969"/>
                  </a:lnTo>
                  <a:lnTo>
                    <a:pt x="425538" y="68922"/>
                  </a:lnTo>
                  <a:lnTo>
                    <a:pt x="423722" y="73850"/>
                  </a:lnTo>
                  <a:lnTo>
                    <a:pt x="420090" y="77127"/>
                  </a:lnTo>
                  <a:lnTo>
                    <a:pt x="417296" y="80416"/>
                  </a:lnTo>
                  <a:lnTo>
                    <a:pt x="412813" y="82054"/>
                  </a:lnTo>
                  <a:lnTo>
                    <a:pt x="400939" y="82054"/>
                  </a:lnTo>
                  <a:lnTo>
                    <a:pt x="396455" y="78765"/>
                  </a:lnTo>
                  <a:lnTo>
                    <a:pt x="393661" y="73075"/>
                  </a:lnTo>
                  <a:lnTo>
                    <a:pt x="391922" y="69938"/>
                  </a:lnTo>
                  <a:lnTo>
                    <a:pt x="391845" y="53390"/>
                  </a:lnTo>
                  <a:lnTo>
                    <a:pt x="393661" y="50101"/>
                  </a:lnTo>
                  <a:lnTo>
                    <a:pt x="396455" y="44310"/>
                  </a:lnTo>
                  <a:lnTo>
                    <a:pt x="400939" y="41897"/>
                  </a:lnTo>
                  <a:lnTo>
                    <a:pt x="413664" y="41897"/>
                  </a:lnTo>
                  <a:lnTo>
                    <a:pt x="425538" y="68922"/>
                  </a:lnTo>
                  <a:lnTo>
                    <a:pt x="425538" y="36969"/>
                  </a:lnTo>
                  <a:lnTo>
                    <a:pt x="407352" y="25488"/>
                  </a:lnTo>
                  <a:lnTo>
                    <a:pt x="403720" y="25488"/>
                  </a:lnTo>
                  <a:lnTo>
                    <a:pt x="373011" y="48044"/>
                  </a:lnTo>
                  <a:lnTo>
                    <a:pt x="370992" y="62357"/>
                  </a:lnTo>
                  <a:lnTo>
                    <a:pt x="371436" y="68922"/>
                  </a:lnTo>
                  <a:lnTo>
                    <a:pt x="371500" y="69938"/>
                  </a:lnTo>
                  <a:lnTo>
                    <a:pt x="403720" y="96824"/>
                  </a:lnTo>
                  <a:lnTo>
                    <a:pt x="410019" y="96824"/>
                  </a:lnTo>
                  <a:lnTo>
                    <a:pt x="414629" y="96062"/>
                  </a:lnTo>
                  <a:lnTo>
                    <a:pt x="419112" y="92773"/>
                  </a:lnTo>
                  <a:lnTo>
                    <a:pt x="422757" y="89496"/>
                  </a:lnTo>
                  <a:lnTo>
                    <a:pt x="424573" y="86207"/>
                  </a:lnTo>
                  <a:lnTo>
                    <a:pt x="424573" y="101739"/>
                  </a:lnTo>
                  <a:lnTo>
                    <a:pt x="422757" y="105029"/>
                  </a:lnTo>
                  <a:lnTo>
                    <a:pt x="420090" y="109181"/>
                  </a:lnTo>
                  <a:lnTo>
                    <a:pt x="415480" y="111594"/>
                  </a:lnTo>
                  <a:lnTo>
                    <a:pt x="402755" y="111594"/>
                  </a:lnTo>
                  <a:lnTo>
                    <a:pt x="399122" y="110832"/>
                  </a:lnTo>
                  <a:lnTo>
                    <a:pt x="397294" y="109181"/>
                  </a:lnTo>
                  <a:lnTo>
                    <a:pt x="395478" y="108305"/>
                  </a:lnTo>
                  <a:lnTo>
                    <a:pt x="394627" y="106667"/>
                  </a:lnTo>
                  <a:lnTo>
                    <a:pt x="394627" y="104267"/>
                  </a:lnTo>
                  <a:lnTo>
                    <a:pt x="372821" y="104267"/>
                  </a:lnTo>
                  <a:lnTo>
                    <a:pt x="372821" y="110832"/>
                  </a:lnTo>
                  <a:lnTo>
                    <a:pt x="376453" y="116509"/>
                  </a:lnTo>
                  <a:lnTo>
                    <a:pt x="389178" y="123075"/>
                  </a:lnTo>
                  <a:lnTo>
                    <a:pt x="397294" y="124726"/>
                  </a:lnTo>
                  <a:lnTo>
                    <a:pt x="407352" y="124726"/>
                  </a:lnTo>
                  <a:lnTo>
                    <a:pt x="441553" y="111594"/>
                  </a:lnTo>
                  <a:lnTo>
                    <a:pt x="443725" y="109181"/>
                  </a:lnTo>
                  <a:lnTo>
                    <a:pt x="444563" y="101739"/>
                  </a:lnTo>
                  <a:lnTo>
                    <a:pt x="444563" y="86207"/>
                  </a:lnTo>
                  <a:lnTo>
                    <a:pt x="444563" y="82054"/>
                  </a:lnTo>
                  <a:lnTo>
                    <a:pt x="444563" y="41897"/>
                  </a:lnTo>
                  <a:lnTo>
                    <a:pt x="444563" y="36969"/>
                  </a:lnTo>
                  <a:lnTo>
                    <a:pt x="444563" y="27127"/>
                  </a:lnTo>
                  <a:close/>
                </a:path>
                <a:path w="531495" h="125095">
                  <a:moveTo>
                    <a:pt x="530987" y="56667"/>
                  </a:moveTo>
                  <a:lnTo>
                    <a:pt x="530504" y="55029"/>
                  </a:lnTo>
                  <a:lnTo>
                    <a:pt x="530009" y="53390"/>
                  </a:lnTo>
                  <a:lnTo>
                    <a:pt x="529170" y="47586"/>
                  </a:lnTo>
                  <a:lnTo>
                    <a:pt x="511835" y="28765"/>
                  </a:lnTo>
                  <a:lnTo>
                    <a:pt x="510019" y="27940"/>
                  </a:lnTo>
                  <a:lnTo>
                    <a:pt x="510019" y="50101"/>
                  </a:lnTo>
                  <a:lnTo>
                    <a:pt x="510019" y="55029"/>
                  </a:lnTo>
                  <a:lnTo>
                    <a:pt x="479107" y="55029"/>
                  </a:lnTo>
                  <a:lnTo>
                    <a:pt x="480085" y="50876"/>
                  </a:lnTo>
                  <a:lnTo>
                    <a:pt x="480923" y="46824"/>
                  </a:lnTo>
                  <a:lnTo>
                    <a:pt x="486384" y="41897"/>
                  </a:lnTo>
                  <a:lnTo>
                    <a:pt x="489826" y="40347"/>
                  </a:lnTo>
                  <a:lnTo>
                    <a:pt x="499287" y="40347"/>
                  </a:lnTo>
                  <a:lnTo>
                    <a:pt x="502742" y="41897"/>
                  </a:lnTo>
                  <a:lnTo>
                    <a:pt x="505536" y="44310"/>
                  </a:lnTo>
                  <a:lnTo>
                    <a:pt x="508203" y="46824"/>
                  </a:lnTo>
                  <a:lnTo>
                    <a:pt x="510019" y="50101"/>
                  </a:lnTo>
                  <a:lnTo>
                    <a:pt x="510019" y="27940"/>
                  </a:lnTo>
                  <a:lnTo>
                    <a:pt x="506374" y="26250"/>
                  </a:lnTo>
                  <a:lnTo>
                    <a:pt x="500926" y="25488"/>
                  </a:lnTo>
                  <a:lnTo>
                    <a:pt x="494626" y="25488"/>
                  </a:lnTo>
                  <a:lnTo>
                    <a:pt x="460870" y="46672"/>
                  </a:lnTo>
                  <a:lnTo>
                    <a:pt x="458266" y="62357"/>
                  </a:lnTo>
                  <a:lnTo>
                    <a:pt x="458939" y="71450"/>
                  </a:lnTo>
                  <a:lnTo>
                    <a:pt x="460908" y="78765"/>
                  </a:lnTo>
                  <a:lnTo>
                    <a:pt x="460984" y="79095"/>
                  </a:lnTo>
                  <a:lnTo>
                    <a:pt x="495477" y="99339"/>
                  </a:lnTo>
                  <a:lnTo>
                    <a:pt x="503516" y="98729"/>
                  </a:lnTo>
                  <a:lnTo>
                    <a:pt x="503758" y="98729"/>
                  </a:lnTo>
                  <a:lnTo>
                    <a:pt x="511200" y="96761"/>
                  </a:lnTo>
                  <a:lnTo>
                    <a:pt x="517486" y="93433"/>
                  </a:lnTo>
                  <a:lnTo>
                    <a:pt x="522744" y="88620"/>
                  </a:lnTo>
                  <a:lnTo>
                    <a:pt x="527342" y="84569"/>
                  </a:lnTo>
                  <a:lnTo>
                    <a:pt x="530009" y="80416"/>
                  </a:lnTo>
                  <a:lnTo>
                    <a:pt x="530009" y="76365"/>
                  </a:lnTo>
                  <a:lnTo>
                    <a:pt x="510019" y="76365"/>
                  </a:lnTo>
                  <a:lnTo>
                    <a:pt x="508203" y="78003"/>
                  </a:lnTo>
                  <a:lnTo>
                    <a:pt x="507352" y="79641"/>
                  </a:lnTo>
                  <a:lnTo>
                    <a:pt x="503720" y="82931"/>
                  </a:lnTo>
                  <a:lnTo>
                    <a:pt x="500075" y="84569"/>
                  </a:lnTo>
                  <a:lnTo>
                    <a:pt x="491832" y="84569"/>
                  </a:lnTo>
                  <a:lnTo>
                    <a:pt x="488200" y="83693"/>
                  </a:lnTo>
                  <a:lnTo>
                    <a:pt x="485533" y="81280"/>
                  </a:lnTo>
                  <a:lnTo>
                    <a:pt x="480923" y="78765"/>
                  </a:lnTo>
                  <a:lnTo>
                    <a:pt x="479107" y="73850"/>
                  </a:lnTo>
                  <a:lnTo>
                    <a:pt x="478256" y="67284"/>
                  </a:lnTo>
                  <a:lnTo>
                    <a:pt x="530987" y="67284"/>
                  </a:lnTo>
                  <a:lnTo>
                    <a:pt x="530987" y="566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2" name="object 132"/>
          <p:cNvGrpSpPr/>
          <p:nvPr/>
        </p:nvGrpSpPr>
        <p:grpSpPr>
          <a:xfrm>
            <a:off x="6409345" y="4197716"/>
            <a:ext cx="1146175" cy="326390"/>
            <a:chOff x="6409345" y="4197716"/>
            <a:chExt cx="1146175" cy="326390"/>
          </a:xfrm>
        </p:grpSpPr>
        <p:sp>
          <p:nvSpPr>
            <p:cNvPr id="133" name="object 133"/>
            <p:cNvSpPr/>
            <p:nvPr/>
          </p:nvSpPr>
          <p:spPr>
            <a:xfrm>
              <a:off x="6414730" y="4203100"/>
              <a:ext cx="1135380" cy="315595"/>
            </a:xfrm>
            <a:custGeom>
              <a:avLst/>
              <a:gdLst/>
              <a:ahLst/>
              <a:cxnLst/>
              <a:rect l="l" t="t" r="r" b="b"/>
              <a:pathLst>
                <a:path w="1135379" h="315595">
                  <a:moveTo>
                    <a:pt x="1047422" y="0"/>
                  </a:moveTo>
                  <a:lnTo>
                    <a:pt x="87264" y="0"/>
                  </a:lnTo>
                  <a:lnTo>
                    <a:pt x="53330" y="6185"/>
                  </a:lnTo>
                  <a:lnTo>
                    <a:pt x="25588" y="23057"/>
                  </a:lnTo>
                  <a:lnTo>
                    <a:pt x="6868" y="48095"/>
                  </a:lnTo>
                  <a:lnTo>
                    <a:pt x="0" y="78774"/>
                  </a:lnTo>
                  <a:lnTo>
                    <a:pt x="0" y="236323"/>
                  </a:lnTo>
                  <a:lnTo>
                    <a:pt x="6868" y="267002"/>
                  </a:lnTo>
                  <a:lnTo>
                    <a:pt x="25588" y="292040"/>
                  </a:lnTo>
                  <a:lnTo>
                    <a:pt x="53330" y="308913"/>
                  </a:lnTo>
                  <a:lnTo>
                    <a:pt x="87264" y="315098"/>
                  </a:lnTo>
                  <a:lnTo>
                    <a:pt x="1047422" y="315098"/>
                  </a:lnTo>
                  <a:lnTo>
                    <a:pt x="1081426" y="308913"/>
                  </a:lnTo>
                  <a:lnTo>
                    <a:pt x="1109204" y="292040"/>
                  </a:lnTo>
                  <a:lnTo>
                    <a:pt x="1127937" y="267002"/>
                  </a:lnTo>
                  <a:lnTo>
                    <a:pt x="1134808" y="236323"/>
                  </a:lnTo>
                  <a:lnTo>
                    <a:pt x="1134808" y="78774"/>
                  </a:lnTo>
                  <a:lnTo>
                    <a:pt x="1127937" y="48095"/>
                  </a:lnTo>
                  <a:lnTo>
                    <a:pt x="1109204" y="23057"/>
                  </a:lnTo>
                  <a:lnTo>
                    <a:pt x="1081426" y="6185"/>
                  </a:lnTo>
                  <a:lnTo>
                    <a:pt x="1047422" y="0"/>
                  </a:lnTo>
                  <a:close/>
                </a:path>
              </a:pathLst>
            </a:custGeom>
            <a:solidFill>
              <a:srgbClr val="CA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414730" y="4203100"/>
              <a:ext cx="1135380" cy="315595"/>
            </a:xfrm>
            <a:custGeom>
              <a:avLst/>
              <a:gdLst/>
              <a:ahLst/>
              <a:cxnLst/>
              <a:rect l="l" t="t" r="r" b="b"/>
              <a:pathLst>
                <a:path w="1135379" h="315595">
                  <a:moveTo>
                    <a:pt x="1134808" y="236323"/>
                  </a:moveTo>
                  <a:lnTo>
                    <a:pt x="1127937" y="267002"/>
                  </a:lnTo>
                  <a:lnTo>
                    <a:pt x="1109204" y="292040"/>
                  </a:lnTo>
                  <a:lnTo>
                    <a:pt x="1081426" y="308913"/>
                  </a:lnTo>
                  <a:lnTo>
                    <a:pt x="1047422" y="315098"/>
                  </a:lnTo>
                  <a:lnTo>
                    <a:pt x="87264" y="315098"/>
                  </a:lnTo>
                  <a:lnTo>
                    <a:pt x="53330" y="308913"/>
                  </a:lnTo>
                  <a:lnTo>
                    <a:pt x="25588" y="292040"/>
                  </a:lnTo>
                  <a:lnTo>
                    <a:pt x="6868" y="267002"/>
                  </a:lnTo>
                  <a:lnTo>
                    <a:pt x="0" y="236323"/>
                  </a:lnTo>
                  <a:lnTo>
                    <a:pt x="0" y="78774"/>
                  </a:lnTo>
                  <a:lnTo>
                    <a:pt x="6868" y="48095"/>
                  </a:lnTo>
                  <a:lnTo>
                    <a:pt x="25588" y="23057"/>
                  </a:lnTo>
                  <a:lnTo>
                    <a:pt x="53330" y="6185"/>
                  </a:lnTo>
                  <a:lnTo>
                    <a:pt x="87264" y="0"/>
                  </a:lnTo>
                  <a:lnTo>
                    <a:pt x="1047422" y="0"/>
                  </a:lnTo>
                  <a:lnTo>
                    <a:pt x="1081426" y="6185"/>
                  </a:lnTo>
                  <a:lnTo>
                    <a:pt x="1109204" y="23057"/>
                  </a:lnTo>
                  <a:lnTo>
                    <a:pt x="1127937" y="48095"/>
                  </a:lnTo>
                  <a:lnTo>
                    <a:pt x="1134808" y="78774"/>
                  </a:lnTo>
                  <a:lnTo>
                    <a:pt x="1134808" y="236323"/>
                  </a:lnTo>
                  <a:close/>
                </a:path>
              </a:pathLst>
            </a:custGeom>
            <a:ln w="10752">
              <a:solidFill>
                <a:srgbClr val="08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573012" y="4297413"/>
              <a:ext cx="593090" cy="97155"/>
            </a:xfrm>
            <a:custGeom>
              <a:avLst/>
              <a:gdLst/>
              <a:ahLst/>
              <a:cxnLst/>
              <a:rect l="l" t="t" r="r" b="b"/>
              <a:pathLst>
                <a:path w="593090" h="97154">
                  <a:moveTo>
                    <a:pt x="84480" y="0"/>
                  </a:moveTo>
                  <a:lnTo>
                    <a:pt x="63627" y="0"/>
                  </a:lnTo>
                  <a:lnTo>
                    <a:pt x="63627" y="65646"/>
                  </a:lnTo>
                  <a:lnTo>
                    <a:pt x="40081" y="27901"/>
                  </a:lnTo>
                  <a:lnTo>
                    <a:pt x="22669" y="0"/>
                  </a:lnTo>
                  <a:lnTo>
                    <a:pt x="0" y="0"/>
                  </a:lnTo>
                  <a:lnTo>
                    <a:pt x="0" y="94424"/>
                  </a:lnTo>
                  <a:lnTo>
                    <a:pt x="20002" y="94424"/>
                  </a:lnTo>
                  <a:lnTo>
                    <a:pt x="20002" y="27901"/>
                  </a:lnTo>
                  <a:lnTo>
                    <a:pt x="62661" y="94424"/>
                  </a:lnTo>
                  <a:lnTo>
                    <a:pt x="84480" y="94424"/>
                  </a:lnTo>
                  <a:lnTo>
                    <a:pt x="84480" y="65646"/>
                  </a:lnTo>
                  <a:lnTo>
                    <a:pt x="84480" y="0"/>
                  </a:lnTo>
                  <a:close/>
                </a:path>
                <a:path w="593090" h="97154">
                  <a:moveTo>
                    <a:pt x="169926" y="50876"/>
                  </a:moveTo>
                  <a:lnTo>
                    <a:pt x="169075" y="45186"/>
                  </a:lnTo>
                  <a:lnTo>
                    <a:pt x="166293" y="40271"/>
                  </a:lnTo>
                  <a:lnTo>
                    <a:pt x="164769" y="37896"/>
                  </a:lnTo>
                  <a:lnTo>
                    <a:pt x="164680" y="37757"/>
                  </a:lnTo>
                  <a:lnTo>
                    <a:pt x="149072" y="25463"/>
                  </a:lnTo>
                  <a:lnTo>
                    <a:pt x="149072" y="47599"/>
                  </a:lnTo>
                  <a:lnTo>
                    <a:pt x="149072" y="52527"/>
                  </a:lnTo>
                  <a:lnTo>
                    <a:pt x="118173" y="52527"/>
                  </a:lnTo>
                  <a:lnTo>
                    <a:pt x="119024" y="48475"/>
                  </a:lnTo>
                  <a:lnTo>
                    <a:pt x="119989" y="44310"/>
                  </a:lnTo>
                  <a:lnTo>
                    <a:pt x="125450" y="39395"/>
                  </a:lnTo>
                  <a:lnTo>
                    <a:pt x="129082" y="37757"/>
                  </a:lnTo>
                  <a:lnTo>
                    <a:pt x="138176" y="37757"/>
                  </a:lnTo>
                  <a:lnTo>
                    <a:pt x="141808" y="39395"/>
                  </a:lnTo>
                  <a:lnTo>
                    <a:pt x="144475" y="41910"/>
                  </a:lnTo>
                  <a:lnTo>
                    <a:pt x="147256" y="44310"/>
                  </a:lnTo>
                  <a:lnTo>
                    <a:pt x="149072" y="47599"/>
                  </a:lnTo>
                  <a:lnTo>
                    <a:pt x="149072" y="25463"/>
                  </a:lnTo>
                  <a:lnTo>
                    <a:pt x="145440" y="23850"/>
                  </a:lnTo>
                  <a:lnTo>
                    <a:pt x="139992" y="22987"/>
                  </a:lnTo>
                  <a:lnTo>
                    <a:pt x="133565" y="22987"/>
                  </a:lnTo>
                  <a:lnTo>
                    <a:pt x="103111" y="37757"/>
                  </a:lnTo>
                  <a:lnTo>
                    <a:pt x="102984" y="37896"/>
                  </a:lnTo>
                  <a:lnTo>
                    <a:pt x="99809" y="44310"/>
                  </a:lnTo>
                  <a:lnTo>
                    <a:pt x="97878" y="51689"/>
                  </a:lnTo>
                  <a:lnTo>
                    <a:pt x="97205" y="59956"/>
                  </a:lnTo>
                  <a:lnTo>
                    <a:pt x="97891" y="69049"/>
                  </a:lnTo>
                  <a:lnTo>
                    <a:pt x="127317" y="96227"/>
                  </a:lnTo>
                  <a:lnTo>
                    <a:pt x="134531" y="96837"/>
                  </a:lnTo>
                  <a:lnTo>
                    <a:pt x="142506" y="96227"/>
                  </a:lnTo>
                  <a:lnTo>
                    <a:pt x="142760" y="96227"/>
                  </a:lnTo>
                  <a:lnTo>
                    <a:pt x="169075" y="78016"/>
                  </a:lnTo>
                  <a:lnTo>
                    <a:pt x="169075" y="73850"/>
                  </a:lnTo>
                  <a:lnTo>
                    <a:pt x="149072" y="73850"/>
                  </a:lnTo>
                  <a:lnTo>
                    <a:pt x="147256" y="75501"/>
                  </a:lnTo>
                  <a:lnTo>
                    <a:pt x="146291" y="77139"/>
                  </a:lnTo>
                  <a:lnTo>
                    <a:pt x="142659" y="80416"/>
                  </a:lnTo>
                  <a:lnTo>
                    <a:pt x="139014" y="82067"/>
                  </a:lnTo>
                  <a:lnTo>
                    <a:pt x="130898" y="82067"/>
                  </a:lnTo>
                  <a:lnTo>
                    <a:pt x="127266" y="81292"/>
                  </a:lnTo>
                  <a:lnTo>
                    <a:pt x="124472" y="78778"/>
                  </a:lnTo>
                  <a:lnTo>
                    <a:pt x="119989" y="76377"/>
                  </a:lnTo>
                  <a:lnTo>
                    <a:pt x="118173" y="71450"/>
                  </a:lnTo>
                  <a:lnTo>
                    <a:pt x="117208" y="64884"/>
                  </a:lnTo>
                  <a:lnTo>
                    <a:pt x="169926" y="64884"/>
                  </a:lnTo>
                  <a:lnTo>
                    <a:pt x="169926" y="52527"/>
                  </a:lnTo>
                  <a:lnTo>
                    <a:pt x="169926" y="50876"/>
                  </a:lnTo>
                  <a:close/>
                </a:path>
                <a:path w="593090" h="97154">
                  <a:moveTo>
                    <a:pt x="219011" y="25501"/>
                  </a:moveTo>
                  <a:lnTo>
                    <a:pt x="207251" y="25501"/>
                  </a:lnTo>
                  <a:lnTo>
                    <a:pt x="207251" y="5803"/>
                  </a:lnTo>
                  <a:lnTo>
                    <a:pt x="187261" y="5803"/>
                  </a:lnTo>
                  <a:lnTo>
                    <a:pt x="187261" y="25501"/>
                  </a:lnTo>
                  <a:lnTo>
                    <a:pt x="176352" y="25501"/>
                  </a:lnTo>
                  <a:lnTo>
                    <a:pt x="176352" y="38620"/>
                  </a:lnTo>
                  <a:lnTo>
                    <a:pt x="187261" y="38620"/>
                  </a:lnTo>
                  <a:lnTo>
                    <a:pt x="187261" y="85344"/>
                  </a:lnTo>
                  <a:lnTo>
                    <a:pt x="188099" y="88620"/>
                  </a:lnTo>
                  <a:lnTo>
                    <a:pt x="190893" y="91147"/>
                  </a:lnTo>
                  <a:lnTo>
                    <a:pt x="193560" y="94424"/>
                  </a:lnTo>
                  <a:lnTo>
                    <a:pt x="199986" y="95186"/>
                  </a:lnTo>
                  <a:lnTo>
                    <a:pt x="219011" y="95186"/>
                  </a:lnTo>
                  <a:lnTo>
                    <a:pt x="219011" y="81292"/>
                  </a:lnTo>
                  <a:lnTo>
                    <a:pt x="209067" y="81292"/>
                  </a:lnTo>
                  <a:lnTo>
                    <a:pt x="207251" y="79654"/>
                  </a:lnTo>
                  <a:lnTo>
                    <a:pt x="207251" y="38620"/>
                  </a:lnTo>
                  <a:lnTo>
                    <a:pt x="219011" y="38620"/>
                  </a:lnTo>
                  <a:lnTo>
                    <a:pt x="219011" y="25501"/>
                  </a:lnTo>
                  <a:close/>
                </a:path>
                <a:path w="593090" h="97154">
                  <a:moveTo>
                    <a:pt x="333667" y="24625"/>
                  </a:moveTo>
                  <a:lnTo>
                    <a:pt x="312699" y="24625"/>
                  </a:lnTo>
                  <a:lnTo>
                    <a:pt x="300939" y="74726"/>
                  </a:lnTo>
                  <a:lnTo>
                    <a:pt x="289064" y="24625"/>
                  </a:lnTo>
                  <a:lnTo>
                    <a:pt x="269062" y="24625"/>
                  </a:lnTo>
                  <a:lnTo>
                    <a:pt x="258165" y="74726"/>
                  </a:lnTo>
                  <a:lnTo>
                    <a:pt x="245440" y="24625"/>
                  </a:lnTo>
                  <a:lnTo>
                    <a:pt x="224586" y="24625"/>
                  </a:lnTo>
                  <a:lnTo>
                    <a:pt x="245440" y="94424"/>
                  </a:lnTo>
                  <a:lnTo>
                    <a:pt x="266407" y="94424"/>
                  </a:lnTo>
                  <a:lnTo>
                    <a:pt x="279133" y="43548"/>
                  </a:lnTo>
                  <a:lnTo>
                    <a:pt x="290880" y="94424"/>
                  </a:lnTo>
                  <a:lnTo>
                    <a:pt x="311848" y="94424"/>
                  </a:lnTo>
                  <a:lnTo>
                    <a:pt x="333667" y="24625"/>
                  </a:lnTo>
                  <a:close/>
                </a:path>
                <a:path w="593090" h="97154">
                  <a:moveTo>
                    <a:pt x="419963" y="59956"/>
                  </a:moveTo>
                  <a:lnTo>
                    <a:pt x="419315" y="52527"/>
                  </a:lnTo>
                  <a:lnTo>
                    <a:pt x="419303" y="52362"/>
                  </a:lnTo>
                  <a:lnTo>
                    <a:pt x="417360" y="45554"/>
                  </a:lnTo>
                  <a:lnTo>
                    <a:pt x="399122" y="25908"/>
                  </a:lnTo>
                  <a:lnTo>
                    <a:pt x="399122" y="66522"/>
                  </a:lnTo>
                  <a:lnTo>
                    <a:pt x="397294" y="72212"/>
                  </a:lnTo>
                  <a:lnTo>
                    <a:pt x="393661" y="75501"/>
                  </a:lnTo>
                  <a:lnTo>
                    <a:pt x="390880" y="79654"/>
                  </a:lnTo>
                  <a:lnTo>
                    <a:pt x="386384" y="81292"/>
                  </a:lnTo>
                  <a:lnTo>
                    <a:pt x="374510" y="81292"/>
                  </a:lnTo>
                  <a:lnTo>
                    <a:pt x="370027" y="79654"/>
                  </a:lnTo>
                  <a:lnTo>
                    <a:pt x="366395" y="75501"/>
                  </a:lnTo>
                  <a:lnTo>
                    <a:pt x="363601" y="72212"/>
                  </a:lnTo>
                  <a:lnTo>
                    <a:pt x="361784" y="66522"/>
                  </a:lnTo>
                  <a:lnTo>
                    <a:pt x="361848" y="52362"/>
                  </a:lnTo>
                  <a:lnTo>
                    <a:pt x="363601" y="47599"/>
                  </a:lnTo>
                  <a:lnTo>
                    <a:pt x="366395" y="43548"/>
                  </a:lnTo>
                  <a:lnTo>
                    <a:pt x="370027" y="39395"/>
                  </a:lnTo>
                  <a:lnTo>
                    <a:pt x="374510" y="37757"/>
                  </a:lnTo>
                  <a:lnTo>
                    <a:pt x="386384" y="37757"/>
                  </a:lnTo>
                  <a:lnTo>
                    <a:pt x="390880" y="39395"/>
                  </a:lnTo>
                  <a:lnTo>
                    <a:pt x="393661" y="43548"/>
                  </a:lnTo>
                  <a:lnTo>
                    <a:pt x="397294" y="47599"/>
                  </a:lnTo>
                  <a:lnTo>
                    <a:pt x="399059" y="52362"/>
                  </a:lnTo>
                  <a:lnTo>
                    <a:pt x="399122" y="66522"/>
                  </a:lnTo>
                  <a:lnTo>
                    <a:pt x="399122" y="25908"/>
                  </a:lnTo>
                  <a:lnTo>
                    <a:pt x="397725" y="25171"/>
                  </a:lnTo>
                  <a:lnTo>
                    <a:pt x="389534" y="22961"/>
                  </a:lnTo>
                  <a:lnTo>
                    <a:pt x="379971" y="22212"/>
                  </a:lnTo>
                  <a:lnTo>
                    <a:pt x="370954" y="22961"/>
                  </a:lnTo>
                  <a:lnTo>
                    <a:pt x="341604" y="52362"/>
                  </a:lnTo>
                  <a:lnTo>
                    <a:pt x="340944" y="59956"/>
                  </a:lnTo>
                  <a:lnTo>
                    <a:pt x="341553" y="66522"/>
                  </a:lnTo>
                  <a:lnTo>
                    <a:pt x="341604" y="67170"/>
                  </a:lnTo>
                  <a:lnTo>
                    <a:pt x="370954" y="96100"/>
                  </a:lnTo>
                  <a:lnTo>
                    <a:pt x="379971" y="96837"/>
                  </a:lnTo>
                  <a:lnTo>
                    <a:pt x="389534" y="96100"/>
                  </a:lnTo>
                  <a:lnTo>
                    <a:pt x="397725" y="93992"/>
                  </a:lnTo>
                  <a:lnTo>
                    <a:pt x="404545" y="90652"/>
                  </a:lnTo>
                  <a:lnTo>
                    <a:pt x="410019" y="86220"/>
                  </a:lnTo>
                  <a:lnTo>
                    <a:pt x="413562" y="81292"/>
                  </a:lnTo>
                  <a:lnTo>
                    <a:pt x="414235" y="80365"/>
                  </a:lnTo>
                  <a:lnTo>
                    <a:pt x="417360" y="73990"/>
                  </a:lnTo>
                  <a:lnTo>
                    <a:pt x="419303" y="67170"/>
                  </a:lnTo>
                  <a:lnTo>
                    <a:pt x="419963" y="59956"/>
                  </a:lnTo>
                  <a:close/>
                </a:path>
                <a:path w="593090" h="97154">
                  <a:moveTo>
                    <a:pt x="479107" y="22974"/>
                  </a:moveTo>
                  <a:lnTo>
                    <a:pt x="476440" y="22974"/>
                  </a:lnTo>
                  <a:lnTo>
                    <a:pt x="470992" y="22974"/>
                  </a:lnTo>
                  <a:lnTo>
                    <a:pt x="465416" y="24625"/>
                  </a:lnTo>
                  <a:lnTo>
                    <a:pt x="461784" y="27139"/>
                  </a:lnTo>
                  <a:lnTo>
                    <a:pt x="459117" y="28778"/>
                  </a:lnTo>
                  <a:lnTo>
                    <a:pt x="456323" y="32067"/>
                  </a:lnTo>
                  <a:lnTo>
                    <a:pt x="453656" y="36982"/>
                  </a:lnTo>
                  <a:lnTo>
                    <a:pt x="453656" y="24625"/>
                  </a:lnTo>
                  <a:lnTo>
                    <a:pt x="434505" y="24625"/>
                  </a:lnTo>
                  <a:lnTo>
                    <a:pt x="434505" y="94424"/>
                  </a:lnTo>
                  <a:lnTo>
                    <a:pt x="454507" y="94424"/>
                  </a:lnTo>
                  <a:lnTo>
                    <a:pt x="454507" y="55803"/>
                  </a:lnTo>
                  <a:lnTo>
                    <a:pt x="455472" y="51752"/>
                  </a:lnTo>
                  <a:lnTo>
                    <a:pt x="457288" y="48475"/>
                  </a:lnTo>
                  <a:lnTo>
                    <a:pt x="459955" y="44310"/>
                  </a:lnTo>
                  <a:lnTo>
                    <a:pt x="465416" y="41910"/>
                  </a:lnTo>
                  <a:lnTo>
                    <a:pt x="479107" y="41910"/>
                  </a:lnTo>
                  <a:lnTo>
                    <a:pt x="479107" y="22974"/>
                  </a:lnTo>
                  <a:close/>
                </a:path>
                <a:path w="593090" h="97154">
                  <a:moveTo>
                    <a:pt x="561886" y="94424"/>
                  </a:moveTo>
                  <a:lnTo>
                    <a:pt x="533654" y="51752"/>
                  </a:lnTo>
                  <a:lnTo>
                    <a:pt x="560920" y="25501"/>
                  </a:lnTo>
                  <a:lnTo>
                    <a:pt x="536435" y="25501"/>
                  </a:lnTo>
                  <a:lnTo>
                    <a:pt x="510984" y="50876"/>
                  </a:lnTo>
                  <a:lnTo>
                    <a:pt x="510984" y="876"/>
                  </a:lnTo>
                  <a:lnTo>
                    <a:pt x="490982" y="876"/>
                  </a:lnTo>
                  <a:lnTo>
                    <a:pt x="490982" y="94424"/>
                  </a:lnTo>
                  <a:lnTo>
                    <a:pt x="510984" y="94424"/>
                  </a:lnTo>
                  <a:lnTo>
                    <a:pt x="510984" y="72212"/>
                  </a:lnTo>
                  <a:lnTo>
                    <a:pt x="519112" y="64884"/>
                  </a:lnTo>
                  <a:lnTo>
                    <a:pt x="537286" y="94424"/>
                  </a:lnTo>
                  <a:lnTo>
                    <a:pt x="561886" y="94424"/>
                  </a:lnTo>
                  <a:close/>
                </a:path>
                <a:path w="593090" h="97154">
                  <a:moveTo>
                    <a:pt x="592797" y="24625"/>
                  </a:moveTo>
                  <a:lnTo>
                    <a:pt x="572795" y="24625"/>
                  </a:lnTo>
                  <a:lnTo>
                    <a:pt x="572795" y="94424"/>
                  </a:lnTo>
                  <a:lnTo>
                    <a:pt x="592797" y="94424"/>
                  </a:lnTo>
                  <a:lnTo>
                    <a:pt x="592797" y="24625"/>
                  </a:lnTo>
                  <a:close/>
                </a:path>
                <a:path w="593090" h="97154">
                  <a:moveTo>
                    <a:pt x="592797" y="0"/>
                  </a:moveTo>
                  <a:lnTo>
                    <a:pt x="572795" y="0"/>
                  </a:lnTo>
                  <a:lnTo>
                    <a:pt x="572795" y="16421"/>
                  </a:lnTo>
                  <a:lnTo>
                    <a:pt x="592797" y="16421"/>
                  </a:lnTo>
                  <a:lnTo>
                    <a:pt x="5927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6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7185813" y="4320387"/>
              <a:ext cx="158167" cy="99343"/>
            </a:xfrm>
            <a:prstGeom prst="rect">
              <a:avLst/>
            </a:prstGeom>
          </p:spPr>
        </p:pic>
      </p:grpSp>
      <p:grpSp>
        <p:nvGrpSpPr>
          <p:cNvPr id="137" name="object 137"/>
          <p:cNvGrpSpPr/>
          <p:nvPr/>
        </p:nvGrpSpPr>
        <p:grpSpPr>
          <a:xfrm>
            <a:off x="6142082" y="657480"/>
            <a:ext cx="227329" cy="3860800"/>
            <a:chOff x="6142082" y="657480"/>
            <a:chExt cx="227329" cy="3860800"/>
          </a:xfrm>
        </p:grpSpPr>
        <p:pic>
          <p:nvPicPr>
            <p:cNvPr id="138" name="object 138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6142082" y="2068310"/>
              <a:ext cx="138114" cy="1050546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6251105" y="657491"/>
              <a:ext cx="118745" cy="3860800"/>
            </a:xfrm>
            <a:custGeom>
              <a:avLst/>
              <a:gdLst/>
              <a:ahLst/>
              <a:cxnLst/>
              <a:rect l="l" t="t" r="r" b="b"/>
              <a:pathLst>
                <a:path w="118745" h="3860800">
                  <a:moveTo>
                    <a:pt x="118173" y="0"/>
                  </a:moveTo>
                  <a:lnTo>
                    <a:pt x="0" y="0"/>
                  </a:lnTo>
                  <a:lnTo>
                    <a:pt x="0" y="16408"/>
                  </a:lnTo>
                  <a:lnTo>
                    <a:pt x="49936" y="16408"/>
                  </a:lnTo>
                  <a:lnTo>
                    <a:pt x="49936" y="3844302"/>
                  </a:lnTo>
                  <a:lnTo>
                    <a:pt x="0" y="3844302"/>
                  </a:lnTo>
                  <a:lnTo>
                    <a:pt x="0" y="3860711"/>
                  </a:lnTo>
                  <a:lnTo>
                    <a:pt x="118173" y="3860711"/>
                  </a:lnTo>
                  <a:lnTo>
                    <a:pt x="118173" y="3844302"/>
                  </a:lnTo>
                  <a:lnTo>
                    <a:pt x="68122" y="3844302"/>
                  </a:lnTo>
                  <a:lnTo>
                    <a:pt x="68122" y="16408"/>
                  </a:lnTo>
                  <a:lnTo>
                    <a:pt x="118173" y="16408"/>
                  </a:lnTo>
                  <a:lnTo>
                    <a:pt x="118173" y="0"/>
                  </a:lnTo>
                  <a:close/>
                </a:path>
              </a:pathLst>
            </a:custGeom>
            <a:solidFill>
              <a:srgbClr val="08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/>
          <p:nvPr/>
        </p:nvSpPr>
        <p:spPr>
          <a:xfrm>
            <a:off x="2923273" y="4706937"/>
            <a:ext cx="2880995" cy="655320"/>
          </a:xfrm>
          <a:custGeom>
            <a:avLst/>
            <a:gdLst/>
            <a:ahLst/>
            <a:cxnLst/>
            <a:rect l="l" t="t" r="r" b="b"/>
            <a:pathLst>
              <a:path w="2880995" h="655320">
                <a:moveTo>
                  <a:pt x="2880474" y="327571"/>
                </a:moveTo>
                <a:lnTo>
                  <a:pt x="2253132" y="0"/>
                </a:lnTo>
                <a:lnTo>
                  <a:pt x="2253132" y="218338"/>
                </a:lnTo>
                <a:lnTo>
                  <a:pt x="628307" y="218338"/>
                </a:lnTo>
                <a:lnTo>
                  <a:pt x="628307" y="0"/>
                </a:lnTo>
                <a:lnTo>
                  <a:pt x="0" y="327571"/>
                </a:lnTo>
                <a:lnTo>
                  <a:pt x="628307" y="655027"/>
                </a:lnTo>
                <a:lnTo>
                  <a:pt x="628307" y="436651"/>
                </a:lnTo>
                <a:lnTo>
                  <a:pt x="2253132" y="436651"/>
                </a:lnTo>
                <a:lnTo>
                  <a:pt x="2253132" y="655027"/>
                </a:lnTo>
                <a:lnTo>
                  <a:pt x="2880474" y="327571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494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7116" y="281940"/>
            <a:ext cx="685800" cy="1600200"/>
          </a:xfrm>
          <a:custGeom>
            <a:avLst/>
            <a:gdLst/>
            <a:ahLst/>
            <a:cxnLst/>
            <a:rect l="l" t="t" r="r" b="b"/>
            <a:pathLst>
              <a:path w="685800" h="1600200">
                <a:moveTo>
                  <a:pt x="685800" y="0"/>
                </a:moveTo>
                <a:lnTo>
                  <a:pt x="0" y="0"/>
                </a:lnTo>
                <a:lnTo>
                  <a:pt x="0" y="1600199"/>
                </a:lnTo>
                <a:lnTo>
                  <a:pt x="685800" y="1600199"/>
                </a:lnTo>
                <a:lnTo>
                  <a:pt x="685800" y="0"/>
                </a:lnTo>
                <a:close/>
              </a:path>
            </a:pathLst>
          </a:custGeom>
          <a:solidFill>
            <a:srgbClr val="66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0413" y="200914"/>
            <a:ext cx="286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494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5" dirty="0"/>
              <a:t> </a:t>
            </a:r>
            <a:r>
              <a:rPr dirty="0"/>
              <a:t>Inc.,</a:t>
            </a:r>
            <a:r>
              <a:rPr spc="10" dirty="0"/>
              <a:t> </a:t>
            </a:r>
            <a:r>
              <a:rPr dirty="0"/>
              <a:t>Hoboken,</a:t>
            </a:r>
            <a:r>
              <a:rPr spc="-5" dirty="0"/>
              <a:t> </a:t>
            </a:r>
            <a:r>
              <a:rPr dirty="0"/>
              <a:t>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4339" y="129616"/>
            <a:ext cx="2461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125" dirty="0"/>
              <a:t>Summary</a:t>
            </a:r>
            <a:endParaRPr sz="4400"/>
          </a:p>
        </p:txBody>
      </p:sp>
      <p:sp>
        <p:nvSpPr>
          <p:cNvPr id="5" name="object 5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3333"/>
              <a:buFont typeface="Wingdings"/>
              <a:buChar char=""/>
              <a:tabLst>
                <a:tab pos="240665" algn="l"/>
              </a:tabLst>
            </a:pPr>
            <a:r>
              <a:rPr spc="10" dirty="0"/>
              <a:t>Organization</a:t>
            </a:r>
            <a:r>
              <a:rPr spc="245" dirty="0"/>
              <a:t> </a:t>
            </a:r>
            <a:r>
              <a:rPr spc="55" dirty="0"/>
              <a:t>and</a:t>
            </a:r>
            <a:r>
              <a:rPr spc="220" dirty="0"/>
              <a:t> </a:t>
            </a:r>
            <a:r>
              <a:rPr spc="-10" dirty="0"/>
              <a:t>architecture</a:t>
            </a:r>
          </a:p>
          <a:p>
            <a:pPr marL="240665" indent="-227965">
              <a:lnSpc>
                <a:spcPct val="100000"/>
              </a:lnSpc>
              <a:spcBef>
                <a:spcPts val="1635"/>
              </a:spcBef>
              <a:buClr>
                <a:srgbClr val="663366"/>
              </a:buClr>
              <a:buSzPct val="73333"/>
              <a:buFont typeface="Wingdings"/>
              <a:buChar char=""/>
              <a:tabLst>
                <a:tab pos="240665" algn="l"/>
              </a:tabLst>
            </a:pPr>
            <a:r>
              <a:rPr dirty="0"/>
              <a:t>Structure</a:t>
            </a:r>
            <a:r>
              <a:rPr spc="130" dirty="0"/>
              <a:t> </a:t>
            </a:r>
            <a:r>
              <a:rPr spc="50" dirty="0"/>
              <a:t>and</a:t>
            </a:r>
            <a:r>
              <a:rPr spc="120" dirty="0"/>
              <a:t> </a:t>
            </a:r>
            <a:r>
              <a:rPr spc="-10" dirty="0"/>
              <a:t>function</a:t>
            </a:r>
          </a:p>
          <a:p>
            <a:pPr marL="240665" indent="-227965">
              <a:lnSpc>
                <a:spcPct val="100000"/>
              </a:lnSpc>
              <a:spcBef>
                <a:spcPts val="1645"/>
              </a:spcBef>
              <a:buClr>
                <a:srgbClr val="663366"/>
              </a:buClr>
              <a:buSzPct val="73333"/>
              <a:buFont typeface="Wingdings"/>
              <a:buChar char=""/>
              <a:tabLst>
                <a:tab pos="240665" algn="l"/>
              </a:tabLst>
            </a:pPr>
            <a:r>
              <a:rPr dirty="0"/>
              <a:t>Brief</a:t>
            </a:r>
            <a:r>
              <a:rPr spc="170" dirty="0"/>
              <a:t> </a:t>
            </a:r>
            <a:r>
              <a:rPr dirty="0"/>
              <a:t>history</a:t>
            </a:r>
            <a:r>
              <a:rPr spc="15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spc="-10" dirty="0"/>
              <a:t>computers</a:t>
            </a:r>
          </a:p>
          <a:p>
            <a:pPr marL="469265" marR="321310" lvl="1" indent="-228600">
              <a:lnSpc>
                <a:spcPts val="1440"/>
              </a:lnSpc>
              <a:spcBef>
                <a:spcPts val="585"/>
              </a:spcBef>
              <a:buClr>
                <a:srgbClr val="B86FB8"/>
              </a:buClr>
              <a:buSzPct val="73333"/>
              <a:buFont typeface="Wingdings"/>
              <a:buChar char=""/>
              <a:tabLst>
                <a:tab pos="469265" algn="l"/>
              </a:tabLst>
            </a:pP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5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First</a:t>
            </a:r>
            <a:r>
              <a:rPr sz="15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50" dirty="0">
                <a:solidFill>
                  <a:srgbClr val="585858"/>
                </a:solidFill>
                <a:latin typeface="Cambria"/>
                <a:cs typeface="Cambria"/>
              </a:rPr>
              <a:t>Generation:</a:t>
            </a:r>
            <a:r>
              <a:rPr sz="1500" spc="-1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-10" dirty="0">
                <a:solidFill>
                  <a:srgbClr val="585858"/>
                </a:solidFill>
                <a:latin typeface="Cambria"/>
                <a:cs typeface="Cambria"/>
              </a:rPr>
              <a:t>Vacuum tubes</a:t>
            </a:r>
            <a:endParaRPr sz="1500">
              <a:latin typeface="Cambria"/>
              <a:cs typeface="Cambria"/>
            </a:endParaRPr>
          </a:p>
          <a:p>
            <a:pPr marL="469265" marR="765810" lvl="1" indent="-228600">
              <a:lnSpc>
                <a:spcPct val="80000"/>
              </a:lnSpc>
              <a:spcBef>
                <a:spcPts val="615"/>
              </a:spcBef>
              <a:buClr>
                <a:srgbClr val="B86FB8"/>
              </a:buClr>
              <a:buSzPct val="73333"/>
              <a:buFont typeface="Wingdings"/>
              <a:buChar char=""/>
              <a:tabLst>
                <a:tab pos="469265" algn="l"/>
              </a:tabLst>
            </a:pP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500" spc="12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70" dirty="0">
                <a:solidFill>
                  <a:srgbClr val="585858"/>
                </a:solidFill>
                <a:latin typeface="Cambria"/>
                <a:cs typeface="Cambria"/>
              </a:rPr>
              <a:t>Second</a:t>
            </a:r>
            <a:r>
              <a:rPr sz="1500" spc="13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40" dirty="0">
                <a:solidFill>
                  <a:srgbClr val="585858"/>
                </a:solidFill>
                <a:latin typeface="Cambria"/>
                <a:cs typeface="Cambria"/>
              </a:rPr>
              <a:t>Generation: </a:t>
            </a:r>
            <a:r>
              <a:rPr sz="1500" spc="-10" dirty="0">
                <a:solidFill>
                  <a:srgbClr val="585858"/>
                </a:solidFill>
                <a:latin typeface="Cambria"/>
                <a:cs typeface="Cambria"/>
              </a:rPr>
              <a:t>Transistors</a:t>
            </a:r>
            <a:endParaRPr sz="1500">
              <a:latin typeface="Cambria"/>
              <a:cs typeface="Cambria"/>
            </a:endParaRPr>
          </a:p>
          <a:p>
            <a:pPr marL="469265" marR="5080" lvl="1" indent="-228600">
              <a:lnSpc>
                <a:spcPct val="80000"/>
              </a:lnSpc>
              <a:spcBef>
                <a:spcPts val="600"/>
              </a:spcBef>
              <a:buClr>
                <a:srgbClr val="B86FB8"/>
              </a:buClr>
              <a:buSzPct val="73333"/>
              <a:buFont typeface="Wingdings"/>
              <a:buChar char=""/>
              <a:tabLst>
                <a:tab pos="469265" algn="l"/>
              </a:tabLst>
            </a:pP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5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Third</a:t>
            </a:r>
            <a:r>
              <a:rPr sz="1500" spc="14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50" dirty="0">
                <a:solidFill>
                  <a:srgbClr val="585858"/>
                </a:solidFill>
                <a:latin typeface="Cambria"/>
                <a:cs typeface="Cambria"/>
              </a:rPr>
              <a:t>Generation:</a:t>
            </a:r>
            <a:r>
              <a:rPr sz="1500" spc="-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-10" dirty="0">
                <a:solidFill>
                  <a:srgbClr val="585858"/>
                </a:solidFill>
                <a:latin typeface="Cambria"/>
                <a:cs typeface="Cambria"/>
              </a:rPr>
              <a:t>Integrated Circuits</a:t>
            </a:r>
            <a:endParaRPr sz="1500">
              <a:latin typeface="Cambria"/>
              <a:cs typeface="Cambria"/>
            </a:endParaRPr>
          </a:p>
          <a:p>
            <a:pPr marL="468630" lvl="1" indent="-227965">
              <a:lnSpc>
                <a:spcPct val="100000"/>
              </a:lnSpc>
              <a:spcBef>
                <a:spcPts val="240"/>
              </a:spcBef>
              <a:buClr>
                <a:srgbClr val="B86FB8"/>
              </a:buClr>
              <a:buSzPct val="73333"/>
              <a:buFont typeface="Wingdings"/>
              <a:buChar char=""/>
              <a:tabLst>
                <a:tab pos="468630" algn="l"/>
              </a:tabLst>
            </a:pP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Later</a:t>
            </a:r>
            <a:r>
              <a:rPr sz="1500" spc="1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-10" dirty="0">
                <a:solidFill>
                  <a:srgbClr val="585858"/>
                </a:solidFill>
                <a:latin typeface="Cambria"/>
                <a:cs typeface="Cambria"/>
              </a:rPr>
              <a:t>generations</a:t>
            </a:r>
            <a:endParaRPr sz="15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B86FB8"/>
              </a:buClr>
              <a:buFont typeface="Wingdings"/>
              <a:buChar char=""/>
            </a:pPr>
            <a:endParaRPr sz="1500">
              <a:latin typeface="Cambria"/>
              <a:cs typeface="Cambria"/>
            </a:endParaRPr>
          </a:p>
          <a:p>
            <a:pPr marL="240665" marR="596265" indent="-228600">
              <a:lnSpc>
                <a:spcPct val="80000"/>
              </a:lnSpc>
              <a:buClr>
                <a:srgbClr val="663366"/>
              </a:buClr>
              <a:buSzPct val="73333"/>
              <a:buFont typeface="Wingdings"/>
              <a:buChar char=""/>
              <a:tabLst>
                <a:tab pos="240665" algn="l"/>
              </a:tabLst>
            </a:pPr>
            <a:r>
              <a:rPr dirty="0"/>
              <a:t>The</a:t>
            </a:r>
            <a:r>
              <a:rPr spc="155" dirty="0"/>
              <a:t> </a:t>
            </a:r>
            <a:r>
              <a:rPr dirty="0"/>
              <a:t>evolution</a:t>
            </a:r>
            <a:r>
              <a:rPr spc="150" dirty="0"/>
              <a:t> </a:t>
            </a:r>
            <a:r>
              <a:rPr dirty="0"/>
              <a:t>of</a:t>
            </a:r>
            <a:r>
              <a:rPr spc="140" dirty="0"/>
              <a:t> </a:t>
            </a:r>
            <a:r>
              <a:rPr dirty="0"/>
              <a:t>the</a:t>
            </a:r>
            <a:r>
              <a:rPr spc="145" dirty="0"/>
              <a:t> </a:t>
            </a:r>
            <a:r>
              <a:rPr dirty="0"/>
              <a:t>Intel</a:t>
            </a:r>
            <a:r>
              <a:rPr spc="140" dirty="0"/>
              <a:t> </a:t>
            </a:r>
            <a:r>
              <a:rPr spc="-25" dirty="0"/>
              <a:t>x86 </a:t>
            </a:r>
            <a:r>
              <a:rPr spc="-10" dirty="0"/>
              <a:t>architecture</a:t>
            </a:r>
          </a:p>
          <a:p>
            <a:pPr marL="227965" marR="1590040" indent="-227965" algn="r">
              <a:lnSpc>
                <a:spcPct val="100000"/>
              </a:lnSpc>
              <a:spcBef>
                <a:spcPts val="1630"/>
              </a:spcBef>
              <a:buClr>
                <a:srgbClr val="663366"/>
              </a:buClr>
              <a:buSzPct val="73333"/>
              <a:buFont typeface="Wingdings"/>
              <a:buChar char=""/>
              <a:tabLst>
                <a:tab pos="227965" algn="l"/>
              </a:tabLst>
            </a:pPr>
            <a:r>
              <a:rPr spc="90" dirty="0"/>
              <a:t>Cloud</a:t>
            </a:r>
            <a:r>
              <a:rPr spc="65" dirty="0"/>
              <a:t> </a:t>
            </a:r>
            <a:r>
              <a:rPr spc="40" dirty="0"/>
              <a:t>computing</a:t>
            </a:r>
          </a:p>
          <a:p>
            <a:pPr marL="227965" marR="1591945" lvl="1" indent="-227965" algn="r">
              <a:lnSpc>
                <a:spcPct val="100000"/>
              </a:lnSpc>
              <a:spcBef>
                <a:spcPts val="245"/>
              </a:spcBef>
              <a:buClr>
                <a:srgbClr val="B86FB8"/>
              </a:buClr>
              <a:buSzPct val="73333"/>
              <a:buFont typeface="Wingdings"/>
              <a:buChar char=""/>
              <a:tabLst>
                <a:tab pos="227965" algn="l"/>
              </a:tabLst>
            </a:pPr>
            <a:r>
              <a:rPr sz="1500" dirty="0">
                <a:solidFill>
                  <a:srgbClr val="585858"/>
                </a:solidFill>
                <a:latin typeface="Cambria"/>
                <a:cs typeface="Cambria"/>
              </a:rPr>
              <a:t>Basic</a:t>
            </a:r>
            <a:r>
              <a:rPr sz="1500" spc="22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50" dirty="0">
                <a:solidFill>
                  <a:srgbClr val="585858"/>
                </a:solidFill>
                <a:latin typeface="Cambria"/>
                <a:cs typeface="Cambria"/>
              </a:rPr>
              <a:t>concepts</a:t>
            </a:r>
            <a:endParaRPr sz="1500">
              <a:latin typeface="Cambria"/>
              <a:cs typeface="Cambria"/>
            </a:endParaRPr>
          </a:p>
          <a:p>
            <a:pPr marL="227965" marR="1569085" lvl="1" indent="-227965" algn="r">
              <a:lnSpc>
                <a:spcPct val="100000"/>
              </a:lnSpc>
              <a:spcBef>
                <a:spcPts val="240"/>
              </a:spcBef>
              <a:buClr>
                <a:srgbClr val="B86FB8"/>
              </a:buClr>
              <a:buSzPct val="73333"/>
              <a:buFont typeface="Wingdings"/>
              <a:buChar char=""/>
              <a:tabLst>
                <a:tab pos="227965" algn="l"/>
              </a:tabLst>
            </a:pPr>
            <a:r>
              <a:rPr sz="1500" spc="90" dirty="0">
                <a:solidFill>
                  <a:srgbClr val="585858"/>
                </a:solidFill>
                <a:latin typeface="Cambria"/>
                <a:cs typeface="Cambria"/>
              </a:rPr>
              <a:t>Cloud</a:t>
            </a:r>
            <a:r>
              <a:rPr sz="15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500" spc="50" dirty="0">
                <a:solidFill>
                  <a:srgbClr val="585858"/>
                </a:solidFill>
                <a:latin typeface="Cambria"/>
                <a:cs typeface="Cambria"/>
              </a:rPr>
              <a:t>services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95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pc="125" dirty="0"/>
              <a:t>Embedded</a:t>
            </a:r>
            <a:r>
              <a:rPr spc="35" dirty="0"/>
              <a:t> </a:t>
            </a:r>
            <a:r>
              <a:rPr spc="45" dirty="0"/>
              <a:t>systems</a:t>
            </a:r>
          </a:p>
          <a:p>
            <a:pPr marL="469265" lvl="1" indent="-227965">
              <a:lnSpc>
                <a:spcPct val="100000"/>
              </a:lnSpc>
              <a:spcBef>
                <a:spcPts val="39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7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Internet</a:t>
            </a:r>
            <a:r>
              <a:rPr sz="1700" spc="2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of</a:t>
            </a:r>
            <a:r>
              <a:rPr sz="1700" spc="1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585858"/>
                </a:solidFill>
                <a:latin typeface="Cambria"/>
                <a:cs typeface="Cambria"/>
              </a:rPr>
              <a:t>things</a:t>
            </a:r>
            <a:endParaRPr sz="17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400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spc="120" dirty="0">
                <a:solidFill>
                  <a:srgbClr val="585858"/>
                </a:solidFill>
                <a:latin typeface="Cambria"/>
                <a:cs typeface="Cambria"/>
              </a:rPr>
              <a:t>Embedded</a:t>
            </a: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operating</a:t>
            </a:r>
            <a:r>
              <a:rPr sz="1700" spc="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585858"/>
                </a:solidFill>
                <a:latin typeface="Cambria"/>
                <a:cs typeface="Cambria"/>
              </a:rPr>
              <a:t>systems</a:t>
            </a:r>
            <a:endParaRPr sz="1700">
              <a:latin typeface="Cambria"/>
              <a:cs typeface="Cambria"/>
            </a:endParaRPr>
          </a:p>
          <a:p>
            <a:pPr marL="468630" marR="5080" lvl="1" indent="-227965">
              <a:lnSpc>
                <a:spcPts val="1839"/>
              </a:lnSpc>
              <a:spcBef>
                <a:spcPts val="620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900" algn="l"/>
              </a:tabLst>
            </a:pP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Application</a:t>
            </a:r>
            <a:r>
              <a:rPr sz="1700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processors </a:t>
            </a:r>
            <a:r>
              <a:rPr sz="1700" spc="-10" dirty="0">
                <a:solidFill>
                  <a:srgbClr val="585858"/>
                </a:solidFill>
                <a:latin typeface="Cambria"/>
                <a:cs typeface="Cambria"/>
              </a:rPr>
              <a:t>versus 	</a:t>
            </a:r>
            <a:r>
              <a:rPr sz="1700" spc="90" dirty="0">
                <a:solidFill>
                  <a:srgbClr val="585858"/>
                </a:solidFill>
                <a:latin typeface="Cambria"/>
                <a:cs typeface="Cambria"/>
              </a:rPr>
              <a:t>dedicated</a:t>
            </a:r>
            <a:r>
              <a:rPr sz="1700" spc="45" dirty="0">
                <a:solidFill>
                  <a:srgbClr val="585858"/>
                </a:solidFill>
                <a:latin typeface="Cambria"/>
                <a:cs typeface="Cambria"/>
              </a:rPr>
              <a:t> processors</a:t>
            </a:r>
            <a:endParaRPr sz="1700">
              <a:latin typeface="Cambria"/>
              <a:cs typeface="Cambria"/>
            </a:endParaRPr>
          </a:p>
          <a:p>
            <a:pPr marL="469265" lvl="1" indent="-227965">
              <a:lnSpc>
                <a:spcPts val="1939"/>
              </a:lnSpc>
              <a:spcBef>
                <a:spcPts val="36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spc="50" dirty="0">
                <a:solidFill>
                  <a:srgbClr val="585858"/>
                </a:solidFill>
                <a:latin typeface="Cambria"/>
                <a:cs typeface="Cambria"/>
              </a:rPr>
              <a:t>Microprocessors</a:t>
            </a:r>
            <a:r>
              <a:rPr sz="1700" spc="11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585858"/>
                </a:solidFill>
                <a:latin typeface="Cambria"/>
                <a:cs typeface="Cambria"/>
              </a:rPr>
              <a:t>versus</a:t>
            </a:r>
            <a:endParaRPr sz="1700">
              <a:latin typeface="Cambria"/>
              <a:cs typeface="Cambria"/>
            </a:endParaRPr>
          </a:p>
          <a:p>
            <a:pPr marL="469900">
              <a:lnSpc>
                <a:spcPts val="1939"/>
              </a:lnSpc>
            </a:pPr>
            <a:r>
              <a:rPr spc="-10" dirty="0"/>
              <a:t>microcontrollers</a:t>
            </a:r>
          </a:p>
          <a:p>
            <a:pPr marL="468630" marR="428625" lvl="1" indent="-227965">
              <a:lnSpc>
                <a:spcPts val="1839"/>
              </a:lnSpc>
              <a:spcBef>
                <a:spcPts val="630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900" algn="l"/>
              </a:tabLst>
            </a:pPr>
            <a:r>
              <a:rPr sz="1700" spc="120" dirty="0">
                <a:solidFill>
                  <a:srgbClr val="585858"/>
                </a:solidFill>
                <a:latin typeface="Cambria"/>
                <a:cs typeface="Cambria"/>
              </a:rPr>
              <a:t>Embedded</a:t>
            </a:r>
            <a:r>
              <a:rPr sz="1700" spc="1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585858"/>
                </a:solidFill>
                <a:latin typeface="Cambria"/>
                <a:cs typeface="Cambria"/>
              </a:rPr>
              <a:t>versus</a:t>
            </a:r>
            <a:r>
              <a:rPr sz="1700" spc="20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585858"/>
                </a:solidFill>
                <a:latin typeface="Cambria"/>
                <a:cs typeface="Cambria"/>
              </a:rPr>
              <a:t>deeply 	</a:t>
            </a:r>
            <a:r>
              <a:rPr sz="1700" spc="130" dirty="0">
                <a:solidFill>
                  <a:srgbClr val="585858"/>
                </a:solidFill>
                <a:latin typeface="Cambria"/>
                <a:cs typeface="Cambria"/>
              </a:rPr>
              <a:t>embedded</a:t>
            </a:r>
            <a:r>
              <a:rPr sz="1700" spc="5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585858"/>
                </a:solidFill>
                <a:latin typeface="Cambria"/>
                <a:cs typeface="Cambria"/>
              </a:rPr>
              <a:t>systems</a:t>
            </a:r>
            <a:endParaRPr sz="1700">
              <a:latin typeface="Cambria"/>
              <a:cs typeface="Cambria"/>
            </a:endParaRPr>
          </a:p>
          <a:p>
            <a:pPr marL="227965" marR="1619250" indent="-227965" algn="r">
              <a:lnSpc>
                <a:spcPct val="100000"/>
              </a:lnSpc>
              <a:spcBef>
                <a:spcPts val="178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27965" algn="l"/>
              </a:tabLst>
            </a:pPr>
            <a:r>
              <a:rPr sz="1600" spc="55" dirty="0"/>
              <a:t>ARM</a:t>
            </a:r>
            <a:r>
              <a:rPr sz="1600" spc="50" dirty="0"/>
              <a:t> </a:t>
            </a:r>
            <a:r>
              <a:rPr sz="1600" spc="-10" dirty="0"/>
              <a:t>architecture</a:t>
            </a:r>
            <a:endParaRPr sz="1600"/>
          </a:p>
          <a:p>
            <a:pPr marL="228600" marR="1650364" lvl="1" indent="-228600" algn="r">
              <a:lnSpc>
                <a:spcPct val="100000"/>
              </a:lnSpc>
              <a:spcBef>
                <a:spcPts val="409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228600" algn="l"/>
              </a:tabLst>
            </a:pPr>
            <a:r>
              <a:rPr sz="1600" spc="55" dirty="0">
                <a:solidFill>
                  <a:srgbClr val="585858"/>
                </a:solidFill>
                <a:latin typeface="Cambria"/>
                <a:cs typeface="Cambria"/>
              </a:rPr>
              <a:t>ARM</a:t>
            </a:r>
            <a:r>
              <a:rPr sz="1600" spc="3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ambria"/>
                <a:cs typeface="Cambria"/>
              </a:rPr>
              <a:t>evolution</a:t>
            </a:r>
            <a:endParaRPr sz="16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409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Instruction</a:t>
            </a:r>
            <a:r>
              <a:rPr sz="1600" spc="17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585858"/>
                </a:solidFill>
                <a:latin typeface="Cambria"/>
                <a:cs typeface="Cambria"/>
              </a:rPr>
              <a:t>set</a:t>
            </a:r>
            <a:r>
              <a:rPr sz="1600" spc="1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ambria"/>
                <a:cs typeface="Cambria"/>
              </a:rPr>
              <a:t>architecture</a:t>
            </a:r>
            <a:endParaRPr sz="1600">
              <a:latin typeface="Cambria"/>
              <a:cs typeface="Cambria"/>
            </a:endParaRPr>
          </a:p>
          <a:p>
            <a:pPr marL="469900" lvl="1" indent="-228600">
              <a:lnSpc>
                <a:spcPct val="100000"/>
              </a:lnSpc>
              <a:spcBef>
                <a:spcPts val="409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600" spc="55" dirty="0">
                <a:solidFill>
                  <a:srgbClr val="585858"/>
                </a:solidFill>
                <a:latin typeface="Cambria"/>
                <a:cs typeface="Cambria"/>
              </a:rPr>
              <a:t>ARM</a:t>
            </a:r>
            <a:r>
              <a:rPr sz="1600" spc="4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ambria"/>
                <a:cs typeface="Cambria"/>
              </a:rPr>
              <a:t>products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495" y="981455"/>
            <a:ext cx="3657600" cy="1097280"/>
          </a:xfrm>
          <a:prstGeom prst="rect">
            <a:avLst/>
          </a:prstGeom>
          <a:solidFill>
            <a:srgbClr val="666699"/>
          </a:solidFill>
        </p:spPr>
        <p:txBody>
          <a:bodyPr vert="horz" wrap="square" lIns="0" tIns="306705" rIns="0" bIns="0" rtlCol="0">
            <a:spAutoFit/>
          </a:bodyPr>
          <a:lstStyle/>
          <a:p>
            <a:pPr marL="898525">
              <a:lnSpc>
                <a:spcPct val="100000"/>
              </a:lnSpc>
              <a:spcBef>
                <a:spcPts val="2415"/>
              </a:spcBef>
            </a:pPr>
            <a:r>
              <a:rPr sz="3200" spc="170" dirty="0">
                <a:solidFill>
                  <a:srgbClr val="FFFFFF"/>
                </a:solidFill>
                <a:latin typeface="Cambria"/>
                <a:cs typeface="Cambria"/>
              </a:rPr>
              <a:t>Chapter</a:t>
            </a:r>
            <a:r>
              <a:rPr sz="32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19600" y="304800"/>
            <a:ext cx="3657600" cy="1708785"/>
          </a:xfrm>
          <a:prstGeom prst="rect">
            <a:avLst/>
          </a:prstGeom>
          <a:solidFill>
            <a:srgbClr val="A2A2C2"/>
          </a:solidFill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00">
              <a:latin typeface="Times New Roman"/>
              <a:cs typeface="Times New Roman"/>
            </a:endParaRPr>
          </a:p>
          <a:p>
            <a:pPr marL="188595" marR="182880" indent="39370">
              <a:lnSpc>
                <a:spcPct val="100000"/>
              </a:lnSpc>
            </a:pPr>
            <a:r>
              <a:rPr sz="2800" spc="75" dirty="0">
                <a:solidFill>
                  <a:srgbClr val="331833"/>
                </a:solidFill>
                <a:latin typeface="Cambria"/>
                <a:cs typeface="Cambria"/>
              </a:rPr>
              <a:t>Basic</a:t>
            </a:r>
            <a:r>
              <a:rPr sz="2800" spc="110" dirty="0">
                <a:solidFill>
                  <a:srgbClr val="331833"/>
                </a:solidFill>
                <a:latin typeface="Cambria"/>
                <a:cs typeface="Cambria"/>
              </a:rPr>
              <a:t> </a:t>
            </a:r>
            <a:r>
              <a:rPr sz="2800" spc="160" dirty="0">
                <a:solidFill>
                  <a:srgbClr val="331833"/>
                </a:solidFill>
                <a:latin typeface="Cambria"/>
                <a:cs typeface="Cambria"/>
              </a:rPr>
              <a:t>Concepts</a:t>
            </a:r>
            <a:r>
              <a:rPr sz="2800" spc="95" dirty="0">
                <a:solidFill>
                  <a:srgbClr val="331833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331833"/>
                </a:solidFill>
                <a:latin typeface="Cambria"/>
                <a:cs typeface="Cambria"/>
              </a:rPr>
              <a:t>and </a:t>
            </a:r>
            <a:r>
              <a:rPr sz="2800" spc="130" dirty="0">
                <a:solidFill>
                  <a:srgbClr val="331833"/>
                </a:solidFill>
                <a:latin typeface="Cambria"/>
                <a:cs typeface="Cambria"/>
              </a:rPr>
              <a:t>Computer</a:t>
            </a:r>
            <a:r>
              <a:rPr sz="2800" spc="114" dirty="0">
                <a:solidFill>
                  <a:srgbClr val="331833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331833"/>
                </a:solidFill>
                <a:latin typeface="Cambria"/>
                <a:cs typeface="Cambria"/>
              </a:rPr>
              <a:t>Evolution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775</TotalTime>
  <Words>6265</Words>
  <Application>Microsoft Office PowerPoint</Application>
  <PresentationFormat>On-screen Show (4:3)</PresentationFormat>
  <Paragraphs>1174</Paragraphs>
  <Slides>72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3" baseType="lpstr">
      <vt:lpstr>Office Theme</vt:lpstr>
      <vt:lpstr>+</vt:lpstr>
      <vt:lpstr>PowerPoint Presentation</vt:lpstr>
      <vt:lpstr>PowerPoint Presentation</vt:lpstr>
      <vt:lpstr>PowerPoint Presentation</vt:lpstr>
      <vt:lpstr>Computer Architecture</vt:lpstr>
      <vt:lpstr>Architecture &amp; Organization- Family Concept </vt:lpstr>
      <vt:lpstr>+ IBM System 370 Architecture</vt:lpstr>
      <vt:lpstr>+ Structure and Function</vt:lpstr>
      <vt:lpstr>+ Function</vt:lpstr>
      <vt:lpstr>A Functional view of the Computer </vt:lpstr>
      <vt:lpstr>Operations (1) Data movement</vt:lpstr>
      <vt:lpstr>Operations (2) Storage </vt:lpstr>
      <vt:lpstr>Operation (3) Processing from/to storage </vt:lpstr>
      <vt:lpstr>Operation (4) Processing from storage to I/O</vt:lpstr>
      <vt:lpstr>Computer Structure - Top Level</vt:lpstr>
      <vt:lpstr>PowerPoint Presentation</vt:lpstr>
      <vt:lpstr>PowerPoint Presentation</vt:lpstr>
      <vt:lpstr>+</vt:lpstr>
      <vt:lpstr>+ Multicore Computer Structure</vt:lpstr>
      <vt:lpstr>PowerPoint Presentation</vt:lpstr>
      <vt:lpstr>+ Cache Memory</vt:lpstr>
      <vt:lpstr>PowerPoint Presentation</vt:lpstr>
      <vt:lpstr>Table 1.2 Computer Generations</vt:lpstr>
      <vt:lpstr>+ History of Computers</vt:lpstr>
      <vt:lpstr>PowerPoint Presentation</vt:lpstr>
      <vt:lpstr>Registers</vt:lpstr>
      <vt:lpstr>PowerPoint Presentation</vt:lpstr>
      <vt:lpstr>PowerPoint Presentation</vt:lpstr>
      <vt:lpstr>Table 1.1</vt:lpstr>
      <vt:lpstr>+ History of Computers Second Generation: Transistors</vt:lpstr>
      <vt:lpstr>+ Transistor</vt:lpstr>
      <vt:lpstr>Second Generation Computers</vt:lpstr>
      <vt:lpstr>PowerPoint Presentation</vt:lpstr>
      <vt:lpstr>History of Computers</vt:lpstr>
      <vt:lpstr>+ Integrated Circuit (IC)</vt:lpstr>
      <vt:lpstr>Boolean logic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Moore’s Law</vt:lpstr>
      <vt:lpstr>PowerPoint Presentation</vt:lpstr>
      <vt:lpstr>+ IBM System/360</vt:lpstr>
      <vt:lpstr>+ Family Characteristics The concept of a family of compatible computers was both novel and extremely successful. A customer with modest requirements and a budget to match could start with the relatively inexpensive Model.</vt:lpstr>
      <vt:lpstr>PowerPoint Presentation</vt:lpstr>
      <vt:lpstr>PowerPoint Presentation</vt:lpstr>
      <vt:lpstr>Semiconductor Memory</vt:lpstr>
      <vt:lpstr>+ Microprocessors</vt:lpstr>
      <vt:lpstr>Evolution of Intel Microprocessors</vt:lpstr>
      <vt:lpstr>Evolution of Intel Microprocessors</vt:lpstr>
      <vt:lpstr>Evolution of Intel Microprocessors</vt:lpstr>
      <vt:lpstr>Evolution of Intel Microprocessors</vt:lpstr>
      <vt:lpstr>+ The Evolution of the Intel x86 Architecture</vt:lpstr>
      <vt:lpstr>Highlights of the Evolution of the Intel Product Line:</vt:lpstr>
      <vt:lpstr>Highlights of the Evolution of the Intel Product Line:</vt:lpstr>
      <vt:lpstr>+ Embedded Systems</vt:lpstr>
      <vt:lpstr>PowerPoint Presentation</vt:lpstr>
      <vt:lpstr>+ The Internet of Things (IoT)</vt:lpstr>
      <vt:lpstr> Embedded Operating Systems</vt:lpstr>
      <vt:lpstr>PowerPoint Presentation</vt:lpstr>
      <vt:lpstr>+ Deeply Embedded Systems</vt:lpstr>
      <vt:lpstr>ARM</vt:lpstr>
      <vt:lpstr>ARM Products</vt:lpstr>
      <vt:lpstr>+ The Cortex-A and Cortex-A50</vt:lpstr>
      <vt:lpstr>+ Cortex-R</vt:lpstr>
      <vt:lpstr>+ Cortex-M series</vt:lpstr>
      <vt:lpstr>PowerPoint Presentation</vt:lpstr>
      <vt:lpstr>+ Cloud Computing</vt:lpstr>
      <vt:lpstr>Cloud Networking</vt:lpstr>
      <vt:lpstr>PowerPoint Presentation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Intrduction</dc:title>
  <dc:creator>Adrian J Pullin</dc:creator>
  <cp:lastModifiedBy>user</cp:lastModifiedBy>
  <cp:revision>5</cp:revision>
  <dcterms:created xsi:type="dcterms:W3CDTF">2026-09-15T13:24:41Z</dcterms:created>
  <dcterms:modified xsi:type="dcterms:W3CDTF">2026-09-16T02:25:27Z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2019-02-20T00:00:00Z</vt:filetime>
  </property>
  <property fmtid="{D5CDD505-2E9C-101B-9397-08002B2CF9AE}" pid="4" name="Creator">
    <vt:lpwstr>Microsoft® PowerPoint® for Office 365</vt:lpwstr>
  </property>
  <property fmtid="{D5CDD505-2E9C-101B-9397-08002B2CF9AE}" pid="5" name="LastSaved">
    <vt:filetime>2026-09-15T00:00:00Z</vt:filetime>
  </property>
  <property fmtid="{D5CDD505-2E9C-101B-9397-08002B2CF9AE}" pid="6" name="Producer">
    <vt:lpwstr>Microsoft® PowerPoint® for Office 365</vt:lpwstr>
  </property>
</Properties>
</file>